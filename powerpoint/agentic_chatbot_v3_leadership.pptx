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386" r:id="rId3"/>
    <p:sldId id="387" r:id="rId4"/>
    <p:sldId id="388" r:id="rId5"/>
    <p:sldId id="389" r:id="rId6"/>
    <p:sldId id="390" r:id="rId7"/>
    <p:sldId id="257" r:id="rId8"/>
    <p:sldId id="258" r:id="rId9"/>
    <p:sldId id="392" r:id="rId10"/>
    <p:sldId id="391" r:id="rId11"/>
    <p:sldId id="394" r:id="rId12"/>
    <p:sldId id="393" r:id="rId13"/>
    <p:sldId id="270" r:id="rId14"/>
    <p:sldId id="271" r:id="rId15"/>
    <p:sldId id="279" r:id="rId16"/>
    <p:sldId id="285" r:id="rId17"/>
    <p:sldId id="286" r:id="rId18"/>
    <p:sldId id="311" r:id="rId19"/>
    <p:sldId id="288" r:id="rId20"/>
    <p:sldId id="289" r:id="rId21"/>
    <p:sldId id="290" r:id="rId22"/>
    <p:sldId id="291" r:id="rId23"/>
    <p:sldId id="292" r:id="rId24"/>
    <p:sldId id="293" r:id="rId25"/>
    <p:sldId id="294" r:id="rId26"/>
    <p:sldId id="313" r:id="rId27"/>
    <p:sldId id="396" r:id="rId28"/>
    <p:sldId id="397" r:id="rId29"/>
    <p:sldId id="398" r:id="rId30"/>
    <p:sldId id="399" r:id="rId31"/>
    <p:sldId id="400" r:id="rId32"/>
    <p:sldId id="401" r:id="rId33"/>
    <p:sldId id="402" r:id="rId34"/>
    <p:sldId id="403" r:id="rId35"/>
    <p:sldId id="404" r:id="rId36"/>
    <p:sldId id="405" r:id="rId37"/>
    <p:sldId id="406" r:id="rId38"/>
    <p:sldId id="260" r:id="rId39"/>
    <p:sldId id="261" r:id="rId40"/>
    <p:sldId id="262" r:id="rId41"/>
    <p:sldId id="264" r:id="rId42"/>
    <p:sldId id="356" r:id="rId43"/>
    <p:sldId id="357" r:id="rId44"/>
    <p:sldId id="358" r:id="rId45"/>
    <p:sldId id="359" r:id="rId46"/>
    <p:sldId id="360" r:id="rId47"/>
    <p:sldId id="354" r:id="rId48"/>
    <p:sldId id="380" r:id="rId49"/>
    <p:sldId id="381" r:id="rId50"/>
    <p:sldId id="382" r:id="rId51"/>
    <p:sldId id="383" r:id="rId52"/>
    <p:sldId id="384" r:id="rId53"/>
    <p:sldId id="385" r:id="rId5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39"/>
    <p:restoredTop sz="77613"/>
  </p:normalViewPr>
  <p:slideViewPr>
    <p:cSldViewPr snapToGrid="0" snapToObjects="1">
      <p:cViewPr varScale="1">
        <p:scale>
          <a:sx n="164" d="100"/>
          <a:sy n="164" d="100"/>
        </p:scale>
        <p:origin x="1232" y="1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91616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Hey everyone, thanks for joining! So today we're going to walk through this entire agentic chatbot system from top to bottom. By the end, you'll understand how every piece talks to each other — from that first HTTP request all the way through routing, agent selection, and getting back a smart answer. Ready?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so think of this system like a really smart switchboard operator, right? A customer calls in with a question, and this operator has to figure out: 'Do I just answer this quickly, or do I need to get a specialist involved?' If it's simple, boom — direct answer. If it's complex, the operator routes it to the right department. Same idea here.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every request, no matter what, follows this exact path. See that fork in the road in the middle? That's the router — the most important decision point. It asks: 'Is this BASIC — just chat, no tools needed?' Or is it AGENT — meaning 'This needs some real processing, tools, maybe multiple steps.' We're gonna spend the next 40 slides unpacking every box in this flow.</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picture: imagine Russian dolls — three layers. RuntimeService handles workspace, KB ready, routing. RuntimeKernel loads session, LLM config, events, jobs. QueryLoop runs the LLM in the right mode. Service never calls LLM. QueryLoop never persists. Kernel is the glue. That separation is why it's maintainable.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RuntimeService doesn't know HOW to run an agent, just WHICH agent to run. try/finally around progress cleanup prevents resource leaks. Circuit breaker chain: if agent's provider is down, falls back to basic mode with different provider. If even that fails, returns graceful degraded message. API callers can pass requested_agent_override to force specific agent.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 is the first decision. Three modes: hybrid (default, regex first), llm_only, or disabled. Dynamic agent discovery from registry means new agents are automatically routable. Circuit breaker on judge: if down, fall back to regex.</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System has 11 agents. Key tool count updates from the latest audit: general has 33 tools (including MCP wildcard for dynamic tool discovery), coordinator has 11 tools (spawn_worker, message_worker, team mailbox tools, etc.), data_analyst has 20 tools (analyst + team mailbox + invoke_agent), graph_manager has 12 tools, utility has 13 tools, verifier has 13 tools (RAG + graph). basic, rag_worker, planner, and finalizer have 0 tools. memory_maintainer has 3. Coordinator now has 9 allowed workers including graph_manager.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is the decoder ring. Mode field determines execution path. Coordinator is special — handled by Kernel, not QueryLoop. React is most powerful — access to tools. Basic is simplest. RAG has structured pipeline with citations.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 this one — it's the cheat sheet. When you're debugging, check here first. Only data_analyst can run code. Only agents with Workers=Yes can spawn sub-agents. The asterisk on RAG means they use the rag_agent_tool wrapper, not the native pipeline — less control but still functional. rag_worker is the only one with native RAG. Role kind tells you where it runs: top_level is user-facing, workers are coordinator-spawned, coordinator-only is internal pipeline, background runs automatically.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five different request types. Architecture comes alive — real scenarios traced end-to-end.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asks 'What is machine learning?' — simple question. No attachments, short text, confidence 0.85, routes BASIC. FastAPI calls RuntimeService, delegates to BasicAgent via QueryLoop. One LLM call, no tools. Fast and cheap.</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ReAct loop with data analyst. User uploads CSV. System loads, inspects columns, plans analysis, executes, maybe runs code in sandbox, returns artifacts. File upload in workspace, referenced by upload_id. Agent retries if tool fails.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pipeline in action. User asks document-specific question. Router detects keyword, high confidence, routes to rag_worker. Agent retrieves chunks, ranks, synthesizes, cites. If synthesis fails, fallback scan finds domain themes, assembles from snippets without hallucinating.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powerful flow. User asks multi-part task. Router detects 'multi-step', routes to coordinator. Planner breaks into subtasks. Workers run parallel. Finalizer synthesizes. Verifier fact-checks. Loop back if issues. Cap at 4 rounds.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what makes learning happen. Two halves work together. memory_maintainer extracts facts after each turn, stores by tenant/user. MemoryContextBuilder retrieves before LLM call so agent knows past preferences, decisions. Institutional memory.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and pin it. Complete routing tree. Every question hits this flowchart. Single most important decision point. If routing is wrong, nothing else matters. Right routing enables agent specialization.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thing about retrieval — it's noisy. You might pull chunks that look relevant but aren't actually answering the question. That's where the judge LLM comes in. It's a fast, cheap model that scores each chunk on relevance, and we only pass the high-scoring chunks to the synthesis step. Saves compute and prevents hallucination from junk.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at the root level you've got a multi-stage Dockerfile — which is nice because Node.js builds the React admin UI in stage 1, then Python handles the backend in stage 2. No Node needed in production. You've also got docker-compose with six services, requirements.txt with all the Python deps, and run.py as your entry point. The key thing to know: data/ is where the runtime lives. Agent definitions, skill packs, prompts — that's all in data/. Your Python code handles logic, but behavior is driven by data. If you want to change how an agent acts, go to data/agents/. If you want to change system behavior, that's in Python code.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frontend is straightforward — a React app that only talks to the backend through the public API. AgentStatusPanel watches the SSE stream and shows real-time progress. MessageBubble handles markdown, citations, artifacts. FileUpload uploads a file, gets an ID, passes it with the next message. The whole thing gets built into dist/ and served as static files by FastAPI. No separate Node server needed.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control panel is a separate admin tool — not for end users, just for operators. It's its own React app served at /admin. App.tsx is 109KB because all state management is inline, no Redux. architectureLayout.ts renders the architecture as a visual graph. start_local_stack.sh starts postgres, Python backend, and both React dev servers at once.</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is the operator's control room. Agent definitions, skill docs, prompts — all editable. skill_packs/ are really powerful: each markdown file is a guidance document injected into the agent's context when relevant. Add a skill, BAM, the next query uses it. kb/ collections map to PostgreSQL. Memory uses tenant/user hierarchy. overlays/ is how the control panel edits work without restarting.</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we've got this new graph/ module that's a pretty big deal. Instead of just searching by "does this text sound similar?", we can now actually follow relationships between entities — like finding all vendors connected to a specific risk clause. We've built in two backends: Microsoft's GraphRAG and Neo4j, so you can pick whatever works for your graph data. The graph_manager agent handles the choreography — it figures out which graph indexes are relevant, queries them, and hands off to other agents for the actual synthesis work. Everything's stored in Postgres so you've got a single source of truth.</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RAG came about because we kept running into this problem: when someone asks a broad research question like "compare all the risk clauses", the basic keyword+vector search gets lost in the weeds. So we built four layers on top of the base retrieval. Entity linking runs first — it resolves "ACME" to all its aliases and abbreviations before searching. Then we filter candidate documents using semantic topics to avoid expensive retrieval on obviously-irrelevant stuff. Next we verify that what we found actually answers the question — if coverage is weak, we reformulate and search again. And finally, if you have graphs set up, we fold in that entity context too. The whole thing sits above the existing pipeline, so you get smart multi-step research for complex questions while keeping fast single-pass queries for simple ones.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update on operational stuff we spotted earlier: we've built both of these. The feedback loop now tracks whether routing decisions work or not, and it intelligently samples neutral cases so we're not drowning in review data. That feeds into model retraining quarterly. The scheduler is more sophisticated than before — it's got weighted-fair-queuing with three priority lanes: urgent for escalations, interactive for normal chat, background for batch work. Per-tenant token budgets mean one heavy analytical user can't starve everyone else out. Both are live right now.</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added seven new modules since the deep dive started. Authorization got a solid RBAC implementation — principals, roles, tenant-scoped access. Memory got the second version treatment: episodes, importance/confidence scoring, TTL hints, all built. For observability, we've got real-time job progress via SSE now. Tools can run in parallel waves when they don't conflict. Agents all have fallback prompts now so they keep working even if skill files go missing. And we added task decomposition — when someone asks for arithmetic plus data analysis plus synthesis all at once, the coordinator can split that up across specialists. It's all additive, no breaking changes.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the six patterns that really matter for making agents more reliable. Step-level retry is the biggest one — right now if a tool times out, the entire turn fails. With retry policies, we can back off exponentially and try again. Each tool declares its own retry behavior, which is way better than one-size-fits-all. Observability gets way better too — right now you only see phase-level stuff like "searching" or "thinking." We need tool-level detail. Dynamic memory refresh helps in long workflows — you don't want context from five minutes ago when something just changed. Parallel tool execution is already in there and it's a huge latency win when the LLM asks for multiple independent tools. CoT capture is about persistence — intermediate reasoning currently evaporates after each turn, but we should preserve it for the verifier and for debugging. And fallback chains make recovery smart — the coordinator can escalate to humans while the general agent retries simpler.</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matrix gives the full picture. Green items are quick wins — any developer in a sprint without touching core architecture. Teal and amber matter most for production readiness: rate limiting and audit trail especially. Red items are multi-sprint: automated eval and A/B testing are agentic best practices every production system needs to catch silent quality degradation. Recommended order: (1) ship green quick wins; (2) complete operational hardening before external exposure; (3) implement streaming agent thoughts; (4) build eval harness and A/B testing as a dedicated quality sprint.</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extractor is built but three memory gaps remain. First, conflict resolution — when a user corrects a fact, both old and new stick around and the agent sees contradictions. We need intelligent merging. Second, scope is too simple — user scope and conversation scope are hard walls. We need to synthesize patterns across sessions. Third and scariest: compliance. Memory is write-once, no TTL, no PII redaction. GDPR requires delete-on-request with proof. You can't sell into Europe without this.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fixed two routing gaps already: feedback loop tracks routing outcomes, scheduler does weighted-fair-queuing. Three new gaps opened up though. Cost-aware routing would make smart decisions about whether to use the expensive LLM or fast heuristics. Agent self-reflection is a best practice — agents should critique their own output before delivery, not just the verifier. Human-in-the-loop escalation is critical for high-stakes domains — when confidence drops or risk is high, hand it to a human instead of guessing.</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are well-registered and have agent-level policies, but three gaps keep them from enterprise-ready. One, no versioning — shipping a new tool breaks in-flight workflows silently. Two, permissions stop at agents — "analyst can use pandas" but not "analyst can access this dataset but not that one." Regulated industries need row/column-level checks. Three, the sandbox is coarse — Docker isolation is good but doesn't catch prompt-injected malicious code. AST analysis pre-flight would block obvious exploits.</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handled two skills gaps: dependency_graph.py validates the DAG, telemetry.py logs quality. Three gaps remain. Signing is still SHA1 only — integrity but not authenticity. Prompt versioning is huge because prompts are the control surface for agent behavior and we have zero version history. Structured output validation prevents malformed JSON, PII leaks, and off-brand responses.</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honestly where enterprise deals live or die. LangFuse is great for debugging but not an audit log. Five show-stoppers. One, cost attribution — we can't answer "what's this request cost?" or "who's our biggest spender?" Two, immutable audit log — enterprise auditors need proof that tool X wasn't called by user Y on date Z. Traces don't cut it. Three, PII — raw user input hits disk with no scanning, that's a GDPR violation. Four, model governance — anyone can swap the LLM via env var, needs approval workflow. Five, red-teaming — we should be running OWASP Top 10 adversarial tests nightly.</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left with 17 gaps. RBAC has foundations, needs ABAC for data-level access. Memory v2 has the types, needs TTL enforcement and conflict resolution. Cost attribution is the gateway to enterprise — you can't chargeback without it. Audit logs are table stakes for compliance. PII redaction is GDPR minimum. Model governance prevents cowboys from shipping untested models. Tool versioning unblocks safe deployments. Prompt versioning enables AB testing. Human escalation is critical for high-stakes domains. Self-reflection prevents first-draft answers. Output guardrails stop PII/toxicity leaks. Red-teaming builds confidence. AST analysis locks down the sandbox. Skill signing secures the supply chain. Cross-session memory synthesis enables long-term learning. The sprint order is Critical first — human escalation, retention, RBAC→ABAC, AST sandbox, signing, cost attribution, audit log, PII. Then High-priority — routing, reflection, prompt versioning, tool versioning, escalation, output guards. Then Medium — conflict resolution, cross-session synthesis, cost model, red-teaming.</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502920" y="1097280"/>
            <a:ext cx="8138160" cy="82296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Agentic Chatbot v3</a:t>
            </a:r>
            <a:endParaRPr lang="en-US" sz="4000" dirty="0"/>
          </a:p>
        </p:txBody>
      </p:sp>
      <p:sp>
        <p:nvSpPr>
          <p:cNvPr id="3" name="Text 1"/>
          <p:cNvSpPr/>
          <p:nvPr/>
        </p:nvSpPr>
        <p:spPr>
          <a:xfrm>
            <a:off x="502920" y="1920240"/>
            <a:ext cx="8138160" cy="548640"/>
          </a:xfrm>
          <a:prstGeom prst="rect">
            <a:avLst/>
          </a:prstGeom>
          <a:noFill/>
          <a:ln/>
        </p:spPr>
        <p:txBody>
          <a:bodyPr wrap="square" lIns="0" tIns="0" rIns="0" bIns="0" rtlCol="0" anchor="ctr"/>
          <a:lstStyle/>
          <a:p>
            <a:pPr marL="0" indent="0">
              <a:buNone/>
            </a:pPr>
            <a:r>
              <a:rPr lang="en-US" sz="2400" dirty="0">
                <a:solidFill>
                  <a:srgbClr val="0097A7"/>
                </a:solidFill>
                <a:latin typeface="Arial" pitchFamily="34" charset="0"/>
                <a:ea typeface="Arial" pitchFamily="34" charset="-122"/>
                <a:cs typeface="Arial" pitchFamily="34" charset="-120"/>
              </a:rPr>
              <a:t>Complete System Deep-Dive</a:t>
            </a:r>
            <a:endParaRPr lang="en-US" sz="2400" dirty="0"/>
          </a:p>
        </p:txBody>
      </p:sp>
      <p:sp>
        <p:nvSpPr>
          <p:cNvPr id="4" name="Text 2"/>
          <p:cNvSpPr/>
          <p:nvPr/>
        </p:nvSpPr>
        <p:spPr>
          <a:xfrm>
            <a:off x="502920" y="2560320"/>
            <a:ext cx="8138160" cy="365760"/>
          </a:xfrm>
          <a:prstGeom prst="rect">
            <a:avLst/>
          </a:prstGeom>
          <a:noFill/>
          <a:ln/>
        </p:spPr>
        <p:txBody>
          <a:bodyPr wrap="square" lIns="0" tIns="0" rIns="0" bIns="0" rtlCol="0" anchor="ctr"/>
          <a:lstStyle/>
          <a:p>
            <a:pPr marL="0" indent="0">
              <a:buNone/>
            </a:pPr>
            <a:r>
              <a:rPr lang="en-US" sz="1400" dirty="0">
                <a:solidFill>
                  <a:srgbClr val="999999"/>
                </a:solidFill>
                <a:latin typeface="Arial" pitchFamily="34" charset="0"/>
                <a:ea typeface="Arial" pitchFamily="34" charset="-122"/>
                <a:cs typeface="Arial" pitchFamily="34" charset="-120"/>
              </a:rPr>
              <a:t>From HTTP request to grounded answer — every layer explained</a:t>
            </a:r>
            <a:endParaRPr lang="en-US" sz="1400" dirty="0"/>
          </a:p>
        </p:txBody>
      </p:sp>
      <p:sp>
        <p:nvSpPr>
          <p:cNvPr id="5" name="Text 3"/>
          <p:cNvSpPr/>
          <p:nvPr/>
        </p:nvSpPr>
        <p:spPr>
          <a:xfrm>
            <a:off x="502920" y="4594860"/>
            <a:ext cx="8138160" cy="274320"/>
          </a:xfrm>
          <a:prstGeom prst="rect">
            <a:avLst/>
          </a:prstGeom>
          <a:noFill/>
          <a:ln/>
        </p:spPr>
        <p:txBody>
          <a:bodyPr wrap="square" lIns="0" tIns="0" rIns="0" bIns="0" rtlCol="0" anchor="ctr"/>
          <a:lstStyle/>
          <a:p>
            <a:pPr marL="0" indent="0">
              <a:buNone/>
            </a:pPr>
            <a:r>
              <a:rPr lang="en-US" sz="1000" dirty="0">
                <a:solidFill>
                  <a:srgbClr val="999999"/>
                </a:solidFill>
                <a:latin typeface="Courier New" pitchFamily="34" charset="0"/>
                <a:ea typeface="Courier New" pitchFamily="34" charset="-122"/>
                <a:cs typeface="Courier New" pitchFamily="34" charset="-120"/>
              </a:rPr>
              <a:t>Repository: langchain_agentic_chatbot_v2-codex-next-task/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645920"/>
            <a:ext cx="8229600" cy="914400"/>
          </a:xfrm>
          <a:prstGeom prst="rect">
            <a:avLst/>
          </a:prstGeom>
          <a:noFill/>
        </p:spPr>
        <p:txBody>
          <a:bodyPr wrap="square" anchor="t"/>
          <a:lstStyle/>
          <a:p>
            <a:pPr algn="l">
              <a:defRPr sz="3600" b="1">
                <a:solidFill>
                  <a:srgbClr val="FFFFFF"/>
                </a:solidFill>
                <a:latin typeface="Arial"/>
              </a:defRPr>
            </a:pPr>
            <a:r>
              <a:t>What Is an Agent Harness?</a:t>
            </a:r>
          </a:p>
        </p:txBody>
      </p:sp>
      <p:sp>
        <p:nvSpPr>
          <p:cNvPr id="4" name="TextBox 3"/>
          <p:cNvSpPr txBox="1"/>
          <p:nvPr/>
        </p:nvSpPr>
        <p:spPr>
          <a:xfrm>
            <a:off x="502920" y="2560320"/>
            <a:ext cx="7315200" cy="731520"/>
          </a:xfrm>
          <a:prstGeom prst="rect">
            <a:avLst/>
          </a:prstGeom>
          <a:noFill/>
        </p:spPr>
        <p:txBody>
          <a:bodyPr wrap="square" anchor="t"/>
          <a:lstStyle/>
          <a:p>
            <a:pPr algn="l">
              <a:defRPr sz="1600" b="0">
                <a:solidFill>
                  <a:srgbClr val="0097A7"/>
                </a:solidFill>
                <a:latin typeface="Arial"/>
              </a:defRPr>
            </a:pPr>
            <a:r>
              <a:t>Understanding the orchestration layer that turns LLMs into autonomous agents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Why LLMs Alone Aren't Enough</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914400"/>
            <a:ext cx="3840480" cy="365760"/>
          </a:xfrm>
          <a:prstGeom prst="rect">
            <a:avLst/>
          </a:prstGeom>
          <a:noFill/>
        </p:spPr>
        <p:txBody>
          <a:bodyPr wrap="square" anchor="t"/>
          <a:lstStyle/>
          <a:p>
            <a:pPr algn="l">
              <a:defRPr sz="1400" b="1">
                <a:solidFill>
                  <a:srgbClr val="0097A7"/>
                </a:solidFill>
                <a:latin typeface="Arial"/>
              </a:defRPr>
            </a:pPr>
            <a:r>
              <a:t>THE PROBLEM</a:t>
            </a:r>
          </a:p>
        </p:txBody>
      </p:sp>
      <p:sp>
        <p:nvSpPr>
          <p:cNvPr id="6" name="Rectangle 5"/>
          <p:cNvSpPr/>
          <p:nvPr/>
        </p:nvSpPr>
        <p:spPr>
          <a:xfrm>
            <a:off x="502920" y="1325880"/>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25880"/>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17320"/>
            <a:ext cx="3566160" cy="365760"/>
          </a:xfrm>
          <a:prstGeom prst="rect">
            <a:avLst/>
          </a:prstGeom>
          <a:noFill/>
        </p:spPr>
        <p:txBody>
          <a:bodyPr wrap="square" anchor="t"/>
          <a:lstStyle/>
          <a:p>
            <a:pPr algn="l">
              <a:defRPr sz="1300" b="1">
                <a:solidFill>
                  <a:srgbClr val="FFFFFF"/>
                </a:solidFill>
                <a:latin typeface="Arial"/>
              </a:defRPr>
            </a:pPr>
            <a:r>
              <a:t>Single-Turn Only</a:t>
            </a:r>
          </a:p>
        </p:txBody>
      </p:sp>
      <p:sp>
        <p:nvSpPr>
          <p:cNvPr id="9" name="TextBox 8"/>
          <p:cNvSpPr txBox="1"/>
          <p:nvPr/>
        </p:nvSpPr>
        <p:spPr>
          <a:xfrm>
            <a:off x="685800" y="1783080"/>
            <a:ext cx="3566160" cy="228600"/>
          </a:xfrm>
          <a:prstGeom prst="rect">
            <a:avLst/>
          </a:prstGeom>
          <a:noFill/>
        </p:spPr>
        <p:txBody>
          <a:bodyPr wrap="square" anchor="t"/>
          <a:lstStyle/>
          <a:p>
            <a:pPr algn="l">
              <a:defRPr sz="1000" b="0">
                <a:solidFill>
                  <a:srgbClr val="CCCCCC"/>
                </a:solidFill>
                <a:latin typeface="Arial"/>
              </a:defRPr>
            </a:pPr>
            <a:r>
              <a:t>Raw LLMs answer one question at a time — no actions, retrieval, or state.</a:t>
            </a:r>
          </a:p>
        </p:txBody>
      </p:sp>
      <p:sp>
        <p:nvSpPr>
          <p:cNvPr id="10" name="Rectangle 9"/>
          <p:cNvSpPr/>
          <p:nvPr/>
        </p:nvSpPr>
        <p:spPr>
          <a:xfrm>
            <a:off x="502920" y="2167128"/>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02920" y="2167128"/>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2258568"/>
            <a:ext cx="3566160" cy="365760"/>
          </a:xfrm>
          <a:prstGeom prst="rect">
            <a:avLst/>
          </a:prstGeom>
          <a:noFill/>
        </p:spPr>
        <p:txBody>
          <a:bodyPr wrap="square" anchor="t"/>
          <a:lstStyle/>
          <a:p>
            <a:pPr algn="l">
              <a:defRPr sz="1300" b="1">
                <a:solidFill>
                  <a:srgbClr val="FFFFFF"/>
                </a:solidFill>
                <a:latin typeface="Arial"/>
              </a:defRPr>
            </a:pPr>
            <a:r>
              <a:t>No Tool Access</a:t>
            </a:r>
          </a:p>
        </p:txBody>
      </p:sp>
      <p:sp>
        <p:nvSpPr>
          <p:cNvPr id="13" name="TextBox 12"/>
          <p:cNvSpPr txBox="1"/>
          <p:nvPr/>
        </p:nvSpPr>
        <p:spPr>
          <a:xfrm>
            <a:off x="685800" y="2624328"/>
            <a:ext cx="3566160" cy="228600"/>
          </a:xfrm>
          <a:prstGeom prst="rect">
            <a:avLst/>
          </a:prstGeom>
          <a:noFill/>
        </p:spPr>
        <p:txBody>
          <a:bodyPr wrap="square" anchor="t"/>
          <a:lstStyle/>
          <a:p>
            <a:pPr algn="l">
              <a:defRPr sz="1000" b="0">
                <a:solidFill>
                  <a:srgbClr val="CCCCCC"/>
                </a:solidFill>
                <a:latin typeface="Arial"/>
              </a:defRPr>
            </a:pPr>
            <a:r>
              <a:t>LLMs cannot search databases, execute code, or call APIs on their own.</a:t>
            </a:r>
          </a:p>
        </p:txBody>
      </p:sp>
      <p:sp>
        <p:nvSpPr>
          <p:cNvPr id="14" name="Rectangle 13"/>
          <p:cNvSpPr/>
          <p:nvPr/>
        </p:nvSpPr>
        <p:spPr>
          <a:xfrm>
            <a:off x="502920" y="3008376"/>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3008376"/>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099816"/>
            <a:ext cx="3566160" cy="365760"/>
          </a:xfrm>
          <a:prstGeom prst="rect">
            <a:avLst/>
          </a:prstGeom>
          <a:noFill/>
        </p:spPr>
        <p:txBody>
          <a:bodyPr wrap="square" anchor="t"/>
          <a:lstStyle/>
          <a:p>
            <a:pPr algn="l">
              <a:defRPr sz="1300" b="1">
                <a:solidFill>
                  <a:srgbClr val="FFFFFF"/>
                </a:solidFill>
                <a:latin typeface="Arial"/>
              </a:defRPr>
            </a:pPr>
            <a:r>
              <a:t>No Memory</a:t>
            </a:r>
          </a:p>
        </p:txBody>
      </p:sp>
      <p:sp>
        <p:nvSpPr>
          <p:cNvPr id="17" name="TextBox 16"/>
          <p:cNvSpPr txBox="1"/>
          <p:nvPr/>
        </p:nvSpPr>
        <p:spPr>
          <a:xfrm>
            <a:off x="685800" y="3465576"/>
            <a:ext cx="3566160" cy="228600"/>
          </a:xfrm>
          <a:prstGeom prst="rect">
            <a:avLst/>
          </a:prstGeom>
          <a:noFill/>
        </p:spPr>
        <p:txBody>
          <a:bodyPr wrap="square" anchor="t"/>
          <a:lstStyle/>
          <a:p>
            <a:pPr algn="l">
              <a:defRPr sz="1000" b="0">
                <a:solidFill>
                  <a:srgbClr val="CCCCCC"/>
                </a:solidFill>
                <a:latin typeface="Arial"/>
              </a:defRPr>
            </a:pPr>
            <a:r>
              <a:t>Each request is stateless — the model forgets everything between calls.</a:t>
            </a:r>
          </a:p>
        </p:txBody>
      </p:sp>
      <p:sp>
        <p:nvSpPr>
          <p:cNvPr id="18" name="Rectangle 17"/>
          <p:cNvSpPr/>
          <p:nvPr/>
        </p:nvSpPr>
        <p:spPr>
          <a:xfrm>
            <a:off x="502920" y="3849624"/>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02920" y="3849624"/>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5800" y="3941064"/>
            <a:ext cx="3566160" cy="365760"/>
          </a:xfrm>
          <a:prstGeom prst="rect">
            <a:avLst/>
          </a:prstGeom>
          <a:noFill/>
        </p:spPr>
        <p:txBody>
          <a:bodyPr wrap="square" anchor="t"/>
          <a:lstStyle/>
          <a:p>
            <a:pPr algn="l">
              <a:defRPr sz="1300" b="1">
                <a:solidFill>
                  <a:srgbClr val="FFFFFF"/>
                </a:solidFill>
                <a:latin typeface="Arial"/>
              </a:defRPr>
            </a:pPr>
            <a:r>
              <a:t>No Planning</a:t>
            </a:r>
          </a:p>
        </p:txBody>
      </p:sp>
      <p:sp>
        <p:nvSpPr>
          <p:cNvPr id="21" name="TextBox 20"/>
          <p:cNvSpPr txBox="1"/>
          <p:nvPr/>
        </p:nvSpPr>
        <p:spPr>
          <a:xfrm>
            <a:off x="685800" y="4306824"/>
            <a:ext cx="3566160" cy="228600"/>
          </a:xfrm>
          <a:prstGeom prst="rect">
            <a:avLst/>
          </a:prstGeom>
          <a:noFill/>
        </p:spPr>
        <p:txBody>
          <a:bodyPr wrap="square" anchor="t"/>
          <a:lstStyle/>
          <a:p>
            <a:pPr algn="l">
              <a:defRPr sz="1000" b="0">
                <a:solidFill>
                  <a:srgbClr val="CCCCCC"/>
                </a:solidFill>
                <a:latin typeface="Arial"/>
              </a:defRPr>
            </a:pPr>
            <a:r>
              <a:t>Complex multi-step tasks with parallel work or verification are impossible.</a:t>
            </a:r>
          </a:p>
        </p:txBody>
      </p:sp>
      <p:sp>
        <p:nvSpPr>
          <p:cNvPr id="22" name="TextBox 21"/>
          <p:cNvSpPr txBox="1"/>
          <p:nvPr/>
        </p:nvSpPr>
        <p:spPr>
          <a:xfrm>
            <a:off x="4754880" y="914400"/>
            <a:ext cx="3931920" cy="365760"/>
          </a:xfrm>
          <a:prstGeom prst="rect">
            <a:avLst/>
          </a:prstGeom>
          <a:noFill/>
        </p:spPr>
        <p:txBody>
          <a:bodyPr wrap="square" anchor="t"/>
          <a:lstStyle/>
          <a:p>
            <a:pPr algn="l">
              <a:defRPr sz="1400" b="1">
                <a:solidFill>
                  <a:srgbClr val="4CAF50"/>
                </a:solidFill>
                <a:latin typeface="Arial"/>
              </a:defRPr>
            </a:pPr>
            <a:r>
              <a:t>THE SOLUTION: AGENT HARNESS</a:t>
            </a:r>
          </a:p>
        </p:txBody>
      </p:sp>
      <p:sp>
        <p:nvSpPr>
          <p:cNvPr id="23" name="TextBox 22"/>
          <p:cNvSpPr txBox="1"/>
          <p:nvPr/>
        </p:nvSpPr>
        <p:spPr>
          <a:xfrm>
            <a:off x="4754880" y="1371600"/>
            <a:ext cx="3931920" cy="3291840"/>
          </a:xfrm>
          <a:prstGeom prst="rect">
            <a:avLst/>
          </a:prstGeom>
          <a:noFill/>
        </p:spPr>
        <p:txBody>
          <a:bodyPr wrap="square" anchor="t"/>
          <a:lstStyle/>
          <a:p>
            <a:pPr algn="l">
              <a:defRPr sz="1200" b="0">
                <a:solidFill>
                  <a:srgbClr val="CCCCCC"/>
                </a:solidFill>
                <a:latin typeface="Arial"/>
              </a:defRPr>
            </a:pPr>
            <a:endParaRPr/>
          </a:p>
        </p:txBody>
      </p:sp>
      <p:sp>
        <p:nvSpPr>
          <p:cNvPr id="24" name="Rectangle 23"/>
          <p:cNvSpPr/>
          <p:nvPr/>
        </p:nvSpPr>
        <p:spPr>
          <a:xfrm>
            <a:off x="4754880" y="1325880"/>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754880" y="1325880"/>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937760" y="1417320"/>
            <a:ext cx="3657600" cy="365760"/>
          </a:xfrm>
          <a:prstGeom prst="rect">
            <a:avLst/>
          </a:prstGeom>
          <a:noFill/>
        </p:spPr>
        <p:txBody>
          <a:bodyPr wrap="square" anchor="t"/>
          <a:lstStyle/>
          <a:p>
            <a:pPr algn="l">
              <a:defRPr sz="1300" b="1">
                <a:solidFill>
                  <a:srgbClr val="FFFFFF"/>
                </a:solidFill>
                <a:latin typeface="Arial"/>
              </a:defRPr>
            </a:pPr>
            <a:r>
              <a:t>Multi-Turn Loops</a:t>
            </a:r>
          </a:p>
        </p:txBody>
      </p:sp>
      <p:sp>
        <p:nvSpPr>
          <p:cNvPr id="27" name="TextBox 26"/>
          <p:cNvSpPr txBox="1"/>
          <p:nvPr/>
        </p:nvSpPr>
        <p:spPr>
          <a:xfrm>
            <a:off x="4937760" y="1783080"/>
            <a:ext cx="3657600" cy="228600"/>
          </a:xfrm>
          <a:prstGeom prst="rect">
            <a:avLst/>
          </a:prstGeom>
          <a:noFill/>
        </p:spPr>
        <p:txBody>
          <a:bodyPr wrap="square" anchor="t"/>
          <a:lstStyle/>
          <a:p>
            <a:pPr algn="l">
              <a:defRPr sz="1000" b="0">
                <a:solidFill>
                  <a:srgbClr val="CCCCCC"/>
                </a:solidFill>
                <a:latin typeface="Arial"/>
              </a:defRPr>
            </a:pPr>
            <a:r>
              <a:t>The harness wraps the LLM in a reasoning loop — observe, think, act, repeat.</a:t>
            </a:r>
          </a:p>
        </p:txBody>
      </p:sp>
      <p:sp>
        <p:nvSpPr>
          <p:cNvPr id="28" name="Rectangle 27"/>
          <p:cNvSpPr/>
          <p:nvPr/>
        </p:nvSpPr>
        <p:spPr>
          <a:xfrm>
            <a:off x="4754880" y="2167128"/>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754880" y="2167128"/>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937760" y="2258568"/>
            <a:ext cx="3657600" cy="365760"/>
          </a:xfrm>
          <a:prstGeom prst="rect">
            <a:avLst/>
          </a:prstGeom>
          <a:noFill/>
        </p:spPr>
        <p:txBody>
          <a:bodyPr wrap="square" anchor="t"/>
          <a:lstStyle/>
          <a:p>
            <a:pPr algn="l">
              <a:defRPr sz="1300" b="1">
                <a:solidFill>
                  <a:srgbClr val="FFFFFF"/>
                </a:solidFill>
                <a:latin typeface="Arial"/>
              </a:defRPr>
            </a:pPr>
            <a:r>
              <a:t>Tool Integration</a:t>
            </a:r>
          </a:p>
        </p:txBody>
      </p:sp>
      <p:sp>
        <p:nvSpPr>
          <p:cNvPr id="31" name="TextBox 30"/>
          <p:cNvSpPr txBox="1"/>
          <p:nvPr/>
        </p:nvSpPr>
        <p:spPr>
          <a:xfrm>
            <a:off x="4937760" y="2624328"/>
            <a:ext cx="3657600" cy="228600"/>
          </a:xfrm>
          <a:prstGeom prst="rect">
            <a:avLst/>
          </a:prstGeom>
          <a:noFill/>
        </p:spPr>
        <p:txBody>
          <a:bodyPr wrap="square" anchor="t"/>
          <a:lstStyle/>
          <a:p>
            <a:pPr algn="l">
              <a:defRPr sz="1000" b="0">
                <a:solidFill>
                  <a:srgbClr val="CCCCCC"/>
                </a:solidFill>
                <a:latin typeface="Arial"/>
              </a:defRPr>
            </a:pPr>
            <a:r>
              <a:t>A registry of callable tools (search, code exec, APIs) invoked by name.</a:t>
            </a:r>
          </a:p>
        </p:txBody>
      </p:sp>
      <p:sp>
        <p:nvSpPr>
          <p:cNvPr id="32" name="Rectangle 31"/>
          <p:cNvSpPr/>
          <p:nvPr/>
        </p:nvSpPr>
        <p:spPr>
          <a:xfrm>
            <a:off x="4754880" y="3008376"/>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754880" y="3008376"/>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937760" y="3099816"/>
            <a:ext cx="3657600" cy="365760"/>
          </a:xfrm>
          <a:prstGeom prst="rect">
            <a:avLst/>
          </a:prstGeom>
          <a:noFill/>
        </p:spPr>
        <p:txBody>
          <a:bodyPr wrap="square" anchor="t"/>
          <a:lstStyle/>
          <a:p>
            <a:pPr algn="l">
              <a:defRPr sz="1300" b="1">
                <a:solidFill>
                  <a:srgbClr val="FFFFFF"/>
                </a:solidFill>
                <a:latin typeface="Arial"/>
              </a:defRPr>
            </a:pPr>
            <a:r>
              <a:t>Session &amp; Memory</a:t>
            </a:r>
          </a:p>
        </p:txBody>
      </p:sp>
      <p:sp>
        <p:nvSpPr>
          <p:cNvPr id="35" name="TextBox 34"/>
          <p:cNvSpPr txBox="1"/>
          <p:nvPr/>
        </p:nvSpPr>
        <p:spPr>
          <a:xfrm>
            <a:off x="4937760" y="3465576"/>
            <a:ext cx="3657600" cy="228600"/>
          </a:xfrm>
          <a:prstGeom prst="rect">
            <a:avLst/>
          </a:prstGeom>
          <a:noFill/>
        </p:spPr>
        <p:txBody>
          <a:bodyPr wrap="square" anchor="t"/>
          <a:lstStyle/>
          <a:p>
            <a:pPr algn="l">
              <a:defRPr sz="1000" b="0">
                <a:solidFill>
                  <a:srgbClr val="CCCCCC"/>
                </a:solidFill>
                <a:latin typeface="Arial"/>
              </a:defRPr>
            </a:pPr>
            <a:r>
              <a:t>Persistent state across turns with long-term memory extraction and injection.</a:t>
            </a:r>
          </a:p>
        </p:txBody>
      </p:sp>
      <p:sp>
        <p:nvSpPr>
          <p:cNvPr id="36" name="Rectangle 35"/>
          <p:cNvSpPr/>
          <p:nvPr/>
        </p:nvSpPr>
        <p:spPr>
          <a:xfrm>
            <a:off x="4754880" y="3849624"/>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754880" y="3849624"/>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937760" y="3941064"/>
            <a:ext cx="3657600" cy="365760"/>
          </a:xfrm>
          <a:prstGeom prst="rect">
            <a:avLst/>
          </a:prstGeom>
          <a:noFill/>
        </p:spPr>
        <p:txBody>
          <a:bodyPr wrap="square" anchor="t"/>
          <a:lstStyle/>
          <a:p>
            <a:pPr algn="l">
              <a:defRPr sz="1300" b="1">
                <a:solidFill>
                  <a:srgbClr val="FFFFFF"/>
                </a:solidFill>
                <a:latin typeface="Arial"/>
              </a:defRPr>
            </a:pPr>
            <a:r>
              <a:t>Task Orchestration</a:t>
            </a:r>
          </a:p>
        </p:txBody>
      </p:sp>
      <p:sp>
        <p:nvSpPr>
          <p:cNvPr id="39" name="TextBox 38"/>
          <p:cNvSpPr txBox="1"/>
          <p:nvPr/>
        </p:nvSpPr>
        <p:spPr>
          <a:xfrm>
            <a:off x="4937760" y="4306824"/>
            <a:ext cx="3657600" cy="228600"/>
          </a:xfrm>
          <a:prstGeom prst="rect">
            <a:avLst/>
          </a:prstGeom>
          <a:noFill/>
        </p:spPr>
        <p:txBody>
          <a:bodyPr wrap="square" anchor="t"/>
          <a:lstStyle/>
          <a:p>
            <a:pPr algn="l">
              <a:defRPr sz="1000" b="0">
                <a:solidFill>
                  <a:srgbClr val="CCCCCC"/>
                </a:solidFill>
                <a:latin typeface="Arial"/>
              </a:defRPr>
            </a:pPr>
            <a:r>
              <a:t>Planners decompose complex work into subtasks dispatched in parallel.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Anatomy of an Agent Harness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ctr">
              <a:defRPr sz="1600" b="1">
                <a:solidFill>
                  <a:srgbClr val="1B2A4A"/>
                </a:solidFill>
                <a:latin typeface="Arial"/>
              </a:defRPr>
            </a:pPr>
            <a:r>
              <a:t>THE CORE LOOP: Observe → Think → Act → Repeat</a:t>
            </a:r>
          </a:p>
        </p:txBody>
      </p:sp>
      <p:sp>
        <p:nvSpPr>
          <p:cNvPr id="6" name="Rounded Rectangle 5"/>
          <p:cNvSpPr/>
          <p:nvPr/>
        </p:nvSpPr>
        <p:spPr>
          <a:xfrm>
            <a:off x="320040" y="1371600"/>
            <a:ext cx="1417320" cy="640080"/>
          </a:xfrm>
          <a:prstGeom prst="round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User</a:t>
            </a:r>
            <a:br/>
            <a:r>
              <a:t>Input</a:t>
            </a:r>
          </a:p>
        </p:txBody>
      </p:sp>
      <p:sp>
        <p:nvSpPr>
          <p:cNvPr id="7" name="TextBox 6"/>
          <p:cNvSpPr txBox="1"/>
          <p:nvPr/>
        </p:nvSpPr>
        <p:spPr>
          <a:xfrm>
            <a:off x="175564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8" name="Rounded Rectangle 7"/>
          <p:cNvSpPr/>
          <p:nvPr/>
        </p:nvSpPr>
        <p:spPr>
          <a:xfrm>
            <a:off x="2011680" y="1371600"/>
            <a:ext cx="1417320" cy="640080"/>
          </a:xfrm>
          <a:prstGeom prst="round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Router /</a:t>
            </a:r>
            <a:br/>
            <a:r>
              <a:t>Classifier</a:t>
            </a:r>
          </a:p>
        </p:txBody>
      </p:sp>
      <p:sp>
        <p:nvSpPr>
          <p:cNvPr id="9" name="TextBox 8"/>
          <p:cNvSpPr txBox="1"/>
          <p:nvPr/>
        </p:nvSpPr>
        <p:spPr>
          <a:xfrm>
            <a:off x="344728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10" name="Rounded Rectangle 9"/>
          <p:cNvSpPr/>
          <p:nvPr/>
        </p:nvSpPr>
        <p:spPr>
          <a:xfrm>
            <a:off x="3703320" y="1371600"/>
            <a:ext cx="1417320" cy="640080"/>
          </a:xfrm>
          <a:prstGeom prst="round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Agent</a:t>
            </a:r>
            <a:br/>
            <a:r>
              <a:t>(ReAct Loop)</a:t>
            </a:r>
          </a:p>
        </p:txBody>
      </p:sp>
      <p:sp>
        <p:nvSpPr>
          <p:cNvPr id="11" name="TextBox 10"/>
          <p:cNvSpPr txBox="1"/>
          <p:nvPr/>
        </p:nvSpPr>
        <p:spPr>
          <a:xfrm>
            <a:off x="513892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12" name="Rounded Rectangle 11"/>
          <p:cNvSpPr/>
          <p:nvPr/>
        </p:nvSpPr>
        <p:spPr>
          <a:xfrm>
            <a:off x="5394960" y="1371600"/>
            <a:ext cx="1417320" cy="640080"/>
          </a:xfrm>
          <a:prstGeom prst="round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Tool</a:t>
            </a:r>
            <a:br/>
            <a:r>
              <a:t>Execution</a:t>
            </a:r>
          </a:p>
        </p:txBody>
      </p:sp>
      <p:sp>
        <p:nvSpPr>
          <p:cNvPr id="13" name="TextBox 12"/>
          <p:cNvSpPr txBox="1"/>
          <p:nvPr/>
        </p:nvSpPr>
        <p:spPr>
          <a:xfrm>
            <a:off x="683056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14" name="Rounded Rectangle 13"/>
          <p:cNvSpPr/>
          <p:nvPr/>
        </p:nvSpPr>
        <p:spPr>
          <a:xfrm>
            <a:off x="7086600" y="1371600"/>
            <a:ext cx="1417320" cy="640080"/>
          </a:xfrm>
          <a:prstGeom prst="round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Response</a:t>
            </a:r>
            <a:br/>
            <a:r>
              <a:t>Stream</a:t>
            </a:r>
          </a:p>
        </p:txBody>
      </p:sp>
      <p:sp>
        <p:nvSpPr>
          <p:cNvPr id="15" name="TextBox 14"/>
          <p:cNvSpPr txBox="1"/>
          <p:nvPr/>
        </p:nvSpPr>
        <p:spPr>
          <a:xfrm>
            <a:off x="502920" y="2286000"/>
            <a:ext cx="8229600" cy="320040"/>
          </a:xfrm>
          <a:prstGeom prst="rect">
            <a:avLst/>
          </a:prstGeom>
          <a:noFill/>
        </p:spPr>
        <p:txBody>
          <a:bodyPr wrap="square" anchor="t"/>
          <a:lstStyle/>
          <a:p>
            <a:pPr algn="l">
              <a:defRPr sz="1400" b="1">
                <a:solidFill>
                  <a:srgbClr val="1B2A4A"/>
                </a:solidFill>
                <a:latin typeface="Arial"/>
              </a:defRPr>
            </a:pPr>
            <a:r>
              <a:t>KEY LAYERS OF THE HARNESS</a:t>
            </a:r>
          </a:p>
        </p:txBody>
      </p:sp>
      <p:sp>
        <p:nvSpPr>
          <p:cNvPr id="16" name="Oval 15"/>
          <p:cNvSpPr/>
          <p:nvPr/>
        </p:nvSpPr>
        <p:spPr>
          <a:xfrm>
            <a:off x="502920" y="2724912"/>
            <a:ext cx="164592" cy="164592"/>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2651760"/>
            <a:ext cx="2011680" cy="320040"/>
          </a:xfrm>
          <a:prstGeom prst="rect">
            <a:avLst/>
          </a:prstGeom>
          <a:noFill/>
        </p:spPr>
        <p:txBody>
          <a:bodyPr wrap="square" anchor="t"/>
          <a:lstStyle/>
          <a:p>
            <a:pPr algn="l">
              <a:defRPr sz="1200" b="1">
                <a:solidFill>
                  <a:srgbClr val="333333"/>
                </a:solidFill>
                <a:latin typeface="Arial"/>
              </a:defRPr>
            </a:pPr>
            <a:r>
              <a:t>1. Routing Layer</a:t>
            </a:r>
          </a:p>
        </p:txBody>
      </p:sp>
      <p:sp>
        <p:nvSpPr>
          <p:cNvPr id="18" name="TextBox 17"/>
          <p:cNvSpPr txBox="1"/>
          <p:nvPr/>
        </p:nvSpPr>
        <p:spPr>
          <a:xfrm>
            <a:off x="2743200" y="2651760"/>
            <a:ext cx="5943600" cy="320040"/>
          </a:xfrm>
          <a:prstGeom prst="rect">
            <a:avLst/>
          </a:prstGeom>
          <a:noFill/>
        </p:spPr>
        <p:txBody>
          <a:bodyPr wrap="square" anchor="t"/>
          <a:lstStyle/>
          <a:p>
            <a:pPr algn="l">
              <a:defRPr sz="1100" b="0">
                <a:solidFill>
                  <a:srgbClr val="666666"/>
                </a:solidFill>
                <a:latin typeface="Arial"/>
              </a:defRPr>
            </a:pPr>
            <a:r>
              <a:t>Classifies intent, selects the right agent</a:t>
            </a:r>
          </a:p>
        </p:txBody>
      </p:sp>
      <p:sp>
        <p:nvSpPr>
          <p:cNvPr id="19" name="Oval 18"/>
          <p:cNvSpPr/>
          <p:nvPr/>
        </p:nvSpPr>
        <p:spPr>
          <a:xfrm>
            <a:off x="502920" y="3108960"/>
            <a:ext cx="164592" cy="164592"/>
          </a:xfrm>
          <a:prstGeom prst="ellipse">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3035808"/>
            <a:ext cx="2011680" cy="320040"/>
          </a:xfrm>
          <a:prstGeom prst="rect">
            <a:avLst/>
          </a:prstGeom>
          <a:noFill/>
        </p:spPr>
        <p:txBody>
          <a:bodyPr wrap="square" anchor="t"/>
          <a:lstStyle/>
          <a:p>
            <a:pPr algn="l">
              <a:defRPr sz="1200" b="1">
                <a:solidFill>
                  <a:srgbClr val="333333"/>
                </a:solidFill>
                <a:latin typeface="Arial"/>
              </a:defRPr>
            </a:pPr>
            <a:r>
              <a:t>2. Agent Registry</a:t>
            </a:r>
          </a:p>
        </p:txBody>
      </p:sp>
      <p:sp>
        <p:nvSpPr>
          <p:cNvPr id="21" name="TextBox 20"/>
          <p:cNvSpPr txBox="1"/>
          <p:nvPr/>
        </p:nvSpPr>
        <p:spPr>
          <a:xfrm>
            <a:off x="2743200" y="3035808"/>
            <a:ext cx="5943600" cy="320040"/>
          </a:xfrm>
          <a:prstGeom prst="rect">
            <a:avLst/>
          </a:prstGeom>
          <a:noFill/>
        </p:spPr>
        <p:txBody>
          <a:bodyPr wrap="square" anchor="t"/>
          <a:lstStyle/>
          <a:p>
            <a:pPr algn="l">
              <a:defRPr sz="1100" b="0">
                <a:solidFill>
                  <a:srgbClr val="666666"/>
                </a:solidFill>
                <a:latin typeface="Arial"/>
              </a:defRPr>
            </a:pPr>
            <a:r>
              <a:t>Declarative agent definitions (mode, tools, prompt)</a:t>
            </a:r>
          </a:p>
        </p:txBody>
      </p:sp>
      <p:sp>
        <p:nvSpPr>
          <p:cNvPr id="22" name="Oval 21"/>
          <p:cNvSpPr/>
          <p:nvPr/>
        </p:nvSpPr>
        <p:spPr>
          <a:xfrm>
            <a:off x="502920" y="3493008"/>
            <a:ext cx="164592" cy="164592"/>
          </a:xfrm>
          <a:prstGeom prst="ellipse">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1520" y="3419856"/>
            <a:ext cx="2011680" cy="320040"/>
          </a:xfrm>
          <a:prstGeom prst="rect">
            <a:avLst/>
          </a:prstGeom>
          <a:noFill/>
        </p:spPr>
        <p:txBody>
          <a:bodyPr wrap="square" anchor="t"/>
          <a:lstStyle/>
          <a:p>
            <a:pPr algn="l">
              <a:defRPr sz="1200" b="1">
                <a:solidFill>
                  <a:srgbClr val="333333"/>
                </a:solidFill>
                <a:latin typeface="Arial"/>
              </a:defRPr>
            </a:pPr>
            <a:r>
              <a:t>3. Execution Engine</a:t>
            </a:r>
          </a:p>
        </p:txBody>
      </p:sp>
      <p:sp>
        <p:nvSpPr>
          <p:cNvPr id="24" name="TextBox 23"/>
          <p:cNvSpPr txBox="1"/>
          <p:nvPr/>
        </p:nvSpPr>
        <p:spPr>
          <a:xfrm>
            <a:off x="2743200" y="3419856"/>
            <a:ext cx="5943600" cy="320040"/>
          </a:xfrm>
          <a:prstGeom prst="rect">
            <a:avLst/>
          </a:prstGeom>
          <a:noFill/>
        </p:spPr>
        <p:txBody>
          <a:bodyPr wrap="square" anchor="t"/>
          <a:lstStyle/>
          <a:p>
            <a:pPr algn="l">
              <a:defRPr sz="1100" b="0">
                <a:solidFill>
                  <a:srgbClr val="666666"/>
                </a:solidFill>
                <a:latin typeface="Arial"/>
              </a:defRPr>
            </a:pPr>
            <a:r>
              <a:t>ReAct loop, RAG pipeline, coordinator pattern</a:t>
            </a:r>
          </a:p>
        </p:txBody>
      </p:sp>
      <p:sp>
        <p:nvSpPr>
          <p:cNvPr id="25" name="Oval 24"/>
          <p:cNvSpPr/>
          <p:nvPr/>
        </p:nvSpPr>
        <p:spPr>
          <a:xfrm>
            <a:off x="502920" y="3877056"/>
            <a:ext cx="164592" cy="164592"/>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31520" y="3803904"/>
            <a:ext cx="2011680" cy="320040"/>
          </a:xfrm>
          <a:prstGeom prst="rect">
            <a:avLst/>
          </a:prstGeom>
          <a:noFill/>
        </p:spPr>
        <p:txBody>
          <a:bodyPr wrap="square" anchor="t"/>
          <a:lstStyle/>
          <a:p>
            <a:pPr algn="l">
              <a:defRPr sz="1200" b="1">
                <a:solidFill>
                  <a:srgbClr val="333333"/>
                </a:solidFill>
                <a:latin typeface="Arial"/>
              </a:defRPr>
            </a:pPr>
            <a:r>
              <a:t>4. Tool System</a:t>
            </a:r>
          </a:p>
        </p:txBody>
      </p:sp>
      <p:sp>
        <p:nvSpPr>
          <p:cNvPr id="27" name="TextBox 26"/>
          <p:cNvSpPr txBox="1"/>
          <p:nvPr/>
        </p:nvSpPr>
        <p:spPr>
          <a:xfrm>
            <a:off x="2743200" y="3803904"/>
            <a:ext cx="5943600" cy="320040"/>
          </a:xfrm>
          <a:prstGeom prst="rect">
            <a:avLst/>
          </a:prstGeom>
          <a:noFill/>
        </p:spPr>
        <p:txBody>
          <a:bodyPr wrap="square" anchor="t"/>
          <a:lstStyle/>
          <a:p>
            <a:pPr algn="l">
              <a:defRPr sz="1100" b="0">
                <a:solidFill>
                  <a:srgbClr val="666666"/>
                </a:solidFill>
                <a:latin typeface="Arial"/>
              </a:defRPr>
            </a:pPr>
            <a:r>
              <a:t>Registry of callable functions with policy enforcement</a:t>
            </a:r>
          </a:p>
        </p:txBody>
      </p:sp>
      <p:sp>
        <p:nvSpPr>
          <p:cNvPr id="28" name="Oval 27"/>
          <p:cNvSpPr/>
          <p:nvPr/>
        </p:nvSpPr>
        <p:spPr>
          <a:xfrm>
            <a:off x="502920" y="4261104"/>
            <a:ext cx="164592" cy="164592"/>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1520" y="4187952"/>
            <a:ext cx="2011680" cy="320040"/>
          </a:xfrm>
          <a:prstGeom prst="rect">
            <a:avLst/>
          </a:prstGeom>
          <a:noFill/>
        </p:spPr>
        <p:txBody>
          <a:bodyPr wrap="square" anchor="t"/>
          <a:lstStyle/>
          <a:p>
            <a:pPr algn="l">
              <a:defRPr sz="1200" b="1">
                <a:solidFill>
                  <a:srgbClr val="333333"/>
                </a:solidFill>
                <a:latin typeface="Arial"/>
              </a:defRPr>
            </a:pPr>
            <a:r>
              <a:t>5. Memory &amp; State</a:t>
            </a:r>
          </a:p>
        </p:txBody>
      </p:sp>
      <p:sp>
        <p:nvSpPr>
          <p:cNvPr id="30" name="TextBox 29"/>
          <p:cNvSpPr txBox="1"/>
          <p:nvPr/>
        </p:nvSpPr>
        <p:spPr>
          <a:xfrm>
            <a:off x="2743200" y="4187952"/>
            <a:ext cx="5943600" cy="320040"/>
          </a:xfrm>
          <a:prstGeom prst="rect">
            <a:avLst/>
          </a:prstGeom>
          <a:noFill/>
        </p:spPr>
        <p:txBody>
          <a:bodyPr wrap="square" anchor="t"/>
          <a:lstStyle/>
          <a:p>
            <a:pPr algn="l">
              <a:defRPr sz="1100" b="0">
                <a:solidFill>
                  <a:srgbClr val="666666"/>
                </a:solidFill>
                <a:latin typeface="Arial"/>
              </a:defRPr>
            </a:pPr>
            <a:r>
              <a:t>Session persistence, long-term memory, context budgets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The ReAct Pattern — How Agents Reason</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4114800" cy="320040"/>
          </a:xfrm>
          <a:prstGeom prst="rect">
            <a:avLst/>
          </a:prstGeom>
          <a:noFill/>
        </p:spPr>
        <p:txBody>
          <a:bodyPr wrap="square" anchor="t"/>
          <a:lstStyle/>
          <a:p>
            <a:pPr algn="l">
              <a:defRPr sz="1400" b="1">
                <a:solidFill>
                  <a:srgbClr val="1B2A4A"/>
                </a:solidFill>
                <a:latin typeface="Arial"/>
              </a:defRPr>
            </a:pPr>
            <a:r>
              <a:t>THE REACT LOOP (Reasoning + Acting)</a:t>
            </a:r>
          </a:p>
        </p:txBody>
      </p:sp>
      <p:sp>
        <p:nvSpPr>
          <p:cNvPr id="6" name="Rectangle 5"/>
          <p:cNvSpPr/>
          <p:nvPr/>
        </p:nvSpPr>
        <p:spPr>
          <a:xfrm>
            <a:off x="502920" y="1280160"/>
            <a:ext cx="73152" cy="68580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280160"/>
            <a:ext cx="3657600" cy="274320"/>
          </a:xfrm>
          <a:prstGeom prst="rect">
            <a:avLst/>
          </a:prstGeom>
          <a:noFill/>
        </p:spPr>
        <p:txBody>
          <a:bodyPr wrap="square" anchor="t"/>
          <a:lstStyle/>
          <a:p>
            <a:pPr algn="l">
              <a:defRPr sz="1300" b="1">
                <a:solidFill>
                  <a:srgbClr val="0097A7"/>
                </a:solidFill>
                <a:latin typeface="Arial"/>
              </a:defRPr>
            </a:pPr>
            <a:r>
              <a:t>1. OBSERVE</a:t>
            </a:r>
          </a:p>
        </p:txBody>
      </p:sp>
      <p:sp>
        <p:nvSpPr>
          <p:cNvPr id="8" name="TextBox 7"/>
          <p:cNvSpPr txBox="1"/>
          <p:nvPr/>
        </p:nvSpPr>
        <p:spPr>
          <a:xfrm>
            <a:off x="685800" y="1554480"/>
            <a:ext cx="3657600" cy="411480"/>
          </a:xfrm>
          <a:prstGeom prst="rect">
            <a:avLst/>
          </a:prstGeom>
          <a:noFill/>
        </p:spPr>
        <p:txBody>
          <a:bodyPr wrap="square" anchor="t"/>
          <a:lstStyle/>
          <a:p>
            <a:pPr algn="l">
              <a:defRPr sz="1000" b="0">
                <a:solidFill>
                  <a:srgbClr val="555555"/>
                </a:solidFill>
                <a:latin typeface="Arial"/>
              </a:defRPr>
            </a:pPr>
            <a:r>
              <a:t>Receive user query +</a:t>
            </a:r>
            <a:br/>
            <a:r>
              <a:t>conversation context</a:t>
            </a:r>
          </a:p>
        </p:txBody>
      </p:sp>
      <p:sp>
        <p:nvSpPr>
          <p:cNvPr id="9" name="Rectangle 8"/>
          <p:cNvSpPr/>
          <p:nvPr/>
        </p:nvSpPr>
        <p:spPr>
          <a:xfrm>
            <a:off x="502920" y="2057400"/>
            <a:ext cx="73152" cy="685800"/>
          </a:xfrm>
          <a:prstGeom prst="rect">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2057400"/>
            <a:ext cx="3657600" cy="274320"/>
          </a:xfrm>
          <a:prstGeom prst="rect">
            <a:avLst/>
          </a:prstGeom>
          <a:noFill/>
        </p:spPr>
        <p:txBody>
          <a:bodyPr wrap="square" anchor="t"/>
          <a:lstStyle/>
          <a:p>
            <a:pPr algn="l">
              <a:defRPr sz="1300" b="1">
                <a:solidFill>
                  <a:srgbClr val="5C6BC0"/>
                </a:solidFill>
                <a:latin typeface="Arial"/>
              </a:defRPr>
            </a:pPr>
            <a:r>
              <a:t>2. THINK</a:t>
            </a:r>
          </a:p>
        </p:txBody>
      </p:sp>
      <p:sp>
        <p:nvSpPr>
          <p:cNvPr id="11" name="TextBox 10"/>
          <p:cNvSpPr txBox="1"/>
          <p:nvPr/>
        </p:nvSpPr>
        <p:spPr>
          <a:xfrm>
            <a:off x="685800" y="2331720"/>
            <a:ext cx="3657600" cy="411480"/>
          </a:xfrm>
          <a:prstGeom prst="rect">
            <a:avLst/>
          </a:prstGeom>
          <a:noFill/>
        </p:spPr>
        <p:txBody>
          <a:bodyPr wrap="square" anchor="t"/>
          <a:lstStyle/>
          <a:p>
            <a:pPr algn="l">
              <a:defRPr sz="1000" b="0">
                <a:solidFill>
                  <a:srgbClr val="555555"/>
                </a:solidFill>
                <a:latin typeface="Arial"/>
              </a:defRPr>
            </a:pPr>
            <a:r>
              <a:t>LLM reasons about what</a:t>
            </a:r>
            <a:br/>
            <a:r>
              <a:t>to do next (chain-of-thought)</a:t>
            </a:r>
          </a:p>
        </p:txBody>
      </p:sp>
      <p:sp>
        <p:nvSpPr>
          <p:cNvPr id="12" name="Rectangle 11"/>
          <p:cNvSpPr/>
          <p:nvPr/>
        </p:nvSpPr>
        <p:spPr>
          <a:xfrm>
            <a:off x="502920" y="2834640"/>
            <a:ext cx="73152" cy="68580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2834640"/>
            <a:ext cx="3657600" cy="274320"/>
          </a:xfrm>
          <a:prstGeom prst="rect">
            <a:avLst/>
          </a:prstGeom>
          <a:noFill/>
        </p:spPr>
        <p:txBody>
          <a:bodyPr wrap="square" anchor="t"/>
          <a:lstStyle/>
          <a:p>
            <a:pPr algn="l">
              <a:defRPr sz="1300" b="1">
                <a:solidFill>
                  <a:srgbClr val="FF9800"/>
                </a:solidFill>
                <a:latin typeface="Arial"/>
              </a:defRPr>
            </a:pPr>
            <a:r>
              <a:t>3. ACT</a:t>
            </a:r>
          </a:p>
        </p:txBody>
      </p:sp>
      <p:sp>
        <p:nvSpPr>
          <p:cNvPr id="14" name="TextBox 13"/>
          <p:cNvSpPr txBox="1"/>
          <p:nvPr/>
        </p:nvSpPr>
        <p:spPr>
          <a:xfrm>
            <a:off x="685800" y="3108960"/>
            <a:ext cx="3657600" cy="411480"/>
          </a:xfrm>
          <a:prstGeom prst="rect">
            <a:avLst/>
          </a:prstGeom>
          <a:noFill/>
        </p:spPr>
        <p:txBody>
          <a:bodyPr wrap="square" anchor="t"/>
          <a:lstStyle/>
          <a:p>
            <a:pPr algn="l">
              <a:defRPr sz="1000" b="0">
                <a:solidFill>
                  <a:srgbClr val="555555"/>
                </a:solidFill>
                <a:latin typeface="Arial"/>
              </a:defRPr>
            </a:pPr>
            <a:r>
              <a:t>Call a tool (search, code exec,</a:t>
            </a:r>
            <a:br/>
            <a:r>
              <a:t>API call) or respond</a:t>
            </a:r>
          </a:p>
        </p:txBody>
      </p:sp>
      <p:sp>
        <p:nvSpPr>
          <p:cNvPr id="15" name="Rectangle 14"/>
          <p:cNvSpPr/>
          <p:nvPr/>
        </p:nvSpPr>
        <p:spPr>
          <a:xfrm>
            <a:off x="502920" y="3611880"/>
            <a:ext cx="73152" cy="68580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611880"/>
            <a:ext cx="3657600" cy="274320"/>
          </a:xfrm>
          <a:prstGeom prst="rect">
            <a:avLst/>
          </a:prstGeom>
          <a:noFill/>
        </p:spPr>
        <p:txBody>
          <a:bodyPr wrap="square" anchor="t"/>
          <a:lstStyle/>
          <a:p>
            <a:pPr algn="l">
              <a:defRPr sz="1300" b="1">
                <a:solidFill>
                  <a:srgbClr val="4CAF50"/>
                </a:solidFill>
                <a:latin typeface="Arial"/>
              </a:defRPr>
            </a:pPr>
            <a:r>
              <a:t>4. EVALUATE</a:t>
            </a:r>
          </a:p>
        </p:txBody>
      </p:sp>
      <p:sp>
        <p:nvSpPr>
          <p:cNvPr id="17" name="TextBox 16"/>
          <p:cNvSpPr txBox="1"/>
          <p:nvPr/>
        </p:nvSpPr>
        <p:spPr>
          <a:xfrm>
            <a:off x="685800" y="3886200"/>
            <a:ext cx="3657600" cy="411480"/>
          </a:xfrm>
          <a:prstGeom prst="rect">
            <a:avLst/>
          </a:prstGeom>
          <a:noFill/>
        </p:spPr>
        <p:txBody>
          <a:bodyPr wrap="square" anchor="t"/>
          <a:lstStyle/>
          <a:p>
            <a:pPr algn="l">
              <a:defRPr sz="1000" b="0">
                <a:solidFill>
                  <a:srgbClr val="555555"/>
                </a:solidFill>
                <a:latin typeface="Arial"/>
              </a:defRPr>
            </a:pPr>
            <a:r>
              <a:t>Check result — is the task</a:t>
            </a:r>
            <a:br/>
            <a:r>
              <a:t>complete? Loop or finish.</a:t>
            </a:r>
          </a:p>
        </p:txBody>
      </p:sp>
      <p:sp>
        <p:nvSpPr>
          <p:cNvPr id="18" name="TextBox 17"/>
          <p:cNvSpPr txBox="1"/>
          <p:nvPr/>
        </p:nvSpPr>
        <p:spPr>
          <a:xfrm>
            <a:off x="4846320" y="822960"/>
            <a:ext cx="3840480" cy="320040"/>
          </a:xfrm>
          <a:prstGeom prst="rect">
            <a:avLst/>
          </a:prstGeom>
          <a:noFill/>
        </p:spPr>
        <p:txBody>
          <a:bodyPr wrap="square" anchor="t"/>
          <a:lstStyle/>
          <a:p>
            <a:pPr algn="l">
              <a:defRPr sz="1200" b="1">
                <a:solidFill>
                  <a:srgbClr val="1B2A4A"/>
                </a:solidFill>
                <a:latin typeface="Arial"/>
              </a:defRPr>
            </a:pPr>
            <a:r>
              <a:t>EXAMPLE: "What does the policy say about remote work?"</a:t>
            </a:r>
          </a:p>
        </p:txBody>
      </p:sp>
      <p:sp>
        <p:nvSpPr>
          <p:cNvPr id="19" name="Rectangle 18"/>
          <p:cNvSpPr/>
          <p:nvPr/>
        </p:nvSpPr>
        <p:spPr>
          <a:xfrm>
            <a:off x="4846320" y="1234440"/>
            <a:ext cx="3840480" cy="34747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29200" y="1371600"/>
            <a:ext cx="3474720" cy="228600"/>
          </a:xfrm>
          <a:prstGeom prst="rect">
            <a:avLst/>
          </a:prstGeom>
          <a:noFill/>
        </p:spPr>
        <p:txBody>
          <a:bodyPr wrap="square">
            <a:spAutoFit/>
          </a:bodyPr>
          <a:lstStyle/>
          <a:p>
            <a:r>
              <a:rPr sz="1000" b="1">
                <a:solidFill>
                  <a:srgbClr val="0097A7"/>
                </a:solidFill>
                <a:latin typeface="Arial"/>
              </a:rPr>
              <a:t>▶ Router:</a:t>
            </a:r>
            <a:r>
              <a:rPr sz="1000" b="0">
                <a:solidFill>
                  <a:srgbClr val="FFFFFF"/>
                </a:solidFill>
                <a:latin typeface="Arial"/>
              </a:rPr>
              <a:t> RAG intent detected (0.92 confidence)</a:t>
            </a:r>
          </a:p>
        </p:txBody>
      </p:sp>
      <p:sp>
        <p:nvSpPr>
          <p:cNvPr id="21" name="TextBox 20"/>
          <p:cNvSpPr txBox="1"/>
          <p:nvPr/>
        </p:nvSpPr>
        <p:spPr>
          <a:xfrm>
            <a:off x="5029200" y="1627632"/>
            <a:ext cx="3474720" cy="228600"/>
          </a:xfrm>
          <a:prstGeom prst="rect">
            <a:avLst/>
          </a:prstGeom>
          <a:noFill/>
        </p:spPr>
        <p:txBody>
          <a:bodyPr wrap="square">
            <a:spAutoFit/>
          </a:bodyPr>
          <a:lstStyle/>
          <a:p>
            <a:r>
              <a:rPr sz="1000" b="1">
                <a:solidFill>
                  <a:srgbClr val="0097A7"/>
                </a:solidFill>
                <a:latin typeface="Arial"/>
              </a:rPr>
              <a:t>▶ Agent:</a:t>
            </a:r>
            <a:r>
              <a:rPr sz="1000" b="0">
                <a:solidFill>
                  <a:srgbClr val="FFFFFF"/>
                </a:solidFill>
                <a:latin typeface="Arial"/>
              </a:rPr>
              <a:t> rag_worker selected</a:t>
            </a:r>
          </a:p>
        </p:txBody>
      </p:sp>
      <p:sp>
        <p:nvSpPr>
          <p:cNvPr id="22" name="TextBox 21"/>
          <p:cNvSpPr txBox="1"/>
          <p:nvPr/>
        </p:nvSpPr>
        <p:spPr>
          <a:xfrm>
            <a:off x="5029200" y="2020824"/>
            <a:ext cx="3474720" cy="228600"/>
          </a:xfrm>
          <a:prstGeom prst="rect">
            <a:avLst/>
          </a:prstGeom>
          <a:noFill/>
        </p:spPr>
        <p:txBody>
          <a:bodyPr wrap="square">
            <a:spAutoFit/>
          </a:bodyPr>
          <a:lstStyle/>
          <a:p>
            <a:r>
              <a:rPr sz="1000" b="1">
                <a:solidFill>
                  <a:srgbClr val="FF9800"/>
                </a:solidFill>
                <a:latin typeface="Arial"/>
              </a:rPr>
              <a:t>Step 1 — Observe:</a:t>
            </a:r>
            <a:r>
              <a:rPr sz="1000" b="0">
                <a:solidFill>
                  <a:srgbClr val="CCCCCC"/>
                </a:solidFill>
                <a:latin typeface="Arial"/>
              </a:rPr>
              <a:t> Parse query for search terms</a:t>
            </a:r>
          </a:p>
        </p:txBody>
      </p:sp>
      <p:sp>
        <p:nvSpPr>
          <p:cNvPr id="23" name="TextBox 22"/>
          <p:cNvSpPr txBox="1"/>
          <p:nvPr/>
        </p:nvSpPr>
        <p:spPr>
          <a:xfrm>
            <a:off x="5029200" y="2276856"/>
            <a:ext cx="3474720" cy="228600"/>
          </a:xfrm>
          <a:prstGeom prst="rect">
            <a:avLst/>
          </a:prstGeom>
          <a:noFill/>
        </p:spPr>
        <p:txBody>
          <a:bodyPr wrap="square">
            <a:spAutoFit/>
          </a:bodyPr>
          <a:lstStyle/>
          <a:p>
            <a:r>
              <a:rPr sz="1000" b="1">
                <a:solidFill>
                  <a:srgbClr val="FF9800"/>
                </a:solidFill>
                <a:latin typeface="Arial"/>
              </a:rPr>
              <a:t>Step 2 — Act:</a:t>
            </a:r>
            <a:r>
              <a:rPr sz="1000" b="0">
                <a:solidFill>
                  <a:srgbClr val="CCCCCC"/>
                </a:solidFill>
                <a:latin typeface="Arial"/>
              </a:rPr>
              <a:t> Hybrid search (vector + keyword)</a:t>
            </a:r>
          </a:p>
        </p:txBody>
      </p:sp>
      <p:sp>
        <p:nvSpPr>
          <p:cNvPr id="24" name="TextBox 23"/>
          <p:cNvSpPr txBox="1"/>
          <p:nvPr/>
        </p:nvSpPr>
        <p:spPr>
          <a:xfrm>
            <a:off x="5029200" y="2532888"/>
            <a:ext cx="3474720" cy="228600"/>
          </a:xfrm>
          <a:prstGeom prst="rect">
            <a:avLst/>
          </a:prstGeom>
          <a:noFill/>
        </p:spPr>
        <p:txBody>
          <a:bodyPr wrap="square">
            <a:spAutoFit/>
          </a:bodyPr>
          <a:lstStyle/>
          <a:p>
            <a:r>
              <a:rPr sz="1000" b="0">
                <a:solidFill>
                  <a:srgbClr val="999999"/>
                </a:solidFill>
                <a:latin typeface="Arial"/>
              </a:rPr>
              <a:t>  → Found 12 chunks from HR_Policy.pdf</a:t>
            </a:r>
          </a:p>
        </p:txBody>
      </p:sp>
      <p:sp>
        <p:nvSpPr>
          <p:cNvPr id="25" name="TextBox 24"/>
          <p:cNvSpPr txBox="1"/>
          <p:nvPr/>
        </p:nvSpPr>
        <p:spPr>
          <a:xfrm>
            <a:off x="5029200" y="2788920"/>
            <a:ext cx="3474720" cy="228600"/>
          </a:xfrm>
          <a:prstGeom prst="rect">
            <a:avLst/>
          </a:prstGeom>
          <a:noFill/>
        </p:spPr>
        <p:txBody>
          <a:bodyPr wrap="square">
            <a:spAutoFit/>
          </a:bodyPr>
          <a:lstStyle/>
          <a:p>
            <a:r>
              <a:rPr sz="1000" b="1">
                <a:solidFill>
                  <a:srgbClr val="FF9800"/>
                </a:solidFill>
                <a:latin typeface="Arial"/>
              </a:rPr>
              <a:t>Step 3 — Think:</a:t>
            </a:r>
            <a:r>
              <a:rPr sz="1000" b="0">
                <a:solidFill>
                  <a:srgbClr val="CCCCCC"/>
                </a:solidFill>
                <a:latin typeface="Arial"/>
              </a:rPr>
              <a:t> Grade relevance of chunks</a:t>
            </a:r>
          </a:p>
        </p:txBody>
      </p:sp>
      <p:sp>
        <p:nvSpPr>
          <p:cNvPr id="26" name="TextBox 25"/>
          <p:cNvSpPr txBox="1"/>
          <p:nvPr/>
        </p:nvSpPr>
        <p:spPr>
          <a:xfrm>
            <a:off x="5029200" y="3044952"/>
            <a:ext cx="3474720" cy="228600"/>
          </a:xfrm>
          <a:prstGeom prst="rect">
            <a:avLst/>
          </a:prstGeom>
          <a:noFill/>
        </p:spPr>
        <p:txBody>
          <a:bodyPr wrap="square">
            <a:spAutoFit/>
          </a:bodyPr>
          <a:lstStyle/>
          <a:p>
            <a:r>
              <a:rPr sz="1000" b="0">
                <a:solidFill>
                  <a:srgbClr val="999999"/>
                </a:solidFill>
                <a:latin typeface="Arial"/>
              </a:rPr>
              <a:t>  → 5 chunks scored 2+ (relevant)</a:t>
            </a:r>
          </a:p>
        </p:txBody>
      </p:sp>
      <p:sp>
        <p:nvSpPr>
          <p:cNvPr id="27" name="TextBox 26"/>
          <p:cNvSpPr txBox="1"/>
          <p:nvPr/>
        </p:nvSpPr>
        <p:spPr>
          <a:xfrm>
            <a:off x="5029200" y="3300984"/>
            <a:ext cx="3474720" cy="228600"/>
          </a:xfrm>
          <a:prstGeom prst="rect">
            <a:avLst/>
          </a:prstGeom>
          <a:noFill/>
        </p:spPr>
        <p:txBody>
          <a:bodyPr wrap="square">
            <a:spAutoFit/>
          </a:bodyPr>
          <a:lstStyle/>
          <a:p>
            <a:r>
              <a:rPr sz="1000" b="1">
                <a:solidFill>
                  <a:srgbClr val="FF9800"/>
                </a:solidFill>
                <a:latin typeface="Arial"/>
              </a:rPr>
              <a:t>Step 4 — Act:</a:t>
            </a:r>
            <a:r>
              <a:rPr sz="1000" b="0">
                <a:solidFill>
                  <a:srgbClr val="CCCCCC"/>
                </a:solidFill>
                <a:latin typeface="Arial"/>
              </a:rPr>
              <a:t> Synthesize grounded answer</a:t>
            </a:r>
          </a:p>
        </p:txBody>
      </p:sp>
      <p:sp>
        <p:nvSpPr>
          <p:cNvPr id="28" name="TextBox 27"/>
          <p:cNvSpPr txBox="1"/>
          <p:nvPr/>
        </p:nvSpPr>
        <p:spPr>
          <a:xfrm>
            <a:off x="5029200" y="3557016"/>
            <a:ext cx="3474720" cy="228600"/>
          </a:xfrm>
          <a:prstGeom prst="rect">
            <a:avLst/>
          </a:prstGeom>
          <a:noFill/>
        </p:spPr>
        <p:txBody>
          <a:bodyPr wrap="square">
            <a:spAutoFit/>
          </a:bodyPr>
          <a:lstStyle/>
          <a:p>
            <a:r>
              <a:rPr sz="1000" b="0">
                <a:solidFill>
                  <a:srgbClr val="999999"/>
                </a:solidFill>
                <a:latin typeface="Arial"/>
              </a:rPr>
              <a:t>  → Answer with 3 citations</a:t>
            </a:r>
          </a:p>
        </p:txBody>
      </p:sp>
      <p:sp>
        <p:nvSpPr>
          <p:cNvPr id="29" name="TextBox 28"/>
          <p:cNvSpPr txBox="1"/>
          <p:nvPr/>
        </p:nvSpPr>
        <p:spPr>
          <a:xfrm>
            <a:off x="5029200" y="3950208"/>
            <a:ext cx="3474720" cy="228600"/>
          </a:xfrm>
          <a:prstGeom prst="rect">
            <a:avLst/>
          </a:prstGeom>
          <a:noFill/>
        </p:spPr>
        <p:txBody>
          <a:bodyPr wrap="square">
            <a:spAutoFit/>
          </a:bodyPr>
          <a:lstStyle/>
          <a:p>
            <a:r>
              <a:rPr sz="1000" b="1">
                <a:solidFill>
                  <a:srgbClr val="4CAF50"/>
                </a:solidFill>
                <a:latin typeface="Arial"/>
              </a:rPr>
              <a:t>✓ Response:</a:t>
            </a:r>
            <a:r>
              <a:rPr sz="1000" b="0">
                <a:solidFill>
                  <a:srgbClr val="FFFFFF"/>
                </a:solidFill>
                <a:latin typeface="Arial"/>
              </a:rPr>
              <a:t> Streamed via SSE with citations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Agent Modes — One Harness, Many Strategies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20040"/>
          </a:xfrm>
          <a:prstGeom prst="rect">
            <a:avLst/>
          </a:prstGeom>
          <a:noFill/>
        </p:spPr>
        <p:txBody>
          <a:bodyPr wrap="square" anchor="t"/>
          <a:lstStyle/>
          <a:p>
            <a:pPr algn="l">
              <a:defRPr sz="1300" b="0">
                <a:solidFill>
                  <a:srgbClr val="555555"/>
                </a:solidFill>
                <a:latin typeface="Arial"/>
              </a:defRPr>
            </a:pPr>
            <a:r>
              <a:t>Different tasks need different execution strategies. The harness routes to specialized agent modes.</a:t>
            </a:r>
          </a:p>
        </p:txBody>
      </p:sp>
      <p:sp>
        <p:nvSpPr>
          <p:cNvPr id="6" name="Rectangle 5"/>
          <p:cNvSpPr/>
          <p:nvPr/>
        </p:nvSpPr>
        <p:spPr>
          <a:xfrm>
            <a:off x="27432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371600"/>
            <a:ext cx="196596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554480"/>
            <a:ext cx="1965960" cy="457200"/>
          </a:xfrm>
          <a:prstGeom prst="rect">
            <a:avLst/>
          </a:prstGeom>
          <a:noFill/>
        </p:spPr>
        <p:txBody>
          <a:bodyPr wrap="square" anchor="t"/>
          <a:lstStyle/>
          <a:p>
            <a:pPr algn="ctr">
              <a:defRPr sz="2800" b="0">
                <a:solidFill>
                  <a:srgbClr val="0097A7"/>
                </a:solidFill>
                <a:latin typeface="Arial"/>
              </a:defRPr>
            </a:pPr>
            <a:r>
              <a:t>//</a:t>
            </a:r>
          </a:p>
        </p:txBody>
      </p:sp>
      <p:sp>
        <p:nvSpPr>
          <p:cNvPr id="9" name="TextBox 8"/>
          <p:cNvSpPr txBox="1"/>
          <p:nvPr/>
        </p:nvSpPr>
        <p:spPr>
          <a:xfrm>
            <a:off x="411480" y="2057400"/>
            <a:ext cx="1691640" cy="320040"/>
          </a:xfrm>
          <a:prstGeom prst="rect">
            <a:avLst/>
          </a:prstGeom>
          <a:noFill/>
        </p:spPr>
        <p:txBody>
          <a:bodyPr wrap="square" anchor="t"/>
          <a:lstStyle/>
          <a:p>
            <a:pPr algn="ctr">
              <a:defRPr sz="1800" b="1">
                <a:solidFill>
                  <a:srgbClr val="FFFFFF"/>
                </a:solidFill>
                <a:latin typeface="Arial"/>
              </a:defRPr>
            </a:pPr>
            <a:r>
              <a:t>BASIC</a:t>
            </a:r>
          </a:p>
        </p:txBody>
      </p:sp>
      <p:sp>
        <p:nvSpPr>
          <p:cNvPr id="10" name="TextBox 9"/>
          <p:cNvSpPr txBox="1"/>
          <p:nvPr/>
        </p:nvSpPr>
        <p:spPr>
          <a:xfrm>
            <a:off x="411480" y="2468880"/>
            <a:ext cx="1691640" cy="548640"/>
          </a:xfrm>
          <a:prstGeom prst="rect">
            <a:avLst/>
          </a:prstGeom>
          <a:noFill/>
        </p:spPr>
        <p:txBody>
          <a:bodyPr wrap="square" anchor="t"/>
          <a:lstStyle/>
          <a:p>
            <a:pPr algn="ctr">
              <a:defRPr sz="1100" b="0">
                <a:solidFill>
                  <a:srgbClr val="CCCCCC"/>
                </a:solidFill>
                <a:latin typeface="Arial"/>
              </a:defRPr>
            </a:pPr>
            <a:r>
              <a:t>Single LLM call, no tools</a:t>
            </a:r>
          </a:p>
        </p:txBody>
      </p:sp>
      <p:sp>
        <p:nvSpPr>
          <p:cNvPr id="11" name="Rectangle 10"/>
          <p:cNvSpPr/>
          <p:nvPr/>
        </p:nvSpPr>
        <p:spPr>
          <a:xfrm>
            <a:off x="548640" y="3108960"/>
            <a:ext cx="14173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1480" y="3246119"/>
            <a:ext cx="1691640" cy="914400"/>
          </a:xfrm>
          <a:prstGeom prst="rect">
            <a:avLst/>
          </a:prstGeom>
          <a:noFill/>
        </p:spPr>
        <p:txBody>
          <a:bodyPr wrap="square" anchor="t"/>
          <a:lstStyle/>
          <a:p>
            <a:pPr algn="ctr">
              <a:defRPr sz="1000" b="0">
                <a:solidFill>
                  <a:srgbClr val="999999"/>
                </a:solidFill>
                <a:latin typeface="Arial"/>
              </a:defRPr>
            </a:pPr>
            <a:r>
              <a:t>Fast Q&amp;A, greetings, simple tasks</a:t>
            </a:r>
          </a:p>
        </p:txBody>
      </p:sp>
      <p:sp>
        <p:nvSpPr>
          <p:cNvPr id="13" name="Rectangle 12"/>
          <p:cNvSpPr/>
          <p:nvPr/>
        </p:nvSpPr>
        <p:spPr>
          <a:xfrm>
            <a:off x="237744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377440" y="1371600"/>
            <a:ext cx="1965960" cy="54864"/>
          </a:xfrm>
          <a:prstGeom prst="rect">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377440" y="1554480"/>
            <a:ext cx="1965960" cy="457200"/>
          </a:xfrm>
          <a:prstGeom prst="rect">
            <a:avLst/>
          </a:prstGeom>
          <a:noFill/>
        </p:spPr>
        <p:txBody>
          <a:bodyPr wrap="square" anchor="t"/>
          <a:lstStyle/>
          <a:p>
            <a:pPr algn="ctr">
              <a:defRPr sz="2800" b="0">
                <a:solidFill>
                  <a:srgbClr val="5C6BC0"/>
                </a:solidFill>
                <a:latin typeface="Arial"/>
              </a:defRPr>
            </a:pPr>
            <a:r>
              <a:t>&lt;&gt;</a:t>
            </a:r>
          </a:p>
        </p:txBody>
      </p:sp>
      <p:sp>
        <p:nvSpPr>
          <p:cNvPr id="16" name="TextBox 15"/>
          <p:cNvSpPr txBox="1"/>
          <p:nvPr/>
        </p:nvSpPr>
        <p:spPr>
          <a:xfrm>
            <a:off x="2514600" y="2057400"/>
            <a:ext cx="1691640" cy="320040"/>
          </a:xfrm>
          <a:prstGeom prst="rect">
            <a:avLst/>
          </a:prstGeom>
          <a:noFill/>
        </p:spPr>
        <p:txBody>
          <a:bodyPr wrap="square" anchor="t"/>
          <a:lstStyle/>
          <a:p>
            <a:pPr algn="ctr">
              <a:defRPr sz="1800" b="1">
                <a:solidFill>
                  <a:srgbClr val="FFFFFF"/>
                </a:solidFill>
                <a:latin typeface="Arial"/>
              </a:defRPr>
            </a:pPr>
            <a:r>
              <a:t>REACT</a:t>
            </a:r>
          </a:p>
        </p:txBody>
      </p:sp>
      <p:sp>
        <p:nvSpPr>
          <p:cNvPr id="17" name="TextBox 16"/>
          <p:cNvSpPr txBox="1"/>
          <p:nvPr/>
        </p:nvSpPr>
        <p:spPr>
          <a:xfrm>
            <a:off x="2514600" y="2468880"/>
            <a:ext cx="1691640" cy="548640"/>
          </a:xfrm>
          <a:prstGeom prst="rect">
            <a:avLst/>
          </a:prstGeom>
          <a:noFill/>
        </p:spPr>
        <p:txBody>
          <a:bodyPr wrap="square" anchor="t"/>
          <a:lstStyle/>
          <a:p>
            <a:pPr algn="ctr">
              <a:defRPr sz="1100" b="0">
                <a:solidFill>
                  <a:srgbClr val="CCCCCC"/>
                </a:solidFill>
                <a:latin typeface="Arial"/>
              </a:defRPr>
            </a:pPr>
            <a:r>
              <a:t>ReAct loop with tool calling</a:t>
            </a:r>
          </a:p>
        </p:txBody>
      </p:sp>
      <p:sp>
        <p:nvSpPr>
          <p:cNvPr id="18" name="Rectangle 17"/>
          <p:cNvSpPr/>
          <p:nvPr/>
        </p:nvSpPr>
        <p:spPr>
          <a:xfrm>
            <a:off x="2651760" y="3108960"/>
            <a:ext cx="1417320" cy="18288"/>
          </a:xfrm>
          <a:prstGeom prst="rect">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4600" y="3246119"/>
            <a:ext cx="1691640" cy="914400"/>
          </a:xfrm>
          <a:prstGeom prst="rect">
            <a:avLst/>
          </a:prstGeom>
          <a:noFill/>
        </p:spPr>
        <p:txBody>
          <a:bodyPr wrap="square" anchor="t"/>
          <a:lstStyle/>
          <a:p>
            <a:pPr algn="ctr">
              <a:defRPr sz="1000" b="0">
                <a:solidFill>
                  <a:srgbClr val="999999"/>
                </a:solidFill>
                <a:latin typeface="Arial"/>
              </a:defRPr>
            </a:pPr>
            <a:r>
              <a:t>General tasks, data analysis, file ops</a:t>
            </a:r>
          </a:p>
        </p:txBody>
      </p:sp>
      <p:sp>
        <p:nvSpPr>
          <p:cNvPr id="20" name="Rectangle 19"/>
          <p:cNvSpPr/>
          <p:nvPr/>
        </p:nvSpPr>
        <p:spPr>
          <a:xfrm>
            <a:off x="448056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480560" y="1371600"/>
            <a:ext cx="1965960" cy="54864"/>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80560" y="1554480"/>
            <a:ext cx="1965960" cy="457200"/>
          </a:xfrm>
          <a:prstGeom prst="rect">
            <a:avLst/>
          </a:prstGeom>
          <a:noFill/>
        </p:spPr>
        <p:txBody>
          <a:bodyPr wrap="square" anchor="t"/>
          <a:lstStyle/>
          <a:p>
            <a:pPr algn="ctr">
              <a:defRPr sz="2800" b="0">
                <a:solidFill>
                  <a:srgbClr val="FF9800"/>
                </a:solidFill>
                <a:latin typeface="Arial"/>
              </a:defRPr>
            </a:pPr>
            <a:r>
              <a:t>{}</a:t>
            </a:r>
          </a:p>
        </p:txBody>
      </p:sp>
      <p:sp>
        <p:nvSpPr>
          <p:cNvPr id="23" name="TextBox 22"/>
          <p:cNvSpPr txBox="1"/>
          <p:nvPr/>
        </p:nvSpPr>
        <p:spPr>
          <a:xfrm>
            <a:off x="4617720" y="2057400"/>
            <a:ext cx="1691640" cy="320040"/>
          </a:xfrm>
          <a:prstGeom prst="rect">
            <a:avLst/>
          </a:prstGeom>
          <a:noFill/>
        </p:spPr>
        <p:txBody>
          <a:bodyPr wrap="square" anchor="t"/>
          <a:lstStyle/>
          <a:p>
            <a:pPr algn="ctr">
              <a:defRPr sz="1800" b="1">
                <a:solidFill>
                  <a:srgbClr val="FFFFFF"/>
                </a:solidFill>
                <a:latin typeface="Arial"/>
              </a:defRPr>
            </a:pPr>
            <a:r>
              <a:t>RAG</a:t>
            </a:r>
          </a:p>
        </p:txBody>
      </p:sp>
      <p:sp>
        <p:nvSpPr>
          <p:cNvPr id="24" name="TextBox 23"/>
          <p:cNvSpPr txBox="1"/>
          <p:nvPr/>
        </p:nvSpPr>
        <p:spPr>
          <a:xfrm>
            <a:off x="4617720" y="2468880"/>
            <a:ext cx="1691640" cy="548640"/>
          </a:xfrm>
          <a:prstGeom prst="rect">
            <a:avLst/>
          </a:prstGeom>
          <a:noFill/>
        </p:spPr>
        <p:txBody>
          <a:bodyPr wrap="square" anchor="t"/>
          <a:lstStyle/>
          <a:p>
            <a:pPr algn="ctr">
              <a:defRPr sz="1100" b="0">
                <a:solidFill>
                  <a:srgbClr val="CCCCCC"/>
                </a:solidFill>
                <a:latin typeface="Arial"/>
              </a:defRPr>
            </a:pPr>
            <a:r>
              <a:t>Retrieve &gt; Grade &gt; Synthesize</a:t>
            </a:r>
          </a:p>
        </p:txBody>
      </p:sp>
      <p:sp>
        <p:nvSpPr>
          <p:cNvPr id="25" name="Rectangle 24"/>
          <p:cNvSpPr/>
          <p:nvPr/>
        </p:nvSpPr>
        <p:spPr>
          <a:xfrm>
            <a:off x="4754880" y="3108960"/>
            <a:ext cx="1417320" cy="18288"/>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17720" y="3246119"/>
            <a:ext cx="1691640" cy="914400"/>
          </a:xfrm>
          <a:prstGeom prst="rect">
            <a:avLst/>
          </a:prstGeom>
          <a:noFill/>
        </p:spPr>
        <p:txBody>
          <a:bodyPr wrap="square" anchor="t"/>
          <a:lstStyle/>
          <a:p>
            <a:pPr algn="ctr">
              <a:defRPr sz="1000" b="0">
                <a:solidFill>
                  <a:srgbClr val="999999"/>
                </a:solidFill>
                <a:latin typeface="Arial"/>
              </a:defRPr>
            </a:pPr>
            <a:r>
              <a:t>Document search, policy questions</a:t>
            </a:r>
          </a:p>
        </p:txBody>
      </p:sp>
      <p:sp>
        <p:nvSpPr>
          <p:cNvPr id="27" name="Rectangle 26"/>
          <p:cNvSpPr/>
          <p:nvPr/>
        </p:nvSpPr>
        <p:spPr>
          <a:xfrm>
            <a:off x="658368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583680" y="1371600"/>
            <a:ext cx="1965960" cy="54864"/>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0" y="1554480"/>
            <a:ext cx="1965960" cy="457200"/>
          </a:xfrm>
          <a:prstGeom prst="rect">
            <a:avLst/>
          </a:prstGeom>
          <a:noFill/>
        </p:spPr>
        <p:txBody>
          <a:bodyPr wrap="square" anchor="t"/>
          <a:lstStyle/>
          <a:p>
            <a:pPr algn="ctr">
              <a:defRPr sz="2800" b="0">
                <a:solidFill>
                  <a:srgbClr val="7C4DFF"/>
                </a:solidFill>
                <a:latin typeface="Arial"/>
              </a:defRPr>
            </a:pPr>
            <a:r>
              <a:t>&gt;&gt;</a:t>
            </a:r>
          </a:p>
        </p:txBody>
      </p:sp>
      <p:sp>
        <p:nvSpPr>
          <p:cNvPr id="30" name="TextBox 29"/>
          <p:cNvSpPr txBox="1"/>
          <p:nvPr/>
        </p:nvSpPr>
        <p:spPr>
          <a:xfrm>
            <a:off x="6720840" y="2057400"/>
            <a:ext cx="1691640" cy="320040"/>
          </a:xfrm>
          <a:prstGeom prst="rect">
            <a:avLst/>
          </a:prstGeom>
          <a:noFill/>
        </p:spPr>
        <p:txBody>
          <a:bodyPr wrap="square" anchor="t"/>
          <a:lstStyle/>
          <a:p>
            <a:pPr algn="ctr">
              <a:defRPr sz="1800" b="1">
                <a:solidFill>
                  <a:srgbClr val="FFFFFF"/>
                </a:solidFill>
                <a:latin typeface="Arial"/>
              </a:defRPr>
            </a:pPr>
            <a:r>
              <a:t>COORD</a:t>
            </a:r>
          </a:p>
        </p:txBody>
      </p:sp>
      <p:sp>
        <p:nvSpPr>
          <p:cNvPr id="31" name="TextBox 30"/>
          <p:cNvSpPr txBox="1"/>
          <p:nvPr/>
        </p:nvSpPr>
        <p:spPr>
          <a:xfrm>
            <a:off x="6720840" y="2468880"/>
            <a:ext cx="1691640" cy="548640"/>
          </a:xfrm>
          <a:prstGeom prst="rect">
            <a:avLst/>
          </a:prstGeom>
          <a:noFill/>
        </p:spPr>
        <p:txBody>
          <a:bodyPr wrap="square" anchor="t"/>
          <a:lstStyle/>
          <a:p>
            <a:pPr algn="ctr">
              <a:defRPr sz="1100" b="0">
                <a:solidFill>
                  <a:srgbClr val="CCCCCC"/>
                </a:solidFill>
                <a:latin typeface="Arial"/>
              </a:defRPr>
            </a:pPr>
            <a:r>
              <a:t>Planner &gt; Workers &gt; Finalizer</a:t>
            </a:r>
          </a:p>
        </p:txBody>
      </p:sp>
      <p:sp>
        <p:nvSpPr>
          <p:cNvPr id="32" name="Rectangle 31"/>
          <p:cNvSpPr/>
          <p:nvPr/>
        </p:nvSpPr>
        <p:spPr>
          <a:xfrm>
            <a:off x="6858000" y="3108960"/>
            <a:ext cx="1417320" cy="18288"/>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720840" y="3246119"/>
            <a:ext cx="1691640" cy="914400"/>
          </a:xfrm>
          <a:prstGeom prst="rect">
            <a:avLst/>
          </a:prstGeom>
          <a:noFill/>
        </p:spPr>
        <p:txBody>
          <a:bodyPr wrap="square" anchor="t"/>
          <a:lstStyle/>
          <a:p>
            <a:pPr algn="ctr">
              <a:defRPr sz="1000" b="0">
                <a:solidFill>
                  <a:srgbClr val="999999"/>
                </a:solidFill>
                <a:latin typeface="Arial"/>
              </a:defRPr>
            </a:pPr>
            <a:r>
              <a:t>Complex multi-step research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What Does This System Do?</a:t>
            </a:r>
            <a:endParaRPr lang="en-US" sz="2600" dirty="0"/>
          </a:p>
        </p:txBody>
      </p:sp>
      <p:sp>
        <p:nvSpPr>
          <p:cNvPr id="3" name="Shape 1"/>
          <p:cNvSpPr/>
          <p:nvPr/>
        </p:nvSpPr>
        <p:spPr>
          <a:xfrm>
            <a:off x="548640" y="1051560"/>
            <a:ext cx="256032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548640" y="1051560"/>
            <a:ext cx="2560320" cy="320040"/>
          </a:xfrm>
          <a:prstGeom prst="rect">
            <a:avLst/>
          </a:prstGeom>
          <a:solidFill>
            <a:srgbClr val="1B2A4A"/>
          </a:solidFill>
          <a:ln/>
        </p:spPr>
        <p:txBody>
          <a:bodyPr/>
          <a:lstStyle/>
          <a:p>
            <a:endParaRPr lang="en-US"/>
          </a:p>
        </p:txBody>
      </p:sp>
      <p:sp>
        <p:nvSpPr>
          <p:cNvPr id="5" name="Text 3"/>
          <p:cNvSpPr/>
          <p:nvPr/>
        </p:nvSpPr>
        <p:spPr>
          <a:xfrm>
            <a:off x="658368" y="1078992"/>
            <a:ext cx="23408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Enterprise Chat API</a:t>
            </a:r>
            <a:endParaRPr lang="en-US" sz="1200" dirty="0"/>
          </a:p>
        </p:txBody>
      </p:sp>
      <p:sp>
        <p:nvSpPr>
          <p:cNvPr id="6" name="Text 4"/>
          <p:cNvSpPr/>
          <p:nvPr/>
        </p:nvSpPr>
        <p:spPr>
          <a:xfrm>
            <a:off x="658368" y="1435608"/>
            <a:ext cx="2340864" cy="20848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OpenAI-compatible /v1/chat/completions endpoint. Any client that speaks OpenAI protocol can call it.</a:t>
            </a:r>
            <a:endParaRPr lang="en-US" sz="1000" dirty="0"/>
          </a:p>
          <a:p>
            <a:pPr marL="0" indent="0">
              <a:lnSpc>
                <a:spcPct val="110000"/>
              </a:lnSpc>
              <a:buNone/>
            </a:pP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File: api/main.py</a:t>
            </a:r>
            <a:endParaRPr lang="en-US" sz="1000" dirty="0"/>
          </a:p>
        </p:txBody>
      </p:sp>
      <p:sp>
        <p:nvSpPr>
          <p:cNvPr id="7" name="Shape 5"/>
          <p:cNvSpPr/>
          <p:nvPr/>
        </p:nvSpPr>
        <p:spPr>
          <a:xfrm>
            <a:off x="3291840" y="1051560"/>
            <a:ext cx="256032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8" name="Shape 6"/>
          <p:cNvSpPr/>
          <p:nvPr/>
        </p:nvSpPr>
        <p:spPr>
          <a:xfrm>
            <a:off x="3291840" y="1051560"/>
            <a:ext cx="2560320" cy="320040"/>
          </a:xfrm>
          <a:prstGeom prst="rect">
            <a:avLst/>
          </a:prstGeom>
          <a:solidFill>
            <a:srgbClr val="1B2A4A"/>
          </a:solidFill>
          <a:ln/>
        </p:spPr>
        <p:txBody>
          <a:bodyPr/>
          <a:lstStyle/>
          <a:p>
            <a:endParaRPr lang="en-US"/>
          </a:p>
        </p:txBody>
      </p:sp>
      <p:sp>
        <p:nvSpPr>
          <p:cNvPr id="9" name="Text 7"/>
          <p:cNvSpPr/>
          <p:nvPr/>
        </p:nvSpPr>
        <p:spPr>
          <a:xfrm>
            <a:off x="3401568" y="1078992"/>
            <a:ext cx="23408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Multi-Agent Runtime</a:t>
            </a:r>
            <a:endParaRPr lang="en-US" sz="1200" dirty="0"/>
          </a:p>
        </p:txBody>
      </p:sp>
      <p:sp>
        <p:nvSpPr>
          <p:cNvPr id="10" name="Text 8"/>
          <p:cNvSpPr/>
          <p:nvPr/>
        </p:nvSpPr>
        <p:spPr>
          <a:xfrm>
            <a:off x="3401568" y="1435608"/>
            <a:ext cx="2340864" cy="20848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Routes questions to specialized agents (data analyst, RAG worker, coordinator) based on intent. Not a single monolith LLM call.</a:t>
            </a:r>
            <a:endParaRPr lang="en-US" sz="1000" dirty="0"/>
          </a:p>
        </p:txBody>
      </p:sp>
      <p:sp>
        <p:nvSpPr>
          <p:cNvPr id="11" name="Shape 9"/>
          <p:cNvSpPr/>
          <p:nvPr/>
        </p:nvSpPr>
        <p:spPr>
          <a:xfrm>
            <a:off x="6035040" y="1051560"/>
            <a:ext cx="256032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2" name="Shape 10"/>
          <p:cNvSpPr/>
          <p:nvPr/>
        </p:nvSpPr>
        <p:spPr>
          <a:xfrm>
            <a:off x="6035040" y="1051560"/>
            <a:ext cx="2560320" cy="320040"/>
          </a:xfrm>
          <a:prstGeom prst="rect">
            <a:avLst/>
          </a:prstGeom>
          <a:solidFill>
            <a:srgbClr val="1B2A4A"/>
          </a:solidFill>
          <a:ln/>
        </p:spPr>
        <p:txBody>
          <a:bodyPr/>
          <a:lstStyle/>
          <a:p>
            <a:endParaRPr lang="en-US"/>
          </a:p>
        </p:txBody>
      </p:sp>
      <p:sp>
        <p:nvSpPr>
          <p:cNvPr id="13" name="Text 11"/>
          <p:cNvSpPr/>
          <p:nvPr/>
        </p:nvSpPr>
        <p:spPr>
          <a:xfrm>
            <a:off x="6144768" y="1078992"/>
            <a:ext cx="23408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Grounded Answers</a:t>
            </a:r>
            <a:endParaRPr lang="en-US" sz="1200" dirty="0"/>
          </a:p>
        </p:txBody>
      </p:sp>
      <p:sp>
        <p:nvSpPr>
          <p:cNvPr id="14" name="Text 12"/>
          <p:cNvSpPr/>
          <p:nvPr/>
        </p:nvSpPr>
        <p:spPr>
          <a:xfrm>
            <a:off x="6144768" y="1435608"/>
            <a:ext cx="2340864" cy="20848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RAG pipeline retrieves evidence from indexed documents, cites sources inline, and returns confidence scores.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The 30-Second Mental Model</a:t>
            </a:r>
            <a:endParaRPr lang="en-US" sz="2600" dirty="0"/>
          </a:p>
        </p:txBody>
      </p:sp>
      <p:sp>
        <p:nvSpPr>
          <p:cNvPr id="3" name="Shape 1"/>
          <p:cNvSpPr/>
          <p:nvPr/>
        </p:nvSpPr>
        <p:spPr>
          <a:xfrm>
            <a:off x="2286000" y="1005840"/>
            <a:ext cx="457200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286000" y="1005840"/>
            <a:ext cx="45720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HTTP Request arrives</a:t>
            </a:r>
            <a:endParaRPr lang="en-US" sz="1000" dirty="0"/>
          </a:p>
        </p:txBody>
      </p:sp>
      <p:sp>
        <p:nvSpPr>
          <p:cNvPr id="5" name="Shape 3"/>
          <p:cNvSpPr/>
          <p:nvPr/>
        </p:nvSpPr>
        <p:spPr>
          <a:xfrm>
            <a:off x="4572000" y="1463040"/>
            <a:ext cx="0" cy="228600"/>
          </a:xfrm>
          <a:prstGeom prst="line">
            <a:avLst/>
          </a:prstGeom>
          <a:noFill/>
          <a:ln w="25400">
            <a:solidFill>
              <a:srgbClr val="0097A7"/>
            </a:solidFill>
            <a:prstDash val="solid"/>
          </a:ln>
        </p:spPr>
        <p:txBody>
          <a:bodyPr/>
          <a:lstStyle/>
          <a:p>
            <a:endParaRPr lang="en-US"/>
          </a:p>
        </p:txBody>
      </p:sp>
      <p:sp>
        <p:nvSpPr>
          <p:cNvPr id="6" name="Text 4"/>
          <p:cNvSpPr/>
          <p:nvPr/>
        </p:nvSpPr>
        <p:spPr>
          <a:xfrm>
            <a:off x="4480560" y="161848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7" name="Shape 5"/>
          <p:cNvSpPr/>
          <p:nvPr/>
        </p:nvSpPr>
        <p:spPr>
          <a:xfrm>
            <a:off x="2286000" y="1737360"/>
            <a:ext cx="4572000" cy="45720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2286000" y="1737360"/>
            <a:ext cx="45720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RuntimeService.process_turn()</a:t>
            </a:r>
            <a:endParaRPr lang="en-US" sz="1000" dirty="0"/>
          </a:p>
        </p:txBody>
      </p:sp>
      <p:sp>
        <p:nvSpPr>
          <p:cNvPr id="9" name="Shape 7"/>
          <p:cNvSpPr/>
          <p:nvPr/>
        </p:nvSpPr>
        <p:spPr>
          <a:xfrm>
            <a:off x="4572000" y="2194560"/>
            <a:ext cx="0" cy="228600"/>
          </a:xfrm>
          <a:prstGeom prst="line">
            <a:avLst/>
          </a:prstGeom>
          <a:noFill/>
          <a:ln w="25400">
            <a:solidFill>
              <a:srgbClr val="0097A7"/>
            </a:solidFill>
            <a:prstDash val="solid"/>
          </a:ln>
        </p:spPr>
        <p:txBody>
          <a:bodyPr/>
          <a:lstStyle/>
          <a:p>
            <a:endParaRPr lang="en-US"/>
          </a:p>
        </p:txBody>
      </p:sp>
      <p:sp>
        <p:nvSpPr>
          <p:cNvPr id="10" name="Text 8"/>
          <p:cNvSpPr/>
          <p:nvPr/>
        </p:nvSpPr>
        <p:spPr>
          <a:xfrm>
            <a:off x="4480560" y="235000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1" name="Shape 9"/>
          <p:cNvSpPr/>
          <p:nvPr/>
        </p:nvSpPr>
        <p:spPr>
          <a:xfrm>
            <a:off x="3383280" y="2468880"/>
            <a:ext cx="2377440" cy="457200"/>
          </a:xfrm>
          <a:prstGeom prst="rect">
            <a:avLst/>
          </a:prstGeom>
          <a:solidFill>
            <a:srgbClr val="F9A825"/>
          </a:solidFill>
          <a:ln/>
        </p:spPr>
        <p:txBody>
          <a:bodyPr/>
          <a:lstStyle/>
          <a:p>
            <a:endParaRPr lang="en-US"/>
          </a:p>
        </p:txBody>
      </p:sp>
      <p:sp>
        <p:nvSpPr>
          <p:cNvPr id="12" name="Text 10"/>
          <p:cNvSpPr/>
          <p:nvPr/>
        </p:nvSpPr>
        <p:spPr>
          <a:xfrm>
            <a:off x="3383280" y="2468880"/>
            <a:ext cx="2377440" cy="457200"/>
          </a:xfrm>
          <a:prstGeom prst="rect">
            <a:avLst/>
          </a:prstGeom>
          <a:noFill/>
          <a:ln/>
        </p:spPr>
        <p:txBody>
          <a:bodyPr wrap="square" lIns="0" tIns="0" rIns="0" bIns="0" rtlCol="0" anchor="ctr"/>
          <a:lstStyle/>
          <a:p>
            <a:pPr marL="0" indent="0" algn="ctr">
              <a:buNone/>
            </a:pPr>
            <a:r>
              <a:rPr lang="en-US" sz="1100" b="1" dirty="0">
                <a:solidFill>
                  <a:srgbClr val="1B2A4A"/>
                </a:solidFill>
                <a:latin typeface="Arial" pitchFamily="34" charset="0"/>
                <a:ea typeface="Arial" pitchFamily="34" charset="-122"/>
                <a:cs typeface="Arial" pitchFamily="34" charset="-120"/>
              </a:rPr>
              <a:t>Router Decision</a:t>
            </a:r>
            <a:endParaRPr lang="en-US" sz="1100" dirty="0"/>
          </a:p>
        </p:txBody>
      </p:sp>
      <p:sp>
        <p:nvSpPr>
          <p:cNvPr id="13" name="Shape 11"/>
          <p:cNvSpPr/>
          <p:nvPr/>
        </p:nvSpPr>
        <p:spPr>
          <a:xfrm>
            <a:off x="3383280" y="2697480"/>
            <a:ext cx="0" cy="0"/>
          </a:xfrm>
          <a:prstGeom prst="line">
            <a:avLst/>
          </a:prstGeom>
          <a:noFill/>
          <a:ln w="19050">
            <a:solidFill>
              <a:srgbClr val="999999"/>
            </a:solidFill>
            <a:prstDash val="solid"/>
          </a:ln>
        </p:spPr>
        <p:txBody>
          <a:bodyPr/>
          <a:lstStyle/>
          <a:p>
            <a:endParaRPr lang="en-US"/>
          </a:p>
        </p:txBody>
      </p:sp>
      <p:sp>
        <p:nvSpPr>
          <p:cNvPr id="14" name="Text 12"/>
          <p:cNvSpPr/>
          <p:nvPr/>
        </p:nvSpPr>
        <p:spPr>
          <a:xfrm>
            <a:off x="1828800" y="2286000"/>
            <a:ext cx="731520" cy="182880"/>
          </a:xfrm>
          <a:prstGeom prst="rect">
            <a:avLst/>
          </a:prstGeom>
          <a:noFill/>
          <a:ln/>
        </p:spPr>
        <p:txBody>
          <a:bodyPr wrap="square" lIns="0" tIns="0" rIns="0" bIns="0" rtlCol="0" anchor="ctr"/>
          <a:lstStyle/>
          <a:p>
            <a:pPr marL="0" indent="0" algn="ctr">
              <a:buNone/>
            </a:pPr>
            <a:r>
              <a:rPr lang="en-US" sz="800" dirty="0">
                <a:solidFill>
                  <a:srgbClr val="666666"/>
                </a:solidFill>
                <a:latin typeface="Arial" pitchFamily="34" charset="0"/>
                <a:ea typeface="Arial" pitchFamily="34" charset="-122"/>
                <a:cs typeface="Arial" pitchFamily="34" charset="-120"/>
              </a:rPr>
              <a:t>BASIC</a:t>
            </a:r>
            <a:endParaRPr lang="en-US" sz="800" dirty="0"/>
          </a:p>
        </p:txBody>
      </p:sp>
      <p:sp>
        <p:nvSpPr>
          <p:cNvPr id="15" name="Shape 13"/>
          <p:cNvSpPr/>
          <p:nvPr/>
        </p:nvSpPr>
        <p:spPr>
          <a:xfrm>
            <a:off x="274320" y="2468880"/>
            <a:ext cx="1645920" cy="457200"/>
          </a:xfrm>
          <a:prstGeom prst="rect">
            <a:avLst/>
          </a:prstGeom>
          <a:solidFill>
            <a:srgbClr val="F0F0F0"/>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274320" y="2468880"/>
            <a:ext cx="1645920" cy="457200"/>
          </a:xfrm>
          <a:prstGeom prst="rect">
            <a:avLst/>
          </a:prstGeom>
          <a:noFill/>
          <a:ln/>
        </p:spPr>
        <p:txBody>
          <a:bodyPr wrap="square" lIns="0" tIns="0" rIns="0" bIns="0" rtlCol="0" anchor="ctr"/>
          <a:lstStyle/>
          <a:p>
            <a:pPr marL="0" indent="0" algn="ctr">
              <a:buNone/>
            </a:pPr>
            <a:r>
              <a:rPr lang="en-US" sz="1000" dirty="0">
                <a:solidFill>
                  <a:srgbClr val="1B2A4A"/>
                </a:solidFill>
                <a:latin typeface="Arial" pitchFamily="34" charset="0"/>
                <a:ea typeface="Arial" pitchFamily="34" charset="-122"/>
                <a:cs typeface="Arial" pitchFamily="34" charset="-120"/>
              </a:rPr>
              <a:t>Direct LLM reply</a:t>
            </a:r>
            <a:endParaRPr lang="en-US" sz="1000" dirty="0"/>
          </a:p>
          <a:p>
            <a:pPr marL="0" indent="0" algn="ctr">
              <a:buNone/>
            </a:pPr>
            <a:r>
              <a:rPr lang="en-US" sz="1000" dirty="0">
                <a:solidFill>
                  <a:srgbClr val="1B2A4A"/>
                </a:solidFill>
                <a:latin typeface="Arial" pitchFamily="34" charset="0"/>
                <a:ea typeface="Arial" pitchFamily="34" charset="-122"/>
                <a:cs typeface="Arial" pitchFamily="34" charset="-120"/>
              </a:rPr>
              <a:t>(no tools)</a:t>
            </a:r>
            <a:endParaRPr lang="en-US" sz="1000" dirty="0"/>
          </a:p>
        </p:txBody>
      </p:sp>
      <p:sp>
        <p:nvSpPr>
          <p:cNvPr id="17" name="Shape 15"/>
          <p:cNvSpPr/>
          <p:nvPr/>
        </p:nvSpPr>
        <p:spPr>
          <a:xfrm>
            <a:off x="5760720" y="2697480"/>
            <a:ext cx="1371600" cy="0"/>
          </a:xfrm>
          <a:prstGeom prst="line">
            <a:avLst/>
          </a:prstGeom>
          <a:noFill/>
          <a:ln w="19050">
            <a:solidFill>
              <a:srgbClr val="999999"/>
            </a:solidFill>
            <a:prstDash val="solid"/>
          </a:ln>
        </p:spPr>
        <p:txBody>
          <a:bodyPr/>
          <a:lstStyle/>
          <a:p>
            <a:endParaRPr lang="en-US"/>
          </a:p>
        </p:txBody>
      </p:sp>
      <p:sp>
        <p:nvSpPr>
          <p:cNvPr id="18" name="Text 16"/>
          <p:cNvSpPr/>
          <p:nvPr/>
        </p:nvSpPr>
        <p:spPr>
          <a:xfrm>
            <a:off x="5760720" y="2286000"/>
            <a:ext cx="731520" cy="182880"/>
          </a:xfrm>
          <a:prstGeom prst="rect">
            <a:avLst/>
          </a:prstGeom>
          <a:noFill/>
          <a:ln/>
        </p:spPr>
        <p:txBody>
          <a:bodyPr wrap="square" lIns="0" tIns="0" rIns="0" bIns="0" rtlCol="0" anchor="ctr"/>
          <a:lstStyle/>
          <a:p>
            <a:pPr marL="0" indent="0" algn="ctr">
              <a:buNone/>
            </a:pPr>
            <a:r>
              <a:rPr lang="en-US" sz="800" dirty="0">
                <a:solidFill>
                  <a:srgbClr val="666666"/>
                </a:solidFill>
                <a:latin typeface="Arial" pitchFamily="34" charset="0"/>
                <a:ea typeface="Arial" pitchFamily="34" charset="-122"/>
                <a:cs typeface="Arial" pitchFamily="34" charset="-120"/>
              </a:rPr>
              <a:t>AGENT</a:t>
            </a:r>
            <a:endParaRPr lang="en-US" sz="800" dirty="0"/>
          </a:p>
        </p:txBody>
      </p:sp>
      <p:sp>
        <p:nvSpPr>
          <p:cNvPr id="19" name="Shape 17"/>
          <p:cNvSpPr/>
          <p:nvPr/>
        </p:nvSpPr>
        <p:spPr>
          <a:xfrm>
            <a:off x="7132320" y="2468880"/>
            <a:ext cx="201168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7132320" y="2468880"/>
            <a:ext cx="201168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Kernel &gt; QueryLoop</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Agent execution</a:t>
            </a:r>
            <a:endParaRPr lang="en-US" sz="1000" dirty="0"/>
          </a:p>
        </p:txBody>
      </p:sp>
      <p:sp>
        <p:nvSpPr>
          <p:cNvPr id="21" name="Shape 19"/>
          <p:cNvSpPr/>
          <p:nvPr/>
        </p:nvSpPr>
        <p:spPr>
          <a:xfrm>
            <a:off x="4572000" y="3200400"/>
            <a:ext cx="0" cy="228600"/>
          </a:xfrm>
          <a:prstGeom prst="line">
            <a:avLst/>
          </a:prstGeom>
          <a:noFill/>
          <a:ln w="25400">
            <a:solidFill>
              <a:srgbClr val="0097A7"/>
            </a:solidFill>
            <a:prstDash val="solid"/>
          </a:ln>
        </p:spPr>
        <p:txBody>
          <a:bodyPr/>
          <a:lstStyle/>
          <a:p>
            <a:endParaRPr lang="en-US"/>
          </a:p>
        </p:txBody>
      </p:sp>
      <p:sp>
        <p:nvSpPr>
          <p:cNvPr id="22" name="Text 20"/>
          <p:cNvSpPr/>
          <p:nvPr/>
        </p:nvSpPr>
        <p:spPr>
          <a:xfrm>
            <a:off x="4480560" y="335584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23" name="Shape 21"/>
          <p:cNvSpPr/>
          <p:nvPr/>
        </p:nvSpPr>
        <p:spPr>
          <a:xfrm>
            <a:off x="2286000" y="3474720"/>
            <a:ext cx="4572000" cy="45720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24" name="Text 22"/>
          <p:cNvSpPr/>
          <p:nvPr/>
        </p:nvSpPr>
        <p:spPr>
          <a:xfrm>
            <a:off x="2286000" y="3474720"/>
            <a:ext cx="45720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Response returned via SSE stream</a:t>
            </a:r>
            <a:endParaRPr lang="en-US" sz="1000" dirty="0"/>
          </a:p>
        </p:txBody>
      </p:sp>
      <p:sp>
        <p:nvSpPr>
          <p:cNvPr id="25" name="Text 23"/>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api/main.py &gt; app/service.py &gt; router/router.py &gt; runtime/kernel.py &gt; runtime/query_loop.py</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Our Agent Harness at a Glance</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300" b="0">
                <a:solidFill>
                  <a:srgbClr val="555555"/>
                </a:solidFill>
                <a:latin typeface="Arial"/>
              </a:defRPr>
            </a:pPr>
            <a:r>
              <a:t>This deck deep-dives into our production agent harness. Here's what makes it distinctive:</a:t>
            </a:r>
          </a:p>
        </p:txBody>
      </p:sp>
      <p:sp>
        <p:nvSpPr>
          <p:cNvPr id="6" name="TextBox 5"/>
          <p:cNvSpPr txBox="1"/>
          <p:nvPr/>
        </p:nvSpPr>
        <p:spPr>
          <a:xfrm>
            <a:off x="640080" y="1371600"/>
            <a:ext cx="1645920" cy="640080"/>
          </a:xfrm>
          <a:prstGeom prst="rect">
            <a:avLst/>
          </a:prstGeom>
          <a:noFill/>
        </p:spPr>
        <p:txBody>
          <a:bodyPr wrap="square" anchor="t"/>
          <a:lstStyle/>
          <a:p>
            <a:pPr algn="ctr">
              <a:defRPr sz="4400" b="1">
                <a:solidFill>
                  <a:srgbClr val="0097A7"/>
                </a:solidFill>
                <a:latin typeface="Arial"/>
              </a:defRPr>
            </a:pPr>
            <a:r>
              <a:t>11</a:t>
            </a:r>
          </a:p>
        </p:txBody>
      </p:sp>
      <p:sp>
        <p:nvSpPr>
          <p:cNvPr id="7" name="TextBox 6"/>
          <p:cNvSpPr txBox="1"/>
          <p:nvPr/>
        </p:nvSpPr>
        <p:spPr>
          <a:xfrm>
            <a:off x="640080" y="2011680"/>
            <a:ext cx="1645920" cy="457200"/>
          </a:xfrm>
          <a:prstGeom prst="rect">
            <a:avLst/>
          </a:prstGeom>
          <a:noFill/>
        </p:spPr>
        <p:txBody>
          <a:bodyPr wrap="square" anchor="t"/>
          <a:lstStyle/>
          <a:p>
            <a:pPr algn="ctr">
              <a:defRPr sz="1200" b="0">
                <a:solidFill>
                  <a:srgbClr val="666666"/>
                </a:solidFill>
                <a:latin typeface="Arial"/>
              </a:defRPr>
            </a:pPr>
            <a:r>
              <a:t>Specialized</a:t>
            </a:r>
            <a:br/>
            <a:r>
              <a:t>Agents</a:t>
            </a:r>
          </a:p>
        </p:txBody>
      </p:sp>
      <p:sp>
        <p:nvSpPr>
          <p:cNvPr id="8" name="TextBox 7"/>
          <p:cNvSpPr txBox="1"/>
          <p:nvPr/>
        </p:nvSpPr>
        <p:spPr>
          <a:xfrm>
            <a:off x="2697480" y="1371600"/>
            <a:ext cx="1645920" cy="640080"/>
          </a:xfrm>
          <a:prstGeom prst="rect">
            <a:avLst/>
          </a:prstGeom>
          <a:noFill/>
        </p:spPr>
        <p:txBody>
          <a:bodyPr wrap="square" anchor="t"/>
          <a:lstStyle/>
          <a:p>
            <a:pPr algn="ctr">
              <a:defRPr sz="4400" b="1">
                <a:solidFill>
                  <a:srgbClr val="FF9800"/>
                </a:solidFill>
                <a:latin typeface="Arial"/>
              </a:defRPr>
            </a:pPr>
            <a:r>
              <a:t>54</a:t>
            </a:r>
          </a:p>
        </p:txBody>
      </p:sp>
      <p:sp>
        <p:nvSpPr>
          <p:cNvPr id="9" name="TextBox 8"/>
          <p:cNvSpPr txBox="1"/>
          <p:nvPr/>
        </p:nvSpPr>
        <p:spPr>
          <a:xfrm>
            <a:off x="2697480" y="2011680"/>
            <a:ext cx="1645920" cy="457200"/>
          </a:xfrm>
          <a:prstGeom prst="rect">
            <a:avLst/>
          </a:prstGeom>
          <a:noFill/>
        </p:spPr>
        <p:txBody>
          <a:bodyPr wrap="square" anchor="t"/>
          <a:lstStyle/>
          <a:p>
            <a:pPr algn="ctr">
              <a:defRPr sz="1200" b="0">
                <a:solidFill>
                  <a:srgbClr val="666666"/>
                </a:solidFill>
                <a:latin typeface="Arial"/>
              </a:defRPr>
            </a:pPr>
            <a:r>
              <a:t>Registered</a:t>
            </a:r>
            <a:br/>
            <a:r>
              <a:t>Tools</a:t>
            </a:r>
          </a:p>
        </p:txBody>
      </p:sp>
      <p:sp>
        <p:nvSpPr>
          <p:cNvPr id="10" name="TextBox 9"/>
          <p:cNvSpPr txBox="1"/>
          <p:nvPr/>
        </p:nvSpPr>
        <p:spPr>
          <a:xfrm>
            <a:off x="4754880" y="1371600"/>
            <a:ext cx="1645920" cy="640080"/>
          </a:xfrm>
          <a:prstGeom prst="rect">
            <a:avLst/>
          </a:prstGeom>
          <a:noFill/>
        </p:spPr>
        <p:txBody>
          <a:bodyPr wrap="square" anchor="t"/>
          <a:lstStyle/>
          <a:p>
            <a:pPr algn="ctr">
              <a:defRPr sz="4400" b="1">
                <a:solidFill>
                  <a:srgbClr val="7C4DFF"/>
                </a:solidFill>
                <a:latin typeface="Arial"/>
              </a:defRPr>
            </a:pPr>
            <a:r>
              <a:t>7</a:t>
            </a:r>
          </a:p>
        </p:txBody>
      </p:sp>
      <p:sp>
        <p:nvSpPr>
          <p:cNvPr id="11" name="TextBox 10"/>
          <p:cNvSpPr txBox="1"/>
          <p:nvPr/>
        </p:nvSpPr>
        <p:spPr>
          <a:xfrm>
            <a:off x="4754880" y="2011680"/>
            <a:ext cx="1645920" cy="457200"/>
          </a:xfrm>
          <a:prstGeom prst="rect">
            <a:avLst/>
          </a:prstGeom>
          <a:noFill/>
        </p:spPr>
        <p:txBody>
          <a:bodyPr wrap="square" anchor="t"/>
          <a:lstStyle/>
          <a:p>
            <a:pPr algn="ctr">
              <a:defRPr sz="1200" b="0">
                <a:solidFill>
                  <a:srgbClr val="666666"/>
                </a:solidFill>
                <a:latin typeface="Arial"/>
              </a:defRPr>
            </a:pPr>
            <a:r>
              <a:t>Execution</a:t>
            </a:r>
            <a:br/>
            <a:r>
              <a:t>Modes</a:t>
            </a:r>
          </a:p>
        </p:txBody>
      </p:sp>
      <p:sp>
        <p:nvSpPr>
          <p:cNvPr id="12" name="TextBox 11"/>
          <p:cNvSpPr txBox="1"/>
          <p:nvPr/>
        </p:nvSpPr>
        <p:spPr>
          <a:xfrm>
            <a:off x="6812280" y="1371600"/>
            <a:ext cx="1645920" cy="640080"/>
          </a:xfrm>
          <a:prstGeom prst="rect">
            <a:avLst/>
          </a:prstGeom>
          <a:noFill/>
        </p:spPr>
        <p:txBody>
          <a:bodyPr wrap="square" anchor="t"/>
          <a:lstStyle/>
          <a:p>
            <a:pPr algn="ctr">
              <a:defRPr sz="4400" b="1">
                <a:solidFill>
                  <a:srgbClr val="4CAF50"/>
                </a:solidFill>
                <a:latin typeface="Arial"/>
              </a:defRPr>
            </a:pPr>
            <a:r>
              <a:t>8</a:t>
            </a:r>
          </a:p>
        </p:txBody>
      </p:sp>
      <p:sp>
        <p:nvSpPr>
          <p:cNvPr id="13" name="TextBox 12"/>
          <p:cNvSpPr txBox="1"/>
          <p:nvPr/>
        </p:nvSpPr>
        <p:spPr>
          <a:xfrm>
            <a:off x="6812280" y="2011680"/>
            <a:ext cx="1645920" cy="457200"/>
          </a:xfrm>
          <a:prstGeom prst="rect">
            <a:avLst/>
          </a:prstGeom>
          <a:noFill/>
        </p:spPr>
        <p:txBody>
          <a:bodyPr wrap="square" anchor="t"/>
          <a:lstStyle/>
          <a:p>
            <a:pPr algn="ctr">
              <a:defRPr sz="1200" b="0">
                <a:solidFill>
                  <a:srgbClr val="666666"/>
                </a:solidFill>
                <a:latin typeface="Arial"/>
              </a:defRPr>
            </a:pPr>
            <a:r>
              <a:t>Tool</a:t>
            </a:r>
            <a:br/>
            <a:r>
              <a:t>Groups</a:t>
            </a:r>
          </a:p>
        </p:txBody>
      </p:sp>
      <p:sp>
        <p:nvSpPr>
          <p:cNvPr id="14" name="Rectangle 13"/>
          <p:cNvSpPr/>
          <p:nvPr/>
        </p:nvSpPr>
        <p:spPr>
          <a:xfrm>
            <a:off x="0" y="2743200"/>
            <a:ext cx="9144000" cy="36576"/>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292608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 y="2999232"/>
            <a:ext cx="3931920" cy="274320"/>
          </a:xfrm>
          <a:prstGeom prst="rect">
            <a:avLst/>
          </a:prstGeom>
          <a:noFill/>
        </p:spPr>
        <p:txBody>
          <a:bodyPr wrap="square" anchor="t"/>
          <a:lstStyle/>
          <a:p>
            <a:pPr algn="l">
              <a:defRPr sz="1300" b="1">
                <a:solidFill>
                  <a:srgbClr val="333333"/>
                </a:solidFill>
                <a:latin typeface="Arial"/>
              </a:defRPr>
            </a:pPr>
            <a:r>
              <a:t>Agents as Data</a:t>
            </a:r>
          </a:p>
        </p:txBody>
      </p:sp>
      <p:sp>
        <p:nvSpPr>
          <p:cNvPr id="17" name="TextBox 16"/>
          <p:cNvSpPr txBox="1"/>
          <p:nvPr/>
        </p:nvSpPr>
        <p:spPr>
          <a:xfrm>
            <a:off x="502920" y="3246120"/>
            <a:ext cx="3931920" cy="457200"/>
          </a:xfrm>
          <a:prstGeom prst="rect">
            <a:avLst/>
          </a:prstGeom>
          <a:noFill/>
        </p:spPr>
        <p:txBody>
          <a:bodyPr wrap="square" anchor="t"/>
          <a:lstStyle/>
          <a:p>
            <a:pPr algn="l">
              <a:defRPr sz="1000" b="0">
                <a:solidFill>
                  <a:srgbClr val="666666"/>
                </a:solidFill>
                <a:latin typeface="Arial"/>
              </a:defRPr>
            </a:pPr>
            <a:r>
              <a:t>Markdown definitions, not hard-coded classes — hot-reloadable via 70-endpoint admin API</a:t>
            </a:r>
          </a:p>
        </p:txBody>
      </p:sp>
      <p:sp>
        <p:nvSpPr>
          <p:cNvPr id="18" name="Rectangle 17"/>
          <p:cNvSpPr/>
          <p:nvPr/>
        </p:nvSpPr>
        <p:spPr>
          <a:xfrm>
            <a:off x="4754880" y="292608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54880" y="2999232"/>
            <a:ext cx="3931920" cy="274320"/>
          </a:xfrm>
          <a:prstGeom prst="rect">
            <a:avLst/>
          </a:prstGeom>
          <a:noFill/>
        </p:spPr>
        <p:txBody>
          <a:bodyPr wrap="square" anchor="t"/>
          <a:lstStyle/>
          <a:p>
            <a:pPr algn="l">
              <a:defRPr sz="1300" b="1">
                <a:solidFill>
                  <a:srgbClr val="333333"/>
                </a:solidFill>
                <a:latin typeface="Arial"/>
              </a:defRPr>
            </a:pPr>
            <a:r>
              <a:t>Three-Layer Runtime</a:t>
            </a:r>
          </a:p>
        </p:txBody>
      </p:sp>
      <p:sp>
        <p:nvSpPr>
          <p:cNvPr id="20" name="TextBox 19"/>
          <p:cNvSpPr txBox="1"/>
          <p:nvPr/>
        </p:nvSpPr>
        <p:spPr>
          <a:xfrm>
            <a:off x="4754880" y="3246120"/>
            <a:ext cx="3931920" cy="457200"/>
          </a:xfrm>
          <a:prstGeom prst="rect">
            <a:avLst/>
          </a:prstGeom>
          <a:noFill/>
        </p:spPr>
        <p:txBody>
          <a:bodyPr wrap="square" anchor="t"/>
          <a:lstStyle/>
          <a:p>
            <a:pPr algn="l">
              <a:defRPr sz="1000" b="0">
                <a:solidFill>
                  <a:srgbClr val="666666"/>
                </a:solidFill>
                <a:latin typeface="Arial"/>
              </a:defRPr>
            </a:pPr>
            <a:r>
              <a:t>RuntimeService → RuntimeKernel → QueryLoop separation keeps orchestration clean</a:t>
            </a:r>
          </a:p>
        </p:txBody>
      </p:sp>
      <p:sp>
        <p:nvSpPr>
          <p:cNvPr id="21" name="Rectangle 20"/>
          <p:cNvSpPr/>
          <p:nvPr/>
        </p:nvSpPr>
        <p:spPr>
          <a:xfrm>
            <a:off x="502920" y="370332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3776472"/>
            <a:ext cx="3931920" cy="274320"/>
          </a:xfrm>
          <a:prstGeom prst="rect">
            <a:avLst/>
          </a:prstGeom>
          <a:noFill/>
        </p:spPr>
        <p:txBody>
          <a:bodyPr wrap="square" anchor="t"/>
          <a:lstStyle/>
          <a:p>
            <a:pPr algn="l">
              <a:defRPr sz="1300" b="1">
                <a:solidFill>
                  <a:srgbClr val="333333"/>
                </a:solidFill>
                <a:latin typeface="Arial"/>
              </a:defRPr>
            </a:pPr>
            <a:r>
              <a:t>GraphRAG + MCP</a:t>
            </a:r>
          </a:p>
        </p:txBody>
      </p:sp>
      <p:sp>
        <p:nvSpPr>
          <p:cNvPr id="23" name="TextBox 22"/>
          <p:cNvSpPr txBox="1"/>
          <p:nvPr/>
        </p:nvSpPr>
        <p:spPr>
          <a:xfrm>
            <a:off x="502920" y="4023360"/>
            <a:ext cx="3931920" cy="457200"/>
          </a:xfrm>
          <a:prstGeom prst="rect">
            <a:avLst/>
          </a:prstGeom>
          <a:noFill/>
        </p:spPr>
        <p:txBody>
          <a:bodyPr wrap="square" anchor="t"/>
          <a:lstStyle/>
          <a:p>
            <a:pPr algn="l">
              <a:defRPr sz="1000" b="0">
                <a:solidFill>
                  <a:srgbClr val="666666"/>
                </a:solidFill>
                <a:latin typeface="Arial"/>
              </a:defRPr>
            </a:pPr>
            <a:r>
              <a:t>Knowledge graph integration (8 tools) and Model Context Protocol for dynamic tool discovery</a:t>
            </a:r>
          </a:p>
        </p:txBody>
      </p:sp>
      <p:sp>
        <p:nvSpPr>
          <p:cNvPr id="24" name="Rectangle 23"/>
          <p:cNvSpPr/>
          <p:nvPr/>
        </p:nvSpPr>
        <p:spPr>
          <a:xfrm>
            <a:off x="4754880" y="370332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54880" y="3776472"/>
            <a:ext cx="3931920" cy="274320"/>
          </a:xfrm>
          <a:prstGeom prst="rect">
            <a:avLst/>
          </a:prstGeom>
          <a:noFill/>
        </p:spPr>
        <p:txBody>
          <a:bodyPr wrap="square" anchor="t"/>
          <a:lstStyle/>
          <a:p>
            <a:pPr algn="l">
              <a:defRPr sz="1300" b="1">
                <a:solidFill>
                  <a:srgbClr val="333333"/>
                </a:solidFill>
                <a:latin typeface="Arial"/>
              </a:defRPr>
            </a:pPr>
            <a:r>
              <a:t>Worker Orchestration</a:t>
            </a:r>
          </a:p>
        </p:txBody>
      </p:sp>
      <p:sp>
        <p:nvSpPr>
          <p:cNvPr id="26" name="TextBox 25"/>
          <p:cNvSpPr txBox="1"/>
          <p:nvPr/>
        </p:nvSpPr>
        <p:spPr>
          <a:xfrm>
            <a:off x="4754880" y="4023360"/>
            <a:ext cx="3931920" cy="457200"/>
          </a:xfrm>
          <a:prstGeom prst="rect">
            <a:avLst/>
          </a:prstGeom>
          <a:noFill/>
        </p:spPr>
        <p:txBody>
          <a:bodyPr wrap="square" anchor="t"/>
          <a:lstStyle/>
          <a:p>
            <a:pPr algn="l">
              <a:defRPr sz="1000" b="0">
                <a:solidFill>
                  <a:srgbClr val="666666"/>
                </a:solidFill>
                <a:latin typeface="Arial"/>
              </a:defRPr>
            </a:pPr>
            <a:r>
              <a:t>14 orchestration tools: spawn workers, team mailbox, multi-agent coordination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Tools &amp; RAG — The Agent's Capabilities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3931920" cy="320040"/>
          </a:xfrm>
          <a:prstGeom prst="rect">
            <a:avLst/>
          </a:prstGeom>
          <a:noFill/>
        </p:spPr>
        <p:txBody>
          <a:bodyPr wrap="square" anchor="t"/>
          <a:lstStyle/>
          <a:p>
            <a:pPr algn="l">
              <a:defRPr sz="1400" b="1">
                <a:solidFill>
                  <a:srgbClr val="1B2A4A"/>
                </a:solidFill>
                <a:latin typeface="Arial"/>
              </a:defRPr>
            </a:pPr>
            <a:r>
              <a:t>TOOL SYSTEM</a:t>
            </a:r>
          </a:p>
        </p:txBody>
      </p:sp>
      <p:sp>
        <p:nvSpPr>
          <p:cNvPr id="6" name="TextBox 5"/>
          <p:cNvSpPr txBox="1"/>
          <p:nvPr/>
        </p:nvSpPr>
        <p:spPr>
          <a:xfrm>
            <a:off x="502920" y="1143000"/>
            <a:ext cx="3931920" cy="457200"/>
          </a:xfrm>
          <a:prstGeom prst="rect">
            <a:avLst/>
          </a:prstGeom>
          <a:noFill/>
        </p:spPr>
        <p:txBody>
          <a:bodyPr wrap="square" anchor="t"/>
          <a:lstStyle/>
          <a:p>
            <a:pPr algn="l">
              <a:defRPr sz="1100" b="0">
                <a:solidFill>
                  <a:srgbClr val="666666"/>
                </a:solidFill>
                <a:latin typeface="Arial"/>
              </a:defRPr>
            </a:pPr>
            <a:r>
              <a:t>54 tools in 8 groups, registered with the harness. Each agent gets a curated subset via its allowed_tools whitelist.</a:t>
            </a:r>
          </a:p>
        </p:txBody>
      </p:sp>
      <p:sp>
        <p:nvSpPr>
          <p:cNvPr id="7" name="Oval 6"/>
          <p:cNvSpPr/>
          <p:nvPr/>
        </p:nvSpPr>
        <p:spPr>
          <a:xfrm>
            <a:off x="502920" y="1719072"/>
            <a:ext cx="128016" cy="128016"/>
          </a:xfrm>
          <a:prstGeom prst="ellipse">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691640"/>
            <a:ext cx="1554480" cy="201168"/>
          </a:xfrm>
          <a:prstGeom prst="rect">
            <a:avLst/>
          </a:prstGeom>
          <a:noFill/>
        </p:spPr>
        <p:txBody>
          <a:bodyPr wrap="square" anchor="t"/>
          <a:lstStyle/>
          <a:p>
            <a:pPr algn="l">
              <a:defRPr sz="1000" b="1">
                <a:solidFill>
                  <a:srgbClr val="333333"/>
                </a:solidFill>
                <a:latin typeface="Arial"/>
              </a:defRPr>
            </a:pPr>
            <a:r>
              <a:t>Orchestration (14)</a:t>
            </a:r>
          </a:p>
        </p:txBody>
      </p:sp>
      <p:sp>
        <p:nvSpPr>
          <p:cNvPr id="9" name="TextBox 8"/>
          <p:cNvSpPr txBox="1"/>
          <p:nvPr/>
        </p:nvSpPr>
        <p:spPr>
          <a:xfrm>
            <a:off x="704088" y="1865376"/>
            <a:ext cx="3657600" cy="274320"/>
          </a:xfrm>
          <a:prstGeom prst="rect">
            <a:avLst/>
          </a:prstGeom>
          <a:noFill/>
        </p:spPr>
        <p:txBody>
          <a:bodyPr wrap="square" anchor="t"/>
          <a:lstStyle/>
          <a:p>
            <a:pPr algn="l">
              <a:defRPr sz="800" b="0">
                <a:solidFill>
                  <a:srgbClr val="777777"/>
                </a:solidFill>
                <a:latin typeface="Arial"/>
              </a:defRPr>
            </a:pPr>
            <a:r>
              <a:t>spawn/message workers, team mailbox, invoke agent, job control</a:t>
            </a:r>
          </a:p>
        </p:txBody>
      </p:sp>
      <p:sp>
        <p:nvSpPr>
          <p:cNvPr id="10" name="Oval 9"/>
          <p:cNvSpPr/>
          <p:nvPr/>
        </p:nvSpPr>
        <p:spPr>
          <a:xfrm>
            <a:off x="502920" y="2148840"/>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 y="2121408"/>
            <a:ext cx="1554480" cy="201168"/>
          </a:xfrm>
          <a:prstGeom prst="rect">
            <a:avLst/>
          </a:prstGeom>
          <a:noFill/>
        </p:spPr>
        <p:txBody>
          <a:bodyPr wrap="square" anchor="t"/>
          <a:lstStyle/>
          <a:p>
            <a:pPr algn="l">
              <a:defRPr sz="1000" b="1">
                <a:solidFill>
                  <a:srgbClr val="333333"/>
                </a:solidFill>
                <a:latin typeface="Arial"/>
              </a:defRPr>
            </a:pPr>
            <a:r>
              <a:t>RAG Gateway (12)</a:t>
            </a:r>
          </a:p>
        </p:txBody>
      </p:sp>
      <p:sp>
        <p:nvSpPr>
          <p:cNvPr id="12" name="TextBox 11"/>
          <p:cNvSpPr txBox="1"/>
          <p:nvPr/>
        </p:nvSpPr>
        <p:spPr>
          <a:xfrm>
            <a:off x="704088" y="2295144"/>
            <a:ext cx="3657600" cy="274320"/>
          </a:xfrm>
          <a:prstGeom prst="rect">
            <a:avLst/>
          </a:prstGeom>
          <a:noFill/>
        </p:spPr>
        <p:txBody>
          <a:bodyPr wrap="square" anchor="t"/>
          <a:lstStyle/>
          <a:p>
            <a:pPr algn="l">
              <a:defRPr sz="800" b="0">
                <a:solidFill>
                  <a:srgbClr val="777777"/>
                </a:solidFill>
                <a:latin typeface="Arial"/>
              </a:defRPr>
            </a:pPr>
            <a:r>
              <a:t>search, read, compare docs, extract, consolidate, evidence binder</a:t>
            </a:r>
          </a:p>
        </p:txBody>
      </p:sp>
      <p:sp>
        <p:nvSpPr>
          <p:cNvPr id="13" name="Oval 12"/>
          <p:cNvSpPr/>
          <p:nvPr/>
        </p:nvSpPr>
        <p:spPr>
          <a:xfrm>
            <a:off x="502920" y="2578608"/>
            <a:ext cx="128016" cy="128016"/>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4088" y="2551176"/>
            <a:ext cx="1554480" cy="201168"/>
          </a:xfrm>
          <a:prstGeom prst="rect">
            <a:avLst/>
          </a:prstGeom>
          <a:noFill/>
        </p:spPr>
        <p:txBody>
          <a:bodyPr wrap="square" anchor="t"/>
          <a:lstStyle/>
          <a:p>
            <a:pPr algn="l">
              <a:defRPr sz="1000" b="1">
                <a:solidFill>
                  <a:srgbClr val="333333"/>
                </a:solidFill>
                <a:latin typeface="Arial"/>
              </a:defRPr>
            </a:pPr>
            <a:r>
              <a:t>Analyst (11)</a:t>
            </a:r>
          </a:p>
        </p:txBody>
      </p:sp>
      <p:sp>
        <p:nvSpPr>
          <p:cNvPr id="15" name="TextBox 14"/>
          <p:cNvSpPr txBox="1"/>
          <p:nvPr/>
        </p:nvSpPr>
        <p:spPr>
          <a:xfrm>
            <a:off x="704088" y="2724912"/>
            <a:ext cx="3657600" cy="274320"/>
          </a:xfrm>
          <a:prstGeom prst="rect">
            <a:avLst/>
          </a:prstGeom>
          <a:noFill/>
        </p:spPr>
        <p:txBody>
          <a:bodyPr wrap="square" anchor="t"/>
          <a:lstStyle/>
          <a:p>
            <a:pPr algn="l">
              <a:defRPr sz="800" b="0">
                <a:solidFill>
                  <a:srgbClr val="777777"/>
                </a:solidFill>
                <a:latin typeface="Arial"/>
              </a:defRPr>
            </a:pPr>
            <a:r>
              <a:t>load_dataset, execute_code (Docker), scratchpad, workspace ops</a:t>
            </a:r>
          </a:p>
        </p:txBody>
      </p:sp>
      <p:sp>
        <p:nvSpPr>
          <p:cNvPr id="16" name="Oval 15"/>
          <p:cNvSpPr/>
          <p:nvPr/>
        </p:nvSpPr>
        <p:spPr>
          <a:xfrm>
            <a:off x="502920" y="3008376"/>
            <a:ext cx="128016" cy="128016"/>
          </a:xfrm>
          <a:prstGeom prst="ellipse">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4088" y="2980944"/>
            <a:ext cx="1554480" cy="201168"/>
          </a:xfrm>
          <a:prstGeom prst="rect">
            <a:avLst/>
          </a:prstGeom>
          <a:noFill/>
        </p:spPr>
        <p:txBody>
          <a:bodyPr wrap="square" anchor="t"/>
          <a:lstStyle/>
          <a:p>
            <a:pPr algn="l">
              <a:defRPr sz="1000" b="1">
                <a:solidFill>
                  <a:srgbClr val="333333"/>
                </a:solidFill>
                <a:latin typeface="Arial"/>
              </a:defRPr>
            </a:pPr>
            <a:r>
              <a:t>Graph Gateway (8)</a:t>
            </a:r>
          </a:p>
        </p:txBody>
      </p:sp>
      <p:sp>
        <p:nvSpPr>
          <p:cNvPr id="18" name="TextBox 17"/>
          <p:cNvSpPr txBox="1"/>
          <p:nvPr/>
        </p:nvSpPr>
        <p:spPr>
          <a:xfrm>
            <a:off x="704088" y="3154680"/>
            <a:ext cx="3657600" cy="274320"/>
          </a:xfrm>
          <a:prstGeom prst="rect">
            <a:avLst/>
          </a:prstGeom>
          <a:noFill/>
        </p:spPr>
        <p:txBody>
          <a:bodyPr wrap="square" anchor="t"/>
          <a:lstStyle/>
          <a:p>
            <a:pPr algn="l">
              <a:defRPr sz="800" b="0">
                <a:solidFill>
                  <a:srgbClr val="777777"/>
                </a:solidFill>
                <a:latin typeface="Arial"/>
              </a:defRPr>
            </a:pPr>
            <a:r>
              <a:t>index/search/import graphs, explain source plan</a:t>
            </a:r>
          </a:p>
        </p:txBody>
      </p:sp>
      <p:sp>
        <p:nvSpPr>
          <p:cNvPr id="19" name="Oval 18"/>
          <p:cNvSpPr/>
          <p:nvPr/>
        </p:nvSpPr>
        <p:spPr>
          <a:xfrm>
            <a:off x="502920" y="3438144"/>
            <a:ext cx="128016" cy="128016"/>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4088" y="3410712"/>
            <a:ext cx="1554480" cy="201168"/>
          </a:xfrm>
          <a:prstGeom prst="rect">
            <a:avLst/>
          </a:prstGeom>
          <a:noFill/>
        </p:spPr>
        <p:txBody>
          <a:bodyPr wrap="square" anchor="t"/>
          <a:lstStyle/>
          <a:p>
            <a:pPr algn="l">
              <a:defRPr sz="1000" b="1">
                <a:solidFill>
                  <a:srgbClr val="333333"/>
                </a:solidFill>
                <a:latin typeface="Arial"/>
              </a:defRPr>
            </a:pPr>
            <a:r>
              <a:t>Memory (3)</a:t>
            </a:r>
          </a:p>
        </p:txBody>
      </p:sp>
      <p:sp>
        <p:nvSpPr>
          <p:cNvPr id="21" name="TextBox 20"/>
          <p:cNvSpPr txBox="1"/>
          <p:nvPr/>
        </p:nvSpPr>
        <p:spPr>
          <a:xfrm>
            <a:off x="704088" y="3584448"/>
            <a:ext cx="3657600" cy="274320"/>
          </a:xfrm>
          <a:prstGeom prst="rect">
            <a:avLst/>
          </a:prstGeom>
          <a:noFill/>
        </p:spPr>
        <p:txBody>
          <a:bodyPr wrap="square" anchor="t"/>
          <a:lstStyle/>
          <a:p>
            <a:pPr algn="l">
              <a:defRPr sz="800" b="0">
                <a:solidFill>
                  <a:srgbClr val="777777"/>
                </a:solidFill>
                <a:latin typeface="Arial"/>
              </a:defRPr>
            </a:pPr>
            <a:r>
              <a:t>memory_save, memory_load, memory_list</a:t>
            </a:r>
          </a:p>
        </p:txBody>
      </p:sp>
      <p:sp>
        <p:nvSpPr>
          <p:cNvPr id="22" name="Oval 21"/>
          <p:cNvSpPr/>
          <p:nvPr/>
        </p:nvSpPr>
        <p:spPr>
          <a:xfrm>
            <a:off x="502920" y="3867912"/>
            <a:ext cx="128016" cy="128016"/>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04088" y="3840480"/>
            <a:ext cx="1554480" cy="201168"/>
          </a:xfrm>
          <a:prstGeom prst="rect">
            <a:avLst/>
          </a:prstGeom>
          <a:noFill/>
        </p:spPr>
        <p:txBody>
          <a:bodyPr wrap="square" anchor="t"/>
          <a:lstStyle/>
          <a:p>
            <a:pPr algn="l">
              <a:defRPr sz="1000" b="1">
                <a:solidFill>
                  <a:srgbClr val="333333"/>
                </a:solidFill>
                <a:latin typeface="Arial"/>
              </a:defRPr>
            </a:pPr>
            <a:r>
              <a:t>Utility (3)</a:t>
            </a:r>
          </a:p>
        </p:txBody>
      </p:sp>
      <p:sp>
        <p:nvSpPr>
          <p:cNvPr id="24" name="TextBox 23"/>
          <p:cNvSpPr txBox="1"/>
          <p:nvPr/>
        </p:nvSpPr>
        <p:spPr>
          <a:xfrm>
            <a:off x="704088" y="4014216"/>
            <a:ext cx="3657600" cy="274320"/>
          </a:xfrm>
          <a:prstGeom prst="rect">
            <a:avLst/>
          </a:prstGeom>
          <a:noFill/>
        </p:spPr>
        <p:txBody>
          <a:bodyPr wrap="square" anchor="t"/>
          <a:lstStyle/>
          <a:p>
            <a:pPr algn="l">
              <a:defRPr sz="800" b="0">
                <a:solidFill>
                  <a:srgbClr val="777777"/>
                </a:solidFill>
                <a:latin typeface="Arial"/>
              </a:defRPr>
            </a:pPr>
            <a:r>
              <a:t>calculator, list_indexed_docs, search_skills</a:t>
            </a:r>
          </a:p>
        </p:txBody>
      </p:sp>
      <p:sp>
        <p:nvSpPr>
          <p:cNvPr id="25" name="Oval 24"/>
          <p:cNvSpPr/>
          <p:nvPr/>
        </p:nvSpPr>
        <p:spPr>
          <a:xfrm>
            <a:off x="502920" y="4297680"/>
            <a:ext cx="128016" cy="128016"/>
          </a:xfrm>
          <a:prstGeom prst="ellipse">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04088" y="4270248"/>
            <a:ext cx="1554480" cy="201168"/>
          </a:xfrm>
          <a:prstGeom prst="rect">
            <a:avLst/>
          </a:prstGeom>
          <a:noFill/>
        </p:spPr>
        <p:txBody>
          <a:bodyPr wrap="square" anchor="t"/>
          <a:lstStyle/>
          <a:p>
            <a:pPr algn="l">
              <a:defRPr sz="1000" b="1">
                <a:solidFill>
                  <a:srgbClr val="333333"/>
                </a:solidFill>
                <a:latin typeface="Arial"/>
              </a:defRPr>
            </a:pPr>
            <a:r>
              <a:t>Discovery (2)</a:t>
            </a:r>
          </a:p>
        </p:txBody>
      </p:sp>
      <p:sp>
        <p:nvSpPr>
          <p:cNvPr id="27" name="TextBox 26"/>
          <p:cNvSpPr txBox="1"/>
          <p:nvPr/>
        </p:nvSpPr>
        <p:spPr>
          <a:xfrm>
            <a:off x="704088" y="4443984"/>
            <a:ext cx="3657600" cy="274320"/>
          </a:xfrm>
          <a:prstGeom prst="rect">
            <a:avLst/>
          </a:prstGeom>
          <a:noFill/>
        </p:spPr>
        <p:txBody>
          <a:bodyPr wrap="square" anchor="t"/>
          <a:lstStyle/>
          <a:p>
            <a:pPr algn="l">
              <a:defRPr sz="800" b="0">
                <a:solidFill>
                  <a:srgbClr val="777777"/>
                </a:solidFill>
                <a:latin typeface="Arial"/>
              </a:defRPr>
            </a:pPr>
            <a:r>
              <a:t>discover_tools, call_deferred_tool</a:t>
            </a:r>
          </a:p>
        </p:txBody>
      </p:sp>
      <p:sp>
        <p:nvSpPr>
          <p:cNvPr id="28" name="Oval 27"/>
          <p:cNvSpPr/>
          <p:nvPr/>
        </p:nvSpPr>
        <p:spPr>
          <a:xfrm>
            <a:off x="502920" y="4727448"/>
            <a:ext cx="128016" cy="128016"/>
          </a:xfrm>
          <a:prstGeom prst="ellipse">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04088" y="4700016"/>
            <a:ext cx="1554480" cy="201168"/>
          </a:xfrm>
          <a:prstGeom prst="rect">
            <a:avLst/>
          </a:prstGeom>
          <a:noFill/>
        </p:spPr>
        <p:txBody>
          <a:bodyPr wrap="square" anchor="t"/>
          <a:lstStyle/>
          <a:p>
            <a:pPr algn="l">
              <a:defRPr sz="1000" b="1">
                <a:solidFill>
                  <a:srgbClr val="333333"/>
                </a:solidFill>
                <a:latin typeface="Arial"/>
              </a:defRPr>
            </a:pPr>
            <a:r>
              <a:t>Skills (1)</a:t>
            </a:r>
          </a:p>
        </p:txBody>
      </p:sp>
      <p:sp>
        <p:nvSpPr>
          <p:cNvPr id="30" name="TextBox 29"/>
          <p:cNvSpPr txBox="1"/>
          <p:nvPr/>
        </p:nvSpPr>
        <p:spPr>
          <a:xfrm>
            <a:off x="704088" y="4873752"/>
            <a:ext cx="3657600" cy="274320"/>
          </a:xfrm>
          <a:prstGeom prst="rect">
            <a:avLst/>
          </a:prstGeom>
          <a:noFill/>
        </p:spPr>
        <p:txBody>
          <a:bodyPr wrap="square" anchor="t"/>
          <a:lstStyle/>
          <a:p>
            <a:pPr algn="l">
              <a:defRPr sz="800" b="0">
                <a:solidFill>
                  <a:srgbClr val="777777"/>
                </a:solidFill>
                <a:latin typeface="Arial"/>
              </a:defRPr>
            </a:pPr>
            <a:r>
              <a:t>execute_skill (dynamic skill execution)</a:t>
            </a:r>
          </a:p>
        </p:txBody>
      </p:sp>
      <p:sp>
        <p:nvSpPr>
          <p:cNvPr id="31" name="TextBox 30"/>
          <p:cNvSpPr txBox="1"/>
          <p:nvPr/>
        </p:nvSpPr>
        <p:spPr>
          <a:xfrm>
            <a:off x="4754880" y="822960"/>
            <a:ext cx="3931920" cy="320040"/>
          </a:xfrm>
          <a:prstGeom prst="rect">
            <a:avLst/>
          </a:prstGeom>
          <a:noFill/>
        </p:spPr>
        <p:txBody>
          <a:bodyPr wrap="square" anchor="t"/>
          <a:lstStyle/>
          <a:p>
            <a:pPr algn="l">
              <a:defRPr sz="1400" b="1">
                <a:solidFill>
                  <a:srgbClr val="1B2A4A"/>
                </a:solidFill>
                <a:latin typeface="Arial"/>
              </a:defRPr>
            </a:pPr>
            <a:r>
              <a:t>RAG PIPELINE</a:t>
            </a:r>
          </a:p>
        </p:txBody>
      </p:sp>
      <p:sp>
        <p:nvSpPr>
          <p:cNvPr id="32" name="TextBox 31"/>
          <p:cNvSpPr txBox="1"/>
          <p:nvPr/>
        </p:nvSpPr>
        <p:spPr>
          <a:xfrm>
            <a:off x="4754880" y="1143000"/>
            <a:ext cx="3931920" cy="457200"/>
          </a:xfrm>
          <a:prstGeom prst="rect">
            <a:avLst/>
          </a:prstGeom>
          <a:noFill/>
        </p:spPr>
        <p:txBody>
          <a:bodyPr wrap="square" anchor="t"/>
          <a:lstStyle/>
          <a:p>
            <a:pPr algn="l">
              <a:defRPr sz="1100" b="0">
                <a:solidFill>
                  <a:srgbClr val="666666"/>
                </a:solidFill>
                <a:latin typeface="Arial"/>
              </a:defRPr>
            </a:pPr>
            <a:r>
              <a:t>Retrieval-Augmented Generation grounds answers in your actual documents with citations.</a:t>
            </a:r>
          </a:p>
        </p:txBody>
      </p:sp>
      <p:sp>
        <p:nvSpPr>
          <p:cNvPr id="33" name="Oval 32"/>
          <p:cNvSpPr/>
          <p:nvPr/>
        </p:nvSpPr>
        <p:spPr>
          <a:xfrm>
            <a:off x="4754880" y="1691640"/>
            <a:ext cx="274320" cy="274320"/>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a:t>
            </a:r>
          </a:p>
        </p:txBody>
      </p:sp>
      <p:sp>
        <p:nvSpPr>
          <p:cNvPr id="34" name="TextBox 33"/>
          <p:cNvSpPr txBox="1"/>
          <p:nvPr/>
        </p:nvSpPr>
        <p:spPr>
          <a:xfrm>
            <a:off x="5120640" y="1691640"/>
            <a:ext cx="1645920" cy="274320"/>
          </a:xfrm>
          <a:prstGeom prst="rect">
            <a:avLst/>
          </a:prstGeom>
          <a:noFill/>
        </p:spPr>
        <p:txBody>
          <a:bodyPr wrap="square" anchor="t"/>
          <a:lstStyle/>
          <a:p>
            <a:pPr algn="l">
              <a:defRPr sz="1100" b="1">
                <a:solidFill>
                  <a:srgbClr val="333333"/>
                </a:solidFill>
                <a:latin typeface="Arial"/>
              </a:defRPr>
            </a:pPr>
            <a:r>
              <a:t>Query Analysis</a:t>
            </a:r>
          </a:p>
        </p:txBody>
      </p:sp>
      <p:sp>
        <p:nvSpPr>
          <p:cNvPr id="35" name="TextBox 34"/>
          <p:cNvSpPr txBox="1"/>
          <p:nvPr/>
        </p:nvSpPr>
        <p:spPr>
          <a:xfrm>
            <a:off x="6675120" y="1691640"/>
            <a:ext cx="2103120" cy="274320"/>
          </a:xfrm>
          <a:prstGeom prst="rect">
            <a:avLst/>
          </a:prstGeom>
          <a:noFill/>
        </p:spPr>
        <p:txBody>
          <a:bodyPr wrap="square" anchor="t"/>
          <a:lstStyle/>
          <a:p>
            <a:pPr algn="l">
              <a:defRPr sz="1000" b="0">
                <a:solidFill>
                  <a:srgbClr val="666666"/>
                </a:solidFill>
                <a:latin typeface="Arial"/>
              </a:defRPr>
            </a:pPr>
            <a:r>
              <a:t>Parse intent, extract entities</a:t>
            </a:r>
          </a:p>
        </p:txBody>
      </p:sp>
      <p:sp>
        <p:nvSpPr>
          <p:cNvPr id="36" name="Rectangle 35"/>
          <p:cNvSpPr/>
          <p:nvPr/>
        </p:nvSpPr>
        <p:spPr>
          <a:xfrm>
            <a:off x="4882896" y="198424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4754880" y="2194560"/>
            <a:ext cx="274320" cy="274320"/>
          </a:xfrm>
          <a:prstGeom prst="ellipse">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2</a:t>
            </a:r>
          </a:p>
        </p:txBody>
      </p:sp>
      <p:sp>
        <p:nvSpPr>
          <p:cNvPr id="38" name="TextBox 37"/>
          <p:cNvSpPr txBox="1"/>
          <p:nvPr/>
        </p:nvSpPr>
        <p:spPr>
          <a:xfrm>
            <a:off x="5120640" y="2194560"/>
            <a:ext cx="1645920" cy="274320"/>
          </a:xfrm>
          <a:prstGeom prst="rect">
            <a:avLst/>
          </a:prstGeom>
          <a:noFill/>
        </p:spPr>
        <p:txBody>
          <a:bodyPr wrap="square" anchor="t"/>
          <a:lstStyle/>
          <a:p>
            <a:pPr algn="l">
              <a:defRPr sz="1100" b="1">
                <a:solidFill>
                  <a:srgbClr val="333333"/>
                </a:solidFill>
                <a:latin typeface="Arial"/>
              </a:defRPr>
            </a:pPr>
            <a:r>
              <a:t>Hybrid Retrieval</a:t>
            </a:r>
          </a:p>
        </p:txBody>
      </p:sp>
      <p:sp>
        <p:nvSpPr>
          <p:cNvPr id="39" name="TextBox 38"/>
          <p:cNvSpPr txBox="1"/>
          <p:nvPr/>
        </p:nvSpPr>
        <p:spPr>
          <a:xfrm>
            <a:off x="6675120" y="2194560"/>
            <a:ext cx="2103120" cy="274320"/>
          </a:xfrm>
          <a:prstGeom prst="rect">
            <a:avLst/>
          </a:prstGeom>
          <a:noFill/>
        </p:spPr>
        <p:txBody>
          <a:bodyPr wrap="square" anchor="t"/>
          <a:lstStyle/>
          <a:p>
            <a:pPr algn="l">
              <a:defRPr sz="1000" b="0">
                <a:solidFill>
                  <a:srgbClr val="666666"/>
                </a:solidFill>
                <a:latin typeface="Arial"/>
              </a:defRPr>
            </a:pPr>
            <a:r>
              <a:t>Vector + keyword search in parallel</a:t>
            </a:r>
          </a:p>
        </p:txBody>
      </p:sp>
      <p:sp>
        <p:nvSpPr>
          <p:cNvPr id="40" name="Rectangle 39"/>
          <p:cNvSpPr/>
          <p:nvPr/>
        </p:nvSpPr>
        <p:spPr>
          <a:xfrm>
            <a:off x="4882896" y="248716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754880" y="2697480"/>
            <a:ext cx="274320" cy="274320"/>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3</a:t>
            </a:r>
          </a:p>
        </p:txBody>
      </p:sp>
      <p:sp>
        <p:nvSpPr>
          <p:cNvPr id="42" name="TextBox 41"/>
          <p:cNvSpPr txBox="1"/>
          <p:nvPr/>
        </p:nvSpPr>
        <p:spPr>
          <a:xfrm>
            <a:off x="5120640" y="2697480"/>
            <a:ext cx="1645920" cy="274320"/>
          </a:xfrm>
          <a:prstGeom prst="rect">
            <a:avLst/>
          </a:prstGeom>
          <a:noFill/>
        </p:spPr>
        <p:txBody>
          <a:bodyPr wrap="square" anchor="t"/>
          <a:lstStyle/>
          <a:p>
            <a:pPr algn="l">
              <a:defRPr sz="1100" b="1">
                <a:solidFill>
                  <a:srgbClr val="333333"/>
                </a:solidFill>
                <a:latin typeface="Arial"/>
              </a:defRPr>
            </a:pPr>
            <a:r>
              <a:t>Judge Grading</a:t>
            </a:r>
          </a:p>
        </p:txBody>
      </p:sp>
      <p:sp>
        <p:nvSpPr>
          <p:cNvPr id="43" name="TextBox 42"/>
          <p:cNvSpPr txBox="1"/>
          <p:nvPr/>
        </p:nvSpPr>
        <p:spPr>
          <a:xfrm>
            <a:off x="6675120" y="2697480"/>
            <a:ext cx="2103120" cy="274320"/>
          </a:xfrm>
          <a:prstGeom prst="rect">
            <a:avLst/>
          </a:prstGeom>
          <a:noFill/>
        </p:spPr>
        <p:txBody>
          <a:bodyPr wrap="square" anchor="t"/>
          <a:lstStyle/>
          <a:p>
            <a:pPr algn="l">
              <a:defRPr sz="1000" b="0">
                <a:solidFill>
                  <a:srgbClr val="666666"/>
                </a:solidFill>
                <a:latin typeface="Arial"/>
              </a:defRPr>
            </a:pPr>
            <a:r>
              <a:t>LLM scores each chunk 0-3 for relevance</a:t>
            </a:r>
          </a:p>
        </p:txBody>
      </p:sp>
      <p:sp>
        <p:nvSpPr>
          <p:cNvPr id="44" name="Rectangle 43"/>
          <p:cNvSpPr/>
          <p:nvPr/>
        </p:nvSpPr>
        <p:spPr>
          <a:xfrm>
            <a:off x="4882896" y="299008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4754880" y="3200400"/>
            <a:ext cx="274320" cy="274320"/>
          </a:xfrm>
          <a:prstGeom prst="ellipse">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4</a:t>
            </a:r>
          </a:p>
        </p:txBody>
      </p:sp>
      <p:sp>
        <p:nvSpPr>
          <p:cNvPr id="46" name="TextBox 45"/>
          <p:cNvSpPr txBox="1"/>
          <p:nvPr/>
        </p:nvSpPr>
        <p:spPr>
          <a:xfrm>
            <a:off x="5120640" y="3200400"/>
            <a:ext cx="1645920" cy="274320"/>
          </a:xfrm>
          <a:prstGeom prst="rect">
            <a:avLst/>
          </a:prstGeom>
          <a:noFill/>
        </p:spPr>
        <p:txBody>
          <a:bodyPr wrap="square" anchor="t"/>
          <a:lstStyle/>
          <a:p>
            <a:pPr algn="l">
              <a:defRPr sz="1100" b="1">
                <a:solidFill>
                  <a:srgbClr val="333333"/>
                </a:solidFill>
                <a:latin typeface="Arial"/>
              </a:defRPr>
            </a:pPr>
            <a:r>
              <a:t>Evidence Assembly</a:t>
            </a:r>
          </a:p>
        </p:txBody>
      </p:sp>
      <p:sp>
        <p:nvSpPr>
          <p:cNvPr id="47" name="TextBox 46"/>
          <p:cNvSpPr txBox="1"/>
          <p:nvPr/>
        </p:nvSpPr>
        <p:spPr>
          <a:xfrm>
            <a:off x="6675120" y="3200400"/>
            <a:ext cx="2103120" cy="274320"/>
          </a:xfrm>
          <a:prstGeom prst="rect">
            <a:avLst/>
          </a:prstGeom>
          <a:noFill/>
        </p:spPr>
        <p:txBody>
          <a:bodyPr wrap="square" anchor="t"/>
          <a:lstStyle/>
          <a:p>
            <a:pPr algn="l">
              <a:defRPr sz="1000" b="0">
                <a:solidFill>
                  <a:srgbClr val="666666"/>
                </a:solidFill>
                <a:latin typeface="Arial"/>
              </a:defRPr>
            </a:pPr>
            <a:r>
              <a:t>Deduplicate, rank, budget context</a:t>
            </a:r>
          </a:p>
        </p:txBody>
      </p:sp>
      <p:sp>
        <p:nvSpPr>
          <p:cNvPr id="48" name="Rectangle 47"/>
          <p:cNvSpPr/>
          <p:nvPr/>
        </p:nvSpPr>
        <p:spPr>
          <a:xfrm>
            <a:off x="4882896" y="349300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4754880" y="3703320"/>
            <a:ext cx="274320" cy="274320"/>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5</a:t>
            </a:r>
          </a:p>
        </p:txBody>
      </p:sp>
      <p:sp>
        <p:nvSpPr>
          <p:cNvPr id="50" name="TextBox 49"/>
          <p:cNvSpPr txBox="1"/>
          <p:nvPr/>
        </p:nvSpPr>
        <p:spPr>
          <a:xfrm>
            <a:off x="5120640" y="3703320"/>
            <a:ext cx="1645920" cy="274320"/>
          </a:xfrm>
          <a:prstGeom prst="rect">
            <a:avLst/>
          </a:prstGeom>
          <a:noFill/>
        </p:spPr>
        <p:txBody>
          <a:bodyPr wrap="square" anchor="t"/>
          <a:lstStyle/>
          <a:p>
            <a:pPr algn="l">
              <a:defRPr sz="1100" b="1">
                <a:solidFill>
                  <a:srgbClr val="333333"/>
                </a:solidFill>
                <a:latin typeface="Arial"/>
              </a:defRPr>
            </a:pPr>
            <a:r>
              <a:t>Synthesis</a:t>
            </a:r>
          </a:p>
        </p:txBody>
      </p:sp>
      <p:sp>
        <p:nvSpPr>
          <p:cNvPr id="51" name="TextBox 50"/>
          <p:cNvSpPr txBox="1"/>
          <p:nvPr/>
        </p:nvSpPr>
        <p:spPr>
          <a:xfrm>
            <a:off x="6675120" y="3703320"/>
            <a:ext cx="2103120" cy="274320"/>
          </a:xfrm>
          <a:prstGeom prst="rect">
            <a:avLst/>
          </a:prstGeom>
          <a:noFill/>
        </p:spPr>
        <p:txBody>
          <a:bodyPr wrap="square" anchor="t"/>
          <a:lstStyle/>
          <a:p>
            <a:pPr algn="l">
              <a:defRPr sz="1000" b="0">
                <a:solidFill>
                  <a:srgbClr val="666666"/>
                </a:solidFill>
                <a:latin typeface="Arial"/>
              </a:defRPr>
            </a:pPr>
            <a:r>
              <a:t>Generate grounded answer with citations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API Surface — 118 Endpoints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20040"/>
          </a:xfrm>
          <a:prstGeom prst="rect">
            <a:avLst/>
          </a:prstGeom>
          <a:noFill/>
        </p:spPr>
        <p:txBody>
          <a:bodyPr wrap="square" anchor="t"/>
          <a:lstStyle/>
          <a:p>
            <a:pPr algn="l">
              <a:defRPr sz="1300" b="1">
                <a:solidFill>
                  <a:srgbClr val="444444"/>
                </a:solidFill>
                <a:latin typeface="Arial"/>
              </a:defRPr>
            </a:pPr>
            <a:r>
              <a:t>48 public endpoints + 70 admin endpoints = 118 total API surface</a:t>
            </a:r>
          </a:p>
        </p:txBody>
      </p:sp>
      <p:sp>
        <p:nvSpPr>
          <p:cNvPr id="6" name="TextBox 5"/>
          <p:cNvSpPr txBox="1"/>
          <p:nvPr/>
        </p:nvSpPr>
        <p:spPr>
          <a:xfrm>
            <a:off x="502920" y="1280160"/>
            <a:ext cx="3931920" cy="320040"/>
          </a:xfrm>
          <a:prstGeom prst="rect">
            <a:avLst/>
          </a:prstGeom>
          <a:noFill/>
        </p:spPr>
        <p:txBody>
          <a:bodyPr wrap="square" anchor="t"/>
          <a:lstStyle/>
          <a:p>
            <a:pPr algn="l">
              <a:defRPr sz="1400" b="1">
                <a:solidFill>
                  <a:srgbClr val="0097A7"/>
                </a:solidFill>
                <a:latin typeface="Arial"/>
              </a:defRPr>
            </a:pPr>
            <a:r>
              <a:t>PUBLIC API (48 endpoints)</a:t>
            </a:r>
          </a:p>
        </p:txBody>
      </p:sp>
      <p:sp>
        <p:nvSpPr>
          <p:cNvPr id="7" name="Rectangle 6"/>
          <p:cNvSpPr/>
          <p:nvPr/>
        </p:nvSpPr>
        <p:spPr>
          <a:xfrm>
            <a:off x="502920" y="1645920"/>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45920"/>
            <a:ext cx="1188720" cy="201168"/>
          </a:xfrm>
          <a:prstGeom prst="rect">
            <a:avLst/>
          </a:prstGeom>
          <a:noFill/>
        </p:spPr>
        <p:txBody>
          <a:bodyPr wrap="square" anchor="t"/>
          <a:lstStyle/>
          <a:p>
            <a:pPr algn="l">
              <a:defRPr sz="1000" b="1">
                <a:solidFill>
                  <a:srgbClr val="333333"/>
                </a:solidFill>
                <a:latin typeface="Arial"/>
              </a:defRPr>
            </a:pPr>
            <a:r>
              <a:t>Chat</a:t>
            </a:r>
          </a:p>
        </p:txBody>
      </p:sp>
      <p:sp>
        <p:nvSpPr>
          <p:cNvPr id="9" name="TextBox 8"/>
          <p:cNvSpPr txBox="1"/>
          <p:nvPr/>
        </p:nvSpPr>
        <p:spPr>
          <a:xfrm>
            <a:off x="640080" y="1828800"/>
            <a:ext cx="3200400" cy="182880"/>
          </a:xfrm>
          <a:prstGeom prst="rect">
            <a:avLst/>
          </a:prstGeom>
          <a:noFill/>
        </p:spPr>
        <p:txBody>
          <a:bodyPr wrap="square" anchor="t"/>
          <a:lstStyle/>
          <a:p>
            <a:pPr algn="l">
              <a:defRPr sz="800" b="0">
                <a:solidFill>
                  <a:srgbClr val="777777"/>
                </a:solidFill>
                <a:latin typeface="Arial"/>
              </a:defRPr>
            </a:pPr>
            <a:r>
              <a:t>/v1/chat/completions, /v1/connector/chat</a:t>
            </a:r>
          </a:p>
        </p:txBody>
      </p:sp>
      <p:sp>
        <p:nvSpPr>
          <p:cNvPr id="10" name="TextBox 9"/>
          <p:cNvSpPr txBox="1"/>
          <p:nvPr/>
        </p:nvSpPr>
        <p:spPr>
          <a:xfrm>
            <a:off x="3931920" y="1645920"/>
            <a:ext cx="457200" cy="201168"/>
          </a:xfrm>
          <a:prstGeom prst="rect">
            <a:avLst/>
          </a:prstGeom>
          <a:noFill/>
        </p:spPr>
        <p:txBody>
          <a:bodyPr wrap="square" anchor="t"/>
          <a:lstStyle/>
          <a:p>
            <a:pPr algn="r">
              <a:defRPr sz="1000" b="1">
                <a:solidFill>
                  <a:srgbClr val="0097A7"/>
                </a:solidFill>
                <a:latin typeface="Arial"/>
              </a:defRPr>
            </a:pPr>
            <a:r>
              <a:t>2</a:t>
            </a:r>
          </a:p>
        </p:txBody>
      </p:sp>
      <p:sp>
        <p:nvSpPr>
          <p:cNvPr id="11" name="Rectangle 10"/>
          <p:cNvSpPr/>
          <p:nvPr/>
        </p:nvSpPr>
        <p:spPr>
          <a:xfrm>
            <a:off x="502920" y="2029968"/>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2029968"/>
            <a:ext cx="1188720" cy="201168"/>
          </a:xfrm>
          <a:prstGeom prst="rect">
            <a:avLst/>
          </a:prstGeom>
          <a:noFill/>
        </p:spPr>
        <p:txBody>
          <a:bodyPr wrap="square" anchor="t"/>
          <a:lstStyle/>
          <a:p>
            <a:pPr algn="l">
              <a:defRPr sz="1000" b="1">
                <a:solidFill>
                  <a:srgbClr val="333333"/>
                </a:solidFill>
                <a:latin typeface="Arial"/>
              </a:defRPr>
            </a:pPr>
            <a:r>
              <a:t>Documents</a:t>
            </a:r>
          </a:p>
        </p:txBody>
      </p:sp>
      <p:sp>
        <p:nvSpPr>
          <p:cNvPr id="13" name="TextBox 12"/>
          <p:cNvSpPr txBox="1"/>
          <p:nvPr/>
        </p:nvSpPr>
        <p:spPr>
          <a:xfrm>
            <a:off x="640080" y="2212848"/>
            <a:ext cx="3200400" cy="182880"/>
          </a:xfrm>
          <a:prstGeom prst="rect">
            <a:avLst/>
          </a:prstGeom>
          <a:noFill/>
        </p:spPr>
        <p:txBody>
          <a:bodyPr wrap="square" anchor="t"/>
          <a:lstStyle/>
          <a:p>
            <a:pPr algn="l">
              <a:defRPr sz="800" b="0">
                <a:solidFill>
                  <a:srgbClr val="777777"/>
                </a:solidFill>
                <a:latin typeface="Arial"/>
              </a:defRPr>
            </a:pPr>
            <a:r>
              <a:t>upload, ingest, source download</a:t>
            </a:r>
          </a:p>
        </p:txBody>
      </p:sp>
      <p:sp>
        <p:nvSpPr>
          <p:cNvPr id="14" name="TextBox 13"/>
          <p:cNvSpPr txBox="1"/>
          <p:nvPr/>
        </p:nvSpPr>
        <p:spPr>
          <a:xfrm>
            <a:off x="3931920" y="2029968"/>
            <a:ext cx="457200" cy="201168"/>
          </a:xfrm>
          <a:prstGeom prst="rect">
            <a:avLst/>
          </a:prstGeom>
          <a:noFill/>
        </p:spPr>
        <p:txBody>
          <a:bodyPr wrap="square" anchor="t"/>
          <a:lstStyle/>
          <a:p>
            <a:pPr algn="r">
              <a:defRPr sz="1000" b="1">
                <a:solidFill>
                  <a:srgbClr val="0097A7"/>
                </a:solidFill>
                <a:latin typeface="Arial"/>
              </a:defRPr>
            </a:pPr>
            <a:r>
              <a:t>4</a:t>
            </a:r>
          </a:p>
        </p:txBody>
      </p:sp>
      <p:sp>
        <p:nvSpPr>
          <p:cNvPr id="15" name="Rectangle 14"/>
          <p:cNvSpPr/>
          <p:nvPr/>
        </p:nvSpPr>
        <p:spPr>
          <a:xfrm>
            <a:off x="502920" y="2414016"/>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2414016"/>
            <a:ext cx="1188720" cy="201168"/>
          </a:xfrm>
          <a:prstGeom prst="rect">
            <a:avLst/>
          </a:prstGeom>
          <a:noFill/>
        </p:spPr>
        <p:txBody>
          <a:bodyPr wrap="square" anchor="t"/>
          <a:lstStyle/>
          <a:p>
            <a:pPr algn="l">
              <a:defRPr sz="1000" b="1">
                <a:solidFill>
                  <a:srgbClr val="333333"/>
                </a:solidFill>
                <a:latin typeface="Arial"/>
              </a:defRPr>
            </a:pPr>
            <a:r>
              <a:t>Graphs</a:t>
            </a:r>
          </a:p>
        </p:txBody>
      </p:sp>
      <p:sp>
        <p:nvSpPr>
          <p:cNvPr id="17" name="TextBox 16"/>
          <p:cNvSpPr txBox="1"/>
          <p:nvPr/>
        </p:nvSpPr>
        <p:spPr>
          <a:xfrm>
            <a:off x="640080" y="2596896"/>
            <a:ext cx="3200400" cy="182880"/>
          </a:xfrm>
          <a:prstGeom prst="rect">
            <a:avLst/>
          </a:prstGeom>
          <a:noFill/>
        </p:spPr>
        <p:txBody>
          <a:bodyPr wrap="square" anchor="t"/>
          <a:lstStyle/>
          <a:p>
            <a:pPr algn="l">
              <a:defRPr sz="800" b="0">
                <a:solidFill>
                  <a:srgbClr val="777777"/>
                </a:solidFill>
                <a:latin typeface="Arial"/>
              </a:defRPr>
            </a:pPr>
            <a:r>
              <a:t>list, get, index, import, query</a:t>
            </a:r>
          </a:p>
        </p:txBody>
      </p:sp>
      <p:sp>
        <p:nvSpPr>
          <p:cNvPr id="18" name="TextBox 17"/>
          <p:cNvSpPr txBox="1"/>
          <p:nvPr/>
        </p:nvSpPr>
        <p:spPr>
          <a:xfrm>
            <a:off x="3931920" y="2414016"/>
            <a:ext cx="457200" cy="201168"/>
          </a:xfrm>
          <a:prstGeom prst="rect">
            <a:avLst/>
          </a:prstGeom>
          <a:noFill/>
        </p:spPr>
        <p:txBody>
          <a:bodyPr wrap="square" anchor="t"/>
          <a:lstStyle/>
          <a:p>
            <a:pPr algn="r">
              <a:defRPr sz="1000" b="1">
                <a:solidFill>
                  <a:srgbClr val="0097A7"/>
                </a:solidFill>
                <a:latin typeface="Arial"/>
              </a:defRPr>
            </a:pPr>
            <a:r>
              <a:t>5</a:t>
            </a:r>
          </a:p>
        </p:txBody>
      </p:sp>
      <p:sp>
        <p:nvSpPr>
          <p:cNvPr id="19" name="Rectangle 18"/>
          <p:cNvSpPr/>
          <p:nvPr/>
        </p:nvSpPr>
        <p:spPr>
          <a:xfrm>
            <a:off x="502920" y="2798064"/>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2798064"/>
            <a:ext cx="1188720" cy="201168"/>
          </a:xfrm>
          <a:prstGeom prst="rect">
            <a:avLst/>
          </a:prstGeom>
          <a:noFill/>
        </p:spPr>
        <p:txBody>
          <a:bodyPr wrap="square" anchor="t"/>
          <a:lstStyle/>
          <a:p>
            <a:pPr algn="l">
              <a:defRPr sz="1000" b="1">
                <a:solidFill>
                  <a:srgbClr val="333333"/>
                </a:solidFill>
                <a:latin typeface="Arial"/>
              </a:defRPr>
            </a:pPr>
            <a:r>
              <a:t>Skills</a:t>
            </a:r>
          </a:p>
        </p:txBody>
      </p:sp>
      <p:sp>
        <p:nvSpPr>
          <p:cNvPr id="21" name="TextBox 20"/>
          <p:cNvSpPr txBox="1"/>
          <p:nvPr/>
        </p:nvSpPr>
        <p:spPr>
          <a:xfrm>
            <a:off x="640080" y="2980944"/>
            <a:ext cx="3200400" cy="182880"/>
          </a:xfrm>
          <a:prstGeom prst="rect">
            <a:avLst/>
          </a:prstGeom>
          <a:noFill/>
        </p:spPr>
        <p:txBody>
          <a:bodyPr wrap="square" anchor="t"/>
          <a:lstStyle/>
          <a:p>
            <a:pPr algn="l">
              <a:defRPr sz="800" b="0">
                <a:solidFill>
                  <a:srgbClr val="777777"/>
                </a:solidFill>
                <a:latin typeface="Arial"/>
              </a:defRPr>
            </a:pPr>
            <a:r>
              <a:t>CRUD, activate, deactivate, preview, rollback</a:t>
            </a:r>
          </a:p>
        </p:txBody>
      </p:sp>
      <p:sp>
        <p:nvSpPr>
          <p:cNvPr id="22" name="TextBox 21"/>
          <p:cNvSpPr txBox="1"/>
          <p:nvPr/>
        </p:nvSpPr>
        <p:spPr>
          <a:xfrm>
            <a:off x="3931920" y="2798064"/>
            <a:ext cx="457200" cy="201168"/>
          </a:xfrm>
          <a:prstGeom prst="rect">
            <a:avLst/>
          </a:prstGeom>
          <a:noFill/>
        </p:spPr>
        <p:txBody>
          <a:bodyPr wrap="square" anchor="t"/>
          <a:lstStyle/>
          <a:p>
            <a:pPr algn="r">
              <a:defRPr sz="1000" b="1">
                <a:solidFill>
                  <a:srgbClr val="0097A7"/>
                </a:solidFill>
                <a:latin typeface="Arial"/>
              </a:defRPr>
            </a:pPr>
            <a:r>
              <a:t>9</a:t>
            </a:r>
          </a:p>
        </p:txBody>
      </p:sp>
      <p:sp>
        <p:nvSpPr>
          <p:cNvPr id="23" name="Rectangle 22"/>
          <p:cNvSpPr/>
          <p:nvPr/>
        </p:nvSpPr>
        <p:spPr>
          <a:xfrm>
            <a:off x="502920" y="3182112"/>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3182112"/>
            <a:ext cx="1188720" cy="201168"/>
          </a:xfrm>
          <a:prstGeom prst="rect">
            <a:avLst/>
          </a:prstGeom>
          <a:noFill/>
        </p:spPr>
        <p:txBody>
          <a:bodyPr wrap="square" anchor="t"/>
          <a:lstStyle/>
          <a:p>
            <a:pPr algn="l">
              <a:defRPr sz="1000" b="1">
                <a:solidFill>
                  <a:srgbClr val="333333"/>
                </a:solidFill>
                <a:latin typeface="Arial"/>
              </a:defRPr>
            </a:pPr>
            <a:r>
              <a:t>MCP</a:t>
            </a:r>
          </a:p>
        </p:txBody>
      </p:sp>
      <p:sp>
        <p:nvSpPr>
          <p:cNvPr id="25" name="TextBox 24"/>
          <p:cNvSpPr txBox="1"/>
          <p:nvPr/>
        </p:nvSpPr>
        <p:spPr>
          <a:xfrm>
            <a:off x="640080" y="3364992"/>
            <a:ext cx="3200400" cy="182880"/>
          </a:xfrm>
          <a:prstGeom prst="rect">
            <a:avLst/>
          </a:prstGeom>
          <a:noFill/>
        </p:spPr>
        <p:txBody>
          <a:bodyPr wrap="square" anchor="t"/>
          <a:lstStyle/>
          <a:p>
            <a:pPr algn="l">
              <a:defRPr sz="800" b="0">
                <a:solidFill>
                  <a:srgbClr val="777777"/>
                </a:solidFill>
                <a:latin typeface="Arial"/>
              </a:defRPr>
            </a:pPr>
            <a:r>
              <a:t>connections CRUD, tools, test, refresh</a:t>
            </a:r>
          </a:p>
        </p:txBody>
      </p:sp>
      <p:sp>
        <p:nvSpPr>
          <p:cNvPr id="26" name="TextBox 25"/>
          <p:cNvSpPr txBox="1"/>
          <p:nvPr/>
        </p:nvSpPr>
        <p:spPr>
          <a:xfrm>
            <a:off x="3931920" y="3182112"/>
            <a:ext cx="457200" cy="201168"/>
          </a:xfrm>
          <a:prstGeom prst="rect">
            <a:avLst/>
          </a:prstGeom>
          <a:noFill/>
        </p:spPr>
        <p:txBody>
          <a:bodyPr wrap="square" anchor="t"/>
          <a:lstStyle/>
          <a:p>
            <a:pPr algn="r">
              <a:defRPr sz="1000" b="1">
                <a:solidFill>
                  <a:srgbClr val="0097A7"/>
                </a:solidFill>
                <a:latin typeface="Arial"/>
              </a:defRPr>
            </a:pPr>
            <a:r>
              <a:t>8</a:t>
            </a:r>
          </a:p>
        </p:txBody>
      </p:sp>
      <p:sp>
        <p:nvSpPr>
          <p:cNvPr id="27" name="Rectangle 26"/>
          <p:cNvSpPr/>
          <p:nvPr/>
        </p:nvSpPr>
        <p:spPr>
          <a:xfrm>
            <a:off x="502920" y="3566160"/>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0080" y="3566160"/>
            <a:ext cx="1188720" cy="201168"/>
          </a:xfrm>
          <a:prstGeom prst="rect">
            <a:avLst/>
          </a:prstGeom>
          <a:noFill/>
        </p:spPr>
        <p:txBody>
          <a:bodyPr wrap="square" anchor="t"/>
          <a:lstStyle/>
          <a:p>
            <a:pPr algn="l">
              <a:defRPr sz="1000" b="1">
                <a:solidFill>
                  <a:srgbClr val="333333"/>
                </a:solidFill>
                <a:latin typeface="Arial"/>
              </a:defRPr>
            </a:pPr>
            <a:r>
              <a:t>Jobs/Tasks</a:t>
            </a:r>
          </a:p>
        </p:txBody>
      </p:sp>
      <p:sp>
        <p:nvSpPr>
          <p:cNvPr id="29" name="TextBox 28"/>
          <p:cNvSpPr txBox="1"/>
          <p:nvPr/>
        </p:nvSpPr>
        <p:spPr>
          <a:xfrm>
            <a:off x="640080" y="3749040"/>
            <a:ext cx="3200400" cy="182880"/>
          </a:xfrm>
          <a:prstGeom prst="rect">
            <a:avLst/>
          </a:prstGeom>
          <a:noFill/>
        </p:spPr>
        <p:txBody>
          <a:bodyPr wrap="square" anchor="t"/>
          <a:lstStyle/>
          <a:p>
            <a:pPr algn="l">
              <a:defRPr sz="800" b="0">
                <a:solidFill>
                  <a:srgbClr val="777777"/>
                </a:solidFill>
                <a:latin typeface="Arial"/>
              </a:defRPr>
            </a:pPr>
            <a:r>
              <a:t>get, mailbox, respond, list, stop</a:t>
            </a:r>
          </a:p>
        </p:txBody>
      </p:sp>
      <p:sp>
        <p:nvSpPr>
          <p:cNvPr id="30" name="TextBox 29"/>
          <p:cNvSpPr txBox="1"/>
          <p:nvPr/>
        </p:nvSpPr>
        <p:spPr>
          <a:xfrm>
            <a:off x="3931920" y="3566160"/>
            <a:ext cx="457200" cy="201168"/>
          </a:xfrm>
          <a:prstGeom prst="rect">
            <a:avLst/>
          </a:prstGeom>
          <a:noFill/>
        </p:spPr>
        <p:txBody>
          <a:bodyPr wrap="square" anchor="t"/>
          <a:lstStyle/>
          <a:p>
            <a:pPr algn="r">
              <a:defRPr sz="1000" b="1">
                <a:solidFill>
                  <a:srgbClr val="0097A7"/>
                </a:solidFill>
                <a:latin typeface="Arial"/>
              </a:defRPr>
            </a:pPr>
            <a:r>
              <a:t>6</a:t>
            </a:r>
          </a:p>
        </p:txBody>
      </p:sp>
      <p:sp>
        <p:nvSpPr>
          <p:cNvPr id="31" name="Rectangle 30"/>
          <p:cNvSpPr/>
          <p:nvPr/>
        </p:nvSpPr>
        <p:spPr>
          <a:xfrm>
            <a:off x="502920" y="3950208"/>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0080" y="3950208"/>
            <a:ext cx="1188720" cy="201168"/>
          </a:xfrm>
          <a:prstGeom prst="rect">
            <a:avLst/>
          </a:prstGeom>
          <a:noFill/>
        </p:spPr>
        <p:txBody>
          <a:bodyPr wrap="square" anchor="t"/>
          <a:lstStyle/>
          <a:p>
            <a:pPr algn="l">
              <a:defRPr sz="1000" b="1">
                <a:solidFill>
                  <a:srgbClr val="333333"/>
                </a:solidFill>
                <a:latin typeface="Arial"/>
              </a:defRPr>
            </a:pPr>
            <a:r>
              <a:t>Team Mailbox</a:t>
            </a:r>
          </a:p>
        </p:txBody>
      </p:sp>
      <p:sp>
        <p:nvSpPr>
          <p:cNvPr id="33" name="TextBox 32"/>
          <p:cNvSpPr txBox="1"/>
          <p:nvPr/>
        </p:nvSpPr>
        <p:spPr>
          <a:xfrm>
            <a:off x="640080" y="4133088"/>
            <a:ext cx="3200400" cy="182880"/>
          </a:xfrm>
          <a:prstGeom prst="rect">
            <a:avLst/>
          </a:prstGeom>
          <a:noFill/>
        </p:spPr>
        <p:txBody>
          <a:bodyPr wrap="square" anchor="t"/>
          <a:lstStyle/>
          <a:p>
            <a:pPr algn="l">
              <a:defRPr sz="800" b="0">
                <a:solidFill>
                  <a:srgbClr val="777777"/>
                </a:solidFill>
                <a:latin typeface="Arial"/>
              </a:defRPr>
            </a:pPr>
            <a:r>
              <a:t>channels, messages, respond</a:t>
            </a:r>
          </a:p>
        </p:txBody>
      </p:sp>
      <p:sp>
        <p:nvSpPr>
          <p:cNvPr id="34" name="TextBox 33"/>
          <p:cNvSpPr txBox="1"/>
          <p:nvPr/>
        </p:nvSpPr>
        <p:spPr>
          <a:xfrm>
            <a:off x="3931920" y="3950208"/>
            <a:ext cx="457200" cy="201168"/>
          </a:xfrm>
          <a:prstGeom prst="rect">
            <a:avLst/>
          </a:prstGeom>
          <a:noFill/>
        </p:spPr>
        <p:txBody>
          <a:bodyPr wrap="square" anchor="t"/>
          <a:lstStyle/>
          <a:p>
            <a:pPr algn="r">
              <a:defRPr sz="1000" b="1">
                <a:solidFill>
                  <a:srgbClr val="0097A7"/>
                </a:solidFill>
                <a:latin typeface="Arial"/>
              </a:defRPr>
            </a:pPr>
            <a:r>
              <a:t>5</a:t>
            </a:r>
          </a:p>
        </p:txBody>
      </p:sp>
      <p:sp>
        <p:nvSpPr>
          <p:cNvPr id="35" name="Rectangle 34"/>
          <p:cNvSpPr/>
          <p:nvPr/>
        </p:nvSpPr>
        <p:spPr>
          <a:xfrm>
            <a:off x="502920" y="4334256"/>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080" y="4334256"/>
            <a:ext cx="1188720" cy="201168"/>
          </a:xfrm>
          <a:prstGeom prst="rect">
            <a:avLst/>
          </a:prstGeom>
          <a:noFill/>
        </p:spPr>
        <p:txBody>
          <a:bodyPr wrap="square" anchor="t"/>
          <a:lstStyle/>
          <a:p>
            <a:pPr algn="l">
              <a:defRPr sz="1000" b="1">
                <a:solidFill>
                  <a:srgbClr val="333333"/>
                </a:solidFill>
                <a:latin typeface="Arial"/>
              </a:defRPr>
            </a:pPr>
            <a:r>
              <a:t>System</a:t>
            </a:r>
          </a:p>
        </p:txBody>
      </p:sp>
      <p:sp>
        <p:nvSpPr>
          <p:cNvPr id="37" name="TextBox 36"/>
          <p:cNvSpPr txBox="1"/>
          <p:nvPr/>
        </p:nvSpPr>
        <p:spPr>
          <a:xfrm>
            <a:off x="640080" y="4517136"/>
            <a:ext cx="3200400" cy="182880"/>
          </a:xfrm>
          <a:prstGeom prst="rect">
            <a:avLst/>
          </a:prstGeom>
          <a:noFill/>
        </p:spPr>
        <p:txBody>
          <a:bodyPr wrap="square" anchor="t"/>
          <a:lstStyle/>
          <a:p>
            <a:pPr algn="l">
              <a:defRPr sz="800" b="0">
                <a:solidFill>
                  <a:srgbClr val="777777"/>
                </a:solidFill>
                <a:latin typeface="Arial"/>
              </a:defRPr>
            </a:pPr>
            <a:r>
              <a:t>health, models, agents, diagnostics, capabilities</a:t>
            </a:r>
          </a:p>
        </p:txBody>
      </p:sp>
      <p:sp>
        <p:nvSpPr>
          <p:cNvPr id="38" name="TextBox 37"/>
          <p:cNvSpPr txBox="1"/>
          <p:nvPr/>
        </p:nvSpPr>
        <p:spPr>
          <a:xfrm>
            <a:off x="3931920" y="4334256"/>
            <a:ext cx="457200" cy="201168"/>
          </a:xfrm>
          <a:prstGeom prst="rect">
            <a:avLst/>
          </a:prstGeom>
          <a:noFill/>
        </p:spPr>
        <p:txBody>
          <a:bodyPr wrap="square" anchor="t"/>
          <a:lstStyle/>
          <a:p>
            <a:pPr algn="r">
              <a:defRPr sz="1000" b="1">
                <a:solidFill>
                  <a:srgbClr val="0097A7"/>
                </a:solidFill>
                <a:latin typeface="Arial"/>
              </a:defRPr>
            </a:pPr>
            <a:r>
              <a:t>8</a:t>
            </a:r>
          </a:p>
        </p:txBody>
      </p:sp>
      <p:sp>
        <p:nvSpPr>
          <p:cNvPr id="39" name="TextBox 38"/>
          <p:cNvSpPr txBox="1"/>
          <p:nvPr/>
        </p:nvSpPr>
        <p:spPr>
          <a:xfrm>
            <a:off x="4754880" y="1280160"/>
            <a:ext cx="3931920" cy="320040"/>
          </a:xfrm>
          <a:prstGeom prst="rect">
            <a:avLst/>
          </a:prstGeom>
          <a:noFill/>
        </p:spPr>
        <p:txBody>
          <a:bodyPr wrap="square" anchor="t"/>
          <a:lstStyle/>
          <a:p>
            <a:pPr algn="l">
              <a:defRPr sz="1400" b="1">
                <a:solidFill>
                  <a:srgbClr val="FF9800"/>
                </a:solidFill>
                <a:latin typeface="Arial"/>
              </a:defRPr>
            </a:pPr>
            <a:r>
              <a:t>ADMIN API (70 endpoints)</a:t>
            </a:r>
          </a:p>
        </p:txBody>
      </p:sp>
      <p:sp>
        <p:nvSpPr>
          <p:cNvPr id="40" name="Rectangle 39"/>
          <p:cNvSpPr/>
          <p:nvPr/>
        </p:nvSpPr>
        <p:spPr>
          <a:xfrm>
            <a:off x="4754880" y="1645920"/>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892040" y="1645920"/>
            <a:ext cx="1188720" cy="201168"/>
          </a:xfrm>
          <a:prstGeom prst="rect">
            <a:avLst/>
          </a:prstGeom>
          <a:noFill/>
        </p:spPr>
        <p:txBody>
          <a:bodyPr wrap="square" anchor="t"/>
          <a:lstStyle/>
          <a:p>
            <a:pPr algn="l">
              <a:defRPr sz="1000" b="1">
                <a:solidFill>
                  <a:srgbClr val="333333"/>
                </a:solidFill>
                <a:latin typeface="Arial"/>
              </a:defRPr>
            </a:pPr>
            <a:r>
              <a:t>Agents</a:t>
            </a:r>
          </a:p>
        </p:txBody>
      </p:sp>
      <p:sp>
        <p:nvSpPr>
          <p:cNvPr id="42" name="TextBox 41"/>
          <p:cNvSpPr txBox="1"/>
          <p:nvPr/>
        </p:nvSpPr>
        <p:spPr>
          <a:xfrm>
            <a:off x="4892040" y="1828800"/>
            <a:ext cx="3200400" cy="182880"/>
          </a:xfrm>
          <a:prstGeom prst="rect">
            <a:avLst/>
          </a:prstGeom>
          <a:noFill/>
        </p:spPr>
        <p:txBody>
          <a:bodyPr wrap="square" anchor="t"/>
          <a:lstStyle/>
          <a:p>
            <a:pPr algn="l">
              <a:defRPr sz="800" b="0">
                <a:solidFill>
                  <a:srgbClr val="777777"/>
                </a:solidFill>
                <a:latin typeface="Arial"/>
              </a:defRPr>
            </a:pPr>
            <a:r>
              <a:t>list, get, update, delete, reload</a:t>
            </a:r>
          </a:p>
        </p:txBody>
      </p:sp>
      <p:sp>
        <p:nvSpPr>
          <p:cNvPr id="43" name="TextBox 42"/>
          <p:cNvSpPr txBox="1"/>
          <p:nvPr/>
        </p:nvSpPr>
        <p:spPr>
          <a:xfrm>
            <a:off x="8229600" y="1645920"/>
            <a:ext cx="457200" cy="201168"/>
          </a:xfrm>
          <a:prstGeom prst="rect">
            <a:avLst/>
          </a:prstGeom>
          <a:noFill/>
        </p:spPr>
        <p:txBody>
          <a:bodyPr wrap="square" anchor="t"/>
          <a:lstStyle/>
          <a:p>
            <a:pPr algn="r">
              <a:defRPr sz="1000" b="1">
                <a:solidFill>
                  <a:srgbClr val="FF9800"/>
                </a:solidFill>
                <a:latin typeface="Arial"/>
              </a:defRPr>
            </a:pPr>
            <a:r>
              <a:t>5</a:t>
            </a:r>
          </a:p>
        </p:txBody>
      </p:sp>
      <p:sp>
        <p:nvSpPr>
          <p:cNvPr id="44" name="Rectangle 43"/>
          <p:cNvSpPr/>
          <p:nvPr/>
        </p:nvSpPr>
        <p:spPr>
          <a:xfrm>
            <a:off x="4754880" y="2029968"/>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892040" y="2029968"/>
            <a:ext cx="1188720" cy="201168"/>
          </a:xfrm>
          <a:prstGeom prst="rect">
            <a:avLst/>
          </a:prstGeom>
          <a:noFill/>
        </p:spPr>
        <p:txBody>
          <a:bodyPr wrap="square" anchor="t"/>
          <a:lstStyle/>
          <a:p>
            <a:pPr algn="l">
              <a:defRPr sz="1000" b="1">
                <a:solidFill>
                  <a:srgbClr val="333333"/>
                </a:solidFill>
                <a:latin typeface="Arial"/>
              </a:defRPr>
            </a:pPr>
            <a:r>
              <a:t>Collections</a:t>
            </a:r>
          </a:p>
        </p:txBody>
      </p:sp>
      <p:sp>
        <p:nvSpPr>
          <p:cNvPr id="46" name="TextBox 45"/>
          <p:cNvSpPr txBox="1"/>
          <p:nvPr/>
        </p:nvSpPr>
        <p:spPr>
          <a:xfrm>
            <a:off x="4892040" y="2212848"/>
            <a:ext cx="3200400" cy="182880"/>
          </a:xfrm>
          <a:prstGeom prst="rect">
            <a:avLst/>
          </a:prstGeom>
          <a:noFill/>
        </p:spPr>
        <p:txBody>
          <a:bodyPr wrap="square" anchor="t"/>
          <a:lstStyle/>
          <a:p>
            <a:pPr algn="l">
              <a:defRPr sz="800" b="0">
                <a:solidFill>
                  <a:srgbClr val="777777"/>
                </a:solidFill>
                <a:latin typeface="Arial"/>
              </a:defRPr>
            </a:pPr>
            <a:r>
              <a:t>CRUD, documents, upload, sync, repair, health</a:t>
            </a:r>
          </a:p>
        </p:txBody>
      </p:sp>
      <p:sp>
        <p:nvSpPr>
          <p:cNvPr id="47" name="TextBox 46"/>
          <p:cNvSpPr txBox="1"/>
          <p:nvPr/>
        </p:nvSpPr>
        <p:spPr>
          <a:xfrm>
            <a:off x="8229600" y="2029968"/>
            <a:ext cx="457200" cy="201168"/>
          </a:xfrm>
          <a:prstGeom prst="rect">
            <a:avLst/>
          </a:prstGeom>
          <a:noFill/>
        </p:spPr>
        <p:txBody>
          <a:bodyPr wrap="square" anchor="t"/>
          <a:lstStyle/>
          <a:p>
            <a:pPr algn="r">
              <a:defRPr sz="1000" b="1">
                <a:solidFill>
                  <a:srgbClr val="FF9800"/>
                </a:solidFill>
                <a:latin typeface="Arial"/>
              </a:defRPr>
            </a:pPr>
            <a:r>
              <a:t>12</a:t>
            </a:r>
          </a:p>
        </p:txBody>
      </p:sp>
      <p:sp>
        <p:nvSpPr>
          <p:cNvPr id="48" name="Rectangle 47"/>
          <p:cNvSpPr/>
          <p:nvPr/>
        </p:nvSpPr>
        <p:spPr>
          <a:xfrm>
            <a:off x="4754880" y="2414016"/>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892040" y="2414016"/>
            <a:ext cx="1188720" cy="201168"/>
          </a:xfrm>
          <a:prstGeom prst="rect">
            <a:avLst/>
          </a:prstGeom>
          <a:noFill/>
        </p:spPr>
        <p:txBody>
          <a:bodyPr wrap="square" anchor="t"/>
          <a:lstStyle/>
          <a:p>
            <a:pPr algn="l">
              <a:defRPr sz="1000" b="1">
                <a:solidFill>
                  <a:srgbClr val="333333"/>
                </a:solidFill>
                <a:latin typeface="Arial"/>
              </a:defRPr>
            </a:pPr>
            <a:r>
              <a:t>Prompts</a:t>
            </a:r>
          </a:p>
        </p:txBody>
      </p:sp>
      <p:sp>
        <p:nvSpPr>
          <p:cNvPr id="50" name="TextBox 49"/>
          <p:cNvSpPr txBox="1"/>
          <p:nvPr/>
        </p:nvSpPr>
        <p:spPr>
          <a:xfrm>
            <a:off x="4892040" y="2596896"/>
            <a:ext cx="3200400" cy="182880"/>
          </a:xfrm>
          <a:prstGeom prst="rect">
            <a:avLst/>
          </a:prstGeom>
          <a:noFill/>
        </p:spPr>
        <p:txBody>
          <a:bodyPr wrap="square" anchor="t"/>
          <a:lstStyle/>
          <a:p>
            <a:pPr algn="l">
              <a:defRPr sz="800" b="0">
                <a:solidFill>
                  <a:srgbClr val="777777"/>
                </a:solidFill>
                <a:latin typeface="Arial"/>
              </a:defRPr>
            </a:pPr>
            <a:r>
              <a:t>list, get, update, delete</a:t>
            </a:r>
          </a:p>
        </p:txBody>
      </p:sp>
      <p:sp>
        <p:nvSpPr>
          <p:cNvPr id="51" name="TextBox 50"/>
          <p:cNvSpPr txBox="1"/>
          <p:nvPr/>
        </p:nvSpPr>
        <p:spPr>
          <a:xfrm>
            <a:off x="8229600" y="2414016"/>
            <a:ext cx="457200" cy="201168"/>
          </a:xfrm>
          <a:prstGeom prst="rect">
            <a:avLst/>
          </a:prstGeom>
          <a:noFill/>
        </p:spPr>
        <p:txBody>
          <a:bodyPr wrap="square" anchor="t"/>
          <a:lstStyle/>
          <a:p>
            <a:pPr algn="r">
              <a:defRPr sz="1000" b="1">
                <a:solidFill>
                  <a:srgbClr val="FF9800"/>
                </a:solidFill>
                <a:latin typeface="Arial"/>
              </a:defRPr>
            </a:pPr>
            <a:r>
              <a:t>4</a:t>
            </a:r>
          </a:p>
        </p:txBody>
      </p:sp>
      <p:sp>
        <p:nvSpPr>
          <p:cNvPr id="52" name="Rectangle 51"/>
          <p:cNvSpPr/>
          <p:nvPr/>
        </p:nvSpPr>
        <p:spPr>
          <a:xfrm>
            <a:off x="4754880" y="2798064"/>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892040" y="2798064"/>
            <a:ext cx="1188720" cy="201168"/>
          </a:xfrm>
          <a:prstGeom prst="rect">
            <a:avLst/>
          </a:prstGeom>
          <a:noFill/>
        </p:spPr>
        <p:txBody>
          <a:bodyPr wrap="square" anchor="t"/>
          <a:lstStyle/>
          <a:p>
            <a:pPr algn="l">
              <a:defRPr sz="1000" b="1">
                <a:solidFill>
                  <a:srgbClr val="333333"/>
                </a:solidFill>
                <a:latin typeface="Arial"/>
              </a:defRPr>
            </a:pPr>
            <a:r>
              <a:t>Graphs</a:t>
            </a:r>
          </a:p>
        </p:txBody>
      </p:sp>
      <p:sp>
        <p:nvSpPr>
          <p:cNvPr id="54" name="TextBox 53"/>
          <p:cNvSpPr txBox="1"/>
          <p:nvPr/>
        </p:nvSpPr>
        <p:spPr>
          <a:xfrm>
            <a:off x="4892040" y="2980944"/>
            <a:ext cx="3200400" cy="182880"/>
          </a:xfrm>
          <a:prstGeom prst="rect">
            <a:avLst/>
          </a:prstGeom>
          <a:noFill/>
        </p:spPr>
        <p:txBody>
          <a:bodyPr wrap="square" anchor="t"/>
          <a:lstStyle/>
          <a:p>
            <a:pPr algn="l">
              <a:defRPr sz="800" b="0">
                <a:solidFill>
                  <a:srgbClr val="777777"/>
                </a:solidFill>
                <a:latin typeface="Arial"/>
              </a:defRPr>
            </a:pPr>
            <a:r>
              <a:t>CRUD, build, refresh, validate, prompts, skills, tune</a:t>
            </a:r>
          </a:p>
        </p:txBody>
      </p:sp>
      <p:sp>
        <p:nvSpPr>
          <p:cNvPr id="55" name="TextBox 54"/>
          <p:cNvSpPr txBox="1"/>
          <p:nvPr/>
        </p:nvSpPr>
        <p:spPr>
          <a:xfrm>
            <a:off x="8229600" y="2798064"/>
            <a:ext cx="457200" cy="201168"/>
          </a:xfrm>
          <a:prstGeom prst="rect">
            <a:avLst/>
          </a:prstGeom>
          <a:noFill/>
        </p:spPr>
        <p:txBody>
          <a:bodyPr wrap="square" anchor="t"/>
          <a:lstStyle/>
          <a:p>
            <a:pPr algn="r">
              <a:defRPr sz="1000" b="1">
                <a:solidFill>
                  <a:srgbClr val="FF9800"/>
                </a:solidFill>
                <a:latin typeface="Arial"/>
              </a:defRPr>
            </a:pPr>
            <a:r>
              <a:t>12</a:t>
            </a:r>
          </a:p>
        </p:txBody>
      </p:sp>
      <p:sp>
        <p:nvSpPr>
          <p:cNvPr id="56" name="Rectangle 55"/>
          <p:cNvSpPr/>
          <p:nvPr/>
        </p:nvSpPr>
        <p:spPr>
          <a:xfrm>
            <a:off x="4754880" y="3182112"/>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892040" y="3182112"/>
            <a:ext cx="1188720" cy="201168"/>
          </a:xfrm>
          <a:prstGeom prst="rect">
            <a:avLst/>
          </a:prstGeom>
          <a:noFill/>
        </p:spPr>
        <p:txBody>
          <a:bodyPr wrap="square" anchor="t"/>
          <a:lstStyle/>
          <a:p>
            <a:pPr algn="l">
              <a:defRPr sz="1000" b="1">
                <a:solidFill>
                  <a:srgbClr val="333333"/>
                </a:solidFill>
                <a:latin typeface="Arial"/>
              </a:defRPr>
            </a:pPr>
            <a:r>
              <a:t>Access Control</a:t>
            </a:r>
          </a:p>
        </p:txBody>
      </p:sp>
      <p:sp>
        <p:nvSpPr>
          <p:cNvPr id="58" name="TextBox 57"/>
          <p:cNvSpPr txBox="1"/>
          <p:nvPr/>
        </p:nvSpPr>
        <p:spPr>
          <a:xfrm>
            <a:off x="4892040" y="3364992"/>
            <a:ext cx="3200400" cy="182880"/>
          </a:xfrm>
          <a:prstGeom prst="rect">
            <a:avLst/>
          </a:prstGeom>
          <a:noFill/>
        </p:spPr>
        <p:txBody>
          <a:bodyPr wrap="square" anchor="t"/>
          <a:lstStyle/>
          <a:p>
            <a:pPr algn="l">
              <a:defRPr sz="800" b="0">
                <a:solidFill>
                  <a:srgbClr val="777777"/>
                </a:solidFill>
                <a:latin typeface="Arial"/>
              </a:defRPr>
            </a:pPr>
            <a:r>
              <a:t>roles, permissions, bindings, memberships, principals</a:t>
            </a:r>
          </a:p>
        </p:txBody>
      </p:sp>
      <p:sp>
        <p:nvSpPr>
          <p:cNvPr id="59" name="TextBox 58"/>
          <p:cNvSpPr txBox="1"/>
          <p:nvPr/>
        </p:nvSpPr>
        <p:spPr>
          <a:xfrm>
            <a:off x="8229600" y="3182112"/>
            <a:ext cx="457200" cy="201168"/>
          </a:xfrm>
          <a:prstGeom prst="rect">
            <a:avLst/>
          </a:prstGeom>
          <a:noFill/>
        </p:spPr>
        <p:txBody>
          <a:bodyPr wrap="square" anchor="t"/>
          <a:lstStyle/>
          <a:p>
            <a:pPr algn="r">
              <a:defRPr sz="1000" b="1">
                <a:solidFill>
                  <a:srgbClr val="FF9800"/>
                </a:solidFill>
                <a:latin typeface="Arial"/>
              </a:defRPr>
            </a:pPr>
            <a:r>
              <a:t>14</a:t>
            </a:r>
          </a:p>
        </p:txBody>
      </p:sp>
      <p:sp>
        <p:nvSpPr>
          <p:cNvPr id="60" name="Rectangle 59"/>
          <p:cNvSpPr/>
          <p:nvPr/>
        </p:nvSpPr>
        <p:spPr>
          <a:xfrm>
            <a:off x="4754880" y="3566160"/>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892040" y="3566160"/>
            <a:ext cx="1188720" cy="201168"/>
          </a:xfrm>
          <a:prstGeom prst="rect">
            <a:avLst/>
          </a:prstGeom>
          <a:noFill/>
        </p:spPr>
        <p:txBody>
          <a:bodyPr wrap="square" anchor="t"/>
          <a:lstStyle/>
          <a:p>
            <a:pPr algn="l">
              <a:defRPr sz="1000" b="1">
                <a:solidFill>
                  <a:srgbClr val="333333"/>
                </a:solidFill>
                <a:latin typeface="Arial"/>
              </a:defRPr>
            </a:pPr>
            <a:r>
              <a:t>Config</a:t>
            </a:r>
          </a:p>
        </p:txBody>
      </p:sp>
      <p:sp>
        <p:nvSpPr>
          <p:cNvPr id="62" name="TextBox 61"/>
          <p:cNvSpPr txBox="1"/>
          <p:nvPr/>
        </p:nvSpPr>
        <p:spPr>
          <a:xfrm>
            <a:off x="4892040" y="3749040"/>
            <a:ext cx="3200400" cy="182880"/>
          </a:xfrm>
          <a:prstGeom prst="rect">
            <a:avLst/>
          </a:prstGeom>
          <a:noFill/>
        </p:spPr>
        <p:txBody>
          <a:bodyPr wrap="square" anchor="t"/>
          <a:lstStyle/>
          <a:p>
            <a:pPr algn="l">
              <a:defRPr sz="800" b="0">
                <a:solidFill>
                  <a:srgbClr val="777777"/>
                </a:solidFill>
                <a:latin typeface="Arial"/>
              </a:defRPr>
            </a:pPr>
            <a:r>
              <a:t>schema, effective, validate, apply</a:t>
            </a:r>
          </a:p>
        </p:txBody>
      </p:sp>
      <p:sp>
        <p:nvSpPr>
          <p:cNvPr id="63" name="TextBox 62"/>
          <p:cNvSpPr txBox="1"/>
          <p:nvPr/>
        </p:nvSpPr>
        <p:spPr>
          <a:xfrm>
            <a:off x="8229600" y="3566160"/>
            <a:ext cx="457200" cy="201168"/>
          </a:xfrm>
          <a:prstGeom prst="rect">
            <a:avLst/>
          </a:prstGeom>
          <a:noFill/>
        </p:spPr>
        <p:txBody>
          <a:bodyPr wrap="square" anchor="t"/>
          <a:lstStyle/>
          <a:p>
            <a:pPr algn="r">
              <a:defRPr sz="1000" b="1">
                <a:solidFill>
                  <a:srgbClr val="FF9800"/>
                </a:solidFill>
                <a:latin typeface="Arial"/>
              </a:defRPr>
            </a:pPr>
            <a:r>
              <a:t>4</a:t>
            </a:r>
          </a:p>
        </p:txBody>
      </p:sp>
      <p:sp>
        <p:nvSpPr>
          <p:cNvPr id="64" name="Rectangle 63"/>
          <p:cNvSpPr/>
          <p:nvPr/>
        </p:nvSpPr>
        <p:spPr>
          <a:xfrm>
            <a:off x="4754880" y="3950208"/>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892040" y="3950208"/>
            <a:ext cx="1188720" cy="201168"/>
          </a:xfrm>
          <a:prstGeom prst="rect">
            <a:avLst/>
          </a:prstGeom>
          <a:noFill/>
        </p:spPr>
        <p:txBody>
          <a:bodyPr wrap="square" anchor="t"/>
          <a:lstStyle/>
          <a:p>
            <a:pPr algn="l">
              <a:defRPr sz="1000" b="1">
                <a:solidFill>
                  <a:srgbClr val="333333"/>
                </a:solidFill>
                <a:latin typeface="Arial"/>
              </a:defRPr>
            </a:pPr>
            <a:r>
              <a:t>Uploads</a:t>
            </a:r>
          </a:p>
        </p:txBody>
      </p:sp>
      <p:sp>
        <p:nvSpPr>
          <p:cNvPr id="66" name="TextBox 65"/>
          <p:cNvSpPr txBox="1"/>
          <p:nvPr/>
        </p:nvSpPr>
        <p:spPr>
          <a:xfrm>
            <a:off x="4892040" y="4133088"/>
            <a:ext cx="3200400" cy="182880"/>
          </a:xfrm>
          <a:prstGeom prst="rect">
            <a:avLst/>
          </a:prstGeom>
          <a:noFill/>
        </p:spPr>
        <p:txBody>
          <a:bodyPr wrap="square" anchor="t"/>
          <a:lstStyle/>
          <a:p>
            <a:pPr algn="l">
              <a:defRPr sz="800" b="0">
                <a:solidFill>
                  <a:srgbClr val="777777"/>
                </a:solidFill>
                <a:latin typeface="Arial"/>
              </a:defRPr>
            </a:pPr>
            <a:r>
              <a:t>list, get, delete, reindex</a:t>
            </a:r>
          </a:p>
        </p:txBody>
      </p:sp>
      <p:sp>
        <p:nvSpPr>
          <p:cNvPr id="67" name="TextBox 66"/>
          <p:cNvSpPr txBox="1"/>
          <p:nvPr/>
        </p:nvSpPr>
        <p:spPr>
          <a:xfrm>
            <a:off x="8229600" y="3950208"/>
            <a:ext cx="457200" cy="201168"/>
          </a:xfrm>
          <a:prstGeom prst="rect">
            <a:avLst/>
          </a:prstGeom>
          <a:noFill/>
        </p:spPr>
        <p:txBody>
          <a:bodyPr wrap="square" anchor="t"/>
          <a:lstStyle/>
          <a:p>
            <a:pPr algn="r">
              <a:defRPr sz="1000" b="1">
                <a:solidFill>
                  <a:srgbClr val="FF9800"/>
                </a:solidFill>
                <a:latin typeface="Arial"/>
              </a:defRPr>
            </a:pPr>
            <a:r>
              <a:t>4</a:t>
            </a:r>
          </a:p>
        </p:txBody>
      </p:sp>
      <p:sp>
        <p:nvSpPr>
          <p:cNvPr id="68" name="Rectangle 67"/>
          <p:cNvSpPr/>
          <p:nvPr/>
        </p:nvSpPr>
        <p:spPr>
          <a:xfrm>
            <a:off x="4754880" y="4334256"/>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4892040" y="4334256"/>
            <a:ext cx="1188720" cy="201168"/>
          </a:xfrm>
          <a:prstGeom prst="rect">
            <a:avLst/>
          </a:prstGeom>
          <a:noFill/>
        </p:spPr>
        <p:txBody>
          <a:bodyPr wrap="square" anchor="t"/>
          <a:lstStyle/>
          <a:p>
            <a:pPr algn="l">
              <a:defRPr sz="1000" b="1">
                <a:solidFill>
                  <a:srgbClr val="333333"/>
                </a:solidFill>
                <a:latin typeface="Arial"/>
              </a:defRPr>
            </a:pPr>
            <a:r>
              <a:t>MCP/System</a:t>
            </a:r>
          </a:p>
        </p:txBody>
      </p:sp>
      <p:sp>
        <p:nvSpPr>
          <p:cNvPr id="70" name="TextBox 69"/>
          <p:cNvSpPr txBox="1"/>
          <p:nvPr/>
        </p:nvSpPr>
        <p:spPr>
          <a:xfrm>
            <a:off x="4892040" y="4517136"/>
            <a:ext cx="3200400" cy="182880"/>
          </a:xfrm>
          <a:prstGeom prst="rect">
            <a:avLst/>
          </a:prstGeom>
          <a:noFill/>
        </p:spPr>
        <p:txBody>
          <a:bodyPr wrap="square" anchor="t"/>
          <a:lstStyle/>
          <a:p>
            <a:pPr algn="l">
              <a:defRPr sz="800" b="0">
                <a:solidFill>
                  <a:srgbClr val="777777"/>
                </a:solidFill>
                <a:latin typeface="Arial"/>
              </a:defRPr>
            </a:pPr>
            <a:r>
              <a:t>connections, operations, overview, architecture</a:t>
            </a:r>
          </a:p>
        </p:txBody>
      </p:sp>
      <p:sp>
        <p:nvSpPr>
          <p:cNvPr id="71" name="TextBox 70"/>
          <p:cNvSpPr txBox="1"/>
          <p:nvPr/>
        </p:nvSpPr>
        <p:spPr>
          <a:xfrm>
            <a:off x="8229600" y="4334256"/>
            <a:ext cx="457200" cy="201168"/>
          </a:xfrm>
          <a:prstGeom prst="rect">
            <a:avLst/>
          </a:prstGeom>
          <a:noFill/>
        </p:spPr>
        <p:txBody>
          <a:bodyPr wrap="square" anchor="t"/>
          <a:lstStyle/>
          <a:p>
            <a:pPr algn="r">
              <a:defRPr sz="1000" b="1">
                <a:solidFill>
                  <a:srgbClr val="FF9800"/>
                </a:solidFill>
                <a:latin typeface="Arial"/>
              </a:defRPr>
            </a:pPr>
            <a:r>
              <a:t>15</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New Subsystems — GraphRAG, MCP, Worker Orchestration</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20040"/>
          </a:xfrm>
          <a:prstGeom prst="rect">
            <a:avLst/>
          </a:prstGeom>
          <a:noFill/>
        </p:spPr>
        <p:txBody>
          <a:bodyPr wrap="square" anchor="t"/>
          <a:lstStyle/>
          <a:p>
            <a:pPr algn="l">
              <a:defRPr sz="1200" b="0">
                <a:solidFill>
                  <a:srgbClr val="555555"/>
                </a:solidFill>
                <a:latin typeface="Arial"/>
              </a:defRPr>
            </a:pPr>
            <a:r>
              <a:t>Three major subsystems added since v2 that expand the harness well beyond simple tool calling.</a:t>
            </a:r>
          </a:p>
        </p:txBody>
      </p:sp>
      <p:sp>
        <p:nvSpPr>
          <p:cNvPr id="6" name="Rectangle 5"/>
          <p:cNvSpPr/>
          <p:nvPr/>
        </p:nvSpPr>
        <p:spPr>
          <a:xfrm>
            <a:off x="50292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25880"/>
            <a:ext cx="260604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463040"/>
            <a:ext cx="2331720" cy="320040"/>
          </a:xfrm>
          <a:prstGeom prst="rect">
            <a:avLst/>
          </a:prstGeom>
          <a:noFill/>
        </p:spPr>
        <p:txBody>
          <a:bodyPr wrap="square" anchor="t"/>
          <a:lstStyle/>
          <a:p>
            <a:pPr algn="ctr">
              <a:defRPr sz="1600" b="1">
                <a:solidFill>
                  <a:srgbClr val="FFFFFF"/>
                </a:solidFill>
                <a:latin typeface="Arial"/>
              </a:defRPr>
            </a:pPr>
            <a:r>
              <a:t>GRAPHRAG</a:t>
            </a:r>
          </a:p>
        </p:txBody>
      </p:sp>
      <p:sp>
        <p:nvSpPr>
          <p:cNvPr id="9" name="TextBox 8"/>
          <p:cNvSpPr txBox="1"/>
          <p:nvPr/>
        </p:nvSpPr>
        <p:spPr>
          <a:xfrm>
            <a:off x="640080" y="1828800"/>
            <a:ext cx="2331720" cy="274320"/>
          </a:xfrm>
          <a:prstGeom prst="rect">
            <a:avLst/>
          </a:prstGeom>
          <a:noFill/>
        </p:spPr>
        <p:txBody>
          <a:bodyPr wrap="square" anchor="t"/>
          <a:lstStyle/>
          <a:p>
            <a:pPr algn="ctr">
              <a:defRPr sz="1100" b="0">
                <a:solidFill>
                  <a:srgbClr val="0097A7"/>
                </a:solidFill>
                <a:latin typeface="Arial"/>
              </a:defRPr>
            </a:pPr>
            <a:r>
              <a:t>Knowledge Graph Integration</a:t>
            </a:r>
          </a:p>
        </p:txBody>
      </p:sp>
      <p:sp>
        <p:nvSpPr>
          <p:cNvPr id="10" name="Rectangle 9"/>
          <p:cNvSpPr/>
          <p:nvPr/>
        </p:nvSpPr>
        <p:spPr>
          <a:xfrm>
            <a:off x="868680" y="2194560"/>
            <a:ext cx="1874520" cy="18288"/>
          </a:xfrm>
          <a:prstGeom prst="rect">
            <a:avLst/>
          </a:prstGeom>
          <a:solidFill>
            <a:srgbClr val="3355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331720"/>
            <a:ext cx="2331720" cy="2286000"/>
          </a:xfrm>
          <a:prstGeom prst="rect">
            <a:avLst/>
          </a:prstGeom>
          <a:noFill/>
        </p:spPr>
        <p:txBody>
          <a:bodyPr wrap="square" anchor="t"/>
          <a:lstStyle/>
          <a:p>
            <a:pPr algn="l">
              <a:defRPr sz="900" b="0">
                <a:solidFill>
                  <a:srgbClr val="CCCCCC"/>
                </a:solidFill>
                <a:latin typeface="Arial"/>
              </a:defRPr>
            </a:pPr>
            <a:r>
              <a:t>graph/ module with 10 files</a:t>
            </a:r>
            <a:br/>
            <a:r>
              <a:t>graph_manager agent</a:t>
            </a:r>
            <a:br/>
            <a:r>
              <a:t>8 dedicated tools</a:t>
            </a:r>
            <a:br/>
            <a:r>
              <a:t>Phased corpus indexing</a:t>
            </a:r>
            <a:br/>
            <a:r>
              <a:t>Community report recovery</a:t>
            </a:r>
            <a:br/>
            <a:r>
              <a:t>Structured search + planning</a:t>
            </a:r>
            <a:br/>
            <a:r>
              <a:t>Prompt tuning per graph</a:t>
            </a:r>
          </a:p>
        </p:txBody>
      </p:sp>
      <p:sp>
        <p:nvSpPr>
          <p:cNvPr id="12" name="Rectangle 11"/>
          <p:cNvSpPr/>
          <p:nvPr/>
        </p:nvSpPr>
        <p:spPr>
          <a:xfrm>
            <a:off x="324612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246120" y="1325880"/>
            <a:ext cx="2606040" cy="54864"/>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83280" y="1463040"/>
            <a:ext cx="2331720" cy="320040"/>
          </a:xfrm>
          <a:prstGeom prst="rect">
            <a:avLst/>
          </a:prstGeom>
          <a:noFill/>
        </p:spPr>
        <p:txBody>
          <a:bodyPr wrap="square" anchor="t"/>
          <a:lstStyle/>
          <a:p>
            <a:pPr algn="ctr">
              <a:defRPr sz="1600" b="1">
                <a:solidFill>
                  <a:srgbClr val="FFFFFF"/>
                </a:solidFill>
                <a:latin typeface="Arial"/>
              </a:defRPr>
            </a:pPr>
            <a:r>
              <a:t>MCP</a:t>
            </a:r>
          </a:p>
        </p:txBody>
      </p:sp>
      <p:sp>
        <p:nvSpPr>
          <p:cNvPr id="15" name="TextBox 14"/>
          <p:cNvSpPr txBox="1"/>
          <p:nvPr/>
        </p:nvSpPr>
        <p:spPr>
          <a:xfrm>
            <a:off x="3383280" y="1828800"/>
            <a:ext cx="2331720" cy="274320"/>
          </a:xfrm>
          <a:prstGeom prst="rect">
            <a:avLst/>
          </a:prstGeom>
          <a:noFill/>
        </p:spPr>
        <p:txBody>
          <a:bodyPr wrap="square" anchor="t"/>
          <a:lstStyle/>
          <a:p>
            <a:pPr algn="ctr">
              <a:defRPr sz="1100" b="0">
                <a:solidFill>
                  <a:srgbClr val="FF9800"/>
                </a:solidFill>
                <a:latin typeface="Arial"/>
              </a:defRPr>
            </a:pPr>
            <a:r>
              <a:t>Model Context Protocol</a:t>
            </a:r>
          </a:p>
        </p:txBody>
      </p:sp>
      <p:sp>
        <p:nvSpPr>
          <p:cNvPr id="16" name="Rectangle 15"/>
          <p:cNvSpPr/>
          <p:nvPr/>
        </p:nvSpPr>
        <p:spPr>
          <a:xfrm>
            <a:off x="3611880" y="2194560"/>
            <a:ext cx="1874520" cy="18288"/>
          </a:xfrm>
          <a:prstGeom prst="rect">
            <a:avLst/>
          </a:prstGeom>
          <a:solidFill>
            <a:srgbClr val="554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83280" y="2331720"/>
            <a:ext cx="2331720" cy="2286000"/>
          </a:xfrm>
          <a:prstGeom prst="rect">
            <a:avLst/>
          </a:prstGeom>
          <a:noFill/>
        </p:spPr>
        <p:txBody>
          <a:bodyPr wrap="square" anchor="t"/>
          <a:lstStyle/>
          <a:p>
            <a:pPr algn="l">
              <a:defRPr sz="900" b="0">
                <a:solidFill>
                  <a:srgbClr val="CCCCCC"/>
                </a:solidFill>
                <a:latin typeface="Arial"/>
              </a:defRPr>
            </a:pPr>
            <a:r>
              <a:t>mcp/ service + client modules</a:t>
            </a:r>
            <a:br/>
            <a:r>
              <a:t>Dynamic tool registration</a:t>
            </a:r>
            <a:br/>
            <a:r>
              <a:t>8 API endpoints for connections</a:t>
            </a:r>
            <a:br/>
            <a:r>
              <a:t>Security-scoped tool access</a:t>
            </a:r>
            <a:br/>
            <a:r>
              <a:t>Connection test + refresh</a:t>
            </a:r>
            <a:br/>
            <a:r>
              <a:t>Per-tool enable/disable</a:t>
            </a:r>
            <a:br/>
            <a:r>
              <a:t>External server integration</a:t>
            </a:r>
          </a:p>
        </p:txBody>
      </p:sp>
      <p:sp>
        <p:nvSpPr>
          <p:cNvPr id="18" name="Rectangle 17"/>
          <p:cNvSpPr/>
          <p:nvPr/>
        </p:nvSpPr>
        <p:spPr>
          <a:xfrm>
            <a:off x="603504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035040" y="1325880"/>
            <a:ext cx="2606040" cy="54864"/>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72200" y="1463040"/>
            <a:ext cx="2331720" cy="320040"/>
          </a:xfrm>
          <a:prstGeom prst="rect">
            <a:avLst/>
          </a:prstGeom>
          <a:noFill/>
        </p:spPr>
        <p:txBody>
          <a:bodyPr wrap="square" anchor="t"/>
          <a:lstStyle/>
          <a:p>
            <a:pPr algn="ctr">
              <a:defRPr sz="1600" b="1">
                <a:solidFill>
                  <a:srgbClr val="FFFFFF"/>
                </a:solidFill>
                <a:latin typeface="Arial"/>
              </a:defRPr>
            </a:pPr>
            <a:r>
              <a:t>WORKER SYSTEM</a:t>
            </a:r>
          </a:p>
        </p:txBody>
      </p:sp>
      <p:sp>
        <p:nvSpPr>
          <p:cNvPr id="21" name="TextBox 20"/>
          <p:cNvSpPr txBox="1"/>
          <p:nvPr/>
        </p:nvSpPr>
        <p:spPr>
          <a:xfrm>
            <a:off x="6172200" y="1828800"/>
            <a:ext cx="2331720" cy="274320"/>
          </a:xfrm>
          <a:prstGeom prst="rect">
            <a:avLst/>
          </a:prstGeom>
          <a:noFill/>
        </p:spPr>
        <p:txBody>
          <a:bodyPr wrap="square" anchor="t"/>
          <a:lstStyle/>
          <a:p>
            <a:pPr algn="ctr">
              <a:defRPr sz="1100" b="0">
                <a:solidFill>
                  <a:srgbClr val="7C4DFF"/>
                </a:solidFill>
                <a:latin typeface="Arial"/>
              </a:defRPr>
            </a:pPr>
            <a:r>
              <a:t>Multi-Agent Coordination</a:t>
            </a:r>
          </a:p>
        </p:txBody>
      </p:sp>
      <p:sp>
        <p:nvSpPr>
          <p:cNvPr id="22" name="Rectangle 21"/>
          <p:cNvSpPr/>
          <p:nvPr/>
        </p:nvSpPr>
        <p:spPr>
          <a:xfrm>
            <a:off x="6400800" y="2194560"/>
            <a:ext cx="1874520" cy="18288"/>
          </a:xfrm>
          <a:prstGeom prst="rect">
            <a:avLst/>
          </a:prstGeom>
          <a:solidFill>
            <a:srgbClr val="44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172200" y="2331720"/>
            <a:ext cx="2331720" cy="2286000"/>
          </a:xfrm>
          <a:prstGeom prst="rect">
            <a:avLst/>
          </a:prstGeom>
          <a:noFill/>
        </p:spPr>
        <p:txBody>
          <a:bodyPr wrap="square" anchor="t"/>
          <a:lstStyle/>
          <a:p>
            <a:pPr algn="l">
              <a:defRPr sz="900" b="0">
                <a:solidFill>
                  <a:srgbClr val="CCCCCC"/>
                </a:solidFill>
                <a:latin typeface="Arial"/>
              </a:defRPr>
            </a:pPr>
            <a:r>
              <a:t>14 orchestration tools</a:t>
            </a:r>
            <a:br/>
            <a:r>
              <a:t>spawn_worker / message_worker</a:t>
            </a:r>
            <a:br/>
            <a:r>
              <a:t>Team mailbox channels</a:t>
            </a:r>
            <a:br/>
            <a:r>
              <a:t>Parent question/approval flow</a:t>
            </a:r>
            <a:br/>
            <a:r>
              <a:t>Worker request/response cycle</a:t>
            </a:r>
            <a:br/>
            <a:r>
              <a:t>Job listing and control</a:t>
            </a:r>
            <a:br/>
            <a:r>
              <a:t>Cross-agent artifact handoff</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Three-Layer Runtime Architecture</a:t>
            </a:r>
            <a:endParaRPr lang="en-US" sz="2600" dirty="0"/>
          </a:p>
        </p:txBody>
      </p:sp>
      <p:sp>
        <p:nvSpPr>
          <p:cNvPr id="3" name="Shape 1"/>
          <p:cNvSpPr/>
          <p:nvPr/>
        </p:nvSpPr>
        <p:spPr>
          <a:xfrm>
            <a:off x="1828800" y="1051560"/>
            <a:ext cx="5486400" cy="91440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1828800" y="1051560"/>
            <a:ext cx="5486400" cy="914400"/>
          </a:xfrm>
          <a:prstGeom prst="rect">
            <a:avLst/>
          </a:prstGeom>
          <a:noFill/>
          <a:ln/>
        </p:spPr>
        <p:txBody>
          <a:bodyPr wrap="square" lIns="0" tIns="0" rIns="0" bIns="0" rtlCol="0" anchor="ctr"/>
          <a:lstStyle/>
          <a:p>
            <a:pPr marL="0" indent="0" algn="ctr">
              <a:buNone/>
            </a:pPr>
            <a:endParaRPr lang="en-US" sz="1000" dirty="0"/>
          </a:p>
        </p:txBody>
      </p:sp>
      <p:sp>
        <p:nvSpPr>
          <p:cNvPr id="5" name="Text 3"/>
          <p:cNvSpPr/>
          <p:nvPr/>
        </p:nvSpPr>
        <p:spPr>
          <a:xfrm>
            <a:off x="1965960" y="1124712"/>
            <a:ext cx="5212080" cy="32004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RuntimeService</a:t>
            </a:r>
            <a:endParaRPr lang="en-US" sz="1600" dirty="0"/>
          </a:p>
        </p:txBody>
      </p:sp>
      <p:sp>
        <p:nvSpPr>
          <p:cNvPr id="6" name="Text 4"/>
          <p:cNvSpPr/>
          <p:nvPr/>
        </p:nvSpPr>
        <p:spPr>
          <a:xfrm>
            <a:off x="1965960" y="1417320"/>
            <a:ext cx="3566160" cy="32004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Orchestration entry point. Owns routing, workspace setup, KB readiness.</a:t>
            </a:r>
            <a:endParaRPr lang="en-US" sz="1000" dirty="0"/>
          </a:p>
        </p:txBody>
      </p:sp>
      <p:sp>
        <p:nvSpPr>
          <p:cNvPr id="7" name="Text 5"/>
          <p:cNvSpPr/>
          <p:nvPr/>
        </p:nvSpPr>
        <p:spPr>
          <a:xfrm>
            <a:off x="5532120" y="1417320"/>
            <a:ext cx="1645920" cy="320040"/>
          </a:xfrm>
          <a:prstGeom prst="rect">
            <a:avLst/>
          </a:prstGeom>
          <a:noFill/>
          <a:ln/>
        </p:spPr>
        <p:txBody>
          <a:bodyPr wrap="square" lIns="0" tIns="0" rIns="0" bIns="0" rtlCol="0" anchor="ctr"/>
          <a:lstStyle/>
          <a:p>
            <a:pPr marL="0" indent="0" algn="r">
              <a:buNone/>
            </a:pPr>
            <a:r>
              <a:rPr lang="en-US" sz="900" dirty="0">
                <a:solidFill>
                  <a:srgbClr val="FFFFFF"/>
                </a:solidFill>
                <a:latin typeface="Courier New" pitchFamily="34" charset="0"/>
                <a:ea typeface="Courier New" pitchFamily="34" charset="-122"/>
                <a:cs typeface="Courier New" pitchFamily="34" charset="-120"/>
              </a:rPr>
              <a:t>app/service.py</a:t>
            </a:r>
            <a:endParaRPr lang="en-US" sz="900" dirty="0"/>
          </a:p>
        </p:txBody>
      </p:sp>
      <p:sp>
        <p:nvSpPr>
          <p:cNvPr id="8" name="Shape 6"/>
          <p:cNvSpPr/>
          <p:nvPr/>
        </p:nvSpPr>
        <p:spPr>
          <a:xfrm>
            <a:off x="4572000" y="1965960"/>
            <a:ext cx="0" cy="228600"/>
          </a:xfrm>
          <a:prstGeom prst="line">
            <a:avLst/>
          </a:prstGeom>
          <a:noFill/>
          <a:ln w="25400">
            <a:solidFill>
              <a:srgbClr val="0097A7"/>
            </a:solidFill>
            <a:prstDash val="solid"/>
          </a:ln>
        </p:spPr>
        <p:txBody>
          <a:bodyPr/>
          <a:lstStyle/>
          <a:p>
            <a:endParaRPr lang="en-US"/>
          </a:p>
        </p:txBody>
      </p:sp>
      <p:sp>
        <p:nvSpPr>
          <p:cNvPr id="9" name="Text 7"/>
          <p:cNvSpPr/>
          <p:nvPr/>
        </p:nvSpPr>
        <p:spPr>
          <a:xfrm>
            <a:off x="4480560" y="212140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0" name="Shape 8"/>
          <p:cNvSpPr/>
          <p:nvPr/>
        </p:nvSpPr>
        <p:spPr>
          <a:xfrm>
            <a:off x="1828800" y="2240280"/>
            <a:ext cx="5486400" cy="9144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1" name="Text 9"/>
          <p:cNvSpPr/>
          <p:nvPr/>
        </p:nvSpPr>
        <p:spPr>
          <a:xfrm>
            <a:off x="1828800" y="2240280"/>
            <a:ext cx="5486400" cy="914400"/>
          </a:xfrm>
          <a:prstGeom prst="rect">
            <a:avLst/>
          </a:prstGeom>
          <a:noFill/>
          <a:ln/>
        </p:spPr>
        <p:txBody>
          <a:bodyPr wrap="square" lIns="0" tIns="0" rIns="0" bIns="0" rtlCol="0" anchor="ctr"/>
          <a:lstStyle/>
          <a:p>
            <a:pPr marL="0" indent="0" algn="ctr">
              <a:buNone/>
            </a:pPr>
            <a:endParaRPr lang="en-US" sz="1000" dirty="0"/>
          </a:p>
        </p:txBody>
      </p:sp>
      <p:sp>
        <p:nvSpPr>
          <p:cNvPr id="12" name="Text 10"/>
          <p:cNvSpPr/>
          <p:nvPr/>
        </p:nvSpPr>
        <p:spPr>
          <a:xfrm>
            <a:off x="1965960" y="2313432"/>
            <a:ext cx="5212080" cy="32004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RuntimeKernel</a:t>
            </a:r>
            <a:endParaRPr lang="en-US" sz="1600" dirty="0"/>
          </a:p>
        </p:txBody>
      </p:sp>
      <p:sp>
        <p:nvSpPr>
          <p:cNvPr id="13" name="Text 11"/>
          <p:cNvSpPr/>
          <p:nvPr/>
        </p:nvSpPr>
        <p:spPr>
          <a:xfrm>
            <a:off x="1965960" y="2606040"/>
            <a:ext cx="3566160" cy="32004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Session state, persistence, event emission, job management. Delegates to 3 controller classes.</a:t>
            </a:r>
            <a:endParaRPr lang="en-US" sz="1000" dirty="0"/>
          </a:p>
        </p:txBody>
      </p:sp>
      <p:sp>
        <p:nvSpPr>
          <p:cNvPr id="14" name="Text 12"/>
          <p:cNvSpPr/>
          <p:nvPr/>
        </p:nvSpPr>
        <p:spPr>
          <a:xfrm>
            <a:off x="5532120" y="2606040"/>
            <a:ext cx="1645920" cy="320040"/>
          </a:xfrm>
          <a:prstGeom prst="rect">
            <a:avLst/>
          </a:prstGeom>
          <a:noFill/>
          <a:ln/>
        </p:spPr>
        <p:txBody>
          <a:bodyPr wrap="square" lIns="0" tIns="0" rIns="0" bIns="0" rtlCol="0" anchor="ctr"/>
          <a:lstStyle/>
          <a:p>
            <a:pPr marL="0" indent="0" algn="r">
              <a:buNone/>
            </a:pPr>
            <a:r>
              <a:rPr lang="en-US" sz="900" dirty="0">
                <a:solidFill>
                  <a:srgbClr val="FFFFFF"/>
                </a:solidFill>
                <a:latin typeface="Courier New" pitchFamily="34" charset="0"/>
                <a:ea typeface="Courier New" pitchFamily="34" charset="-122"/>
                <a:cs typeface="Courier New" pitchFamily="34" charset="-120"/>
              </a:rPr>
              <a:t>runtime/kernel.py (~1780 lines)</a:t>
            </a:r>
            <a:endParaRPr lang="en-US" sz="900" dirty="0"/>
          </a:p>
        </p:txBody>
      </p:sp>
      <p:sp>
        <p:nvSpPr>
          <p:cNvPr id="15" name="Shape 13"/>
          <p:cNvSpPr/>
          <p:nvPr/>
        </p:nvSpPr>
        <p:spPr>
          <a:xfrm>
            <a:off x="4572000" y="3154680"/>
            <a:ext cx="0" cy="228600"/>
          </a:xfrm>
          <a:prstGeom prst="line">
            <a:avLst/>
          </a:prstGeom>
          <a:noFill/>
          <a:ln w="25400">
            <a:solidFill>
              <a:srgbClr val="0097A7"/>
            </a:solidFill>
            <a:prstDash val="solid"/>
          </a:ln>
        </p:spPr>
        <p:txBody>
          <a:bodyPr/>
          <a:lstStyle/>
          <a:p>
            <a:endParaRPr lang="en-US"/>
          </a:p>
        </p:txBody>
      </p:sp>
      <p:sp>
        <p:nvSpPr>
          <p:cNvPr id="16" name="Text 14"/>
          <p:cNvSpPr/>
          <p:nvPr/>
        </p:nvSpPr>
        <p:spPr>
          <a:xfrm>
            <a:off x="4480560" y="331012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7" name="Shape 15"/>
          <p:cNvSpPr/>
          <p:nvPr/>
        </p:nvSpPr>
        <p:spPr>
          <a:xfrm>
            <a:off x="1828800" y="3429000"/>
            <a:ext cx="5486400" cy="91440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1828800" y="3429000"/>
            <a:ext cx="5486400" cy="914400"/>
          </a:xfrm>
          <a:prstGeom prst="rect">
            <a:avLst/>
          </a:prstGeom>
          <a:noFill/>
          <a:ln/>
        </p:spPr>
        <p:txBody>
          <a:bodyPr wrap="square" lIns="0" tIns="0" rIns="0" bIns="0" rtlCol="0" anchor="ctr"/>
          <a:lstStyle/>
          <a:p>
            <a:pPr marL="0" indent="0" algn="ctr">
              <a:buNone/>
            </a:pPr>
            <a:endParaRPr lang="en-US" sz="1000" dirty="0"/>
          </a:p>
        </p:txBody>
      </p:sp>
      <p:sp>
        <p:nvSpPr>
          <p:cNvPr id="19" name="Text 17"/>
          <p:cNvSpPr/>
          <p:nvPr/>
        </p:nvSpPr>
        <p:spPr>
          <a:xfrm>
            <a:off x="1965960" y="3502152"/>
            <a:ext cx="5212080" cy="32004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QueryLoop</a:t>
            </a:r>
            <a:endParaRPr lang="en-US" sz="1600" dirty="0"/>
          </a:p>
        </p:txBody>
      </p:sp>
      <p:sp>
        <p:nvSpPr>
          <p:cNvPr id="20" name="Text 18"/>
          <p:cNvSpPr/>
          <p:nvPr/>
        </p:nvSpPr>
        <p:spPr>
          <a:xfrm>
            <a:off x="1965960" y="3794760"/>
            <a:ext cx="3566160" cy="32004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Mode dispatcher. Runs LLM calls in the correct mode.</a:t>
            </a:r>
            <a:endParaRPr lang="en-US" sz="1000" dirty="0"/>
          </a:p>
        </p:txBody>
      </p:sp>
      <p:sp>
        <p:nvSpPr>
          <p:cNvPr id="21" name="Text 19"/>
          <p:cNvSpPr/>
          <p:nvPr/>
        </p:nvSpPr>
        <p:spPr>
          <a:xfrm>
            <a:off x="5532120" y="3794760"/>
            <a:ext cx="1645920" cy="320040"/>
          </a:xfrm>
          <a:prstGeom prst="rect">
            <a:avLst/>
          </a:prstGeom>
          <a:noFill/>
          <a:ln/>
        </p:spPr>
        <p:txBody>
          <a:bodyPr wrap="square" lIns="0" tIns="0" rIns="0" bIns="0" rtlCol="0" anchor="ctr"/>
          <a:lstStyle/>
          <a:p>
            <a:pPr marL="0" indent="0" algn="r">
              <a:buNone/>
            </a:pPr>
            <a:r>
              <a:rPr lang="en-US" sz="900" dirty="0">
                <a:solidFill>
                  <a:srgbClr val="FFFFFF"/>
                </a:solidFill>
                <a:latin typeface="Courier New" pitchFamily="34" charset="0"/>
                <a:ea typeface="Courier New" pitchFamily="34" charset="-122"/>
                <a:cs typeface="Courier New" pitchFamily="34" charset="-120"/>
              </a:rPr>
              <a:t>runtime/query_loop.py</a:t>
            </a:r>
            <a:endParaRPr lang="en-US" sz="900" dirty="0"/>
          </a:p>
        </p:txBody>
      </p:sp>
      <p:sp>
        <p:nvSpPr>
          <p:cNvPr id="22" name="Shape 20"/>
          <p:cNvSpPr/>
          <p:nvPr/>
        </p:nvSpPr>
        <p:spPr>
          <a:xfrm>
            <a:off x="502920" y="4572000"/>
            <a:ext cx="8138160" cy="457200"/>
          </a:xfrm>
          <a:prstGeom prst="rect">
            <a:avLst/>
          </a:prstGeom>
          <a:solidFill>
            <a:srgbClr val="E0F7FA"/>
          </a:solidFill>
          <a:ln w="12700">
            <a:solidFill>
              <a:srgbClr val="0097A7"/>
            </a:solidFill>
            <a:prstDash val="solid"/>
          </a:ln>
        </p:spPr>
        <p:txBody>
          <a:bodyPr/>
          <a:lstStyle/>
          <a:p>
            <a:endParaRPr lang="en-US"/>
          </a:p>
        </p:txBody>
      </p:sp>
      <p:sp>
        <p:nvSpPr>
          <p:cNvPr id="23" name="Text 21"/>
          <p:cNvSpPr/>
          <p:nvPr/>
        </p:nvSpPr>
        <p:spPr>
          <a:xfrm>
            <a:off x="594360" y="4572000"/>
            <a:ext cx="7955280" cy="45720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Service = receptionist (what does the user need?)   |   Kernel = operations manager (setup, track, persist)   |   QueryLoop = specialist (do the work)</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Layer 1: RuntimeService — The Orchestrator</a:t>
            </a:r>
            <a:endParaRPr lang="en-US" sz="2600" dirty="0"/>
          </a:p>
        </p:txBody>
      </p:sp>
      <p:sp>
        <p:nvSpPr>
          <p:cNvPr id="3" name="Text 1"/>
          <p:cNvSpPr/>
          <p:nvPr/>
        </p:nvSpPr>
        <p:spPr>
          <a:xfrm>
            <a:off x="502920" y="1005840"/>
            <a:ext cx="3840480" cy="2377440"/>
          </a:xfrm>
          <a:prstGeom prst="rect">
            <a:avLst/>
          </a:prstGeom>
          <a:noFill/>
          <a:ln/>
        </p:spPr>
        <p:txBody>
          <a:bodyPr wrap="square" lIns="0" tIns="0" rIns="0" bIns="0" rtlCol="0" anchor="t"/>
          <a:lstStyle/>
          <a:p>
            <a:pPr marL="0" indent="0">
              <a:lnSpc>
                <a:spcPct val="135000"/>
              </a:lnSpc>
              <a:buNone/>
            </a:pPr>
            <a:r>
              <a:rPr lang="en-US" sz="1000" dirty="0">
                <a:solidFill>
                  <a:srgbClr val="333333"/>
                </a:solidFill>
                <a:latin typeface="Arial" pitchFamily="34" charset="0"/>
                <a:ea typeface="Arial" pitchFamily="34" charset="-122"/>
                <a:cs typeface="Arial" pitchFamily="34" charset="-120"/>
              </a:rPr>
              <a:t>1. Opens/ensures SessionWorkspace for each session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2. Checks KB readiness via ensure_kb_indexed()</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3. Ingests uploaded files via ingest_and_summarize_uploads()</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4. Calls router -&gt; gets RouterDecision(route, confidence, reasons, suggested_agent)</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5. If BASIC -&gt; delegates to kernel.process_basic_turn()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6. If AGENT -&gt; choose_agent_name() -&gt; kernel.process_agent_turn()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7. Handles requested_agent_override for manual agent selection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8. Circuit breaker: degrades to basic mode if agent LLM fails</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9. Registers/unregisters progress sinks in try/finally</a:t>
            </a:r>
            <a:endParaRPr lang="en-US" sz="1000" dirty="0"/>
          </a:p>
        </p:txBody>
      </p:sp>
      <p:sp>
        <p:nvSpPr>
          <p:cNvPr id="4" name="Shape 2"/>
          <p:cNvSpPr/>
          <p:nvPr/>
        </p:nvSpPr>
        <p:spPr>
          <a:xfrm>
            <a:off x="4572000" y="1005840"/>
            <a:ext cx="4114800" cy="2377440"/>
          </a:xfrm>
          <a:prstGeom prst="rect">
            <a:avLst/>
          </a:prstGeom>
          <a:solidFill>
            <a:srgbClr val="2D2D2D"/>
          </a:solidFill>
          <a:ln/>
        </p:spPr>
        <p:txBody>
          <a:bodyPr/>
          <a:lstStyle/>
          <a:p>
            <a:endParaRPr lang="en-US"/>
          </a:p>
        </p:txBody>
      </p:sp>
      <p:sp>
        <p:nvSpPr>
          <p:cNvPr id="5" name="Text 3"/>
          <p:cNvSpPr/>
          <p:nvPr/>
        </p:nvSpPr>
        <p:spPr>
          <a:xfrm>
            <a:off x="4681728" y="1060704"/>
            <a:ext cx="3895344" cy="226771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def process_turn(session, user_text,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upload_paths,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self._ensure_workspace(session)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self._ensure_kb_ready(tenant_id)</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if upload_paths: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self.ingest_and_summarize_uploads(...)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decision = route_turn(...)  # Router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if decision.route == "BASIC":</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return kernel.process_basic_turn(...)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agent = choose_agent_name(decision)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return kernel.process_agent_turn(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agent_name=agent, ...)</a:t>
            </a:r>
            <a:endParaRPr lang="en-US" sz="900" dirty="0"/>
          </a:p>
        </p:txBody>
      </p:sp>
      <p:sp>
        <p:nvSpPr>
          <p:cNvPr id="6" name="Text 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app/service.py — process_turn() at line ~298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The Router — How the System Decides What to Do</a:t>
            </a:r>
            <a:endParaRPr lang="en-US" sz="2600" dirty="0"/>
          </a:p>
        </p:txBody>
      </p:sp>
      <p:sp>
        <p:nvSpPr>
          <p:cNvPr id="3" name="Shape 1"/>
          <p:cNvSpPr/>
          <p:nvPr/>
        </p:nvSpPr>
        <p:spPr>
          <a:xfrm>
            <a:off x="502920" y="1005840"/>
            <a:ext cx="3840480" cy="16459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502920" y="1005840"/>
            <a:ext cx="3840480" cy="320040"/>
          </a:xfrm>
          <a:prstGeom prst="rect">
            <a:avLst/>
          </a:prstGeom>
          <a:solidFill>
            <a:srgbClr val="0097A7"/>
          </a:solidFill>
          <a:ln/>
        </p:spPr>
        <p:txBody>
          <a:bodyPr/>
          <a:lstStyle/>
          <a:p>
            <a:endParaRPr lang="en-US"/>
          </a:p>
        </p:txBody>
      </p:sp>
      <p:sp>
        <p:nvSpPr>
          <p:cNvPr id="5" name="Text 3"/>
          <p:cNvSpPr/>
          <p:nvPr/>
        </p:nvSpPr>
        <p:spPr>
          <a:xfrm>
            <a:off x="612648" y="1033272"/>
            <a:ext cx="362102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Phase 1: Deterministic Router</a:t>
            </a:r>
            <a:endParaRPr lang="en-US" sz="1200" dirty="0"/>
          </a:p>
        </p:txBody>
      </p:sp>
      <p:sp>
        <p:nvSpPr>
          <p:cNvPr id="6" name="Text 4"/>
          <p:cNvSpPr/>
          <p:nvPr/>
        </p:nvSpPr>
        <p:spPr>
          <a:xfrm>
            <a:off x="612648" y="1389888"/>
            <a:ext cx="3621024" cy="11704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Regex pattern matching on user text.
Fast, predictable, zero LLM cost.
Always runs first.
</a:t>
            </a:r>
            <a:endParaRPr lang="en-US" sz="1000" dirty="0"/>
          </a:p>
          <a:p>
            <a:pPr marL="0" indent="0">
              <a:lnSpc>
                <a:spcPct val="110000"/>
              </a:lnSpc>
              <a:buNone/>
            </a:pPr>
            <a:r>
              <a:rPr lang="en-US" sz="900" dirty="0">
                <a:solidFill>
                  <a:srgbClr val="333333"/>
                </a:solidFill>
                <a:latin typeface="Courier New" pitchFamily="34" charset="0"/>
                <a:ea typeface="Courier New" pitchFamily="34" charset="-122"/>
                <a:cs typeface="Courier New" pitchFamily="34" charset="-120"/>
              </a:rPr>
              <a:t>File: router/router.py</a:t>
            </a:r>
            <a:endParaRPr lang="en-US" sz="1000" dirty="0"/>
          </a:p>
        </p:txBody>
      </p:sp>
      <p:sp>
        <p:nvSpPr>
          <p:cNvPr id="7" name="Shape 5"/>
          <p:cNvSpPr/>
          <p:nvPr/>
        </p:nvSpPr>
        <p:spPr>
          <a:xfrm>
            <a:off x="4114800" y="1554480"/>
            <a:ext cx="914400" cy="457200"/>
          </a:xfrm>
          <a:prstGeom prst="rect">
            <a:avLst/>
          </a:prstGeom>
          <a:solidFill>
            <a:srgbClr val="F9A825"/>
          </a:solidFill>
          <a:ln/>
        </p:spPr>
        <p:txBody>
          <a:bodyPr/>
          <a:lstStyle/>
          <a:p>
            <a:endParaRPr lang="en-US"/>
          </a:p>
        </p:txBody>
      </p:sp>
      <p:sp>
        <p:nvSpPr>
          <p:cNvPr id="8" name="Text 6"/>
          <p:cNvSpPr/>
          <p:nvPr/>
        </p:nvSpPr>
        <p:spPr>
          <a:xfrm>
            <a:off x="4114800" y="1554480"/>
            <a:ext cx="914400" cy="457200"/>
          </a:xfrm>
          <a:prstGeom prst="rect">
            <a:avLst/>
          </a:prstGeom>
          <a:noFill/>
          <a:ln/>
        </p:spPr>
        <p:txBody>
          <a:bodyPr wrap="square" lIns="0" tIns="0" rIns="0" bIns="0" rtlCol="0" anchor="ctr"/>
          <a:lstStyle/>
          <a:p>
            <a:pPr marL="0" indent="0" algn="ctr">
              <a:buNone/>
            </a:pPr>
            <a:r>
              <a:rPr lang="en-US" sz="1000" b="1" dirty="0">
                <a:solidFill>
                  <a:srgbClr val="1B2A4A"/>
                </a:solidFill>
                <a:latin typeface="Arial" pitchFamily="34" charset="0"/>
                <a:ea typeface="Arial" pitchFamily="34" charset="-122"/>
                <a:cs typeface="Arial" pitchFamily="34" charset="-120"/>
              </a:rPr>
              <a:t>&lt; 0.70?</a:t>
            </a:r>
            <a:endParaRPr lang="en-US" sz="1000" dirty="0"/>
          </a:p>
        </p:txBody>
      </p:sp>
      <p:sp>
        <p:nvSpPr>
          <p:cNvPr id="9" name="Shape 7"/>
          <p:cNvSpPr/>
          <p:nvPr/>
        </p:nvSpPr>
        <p:spPr>
          <a:xfrm>
            <a:off x="3977640" y="1783080"/>
            <a:ext cx="137160" cy="0"/>
          </a:xfrm>
          <a:prstGeom prst="line">
            <a:avLst/>
          </a:prstGeom>
          <a:noFill/>
          <a:ln w="25400">
            <a:solidFill>
              <a:srgbClr val="0097A7"/>
            </a:solidFill>
            <a:prstDash val="solid"/>
          </a:ln>
        </p:spPr>
        <p:txBody>
          <a:bodyPr/>
          <a:lstStyle/>
          <a:p>
            <a:endParaRPr lang="en-US"/>
          </a:p>
        </p:txBody>
      </p:sp>
      <p:sp>
        <p:nvSpPr>
          <p:cNvPr id="10" name="Text 8"/>
          <p:cNvSpPr/>
          <p:nvPr/>
        </p:nvSpPr>
        <p:spPr>
          <a:xfrm>
            <a:off x="4005072" y="167335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5029200" y="1783080"/>
            <a:ext cx="137160" cy="0"/>
          </a:xfrm>
          <a:prstGeom prst="line">
            <a:avLst/>
          </a:prstGeom>
          <a:noFill/>
          <a:ln w="25400">
            <a:solidFill>
              <a:srgbClr val="0097A7"/>
            </a:solidFill>
            <a:prstDash val="solid"/>
          </a:ln>
        </p:spPr>
        <p:txBody>
          <a:bodyPr/>
          <a:lstStyle/>
          <a:p>
            <a:endParaRPr lang="en-US"/>
          </a:p>
        </p:txBody>
      </p:sp>
      <p:sp>
        <p:nvSpPr>
          <p:cNvPr id="12" name="Text 10"/>
          <p:cNvSpPr/>
          <p:nvPr/>
        </p:nvSpPr>
        <p:spPr>
          <a:xfrm>
            <a:off x="5056632" y="167335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3" name="Shape 11"/>
          <p:cNvSpPr/>
          <p:nvPr/>
        </p:nvSpPr>
        <p:spPr>
          <a:xfrm>
            <a:off x="5212080" y="1005840"/>
            <a:ext cx="3474720" cy="16459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4" name="Shape 12"/>
          <p:cNvSpPr/>
          <p:nvPr/>
        </p:nvSpPr>
        <p:spPr>
          <a:xfrm>
            <a:off x="5212080" y="1005840"/>
            <a:ext cx="3474720" cy="320040"/>
          </a:xfrm>
          <a:prstGeom prst="rect">
            <a:avLst/>
          </a:prstGeom>
          <a:solidFill>
            <a:srgbClr val="1B2A4A"/>
          </a:solidFill>
          <a:ln/>
        </p:spPr>
        <p:txBody>
          <a:bodyPr/>
          <a:lstStyle/>
          <a:p>
            <a:endParaRPr lang="en-US"/>
          </a:p>
        </p:txBody>
      </p:sp>
      <p:sp>
        <p:nvSpPr>
          <p:cNvPr id="15" name="Text 13"/>
          <p:cNvSpPr/>
          <p:nvPr/>
        </p:nvSpPr>
        <p:spPr>
          <a:xfrm>
            <a:off x="5321808" y="1033272"/>
            <a:ext cx="32552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Phase 2: LLM Judge (Conditional)</a:t>
            </a:r>
            <a:endParaRPr lang="en-US" sz="1200" dirty="0"/>
          </a:p>
        </p:txBody>
      </p:sp>
      <p:sp>
        <p:nvSpPr>
          <p:cNvPr id="16" name="Text 14"/>
          <p:cNvSpPr/>
          <p:nvPr/>
        </p:nvSpPr>
        <p:spPr>
          <a:xfrm>
            <a:off x="5321808" y="1389888"/>
            <a:ext cx="3255264" cy="11704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Only fires when deterministic confidence &lt; 0.70.
Uses small fast LLM to re-evaluate.
Sees full agent list.
</a:t>
            </a:r>
            <a:endParaRPr lang="en-US" sz="1000" dirty="0"/>
          </a:p>
          <a:p>
            <a:pPr marL="0" indent="0">
              <a:lnSpc>
                <a:spcPct val="110000"/>
              </a:lnSpc>
              <a:buNone/>
            </a:pPr>
            <a:r>
              <a:rPr lang="en-US" sz="900" dirty="0">
                <a:solidFill>
                  <a:srgbClr val="333333"/>
                </a:solidFill>
                <a:latin typeface="Courier New" pitchFamily="34" charset="0"/>
                <a:ea typeface="Courier New" pitchFamily="34" charset="-122"/>
                <a:cs typeface="Courier New" pitchFamily="34" charset="-120"/>
              </a:rPr>
              <a:t>File: router/llm_router.py</a:t>
            </a:r>
            <a:endParaRPr lang="en-US" sz="1000" dirty="0"/>
          </a:p>
        </p:txBody>
      </p:sp>
      <p:sp>
        <p:nvSpPr>
          <p:cNvPr id="17" name="Shape 15"/>
          <p:cNvSpPr/>
          <p:nvPr/>
        </p:nvSpPr>
        <p:spPr>
          <a:xfrm>
            <a:off x="502920" y="2926080"/>
            <a:ext cx="8138160" cy="502920"/>
          </a:xfrm>
          <a:prstGeom prst="rect">
            <a:avLst/>
          </a:prstGeom>
          <a:solidFill>
            <a:srgbClr val="F5F5F5"/>
          </a:solidFill>
          <a:ln w="12700">
            <a:solidFill>
              <a:srgbClr val="0097A7"/>
            </a:solidFill>
            <a:prstDash val="solid"/>
          </a:ln>
        </p:spPr>
        <p:txBody>
          <a:bodyPr/>
          <a:lstStyle/>
          <a:p>
            <a:endParaRPr lang="en-US"/>
          </a:p>
        </p:txBody>
      </p:sp>
      <p:sp>
        <p:nvSpPr>
          <p:cNvPr id="18" name="Text 16"/>
          <p:cNvSpPr/>
          <p:nvPr/>
        </p:nvSpPr>
        <p:spPr>
          <a:xfrm>
            <a:off x="640080" y="2926080"/>
            <a:ext cx="7863840" cy="502920"/>
          </a:xfrm>
          <a:prstGeom prst="rect">
            <a:avLst/>
          </a:prstGeom>
          <a:noFill/>
          <a:ln/>
        </p:spPr>
        <p:txBody>
          <a:bodyPr wrap="square" lIns="0" tIns="0" rIns="0" bIns="0" rtlCol="0" anchor="ctr"/>
          <a:lstStyle/>
          <a:p>
            <a:pPr marL="0" indent="0">
              <a:buNone/>
            </a:pPr>
            <a:r>
              <a:rPr lang="en-US" sz="1100" b="1" dirty="0">
                <a:solidFill>
                  <a:srgbClr val="1B2A4A"/>
                </a:solidFill>
                <a:latin typeface="Arial" pitchFamily="34" charset="0"/>
                <a:ea typeface="Arial" pitchFamily="34" charset="-122"/>
                <a:cs typeface="Arial" pitchFamily="34" charset="-120"/>
              </a:rPr>
              <a:t>Output: </a:t>
            </a:r>
            <a:r>
              <a:rPr lang="en-US" sz="1000" dirty="0">
                <a:solidFill>
                  <a:srgbClr val="1B2A4A"/>
                </a:solidFill>
                <a:latin typeface="Courier New" pitchFamily="34" charset="0"/>
                <a:ea typeface="Courier New" pitchFamily="34" charset="-122"/>
                <a:cs typeface="Courier New" pitchFamily="34" charset="-120"/>
              </a:rPr>
              <a:t>RouterDecision(route="BASIC"|"AGENT", confidence=0.0-1.0, reasons=[...], suggested_agent="...")</a:t>
            </a:r>
            <a:endParaRPr lang="en-US" sz="1100" dirty="0"/>
          </a:p>
        </p:txBody>
      </p:sp>
      <p:sp>
        <p:nvSpPr>
          <p:cNvPr id="19" name="Shape 17"/>
          <p:cNvSpPr/>
          <p:nvPr/>
        </p:nvSpPr>
        <p:spPr>
          <a:xfrm>
            <a:off x="502920" y="3657600"/>
            <a:ext cx="8138160" cy="365760"/>
          </a:xfrm>
          <a:prstGeom prst="rect">
            <a:avLst/>
          </a:prstGeom>
          <a:solidFill>
            <a:srgbClr val="E0F7FA"/>
          </a:solidFill>
          <a:ln w="12700">
            <a:solidFill>
              <a:srgbClr val="0097A7"/>
            </a:solidFill>
            <a:prstDash val="solid"/>
          </a:ln>
        </p:spPr>
        <p:txBody>
          <a:bodyPr/>
          <a:lstStyle/>
          <a:p>
            <a:endParaRPr lang="en-US"/>
          </a:p>
        </p:txBody>
      </p:sp>
      <p:sp>
        <p:nvSpPr>
          <p:cNvPr id="20" name="Text 18"/>
          <p:cNvSpPr/>
          <p:nvPr/>
        </p:nvSpPr>
        <p:spPr>
          <a:xfrm>
            <a:off x="594360" y="365760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Three modes via llm_router_mode: 'hybrid' (default), 'llm_only', or disabled. build_router_targets() dynamically discovers agents from registry.</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All 11 Agent Roles at a Glance</a:t>
            </a:r>
            <a:endParaRPr lang="en-US" sz="2600" dirty="0"/>
          </a:p>
        </p:txBody>
      </p:sp>
      <p:sp>
        <p:nvSpPr>
          <p:cNvPr id="3" name="Shape 1"/>
          <p:cNvSpPr/>
          <p:nvPr/>
        </p:nvSpPr>
        <p:spPr>
          <a:xfrm>
            <a:off x="594360" y="91440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658368" y="95097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basic</a:t>
            </a:r>
            <a:endParaRPr lang="en-US" sz="1000" dirty="0"/>
          </a:p>
        </p:txBody>
      </p:sp>
      <p:sp>
        <p:nvSpPr>
          <p:cNvPr id="5" name="Text 3"/>
          <p:cNvSpPr/>
          <p:nvPr/>
        </p:nvSpPr>
        <p:spPr>
          <a:xfrm>
            <a:off x="65836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mode:basic</a:t>
            </a:r>
            <a:endParaRPr lang="en-US" sz="750" dirty="0"/>
          </a:p>
        </p:txBody>
      </p:sp>
      <p:sp>
        <p:nvSpPr>
          <p:cNvPr id="6" name="Text 4"/>
          <p:cNvSpPr/>
          <p:nvPr/>
        </p:nvSpPr>
        <p:spPr>
          <a:xfrm>
            <a:off x="65836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7" name="Text 5"/>
          <p:cNvSpPr/>
          <p:nvPr/>
        </p:nvSpPr>
        <p:spPr>
          <a:xfrm>
            <a:off x="65836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Direct LLM, no tools</a:t>
            </a:r>
            <a:endParaRPr lang="en-US" sz="850" dirty="0"/>
          </a:p>
        </p:txBody>
      </p:sp>
      <p:sp>
        <p:nvSpPr>
          <p:cNvPr id="8" name="Text 6"/>
          <p:cNvSpPr/>
          <p:nvPr/>
        </p:nvSpPr>
        <p:spPr>
          <a:xfrm>
            <a:off x="65836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a:t>
            </a:r>
            <a:endParaRPr lang="en-US" sz="700" dirty="0"/>
          </a:p>
        </p:txBody>
      </p:sp>
      <p:sp>
        <p:nvSpPr>
          <p:cNvPr id="9" name="Shape 7"/>
          <p:cNvSpPr/>
          <p:nvPr/>
        </p:nvSpPr>
        <p:spPr>
          <a:xfrm>
            <a:off x="2606040" y="91440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10" name="Text 8"/>
          <p:cNvSpPr/>
          <p:nvPr/>
        </p:nvSpPr>
        <p:spPr>
          <a:xfrm>
            <a:off x="2670048" y="95097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general</a:t>
            </a:r>
            <a:endParaRPr lang="en-US" sz="1000" dirty="0"/>
          </a:p>
        </p:txBody>
      </p:sp>
      <p:sp>
        <p:nvSpPr>
          <p:cNvPr id="11" name="Text 9"/>
          <p:cNvSpPr/>
          <p:nvPr/>
        </p:nvSpPr>
        <p:spPr>
          <a:xfrm>
            <a:off x="267004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12" name="Text 10"/>
          <p:cNvSpPr/>
          <p:nvPr/>
        </p:nvSpPr>
        <p:spPr>
          <a:xfrm>
            <a:off x="267004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33 tools</a:t>
            </a:r>
            <a:endParaRPr lang="en-US" sz="750" dirty="0"/>
          </a:p>
        </p:txBody>
      </p:sp>
      <p:sp>
        <p:nvSpPr>
          <p:cNvPr id="13" name="Text 11"/>
          <p:cNvSpPr/>
          <p:nvPr/>
        </p:nvSpPr>
        <p:spPr>
          <a:xfrm>
            <a:off x="267004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Swiss army knife + graph</a:t>
            </a:r>
            <a:endParaRPr lang="en-US" sz="850" dirty="0"/>
          </a:p>
        </p:txBody>
      </p:sp>
      <p:sp>
        <p:nvSpPr>
          <p:cNvPr id="14" name="Text 12"/>
          <p:cNvSpPr/>
          <p:nvPr/>
        </p:nvSpPr>
        <p:spPr>
          <a:xfrm>
            <a:off x="267004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a:t>
            </a:r>
            <a:endParaRPr lang="en-US" sz="700" dirty="0"/>
          </a:p>
        </p:txBody>
      </p:sp>
      <p:sp>
        <p:nvSpPr>
          <p:cNvPr id="15" name="Shape 13"/>
          <p:cNvSpPr/>
          <p:nvPr/>
        </p:nvSpPr>
        <p:spPr>
          <a:xfrm>
            <a:off x="4617720" y="914400"/>
            <a:ext cx="1920240" cy="914400"/>
          </a:xfrm>
          <a:prstGeom prst="rect">
            <a:avLst/>
          </a:prstGeom>
          <a:solidFill>
            <a:srgbClr val="FFFFFF"/>
          </a:solidFill>
          <a:ln w="19050">
            <a:solidFill>
              <a:srgbClr val="1B2A4A"/>
            </a:solidFill>
            <a:prstDash val="solid"/>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4681728" y="950976"/>
            <a:ext cx="1792224" cy="201168"/>
          </a:xfrm>
          <a:prstGeom prst="rect">
            <a:avLst/>
          </a:prstGeom>
          <a:noFill/>
          <a:ln/>
        </p:spPr>
        <p:txBody>
          <a:bodyPr wrap="square" lIns="0" tIns="0" rIns="0" bIns="0" rtlCol="0" anchor="ctr"/>
          <a:lstStyle/>
          <a:p>
            <a:pPr marL="0" indent="0">
              <a:buNone/>
            </a:pPr>
            <a:r>
              <a:rPr lang="en-US" sz="1000" b="1" dirty="0">
                <a:solidFill>
                  <a:srgbClr val="1B2A4A"/>
                </a:solidFill>
                <a:latin typeface="Courier New" pitchFamily="34" charset="0"/>
                <a:ea typeface="Courier New" pitchFamily="34" charset="-122"/>
                <a:cs typeface="Courier New" pitchFamily="34" charset="-120"/>
              </a:rPr>
              <a:t>coordinator</a:t>
            </a:r>
            <a:endParaRPr lang="en-US" sz="1000" dirty="0"/>
          </a:p>
        </p:txBody>
      </p:sp>
      <p:sp>
        <p:nvSpPr>
          <p:cNvPr id="17" name="Text 15"/>
          <p:cNvSpPr/>
          <p:nvPr/>
        </p:nvSpPr>
        <p:spPr>
          <a:xfrm>
            <a:off x="468172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mode:coordinator</a:t>
            </a:r>
            <a:endParaRPr lang="en-US" sz="750" dirty="0"/>
          </a:p>
        </p:txBody>
      </p:sp>
      <p:sp>
        <p:nvSpPr>
          <p:cNvPr id="18" name="Text 16"/>
          <p:cNvSpPr/>
          <p:nvPr/>
        </p:nvSpPr>
        <p:spPr>
          <a:xfrm>
            <a:off x="468172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11 tools</a:t>
            </a:r>
            <a:endParaRPr lang="en-US" sz="750" dirty="0"/>
          </a:p>
        </p:txBody>
      </p:sp>
      <p:sp>
        <p:nvSpPr>
          <p:cNvPr id="19" name="Text 17"/>
          <p:cNvSpPr/>
          <p:nvPr/>
        </p:nvSpPr>
        <p:spPr>
          <a:xfrm>
            <a:off x="468172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Project manager</a:t>
            </a:r>
            <a:endParaRPr lang="en-US" sz="850" dirty="0"/>
          </a:p>
        </p:txBody>
      </p:sp>
      <p:sp>
        <p:nvSpPr>
          <p:cNvPr id="20" name="Text 18"/>
          <p:cNvSpPr/>
          <p:nvPr/>
        </p:nvSpPr>
        <p:spPr>
          <a:xfrm>
            <a:off x="468172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manager</a:t>
            </a:r>
            <a:endParaRPr lang="en-US" sz="700" dirty="0"/>
          </a:p>
        </p:txBody>
      </p:sp>
      <p:sp>
        <p:nvSpPr>
          <p:cNvPr id="21" name="Shape 19"/>
          <p:cNvSpPr/>
          <p:nvPr/>
        </p:nvSpPr>
        <p:spPr>
          <a:xfrm>
            <a:off x="6629400" y="91440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6693408" y="95097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data_analyst</a:t>
            </a:r>
            <a:endParaRPr lang="en-US" sz="1000" dirty="0"/>
          </a:p>
        </p:txBody>
      </p:sp>
      <p:sp>
        <p:nvSpPr>
          <p:cNvPr id="23" name="Text 21"/>
          <p:cNvSpPr/>
          <p:nvPr/>
        </p:nvSpPr>
        <p:spPr>
          <a:xfrm>
            <a:off x="669340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24" name="Text 22"/>
          <p:cNvSpPr/>
          <p:nvPr/>
        </p:nvSpPr>
        <p:spPr>
          <a:xfrm>
            <a:off x="669340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20 tools</a:t>
            </a:r>
            <a:endParaRPr lang="en-US" sz="750" dirty="0"/>
          </a:p>
        </p:txBody>
      </p:sp>
      <p:sp>
        <p:nvSpPr>
          <p:cNvPr id="25" name="Text 23"/>
          <p:cNvSpPr/>
          <p:nvPr/>
        </p:nvSpPr>
        <p:spPr>
          <a:xfrm>
            <a:off x="669340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Sandbox specialist</a:t>
            </a:r>
            <a:endParaRPr lang="en-US" sz="850" dirty="0"/>
          </a:p>
        </p:txBody>
      </p:sp>
      <p:sp>
        <p:nvSpPr>
          <p:cNvPr id="26" name="Text 24"/>
          <p:cNvSpPr/>
          <p:nvPr/>
        </p:nvSpPr>
        <p:spPr>
          <a:xfrm>
            <a:off x="669340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top_level_or_worker</a:t>
            </a:r>
            <a:endParaRPr lang="en-US" sz="700" dirty="0"/>
          </a:p>
        </p:txBody>
      </p:sp>
      <p:sp>
        <p:nvSpPr>
          <p:cNvPr id="27" name="Shape 25"/>
          <p:cNvSpPr/>
          <p:nvPr/>
        </p:nvSpPr>
        <p:spPr>
          <a:xfrm>
            <a:off x="594360" y="192024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28" name="Text 26"/>
          <p:cNvSpPr/>
          <p:nvPr/>
        </p:nvSpPr>
        <p:spPr>
          <a:xfrm>
            <a:off x="658368" y="195681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rag_worker</a:t>
            </a:r>
            <a:endParaRPr lang="en-US" sz="1000" dirty="0"/>
          </a:p>
        </p:txBody>
      </p:sp>
      <p:sp>
        <p:nvSpPr>
          <p:cNvPr id="29" name="Text 27"/>
          <p:cNvSpPr/>
          <p:nvPr/>
        </p:nvSpPr>
        <p:spPr>
          <a:xfrm>
            <a:off x="65836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mode:rag</a:t>
            </a:r>
            <a:endParaRPr lang="en-US" sz="750" dirty="0"/>
          </a:p>
        </p:txBody>
      </p:sp>
      <p:sp>
        <p:nvSpPr>
          <p:cNvPr id="30" name="Text 28"/>
          <p:cNvSpPr/>
          <p:nvPr/>
        </p:nvSpPr>
        <p:spPr>
          <a:xfrm>
            <a:off x="65836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31" name="Text 29"/>
          <p:cNvSpPr/>
          <p:nvPr/>
        </p:nvSpPr>
        <p:spPr>
          <a:xfrm>
            <a:off x="65836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Evidence machine</a:t>
            </a:r>
            <a:endParaRPr lang="en-US" sz="850" dirty="0"/>
          </a:p>
        </p:txBody>
      </p:sp>
      <p:sp>
        <p:nvSpPr>
          <p:cNvPr id="32" name="Text 30"/>
          <p:cNvSpPr/>
          <p:nvPr/>
        </p:nvSpPr>
        <p:spPr>
          <a:xfrm>
            <a:off x="65836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top_level_or_worker</a:t>
            </a:r>
            <a:endParaRPr lang="en-US" sz="700" dirty="0"/>
          </a:p>
        </p:txBody>
      </p:sp>
      <p:sp>
        <p:nvSpPr>
          <p:cNvPr id="33" name="Shape 31"/>
          <p:cNvSpPr/>
          <p:nvPr/>
        </p:nvSpPr>
        <p:spPr>
          <a:xfrm>
            <a:off x="2606040" y="1920240"/>
            <a:ext cx="1920240" cy="914400"/>
          </a:xfrm>
          <a:prstGeom prst="rect">
            <a:avLst/>
          </a:prstGeom>
          <a:solidFill>
            <a:srgbClr val="FFFFFF"/>
          </a:solidFill>
          <a:ln w="19050">
            <a:solidFill>
              <a:srgbClr val="1B2A4A"/>
            </a:solidFill>
            <a:prstDash val="solid"/>
          </a:ln>
          <a:effectLst>
            <a:outerShdw blurRad="50800" dist="25400" dir="8100000" algn="bl" rotWithShape="0">
              <a:srgbClr val="000000">
                <a:alpha val="12000"/>
              </a:srgbClr>
            </a:outerShdw>
          </a:effectLst>
        </p:spPr>
        <p:txBody>
          <a:bodyPr/>
          <a:lstStyle/>
          <a:p>
            <a:endParaRPr lang="en-US"/>
          </a:p>
        </p:txBody>
      </p:sp>
      <p:sp>
        <p:nvSpPr>
          <p:cNvPr id="34" name="Text 32"/>
          <p:cNvSpPr/>
          <p:nvPr/>
        </p:nvSpPr>
        <p:spPr>
          <a:xfrm>
            <a:off x="2670048" y="1956816"/>
            <a:ext cx="1792224" cy="201168"/>
          </a:xfrm>
          <a:prstGeom prst="rect">
            <a:avLst/>
          </a:prstGeom>
          <a:noFill/>
          <a:ln/>
        </p:spPr>
        <p:txBody>
          <a:bodyPr wrap="square" lIns="0" tIns="0" rIns="0" bIns="0" rtlCol="0" anchor="ctr"/>
          <a:lstStyle/>
          <a:p>
            <a:pPr marL="0" indent="0">
              <a:buNone/>
            </a:pPr>
            <a:r>
              <a:rPr lang="en-US" sz="1000" b="1" dirty="0">
                <a:solidFill>
                  <a:srgbClr val="1B2A4A"/>
                </a:solidFill>
                <a:latin typeface="Courier New" pitchFamily="34" charset="0"/>
                <a:ea typeface="Courier New" pitchFamily="34" charset="-122"/>
                <a:cs typeface="Courier New" pitchFamily="34" charset="-120"/>
              </a:rPr>
              <a:t>utility</a:t>
            </a:r>
            <a:endParaRPr lang="en-US" sz="1000" dirty="0"/>
          </a:p>
        </p:txBody>
      </p:sp>
      <p:sp>
        <p:nvSpPr>
          <p:cNvPr id="35" name="Text 33"/>
          <p:cNvSpPr/>
          <p:nvPr/>
        </p:nvSpPr>
        <p:spPr>
          <a:xfrm>
            <a:off x="267004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36" name="Text 34"/>
          <p:cNvSpPr/>
          <p:nvPr/>
        </p:nvSpPr>
        <p:spPr>
          <a:xfrm>
            <a:off x="267004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13 tools</a:t>
            </a:r>
            <a:endParaRPr lang="en-US" sz="750" dirty="0"/>
          </a:p>
        </p:txBody>
      </p:sp>
      <p:sp>
        <p:nvSpPr>
          <p:cNvPr id="37" name="Text 35"/>
          <p:cNvSpPr/>
          <p:nvPr/>
        </p:nvSpPr>
        <p:spPr>
          <a:xfrm>
            <a:off x="267004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Lightweight worker</a:t>
            </a:r>
            <a:endParaRPr lang="en-US" sz="850" dirty="0"/>
          </a:p>
        </p:txBody>
      </p:sp>
      <p:sp>
        <p:nvSpPr>
          <p:cNvPr id="38" name="Text 36"/>
          <p:cNvSpPr/>
          <p:nvPr/>
        </p:nvSpPr>
        <p:spPr>
          <a:xfrm>
            <a:off x="267004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worker</a:t>
            </a:r>
            <a:endParaRPr lang="en-US" sz="700" dirty="0"/>
          </a:p>
        </p:txBody>
      </p:sp>
      <p:sp>
        <p:nvSpPr>
          <p:cNvPr id="39" name="Shape 37"/>
          <p:cNvSpPr/>
          <p:nvPr/>
        </p:nvSpPr>
        <p:spPr>
          <a:xfrm>
            <a:off x="4617720" y="192024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40" name="Text 38"/>
          <p:cNvSpPr/>
          <p:nvPr/>
        </p:nvSpPr>
        <p:spPr>
          <a:xfrm>
            <a:off x="4681728" y="195681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planner</a:t>
            </a:r>
            <a:endParaRPr lang="en-US" sz="1000" dirty="0"/>
          </a:p>
        </p:txBody>
      </p:sp>
      <p:sp>
        <p:nvSpPr>
          <p:cNvPr id="41" name="Text 39"/>
          <p:cNvSpPr/>
          <p:nvPr/>
        </p:nvSpPr>
        <p:spPr>
          <a:xfrm>
            <a:off x="468172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mode:planner</a:t>
            </a:r>
            <a:endParaRPr lang="en-US" sz="750" dirty="0"/>
          </a:p>
        </p:txBody>
      </p:sp>
      <p:sp>
        <p:nvSpPr>
          <p:cNvPr id="42" name="Text 40"/>
          <p:cNvSpPr/>
          <p:nvPr/>
        </p:nvSpPr>
        <p:spPr>
          <a:xfrm>
            <a:off x="468172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43" name="Text 41"/>
          <p:cNvSpPr/>
          <p:nvPr/>
        </p:nvSpPr>
        <p:spPr>
          <a:xfrm>
            <a:off x="468172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Task planner</a:t>
            </a:r>
            <a:endParaRPr lang="en-US" sz="850" dirty="0"/>
          </a:p>
        </p:txBody>
      </p:sp>
      <p:sp>
        <p:nvSpPr>
          <p:cNvPr id="44" name="Text 42"/>
          <p:cNvSpPr/>
          <p:nvPr/>
        </p:nvSpPr>
        <p:spPr>
          <a:xfrm>
            <a:off x="468172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coord_only</a:t>
            </a:r>
            <a:endParaRPr lang="en-US" sz="700" dirty="0"/>
          </a:p>
        </p:txBody>
      </p:sp>
      <p:sp>
        <p:nvSpPr>
          <p:cNvPr id="45" name="Shape 43"/>
          <p:cNvSpPr/>
          <p:nvPr/>
        </p:nvSpPr>
        <p:spPr>
          <a:xfrm>
            <a:off x="6629400" y="192024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46" name="Text 44"/>
          <p:cNvSpPr/>
          <p:nvPr/>
        </p:nvSpPr>
        <p:spPr>
          <a:xfrm>
            <a:off x="6693408" y="195681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finalizer</a:t>
            </a:r>
            <a:endParaRPr lang="en-US" sz="1000" dirty="0"/>
          </a:p>
        </p:txBody>
      </p:sp>
      <p:sp>
        <p:nvSpPr>
          <p:cNvPr id="47" name="Text 45"/>
          <p:cNvSpPr/>
          <p:nvPr/>
        </p:nvSpPr>
        <p:spPr>
          <a:xfrm>
            <a:off x="669340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mode:finalizer</a:t>
            </a:r>
            <a:endParaRPr lang="en-US" sz="750" dirty="0"/>
          </a:p>
        </p:txBody>
      </p:sp>
      <p:sp>
        <p:nvSpPr>
          <p:cNvPr id="48" name="Text 46"/>
          <p:cNvSpPr/>
          <p:nvPr/>
        </p:nvSpPr>
        <p:spPr>
          <a:xfrm>
            <a:off x="669340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49" name="Text 47"/>
          <p:cNvSpPr/>
          <p:nvPr/>
        </p:nvSpPr>
        <p:spPr>
          <a:xfrm>
            <a:off x="669340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Output synthesizer</a:t>
            </a:r>
            <a:endParaRPr lang="en-US" sz="850" dirty="0"/>
          </a:p>
        </p:txBody>
      </p:sp>
      <p:sp>
        <p:nvSpPr>
          <p:cNvPr id="50" name="Text 48"/>
          <p:cNvSpPr/>
          <p:nvPr/>
        </p:nvSpPr>
        <p:spPr>
          <a:xfrm>
            <a:off x="669340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coord_only</a:t>
            </a:r>
            <a:endParaRPr lang="en-US" sz="700" dirty="0"/>
          </a:p>
        </p:txBody>
      </p:sp>
      <p:sp>
        <p:nvSpPr>
          <p:cNvPr id="51" name="Shape 49"/>
          <p:cNvSpPr/>
          <p:nvPr/>
        </p:nvSpPr>
        <p:spPr>
          <a:xfrm>
            <a:off x="1600200" y="292608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52" name="Text 50"/>
          <p:cNvSpPr/>
          <p:nvPr/>
        </p:nvSpPr>
        <p:spPr>
          <a:xfrm>
            <a:off x="1664208" y="296265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verifier</a:t>
            </a:r>
            <a:endParaRPr lang="en-US" sz="1000" dirty="0"/>
          </a:p>
        </p:txBody>
      </p:sp>
      <p:sp>
        <p:nvSpPr>
          <p:cNvPr id="53" name="Text 51"/>
          <p:cNvSpPr/>
          <p:nvPr/>
        </p:nvSpPr>
        <p:spPr>
          <a:xfrm>
            <a:off x="1664208" y="318211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mode:verifier</a:t>
            </a:r>
            <a:endParaRPr lang="en-US" sz="750" dirty="0"/>
          </a:p>
        </p:txBody>
      </p:sp>
      <p:sp>
        <p:nvSpPr>
          <p:cNvPr id="54" name="Text 52"/>
          <p:cNvSpPr/>
          <p:nvPr/>
        </p:nvSpPr>
        <p:spPr>
          <a:xfrm>
            <a:off x="1664208" y="333756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13 tools</a:t>
            </a:r>
            <a:endParaRPr lang="en-US" sz="750" dirty="0"/>
          </a:p>
        </p:txBody>
      </p:sp>
      <p:sp>
        <p:nvSpPr>
          <p:cNvPr id="55" name="Text 53"/>
          <p:cNvSpPr/>
          <p:nvPr/>
        </p:nvSpPr>
        <p:spPr>
          <a:xfrm>
            <a:off x="1664208" y="349300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Fact checker</a:t>
            </a:r>
            <a:endParaRPr lang="en-US" sz="850" dirty="0"/>
          </a:p>
        </p:txBody>
      </p:sp>
      <p:sp>
        <p:nvSpPr>
          <p:cNvPr id="56" name="Text 54"/>
          <p:cNvSpPr/>
          <p:nvPr/>
        </p:nvSpPr>
        <p:spPr>
          <a:xfrm>
            <a:off x="1664208" y="366674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coord_only</a:t>
            </a:r>
            <a:endParaRPr lang="en-US" sz="700" dirty="0"/>
          </a:p>
        </p:txBody>
      </p:sp>
      <p:sp>
        <p:nvSpPr>
          <p:cNvPr id="57" name="Shape 55"/>
          <p:cNvSpPr/>
          <p:nvPr/>
        </p:nvSpPr>
        <p:spPr>
          <a:xfrm>
            <a:off x="3611880" y="292608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58" name="Text 56"/>
          <p:cNvSpPr/>
          <p:nvPr/>
        </p:nvSpPr>
        <p:spPr>
          <a:xfrm>
            <a:off x="3675888" y="296265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memory_maint.</a:t>
            </a:r>
            <a:endParaRPr lang="en-US" sz="1000" dirty="0"/>
          </a:p>
        </p:txBody>
      </p:sp>
      <p:sp>
        <p:nvSpPr>
          <p:cNvPr id="59" name="Text 57"/>
          <p:cNvSpPr/>
          <p:nvPr/>
        </p:nvSpPr>
        <p:spPr>
          <a:xfrm>
            <a:off x="3675888" y="318211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mode:memory_maint.</a:t>
            </a:r>
            <a:endParaRPr lang="en-US" sz="750" dirty="0"/>
          </a:p>
        </p:txBody>
      </p:sp>
      <p:sp>
        <p:nvSpPr>
          <p:cNvPr id="60" name="Text 58"/>
          <p:cNvSpPr/>
          <p:nvPr/>
        </p:nvSpPr>
        <p:spPr>
          <a:xfrm>
            <a:off x="3675888" y="333756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3 tools</a:t>
            </a:r>
            <a:endParaRPr lang="en-US" sz="750" dirty="0"/>
          </a:p>
        </p:txBody>
      </p:sp>
      <p:sp>
        <p:nvSpPr>
          <p:cNvPr id="61" name="Text 59"/>
          <p:cNvSpPr/>
          <p:nvPr/>
        </p:nvSpPr>
        <p:spPr>
          <a:xfrm>
            <a:off x="3675888" y="349300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Memory extractor</a:t>
            </a:r>
            <a:endParaRPr lang="en-US" sz="850" dirty="0"/>
          </a:p>
        </p:txBody>
      </p:sp>
      <p:sp>
        <p:nvSpPr>
          <p:cNvPr id="62" name="Text 60"/>
          <p:cNvSpPr/>
          <p:nvPr/>
        </p:nvSpPr>
        <p:spPr>
          <a:xfrm>
            <a:off x="3675888" y="366674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maintenance</a:t>
            </a:r>
            <a:endParaRPr lang="en-US" sz="700" dirty="0"/>
          </a:p>
        </p:txBody>
      </p:sp>
      <p:sp>
        <p:nvSpPr>
          <p:cNvPr id="63" name="Shape 61"/>
          <p:cNvSpPr/>
          <p:nvPr/>
        </p:nvSpPr>
        <p:spPr>
          <a:xfrm>
            <a:off x="5623560" y="2926080"/>
            <a:ext cx="1920240" cy="914400"/>
          </a:xfrm>
          <a:prstGeom prst="rect">
            <a:avLst/>
          </a:prstGeom>
          <a:solidFill>
            <a:srgbClr val="FFFFFF"/>
          </a:solidFill>
          <a:ln w="19050">
            <a:solidFill>
              <a:srgbClr val="F9A825"/>
            </a:solidFill>
            <a:prstDash val="solid"/>
          </a:ln>
          <a:effectLst>
            <a:outerShdw blurRad="50800" dist="25400" dir="8100000" algn="bl" rotWithShape="0">
              <a:srgbClr val="000000">
                <a:alpha val="12000"/>
              </a:srgbClr>
            </a:outerShdw>
          </a:effectLst>
        </p:spPr>
        <p:txBody>
          <a:bodyPr/>
          <a:lstStyle/>
          <a:p>
            <a:endParaRPr lang="en-US"/>
          </a:p>
        </p:txBody>
      </p:sp>
      <p:sp>
        <p:nvSpPr>
          <p:cNvPr id="64" name="Text 62"/>
          <p:cNvSpPr/>
          <p:nvPr/>
        </p:nvSpPr>
        <p:spPr>
          <a:xfrm>
            <a:off x="5687568" y="2962656"/>
            <a:ext cx="1792224" cy="201168"/>
          </a:xfrm>
          <a:prstGeom prst="rect">
            <a:avLst/>
          </a:prstGeom>
          <a:noFill/>
          <a:ln/>
        </p:spPr>
        <p:txBody>
          <a:bodyPr wrap="square" lIns="0" tIns="0" rIns="0" bIns="0" rtlCol="0" anchor="ctr"/>
          <a:lstStyle/>
          <a:p>
            <a:pPr marL="0" indent="0">
              <a:buNone/>
            </a:pPr>
            <a:r>
              <a:rPr lang="en-US" sz="1000" b="1" dirty="0">
                <a:solidFill>
                  <a:srgbClr val="F9A825"/>
                </a:solidFill>
                <a:latin typeface="Courier New" pitchFamily="34" charset="0"/>
                <a:ea typeface="Courier New" pitchFamily="34" charset="-122"/>
                <a:cs typeface="Courier New" pitchFamily="34" charset="-120"/>
              </a:rPr>
              <a:t>graph_manager</a:t>
            </a:r>
            <a:endParaRPr lang="en-US" sz="1000" dirty="0"/>
          </a:p>
        </p:txBody>
      </p:sp>
      <p:sp>
        <p:nvSpPr>
          <p:cNvPr id="65" name="Text 63"/>
          <p:cNvSpPr/>
          <p:nvPr/>
        </p:nvSpPr>
        <p:spPr>
          <a:xfrm>
            <a:off x="5687568" y="318211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66" name="Text 64"/>
          <p:cNvSpPr/>
          <p:nvPr/>
        </p:nvSpPr>
        <p:spPr>
          <a:xfrm>
            <a:off x="5687568" y="333756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12 tools</a:t>
            </a:r>
            <a:endParaRPr lang="en-US" sz="750" dirty="0"/>
          </a:p>
        </p:txBody>
      </p:sp>
      <p:sp>
        <p:nvSpPr>
          <p:cNvPr id="67" name="Text 65"/>
          <p:cNvSpPr/>
          <p:nvPr/>
        </p:nvSpPr>
        <p:spPr>
          <a:xfrm>
            <a:off x="5687568" y="349300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Graph retrieval worker</a:t>
            </a:r>
            <a:endParaRPr lang="en-US" sz="850" dirty="0"/>
          </a:p>
        </p:txBody>
      </p:sp>
      <p:sp>
        <p:nvSpPr>
          <p:cNvPr id="68" name="Text 66"/>
          <p:cNvSpPr/>
          <p:nvPr/>
        </p:nvSpPr>
        <p:spPr>
          <a:xfrm>
            <a:off x="5687568" y="3666744"/>
            <a:ext cx="1792224" cy="146304"/>
          </a:xfrm>
          <a:prstGeom prst="rect">
            <a:avLst/>
          </a:prstGeom>
          <a:noFill/>
          <a:ln/>
        </p:spPr>
        <p:txBody>
          <a:bodyPr wrap="square" lIns="0" tIns="0" rIns="0" bIns="0" rtlCol="0" anchor="ctr"/>
          <a:lstStyle/>
          <a:p>
            <a:pPr marL="0" indent="0">
              <a:buNone/>
            </a:pPr>
            <a:r>
              <a:rPr lang="en-US" sz="700" b="1" dirty="0">
                <a:solidFill>
                  <a:srgbClr val="F9A825"/>
                </a:solidFill>
                <a:latin typeface="Arial" pitchFamily="34" charset="0"/>
                <a:ea typeface="Arial" pitchFamily="34" charset="-122"/>
                <a:cs typeface="Arial" pitchFamily="34" charset="-120"/>
              </a:rPr>
              <a:t>worker (NEW)</a:t>
            </a:r>
            <a:endParaRPr lang="en-US" sz="700" dirty="0"/>
          </a:p>
        </p:txBody>
      </p:sp>
      <p:sp>
        <p:nvSpPr>
          <p:cNvPr id="69" name="Text 67"/>
          <p:cNvSpPr/>
          <p:nvPr/>
        </p:nvSpPr>
        <p:spPr>
          <a:xfrm>
            <a:off x="502920" y="3858768"/>
            <a:ext cx="8138160" cy="201168"/>
          </a:xfrm>
          <a:prstGeom prst="rect">
            <a:avLst/>
          </a:prstGeom>
          <a:noFill/>
          <a:ln/>
        </p:spPr>
        <p:txBody>
          <a:bodyPr wrap="square" lIns="0" tIns="0" rIns="0" bIns="0" rtlCol="0" anchor="ctr"/>
          <a:lstStyle/>
          <a:p>
            <a:pPr marL="0" indent="0" algn="ctr">
              <a:buNone/>
            </a:pPr>
            <a:r>
              <a:rPr lang="en-US" sz="900" dirty="0">
                <a:solidFill>
                  <a:srgbClr val="666666"/>
                </a:solidFill>
                <a:latin typeface="Arial" pitchFamily="34" charset="0"/>
                <a:ea typeface="Arial" pitchFamily="34" charset="-122"/>
                <a:cs typeface="Arial" pitchFamily="34" charset="-120"/>
              </a:rPr>
              <a:t>Teal = top-level   |   Navy = worker/manager   |   Gray = coordinator-only/maintenance   |   Amber = new</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How Agent Mode Maps to Execution</a:t>
            </a:r>
            <a:endParaRPr lang="en-US" sz="2600" dirty="0"/>
          </a:p>
        </p:txBody>
      </p:sp>
      <p:sp>
        <p:nvSpPr>
          <p:cNvPr id="3" name="Shape 1"/>
          <p:cNvSpPr/>
          <p:nvPr/>
        </p:nvSpPr>
        <p:spPr>
          <a:xfrm>
            <a:off x="502920" y="960120"/>
            <a:ext cx="1645920" cy="274320"/>
          </a:xfrm>
          <a:prstGeom prst="rect">
            <a:avLst/>
          </a:prstGeom>
          <a:solidFill>
            <a:srgbClr val="1B2A4A"/>
          </a:solidFill>
          <a:ln w="3810">
            <a:solidFill>
              <a:srgbClr val="F0F0F0"/>
            </a:solidFill>
            <a:prstDash val="solid"/>
          </a:ln>
        </p:spPr>
        <p:txBody>
          <a:bodyPr/>
          <a:lstStyle/>
          <a:p>
            <a:endParaRPr lang="en-US"/>
          </a:p>
        </p:txBody>
      </p:sp>
      <p:sp>
        <p:nvSpPr>
          <p:cNvPr id="4" name="Text 2"/>
          <p:cNvSpPr/>
          <p:nvPr/>
        </p:nvSpPr>
        <p:spPr>
          <a:xfrm>
            <a:off x="557784" y="960120"/>
            <a:ext cx="1536192" cy="27432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Mode</a:t>
            </a:r>
            <a:endParaRPr lang="en-US" sz="900" dirty="0"/>
          </a:p>
        </p:txBody>
      </p:sp>
      <p:sp>
        <p:nvSpPr>
          <p:cNvPr id="5" name="Shape 3"/>
          <p:cNvSpPr/>
          <p:nvPr/>
        </p:nvSpPr>
        <p:spPr>
          <a:xfrm>
            <a:off x="2148840" y="960120"/>
            <a:ext cx="2011680" cy="274320"/>
          </a:xfrm>
          <a:prstGeom prst="rect">
            <a:avLst/>
          </a:prstGeom>
          <a:solidFill>
            <a:srgbClr val="1B2A4A"/>
          </a:solidFill>
          <a:ln w="3810">
            <a:solidFill>
              <a:srgbClr val="F0F0F0"/>
            </a:solidFill>
            <a:prstDash val="solid"/>
          </a:ln>
        </p:spPr>
        <p:txBody>
          <a:bodyPr/>
          <a:lstStyle/>
          <a:p>
            <a:endParaRPr lang="en-US"/>
          </a:p>
        </p:txBody>
      </p:sp>
      <p:sp>
        <p:nvSpPr>
          <p:cNvPr id="6" name="Text 4"/>
          <p:cNvSpPr/>
          <p:nvPr/>
        </p:nvSpPr>
        <p:spPr>
          <a:xfrm>
            <a:off x="2203704" y="960120"/>
            <a:ext cx="1901952" cy="27432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QueryLoop Method</a:t>
            </a:r>
            <a:endParaRPr lang="en-US" sz="900" dirty="0"/>
          </a:p>
        </p:txBody>
      </p:sp>
      <p:sp>
        <p:nvSpPr>
          <p:cNvPr id="7" name="Shape 5"/>
          <p:cNvSpPr/>
          <p:nvPr/>
        </p:nvSpPr>
        <p:spPr>
          <a:xfrm>
            <a:off x="4160520" y="960120"/>
            <a:ext cx="4480560" cy="274320"/>
          </a:xfrm>
          <a:prstGeom prst="rect">
            <a:avLst/>
          </a:prstGeom>
          <a:solidFill>
            <a:srgbClr val="1B2A4A"/>
          </a:solidFill>
          <a:ln w="3810">
            <a:solidFill>
              <a:srgbClr val="F0F0F0"/>
            </a:solidFill>
            <a:prstDash val="solid"/>
          </a:ln>
        </p:spPr>
        <p:txBody>
          <a:bodyPr/>
          <a:lstStyle/>
          <a:p>
            <a:endParaRPr lang="en-US"/>
          </a:p>
        </p:txBody>
      </p:sp>
      <p:sp>
        <p:nvSpPr>
          <p:cNvPr id="8" name="Text 6"/>
          <p:cNvSpPr/>
          <p:nvPr/>
        </p:nvSpPr>
        <p:spPr>
          <a:xfrm>
            <a:off x="4215384" y="960120"/>
            <a:ext cx="4370832" cy="27432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What Happens</a:t>
            </a:r>
            <a:endParaRPr lang="en-US" sz="900" dirty="0"/>
          </a:p>
        </p:txBody>
      </p:sp>
      <p:sp>
        <p:nvSpPr>
          <p:cNvPr id="9" name="Shape 7"/>
          <p:cNvSpPr/>
          <p:nvPr/>
        </p:nvSpPr>
        <p:spPr>
          <a:xfrm>
            <a:off x="502920" y="1234440"/>
            <a:ext cx="1645920" cy="274320"/>
          </a:xfrm>
          <a:prstGeom prst="rect">
            <a:avLst/>
          </a:prstGeom>
          <a:solidFill>
            <a:srgbClr val="F5F5F5"/>
          </a:solidFill>
          <a:ln w="3810">
            <a:solidFill>
              <a:srgbClr val="F0F0F0"/>
            </a:solidFill>
            <a:prstDash val="solid"/>
          </a:ln>
        </p:spPr>
        <p:txBody>
          <a:bodyPr/>
          <a:lstStyle/>
          <a:p>
            <a:endParaRPr lang="en-US"/>
          </a:p>
        </p:txBody>
      </p:sp>
      <p:sp>
        <p:nvSpPr>
          <p:cNvPr id="10" name="Text 8"/>
          <p:cNvSpPr/>
          <p:nvPr/>
        </p:nvSpPr>
        <p:spPr>
          <a:xfrm>
            <a:off x="557784" y="123444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basic</a:t>
            </a:r>
            <a:endParaRPr lang="en-US" sz="900" dirty="0"/>
          </a:p>
        </p:txBody>
      </p:sp>
      <p:sp>
        <p:nvSpPr>
          <p:cNvPr id="11" name="Shape 9"/>
          <p:cNvSpPr/>
          <p:nvPr/>
        </p:nvSpPr>
        <p:spPr>
          <a:xfrm>
            <a:off x="2148840" y="1234440"/>
            <a:ext cx="2011680" cy="274320"/>
          </a:xfrm>
          <a:prstGeom prst="rect">
            <a:avLst/>
          </a:prstGeom>
          <a:solidFill>
            <a:srgbClr val="F5F5F5"/>
          </a:solidFill>
          <a:ln w="3810">
            <a:solidFill>
              <a:srgbClr val="F0F0F0"/>
            </a:solidFill>
            <a:prstDash val="solid"/>
          </a:ln>
        </p:spPr>
        <p:txBody>
          <a:bodyPr/>
          <a:lstStyle/>
          <a:p>
            <a:endParaRPr lang="en-US"/>
          </a:p>
        </p:txBody>
      </p:sp>
      <p:sp>
        <p:nvSpPr>
          <p:cNvPr id="12" name="Text 10"/>
          <p:cNvSpPr/>
          <p:nvPr/>
        </p:nvSpPr>
        <p:spPr>
          <a:xfrm>
            <a:off x="2203704" y="123444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_run_basic()</a:t>
            </a:r>
            <a:endParaRPr lang="en-US" sz="900" dirty="0"/>
          </a:p>
        </p:txBody>
      </p:sp>
      <p:sp>
        <p:nvSpPr>
          <p:cNvPr id="13" name="Shape 11"/>
          <p:cNvSpPr/>
          <p:nvPr/>
        </p:nvSpPr>
        <p:spPr>
          <a:xfrm>
            <a:off x="4160520" y="1234440"/>
            <a:ext cx="4480560" cy="274320"/>
          </a:xfrm>
          <a:prstGeom prst="rect">
            <a:avLst/>
          </a:prstGeom>
          <a:solidFill>
            <a:srgbClr val="F5F5F5"/>
          </a:solidFill>
          <a:ln w="3810">
            <a:solidFill>
              <a:srgbClr val="F0F0F0"/>
            </a:solidFill>
            <a:prstDash val="solid"/>
          </a:ln>
        </p:spPr>
        <p:txBody>
          <a:bodyPr/>
          <a:lstStyle/>
          <a:p>
            <a:endParaRPr lang="en-US"/>
          </a:p>
        </p:txBody>
      </p:sp>
      <p:sp>
        <p:nvSpPr>
          <p:cNvPr id="14" name="Text 12"/>
          <p:cNvSpPr/>
          <p:nvPr/>
        </p:nvSpPr>
        <p:spPr>
          <a:xfrm>
            <a:off x="4215384" y="123444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Single LLM call, no tool loop</a:t>
            </a:r>
            <a:endParaRPr lang="en-US" sz="900" dirty="0"/>
          </a:p>
        </p:txBody>
      </p:sp>
      <p:sp>
        <p:nvSpPr>
          <p:cNvPr id="15" name="Shape 13"/>
          <p:cNvSpPr/>
          <p:nvPr/>
        </p:nvSpPr>
        <p:spPr>
          <a:xfrm>
            <a:off x="502920" y="1508760"/>
            <a:ext cx="1645920" cy="274320"/>
          </a:xfrm>
          <a:prstGeom prst="rect">
            <a:avLst/>
          </a:prstGeom>
          <a:solidFill>
            <a:srgbClr val="FFFFFF"/>
          </a:solidFill>
          <a:ln w="3810">
            <a:solidFill>
              <a:srgbClr val="F0F0F0"/>
            </a:solidFill>
            <a:prstDash val="solid"/>
          </a:ln>
        </p:spPr>
        <p:txBody>
          <a:bodyPr/>
          <a:lstStyle/>
          <a:p>
            <a:endParaRPr lang="en-US"/>
          </a:p>
        </p:txBody>
      </p:sp>
      <p:sp>
        <p:nvSpPr>
          <p:cNvPr id="16" name="Text 14"/>
          <p:cNvSpPr/>
          <p:nvPr/>
        </p:nvSpPr>
        <p:spPr>
          <a:xfrm>
            <a:off x="557784" y="150876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react</a:t>
            </a:r>
            <a:endParaRPr lang="en-US" sz="900" dirty="0"/>
          </a:p>
        </p:txBody>
      </p:sp>
      <p:sp>
        <p:nvSpPr>
          <p:cNvPr id="17" name="Shape 15"/>
          <p:cNvSpPr/>
          <p:nvPr/>
        </p:nvSpPr>
        <p:spPr>
          <a:xfrm>
            <a:off x="2148840" y="1508760"/>
            <a:ext cx="2011680" cy="274320"/>
          </a:xfrm>
          <a:prstGeom prst="rect">
            <a:avLst/>
          </a:prstGeom>
          <a:solidFill>
            <a:srgbClr val="FFFFFF"/>
          </a:solidFill>
          <a:ln w="3810">
            <a:solidFill>
              <a:srgbClr val="F0F0F0"/>
            </a:solidFill>
            <a:prstDash val="solid"/>
          </a:ln>
        </p:spPr>
        <p:txBody>
          <a:bodyPr/>
          <a:lstStyle/>
          <a:p>
            <a:endParaRPr lang="en-US"/>
          </a:p>
        </p:txBody>
      </p:sp>
      <p:sp>
        <p:nvSpPr>
          <p:cNvPr id="18" name="Text 16"/>
          <p:cNvSpPr/>
          <p:nvPr/>
        </p:nvSpPr>
        <p:spPr>
          <a:xfrm>
            <a:off x="2203704" y="150876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_run_react()</a:t>
            </a:r>
            <a:endParaRPr lang="en-US" sz="900" dirty="0"/>
          </a:p>
        </p:txBody>
      </p:sp>
      <p:sp>
        <p:nvSpPr>
          <p:cNvPr id="19" name="Shape 17"/>
          <p:cNvSpPr/>
          <p:nvPr/>
        </p:nvSpPr>
        <p:spPr>
          <a:xfrm>
            <a:off x="4160520" y="1508760"/>
            <a:ext cx="4480560" cy="274320"/>
          </a:xfrm>
          <a:prstGeom prst="rect">
            <a:avLst/>
          </a:prstGeom>
          <a:solidFill>
            <a:srgbClr val="FFFFFF"/>
          </a:solidFill>
          <a:ln w="3810">
            <a:solidFill>
              <a:srgbClr val="F0F0F0"/>
            </a:solidFill>
            <a:prstDash val="solid"/>
          </a:ln>
        </p:spPr>
        <p:txBody>
          <a:bodyPr/>
          <a:lstStyle/>
          <a:p>
            <a:endParaRPr lang="en-US"/>
          </a:p>
        </p:txBody>
      </p:sp>
      <p:sp>
        <p:nvSpPr>
          <p:cNvPr id="20" name="Text 18"/>
          <p:cNvSpPr/>
          <p:nvPr/>
        </p:nvSpPr>
        <p:spPr>
          <a:xfrm>
            <a:off x="4215384" y="150876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LangGraph ReAct with tool calling, up to max_steps</a:t>
            </a:r>
            <a:endParaRPr lang="en-US" sz="900" dirty="0"/>
          </a:p>
        </p:txBody>
      </p:sp>
      <p:sp>
        <p:nvSpPr>
          <p:cNvPr id="21" name="Shape 19"/>
          <p:cNvSpPr/>
          <p:nvPr/>
        </p:nvSpPr>
        <p:spPr>
          <a:xfrm>
            <a:off x="502920" y="1783080"/>
            <a:ext cx="1645920" cy="274320"/>
          </a:xfrm>
          <a:prstGeom prst="rect">
            <a:avLst/>
          </a:prstGeom>
          <a:solidFill>
            <a:srgbClr val="F5F5F5"/>
          </a:solidFill>
          <a:ln w="3810">
            <a:solidFill>
              <a:srgbClr val="F0F0F0"/>
            </a:solidFill>
            <a:prstDash val="solid"/>
          </a:ln>
        </p:spPr>
        <p:txBody>
          <a:bodyPr/>
          <a:lstStyle/>
          <a:p>
            <a:endParaRPr lang="en-US"/>
          </a:p>
        </p:txBody>
      </p:sp>
      <p:sp>
        <p:nvSpPr>
          <p:cNvPr id="22" name="Text 20"/>
          <p:cNvSpPr/>
          <p:nvPr/>
        </p:nvSpPr>
        <p:spPr>
          <a:xfrm>
            <a:off x="557784" y="178308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rag</a:t>
            </a:r>
            <a:endParaRPr lang="en-US" sz="900" dirty="0"/>
          </a:p>
        </p:txBody>
      </p:sp>
      <p:sp>
        <p:nvSpPr>
          <p:cNvPr id="23" name="Shape 21"/>
          <p:cNvSpPr/>
          <p:nvPr/>
        </p:nvSpPr>
        <p:spPr>
          <a:xfrm>
            <a:off x="2148840" y="1783080"/>
            <a:ext cx="2011680" cy="274320"/>
          </a:xfrm>
          <a:prstGeom prst="rect">
            <a:avLst/>
          </a:prstGeom>
          <a:solidFill>
            <a:srgbClr val="F5F5F5"/>
          </a:solidFill>
          <a:ln w="3810">
            <a:solidFill>
              <a:srgbClr val="F0F0F0"/>
            </a:solidFill>
            <a:prstDash val="solid"/>
          </a:ln>
        </p:spPr>
        <p:txBody>
          <a:bodyPr/>
          <a:lstStyle/>
          <a:p>
            <a:endParaRPr lang="en-US"/>
          </a:p>
        </p:txBody>
      </p:sp>
      <p:sp>
        <p:nvSpPr>
          <p:cNvPr id="24" name="Text 22"/>
          <p:cNvSpPr/>
          <p:nvPr/>
        </p:nvSpPr>
        <p:spPr>
          <a:xfrm>
            <a:off x="2203704" y="178308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_run_rag()</a:t>
            </a:r>
            <a:endParaRPr lang="en-US" sz="900" dirty="0"/>
          </a:p>
        </p:txBody>
      </p:sp>
      <p:sp>
        <p:nvSpPr>
          <p:cNvPr id="25" name="Shape 23"/>
          <p:cNvSpPr/>
          <p:nvPr/>
        </p:nvSpPr>
        <p:spPr>
          <a:xfrm>
            <a:off x="4160520" y="1783080"/>
            <a:ext cx="4480560" cy="274320"/>
          </a:xfrm>
          <a:prstGeom prst="rect">
            <a:avLst/>
          </a:prstGeom>
          <a:solidFill>
            <a:srgbClr val="F5F5F5"/>
          </a:solidFill>
          <a:ln w="3810">
            <a:solidFill>
              <a:srgbClr val="F0F0F0"/>
            </a:solidFill>
            <a:prstDash val="solid"/>
          </a:ln>
        </p:spPr>
        <p:txBody>
          <a:bodyPr/>
          <a:lstStyle/>
          <a:p>
            <a:endParaRPr lang="en-US"/>
          </a:p>
        </p:txBody>
      </p:sp>
      <p:sp>
        <p:nvSpPr>
          <p:cNvPr id="26" name="Text 24"/>
          <p:cNvSpPr/>
          <p:nvPr/>
        </p:nvSpPr>
        <p:spPr>
          <a:xfrm>
            <a:off x="4215384" y="178308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RAG contract: retrieve &gt; synthesize &gt; cite</a:t>
            </a:r>
            <a:endParaRPr lang="en-US" sz="900" dirty="0"/>
          </a:p>
        </p:txBody>
      </p:sp>
      <p:sp>
        <p:nvSpPr>
          <p:cNvPr id="27" name="Shape 25"/>
          <p:cNvSpPr/>
          <p:nvPr/>
        </p:nvSpPr>
        <p:spPr>
          <a:xfrm>
            <a:off x="502920" y="2057400"/>
            <a:ext cx="1645920" cy="274320"/>
          </a:xfrm>
          <a:prstGeom prst="rect">
            <a:avLst/>
          </a:prstGeom>
          <a:solidFill>
            <a:srgbClr val="FFFFFF"/>
          </a:solidFill>
          <a:ln w="3810">
            <a:solidFill>
              <a:srgbClr val="F0F0F0"/>
            </a:solidFill>
            <a:prstDash val="solid"/>
          </a:ln>
        </p:spPr>
        <p:txBody>
          <a:bodyPr/>
          <a:lstStyle/>
          <a:p>
            <a:endParaRPr lang="en-US"/>
          </a:p>
        </p:txBody>
      </p:sp>
      <p:sp>
        <p:nvSpPr>
          <p:cNvPr id="28" name="Text 26"/>
          <p:cNvSpPr/>
          <p:nvPr/>
        </p:nvSpPr>
        <p:spPr>
          <a:xfrm>
            <a:off x="557784" y="205740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planner</a:t>
            </a:r>
            <a:endParaRPr lang="en-US" sz="900" dirty="0"/>
          </a:p>
        </p:txBody>
      </p:sp>
      <p:sp>
        <p:nvSpPr>
          <p:cNvPr id="29" name="Shape 27"/>
          <p:cNvSpPr/>
          <p:nvPr/>
        </p:nvSpPr>
        <p:spPr>
          <a:xfrm>
            <a:off x="2148840" y="2057400"/>
            <a:ext cx="2011680" cy="274320"/>
          </a:xfrm>
          <a:prstGeom prst="rect">
            <a:avLst/>
          </a:prstGeom>
          <a:solidFill>
            <a:srgbClr val="FFFFFF"/>
          </a:solidFill>
          <a:ln w="3810">
            <a:solidFill>
              <a:srgbClr val="F0F0F0"/>
            </a:solidFill>
            <a:prstDash val="solid"/>
          </a:ln>
        </p:spPr>
        <p:txBody>
          <a:bodyPr/>
          <a:lstStyle/>
          <a:p>
            <a:endParaRPr lang="en-US"/>
          </a:p>
        </p:txBody>
      </p:sp>
      <p:sp>
        <p:nvSpPr>
          <p:cNvPr id="30" name="Text 28"/>
          <p:cNvSpPr/>
          <p:nvPr/>
        </p:nvSpPr>
        <p:spPr>
          <a:xfrm>
            <a:off x="2203704" y="205740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_run_planner()</a:t>
            </a:r>
            <a:endParaRPr lang="en-US" sz="900" dirty="0"/>
          </a:p>
        </p:txBody>
      </p:sp>
      <p:sp>
        <p:nvSpPr>
          <p:cNvPr id="31" name="Shape 29"/>
          <p:cNvSpPr/>
          <p:nvPr/>
        </p:nvSpPr>
        <p:spPr>
          <a:xfrm>
            <a:off x="4160520" y="2057400"/>
            <a:ext cx="4480560" cy="274320"/>
          </a:xfrm>
          <a:prstGeom prst="rect">
            <a:avLst/>
          </a:prstGeom>
          <a:solidFill>
            <a:srgbClr val="FFFFFF"/>
          </a:solidFill>
          <a:ln w="3810">
            <a:solidFill>
              <a:srgbClr val="F0F0F0"/>
            </a:solidFill>
            <a:prstDash val="solid"/>
          </a:ln>
        </p:spPr>
        <p:txBody>
          <a:bodyPr/>
          <a:lstStyle/>
          <a:p>
            <a:endParaRPr lang="en-US"/>
          </a:p>
        </p:txBody>
      </p:sp>
      <p:sp>
        <p:nvSpPr>
          <p:cNvPr id="32" name="Text 30"/>
          <p:cNvSpPr/>
          <p:nvPr/>
        </p:nvSpPr>
        <p:spPr>
          <a:xfrm>
            <a:off x="4215384" y="205740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Outputs structured JSON plan for coordinator</a:t>
            </a:r>
            <a:endParaRPr lang="en-US" sz="900" dirty="0"/>
          </a:p>
        </p:txBody>
      </p:sp>
      <p:sp>
        <p:nvSpPr>
          <p:cNvPr id="33" name="Shape 31"/>
          <p:cNvSpPr/>
          <p:nvPr/>
        </p:nvSpPr>
        <p:spPr>
          <a:xfrm>
            <a:off x="502920" y="2331720"/>
            <a:ext cx="1645920" cy="274320"/>
          </a:xfrm>
          <a:prstGeom prst="rect">
            <a:avLst/>
          </a:prstGeom>
          <a:solidFill>
            <a:srgbClr val="F5F5F5"/>
          </a:solidFill>
          <a:ln w="3810">
            <a:solidFill>
              <a:srgbClr val="F0F0F0"/>
            </a:solidFill>
            <a:prstDash val="solid"/>
          </a:ln>
        </p:spPr>
        <p:txBody>
          <a:bodyPr/>
          <a:lstStyle/>
          <a:p>
            <a:endParaRPr lang="en-US"/>
          </a:p>
        </p:txBody>
      </p:sp>
      <p:sp>
        <p:nvSpPr>
          <p:cNvPr id="34" name="Text 32"/>
          <p:cNvSpPr/>
          <p:nvPr/>
        </p:nvSpPr>
        <p:spPr>
          <a:xfrm>
            <a:off x="557784" y="233172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finalizer</a:t>
            </a:r>
            <a:endParaRPr lang="en-US" sz="900" dirty="0"/>
          </a:p>
        </p:txBody>
      </p:sp>
      <p:sp>
        <p:nvSpPr>
          <p:cNvPr id="35" name="Shape 33"/>
          <p:cNvSpPr/>
          <p:nvPr/>
        </p:nvSpPr>
        <p:spPr>
          <a:xfrm>
            <a:off x="2148840" y="2331720"/>
            <a:ext cx="2011680" cy="274320"/>
          </a:xfrm>
          <a:prstGeom prst="rect">
            <a:avLst/>
          </a:prstGeom>
          <a:solidFill>
            <a:srgbClr val="F5F5F5"/>
          </a:solidFill>
          <a:ln w="3810">
            <a:solidFill>
              <a:srgbClr val="F0F0F0"/>
            </a:solidFill>
            <a:prstDash val="solid"/>
          </a:ln>
        </p:spPr>
        <p:txBody>
          <a:bodyPr/>
          <a:lstStyle/>
          <a:p>
            <a:endParaRPr lang="en-US"/>
          </a:p>
        </p:txBody>
      </p:sp>
      <p:sp>
        <p:nvSpPr>
          <p:cNvPr id="36" name="Text 34"/>
          <p:cNvSpPr/>
          <p:nvPr/>
        </p:nvSpPr>
        <p:spPr>
          <a:xfrm>
            <a:off x="2203704" y="233172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_run_finalizer()</a:t>
            </a:r>
            <a:endParaRPr lang="en-US" sz="900" dirty="0"/>
          </a:p>
        </p:txBody>
      </p:sp>
      <p:sp>
        <p:nvSpPr>
          <p:cNvPr id="37" name="Shape 35"/>
          <p:cNvSpPr/>
          <p:nvPr/>
        </p:nvSpPr>
        <p:spPr>
          <a:xfrm>
            <a:off x="4160520" y="2331720"/>
            <a:ext cx="4480560" cy="274320"/>
          </a:xfrm>
          <a:prstGeom prst="rect">
            <a:avLst/>
          </a:prstGeom>
          <a:solidFill>
            <a:srgbClr val="F5F5F5"/>
          </a:solidFill>
          <a:ln w="3810">
            <a:solidFill>
              <a:srgbClr val="F0F0F0"/>
            </a:solidFill>
            <a:prstDash val="solid"/>
          </a:ln>
        </p:spPr>
        <p:txBody>
          <a:bodyPr/>
          <a:lstStyle/>
          <a:p>
            <a:endParaRPr lang="en-US"/>
          </a:p>
        </p:txBody>
      </p:sp>
      <p:sp>
        <p:nvSpPr>
          <p:cNvPr id="38" name="Text 36"/>
          <p:cNvSpPr/>
          <p:nvPr/>
        </p:nvSpPr>
        <p:spPr>
          <a:xfrm>
            <a:off x="4215384" y="233172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Synthesizes worker outputs into unified answer</a:t>
            </a:r>
            <a:endParaRPr lang="en-US" sz="900" dirty="0"/>
          </a:p>
        </p:txBody>
      </p:sp>
      <p:sp>
        <p:nvSpPr>
          <p:cNvPr id="39" name="Shape 37"/>
          <p:cNvSpPr/>
          <p:nvPr/>
        </p:nvSpPr>
        <p:spPr>
          <a:xfrm>
            <a:off x="502920" y="2606040"/>
            <a:ext cx="1645920" cy="274320"/>
          </a:xfrm>
          <a:prstGeom prst="rect">
            <a:avLst/>
          </a:prstGeom>
          <a:solidFill>
            <a:srgbClr val="FFFFFF"/>
          </a:solidFill>
          <a:ln w="3810">
            <a:solidFill>
              <a:srgbClr val="F0F0F0"/>
            </a:solidFill>
            <a:prstDash val="solid"/>
          </a:ln>
        </p:spPr>
        <p:txBody>
          <a:bodyPr/>
          <a:lstStyle/>
          <a:p>
            <a:endParaRPr lang="en-US"/>
          </a:p>
        </p:txBody>
      </p:sp>
      <p:sp>
        <p:nvSpPr>
          <p:cNvPr id="40" name="Text 38"/>
          <p:cNvSpPr/>
          <p:nvPr/>
        </p:nvSpPr>
        <p:spPr>
          <a:xfrm>
            <a:off x="557784" y="260604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verifier</a:t>
            </a:r>
            <a:endParaRPr lang="en-US" sz="900" dirty="0"/>
          </a:p>
        </p:txBody>
      </p:sp>
      <p:sp>
        <p:nvSpPr>
          <p:cNvPr id="41" name="Shape 39"/>
          <p:cNvSpPr/>
          <p:nvPr/>
        </p:nvSpPr>
        <p:spPr>
          <a:xfrm>
            <a:off x="2148840" y="2606040"/>
            <a:ext cx="2011680" cy="274320"/>
          </a:xfrm>
          <a:prstGeom prst="rect">
            <a:avLst/>
          </a:prstGeom>
          <a:solidFill>
            <a:srgbClr val="FFFFFF"/>
          </a:solidFill>
          <a:ln w="3810">
            <a:solidFill>
              <a:srgbClr val="F0F0F0"/>
            </a:solidFill>
            <a:prstDash val="solid"/>
          </a:ln>
        </p:spPr>
        <p:txBody>
          <a:bodyPr/>
          <a:lstStyle/>
          <a:p>
            <a:endParaRPr lang="en-US"/>
          </a:p>
        </p:txBody>
      </p:sp>
      <p:sp>
        <p:nvSpPr>
          <p:cNvPr id="42" name="Text 40"/>
          <p:cNvSpPr/>
          <p:nvPr/>
        </p:nvSpPr>
        <p:spPr>
          <a:xfrm>
            <a:off x="2203704" y="260604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_run_verifier()</a:t>
            </a:r>
            <a:endParaRPr lang="en-US" sz="900" dirty="0"/>
          </a:p>
        </p:txBody>
      </p:sp>
      <p:sp>
        <p:nvSpPr>
          <p:cNvPr id="43" name="Shape 41"/>
          <p:cNvSpPr/>
          <p:nvPr/>
        </p:nvSpPr>
        <p:spPr>
          <a:xfrm>
            <a:off x="4160520" y="2606040"/>
            <a:ext cx="4480560" cy="274320"/>
          </a:xfrm>
          <a:prstGeom prst="rect">
            <a:avLst/>
          </a:prstGeom>
          <a:solidFill>
            <a:srgbClr val="FFFFFF"/>
          </a:solidFill>
          <a:ln w="3810">
            <a:solidFill>
              <a:srgbClr val="F0F0F0"/>
            </a:solidFill>
            <a:prstDash val="solid"/>
          </a:ln>
        </p:spPr>
        <p:txBody>
          <a:bodyPr/>
          <a:lstStyle/>
          <a:p>
            <a:endParaRPr lang="en-US"/>
          </a:p>
        </p:txBody>
      </p:sp>
      <p:sp>
        <p:nvSpPr>
          <p:cNvPr id="44" name="Text 42"/>
          <p:cNvSpPr/>
          <p:nvPr/>
        </p:nvSpPr>
        <p:spPr>
          <a:xfrm>
            <a:off x="4215384" y="260604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Cross-checks claims against KB evidence</a:t>
            </a:r>
            <a:endParaRPr lang="en-US" sz="900" dirty="0"/>
          </a:p>
        </p:txBody>
      </p:sp>
      <p:sp>
        <p:nvSpPr>
          <p:cNvPr id="45" name="Shape 43"/>
          <p:cNvSpPr/>
          <p:nvPr/>
        </p:nvSpPr>
        <p:spPr>
          <a:xfrm>
            <a:off x="502920" y="2880360"/>
            <a:ext cx="1645920" cy="274320"/>
          </a:xfrm>
          <a:prstGeom prst="rect">
            <a:avLst/>
          </a:prstGeom>
          <a:solidFill>
            <a:srgbClr val="F5F5F5"/>
          </a:solidFill>
          <a:ln w="3810">
            <a:solidFill>
              <a:srgbClr val="F0F0F0"/>
            </a:solidFill>
            <a:prstDash val="solid"/>
          </a:ln>
        </p:spPr>
        <p:txBody>
          <a:bodyPr/>
          <a:lstStyle/>
          <a:p>
            <a:endParaRPr lang="en-US"/>
          </a:p>
        </p:txBody>
      </p:sp>
      <p:sp>
        <p:nvSpPr>
          <p:cNvPr id="46" name="Text 44"/>
          <p:cNvSpPr/>
          <p:nvPr/>
        </p:nvSpPr>
        <p:spPr>
          <a:xfrm>
            <a:off x="557784" y="288036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memory_maint.</a:t>
            </a:r>
            <a:endParaRPr lang="en-US" sz="900" dirty="0"/>
          </a:p>
        </p:txBody>
      </p:sp>
      <p:sp>
        <p:nvSpPr>
          <p:cNvPr id="47" name="Shape 45"/>
          <p:cNvSpPr/>
          <p:nvPr/>
        </p:nvSpPr>
        <p:spPr>
          <a:xfrm>
            <a:off x="2148840" y="2880360"/>
            <a:ext cx="2011680" cy="274320"/>
          </a:xfrm>
          <a:prstGeom prst="rect">
            <a:avLst/>
          </a:prstGeom>
          <a:solidFill>
            <a:srgbClr val="F5F5F5"/>
          </a:solidFill>
          <a:ln w="3810">
            <a:solidFill>
              <a:srgbClr val="F0F0F0"/>
            </a:solidFill>
            <a:prstDash val="solid"/>
          </a:ln>
        </p:spPr>
        <p:txBody>
          <a:bodyPr/>
          <a:lstStyle/>
          <a:p>
            <a:endParaRPr lang="en-US"/>
          </a:p>
        </p:txBody>
      </p:sp>
      <p:sp>
        <p:nvSpPr>
          <p:cNvPr id="48" name="Text 46"/>
          <p:cNvSpPr/>
          <p:nvPr/>
        </p:nvSpPr>
        <p:spPr>
          <a:xfrm>
            <a:off x="2203704" y="288036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_run_memory_maintainer()</a:t>
            </a:r>
            <a:endParaRPr lang="en-US" sz="900" dirty="0"/>
          </a:p>
        </p:txBody>
      </p:sp>
      <p:sp>
        <p:nvSpPr>
          <p:cNvPr id="49" name="Shape 47"/>
          <p:cNvSpPr/>
          <p:nvPr/>
        </p:nvSpPr>
        <p:spPr>
          <a:xfrm>
            <a:off x="4160520" y="2880360"/>
            <a:ext cx="4480560" cy="274320"/>
          </a:xfrm>
          <a:prstGeom prst="rect">
            <a:avLst/>
          </a:prstGeom>
          <a:solidFill>
            <a:srgbClr val="F5F5F5"/>
          </a:solidFill>
          <a:ln w="3810">
            <a:solidFill>
              <a:srgbClr val="F0F0F0"/>
            </a:solidFill>
            <a:prstDash val="solid"/>
          </a:ln>
        </p:spPr>
        <p:txBody>
          <a:bodyPr/>
          <a:lstStyle/>
          <a:p>
            <a:endParaRPr lang="en-US"/>
          </a:p>
        </p:txBody>
      </p:sp>
      <p:sp>
        <p:nvSpPr>
          <p:cNvPr id="50" name="Text 48"/>
          <p:cNvSpPr/>
          <p:nvPr/>
        </p:nvSpPr>
        <p:spPr>
          <a:xfrm>
            <a:off x="4215384" y="288036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Extracts + persists memory entries</a:t>
            </a:r>
            <a:endParaRPr lang="en-US" sz="900" dirty="0"/>
          </a:p>
        </p:txBody>
      </p:sp>
      <p:sp>
        <p:nvSpPr>
          <p:cNvPr id="51" name="Shape 49"/>
          <p:cNvSpPr/>
          <p:nvPr/>
        </p:nvSpPr>
        <p:spPr>
          <a:xfrm>
            <a:off x="502920" y="3154680"/>
            <a:ext cx="1645920" cy="274320"/>
          </a:xfrm>
          <a:prstGeom prst="rect">
            <a:avLst/>
          </a:prstGeom>
          <a:solidFill>
            <a:srgbClr val="FFFFFF"/>
          </a:solidFill>
          <a:ln w="3810">
            <a:solidFill>
              <a:srgbClr val="F0F0F0"/>
            </a:solidFill>
            <a:prstDash val="solid"/>
          </a:ln>
        </p:spPr>
        <p:txBody>
          <a:bodyPr/>
          <a:lstStyle/>
          <a:p>
            <a:endParaRPr lang="en-US"/>
          </a:p>
        </p:txBody>
      </p:sp>
      <p:sp>
        <p:nvSpPr>
          <p:cNvPr id="52" name="Text 50"/>
          <p:cNvSpPr/>
          <p:nvPr/>
        </p:nvSpPr>
        <p:spPr>
          <a:xfrm>
            <a:off x="557784" y="315468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coordinator</a:t>
            </a:r>
            <a:endParaRPr lang="en-US" sz="900" dirty="0"/>
          </a:p>
        </p:txBody>
      </p:sp>
      <p:sp>
        <p:nvSpPr>
          <p:cNvPr id="53" name="Shape 51"/>
          <p:cNvSpPr/>
          <p:nvPr/>
        </p:nvSpPr>
        <p:spPr>
          <a:xfrm>
            <a:off x="2148840" y="3154680"/>
            <a:ext cx="2011680" cy="274320"/>
          </a:xfrm>
          <a:prstGeom prst="rect">
            <a:avLst/>
          </a:prstGeom>
          <a:solidFill>
            <a:srgbClr val="FFFFFF"/>
          </a:solidFill>
          <a:ln w="3810">
            <a:solidFill>
              <a:srgbClr val="F0F0F0"/>
            </a:solidFill>
            <a:prstDash val="solid"/>
          </a:ln>
        </p:spPr>
        <p:txBody>
          <a:bodyPr/>
          <a:lstStyle/>
          <a:p>
            <a:endParaRPr lang="en-US"/>
          </a:p>
        </p:txBody>
      </p:sp>
      <p:sp>
        <p:nvSpPr>
          <p:cNvPr id="54" name="Text 52"/>
          <p:cNvSpPr/>
          <p:nvPr/>
        </p:nvSpPr>
        <p:spPr>
          <a:xfrm>
            <a:off x="2203704" y="315468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Handled by Kernel</a:t>
            </a:r>
            <a:endParaRPr lang="en-US" sz="900" dirty="0"/>
          </a:p>
        </p:txBody>
      </p:sp>
      <p:sp>
        <p:nvSpPr>
          <p:cNvPr id="55" name="Shape 53"/>
          <p:cNvSpPr/>
          <p:nvPr/>
        </p:nvSpPr>
        <p:spPr>
          <a:xfrm>
            <a:off x="4160520" y="3154680"/>
            <a:ext cx="4480560" cy="274320"/>
          </a:xfrm>
          <a:prstGeom prst="rect">
            <a:avLst/>
          </a:prstGeom>
          <a:solidFill>
            <a:srgbClr val="FFFFFF"/>
          </a:solidFill>
          <a:ln w="3810">
            <a:solidFill>
              <a:srgbClr val="F0F0F0"/>
            </a:solidFill>
            <a:prstDash val="solid"/>
          </a:ln>
        </p:spPr>
        <p:txBody>
          <a:bodyPr/>
          <a:lstStyle/>
          <a:p>
            <a:endParaRPr lang="en-US"/>
          </a:p>
        </p:txBody>
      </p:sp>
      <p:sp>
        <p:nvSpPr>
          <p:cNvPr id="56" name="Text 54"/>
          <p:cNvSpPr/>
          <p:nvPr/>
        </p:nvSpPr>
        <p:spPr>
          <a:xfrm>
            <a:off x="4215384" y="315468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Planner&gt;Workers&gt;Finalizer&gt;Verifier pipeline</a:t>
            </a:r>
            <a:endParaRPr lang="en-US" sz="900" dirty="0"/>
          </a:p>
        </p:txBody>
      </p:sp>
      <p:sp>
        <p:nvSpPr>
          <p:cNvPr id="57" name="Shape 55"/>
          <p:cNvSpPr/>
          <p:nvPr/>
        </p:nvSpPr>
        <p:spPr>
          <a:xfrm>
            <a:off x="502920" y="3520440"/>
            <a:ext cx="8138160" cy="365760"/>
          </a:xfrm>
          <a:prstGeom prst="rect">
            <a:avLst/>
          </a:prstGeom>
          <a:solidFill>
            <a:srgbClr val="E0F7FA"/>
          </a:solidFill>
          <a:ln w="12700">
            <a:solidFill>
              <a:srgbClr val="0097A7"/>
            </a:solidFill>
            <a:prstDash val="solid"/>
          </a:ln>
        </p:spPr>
        <p:txBody>
          <a:bodyPr/>
          <a:lstStyle/>
          <a:p>
            <a:endParaRPr lang="en-US"/>
          </a:p>
        </p:txBody>
      </p:sp>
      <p:sp>
        <p:nvSpPr>
          <p:cNvPr id="58" name="Text 56"/>
          <p:cNvSpPr/>
          <p:nvPr/>
        </p:nvSpPr>
        <p:spPr>
          <a:xfrm>
            <a:off x="594360" y="352044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The mode field is the single most important property. Coordinator is special — handled by Kernel, not QueryLoop, because it manages multiple sub-agents.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 Capabilities Matrix — Complete Reference</a:t>
            </a:r>
            <a:endParaRPr lang="en-US" sz="2600" dirty="0"/>
          </a:p>
        </p:txBody>
      </p:sp>
      <p:sp>
        <p:nvSpPr>
          <p:cNvPr id="3" name="Shape 1"/>
          <p:cNvSpPr/>
          <p:nvPr/>
        </p:nvSpPr>
        <p:spPr>
          <a:xfrm>
            <a:off x="502920" y="868680"/>
            <a:ext cx="1143000" cy="274320"/>
          </a:xfrm>
          <a:prstGeom prst="rect">
            <a:avLst/>
          </a:prstGeom>
          <a:solidFill>
            <a:srgbClr val="1B2A4A"/>
          </a:solidFill>
          <a:ln w="3810">
            <a:solidFill>
              <a:srgbClr val="F0F0F0"/>
            </a:solidFill>
            <a:prstDash val="solid"/>
          </a:ln>
        </p:spPr>
        <p:txBody>
          <a:bodyPr/>
          <a:lstStyle/>
          <a:p>
            <a:endParaRPr lang="en-US"/>
          </a:p>
        </p:txBody>
      </p:sp>
      <p:sp>
        <p:nvSpPr>
          <p:cNvPr id="4" name="Text 2"/>
          <p:cNvSpPr/>
          <p:nvPr/>
        </p:nvSpPr>
        <p:spPr>
          <a:xfrm>
            <a:off x="539496" y="868680"/>
            <a:ext cx="106984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Agent</a:t>
            </a:r>
            <a:endParaRPr lang="en-US" sz="800" dirty="0"/>
          </a:p>
        </p:txBody>
      </p:sp>
      <p:sp>
        <p:nvSpPr>
          <p:cNvPr id="5" name="Shape 3"/>
          <p:cNvSpPr/>
          <p:nvPr/>
        </p:nvSpPr>
        <p:spPr>
          <a:xfrm>
            <a:off x="1645920" y="868680"/>
            <a:ext cx="822960" cy="274320"/>
          </a:xfrm>
          <a:prstGeom prst="rect">
            <a:avLst/>
          </a:prstGeom>
          <a:solidFill>
            <a:srgbClr val="1B2A4A"/>
          </a:solidFill>
          <a:ln w="3810">
            <a:solidFill>
              <a:srgbClr val="F0F0F0"/>
            </a:solidFill>
            <a:prstDash val="solid"/>
          </a:ln>
        </p:spPr>
        <p:txBody>
          <a:bodyPr/>
          <a:lstStyle/>
          <a:p>
            <a:endParaRPr lang="en-US"/>
          </a:p>
        </p:txBody>
      </p:sp>
      <p:sp>
        <p:nvSpPr>
          <p:cNvPr id="6" name="Text 4"/>
          <p:cNvSpPr/>
          <p:nvPr/>
        </p:nvSpPr>
        <p:spPr>
          <a:xfrm>
            <a:off x="1682496" y="868680"/>
            <a:ext cx="7498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Mode</a:t>
            </a:r>
            <a:endParaRPr lang="en-US" sz="800" dirty="0"/>
          </a:p>
        </p:txBody>
      </p:sp>
      <p:sp>
        <p:nvSpPr>
          <p:cNvPr id="7" name="Shape 5"/>
          <p:cNvSpPr/>
          <p:nvPr/>
        </p:nvSpPr>
        <p:spPr>
          <a:xfrm>
            <a:off x="2468880" y="868680"/>
            <a:ext cx="502920" cy="274320"/>
          </a:xfrm>
          <a:prstGeom prst="rect">
            <a:avLst/>
          </a:prstGeom>
          <a:solidFill>
            <a:srgbClr val="1B2A4A"/>
          </a:solidFill>
          <a:ln w="3810">
            <a:solidFill>
              <a:srgbClr val="F0F0F0"/>
            </a:solidFill>
            <a:prstDash val="solid"/>
          </a:ln>
        </p:spPr>
        <p:txBody>
          <a:bodyPr/>
          <a:lstStyle/>
          <a:p>
            <a:endParaRPr lang="en-US"/>
          </a:p>
        </p:txBody>
      </p:sp>
      <p:sp>
        <p:nvSpPr>
          <p:cNvPr id="8" name="Text 6"/>
          <p:cNvSpPr/>
          <p:nvPr/>
        </p:nvSpPr>
        <p:spPr>
          <a:xfrm>
            <a:off x="2505456" y="868680"/>
            <a:ext cx="42976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Tools</a:t>
            </a:r>
            <a:endParaRPr lang="en-US" sz="800" dirty="0"/>
          </a:p>
        </p:txBody>
      </p:sp>
      <p:sp>
        <p:nvSpPr>
          <p:cNvPr id="9" name="Shape 7"/>
          <p:cNvSpPr/>
          <p:nvPr/>
        </p:nvSpPr>
        <p:spPr>
          <a:xfrm>
            <a:off x="2971800" y="868680"/>
            <a:ext cx="594360" cy="274320"/>
          </a:xfrm>
          <a:prstGeom prst="rect">
            <a:avLst/>
          </a:prstGeom>
          <a:solidFill>
            <a:srgbClr val="1B2A4A"/>
          </a:solidFill>
          <a:ln w="3810">
            <a:solidFill>
              <a:srgbClr val="F0F0F0"/>
            </a:solidFill>
            <a:prstDash val="solid"/>
          </a:ln>
        </p:spPr>
        <p:txBody>
          <a:bodyPr/>
          <a:lstStyle/>
          <a:p>
            <a:endParaRPr lang="en-US"/>
          </a:p>
        </p:txBody>
      </p:sp>
      <p:sp>
        <p:nvSpPr>
          <p:cNvPr id="10" name="Text 8"/>
          <p:cNvSpPr/>
          <p:nvPr/>
        </p:nvSpPr>
        <p:spPr>
          <a:xfrm>
            <a:off x="3008376" y="868680"/>
            <a:ext cx="5212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Steps</a:t>
            </a:r>
            <a:endParaRPr lang="en-US" sz="800" dirty="0"/>
          </a:p>
        </p:txBody>
      </p:sp>
      <p:sp>
        <p:nvSpPr>
          <p:cNvPr id="11" name="Shape 9"/>
          <p:cNvSpPr/>
          <p:nvPr/>
        </p:nvSpPr>
        <p:spPr>
          <a:xfrm>
            <a:off x="3566160" y="868680"/>
            <a:ext cx="1280160" cy="274320"/>
          </a:xfrm>
          <a:prstGeom prst="rect">
            <a:avLst/>
          </a:prstGeom>
          <a:solidFill>
            <a:srgbClr val="1B2A4A"/>
          </a:solidFill>
          <a:ln w="3810">
            <a:solidFill>
              <a:srgbClr val="F0F0F0"/>
            </a:solidFill>
            <a:prstDash val="solid"/>
          </a:ln>
        </p:spPr>
        <p:txBody>
          <a:bodyPr/>
          <a:lstStyle/>
          <a:p>
            <a:endParaRPr lang="en-US"/>
          </a:p>
        </p:txBody>
      </p:sp>
      <p:sp>
        <p:nvSpPr>
          <p:cNvPr id="12" name="Text 10"/>
          <p:cNvSpPr/>
          <p:nvPr/>
        </p:nvSpPr>
        <p:spPr>
          <a:xfrm>
            <a:off x="3602736" y="868680"/>
            <a:ext cx="12070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Role Kind</a:t>
            </a:r>
            <a:endParaRPr lang="en-US" sz="800" dirty="0"/>
          </a:p>
        </p:txBody>
      </p:sp>
      <p:sp>
        <p:nvSpPr>
          <p:cNvPr id="13" name="Shape 11"/>
          <p:cNvSpPr/>
          <p:nvPr/>
        </p:nvSpPr>
        <p:spPr>
          <a:xfrm>
            <a:off x="4846320" y="868680"/>
            <a:ext cx="868680" cy="274320"/>
          </a:xfrm>
          <a:prstGeom prst="rect">
            <a:avLst/>
          </a:prstGeom>
          <a:solidFill>
            <a:srgbClr val="1B2A4A"/>
          </a:solidFill>
          <a:ln w="3810">
            <a:solidFill>
              <a:srgbClr val="F0F0F0"/>
            </a:solidFill>
            <a:prstDash val="solid"/>
          </a:ln>
        </p:spPr>
        <p:txBody>
          <a:bodyPr/>
          <a:lstStyle/>
          <a:p>
            <a:endParaRPr lang="en-US"/>
          </a:p>
        </p:txBody>
      </p:sp>
      <p:sp>
        <p:nvSpPr>
          <p:cNvPr id="14" name="Text 12"/>
          <p:cNvSpPr/>
          <p:nvPr/>
        </p:nvSpPr>
        <p:spPr>
          <a:xfrm>
            <a:off x="4882896" y="868680"/>
            <a:ext cx="79552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Workers?</a:t>
            </a:r>
            <a:endParaRPr lang="en-US" sz="800" dirty="0"/>
          </a:p>
        </p:txBody>
      </p:sp>
      <p:sp>
        <p:nvSpPr>
          <p:cNvPr id="15" name="Shape 13"/>
          <p:cNvSpPr/>
          <p:nvPr/>
        </p:nvSpPr>
        <p:spPr>
          <a:xfrm>
            <a:off x="5715000" y="868680"/>
            <a:ext cx="594360" cy="274320"/>
          </a:xfrm>
          <a:prstGeom prst="rect">
            <a:avLst/>
          </a:prstGeom>
          <a:solidFill>
            <a:srgbClr val="1B2A4A"/>
          </a:solidFill>
          <a:ln w="3810">
            <a:solidFill>
              <a:srgbClr val="F0F0F0"/>
            </a:solidFill>
            <a:prstDash val="solid"/>
          </a:ln>
        </p:spPr>
        <p:txBody>
          <a:bodyPr/>
          <a:lstStyle/>
          <a:p>
            <a:endParaRPr lang="en-US"/>
          </a:p>
        </p:txBody>
      </p:sp>
      <p:sp>
        <p:nvSpPr>
          <p:cNvPr id="16" name="Text 14"/>
          <p:cNvSpPr/>
          <p:nvPr/>
        </p:nvSpPr>
        <p:spPr>
          <a:xfrm>
            <a:off x="5751576" y="868680"/>
            <a:ext cx="5212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RAG?</a:t>
            </a:r>
            <a:endParaRPr lang="en-US" sz="800" dirty="0"/>
          </a:p>
        </p:txBody>
      </p:sp>
      <p:sp>
        <p:nvSpPr>
          <p:cNvPr id="17" name="Shape 15"/>
          <p:cNvSpPr/>
          <p:nvPr/>
        </p:nvSpPr>
        <p:spPr>
          <a:xfrm>
            <a:off x="6309360" y="868680"/>
            <a:ext cx="685800" cy="274320"/>
          </a:xfrm>
          <a:prstGeom prst="rect">
            <a:avLst/>
          </a:prstGeom>
          <a:solidFill>
            <a:srgbClr val="1B2A4A"/>
          </a:solidFill>
          <a:ln w="3810">
            <a:solidFill>
              <a:srgbClr val="F0F0F0"/>
            </a:solidFill>
            <a:prstDash val="solid"/>
          </a:ln>
        </p:spPr>
        <p:txBody>
          <a:bodyPr/>
          <a:lstStyle/>
          <a:p>
            <a:endParaRPr lang="en-US"/>
          </a:p>
        </p:txBody>
      </p:sp>
      <p:sp>
        <p:nvSpPr>
          <p:cNvPr id="18" name="Text 16"/>
          <p:cNvSpPr/>
          <p:nvPr/>
        </p:nvSpPr>
        <p:spPr>
          <a:xfrm>
            <a:off x="6345936" y="868680"/>
            <a:ext cx="61264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Code?</a:t>
            </a:r>
            <a:endParaRPr lang="en-US" sz="800" dirty="0"/>
          </a:p>
        </p:txBody>
      </p:sp>
      <p:sp>
        <p:nvSpPr>
          <p:cNvPr id="19" name="Shape 17"/>
          <p:cNvSpPr/>
          <p:nvPr/>
        </p:nvSpPr>
        <p:spPr>
          <a:xfrm>
            <a:off x="502920" y="1143000"/>
            <a:ext cx="1143000" cy="274320"/>
          </a:xfrm>
          <a:prstGeom prst="rect">
            <a:avLst/>
          </a:prstGeom>
          <a:solidFill>
            <a:srgbClr val="F5F5F5"/>
          </a:solidFill>
          <a:ln w="3810">
            <a:solidFill>
              <a:srgbClr val="F0F0F0"/>
            </a:solidFill>
            <a:prstDash val="solid"/>
          </a:ln>
        </p:spPr>
        <p:txBody>
          <a:bodyPr/>
          <a:lstStyle/>
          <a:p>
            <a:endParaRPr lang="en-US"/>
          </a:p>
        </p:txBody>
      </p:sp>
      <p:sp>
        <p:nvSpPr>
          <p:cNvPr id="20" name="Text 18"/>
          <p:cNvSpPr/>
          <p:nvPr/>
        </p:nvSpPr>
        <p:spPr>
          <a:xfrm>
            <a:off x="539496" y="114300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basic</a:t>
            </a:r>
            <a:endParaRPr lang="en-US" sz="750" dirty="0"/>
          </a:p>
        </p:txBody>
      </p:sp>
      <p:sp>
        <p:nvSpPr>
          <p:cNvPr id="21" name="Shape 19"/>
          <p:cNvSpPr/>
          <p:nvPr/>
        </p:nvSpPr>
        <p:spPr>
          <a:xfrm>
            <a:off x="1645920" y="1143000"/>
            <a:ext cx="822960" cy="274320"/>
          </a:xfrm>
          <a:prstGeom prst="rect">
            <a:avLst/>
          </a:prstGeom>
          <a:solidFill>
            <a:srgbClr val="F5F5F5"/>
          </a:solidFill>
          <a:ln w="3810">
            <a:solidFill>
              <a:srgbClr val="F0F0F0"/>
            </a:solidFill>
            <a:prstDash val="solid"/>
          </a:ln>
        </p:spPr>
        <p:txBody>
          <a:bodyPr/>
          <a:lstStyle/>
          <a:p>
            <a:endParaRPr lang="en-US"/>
          </a:p>
        </p:txBody>
      </p:sp>
      <p:sp>
        <p:nvSpPr>
          <p:cNvPr id="22" name="Text 20"/>
          <p:cNvSpPr/>
          <p:nvPr/>
        </p:nvSpPr>
        <p:spPr>
          <a:xfrm>
            <a:off x="1682496" y="114300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basic</a:t>
            </a:r>
            <a:endParaRPr lang="en-US" sz="750" dirty="0"/>
          </a:p>
        </p:txBody>
      </p:sp>
      <p:sp>
        <p:nvSpPr>
          <p:cNvPr id="23" name="Shape 21"/>
          <p:cNvSpPr/>
          <p:nvPr/>
        </p:nvSpPr>
        <p:spPr>
          <a:xfrm>
            <a:off x="2468880" y="1143000"/>
            <a:ext cx="502920" cy="274320"/>
          </a:xfrm>
          <a:prstGeom prst="rect">
            <a:avLst/>
          </a:prstGeom>
          <a:solidFill>
            <a:srgbClr val="F5F5F5"/>
          </a:solidFill>
          <a:ln w="3810">
            <a:solidFill>
              <a:srgbClr val="F0F0F0"/>
            </a:solidFill>
            <a:prstDash val="solid"/>
          </a:ln>
        </p:spPr>
        <p:txBody>
          <a:bodyPr/>
          <a:lstStyle/>
          <a:p>
            <a:endParaRPr lang="en-US"/>
          </a:p>
        </p:txBody>
      </p:sp>
      <p:sp>
        <p:nvSpPr>
          <p:cNvPr id="24" name="Text 22"/>
          <p:cNvSpPr/>
          <p:nvPr/>
        </p:nvSpPr>
        <p:spPr>
          <a:xfrm>
            <a:off x="2505456" y="114300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25" name="Shape 23"/>
          <p:cNvSpPr/>
          <p:nvPr/>
        </p:nvSpPr>
        <p:spPr>
          <a:xfrm>
            <a:off x="2971800" y="1143000"/>
            <a:ext cx="594360" cy="274320"/>
          </a:xfrm>
          <a:prstGeom prst="rect">
            <a:avLst/>
          </a:prstGeom>
          <a:solidFill>
            <a:srgbClr val="F5F5F5"/>
          </a:solidFill>
          <a:ln w="3810">
            <a:solidFill>
              <a:srgbClr val="F0F0F0"/>
            </a:solidFill>
            <a:prstDash val="solid"/>
          </a:ln>
        </p:spPr>
        <p:txBody>
          <a:bodyPr/>
          <a:lstStyle/>
          <a:p>
            <a:endParaRPr lang="en-US"/>
          </a:p>
        </p:txBody>
      </p:sp>
      <p:sp>
        <p:nvSpPr>
          <p:cNvPr id="26" name="Text 24"/>
          <p:cNvSpPr/>
          <p:nvPr/>
        </p:nvSpPr>
        <p:spPr>
          <a:xfrm>
            <a:off x="3008376" y="11430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27" name="Shape 25"/>
          <p:cNvSpPr/>
          <p:nvPr/>
        </p:nvSpPr>
        <p:spPr>
          <a:xfrm>
            <a:off x="3566160" y="1143000"/>
            <a:ext cx="1280160" cy="274320"/>
          </a:xfrm>
          <a:prstGeom prst="rect">
            <a:avLst/>
          </a:prstGeom>
          <a:solidFill>
            <a:srgbClr val="F5F5F5"/>
          </a:solidFill>
          <a:ln w="3810">
            <a:solidFill>
              <a:srgbClr val="F0F0F0"/>
            </a:solidFill>
            <a:prstDash val="solid"/>
          </a:ln>
        </p:spPr>
        <p:txBody>
          <a:bodyPr/>
          <a:lstStyle/>
          <a:p>
            <a:endParaRPr lang="en-US"/>
          </a:p>
        </p:txBody>
      </p:sp>
      <p:sp>
        <p:nvSpPr>
          <p:cNvPr id="28" name="Text 26"/>
          <p:cNvSpPr/>
          <p:nvPr/>
        </p:nvSpPr>
        <p:spPr>
          <a:xfrm>
            <a:off x="3602736" y="114300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top_level</a:t>
            </a:r>
            <a:endParaRPr lang="en-US" sz="750" dirty="0"/>
          </a:p>
        </p:txBody>
      </p:sp>
      <p:sp>
        <p:nvSpPr>
          <p:cNvPr id="29" name="Shape 27"/>
          <p:cNvSpPr/>
          <p:nvPr/>
        </p:nvSpPr>
        <p:spPr>
          <a:xfrm>
            <a:off x="4846320" y="1143000"/>
            <a:ext cx="868680" cy="274320"/>
          </a:xfrm>
          <a:prstGeom prst="rect">
            <a:avLst/>
          </a:prstGeom>
          <a:solidFill>
            <a:srgbClr val="F5F5F5"/>
          </a:solidFill>
          <a:ln w="3810">
            <a:solidFill>
              <a:srgbClr val="F0F0F0"/>
            </a:solidFill>
            <a:prstDash val="solid"/>
          </a:ln>
        </p:spPr>
        <p:txBody>
          <a:bodyPr/>
          <a:lstStyle/>
          <a:p>
            <a:endParaRPr lang="en-US"/>
          </a:p>
        </p:txBody>
      </p:sp>
      <p:sp>
        <p:nvSpPr>
          <p:cNvPr id="30" name="Text 28"/>
          <p:cNvSpPr/>
          <p:nvPr/>
        </p:nvSpPr>
        <p:spPr>
          <a:xfrm>
            <a:off x="4882896" y="114300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31" name="Shape 29"/>
          <p:cNvSpPr/>
          <p:nvPr/>
        </p:nvSpPr>
        <p:spPr>
          <a:xfrm>
            <a:off x="5715000" y="1143000"/>
            <a:ext cx="594360" cy="274320"/>
          </a:xfrm>
          <a:prstGeom prst="rect">
            <a:avLst/>
          </a:prstGeom>
          <a:solidFill>
            <a:srgbClr val="F5F5F5"/>
          </a:solidFill>
          <a:ln w="3810">
            <a:solidFill>
              <a:srgbClr val="F0F0F0"/>
            </a:solidFill>
            <a:prstDash val="solid"/>
          </a:ln>
        </p:spPr>
        <p:txBody>
          <a:bodyPr/>
          <a:lstStyle/>
          <a:p>
            <a:endParaRPr lang="en-US"/>
          </a:p>
        </p:txBody>
      </p:sp>
      <p:sp>
        <p:nvSpPr>
          <p:cNvPr id="32" name="Text 30"/>
          <p:cNvSpPr/>
          <p:nvPr/>
        </p:nvSpPr>
        <p:spPr>
          <a:xfrm>
            <a:off x="5751576" y="11430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33" name="Shape 31"/>
          <p:cNvSpPr/>
          <p:nvPr/>
        </p:nvSpPr>
        <p:spPr>
          <a:xfrm>
            <a:off x="6309360" y="1143000"/>
            <a:ext cx="685800" cy="274320"/>
          </a:xfrm>
          <a:prstGeom prst="rect">
            <a:avLst/>
          </a:prstGeom>
          <a:solidFill>
            <a:srgbClr val="F5F5F5"/>
          </a:solidFill>
          <a:ln w="3810">
            <a:solidFill>
              <a:srgbClr val="F0F0F0"/>
            </a:solidFill>
            <a:prstDash val="solid"/>
          </a:ln>
        </p:spPr>
        <p:txBody>
          <a:bodyPr/>
          <a:lstStyle/>
          <a:p>
            <a:endParaRPr lang="en-US"/>
          </a:p>
        </p:txBody>
      </p:sp>
      <p:sp>
        <p:nvSpPr>
          <p:cNvPr id="34" name="Text 32"/>
          <p:cNvSpPr/>
          <p:nvPr/>
        </p:nvSpPr>
        <p:spPr>
          <a:xfrm>
            <a:off x="6345936" y="114300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35" name="Shape 33"/>
          <p:cNvSpPr/>
          <p:nvPr/>
        </p:nvSpPr>
        <p:spPr>
          <a:xfrm>
            <a:off x="502920" y="1417320"/>
            <a:ext cx="1143000" cy="274320"/>
          </a:xfrm>
          <a:prstGeom prst="rect">
            <a:avLst/>
          </a:prstGeom>
          <a:solidFill>
            <a:srgbClr val="FFFFFF"/>
          </a:solidFill>
          <a:ln w="3810">
            <a:solidFill>
              <a:srgbClr val="F0F0F0"/>
            </a:solidFill>
            <a:prstDash val="solid"/>
          </a:ln>
        </p:spPr>
        <p:txBody>
          <a:bodyPr/>
          <a:lstStyle/>
          <a:p>
            <a:endParaRPr lang="en-US"/>
          </a:p>
        </p:txBody>
      </p:sp>
      <p:sp>
        <p:nvSpPr>
          <p:cNvPr id="36" name="Text 34"/>
          <p:cNvSpPr/>
          <p:nvPr/>
        </p:nvSpPr>
        <p:spPr>
          <a:xfrm>
            <a:off x="539496" y="141732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general</a:t>
            </a:r>
            <a:endParaRPr lang="en-US" sz="750" dirty="0"/>
          </a:p>
        </p:txBody>
      </p:sp>
      <p:sp>
        <p:nvSpPr>
          <p:cNvPr id="37" name="Shape 35"/>
          <p:cNvSpPr/>
          <p:nvPr/>
        </p:nvSpPr>
        <p:spPr>
          <a:xfrm>
            <a:off x="1645920" y="1417320"/>
            <a:ext cx="822960" cy="274320"/>
          </a:xfrm>
          <a:prstGeom prst="rect">
            <a:avLst/>
          </a:prstGeom>
          <a:solidFill>
            <a:srgbClr val="FFFFFF"/>
          </a:solidFill>
          <a:ln w="3810">
            <a:solidFill>
              <a:srgbClr val="F0F0F0"/>
            </a:solidFill>
            <a:prstDash val="solid"/>
          </a:ln>
        </p:spPr>
        <p:txBody>
          <a:bodyPr/>
          <a:lstStyle/>
          <a:p>
            <a:endParaRPr lang="en-US"/>
          </a:p>
        </p:txBody>
      </p:sp>
      <p:sp>
        <p:nvSpPr>
          <p:cNvPr id="38" name="Text 36"/>
          <p:cNvSpPr/>
          <p:nvPr/>
        </p:nvSpPr>
        <p:spPr>
          <a:xfrm>
            <a:off x="1682496" y="141732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react</a:t>
            </a:r>
            <a:endParaRPr lang="en-US" sz="750" dirty="0"/>
          </a:p>
        </p:txBody>
      </p:sp>
      <p:sp>
        <p:nvSpPr>
          <p:cNvPr id="39" name="Shape 37"/>
          <p:cNvSpPr/>
          <p:nvPr/>
        </p:nvSpPr>
        <p:spPr>
          <a:xfrm>
            <a:off x="2468880" y="1417320"/>
            <a:ext cx="502920" cy="274320"/>
          </a:xfrm>
          <a:prstGeom prst="rect">
            <a:avLst/>
          </a:prstGeom>
          <a:solidFill>
            <a:srgbClr val="FFFFFF"/>
          </a:solidFill>
          <a:ln w="3810">
            <a:solidFill>
              <a:srgbClr val="F0F0F0"/>
            </a:solidFill>
            <a:prstDash val="solid"/>
          </a:ln>
        </p:spPr>
        <p:txBody>
          <a:bodyPr/>
          <a:lstStyle/>
          <a:p>
            <a:endParaRPr lang="en-US"/>
          </a:p>
        </p:txBody>
      </p:sp>
      <p:sp>
        <p:nvSpPr>
          <p:cNvPr id="40" name="Text 38"/>
          <p:cNvSpPr/>
          <p:nvPr/>
        </p:nvSpPr>
        <p:spPr>
          <a:xfrm>
            <a:off x="2505456" y="141732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11</a:t>
            </a:r>
            <a:endParaRPr lang="en-US" sz="750" dirty="0"/>
          </a:p>
        </p:txBody>
      </p:sp>
      <p:sp>
        <p:nvSpPr>
          <p:cNvPr id="41" name="Shape 39"/>
          <p:cNvSpPr/>
          <p:nvPr/>
        </p:nvSpPr>
        <p:spPr>
          <a:xfrm>
            <a:off x="2971800" y="1417320"/>
            <a:ext cx="594360" cy="274320"/>
          </a:xfrm>
          <a:prstGeom prst="rect">
            <a:avLst/>
          </a:prstGeom>
          <a:solidFill>
            <a:srgbClr val="FFFFFF"/>
          </a:solidFill>
          <a:ln w="3810">
            <a:solidFill>
              <a:srgbClr val="F0F0F0"/>
            </a:solidFill>
            <a:prstDash val="solid"/>
          </a:ln>
        </p:spPr>
        <p:txBody>
          <a:bodyPr/>
          <a:lstStyle/>
          <a:p>
            <a:endParaRPr lang="en-US"/>
          </a:p>
        </p:txBody>
      </p:sp>
      <p:sp>
        <p:nvSpPr>
          <p:cNvPr id="42" name="Text 40"/>
          <p:cNvSpPr/>
          <p:nvPr/>
        </p:nvSpPr>
        <p:spPr>
          <a:xfrm>
            <a:off x="3008376" y="14173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10</a:t>
            </a:r>
            <a:endParaRPr lang="en-US" sz="750" dirty="0"/>
          </a:p>
        </p:txBody>
      </p:sp>
      <p:sp>
        <p:nvSpPr>
          <p:cNvPr id="43" name="Shape 41"/>
          <p:cNvSpPr/>
          <p:nvPr/>
        </p:nvSpPr>
        <p:spPr>
          <a:xfrm>
            <a:off x="3566160" y="1417320"/>
            <a:ext cx="1280160" cy="274320"/>
          </a:xfrm>
          <a:prstGeom prst="rect">
            <a:avLst/>
          </a:prstGeom>
          <a:solidFill>
            <a:srgbClr val="FFFFFF"/>
          </a:solidFill>
          <a:ln w="3810">
            <a:solidFill>
              <a:srgbClr val="F0F0F0"/>
            </a:solidFill>
            <a:prstDash val="solid"/>
          </a:ln>
        </p:spPr>
        <p:txBody>
          <a:bodyPr/>
          <a:lstStyle/>
          <a:p>
            <a:endParaRPr lang="en-US"/>
          </a:p>
        </p:txBody>
      </p:sp>
      <p:sp>
        <p:nvSpPr>
          <p:cNvPr id="44" name="Text 42"/>
          <p:cNvSpPr/>
          <p:nvPr/>
        </p:nvSpPr>
        <p:spPr>
          <a:xfrm>
            <a:off x="3602736" y="141732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top_level</a:t>
            </a:r>
            <a:endParaRPr lang="en-US" sz="750" dirty="0"/>
          </a:p>
        </p:txBody>
      </p:sp>
      <p:sp>
        <p:nvSpPr>
          <p:cNvPr id="45" name="Shape 43"/>
          <p:cNvSpPr/>
          <p:nvPr/>
        </p:nvSpPr>
        <p:spPr>
          <a:xfrm>
            <a:off x="4846320" y="1417320"/>
            <a:ext cx="868680" cy="274320"/>
          </a:xfrm>
          <a:prstGeom prst="rect">
            <a:avLst/>
          </a:prstGeom>
          <a:solidFill>
            <a:srgbClr val="FFFFFF"/>
          </a:solidFill>
          <a:ln w="3810">
            <a:solidFill>
              <a:srgbClr val="F0F0F0"/>
            </a:solidFill>
            <a:prstDash val="solid"/>
          </a:ln>
        </p:spPr>
        <p:txBody>
          <a:bodyPr/>
          <a:lstStyle/>
          <a:p>
            <a:endParaRPr lang="en-US"/>
          </a:p>
        </p:txBody>
      </p:sp>
      <p:sp>
        <p:nvSpPr>
          <p:cNvPr id="46" name="Text 44"/>
          <p:cNvSpPr/>
          <p:nvPr/>
        </p:nvSpPr>
        <p:spPr>
          <a:xfrm>
            <a:off x="4882896" y="141732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47" name="Shape 45"/>
          <p:cNvSpPr/>
          <p:nvPr/>
        </p:nvSpPr>
        <p:spPr>
          <a:xfrm>
            <a:off x="5715000" y="1417320"/>
            <a:ext cx="594360" cy="274320"/>
          </a:xfrm>
          <a:prstGeom prst="rect">
            <a:avLst/>
          </a:prstGeom>
          <a:solidFill>
            <a:srgbClr val="FFFFFF"/>
          </a:solidFill>
          <a:ln w="3810">
            <a:solidFill>
              <a:srgbClr val="F0F0F0"/>
            </a:solidFill>
            <a:prstDash val="solid"/>
          </a:ln>
        </p:spPr>
        <p:txBody>
          <a:bodyPr/>
          <a:lstStyle/>
          <a:p>
            <a:endParaRPr lang="en-US"/>
          </a:p>
        </p:txBody>
      </p:sp>
      <p:sp>
        <p:nvSpPr>
          <p:cNvPr id="48" name="Text 46"/>
          <p:cNvSpPr/>
          <p:nvPr/>
        </p:nvSpPr>
        <p:spPr>
          <a:xfrm>
            <a:off x="5751576" y="14173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49" name="Shape 47"/>
          <p:cNvSpPr/>
          <p:nvPr/>
        </p:nvSpPr>
        <p:spPr>
          <a:xfrm>
            <a:off x="6309360" y="1417320"/>
            <a:ext cx="685800" cy="274320"/>
          </a:xfrm>
          <a:prstGeom prst="rect">
            <a:avLst/>
          </a:prstGeom>
          <a:solidFill>
            <a:srgbClr val="FFFFFF"/>
          </a:solidFill>
          <a:ln w="3810">
            <a:solidFill>
              <a:srgbClr val="F0F0F0"/>
            </a:solidFill>
            <a:prstDash val="solid"/>
          </a:ln>
        </p:spPr>
        <p:txBody>
          <a:bodyPr/>
          <a:lstStyle/>
          <a:p>
            <a:endParaRPr lang="en-US"/>
          </a:p>
        </p:txBody>
      </p:sp>
      <p:sp>
        <p:nvSpPr>
          <p:cNvPr id="50" name="Text 48"/>
          <p:cNvSpPr/>
          <p:nvPr/>
        </p:nvSpPr>
        <p:spPr>
          <a:xfrm>
            <a:off x="6345936" y="141732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51" name="Shape 49"/>
          <p:cNvSpPr/>
          <p:nvPr/>
        </p:nvSpPr>
        <p:spPr>
          <a:xfrm>
            <a:off x="502920" y="1691640"/>
            <a:ext cx="1143000" cy="274320"/>
          </a:xfrm>
          <a:prstGeom prst="rect">
            <a:avLst/>
          </a:prstGeom>
          <a:solidFill>
            <a:srgbClr val="F5F5F5"/>
          </a:solidFill>
          <a:ln w="3810">
            <a:solidFill>
              <a:srgbClr val="F0F0F0"/>
            </a:solidFill>
            <a:prstDash val="solid"/>
          </a:ln>
        </p:spPr>
        <p:txBody>
          <a:bodyPr/>
          <a:lstStyle/>
          <a:p>
            <a:endParaRPr lang="en-US"/>
          </a:p>
        </p:txBody>
      </p:sp>
      <p:sp>
        <p:nvSpPr>
          <p:cNvPr id="52" name="Text 50"/>
          <p:cNvSpPr/>
          <p:nvPr/>
        </p:nvSpPr>
        <p:spPr>
          <a:xfrm>
            <a:off x="539496" y="169164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coordinator</a:t>
            </a:r>
            <a:endParaRPr lang="en-US" sz="750" dirty="0"/>
          </a:p>
        </p:txBody>
      </p:sp>
      <p:sp>
        <p:nvSpPr>
          <p:cNvPr id="53" name="Shape 51"/>
          <p:cNvSpPr/>
          <p:nvPr/>
        </p:nvSpPr>
        <p:spPr>
          <a:xfrm>
            <a:off x="1645920" y="1691640"/>
            <a:ext cx="822960" cy="274320"/>
          </a:xfrm>
          <a:prstGeom prst="rect">
            <a:avLst/>
          </a:prstGeom>
          <a:solidFill>
            <a:srgbClr val="F5F5F5"/>
          </a:solidFill>
          <a:ln w="3810">
            <a:solidFill>
              <a:srgbClr val="F0F0F0"/>
            </a:solidFill>
            <a:prstDash val="solid"/>
          </a:ln>
        </p:spPr>
        <p:txBody>
          <a:bodyPr/>
          <a:lstStyle/>
          <a:p>
            <a:endParaRPr lang="en-US"/>
          </a:p>
        </p:txBody>
      </p:sp>
      <p:sp>
        <p:nvSpPr>
          <p:cNvPr id="54" name="Text 52"/>
          <p:cNvSpPr/>
          <p:nvPr/>
        </p:nvSpPr>
        <p:spPr>
          <a:xfrm>
            <a:off x="1682496" y="169164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coord.</a:t>
            </a:r>
            <a:endParaRPr lang="en-US" sz="750" dirty="0"/>
          </a:p>
        </p:txBody>
      </p:sp>
      <p:sp>
        <p:nvSpPr>
          <p:cNvPr id="55" name="Shape 53"/>
          <p:cNvSpPr/>
          <p:nvPr/>
        </p:nvSpPr>
        <p:spPr>
          <a:xfrm>
            <a:off x="2468880" y="1691640"/>
            <a:ext cx="502920" cy="274320"/>
          </a:xfrm>
          <a:prstGeom prst="rect">
            <a:avLst/>
          </a:prstGeom>
          <a:solidFill>
            <a:srgbClr val="F5F5F5"/>
          </a:solidFill>
          <a:ln w="3810">
            <a:solidFill>
              <a:srgbClr val="F0F0F0"/>
            </a:solidFill>
            <a:prstDash val="solid"/>
          </a:ln>
        </p:spPr>
        <p:txBody>
          <a:bodyPr/>
          <a:lstStyle/>
          <a:p>
            <a:endParaRPr lang="en-US"/>
          </a:p>
        </p:txBody>
      </p:sp>
      <p:sp>
        <p:nvSpPr>
          <p:cNvPr id="56" name="Text 54"/>
          <p:cNvSpPr/>
          <p:nvPr/>
        </p:nvSpPr>
        <p:spPr>
          <a:xfrm>
            <a:off x="2505456" y="169164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4</a:t>
            </a:r>
            <a:endParaRPr lang="en-US" sz="750" dirty="0"/>
          </a:p>
        </p:txBody>
      </p:sp>
      <p:sp>
        <p:nvSpPr>
          <p:cNvPr id="57" name="Shape 55"/>
          <p:cNvSpPr/>
          <p:nvPr/>
        </p:nvSpPr>
        <p:spPr>
          <a:xfrm>
            <a:off x="2971800" y="1691640"/>
            <a:ext cx="594360" cy="274320"/>
          </a:xfrm>
          <a:prstGeom prst="rect">
            <a:avLst/>
          </a:prstGeom>
          <a:solidFill>
            <a:srgbClr val="F5F5F5"/>
          </a:solidFill>
          <a:ln w="3810">
            <a:solidFill>
              <a:srgbClr val="F0F0F0"/>
            </a:solidFill>
            <a:prstDash val="solid"/>
          </a:ln>
        </p:spPr>
        <p:txBody>
          <a:bodyPr/>
          <a:lstStyle/>
          <a:p>
            <a:endParaRPr lang="en-US"/>
          </a:p>
        </p:txBody>
      </p:sp>
      <p:sp>
        <p:nvSpPr>
          <p:cNvPr id="58" name="Text 56"/>
          <p:cNvSpPr/>
          <p:nvPr/>
        </p:nvSpPr>
        <p:spPr>
          <a:xfrm>
            <a:off x="3008376" y="16916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12</a:t>
            </a:r>
            <a:endParaRPr lang="en-US" sz="750" dirty="0"/>
          </a:p>
        </p:txBody>
      </p:sp>
      <p:sp>
        <p:nvSpPr>
          <p:cNvPr id="59" name="Shape 57"/>
          <p:cNvSpPr/>
          <p:nvPr/>
        </p:nvSpPr>
        <p:spPr>
          <a:xfrm>
            <a:off x="3566160" y="1691640"/>
            <a:ext cx="1280160" cy="274320"/>
          </a:xfrm>
          <a:prstGeom prst="rect">
            <a:avLst/>
          </a:prstGeom>
          <a:solidFill>
            <a:srgbClr val="F5F5F5"/>
          </a:solidFill>
          <a:ln w="3810">
            <a:solidFill>
              <a:srgbClr val="F0F0F0"/>
            </a:solidFill>
            <a:prstDash val="solid"/>
          </a:ln>
        </p:spPr>
        <p:txBody>
          <a:bodyPr/>
          <a:lstStyle/>
          <a:p>
            <a:endParaRPr lang="en-US"/>
          </a:p>
        </p:txBody>
      </p:sp>
      <p:sp>
        <p:nvSpPr>
          <p:cNvPr id="60" name="Text 58"/>
          <p:cNvSpPr/>
          <p:nvPr/>
        </p:nvSpPr>
        <p:spPr>
          <a:xfrm>
            <a:off x="3602736" y="169164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coordinator</a:t>
            </a:r>
            <a:endParaRPr lang="en-US" sz="750" dirty="0"/>
          </a:p>
        </p:txBody>
      </p:sp>
      <p:sp>
        <p:nvSpPr>
          <p:cNvPr id="61" name="Shape 59"/>
          <p:cNvSpPr/>
          <p:nvPr/>
        </p:nvSpPr>
        <p:spPr>
          <a:xfrm>
            <a:off x="4846320" y="1691640"/>
            <a:ext cx="868680" cy="274320"/>
          </a:xfrm>
          <a:prstGeom prst="rect">
            <a:avLst/>
          </a:prstGeom>
          <a:solidFill>
            <a:srgbClr val="F5F5F5"/>
          </a:solidFill>
          <a:ln w="3810">
            <a:solidFill>
              <a:srgbClr val="F0F0F0"/>
            </a:solidFill>
            <a:prstDash val="solid"/>
          </a:ln>
        </p:spPr>
        <p:txBody>
          <a:bodyPr/>
          <a:lstStyle/>
          <a:p>
            <a:endParaRPr lang="en-US"/>
          </a:p>
        </p:txBody>
      </p:sp>
      <p:sp>
        <p:nvSpPr>
          <p:cNvPr id="62" name="Text 60"/>
          <p:cNvSpPr/>
          <p:nvPr/>
        </p:nvSpPr>
        <p:spPr>
          <a:xfrm>
            <a:off x="4882896" y="169164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63" name="Shape 61"/>
          <p:cNvSpPr/>
          <p:nvPr/>
        </p:nvSpPr>
        <p:spPr>
          <a:xfrm>
            <a:off x="5715000" y="1691640"/>
            <a:ext cx="594360" cy="274320"/>
          </a:xfrm>
          <a:prstGeom prst="rect">
            <a:avLst/>
          </a:prstGeom>
          <a:solidFill>
            <a:srgbClr val="F5F5F5"/>
          </a:solidFill>
          <a:ln w="3810">
            <a:solidFill>
              <a:srgbClr val="F0F0F0"/>
            </a:solidFill>
            <a:prstDash val="solid"/>
          </a:ln>
        </p:spPr>
        <p:txBody>
          <a:bodyPr/>
          <a:lstStyle/>
          <a:p>
            <a:endParaRPr lang="en-US"/>
          </a:p>
        </p:txBody>
      </p:sp>
      <p:sp>
        <p:nvSpPr>
          <p:cNvPr id="64" name="Text 62"/>
          <p:cNvSpPr/>
          <p:nvPr/>
        </p:nvSpPr>
        <p:spPr>
          <a:xfrm>
            <a:off x="5751576" y="16916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65" name="Shape 63"/>
          <p:cNvSpPr/>
          <p:nvPr/>
        </p:nvSpPr>
        <p:spPr>
          <a:xfrm>
            <a:off x="6309360" y="1691640"/>
            <a:ext cx="685800" cy="274320"/>
          </a:xfrm>
          <a:prstGeom prst="rect">
            <a:avLst/>
          </a:prstGeom>
          <a:solidFill>
            <a:srgbClr val="F5F5F5"/>
          </a:solidFill>
          <a:ln w="3810">
            <a:solidFill>
              <a:srgbClr val="F0F0F0"/>
            </a:solidFill>
            <a:prstDash val="solid"/>
          </a:ln>
        </p:spPr>
        <p:txBody>
          <a:bodyPr/>
          <a:lstStyle/>
          <a:p>
            <a:endParaRPr lang="en-US"/>
          </a:p>
        </p:txBody>
      </p:sp>
      <p:sp>
        <p:nvSpPr>
          <p:cNvPr id="66" name="Text 64"/>
          <p:cNvSpPr/>
          <p:nvPr/>
        </p:nvSpPr>
        <p:spPr>
          <a:xfrm>
            <a:off x="6345936" y="169164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67" name="Shape 65"/>
          <p:cNvSpPr/>
          <p:nvPr/>
        </p:nvSpPr>
        <p:spPr>
          <a:xfrm>
            <a:off x="502920" y="1965960"/>
            <a:ext cx="1143000" cy="274320"/>
          </a:xfrm>
          <a:prstGeom prst="rect">
            <a:avLst/>
          </a:prstGeom>
          <a:solidFill>
            <a:srgbClr val="FFFFFF"/>
          </a:solidFill>
          <a:ln w="3810">
            <a:solidFill>
              <a:srgbClr val="F0F0F0"/>
            </a:solidFill>
            <a:prstDash val="solid"/>
          </a:ln>
        </p:spPr>
        <p:txBody>
          <a:bodyPr/>
          <a:lstStyle/>
          <a:p>
            <a:endParaRPr lang="en-US"/>
          </a:p>
        </p:txBody>
      </p:sp>
      <p:sp>
        <p:nvSpPr>
          <p:cNvPr id="68" name="Text 66"/>
          <p:cNvSpPr/>
          <p:nvPr/>
        </p:nvSpPr>
        <p:spPr>
          <a:xfrm>
            <a:off x="539496" y="196596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utility</a:t>
            </a:r>
            <a:endParaRPr lang="en-US" sz="750" dirty="0"/>
          </a:p>
        </p:txBody>
      </p:sp>
      <p:sp>
        <p:nvSpPr>
          <p:cNvPr id="69" name="Shape 67"/>
          <p:cNvSpPr/>
          <p:nvPr/>
        </p:nvSpPr>
        <p:spPr>
          <a:xfrm>
            <a:off x="1645920" y="1965960"/>
            <a:ext cx="822960" cy="274320"/>
          </a:xfrm>
          <a:prstGeom prst="rect">
            <a:avLst/>
          </a:prstGeom>
          <a:solidFill>
            <a:srgbClr val="FFFFFF"/>
          </a:solidFill>
          <a:ln w="3810">
            <a:solidFill>
              <a:srgbClr val="F0F0F0"/>
            </a:solidFill>
            <a:prstDash val="solid"/>
          </a:ln>
        </p:spPr>
        <p:txBody>
          <a:bodyPr/>
          <a:lstStyle/>
          <a:p>
            <a:endParaRPr lang="en-US"/>
          </a:p>
        </p:txBody>
      </p:sp>
      <p:sp>
        <p:nvSpPr>
          <p:cNvPr id="70" name="Text 68"/>
          <p:cNvSpPr/>
          <p:nvPr/>
        </p:nvSpPr>
        <p:spPr>
          <a:xfrm>
            <a:off x="1682496" y="196596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react</a:t>
            </a:r>
            <a:endParaRPr lang="en-US" sz="750" dirty="0"/>
          </a:p>
        </p:txBody>
      </p:sp>
      <p:sp>
        <p:nvSpPr>
          <p:cNvPr id="71" name="Shape 69"/>
          <p:cNvSpPr/>
          <p:nvPr/>
        </p:nvSpPr>
        <p:spPr>
          <a:xfrm>
            <a:off x="2468880" y="1965960"/>
            <a:ext cx="502920" cy="274320"/>
          </a:xfrm>
          <a:prstGeom prst="rect">
            <a:avLst/>
          </a:prstGeom>
          <a:solidFill>
            <a:srgbClr val="FFFFFF"/>
          </a:solidFill>
          <a:ln w="3810">
            <a:solidFill>
              <a:srgbClr val="F0F0F0"/>
            </a:solidFill>
            <a:prstDash val="solid"/>
          </a:ln>
        </p:spPr>
        <p:txBody>
          <a:bodyPr/>
          <a:lstStyle/>
          <a:p>
            <a:endParaRPr lang="en-US"/>
          </a:p>
        </p:txBody>
      </p:sp>
      <p:sp>
        <p:nvSpPr>
          <p:cNvPr id="72" name="Text 70"/>
          <p:cNvSpPr/>
          <p:nvPr/>
        </p:nvSpPr>
        <p:spPr>
          <a:xfrm>
            <a:off x="2505456" y="196596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6</a:t>
            </a:r>
            <a:endParaRPr lang="en-US" sz="750" dirty="0"/>
          </a:p>
        </p:txBody>
      </p:sp>
      <p:sp>
        <p:nvSpPr>
          <p:cNvPr id="73" name="Shape 71"/>
          <p:cNvSpPr/>
          <p:nvPr/>
        </p:nvSpPr>
        <p:spPr>
          <a:xfrm>
            <a:off x="2971800" y="1965960"/>
            <a:ext cx="594360" cy="274320"/>
          </a:xfrm>
          <a:prstGeom prst="rect">
            <a:avLst/>
          </a:prstGeom>
          <a:solidFill>
            <a:srgbClr val="FFFFFF"/>
          </a:solidFill>
          <a:ln w="3810">
            <a:solidFill>
              <a:srgbClr val="F0F0F0"/>
            </a:solidFill>
            <a:prstDash val="solid"/>
          </a:ln>
        </p:spPr>
        <p:txBody>
          <a:bodyPr/>
          <a:lstStyle/>
          <a:p>
            <a:endParaRPr lang="en-US"/>
          </a:p>
        </p:txBody>
      </p:sp>
      <p:sp>
        <p:nvSpPr>
          <p:cNvPr id="74" name="Text 72"/>
          <p:cNvSpPr/>
          <p:nvPr/>
        </p:nvSpPr>
        <p:spPr>
          <a:xfrm>
            <a:off x="3008376" y="19659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8</a:t>
            </a:r>
            <a:endParaRPr lang="en-US" sz="750" dirty="0"/>
          </a:p>
        </p:txBody>
      </p:sp>
      <p:sp>
        <p:nvSpPr>
          <p:cNvPr id="75" name="Shape 73"/>
          <p:cNvSpPr/>
          <p:nvPr/>
        </p:nvSpPr>
        <p:spPr>
          <a:xfrm>
            <a:off x="3566160" y="1965960"/>
            <a:ext cx="1280160" cy="274320"/>
          </a:xfrm>
          <a:prstGeom prst="rect">
            <a:avLst/>
          </a:prstGeom>
          <a:solidFill>
            <a:srgbClr val="FFFFFF"/>
          </a:solidFill>
          <a:ln w="3810">
            <a:solidFill>
              <a:srgbClr val="F0F0F0"/>
            </a:solidFill>
            <a:prstDash val="solid"/>
          </a:ln>
        </p:spPr>
        <p:txBody>
          <a:bodyPr/>
          <a:lstStyle/>
          <a:p>
            <a:endParaRPr lang="en-US"/>
          </a:p>
        </p:txBody>
      </p:sp>
      <p:sp>
        <p:nvSpPr>
          <p:cNvPr id="76" name="Text 74"/>
          <p:cNvSpPr/>
          <p:nvPr/>
        </p:nvSpPr>
        <p:spPr>
          <a:xfrm>
            <a:off x="3602736" y="196596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worker</a:t>
            </a:r>
            <a:endParaRPr lang="en-US" sz="750" dirty="0"/>
          </a:p>
        </p:txBody>
      </p:sp>
      <p:sp>
        <p:nvSpPr>
          <p:cNvPr id="77" name="Shape 75"/>
          <p:cNvSpPr/>
          <p:nvPr/>
        </p:nvSpPr>
        <p:spPr>
          <a:xfrm>
            <a:off x="4846320" y="1965960"/>
            <a:ext cx="868680" cy="274320"/>
          </a:xfrm>
          <a:prstGeom prst="rect">
            <a:avLst/>
          </a:prstGeom>
          <a:solidFill>
            <a:srgbClr val="FFFFFF"/>
          </a:solidFill>
          <a:ln w="3810">
            <a:solidFill>
              <a:srgbClr val="F0F0F0"/>
            </a:solidFill>
            <a:prstDash val="solid"/>
          </a:ln>
        </p:spPr>
        <p:txBody>
          <a:bodyPr/>
          <a:lstStyle/>
          <a:p>
            <a:endParaRPr lang="en-US"/>
          </a:p>
        </p:txBody>
      </p:sp>
      <p:sp>
        <p:nvSpPr>
          <p:cNvPr id="78" name="Text 76"/>
          <p:cNvSpPr/>
          <p:nvPr/>
        </p:nvSpPr>
        <p:spPr>
          <a:xfrm>
            <a:off x="4882896" y="196596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79" name="Shape 77"/>
          <p:cNvSpPr/>
          <p:nvPr/>
        </p:nvSpPr>
        <p:spPr>
          <a:xfrm>
            <a:off x="5715000" y="1965960"/>
            <a:ext cx="594360" cy="274320"/>
          </a:xfrm>
          <a:prstGeom prst="rect">
            <a:avLst/>
          </a:prstGeom>
          <a:solidFill>
            <a:srgbClr val="FFFFFF"/>
          </a:solidFill>
          <a:ln w="3810">
            <a:solidFill>
              <a:srgbClr val="F0F0F0"/>
            </a:solidFill>
            <a:prstDash val="solid"/>
          </a:ln>
        </p:spPr>
        <p:txBody>
          <a:bodyPr/>
          <a:lstStyle/>
          <a:p>
            <a:endParaRPr lang="en-US"/>
          </a:p>
        </p:txBody>
      </p:sp>
      <p:sp>
        <p:nvSpPr>
          <p:cNvPr id="80" name="Text 78"/>
          <p:cNvSpPr/>
          <p:nvPr/>
        </p:nvSpPr>
        <p:spPr>
          <a:xfrm>
            <a:off x="5751576" y="19659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81" name="Shape 79"/>
          <p:cNvSpPr/>
          <p:nvPr/>
        </p:nvSpPr>
        <p:spPr>
          <a:xfrm>
            <a:off x="6309360" y="1965960"/>
            <a:ext cx="685800" cy="274320"/>
          </a:xfrm>
          <a:prstGeom prst="rect">
            <a:avLst/>
          </a:prstGeom>
          <a:solidFill>
            <a:srgbClr val="FFFFFF"/>
          </a:solidFill>
          <a:ln w="3810">
            <a:solidFill>
              <a:srgbClr val="F0F0F0"/>
            </a:solidFill>
            <a:prstDash val="solid"/>
          </a:ln>
        </p:spPr>
        <p:txBody>
          <a:bodyPr/>
          <a:lstStyle/>
          <a:p>
            <a:endParaRPr lang="en-US"/>
          </a:p>
        </p:txBody>
      </p:sp>
      <p:sp>
        <p:nvSpPr>
          <p:cNvPr id="82" name="Text 80"/>
          <p:cNvSpPr/>
          <p:nvPr/>
        </p:nvSpPr>
        <p:spPr>
          <a:xfrm>
            <a:off x="6345936" y="196596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83" name="Shape 81"/>
          <p:cNvSpPr/>
          <p:nvPr/>
        </p:nvSpPr>
        <p:spPr>
          <a:xfrm>
            <a:off x="502920" y="2240280"/>
            <a:ext cx="1143000" cy="274320"/>
          </a:xfrm>
          <a:prstGeom prst="rect">
            <a:avLst/>
          </a:prstGeom>
          <a:solidFill>
            <a:srgbClr val="F5F5F5"/>
          </a:solidFill>
          <a:ln w="3810">
            <a:solidFill>
              <a:srgbClr val="F0F0F0"/>
            </a:solidFill>
            <a:prstDash val="solid"/>
          </a:ln>
        </p:spPr>
        <p:txBody>
          <a:bodyPr/>
          <a:lstStyle/>
          <a:p>
            <a:endParaRPr lang="en-US"/>
          </a:p>
        </p:txBody>
      </p:sp>
      <p:sp>
        <p:nvSpPr>
          <p:cNvPr id="84" name="Text 82"/>
          <p:cNvSpPr/>
          <p:nvPr/>
        </p:nvSpPr>
        <p:spPr>
          <a:xfrm>
            <a:off x="539496" y="224028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data_analyst</a:t>
            </a:r>
            <a:endParaRPr lang="en-US" sz="750" dirty="0"/>
          </a:p>
        </p:txBody>
      </p:sp>
      <p:sp>
        <p:nvSpPr>
          <p:cNvPr id="85" name="Shape 83"/>
          <p:cNvSpPr/>
          <p:nvPr/>
        </p:nvSpPr>
        <p:spPr>
          <a:xfrm>
            <a:off x="1645920" y="2240280"/>
            <a:ext cx="822960" cy="274320"/>
          </a:xfrm>
          <a:prstGeom prst="rect">
            <a:avLst/>
          </a:prstGeom>
          <a:solidFill>
            <a:srgbClr val="F5F5F5"/>
          </a:solidFill>
          <a:ln w="3810">
            <a:solidFill>
              <a:srgbClr val="F0F0F0"/>
            </a:solidFill>
            <a:prstDash val="solid"/>
          </a:ln>
        </p:spPr>
        <p:txBody>
          <a:bodyPr/>
          <a:lstStyle/>
          <a:p>
            <a:endParaRPr lang="en-US"/>
          </a:p>
        </p:txBody>
      </p:sp>
      <p:sp>
        <p:nvSpPr>
          <p:cNvPr id="86" name="Text 84"/>
          <p:cNvSpPr/>
          <p:nvPr/>
        </p:nvSpPr>
        <p:spPr>
          <a:xfrm>
            <a:off x="1682496" y="224028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react</a:t>
            </a:r>
            <a:endParaRPr lang="en-US" sz="750" dirty="0"/>
          </a:p>
        </p:txBody>
      </p:sp>
      <p:sp>
        <p:nvSpPr>
          <p:cNvPr id="87" name="Shape 85"/>
          <p:cNvSpPr/>
          <p:nvPr/>
        </p:nvSpPr>
        <p:spPr>
          <a:xfrm>
            <a:off x="2468880" y="2240280"/>
            <a:ext cx="502920" cy="274320"/>
          </a:xfrm>
          <a:prstGeom prst="rect">
            <a:avLst/>
          </a:prstGeom>
          <a:solidFill>
            <a:srgbClr val="F5F5F5"/>
          </a:solidFill>
          <a:ln w="3810">
            <a:solidFill>
              <a:srgbClr val="F0F0F0"/>
            </a:solidFill>
            <a:prstDash val="solid"/>
          </a:ln>
        </p:spPr>
        <p:txBody>
          <a:bodyPr/>
          <a:lstStyle/>
          <a:p>
            <a:endParaRPr lang="en-US"/>
          </a:p>
        </p:txBody>
      </p:sp>
      <p:sp>
        <p:nvSpPr>
          <p:cNvPr id="88" name="Text 86"/>
          <p:cNvSpPr/>
          <p:nvPr/>
        </p:nvSpPr>
        <p:spPr>
          <a:xfrm>
            <a:off x="2505456" y="224028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14</a:t>
            </a:r>
            <a:endParaRPr lang="en-US" sz="750" dirty="0"/>
          </a:p>
        </p:txBody>
      </p:sp>
      <p:sp>
        <p:nvSpPr>
          <p:cNvPr id="89" name="Shape 87"/>
          <p:cNvSpPr/>
          <p:nvPr/>
        </p:nvSpPr>
        <p:spPr>
          <a:xfrm>
            <a:off x="2971800" y="2240280"/>
            <a:ext cx="594360" cy="274320"/>
          </a:xfrm>
          <a:prstGeom prst="rect">
            <a:avLst/>
          </a:prstGeom>
          <a:solidFill>
            <a:srgbClr val="F5F5F5"/>
          </a:solidFill>
          <a:ln w="3810">
            <a:solidFill>
              <a:srgbClr val="F0F0F0"/>
            </a:solidFill>
            <a:prstDash val="solid"/>
          </a:ln>
        </p:spPr>
        <p:txBody>
          <a:bodyPr/>
          <a:lstStyle/>
          <a:p>
            <a:endParaRPr lang="en-US"/>
          </a:p>
        </p:txBody>
      </p:sp>
      <p:sp>
        <p:nvSpPr>
          <p:cNvPr id="90" name="Text 88"/>
          <p:cNvSpPr/>
          <p:nvPr/>
        </p:nvSpPr>
        <p:spPr>
          <a:xfrm>
            <a:off x="3008376" y="22402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10</a:t>
            </a:r>
            <a:endParaRPr lang="en-US" sz="750" dirty="0"/>
          </a:p>
        </p:txBody>
      </p:sp>
      <p:sp>
        <p:nvSpPr>
          <p:cNvPr id="91" name="Shape 89"/>
          <p:cNvSpPr/>
          <p:nvPr/>
        </p:nvSpPr>
        <p:spPr>
          <a:xfrm>
            <a:off x="3566160" y="2240280"/>
            <a:ext cx="1280160" cy="274320"/>
          </a:xfrm>
          <a:prstGeom prst="rect">
            <a:avLst/>
          </a:prstGeom>
          <a:solidFill>
            <a:srgbClr val="F5F5F5"/>
          </a:solidFill>
          <a:ln w="3810">
            <a:solidFill>
              <a:srgbClr val="F0F0F0"/>
            </a:solidFill>
            <a:prstDash val="solid"/>
          </a:ln>
        </p:spPr>
        <p:txBody>
          <a:bodyPr/>
          <a:lstStyle/>
          <a:p>
            <a:endParaRPr lang="en-US"/>
          </a:p>
        </p:txBody>
      </p:sp>
      <p:sp>
        <p:nvSpPr>
          <p:cNvPr id="92" name="Text 90"/>
          <p:cNvSpPr/>
          <p:nvPr/>
        </p:nvSpPr>
        <p:spPr>
          <a:xfrm>
            <a:off x="3602736" y="224028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tl_or_worker</a:t>
            </a:r>
            <a:endParaRPr lang="en-US" sz="750" dirty="0"/>
          </a:p>
        </p:txBody>
      </p:sp>
      <p:sp>
        <p:nvSpPr>
          <p:cNvPr id="93" name="Shape 91"/>
          <p:cNvSpPr/>
          <p:nvPr/>
        </p:nvSpPr>
        <p:spPr>
          <a:xfrm>
            <a:off x="4846320" y="2240280"/>
            <a:ext cx="868680" cy="274320"/>
          </a:xfrm>
          <a:prstGeom prst="rect">
            <a:avLst/>
          </a:prstGeom>
          <a:solidFill>
            <a:srgbClr val="F5F5F5"/>
          </a:solidFill>
          <a:ln w="3810">
            <a:solidFill>
              <a:srgbClr val="F0F0F0"/>
            </a:solidFill>
            <a:prstDash val="solid"/>
          </a:ln>
        </p:spPr>
        <p:txBody>
          <a:bodyPr/>
          <a:lstStyle/>
          <a:p>
            <a:endParaRPr lang="en-US"/>
          </a:p>
        </p:txBody>
      </p:sp>
      <p:sp>
        <p:nvSpPr>
          <p:cNvPr id="94" name="Text 92"/>
          <p:cNvSpPr/>
          <p:nvPr/>
        </p:nvSpPr>
        <p:spPr>
          <a:xfrm>
            <a:off x="4882896" y="224028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95" name="Shape 93"/>
          <p:cNvSpPr/>
          <p:nvPr/>
        </p:nvSpPr>
        <p:spPr>
          <a:xfrm>
            <a:off x="5715000" y="2240280"/>
            <a:ext cx="594360" cy="274320"/>
          </a:xfrm>
          <a:prstGeom prst="rect">
            <a:avLst/>
          </a:prstGeom>
          <a:solidFill>
            <a:srgbClr val="F5F5F5"/>
          </a:solidFill>
          <a:ln w="3810">
            <a:solidFill>
              <a:srgbClr val="F0F0F0"/>
            </a:solidFill>
            <a:prstDash val="solid"/>
          </a:ln>
        </p:spPr>
        <p:txBody>
          <a:bodyPr/>
          <a:lstStyle/>
          <a:p>
            <a:endParaRPr lang="en-US"/>
          </a:p>
        </p:txBody>
      </p:sp>
      <p:sp>
        <p:nvSpPr>
          <p:cNvPr id="96" name="Text 94"/>
          <p:cNvSpPr/>
          <p:nvPr/>
        </p:nvSpPr>
        <p:spPr>
          <a:xfrm>
            <a:off x="5751576" y="22402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97" name="Shape 95"/>
          <p:cNvSpPr/>
          <p:nvPr/>
        </p:nvSpPr>
        <p:spPr>
          <a:xfrm>
            <a:off x="6309360" y="2240280"/>
            <a:ext cx="685800" cy="274320"/>
          </a:xfrm>
          <a:prstGeom prst="rect">
            <a:avLst/>
          </a:prstGeom>
          <a:solidFill>
            <a:srgbClr val="F5F5F5"/>
          </a:solidFill>
          <a:ln w="3810">
            <a:solidFill>
              <a:srgbClr val="F0F0F0"/>
            </a:solidFill>
            <a:prstDash val="solid"/>
          </a:ln>
        </p:spPr>
        <p:txBody>
          <a:bodyPr/>
          <a:lstStyle/>
          <a:p>
            <a:endParaRPr lang="en-US"/>
          </a:p>
        </p:txBody>
      </p:sp>
      <p:sp>
        <p:nvSpPr>
          <p:cNvPr id="98" name="Text 96"/>
          <p:cNvSpPr/>
          <p:nvPr/>
        </p:nvSpPr>
        <p:spPr>
          <a:xfrm>
            <a:off x="6345936" y="224028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99" name="Shape 97"/>
          <p:cNvSpPr/>
          <p:nvPr/>
        </p:nvSpPr>
        <p:spPr>
          <a:xfrm>
            <a:off x="502920" y="2514600"/>
            <a:ext cx="1143000" cy="274320"/>
          </a:xfrm>
          <a:prstGeom prst="rect">
            <a:avLst/>
          </a:prstGeom>
          <a:solidFill>
            <a:srgbClr val="FFFFFF"/>
          </a:solidFill>
          <a:ln w="3810">
            <a:solidFill>
              <a:srgbClr val="F0F0F0"/>
            </a:solidFill>
            <a:prstDash val="solid"/>
          </a:ln>
        </p:spPr>
        <p:txBody>
          <a:bodyPr/>
          <a:lstStyle/>
          <a:p>
            <a:endParaRPr lang="en-US"/>
          </a:p>
        </p:txBody>
      </p:sp>
      <p:sp>
        <p:nvSpPr>
          <p:cNvPr id="100" name="Text 98"/>
          <p:cNvSpPr/>
          <p:nvPr/>
        </p:nvSpPr>
        <p:spPr>
          <a:xfrm>
            <a:off x="539496" y="251460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rag_worker</a:t>
            </a:r>
            <a:endParaRPr lang="en-US" sz="750" dirty="0"/>
          </a:p>
        </p:txBody>
      </p:sp>
      <p:sp>
        <p:nvSpPr>
          <p:cNvPr id="101" name="Shape 99"/>
          <p:cNvSpPr/>
          <p:nvPr/>
        </p:nvSpPr>
        <p:spPr>
          <a:xfrm>
            <a:off x="1645920" y="2514600"/>
            <a:ext cx="822960" cy="274320"/>
          </a:xfrm>
          <a:prstGeom prst="rect">
            <a:avLst/>
          </a:prstGeom>
          <a:solidFill>
            <a:srgbClr val="FFFFFF"/>
          </a:solidFill>
          <a:ln w="3810">
            <a:solidFill>
              <a:srgbClr val="F0F0F0"/>
            </a:solidFill>
            <a:prstDash val="solid"/>
          </a:ln>
        </p:spPr>
        <p:txBody>
          <a:bodyPr/>
          <a:lstStyle/>
          <a:p>
            <a:endParaRPr lang="en-US"/>
          </a:p>
        </p:txBody>
      </p:sp>
      <p:sp>
        <p:nvSpPr>
          <p:cNvPr id="102" name="Text 100"/>
          <p:cNvSpPr/>
          <p:nvPr/>
        </p:nvSpPr>
        <p:spPr>
          <a:xfrm>
            <a:off x="1682496" y="251460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rag</a:t>
            </a:r>
            <a:endParaRPr lang="en-US" sz="750" dirty="0"/>
          </a:p>
        </p:txBody>
      </p:sp>
      <p:sp>
        <p:nvSpPr>
          <p:cNvPr id="103" name="Shape 101"/>
          <p:cNvSpPr/>
          <p:nvPr/>
        </p:nvSpPr>
        <p:spPr>
          <a:xfrm>
            <a:off x="2468880" y="2514600"/>
            <a:ext cx="502920" cy="274320"/>
          </a:xfrm>
          <a:prstGeom prst="rect">
            <a:avLst/>
          </a:prstGeom>
          <a:solidFill>
            <a:srgbClr val="FFFFFF"/>
          </a:solidFill>
          <a:ln w="3810">
            <a:solidFill>
              <a:srgbClr val="F0F0F0"/>
            </a:solidFill>
            <a:prstDash val="solid"/>
          </a:ln>
        </p:spPr>
        <p:txBody>
          <a:bodyPr/>
          <a:lstStyle/>
          <a:p>
            <a:endParaRPr lang="en-US"/>
          </a:p>
        </p:txBody>
      </p:sp>
      <p:sp>
        <p:nvSpPr>
          <p:cNvPr id="104" name="Text 102"/>
          <p:cNvSpPr/>
          <p:nvPr/>
        </p:nvSpPr>
        <p:spPr>
          <a:xfrm>
            <a:off x="2505456" y="251460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105" name="Shape 103"/>
          <p:cNvSpPr/>
          <p:nvPr/>
        </p:nvSpPr>
        <p:spPr>
          <a:xfrm>
            <a:off x="2971800" y="2514600"/>
            <a:ext cx="594360" cy="274320"/>
          </a:xfrm>
          <a:prstGeom prst="rect">
            <a:avLst/>
          </a:prstGeom>
          <a:solidFill>
            <a:srgbClr val="FFFFFF"/>
          </a:solidFill>
          <a:ln w="3810">
            <a:solidFill>
              <a:srgbClr val="F0F0F0"/>
            </a:solidFill>
            <a:prstDash val="solid"/>
          </a:ln>
        </p:spPr>
        <p:txBody>
          <a:bodyPr/>
          <a:lstStyle/>
          <a:p>
            <a:endParaRPr lang="en-US"/>
          </a:p>
        </p:txBody>
      </p:sp>
      <p:sp>
        <p:nvSpPr>
          <p:cNvPr id="106" name="Text 104"/>
          <p:cNvSpPr/>
          <p:nvPr/>
        </p:nvSpPr>
        <p:spPr>
          <a:xfrm>
            <a:off x="3008376" y="25146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07" name="Shape 105"/>
          <p:cNvSpPr/>
          <p:nvPr/>
        </p:nvSpPr>
        <p:spPr>
          <a:xfrm>
            <a:off x="3566160" y="2514600"/>
            <a:ext cx="1280160" cy="274320"/>
          </a:xfrm>
          <a:prstGeom prst="rect">
            <a:avLst/>
          </a:prstGeom>
          <a:solidFill>
            <a:srgbClr val="FFFFFF"/>
          </a:solidFill>
          <a:ln w="3810">
            <a:solidFill>
              <a:srgbClr val="F0F0F0"/>
            </a:solidFill>
            <a:prstDash val="solid"/>
          </a:ln>
        </p:spPr>
        <p:txBody>
          <a:bodyPr/>
          <a:lstStyle/>
          <a:p>
            <a:endParaRPr lang="en-US"/>
          </a:p>
        </p:txBody>
      </p:sp>
      <p:sp>
        <p:nvSpPr>
          <p:cNvPr id="108" name="Text 106"/>
          <p:cNvSpPr/>
          <p:nvPr/>
        </p:nvSpPr>
        <p:spPr>
          <a:xfrm>
            <a:off x="3602736" y="251460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tl_or_worker</a:t>
            </a:r>
            <a:endParaRPr lang="en-US" sz="750" dirty="0"/>
          </a:p>
        </p:txBody>
      </p:sp>
      <p:sp>
        <p:nvSpPr>
          <p:cNvPr id="109" name="Shape 107"/>
          <p:cNvSpPr/>
          <p:nvPr/>
        </p:nvSpPr>
        <p:spPr>
          <a:xfrm>
            <a:off x="4846320" y="2514600"/>
            <a:ext cx="868680" cy="274320"/>
          </a:xfrm>
          <a:prstGeom prst="rect">
            <a:avLst/>
          </a:prstGeom>
          <a:solidFill>
            <a:srgbClr val="FFFFFF"/>
          </a:solidFill>
          <a:ln w="3810">
            <a:solidFill>
              <a:srgbClr val="F0F0F0"/>
            </a:solidFill>
            <a:prstDash val="solid"/>
          </a:ln>
        </p:spPr>
        <p:txBody>
          <a:bodyPr/>
          <a:lstStyle/>
          <a:p>
            <a:endParaRPr lang="en-US"/>
          </a:p>
        </p:txBody>
      </p:sp>
      <p:sp>
        <p:nvSpPr>
          <p:cNvPr id="110" name="Text 108"/>
          <p:cNvSpPr/>
          <p:nvPr/>
        </p:nvSpPr>
        <p:spPr>
          <a:xfrm>
            <a:off x="4882896" y="251460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11" name="Shape 109"/>
          <p:cNvSpPr/>
          <p:nvPr/>
        </p:nvSpPr>
        <p:spPr>
          <a:xfrm>
            <a:off x="5715000" y="2514600"/>
            <a:ext cx="594360" cy="274320"/>
          </a:xfrm>
          <a:prstGeom prst="rect">
            <a:avLst/>
          </a:prstGeom>
          <a:solidFill>
            <a:srgbClr val="FFFFFF"/>
          </a:solidFill>
          <a:ln w="3810">
            <a:solidFill>
              <a:srgbClr val="F0F0F0"/>
            </a:solidFill>
            <a:prstDash val="solid"/>
          </a:ln>
        </p:spPr>
        <p:txBody>
          <a:bodyPr/>
          <a:lstStyle/>
          <a:p>
            <a:endParaRPr lang="en-US"/>
          </a:p>
        </p:txBody>
      </p:sp>
      <p:sp>
        <p:nvSpPr>
          <p:cNvPr id="112" name="Text 110"/>
          <p:cNvSpPr/>
          <p:nvPr/>
        </p:nvSpPr>
        <p:spPr>
          <a:xfrm>
            <a:off x="5751576" y="25146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113" name="Shape 111"/>
          <p:cNvSpPr/>
          <p:nvPr/>
        </p:nvSpPr>
        <p:spPr>
          <a:xfrm>
            <a:off x="6309360" y="2514600"/>
            <a:ext cx="685800" cy="274320"/>
          </a:xfrm>
          <a:prstGeom prst="rect">
            <a:avLst/>
          </a:prstGeom>
          <a:solidFill>
            <a:srgbClr val="FFFFFF"/>
          </a:solidFill>
          <a:ln w="3810">
            <a:solidFill>
              <a:srgbClr val="F0F0F0"/>
            </a:solidFill>
            <a:prstDash val="solid"/>
          </a:ln>
        </p:spPr>
        <p:txBody>
          <a:bodyPr/>
          <a:lstStyle/>
          <a:p>
            <a:endParaRPr lang="en-US"/>
          </a:p>
        </p:txBody>
      </p:sp>
      <p:sp>
        <p:nvSpPr>
          <p:cNvPr id="114" name="Text 112"/>
          <p:cNvSpPr/>
          <p:nvPr/>
        </p:nvSpPr>
        <p:spPr>
          <a:xfrm>
            <a:off x="6345936" y="251460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15" name="Shape 113"/>
          <p:cNvSpPr/>
          <p:nvPr/>
        </p:nvSpPr>
        <p:spPr>
          <a:xfrm>
            <a:off x="502920" y="2788920"/>
            <a:ext cx="1143000" cy="274320"/>
          </a:xfrm>
          <a:prstGeom prst="rect">
            <a:avLst/>
          </a:prstGeom>
          <a:solidFill>
            <a:srgbClr val="F5F5F5"/>
          </a:solidFill>
          <a:ln w="3810">
            <a:solidFill>
              <a:srgbClr val="F0F0F0"/>
            </a:solidFill>
            <a:prstDash val="solid"/>
          </a:ln>
        </p:spPr>
        <p:txBody>
          <a:bodyPr/>
          <a:lstStyle/>
          <a:p>
            <a:endParaRPr lang="en-US"/>
          </a:p>
        </p:txBody>
      </p:sp>
      <p:sp>
        <p:nvSpPr>
          <p:cNvPr id="116" name="Text 114"/>
          <p:cNvSpPr/>
          <p:nvPr/>
        </p:nvSpPr>
        <p:spPr>
          <a:xfrm>
            <a:off x="539496" y="278892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planner</a:t>
            </a:r>
            <a:endParaRPr lang="en-US" sz="750" dirty="0"/>
          </a:p>
        </p:txBody>
      </p:sp>
      <p:sp>
        <p:nvSpPr>
          <p:cNvPr id="117" name="Shape 115"/>
          <p:cNvSpPr/>
          <p:nvPr/>
        </p:nvSpPr>
        <p:spPr>
          <a:xfrm>
            <a:off x="1645920" y="2788920"/>
            <a:ext cx="822960" cy="274320"/>
          </a:xfrm>
          <a:prstGeom prst="rect">
            <a:avLst/>
          </a:prstGeom>
          <a:solidFill>
            <a:srgbClr val="F5F5F5"/>
          </a:solidFill>
          <a:ln w="3810">
            <a:solidFill>
              <a:srgbClr val="F0F0F0"/>
            </a:solidFill>
            <a:prstDash val="solid"/>
          </a:ln>
        </p:spPr>
        <p:txBody>
          <a:bodyPr/>
          <a:lstStyle/>
          <a:p>
            <a:endParaRPr lang="en-US"/>
          </a:p>
        </p:txBody>
      </p:sp>
      <p:sp>
        <p:nvSpPr>
          <p:cNvPr id="118" name="Text 116"/>
          <p:cNvSpPr/>
          <p:nvPr/>
        </p:nvSpPr>
        <p:spPr>
          <a:xfrm>
            <a:off x="1682496" y="278892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planner</a:t>
            </a:r>
            <a:endParaRPr lang="en-US" sz="750" dirty="0"/>
          </a:p>
        </p:txBody>
      </p:sp>
      <p:sp>
        <p:nvSpPr>
          <p:cNvPr id="119" name="Shape 117"/>
          <p:cNvSpPr/>
          <p:nvPr/>
        </p:nvSpPr>
        <p:spPr>
          <a:xfrm>
            <a:off x="2468880" y="2788920"/>
            <a:ext cx="502920" cy="274320"/>
          </a:xfrm>
          <a:prstGeom prst="rect">
            <a:avLst/>
          </a:prstGeom>
          <a:solidFill>
            <a:srgbClr val="F5F5F5"/>
          </a:solidFill>
          <a:ln w="3810">
            <a:solidFill>
              <a:srgbClr val="F0F0F0"/>
            </a:solidFill>
            <a:prstDash val="solid"/>
          </a:ln>
        </p:spPr>
        <p:txBody>
          <a:bodyPr/>
          <a:lstStyle/>
          <a:p>
            <a:endParaRPr lang="en-US"/>
          </a:p>
        </p:txBody>
      </p:sp>
      <p:sp>
        <p:nvSpPr>
          <p:cNvPr id="120" name="Text 118"/>
          <p:cNvSpPr/>
          <p:nvPr/>
        </p:nvSpPr>
        <p:spPr>
          <a:xfrm>
            <a:off x="2505456" y="278892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121" name="Shape 119"/>
          <p:cNvSpPr/>
          <p:nvPr/>
        </p:nvSpPr>
        <p:spPr>
          <a:xfrm>
            <a:off x="2971800" y="2788920"/>
            <a:ext cx="594360" cy="274320"/>
          </a:xfrm>
          <a:prstGeom prst="rect">
            <a:avLst/>
          </a:prstGeom>
          <a:solidFill>
            <a:srgbClr val="F5F5F5"/>
          </a:solidFill>
          <a:ln w="3810">
            <a:solidFill>
              <a:srgbClr val="F0F0F0"/>
            </a:solidFill>
            <a:prstDash val="solid"/>
          </a:ln>
        </p:spPr>
        <p:txBody>
          <a:bodyPr/>
          <a:lstStyle/>
          <a:p>
            <a:endParaRPr lang="en-US"/>
          </a:p>
        </p:txBody>
      </p:sp>
      <p:sp>
        <p:nvSpPr>
          <p:cNvPr id="122" name="Text 120"/>
          <p:cNvSpPr/>
          <p:nvPr/>
        </p:nvSpPr>
        <p:spPr>
          <a:xfrm>
            <a:off x="3008376" y="27889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23" name="Shape 121"/>
          <p:cNvSpPr/>
          <p:nvPr/>
        </p:nvSpPr>
        <p:spPr>
          <a:xfrm>
            <a:off x="3566160" y="2788920"/>
            <a:ext cx="1280160" cy="274320"/>
          </a:xfrm>
          <a:prstGeom prst="rect">
            <a:avLst/>
          </a:prstGeom>
          <a:solidFill>
            <a:srgbClr val="F5F5F5"/>
          </a:solidFill>
          <a:ln w="3810">
            <a:solidFill>
              <a:srgbClr val="F0F0F0"/>
            </a:solidFill>
            <a:prstDash val="solid"/>
          </a:ln>
        </p:spPr>
        <p:txBody>
          <a:bodyPr/>
          <a:lstStyle/>
          <a:p>
            <a:endParaRPr lang="en-US"/>
          </a:p>
        </p:txBody>
      </p:sp>
      <p:sp>
        <p:nvSpPr>
          <p:cNvPr id="124" name="Text 122"/>
          <p:cNvSpPr/>
          <p:nvPr/>
        </p:nvSpPr>
        <p:spPr>
          <a:xfrm>
            <a:off x="3602736" y="278892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coord_only</a:t>
            </a:r>
            <a:endParaRPr lang="en-US" sz="750" dirty="0"/>
          </a:p>
        </p:txBody>
      </p:sp>
      <p:sp>
        <p:nvSpPr>
          <p:cNvPr id="125" name="Shape 123"/>
          <p:cNvSpPr/>
          <p:nvPr/>
        </p:nvSpPr>
        <p:spPr>
          <a:xfrm>
            <a:off x="4846320" y="2788920"/>
            <a:ext cx="868680" cy="274320"/>
          </a:xfrm>
          <a:prstGeom prst="rect">
            <a:avLst/>
          </a:prstGeom>
          <a:solidFill>
            <a:srgbClr val="F5F5F5"/>
          </a:solidFill>
          <a:ln w="3810">
            <a:solidFill>
              <a:srgbClr val="F0F0F0"/>
            </a:solidFill>
            <a:prstDash val="solid"/>
          </a:ln>
        </p:spPr>
        <p:txBody>
          <a:bodyPr/>
          <a:lstStyle/>
          <a:p>
            <a:endParaRPr lang="en-US"/>
          </a:p>
        </p:txBody>
      </p:sp>
      <p:sp>
        <p:nvSpPr>
          <p:cNvPr id="126" name="Text 124"/>
          <p:cNvSpPr/>
          <p:nvPr/>
        </p:nvSpPr>
        <p:spPr>
          <a:xfrm>
            <a:off x="4882896" y="278892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27" name="Shape 125"/>
          <p:cNvSpPr/>
          <p:nvPr/>
        </p:nvSpPr>
        <p:spPr>
          <a:xfrm>
            <a:off x="5715000" y="2788920"/>
            <a:ext cx="594360" cy="274320"/>
          </a:xfrm>
          <a:prstGeom prst="rect">
            <a:avLst/>
          </a:prstGeom>
          <a:solidFill>
            <a:srgbClr val="F5F5F5"/>
          </a:solidFill>
          <a:ln w="3810">
            <a:solidFill>
              <a:srgbClr val="F0F0F0"/>
            </a:solidFill>
            <a:prstDash val="solid"/>
          </a:ln>
        </p:spPr>
        <p:txBody>
          <a:bodyPr/>
          <a:lstStyle/>
          <a:p>
            <a:endParaRPr lang="en-US"/>
          </a:p>
        </p:txBody>
      </p:sp>
      <p:sp>
        <p:nvSpPr>
          <p:cNvPr id="128" name="Text 126"/>
          <p:cNvSpPr/>
          <p:nvPr/>
        </p:nvSpPr>
        <p:spPr>
          <a:xfrm>
            <a:off x="5751576" y="27889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29" name="Shape 127"/>
          <p:cNvSpPr/>
          <p:nvPr/>
        </p:nvSpPr>
        <p:spPr>
          <a:xfrm>
            <a:off x="6309360" y="2788920"/>
            <a:ext cx="685800" cy="274320"/>
          </a:xfrm>
          <a:prstGeom prst="rect">
            <a:avLst/>
          </a:prstGeom>
          <a:solidFill>
            <a:srgbClr val="F5F5F5"/>
          </a:solidFill>
          <a:ln w="3810">
            <a:solidFill>
              <a:srgbClr val="F0F0F0"/>
            </a:solidFill>
            <a:prstDash val="solid"/>
          </a:ln>
        </p:spPr>
        <p:txBody>
          <a:bodyPr/>
          <a:lstStyle/>
          <a:p>
            <a:endParaRPr lang="en-US"/>
          </a:p>
        </p:txBody>
      </p:sp>
      <p:sp>
        <p:nvSpPr>
          <p:cNvPr id="130" name="Text 128"/>
          <p:cNvSpPr/>
          <p:nvPr/>
        </p:nvSpPr>
        <p:spPr>
          <a:xfrm>
            <a:off x="6345936" y="278892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31" name="Shape 129"/>
          <p:cNvSpPr/>
          <p:nvPr/>
        </p:nvSpPr>
        <p:spPr>
          <a:xfrm>
            <a:off x="502920" y="3063240"/>
            <a:ext cx="1143000" cy="274320"/>
          </a:xfrm>
          <a:prstGeom prst="rect">
            <a:avLst/>
          </a:prstGeom>
          <a:solidFill>
            <a:srgbClr val="FFFFFF"/>
          </a:solidFill>
          <a:ln w="3810">
            <a:solidFill>
              <a:srgbClr val="F0F0F0"/>
            </a:solidFill>
            <a:prstDash val="solid"/>
          </a:ln>
        </p:spPr>
        <p:txBody>
          <a:bodyPr/>
          <a:lstStyle/>
          <a:p>
            <a:endParaRPr lang="en-US"/>
          </a:p>
        </p:txBody>
      </p:sp>
      <p:sp>
        <p:nvSpPr>
          <p:cNvPr id="132" name="Text 130"/>
          <p:cNvSpPr/>
          <p:nvPr/>
        </p:nvSpPr>
        <p:spPr>
          <a:xfrm>
            <a:off x="539496" y="306324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finalizer</a:t>
            </a:r>
            <a:endParaRPr lang="en-US" sz="750" dirty="0"/>
          </a:p>
        </p:txBody>
      </p:sp>
      <p:sp>
        <p:nvSpPr>
          <p:cNvPr id="133" name="Shape 131"/>
          <p:cNvSpPr/>
          <p:nvPr/>
        </p:nvSpPr>
        <p:spPr>
          <a:xfrm>
            <a:off x="1645920" y="3063240"/>
            <a:ext cx="822960" cy="274320"/>
          </a:xfrm>
          <a:prstGeom prst="rect">
            <a:avLst/>
          </a:prstGeom>
          <a:solidFill>
            <a:srgbClr val="FFFFFF"/>
          </a:solidFill>
          <a:ln w="3810">
            <a:solidFill>
              <a:srgbClr val="F0F0F0"/>
            </a:solidFill>
            <a:prstDash val="solid"/>
          </a:ln>
        </p:spPr>
        <p:txBody>
          <a:bodyPr/>
          <a:lstStyle/>
          <a:p>
            <a:endParaRPr lang="en-US"/>
          </a:p>
        </p:txBody>
      </p:sp>
      <p:sp>
        <p:nvSpPr>
          <p:cNvPr id="134" name="Text 132"/>
          <p:cNvSpPr/>
          <p:nvPr/>
        </p:nvSpPr>
        <p:spPr>
          <a:xfrm>
            <a:off x="1682496" y="306324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final.</a:t>
            </a:r>
            <a:endParaRPr lang="en-US" sz="750" dirty="0"/>
          </a:p>
        </p:txBody>
      </p:sp>
      <p:sp>
        <p:nvSpPr>
          <p:cNvPr id="135" name="Shape 133"/>
          <p:cNvSpPr/>
          <p:nvPr/>
        </p:nvSpPr>
        <p:spPr>
          <a:xfrm>
            <a:off x="2468880" y="3063240"/>
            <a:ext cx="502920" cy="274320"/>
          </a:xfrm>
          <a:prstGeom prst="rect">
            <a:avLst/>
          </a:prstGeom>
          <a:solidFill>
            <a:srgbClr val="FFFFFF"/>
          </a:solidFill>
          <a:ln w="3810">
            <a:solidFill>
              <a:srgbClr val="F0F0F0"/>
            </a:solidFill>
            <a:prstDash val="solid"/>
          </a:ln>
        </p:spPr>
        <p:txBody>
          <a:bodyPr/>
          <a:lstStyle/>
          <a:p>
            <a:endParaRPr lang="en-US"/>
          </a:p>
        </p:txBody>
      </p:sp>
      <p:sp>
        <p:nvSpPr>
          <p:cNvPr id="136" name="Text 134"/>
          <p:cNvSpPr/>
          <p:nvPr/>
        </p:nvSpPr>
        <p:spPr>
          <a:xfrm>
            <a:off x="2505456" y="306324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137" name="Shape 135"/>
          <p:cNvSpPr/>
          <p:nvPr/>
        </p:nvSpPr>
        <p:spPr>
          <a:xfrm>
            <a:off x="2971800" y="3063240"/>
            <a:ext cx="594360" cy="274320"/>
          </a:xfrm>
          <a:prstGeom prst="rect">
            <a:avLst/>
          </a:prstGeom>
          <a:solidFill>
            <a:srgbClr val="FFFFFF"/>
          </a:solidFill>
          <a:ln w="3810">
            <a:solidFill>
              <a:srgbClr val="F0F0F0"/>
            </a:solidFill>
            <a:prstDash val="solid"/>
          </a:ln>
        </p:spPr>
        <p:txBody>
          <a:bodyPr/>
          <a:lstStyle/>
          <a:p>
            <a:endParaRPr lang="en-US"/>
          </a:p>
        </p:txBody>
      </p:sp>
      <p:sp>
        <p:nvSpPr>
          <p:cNvPr id="138" name="Text 136"/>
          <p:cNvSpPr/>
          <p:nvPr/>
        </p:nvSpPr>
        <p:spPr>
          <a:xfrm>
            <a:off x="3008376" y="30632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39" name="Shape 137"/>
          <p:cNvSpPr/>
          <p:nvPr/>
        </p:nvSpPr>
        <p:spPr>
          <a:xfrm>
            <a:off x="3566160" y="3063240"/>
            <a:ext cx="1280160" cy="274320"/>
          </a:xfrm>
          <a:prstGeom prst="rect">
            <a:avLst/>
          </a:prstGeom>
          <a:solidFill>
            <a:srgbClr val="FFFFFF"/>
          </a:solidFill>
          <a:ln w="3810">
            <a:solidFill>
              <a:srgbClr val="F0F0F0"/>
            </a:solidFill>
            <a:prstDash val="solid"/>
          </a:ln>
        </p:spPr>
        <p:txBody>
          <a:bodyPr/>
          <a:lstStyle/>
          <a:p>
            <a:endParaRPr lang="en-US"/>
          </a:p>
        </p:txBody>
      </p:sp>
      <p:sp>
        <p:nvSpPr>
          <p:cNvPr id="140" name="Text 138"/>
          <p:cNvSpPr/>
          <p:nvPr/>
        </p:nvSpPr>
        <p:spPr>
          <a:xfrm>
            <a:off x="3602736" y="306324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coord_only</a:t>
            </a:r>
            <a:endParaRPr lang="en-US" sz="750" dirty="0"/>
          </a:p>
        </p:txBody>
      </p:sp>
      <p:sp>
        <p:nvSpPr>
          <p:cNvPr id="141" name="Shape 139"/>
          <p:cNvSpPr/>
          <p:nvPr/>
        </p:nvSpPr>
        <p:spPr>
          <a:xfrm>
            <a:off x="4846320" y="3063240"/>
            <a:ext cx="868680" cy="274320"/>
          </a:xfrm>
          <a:prstGeom prst="rect">
            <a:avLst/>
          </a:prstGeom>
          <a:solidFill>
            <a:srgbClr val="FFFFFF"/>
          </a:solidFill>
          <a:ln w="3810">
            <a:solidFill>
              <a:srgbClr val="F0F0F0"/>
            </a:solidFill>
            <a:prstDash val="solid"/>
          </a:ln>
        </p:spPr>
        <p:txBody>
          <a:bodyPr/>
          <a:lstStyle/>
          <a:p>
            <a:endParaRPr lang="en-US"/>
          </a:p>
        </p:txBody>
      </p:sp>
      <p:sp>
        <p:nvSpPr>
          <p:cNvPr id="142" name="Text 140"/>
          <p:cNvSpPr/>
          <p:nvPr/>
        </p:nvSpPr>
        <p:spPr>
          <a:xfrm>
            <a:off x="4882896" y="306324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43" name="Shape 141"/>
          <p:cNvSpPr/>
          <p:nvPr/>
        </p:nvSpPr>
        <p:spPr>
          <a:xfrm>
            <a:off x="5715000" y="3063240"/>
            <a:ext cx="594360" cy="274320"/>
          </a:xfrm>
          <a:prstGeom prst="rect">
            <a:avLst/>
          </a:prstGeom>
          <a:solidFill>
            <a:srgbClr val="FFFFFF"/>
          </a:solidFill>
          <a:ln w="3810">
            <a:solidFill>
              <a:srgbClr val="F0F0F0"/>
            </a:solidFill>
            <a:prstDash val="solid"/>
          </a:ln>
        </p:spPr>
        <p:txBody>
          <a:bodyPr/>
          <a:lstStyle/>
          <a:p>
            <a:endParaRPr lang="en-US"/>
          </a:p>
        </p:txBody>
      </p:sp>
      <p:sp>
        <p:nvSpPr>
          <p:cNvPr id="144" name="Text 142"/>
          <p:cNvSpPr/>
          <p:nvPr/>
        </p:nvSpPr>
        <p:spPr>
          <a:xfrm>
            <a:off x="5751576" y="30632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45" name="Shape 143"/>
          <p:cNvSpPr/>
          <p:nvPr/>
        </p:nvSpPr>
        <p:spPr>
          <a:xfrm>
            <a:off x="6309360" y="3063240"/>
            <a:ext cx="685800" cy="274320"/>
          </a:xfrm>
          <a:prstGeom prst="rect">
            <a:avLst/>
          </a:prstGeom>
          <a:solidFill>
            <a:srgbClr val="FFFFFF"/>
          </a:solidFill>
          <a:ln w="3810">
            <a:solidFill>
              <a:srgbClr val="F0F0F0"/>
            </a:solidFill>
            <a:prstDash val="solid"/>
          </a:ln>
        </p:spPr>
        <p:txBody>
          <a:bodyPr/>
          <a:lstStyle/>
          <a:p>
            <a:endParaRPr lang="en-US"/>
          </a:p>
        </p:txBody>
      </p:sp>
      <p:sp>
        <p:nvSpPr>
          <p:cNvPr id="146" name="Text 144"/>
          <p:cNvSpPr/>
          <p:nvPr/>
        </p:nvSpPr>
        <p:spPr>
          <a:xfrm>
            <a:off x="6345936" y="306324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47" name="Shape 145"/>
          <p:cNvSpPr/>
          <p:nvPr/>
        </p:nvSpPr>
        <p:spPr>
          <a:xfrm>
            <a:off x="502920" y="3337560"/>
            <a:ext cx="1143000" cy="274320"/>
          </a:xfrm>
          <a:prstGeom prst="rect">
            <a:avLst/>
          </a:prstGeom>
          <a:solidFill>
            <a:srgbClr val="F5F5F5"/>
          </a:solidFill>
          <a:ln w="3810">
            <a:solidFill>
              <a:srgbClr val="F0F0F0"/>
            </a:solidFill>
            <a:prstDash val="solid"/>
          </a:ln>
        </p:spPr>
        <p:txBody>
          <a:bodyPr/>
          <a:lstStyle/>
          <a:p>
            <a:endParaRPr lang="en-US"/>
          </a:p>
        </p:txBody>
      </p:sp>
      <p:sp>
        <p:nvSpPr>
          <p:cNvPr id="148" name="Text 146"/>
          <p:cNvSpPr/>
          <p:nvPr/>
        </p:nvSpPr>
        <p:spPr>
          <a:xfrm>
            <a:off x="539496" y="333756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verifier</a:t>
            </a:r>
            <a:endParaRPr lang="en-US" sz="750" dirty="0"/>
          </a:p>
        </p:txBody>
      </p:sp>
      <p:sp>
        <p:nvSpPr>
          <p:cNvPr id="149" name="Shape 147"/>
          <p:cNvSpPr/>
          <p:nvPr/>
        </p:nvSpPr>
        <p:spPr>
          <a:xfrm>
            <a:off x="1645920" y="3337560"/>
            <a:ext cx="822960" cy="274320"/>
          </a:xfrm>
          <a:prstGeom prst="rect">
            <a:avLst/>
          </a:prstGeom>
          <a:solidFill>
            <a:srgbClr val="F5F5F5"/>
          </a:solidFill>
          <a:ln w="3810">
            <a:solidFill>
              <a:srgbClr val="F0F0F0"/>
            </a:solidFill>
            <a:prstDash val="solid"/>
          </a:ln>
        </p:spPr>
        <p:txBody>
          <a:bodyPr/>
          <a:lstStyle/>
          <a:p>
            <a:endParaRPr lang="en-US"/>
          </a:p>
        </p:txBody>
      </p:sp>
      <p:sp>
        <p:nvSpPr>
          <p:cNvPr id="150" name="Text 148"/>
          <p:cNvSpPr/>
          <p:nvPr/>
        </p:nvSpPr>
        <p:spPr>
          <a:xfrm>
            <a:off x="1682496" y="333756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verifier</a:t>
            </a:r>
            <a:endParaRPr lang="en-US" sz="750" dirty="0"/>
          </a:p>
        </p:txBody>
      </p:sp>
      <p:sp>
        <p:nvSpPr>
          <p:cNvPr id="151" name="Shape 149"/>
          <p:cNvSpPr/>
          <p:nvPr/>
        </p:nvSpPr>
        <p:spPr>
          <a:xfrm>
            <a:off x="2468880" y="3337560"/>
            <a:ext cx="502920" cy="274320"/>
          </a:xfrm>
          <a:prstGeom prst="rect">
            <a:avLst/>
          </a:prstGeom>
          <a:solidFill>
            <a:srgbClr val="F5F5F5"/>
          </a:solidFill>
          <a:ln w="3810">
            <a:solidFill>
              <a:srgbClr val="F0F0F0"/>
            </a:solidFill>
            <a:prstDash val="solid"/>
          </a:ln>
        </p:spPr>
        <p:txBody>
          <a:bodyPr/>
          <a:lstStyle/>
          <a:p>
            <a:endParaRPr lang="en-US"/>
          </a:p>
        </p:txBody>
      </p:sp>
      <p:sp>
        <p:nvSpPr>
          <p:cNvPr id="152" name="Text 150"/>
          <p:cNvSpPr/>
          <p:nvPr/>
        </p:nvSpPr>
        <p:spPr>
          <a:xfrm>
            <a:off x="2505456" y="333756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3</a:t>
            </a:r>
            <a:endParaRPr lang="en-US" sz="750" dirty="0"/>
          </a:p>
        </p:txBody>
      </p:sp>
      <p:sp>
        <p:nvSpPr>
          <p:cNvPr id="153" name="Shape 151"/>
          <p:cNvSpPr/>
          <p:nvPr/>
        </p:nvSpPr>
        <p:spPr>
          <a:xfrm>
            <a:off x="2971800" y="3337560"/>
            <a:ext cx="594360" cy="274320"/>
          </a:xfrm>
          <a:prstGeom prst="rect">
            <a:avLst/>
          </a:prstGeom>
          <a:solidFill>
            <a:srgbClr val="F5F5F5"/>
          </a:solidFill>
          <a:ln w="3810">
            <a:solidFill>
              <a:srgbClr val="F0F0F0"/>
            </a:solidFill>
            <a:prstDash val="solid"/>
          </a:ln>
        </p:spPr>
        <p:txBody>
          <a:bodyPr/>
          <a:lstStyle/>
          <a:p>
            <a:endParaRPr lang="en-US"/>
          </a:p>
        </p:txBody>
      </p:sp>
      <p:sp>
        <p:nvSpPr>
          <p:cNvPr id="154" name="Text 152"/>
          <p:cNvSpPr/>
          <p:nvPr/>
        </p:nvSpPr>
        <p:spPr>
          <a:xfrm>
            <a:off x="3008376" y="33375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55" name="Shape 153"/>
          <p:cNvSpPr/>
          <p:nvPr/>
        </p:nvSpPr>
        <p:spPr>
          <a:xfrm>
            <a:off x="3566160" y="3337560"/>
            <a:ext cx="1280160" cy="274320"/>
          </a:xfrm>
          <a:prstGeom prst="rect">
            <a:avLst/>
          </a:prstGeom>
          <a:solidFill>
            <a:srgbClr val="F5F5F5"/>
          </a:solidFill>
          <a:ln w="3810">
            <a:solidFill>
              <a:srgbClr val="F0F0F0"/>
            </a:solidFill>
            <a:prstDash val="solid"/>
          </a:ln>
        </p:spPr>
        <p:txBody>
          <a:bodyPr/>
          <a:lstStyle/>
          <a:p>
            <a:endParaRPr lang="en-US"/>
          </a:p>
        </p:txBody>
      </p:sp>
      <p:sp>
        <p:nvSpPr>
          <p:cNvPr id="156" name="Text 154"/>
          <p:cNvSpPr/>
          <p:nvPr/>
        </p:nvSpPr>
        <p:spPr>
          <a:xfrm>
            <a:off x="3602736" y="333756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coord_only</a:t>
            </a:r>
            <a:endParaRPr lang="en-US" sz="750" dirty="0"/>
          </a:p>
        </p:txBody>
      </p:sp>
      <p:sp>
        <p:nvSpPr>
          <p:cNvPr id="157" name="Shape 155"/>
          <p:cNvSpPr/>
          <p:nvPr/>
        </p:nvSpPr>
        <p:spPr>
          <a:xfrm>
            <a:off x="4846320" y="3337560"/>
            <a:ext cx="868680" cy="274320"/>
          </a:xfrm>
          <a:prstGeom prst="rect">
            <a:avLst/>
          </a:prstGeom>
          <a:solidFill>
            <a:srgbClr val="F5F5F5"/>
          </a:solidFill>
          <a:ln w="3810">
            <a:solidFill>
              <a:srgbClr val="F0F0F0"/>
            </a:solidFill>
            <a:prstDash val="solid"/>
          </a:ln>
        </p:spPr>
        <p:txBody>
          <a:bodyPr/>
          <a:lstStyle/>
          <a:p>
            <a:endParaRPr lang="en-US"/>
          </a:p>
        </p:txBody>
      </p:sp>
      <p:sp>
        <p:nvSpPr>
          <p:cNvPr id="158" name="Text 156"/>
          <p:cNvSpPr/>
          <p:nvPr/>
        </p:nvSpPr>
        <p:spPr>
          <a:xfrm>
            <a:off x="4882896" y="333756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59" name="Shape 157"/>
          <p:cNvSpPr/>
          <p:nvPr/>
        </p:nvSpPr>
        <p:spPr>
          <a:xfrm>
            <a:off x="5715000" y="3337560"/>
            <a:ext cx="594360" cy="274320"/>
          </a:xfrm>
          <a:prstGeom prst="rect">
            <a:avLst/>
          </a:prstGeom>
          <a:solidFill>
            <a:srgbClr val="F5F5F5"/>
          </a:solidFill>
          <a:ln w="3810">
            <a:solidFill>
              <a:srgbClr val="F0F0F0"/>
            </a:solidFill>
            <a:prstDash val="solid"/>
          </a:ln>
        </p:spPr>
        <p:txBody>
          <a:bodyPr/>
          <a:lstStyle/>
          <a:p>
            <a:endParaRPr lang="en-US"/>
          </a:p>
        </p:txBody>
      </p:sp>
      <p:sp>
        <p:nvSpPr>
          <p:cNvPr id="160" name="Text 158"/>
          <p:cNvSpPr/>
          <p:nvPr/>
        </p:nvSpPr>
        <p:spPr>
          <a:xfrm>
            <a:off x="5751576" y="33375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161" name="Shape 159"/>
          <p:cNvSpPr/>
          <p:nvPr/>
        </p:nvSpPr>
        <p:spPr>
          <a:xfrm>
            <a:off x="6309360" y="3337560"/>
            <a:ext cx="685800" cy="274320"/>
          </a:xfrm>
          <a:prstGeom prst="rect">
            <a:avLst/>
          </a:prstGeom>
          <a:solidFill>
            <a:srgbClr val="F5F5F5"/>
          </a:solidFill>
          <a:ln w="3810">
            <a:solidFill>
              <a:srgbClr val="F0F0F0"/>
            </a:solidFill>
            <a:prstDash val="solid"/>
          </a:ln>
        </p:spPr>
        <p:txBody>
          <a:bodyPr/>
          <a:lstStyle/>
          <a:p>
            <a:endParaRPr lang="en-US"/>
          </a:p>
        </p:txBody>
      </p:sp>
      <p:sp>
        <p:nvSpPr>
          <p:cNvPr id="162" name="Text 160"/>
          <p:cNvSpPr/>
          <p:nvPr/>
        </p:nvSpPr>
        <p:spPr>
          <a:xfrm>
            <a:off x="6345936" y="333756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63" name="Shape 161"/>
          <p:cNvSpPr/>
          <p:nvPr/>
        </p:nvSpPr>
        <p:spPr>
          <a:xfrm>
            <a:off x="502920" y="3611880"/>
            <a:ext cx="1143000" cy="274320"/>
          </a:xfrm>
          <a:prstGeom prst="rect">
            <a:avLst/>
          </a:prstGeom>
          <a:solidFill>
            <a:srgbClr val="FFFFFF"/>
          </a:solidFill>
          <a:ln w="3810">
            <a:solidFill>
              <a:srgbClr val="F0F0F0"/>
            </a:solidFill>
            <a:prstDash val="solid"/>
          </a:ln>
        </p:spPr>
        <p:txBody>
          <a:bodyPr/>
          <a:lstStyle/>
          <a:p>
            <a:endParaRPr lang="en-US"/>
          </a:p>
        </p:txBody>
      </p:sp>
      <p:sp>
        <p:nvSpPr>
          <p:cNvPr id="164" name="Text 162"/>
          <p:cNvSpPr/>
          <p:nvPr/>
        </p:nvSpPr>
        <p:spPr>
          <a:xfrm>
            <a:off x="539496" y="361188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memory_m.</a:t>
            </a:r>
            <a:endParaRPr lang="en-US" sz="750" dirty="0"/>
          </a:p>
        </p:txBody>
      </p:sp>
      <p:sp>
        <p:nvSpPr>
          <p:cNvPr id="165" name="Shape 163"/>
          <p:cNvSpPr/>
          <p:nvPr/>
        </p:nvSpPr>
        <p:spPr>
          <a:xfrm>
            <a:off x="1645920" y="3611880"/>
            <a:ext cx="822960" cy="274320"/>
          </a:xfrm>
          <a:prstGeom prst="rect">
            <a:avLst/>
          </a:prstGeom>
          <a:solidFill>
            <a:srgbClr val="FFFFFF"/>
          </a:solidFill>
          <a:ln w="3810">
            <a:solidFill>
              <a:srgbClr val="F0F0F0"/>
            </a:solidFill>
            <a:prstDash val="solid"/>
          </a:ln>
        </p:spPr>
        <p:txBody>
          <a:bodyPr/>
          <a:lstStyle/>
          <a:p>
            <a:endParaRPr lang="en-US"/>
          </a:p>
        </p:txBody>
      </p:sp>
      <p:sp>
        <p:nvSpPr>
          <p:cNvPr id="166" name="Text 164"/>
          <p:cNvSpPr/>
          <p:nvPr/>
        </p:nvSpPr>
        <p:spPr>
          <a:xfrm>
            <a:off x="1682496" y="361188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memory</a:t>
            </a:r>
            <a:endParaRPr lang="en-US" sz="750" dirty="0"/>
          </a:p>
        </p:txBody>
      </p:sp>
      <p:sp>
        <p:nvSpPr>
          <p:cNvPr id="167" name="Shape 165"/>
          <p:cNvSpPr/>
          <p:nvPr/>
        </p:nvSpPr>
        <p:spPr>
          <a:xfrm>
            <a:off x="2468880" y="3611880"/>
            <a:ext cx="502920" cy="274320"/>
          </a:xfrm>
          <a:prstGeom prst="rect">
            <a:avLst/>
          </a:prstGeom>
          <a:solidFill>
            <a:srgbClr val="FFFFFF"/>
          </a:solidFill>
          <a:ln w="3810">
            <a:solidFill>
              <a:srgbClr val="F0F0F0"/>
            </a:solidFill>
            <a:prstDash val="solid"/>
          </a:ln>
        </p:spPr>
        <p:txBody>
          <a:bodyPr/>
          <a:lstStyle/>
          <a:p>
            <a:endParaRPr lang="en-US"/>
          </a:p>
        </p:txBody>
      </p:sp>
      <p:sp>
        <p:nvSpPr>
          <p:cNvPr id="168" name="Text 166"/>
          <p:cNvSpPr/>
          <p:nvPr/>
        </p:nvSpPr>
        <p:spPr>
          <a:xfrm>
            <a:off x="2505456" y="361188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3</a:t>
            </a:r>
            <a:endParaRPr lang="en-US" sz="750" dirty="0"/>
          </a:p>
        </p:txBody>
      </p:sp>
      <p:sp>
        <p:nvSpPr>
          <p:cNvPr id="169" name="Shape 167"/>
          <p:cNvSpPr/>
          <p:nvPr/>
        </p:nvSpPr>
        <p:spPr>
          <a:xfrm>
            <a:off x="2971800" y="3611880"/>
            <a:ext cx="594360" cy="274320"/>
          </a:xfrm>
          <a:prstGeom prst="rect">
            <a:avLst/>
          </a:prstGeom>
          <a:solidFill>
            <a:srgbClr val="FFFFFF"/>
          </a:solidFill>
          <a:ln w="3810">
            <a:solidFill>
              <a:srgbClr val="F0F0F0"/>
            </a:solidFill>
            <a:prstDash val="solid"/>
          </a:ln>
        </p:spPr>
        <p:txBody>
          <a:bodyPr/>
          <a:lstStyle/>
          <a:p>
            <a:endParaRPr lang="en-US"/>
          </a:p>
        </p:txBody>
      </p:sp>
      <p:sp>
        <p:nvSpPr>
          <p:cNvPr id="170" name="Text 168"/>
          <p:cNvSpPr/>
          <p:nvPr/>
        </p:nvSpPr>
        <p:spPr>
          <a:xfrm>
            <a:off x="3008376" y="36118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71" name="Shape 169"/>
          <p:cNvSpPr/>
          <p:nvPr/>
        </p:nvSpPr>
        <p:spPr>
          <a:xfrm>
            <a:off x="3566160" y="3611880"/>
            <a:ext cx="1280160" cy="274320"/>
          </a:xfrm>
          <a:prstGeom prst="rect">
            <a:avLst/>
          </a:prstGeom>
          <a:solidFill>
            <a:srgbClr val="FFFFFF"/>
          </a:solidFill>
          <a:ln w="3810">
            <a:solidFill>
              <a:srgbClr val="F0F0F0"/>
            </a:solidFill>
            <a:prstDash val="solid"/>
          </a:ln>
        </p:spPr>
        <p:txBody>
          <a:bodyPr/>
          <a:lstStyle/>
          <a:p>
            <a:endParaRPr lang="en-US"/>
          </a:p>
        </p:txBody>
      </p:sp>
      <p:sp>
        <p:nvSpPr>
          <p:cNvPr id="172" name="Text 170"/>
          <p:cNvSpPr/>
          <p:nvPr/>
        </p:nvSpPr>
        <p:spPr>
          <a:xfrm>
            <a:off x="3602736" y="361188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background</a:t>
            </a:r>
            <a:endParaRPr lang="en-US" sz="750" dirty="0"/>
          </a:p>
        </p:txBody>
      </p:sp>
      <p:sp>
        <p:nvSpPr>
          <p:cNvPr id="173" name="Shape 171"/>
          <p:cNvSpPr/>
          <p:nvPr/>
        </p:nvSpPr>
        <p:spPr>
          <a:xfrm>
            <a:off x="4846320" y="3611880"/>
            <a:ext cx="868680" cy="274320"/>
          </a:xfrm>
          <a:prstGeom prst="rect">
            <a:avLst/>
          </a:prstGeom>
          <a:solidFill>
            <a:srgbClr val="FFFFFF"/>
          </a:solidFill>
          <a:ln w="3810">
            <a:solidFill>
              <a:srgbClr val="F0F0F0"/>
            </a:solidFill>
            <a:prstDash val="solid"/>
          </a:ln>
        </p:spPr>
        <p:txBody>
          <a:bodyPr/>
          <a:lstStyle/>
          <a:p>
            <a:endParaRPr lang="en-US"/>
          </a:p>
        </p:txBody>
      </p:sp>
      <p:sp>
        <p:nvSpPr>
          <p:cNvPr id="174" name="Text 172"/>
          <p:cNvSpPr/>
          <p:nvPr/>
        </p:nvSpPr>
        <p:spPr>
          <a:xfrm>
            <a:off x="4882896" y="361188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75" name="Shape 173"/>
          <p:cNvSpPr/>
          <p:nvPr/>
        </p:nvSpPr>
        <p:spPr>
          <a:xfrm>
            <a:off x="5715000" y="3611880"/>
            <a:ext cx="594360" cy="274320"/>
          </a:xfrm>
          <a:prstGeom prst="rect">
            <a:avLst/>
          </a:prstGeom>
          <a:solidFill>
            <a:srgbClr val="FFFFFF"/>
          </a:solidFill>
          <a:ln w="3810">
            <a:solidFill>
              <a:srgbClr val="F0F0F0"/>
            </a:solidFill>
            <a:prstDash val="solid"/>
          </a:ln>
        </p:spPr>
        <p:txBody>
          <a:bodyPr/>
          <a:lstStyle/>
          <a:p>
            <a:endParaRPr lang="en-US"/>
          </a:p>
        </p:txBody>
      </p:sp>
      <p:sp>
        <p:nvSpPr>
          <p:cNvPr id="176" name="Text 174"/>
          <p:cNvSpPr/>
          <p:nvPr/>
        </p:nvSpPr>
        <p:spPr>
          <a:xfrm>
            <a:off x="5751576" y="36118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77" name="Shape 175"/>
          <p:cNvSpPr/>
          <p:nvPr/>
        </p:nvSpPr>
        <p:spPr>
          <a:xfrm>
            <a:off x="6309360" y="3611880"/>
            <a:ext cx="685800" cy="274320"/>
          </a:xfrm>
          <a:prstGeom prst="rect">
            <a:avLst/>
          </a:prstGeom>
          <a:solidFill>
            <a:srgbClr val="FFFFFF"/>
          </a:solidFill>
          <a:ln w="3810">
            <a:solidFill>
              <a:srgbClr val="F0F0F0"/>
            </a:solidFill>
            <a:prstDash val="solid"/>
          </a:ln>
        </p:spPr>
        <p:txBody>
          <a:bodyPr/>
          <a:lstStyle/>
          <a:p>
            <a:endParaRPr lang="en-US"/>
          </a:p>
        </p:txBody>
      </p:sp>
      <p:sp>
        <p:nvSpPr>
          <p:cNvPr id="178" name="Text 176"/>
          <p:cNvSpPr/>
          <p:nvPr/>
        </p:nvSpPr>
        <p:spPr>
          <a:xfrm>
            <a:off x="6345936" y="361188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79" name="Text 177"/>
          <p:cNvSpPr/>
          <p:nvPr/>
        </p:nvSpPr>
        <p:spPr>
          <a:xfrm>
            <a:off x="502920" y="3977640"/>
            <a:ext cx="8138160" cy="228600"/>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 = via rag_agent_tool (not native pipeline). Pin this matrix — it's the complete reference.</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3">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502920" y="1463040"/>
            <a:ext cx="8138160" cy="731520"/>
          </a:xfrm>
          <a:prstGeom prst="rect">
            <a:avLst/>
          </a:prstGeom>
          <a:noFill/>
          <a:ln/>
        </p:spPr>
        <p:txBody>
          <a:bodyPr wrap="square" lIns="0" tIns="0" rIns="0" bIns="0" rtlCol="0" anchor="ctr"/>
          <a:lstStyle/>
          <a:p>
            <a:pPr marL="0" indent="0">
              <a:buNone/>
            </a:pPr>
            <a:r>
              <a:rPr lang="en-US" sz="3200" b="1" dirty="0">
                <a:solidFill>
                  <a:srgbClr val="FFFFFF"/>
                </a:solidFill>
                <a:latin typeface="Arial" pitchFamily="34" charset="0"/>
                <a:ea typeface="Arial" pitchFamily="34" charset="-122"/>
                <a:cs typeface="Arial" pitchFamily="34" charset="-120"/>
              </a:rPr>
              <a:t>Execution Flow Examples</a:t>
            </a:r>
            <a:endParaRPr lang="en-US" sz="3200" dirty="0"/>
          </a:p>
        </p:txBody>
      </p:sp>
      <p:sp>
        <p:nvSpPr>
          <p:cNvPr id="3" name="Text 1"/>
          <p:cNvSpPr/>
          <p:nvPr/>
        </p:nvSpPr>
        <p:spPr>
          <a:xfrm>
            <a:off x="502920" y="2286000"/>
            <a:ext cx="8138160" cy="457200"/>
          </a:xfrm>
          <a:prstGeom prst="rect">
            <a:avLst/>
          </a:prstGeom>
          <a:noFill/>
          <a:ln/>
        </p:spPr>
        <p:txBody>
          <a:bodyPr wrap="square" lIns="0" tIns="0" rIns="0" bIns="0" rtlCol="0" anchor="ctr"/>
          <a:lstStyle/>
          <a:p>
            <a:pPr marL="0" indent="0">
              <a:buNone/>
            </a:pPr>
            <a:r>
              <a:rPr lang="en-US" sz="1600" dirty="0">
                <a:solidFill>
                  <a:srgbClr val="0097A7"/>
                </a:solidFill>
                <a:latin typeface="Arial" pitchFamily="34" charset="0"/>
                <a:ea typeface="Arial" pitchFamily="34" charset="-122"/>
                <a:cs typeface="Arial" pitchFamily="34" charset="-120"/>
              </a:rPr>
              <a:t>Slides 21-26: Five real scenarios traced end-to-end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1: "What is machine learning?"</a:t>
            </a:r>
            <a:endParaRPr lang="en-US" sz="2600" dirty="0"/>
          </a:p>
        </p:txBody>
      </p:sp>
      <p:sp>
        <p:nvSpPr>
          <p:cNvPr id="3" name="Shape 1"/>
          <p:cNvSpPr/>
          <p:nvPr/>
        </p:nvSpPr>
        <p:spPr>
          <a:xfrm>
            <a:off x="594360" y="1188720"/>
            <a:ext cx="1234440" cy="77724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594360"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User sends: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"What is ML?"</a:t>
            </a:r>
            <a:endParaRPr lang="en-US" sz="1000" dirty="0"/>
          </a:p>
        </p:txBody>
      </p:sp>
      <p:sp>
        <p:nvSpPr>
          <p:cNvPr id="5" name="Shape 3"/>
          <p:cNvSpPr/>
          <p:nvPr/>
        </p:nvSpPr>
        <p:spPr>
          <a:xfrm>
            <a:off x="1828800" y="1577340"/>
            <a:ext cx="109728" cy="0"/>
          </a:xfrm>
          <a:prstGeom prst="line">
            <a:avLst/>
          </a:prstGeom>
          <a:noFill/>
          <a:ln w="25400">
            <a:solidFill>
              <a:srgbClr val="0097A7"/>
            </a:solidFill>
            <a:prstDash val="solid"/>
          </a:ln>
        </p:spPr>
        <p:txBody>
          <a:bodyPr/>
          <a:lstStyle/>
          <a:p>
            <a:endParaRPr lang="en-US"/>
          </a:p>
        </p:txBody>
      </p:sp>
      <p:sp>
        <p:nvSpPr>
          <p:cNvPr id="6" name="Text 4"/>
          <p:cNvSpPr/>
          <p:nvPr/>
        </p:nvSpPr>
        <p:spPr>
          <a:xfrm>
            <a:off x="1828800"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938528" y="1188720"/>
            <a:ext cx="1234440" cy="77724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1938528"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route_message()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No regex match</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text &lt; 600 chars</a:t>
            </a:r>
            <a:endParaRPr lang="en-US" sz="1000" dirty="0"/>
          </a:p>
        </p:txBody>
      </p:sp>
      <p:sp>
        <p:nvSpPr>
          <p:cNvPr id="9" name="Shape 7"/>
          <p:cNvSpPr/>
          <p:nvPr/>
        </p:nvSpPr>
        <p:spPr>
          <a:xfrm>
            <a:off x="3172968" y="1577340"/>
            <a:ext cx="109728" cy="0"/>
          </a:xfrm>
          <a:prstGeom prst="line">
            <a:avLst/>
          </a:prstGeom>
          <a:noFill/>
          <a:ln w="25400">
            <a:solidFill>
              <a:srgbClr val="0097A7"/>
            </a:solidFill>
            <a:prstDash val="solid"/>
          </a:ln>
        </p:spPr>
        <p:txBody>
          <a:bodyPr/>
          <a:lstStyle/>
          <a:p>
            <a:endParaRPr lang="en-US"/>
          </a:p>
        </p:txBody>
      </p:sp>
      <p:sp>
        <p:nvSpPr>
          <p:cNvPr id="10" name="Text 8"/>
          <p:cNvSpPr/>
          <p:nvPr/>
        </p:nvSpPr>
        <p:spPr>
          <a:xfrm>
            <a:off x="3172968"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3282696" y="1188720"/>
            <a:ext cx="1234440" cy="77724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282696"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RouterDecision:</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route=BASIC</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conf=0.85</a:t>
            </a:r>
            <a:endParaRPr lang="en-US" sz="1000" dirty="0"/>
          </a:p>
        </p:txBody>
      </p:sp>
      <p:sp>
        <p:nvSpPr>
          <p:cNvPr id="13" name="Shape 11"/>
          <p:cNvSpPr/>
          <p:nvPr/>
        </p:nvSpPr>
        <p:spPr>
          <a:xfrm>
            <a:off x="4517136" y="1577340"/>
            <a:ext cx="109728" cy="0"/>
          </a:xfrm>
          <a:prstGeom prst="line">
            <a:avLst/>
          </a:prstGeom>
          <a:noFill/>
          <a:ln w="25400">
            <a:solidFill>
              <a:srgbClr val="0097A7"/>
            </a:solidFill>
            <a:prstDash val="solid"/>
          </a:ln>
        </p:spPr>
        <p:txBody>
          <a:bodyPr/>
          <a:lstStyle/>
          <a:p>
            <a:endParaRPr lang="en-US"/>
          </a:p>
        </p:txBody>
      </p:sp>
      <p:sp>
        <p:nvSpPr>
          <p:cNvPr id="14" name="Text 12"/>
          <p:cNvSpPr/>
          <p:nvPr/>
        </p:nvSpPr>
        <p:spPr>
          <a:xfrm>
            <a:off x="4517136"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5" name="Shape 13"/>
          <p:cNvSpPr/>
          <p:nvPr/>
        </p:nvSpPr>
        <p:spPr>
          <a:xfrm>
            <a:off x="4626864" y="1188720"/>
            <a:ext cx="1234440" cy="77724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4626864"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kernel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.process_basic_turn()</a:t>
            </a:r>
            <a:endParaRPr lang="en-US" sz="1000" dirty="0"/>
          </a:p>
        </p:txBody>
      </p:sp>
      <p:sp>
        <p:nvSpPr>
          <p:cNvPr id="17" name="Shape 15"/>
          <p:cNvSpPr/>
          <p:nvPr/>
        </p:nvSpPr>
        <p:spPr>
          <a:xfrm>
            <a:off x="5861304" y="1577340"/>
            <a:ext cx="109728" cy="0"/>
          </a:xfrm>
          <a:prstGeom prst="line">
            <a:avLst/>
          </a:prstGeom>
          <a:noFill/>
          <a:ln w="25400">
            <a:solidFill>
              <a:srgbClr val="0097A7"/>
            </a:solidFill>
            <a:prstDash val="solid"/>
          </a:ln>
        </p:spPr>
        <p:txBody>
          <a:bodyPr/>
          <a:lstStyle/>
          <a:p>
            <a:endParaRPr lang="en-US"/>
          </a:p>
        </p:txBody>
      </p:sp>
      <p:sp>
        <p:nvSpPr>
          <p:cNvPr id="18" name="Text 16"/>
          <p:cNvSpPr/>
          <p:nvPr/>
        </p:nvSpPr>
        <p:spPr>
          <a:xfrm>
            <a:off x="5861304"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9" name="Shape 17"/>
          <p:cNvSpPr/>
          <p:nvPr/>
        </p:nvSpPr>
        <p:spPr>
          <a:xfrm>
            <a:off x="5971032" y="1188720"/>
            <a:ext cx="1234440" cy="77724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5971032"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QueryLoop</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._run_basic()</a:t>
            </a:r>
            <a:endParaRPr lang="en-US" sz="1000" dirty="0"/>
          </a:p>
        </p:txBody>
      </p:sp>
      <p:sp>
        <p:nvSpPr>
          <p:cNvPr id="21" name="Shape 19"/>
          <p:cNvSpPr/>
          <p:nvPr/>
        </p:nvSpPr>
        <p:spPr>
          <a:xfrm>
            <a:off x="7205472" y="1577340"/>
            <a:ext cx="109728" cy="0"/>
          </a:xfrm>
          <a:prstGeom prst="line">
            <a:avLst/>
          </a:prstGeom>
          <a:noFill/>
          <a:ln w="25400">
            <a:solidFill>
              <a:srgbClr val="0097A7"/>
            </a:solidFill>
            <a:prstDash val="solid"/>
          </a:ln>
        </p:spPr>
        <p:txBody>
          <a:bodyPr/>
          <a:lstStyle/>
          <a:p>
            <a:endParaRPr lang="en-US"/>
          </a:p>
        </p:txBody>
      </p:sp>
      <p:sp>
        <p:nvSpPr>
          <p:cNvPr id="22" name="Text 20"/>
          <p:cNvSpPr/>
          <p:nvPr/>
        </p:nvSpPr>
        <p:spPr>
          <a:xfrm>
            <a:off x="7205472"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3" name="Shape 21"/>
          <p:cNvSpPr/>
          <p:nvPr/>
        </p:nvSpPr>
        <p:spPr>
          <a:xfrm>
            <a:off x="7315200" y="1188720"/>
            <a:ext cx="1234440" cy="777240"/>
          </a:xfrm>
          <a:prstGeom prst="rect">
            <a:avLst/>
          </a:prstGeom>
          <a:solidFill>
            <a:srgbClr val="2E7D32"/>
          </a:solidFill>
          <a:ln/>
          <a:effectLst>
            <a:outerShdw blurRad="50800" dist="25400" dir="8100000" algn="bl" rotWithShape="0">
              <a:srgbClr val="000000">
                <a:alpha val="12000"/>
              </a:srgbClr>
            </a:outerShdw>
          </a:effectLst>
        </p:spPr>
        <p:txBody>
          <a:bodyPr/>
          <a:lstStyle/>
          <a:p>
            <a:endParaRPr lang="en-US"/>
          </a:p>
        </p:txBody>
      </p:sp>
      <p:sp>
        <p:nvSpPr>
          <p:cNvPr id="24" name="Text 22"/>
          <p:cNvSpPr/>
          <p:nvPr/>
        </p:nvSpPr>
        <p:spPr>
          <a:xfrm>
            <a:off x="7315200"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Single LLM call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text response</a:t>
            </a:r>
            <a:endParaRPr lang="en-US" sz="1000" dirty="0"/>
          </a:p>
        </p:txBody>
      </p:sp>
      <p:sp>
        <p:nvSpPr>
          <p:cNvPr id="25" name="Shape 23"/>
          <p:cNvSpPr/>
          <p:nvPr/>
        </p:nvSpPr>
        <p:spPr>
          <a:xfrm>
            <a:off x="502920" y="2286000"/>
            <a:ext cx="8138160" cy="365760"/>
          </a:xfrm>
          <a:prstGeom prst="rect">
            <a:avLst/>
          </a:prstGeom>
          <a:solidFill>
            <a:srgbClr val="E0F7FA"/>
          </a:solidFill>
          <a:ln w="12700">
            <a:solidFill>
              <a:srgbClr val="0097A7"/>
            </a:solidFill>
            <a:prstDash val="solid"/>
          </a:ln>
        </p:spPr>
        <p:txBody>
          <a:bodyPr/>
          <a:lstStyle/>
          <a:p>
            <a:endParaRPr lang="en-US"/>
          </a:p>
        </p:txBody>
      </p:sp>
      <p:sp>
        <p:nvSpPr>
          <p:cNvPr id="26" name="Text 24"/>
          <p:cNvSpPr/>
          <p:nvPr/>
        </p:nvSpPr>
        <p:spPr>
          <a:xfrm>
            <a:off x="594360" y="228600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BASIC route = fastest path. ~200ms latency. Zero tool overhead. No RAG, no persistence beyond message history.</a:t>
            </a:r>
            <a:endParaRPr lang="en-US" sz="1000" dirty="0"/>
          </a:p>
        </p:txBody>
      </p:sp>
      <p:sp>
        <p:nvSpPr>
          <p:cNvPr id="27" name="Text 25"/>
          <p:cNvSpPr/>
          <p:nvPr/>
        </p:nvSpPr>
        <p:spPr>
          <a:xfrm>
            <a:off x="502920" y="2880360"/>
            <a:ext cx="8138160" cy="548640"/>
          </a:xfrm>
          <a:prstGeom prst="rect">
            <a:avLst/>
          </a:prstGeom>
          <a:noFill/>
          <a:ln/>
        </p:spPr>
        <p:txBody>
          <a:bodyPr wrap="square" lIns="0" tIns="0" rIns="0" bIns="0" rtlCol="0" anchor="ctr"/>
          <a:lstStyle/>
          <a:p>
            <a:pPr marL="0" indent="0">
              <a:buNone/>
            </a:pPr>
            <a:r>
              <a:rPr lang="en-US" sz="1100" dirty="0">
                <a:solidFill>
                  <a:srgbClr val="333333"/>
                </a:solidFill>
                <a:latin typeface="Arial" pitchFamily="34" charset="0"/>
                <a:ea typeface="Arial" pitchFamily="34" charset="-122"/>
                <a:cs typeface="Arial" pitchFamily="34" charset="-120"/>
              </a:rPr>
              <a:t>This is the simplest flow. General knowledge questions that don't need documents or tools take the fast path. The system prompt for basic mode comes from skill files loaded at startup.</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2: "Analyze sales.csv — top 10 products"</a:t>
            </a:r>
            <a:endParaRPr lang="en-US" sz="2600" dirty="0"/>
          </a:p>
        </p:txBody>
      </p:sp>
      <p:sp>
        <p:nvSpPr>
          <p:cNvPr id="3" name="Shape 1"/>
          <p:cNvSpPr/>
          <p:nvPr/>
        </p:nvSpPr>
        <p:spPr>
          <a:xfrm>
            <a:off x="274320" y="914400"/>
            <a:ext cx="2468880" cy="77724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74320" y="91440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Upload -&gt; has_attachments=True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route=AGENT, conf=1.0</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suggested=data_analyst</a:t>
            </a:r>
            <a:endParaRPr lang="en-US" sz="1000" dirty="0"/>
          </a:p>
        </p:txBody>
      </p:sp>
      <p:sp>
        <p:nvSpPr>
          <p:cNvPr id="5" name="Shape 3"/>
          <p:cNvSpPr/>
          <p:nvPr/>
        </p:nvSpPr>
        <p:spPr>
          <a:xfrm>
            <a:off x="2743200" y="1303020"/>
            <a:ext cx="274320" cy="0"/>
          </a:xfrm>
          <a:prstGeom prst="line">
            <a:avLst/>
          </a:prstGeom>
          <a:noFill/>
          <a:ln w="25400">
            <a:solidFill>
              <a:srgbClr val="0097A7"/>
            </a:solidFill>
            <a:prstDash val="solid"/>
          </a:ln>
        </p:spPr>
        <p:txBody>
          <a:bodyPr/>
          <a:lstStyle/>
          <a:p>
            <a:endParaRPr lang="en-US"/>
          </a:p>
        </p:txBody>
      </p:sp>
      <p:sp>
        <p:nvSpPr>
          <p:cNvPr id="6" name="Text 4"/>
          <p:cNvSpPr/>
          <p:nvPr/>
        </p:nvSpPr>
        <p:spPr>
          <a:xfrm>
            <a:off x="29077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3017520" y="914400"/>
            <a:ext cx="2468880" cy="77724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3017520" y="91440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load_dataset('sales.csv')</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sees shape, dtypes</a:t>
            </a:r>
            <a:endParaRPr lang="en-US" sz="1000" dirty="0"/>
          </a:p>
        </p:txBody>
      </p:sp>
      <p:sp>
        <p:nvSpPr>
          <p:cNvPr id="9" name="Shape 7"/>
          <p:cNvSpPr/>
          <p:nvPr/>
        </p:nvSpPr>
        <p:spPr>
          <a:xfrm>
            <a:off x="5486400" y="1303020"/>
            <a:ext cx="274320" cy="0"/>
          </a:xfrm>
          <a:prstGeom prst="line">
            <a:avLst/>
          </a:prstGeom>
          <a:noFill/>
          <a:ln w="25400">
            <a:solidFill>
              <a:srgbClr val="0097A7"/>
            </a:solidFill>
            <a:prstDash val="solid"/>
          </a:ln>
        </p:spPr>
        <p:txBody>
          <a:bodyPr/>
          <a:lstStyle/>
          <a:p>
            <a:endParaRPr lang="en-US"/>
          </a:p>
        </p:txBody>
      </p:sp>
      <p:sp>
        <p:nvSpPr>
          <p:cNvPr id="10" name="Text 8"/>
          <p:cNvSpPr/>
          <p:nvPr/>
        </p:nvSpPr>
        <p:spPr>
          <a:xfrm>
            <a:off x="56509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5760720" y="914400"/>
            <a:ext cx="2468880" cy="77724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5760720" y="91440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inspect_columns()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understands data</a:t>
            </a:r>
            <a:endParaRPr lang="en-US" sz="1000" dirty="0"/>
          </a:p>
        </p:txBody>
      </p:sp>
      <p:sp>
        <p:nvSpPr>
          <p:cNvPr id="13" name="Shape 11"/>
          <p:cNvSpPr/>
          <p:nvPr/>
        </p:nvSpPr>
        <p:spPr>
          <a:xfrm>
            <a:off x="6995160" y="1691640"/>
            <a:ext cx="0" cy="365760"/>
          </a:xfrm>
          <a:prstGeom prst="line">
            <a:avLst/>
          </a:prstGeom>
          <a:noFill/>
          <a:ln w="25400">
            <a:solidFill>
              <a:srgbClr val="0097A7"/>
            </a:solidFill>
            <a:prstDash val="solid"/>
          </a:ln>
        </p:spPr>
        <p:txBody>
          <a:bodyPr/>
          <a:lstStyle/>
          <a:p>
            <a:endParaRPr lang="en-US"/>
          </a:p>
        </p:txBody>
      </p:sp>
      <p:sp>
        <p:nvSpPr>
          <p:cNvPr id="14" name="Text 12"/>
          <p:cNvSpPr/>
          <p:nvPr/>
        </p:nvSpPr>
        <p:spPr>
          <a:xfrm>
            <a:off x="6903720" y="198424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5" name="Shape 13"/>
          <p:cNvSpPr/>
          <p:nvPr/>
        </p:nvSpPr>
        <p:spPr>
          <a:xfrm>
            <a:off x="274320" y="2103120"/>
            <a:ext cx="2468880" cy="77724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274320" y="210312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scratchpad_write()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writes analysis plan</a:t>
            </a:r>
            <a:endParaRPr lang="en-US" sz="1000" dirty="0"/>
          </a:p>
        </p:txBody>
      </p:sp>
      <p:sp>
        <p:nvSpPr>
          <p:cNvPr id="17" name="Shape 15"/>
          <p:cNvSpPr/>
          <p:nvPr/>
        </p:nvSpPr>
        <p:spPr>
          <a:xfrm>
            <a:off x="3017520" y="2103120"/>
            <a:ext cx="2468880" cy="77724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3017520" y="210312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execute_code(pandas...)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runs in Docker sandbox</a:t>
            </a:r>
            <a:endParaRPr lang="en-US" sz="1000" dirty="0"/>
          </a:p>
        </p:txBody>
      </p:sp>
      <p:sp>
        <p:nvSpPr>
          <p:cNvPr id="19" name="Shape 17"/>
          <p:cNvSpPr/>
          <p:nvPr/>
        </p:nvSpPr>
        <p:spPr>
          <a:xfrm>
            <a:off x="5486400" y="2491740"/>
            <a:ext cx="274320" cy="0"/>
          </a:xfrm>
          <a:prstGeom prst="line">
            <a:avLst/>
          </a:prstGeom>
          <a:noFill/>
          <a:ln w="25400">
            <a:solidFill>
              <a:srgbClr val="0097A7"/>
            </a:solidFill>
            <a:prstDash val="solid"/>
          </a:ln>
        </p:spPr>
        <p:txBody>
          <a:bodyPr/>
          <a:lstStyle/>
          <a:p>
            <a:endParaRPr lang="en-US"/>
          </a:p>
        </p:txBody>
      </p:sp>
      <p:sp>
        <p:nvSpPr>
          <p:cNvPr id="20" name="Text 18"/>
          <p:cNvSpPr/>
          <p:nvPr/>
        </p:nvSpPr>
        <p:spPr>
          <a:xfrm>
            <a:off x="5650992" y="2382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1" name="Shape 19"/>
          <p:cNvSpPr/>
          <p:nvPr/>
        </p:nvSpPr>
        <p:spPr>
          <a:xfrm>
            <a:off x="5760720" y="2103120"/>
            <a:ext cx="2468880" cy="777240"/>
          </a:xfrm>
          <a:prstGeom prst="rect">
            <a:avLst/>
          </a:prstGeom>
          <a:solidFill>
            <a:srgbClr val="2E7D32"/>
          </a:solidFill>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5760720" y="210312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return_file('chart.png')</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artifact registered</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download link returned</a:t>
            </a:r>
            <a:endParaRPr lang="en-US" sz="1000" dirty="0"/>
          </a:p>
        </p:txBody>
      </p:sp>
      <p:sp>
        <p:nvSpPr>
          <p:cNvPr id="23" name="Shape 21"/>
          <p:cNvSpPr/>
          <p:nvPr/>
        </p:nvSpPr>
        <p:spPr>
          <a:xfrm>
            <a:off x="1508760" y="2880360"/>
            <a:ext cx="0" cy="0"/>
          </a:xfrm>
          <a:prstGeom prst="line">
            <a:avLst/>
          </a:prstGeom>
          <a:noFill/>
          <a:ln w="12700">
            <a:solidFill>
              <a:srgbClr val="999999"/>
            </a:solidFill>
            <a:prstDash val="solid"/>
          </a:ln>
        </p:spPr>
        <p:txBody>
          <a:bodyPr/>
          <a:lstStyle/>
          <a:p>
            <a:endParaRPr lang="en-US"/>
          </a:p>
        </p:txBody>
      </p:sp>
      <p:sp>
        <p:nvSpPr>
          <p:cNvPr id="24" name="Shape 22"/>
          <p:cNvSpPr/>
          <p:nvPr/>
        </p:nvSpPr>
        <p:spPr>
          <a:xfrm>
            <a:off x="2743200" y="2491740"/>
            <a:ext cx="274320" cy="0"/>
          </a:xfrm>
          <a:prstGeom prst="line">
            <a:avLst/>
          </a:prstGeom>
          <a:noFill/>
          <a:ln w="25400">
            <a:solidFill>
              <a:srgbClr val="0097A7"/>
            </a:solidFill>
            <a:prstDash val="solid"/>
          </a:ln>
        </p:spPr>
        <p:txBody>
          <a:bodyPr/>
          <a:lstStyle/>
          <a:p>
            <a:endParaRPr lang="en-US"/>
          </a:p>
        </p:txBody>
      </p:sp>
      <p:sp>
        <p:nvSpPr>
          <p:cNvPr id="25" name="Text 23"/>
          <p:cNvSpPr/>
          <p:nvPr/>
        </p:nvSpPr>
        <p:spPr>
          <a:xfrm>
            <a:off x="2907792" y="2382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6" name="Shape 24"/>
          <p:cNvSpPr/>
          <p:nvPr/>
        </p:nvSpPr>
        <p:spPr>
          <a:xfrm>
            <a:off x="502920" y="3200400"/>
            <a:ext cx="8138160" cy="457200"/>
          </a:xfrm>
          <a:prstGeom prst="rect">
            <a:avLst/>
          </a:prstGeom>
          <a:solidFill>
            <a:srgbClr val="E0F7FA"/>
          </a:solidFill>
          <a:ln w="12700">
            <a:solidFill>
              <a:srgbClr val="0097A7"/>
            </a:solidFill>
            <a:prstDash val="solid"/>
          </a:ln>
        </p:spPr>
        <p:txBody>
          <a:bodyPr/>
          <a:lstStyle/>
          <a:p>
            <a:endParaRPr lang="en-US"/>
          </a:p>
        </p:txBody>
      </p:sp>
      <p:sp>
        <p:nvSpPr>
          <p:cNvPr id="27" name="Text 25"/>
          <p:cNvSpPr/>
          <p:nvPr/>
        </p:nvSpPr>
        <p:spPr>
          <a:xfrm>
            <a:off x="594360" y="3200400"/>
            <a:ext cx="7955280" cy="45720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Docker sandbox: python:3.12-slim, no network, 512MB RAM, 60s timeout, 50KB output. The plan_execute strategy means the agent plans before executing.</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data/agents/data_analyst.md, tools/data_analyst_tools.py, sandbox/docker_exec.py</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3: "What does the policy say about remote work?"</a:t>
            </a:r>
            <a:endParaRPr lang="en-US" sz="2600" dirty="0"/>
          </a:p>
        </p:txBody>
      </p:sp>
      <p:sp>
        <p:nvSpPr>
          <p:cNvPr id="3" name="Shape 1"/>
          <p:cNvSpPr/>
          <p:nvPr/>
        </p:nvSpPr>
        <p:spPr>
          <a:xfrm>
            <a:off x="411480" y="1097280"/>
            <a:ext cx="1554480" cy="82296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41148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RAG_HINTS match</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'policy'</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route -&gt; rag_worker</a:t>
            </a:r>
            <a:endParaRPr lang="en-US" sz="1000" dirty="0"/>
          </a:p>
        </p:txBody>
      </p:sp>
      <p:sp>
        <p:nvSpPr>
          <p:cNvPr id="5" name="Shape 3"/>
          <p:cNvSpPr/>
          <p:nvPr/>
        </p:nvSpPr>
        <p:spPr>
          <a:xfrm>
            <a:off x="1965960" y="1508760"/>
            <a:ext cx="137160" cy="0"/>
          </a:xfrm>
          <a:prstGeom prst="line">
            <a:avLst/>
          </a:prstGeom>
          <a:noFill/>
          <a:ln w="25400">
            <a:solidFill>
              <a:srgbClr val="0097A7"/>
            </a:solidFill>
            <a:prstDash val="solid"/>
          </a:ln>
        </p:spPr>
        <p:txBody>
          <a:bodyPr/>
          <a:lstStyle/>
          <a:p>
            <a:endParaRPr lang="en-US"/>
          </a:p>
        </p:txBody>
      </p:sp>
      <p:sp>
        <p:nvSpPr>
          <p:cNvPr id="6" name="Text 4"/>
          <p:cNvSpPr/>
          <p:nvPr/>
        </p:nvSpPr>
        <p:spPr>
          <a:xfrm>
            <a:off x="199339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2103120" y="1097280"/>
            <a:ext cx="1554480" cy="8229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210312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Hybrid Retrieval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vector + BM25</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top_k candidates</a:t>
            </a:r>
            <a:endParaRPr lang="en-US" sz="1000" dirty="0"/>
          </a:p>
        </p:txBody>
      </p:sp>
      <p:sp>
        <p:nvSpPr>
          <p:cNvPr id="9" name="Shape 7"/>
          <p:cNvSpPr/>
          <p:nvPr/>
        </p:nvSpPr>
        <p:spPr>
          <a:xfrm>
            <a:off x="3657600" y="1508760"/>
            <a:ext cx="137160" cy="0"/>
          </a:xfrm>
          <a:prstGeom prst="line">
            <a:avLst/>
          </a:prstGeom>
          <a:noFill/>
          <a:ln w="25400">
            <a:solidFill>
              <a:srgbClr val="0097A7"/>
            </a:solidFill>
            <a:prstDash val="solid"/>
          </a:ln>
        </p:spPr>
        <p:txBody>
          <a:bodyPr/>
          <a:lstStyle/>
          <a:p>
            <a:endParaRPr lang="en-US"/>
          </a:p>
        </p:txBody>
      </p:sp>
      <p:sp>
        <p:nvSpPr>
          <p:cNvPr id="10" name="Text 8"/>
          <p:cNvSpPr/>
          <p:nvPr/>
        </p:nvSpPr>
        <p:spPr>
          <a:xfrm>
            <a:off x="368503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3794760" y="1097280"/>
            <a:ext cx="1554480" cy="82296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79476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Judge Grading</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small LLM scores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each chunk 0-1</a:t>
            </a:r>
            <a:endParaRPr lang="en-US" sz="1000" dirty="0"/>
          </a:p>
        </p:txBody>
      </p:sp>
      <p:sp>
        <p:nvSpPr>
          <p:cNvPr id="13" name="Shape 11"/>
          <p:cNvSpPr/>
          <p:nvPr/>
        </p:nvSpPr>
        <p:spPr>
          <a:xfrm>
            <a:off x="5349240" y="1508760"/>
            <a:ext cx="137160" cy="0"/>
          </a:xfrm>
          <a:prstGeom prst="line">
            <a:avLst/>
          </a:prstGeom>
          <a:noFill/>
          <a:ln w="25400">
            <a:solidFill>
              <a:srgbClr val="0097A7"/>
            </a:solidFill>
            <a:prstDash val="solid"/>
          </a:ln>
        </p:spPr>
        <p:txBody>
          <a:bodyPr/>
          <a:lstStyle/>
          <a:p>
            <a:endParaRPr lang="en-US"/>
          </a:p>
        </p:txBody>
      </p:sp>
      <p:sp>
        <p:nvSpPr>
          <p:cNvPr id="14" name="Text 12"/>
          <p:cNvSpPr/>
          <p:nvPr/>
        </p:nvSpPr>
        <p:spPr>
          <a:xfrm>
            <a:off x="537667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5" name="Shape 13"/>
          <p:cNvSpPr/>
          <p:nvPr/>
        </p:nvSpPr>
        <p:spPr>
          <a:xfrm>
            <a:off x="5486400" y="1097280"/>
            <a:ext cx="1554480" cy="82296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548640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Synthesis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generate_grounded_answer()</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cite evidence inline</a:t>
            </a:r>
            <a:endParaRPr lang="en-US" sz="1000" dirty="0"/>
          </a:p>
        </p:txBody>
      </p:sp>
      <p:sp>
        <p:nvSpPr>
          <p:cNvPr id="17" name="Shape 15"/>
          <p:cNvSpPr/>
          <p:nvPr/>
        </p:nvSpPr>
        <p:spPr>
          <a:xfrm>
            <a:off x="7040880" y="1508760"/>
            <a:ext cx="137160" cy="0"/>
          </a:xfrm>
          <a:prstGeom prst="line">
            <a:avLst/>
          </a:prstGeom>
          <a:noFill/>
          <a:ln w="25400">
            <a:solidFill>
              <a:srgbClr val="0097A7"/>
            </a:solidFill>
            <a:prstDash val="solid"/>
          </a:ln>
        </p:spPr>
        <p:txBody>
          <a:bodyPr/>
          <a:lstStyle/>
          <a:p>
            <a:endParaRPr lang="en-US"/>
          </a:p>
        </p:txBody>
      </p:sp>
      <p:sp>
        <p:nvSpPr>
          <p:cNvPr id="18" name="Text 16"/>
          <p:cNvSpPr/>
          <p:nvPr/>
        </p:nvSpPr>
        <p:spPr>
          <a:xfrm>
            <a:off x="706831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9" name="Shape 17"/>
          <p:cNvSpPr/>
          <p:nvPr/>
        </p:nvSpPr>
        <p:spPr>
          <a:xfrm>
            <a:off x="7178040" y="1097280"/>
            <a:ext cx="1554480" cy="8229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717804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Citation Building</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build_citations()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320-char snippets</a:t>
            </a:r>
            <a:endParaRPr lang="en-US" sz="1000" dirty="0"/>
          </a:p>
        </p:txBody>
      </p:sp>
      <p:sp>
        <p:nvSpPr>
          <p:cNvPr id="21" name="Shape 19"/>
          <p:cNvSpPr/>
          <p:nvPr/>
        </p:nvSpPr>
        <p:spPr>
          <a:xfrm>
            <a:off x="502920" y="2285999"/>
            <a:ext cx="8138160" cy="1888757"/>
          </a:xfrm>
          <a:prstGeom prst="rect">
            <a:avLst/>
          </a:prstGeom>
          <a:solidFill>
            <a:srgbClr val="2D2D2D"/>
          </a:solidFill>
          <a:ln/>
        </p:spPr>
        <p:txBody>
          <a:bodyPr/>
          <a:lstStyle/>
          <a:p>
            <a:endParaRPr lang="en-US"/>
          </a:p>
        </p:txBody>
      </p:sp>
      <p:sp>
        <p:nvSpPr>
          <p:cNvPr id="22" name="Text 20"/>
          <p:cNvSpPr/>
          <p:nvPr/>
        </p:nvSpPr>
        <p:spPr>
          <a:xfrm>
            <a:off x="612648" y="2340864"/>
            <a:ext cx="7918704" cy="98755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RAG Contract Output: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answer: "The policy states that employees may work remotely up to 3 days...",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citations: [{citation_id: 1, source: "HR-Policy-2024.pdf", snippet: "...", score: 0.92}],</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used_citation_ids: [1, 3],</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confidence: "high",</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retrieval_summary: {chunks_retrieved: 12, chunks_graded: 12, chunks_used: 4},</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followups: ["What are the exceptions to the remote work policy?"],</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warnings: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p:txBody>
      </p:sp>
      <p:sp>
        <p:nvSpPr>
          <p:cNvPr id="23" name="Shape 21"/>
          <p:cNvSpPr/>
          <p:nvPr/>
        </p:nvSpPr>
        <p:spPr>
          <a:xfrm>
            <a:off x="502920" y="4154675"/>
            <a:ext cx="8138160" cy="365760"/>
          </a:xfrm>
          <a:prstGeom prst="rect">
            <a:avLst/>
          </a:prstGeom>
          <a:solidFill>
            <a:srgbClr val="E0F7FA"/>
          </a:solidFill>
          <a:ln w="12700">
            <a:solidFill>
              <a:srgbClr val="0097A7"/>
            </a:solidFill>
            <a:prstDash val="solid"/>
          </a:ln>
        </p:spPr>
        <p:txBody>
          <a:bodyPr/>
          <a:lstStyle/>
          <a:p>
            <a:endParaRPr lang="en-US"/>
          </a:p>
        </p:txBody>
      </p:sp>
      <p:sp>
        <p:nvSpPr>
          <p:cNvPr id="24" name="Text 22"/>
          <p:cNvSpPr/>
          <p:nvPr/>
        </p:nvSpPr>
        <p:spPr>
          <a:xfrm>
            <a:off x="612648" y="4119353"/>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RAG worker doesn't use ReAct. It has its own pipeline guaranteeing structured, citable output. New: evidence_only mode returns raw evidence without synthesis.</a:t>
            </a:r>
            <a:endParaRPr lang="en-US" sz="1000" dirty="0"/>
          </a:p>
        </p:txBody>
      </p:sp>
      <p:sp>
        <p:nvSpPr>
          <p:cNvPr id="25" name="Text 23"/>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rag/engine.py, rag/retrieval.py, rag/synthesis.py, rag/citations.py</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4: "Compare Q1/Q2 sales, research trends, write report"</a:t>
            </a:r>
            <a:endParaRPr lang="en-US" sz="2600" dirty="0"/>
          </a:p>
        </p:txBody>
      </p:sp>
      <p:sp>
        <p:nvSpPr>
          <p:cNvPr id="3" name="Shape 1"/>
          <p:cNvSpPr/>
          <p:nvPr/>
        </p:nvSpPr>
        <p:spPr>
          <a:xfrm>
            <a:off x="274320" y="1051560"/>
            <a:ext cx="1463040" cy="50292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74320" y="1051560"/>
            <a:ext cx="146304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1. Planner</a:t>
            </a:r>
            <a:endParaRPr lang="en-US" sz="1000" dirty="0"/>
          </a:p>
        </p:txBody>
      </p:sp>
      <p:sp>
        <p:nvSpPr>
          <p:cNvPr id="5" name="Shape 3"/>
          <p:cNvSpPr/>
          <p:nvPr/>
        </p:nvSpPr>
        <p:spPr>
          <a:xfrm>
            <a:off x="1737360" y="1303020"/>
            <a:ext cx="182880" cy="0"/>
          </a:xfrm>
          <a:prstGeom prst="line">
            <a:avLst/>
          </a:prstGeom>
          <a:noFill/>
          <a:ln w="25400">
            <a:solidFill>
              <a:srgbClr val="0097A7"/>
            </a:solidFill>
            <a:prstDash val="solid"/>
          </a:ln>
        </p:spPr>
        <p:txBody>
          <a:bodyPr/>
          <a:lstStyle/>
          <a:p>
            <a:endParaRPr lang="en-US"/>
          </a:p>
        </p:txBody>
      </p:sp>
      <p:sp>
        <p:nvSpPr>
          <p:cNvPr id="6" name="Text 4"/>
          <p:cNvSpPr/>
          <p:nvPr/>
        </p:nvSpPr>
        <p:spPr>
          <a:xfrm>
            <a:off x="181051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920240" y="960120"/>
            <a:ext cx="3200400" cy="1280160"/>
          </a:xfrm>
          <a:prstGeom prst="rect">
            <a:avLst/>
          </a:prstGeom>
          <a:solidFill>
            <a:srgbClr val="F5F5F5"/>
          </a:solidFill>
          <a:ln w="12700">
            <a:solidFill>
              <a:srgbClr val="1B2A4A"/>
            </a:solidFill>
            <a:prstDash val="solid"/>
          </a:ln>
        </p:spPr>
        <p:txBody>
          <a:bodyPr/>
          <a:lstStyle/>
          <a:p>
            <a:endParaRPr lang="en-US"/>
          </a:p>
        </p:txBody>
      </p:sp>
      <p:sp>
        <p:nvSpPr>
          <p:cNvPr id="8" name="Text 6"/>
          <p:cNvSpPr/>
          <p:nvPr/>
        </p:nvSpPr>
        <p:spPr>
          <a:xfrm>
            <a:off x="2011680" y="978408"/>
            <a:ext cx="3017520" cy="228600"/>
          </a:xfrm>
          <a:prstGeom prst="rect">
            <a:avLst/>
          </a:prstGeom>
          <a:noFill/>
          <a:ln/>
        </p:spPr>
        <p:txBody>
          <a:bodyPr wrap="square" lIns="0" tIns="0" rIns="0" bIns="0" rtlCol="0" anchor="ctr"/>
          <a:lstStyle/>
          <a:p>
            <a:pPr marL="0" indent="0">
              <a:buNone/>
            </a:pPr>
            <a:r>
              <a:rPr lang="en-US" sz="900" b="1" dirty="0">
                <a:solidFill>
                  <a:srgbClr val="1B2A4A"/>
                </a:solidFill>
                <a:latin typeface="Arial" pitchFamily="34" charset="0"/>
                <a:ea typeface="Arial" pitchFamily="34" charset="-122"/>
                <a:cs typeface="Arial" pitchFamily="34" charset="-120"/>
              </a:rPr>
              <a:t>2. Parallel Workers (max 4 concurrent)</a:t>
            </a:r>
            <a:endParaRPr lang="en-US" sz="900" dirty="0"/>
          </a:p>
        </p:txBody>
      </p:sp>
      <p:sp>
        <p:nvSpPr>
          <p:cNvPr id="9" name="Shape 7"/>
          <p:cNvSpPr/>
          <p:nvPr/>
        </p:nvSpPr>
        <p:spPr>
          <a:xfrm>
            <a:off x="201168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0" name="Text 8"/>
          <p:cNvSpPr/>
          <p:nvPr/>
        </p:nvSpPr>
        <p:spPr>
          <a:xfrm>
            <a:off x="201168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data_analyst:</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Compare Q1 vs Q2</a:t>
            </a:r>
            <a:endParaRPr lang="en-US" sz="1000" dirty="0"/>
          </a:p>
        </p:txBody>
      </p:sp>
      <p:sp>
        <p:nvSpPr>
          <p:cNvPr id="11" name="Shape 9"/>
          <p:cNvSpPr/>
          <p:nvPr/>
        </p:nvSpPr>
        <p:spPr>
          <a:xfrm>
            <a:off x="306324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06324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rag_worker:</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Research trends</a:t>
            </a:r>
            <a:endParaRPr lang="en-US" sz="1000" dirty="0"/>
          </a:p>
        </p:txBody>
      </p:sp>
      <p:sp>
        <p:nvSpPr>
          <p:cNvPr id="13" name="Shape 11"/>
          <p:cNvSpPr/>
          <p:nvPr/>
        </p:nvSpPr>
        <p:spPr>
          <a:xfrm>
            <a:off x="411480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4" name="Text 12"/>
          <p:cNvSpPr/>
          <p:nvPr/>
        </p:nvSpPr>
        <p:spPr>
          <a:xfrm>
            <a:off x="411480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utility:</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Skill guidance</a:t>
            </a:r>
            <a:endParaRPr lang="en-US" sz="1000" dirty="0"/>
          </a:p>
        </p:txBody>
      </p:sp>
      <p:sp>
        <p:nvSpPr>
          <p:cNvPr id="15" name="Shape 13"/>
          <p:cNvSpPr/>
          <p:nvPr/>
        </p:nvSpPr>
        <p:spPr>
          <a:xfrm>
            <a:off x="5120640" y="1303020"/>
            <a:ext cx="182880" cy="0"/>
          </a:xfrm>
          <a:prstGeom prst="line">
            <a:avLst/>
          </a:prstGeom>
          <a:noFill/>
          <a:ln w="25400">
            <a:solidFill>
              <a:srgbClr val="0097A7"/>
            </a:solidFill>
            <a:prstDash val="solid"/>
          </a:ln>
        </p:spPr>
        <p:txBody>
          <a:bodyPr/>
          <a:lstStyle/>
          <a:p>
            <a:endParaRPr lang="en-US"/>
          </a:p>
        </p:txBody>
      </p:sp>
      <p:sp>
        <p:nvSpPr>
          <p:cNvPr id="16" name="Text 14"/>
          <p:cNvSpPr/>
          <p:nvPr/>
        </p:nvSpPr>
        <p:spPr>
          <a:xfrm>
            <a:off x="51937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7" name="Shape 15"/>
          <p:cNvSpPr/>
          <p:nvPr/>
        </p:nvSpPr>
        <p:spPr>
          <a:xfrm>
            <a:off x="5303520" y="1051560"/>
            <a:ext cx="1280160" cy="50292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5303520" y="1051560"/>
            <a:ext cx="128016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3. Finalizer</a:t>
            </a:r>
            <a:endParaRPr lang="en-US" sz="1000" dirty="0"/>
          </a:p>
        </p:txBody>
      </p:sp>
      <p:sp>
        <p:nvSpPr>
          <p:cNvPr id="19" name="Shape 17"/>
          <p:cNvSpPr/>
          <p:nvPr/>
        </p:nvSpPr>
        <p:spPr>
          <a:xfrm>
            <a:off x="6583680" y="1303020"/>
            <a:ext cx="182880" cy="0"/>
          </a:xfrm>
          <a:prstGeom prst="line">
            <a:avLst/>
          </a:prstGeom>
          <a:noFill/>
          <a:ln w="25400">
            <a:solidFill>
              <a:srgbClr val="0097A7"/>
            </a:solidFill>
            <a:prstDash val="solid"/>
          </a:ln>
        </p:spPr>
        <p:txBody>
          <a:bodyPr/>
          <a:lstStyle/>
          <a:p>
            <a:endParaRPr lang="en-US"/>
          </a:p>
        </p:txBody>
      </p:sp>
      <p:sp>
        <p:nvSpPr>
          <p:cNvPr id="20" name="Text 18"/>
          <p:cNvSpPr/>
          <p:nvPr/>
        </p:nvSpPr>
        <p:spPr>
          <a:xfrm>
            <a:off x="665683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1" name="Shape 19"/>
          <p:cNvSpPr/>
          <p:nvPr/>
        </p:nvSpPr>
        <p:spPr>
          <a:xfrm>
            <a:off x="6766560" y="1051560"/>
            <a:ext cx="1188720" cy="50292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6766560" y="1051560"/>
            <a:ext cx="118872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4. Verifier</a:t>
            </a:r>
            <a:endParaRPr lang="en-US" sz="1000" dirty="0"/>
          </a:p>
        </p:txBody>
      </p:sp>
      <p:sp>
        <p:nvSpPr>
          <p:cNvPr id="23" name="Shape 21"/>
          <p:cNvSpPr/>
          <p:nvPr/>
        </p:nvSpPr>
        <p:spPr>
          <a:xfrm>
            <a:off x="502920" y="2057400"/>
            <a:ext cx="4389120" cy="1005840"/>
          </a:xfrm>
          <a:prstGeom prst="rect">
            <a:avLst/>
          </a:prstGeom>
          <a:solidFill>
            <a:srgbClr val="2D2D2D"/>
          </a:solidFill>
          <a:ln/>
        </p:spPr>
        <p:txBody>
          <a:bodyPr/>
          <a:lstStyle/>
          <a:p>
            <a:endParaRPr lang="en-US"/>
          </a:p>
        </p:txBody>
      </p:sp>
      <p:sp>
        <p:nvSpPr>
          <p:cNvPr id="24" name="Text 22"/>
          <p:cNvSpPr/>
          <p:nvPr/>
        </p:nvSpPr>
        <p:spPr>
          <a:xfrm>
            <a:off x="612648" y="2112264"/>
            <a:ext cx="4169664" cy="89611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{"tasks":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{"id":1, "worker":"data_analyst",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"instruction":"Compare Q1 vs Q2 metrics"},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{"id":2, "worker":"rag_worker",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"instruction":"Research market trends"},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{"id":3, "worker":"utility",</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"instruction":"Search for skill guidance"}</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p:txBody>
      </p:sp>
      <p:sp>
        <p:nvSpPr>
          <p:cNvPr id="25" name="Text 23"/>
          <p:cNvSpPr/>
          <p:nvPr/>
        </p:nvSpPr>
        <p:spPr>
          <a:xfrm>
            <a:off x="4846320" y="2057400"/>
            <a:ext cx="3840480" cy="1005840"/>
          </a:xfrm>
          <a:prstGeom prst="rect">
            <a:avLst/>
          </a:prstGeom>
          <a:noFill/>
          <a:ln/>
        </p:spPr>
        <p:txBody>
          <a:bodyPr wrap="square" lIns="0" tIns="0" rIns="0" bIns="0" rtlCol="0" anchor="t"/>
          <a:lstStyle/>
          <a:p>
            <a:pPr marL="0" indent="0">
              <a:buNone/>
            </a:pPr>
            <a:r>
              <a:rPr lang="en-US" sz="1000" b="1" dirty="0">
                <a:solidFill>
                  <a:srgbClr val="333333"/>
                </a:solidFill>
                <a:latin typeface="Arial" pitchFamily="34" charset="0"/>
                <a:ea typeface="Arial" pitchFamily="34" charset="-122"/>
                <a:cs typeface="Arial" pitchFamily="34" charset="-120"/>
              </a:rPr>
              <a:t>Key Design: </a:t>
            </a:r>
            <a:r>
              <a:rPr lang="en-US" sz="1000" dirty="0">
                <a:solidFill>
                  <a:srgbClr val="333333"/>
                </a:solidFill>
                <a:latin typeface="Arial" pitchFamily="34" charset="0"/>
                <a:ea typeface="Arial" pitchFamily="34" charset="-122"/>
                <a:cs typeface="Arial" pitchFamily="34" charset="-120"/>
              </a:rPr>
              <a:t>Coordinator NEVER does work itself. It plans, delegates, and quality-checks. Workers run on separate threads with their own QueryLoop instances. Durable jobs survive server restarts.</a:t>
            </a:r>
            <a:endParaRPr lang="en-US" sz="1000" dirty="0"/>
          </a:p>
        </p:txBody>
      </p:sp>
      <p:sp>
        <p:nvSpPr>
          <p:cNvPr id="26" name="Shape 24"/>
          <p:cNvSpPr/>
          <p:nvPr/>
        </p:nvSpPr>
        <p:spPr>
          <a:xfrm>
            <a:off x="502920" y="3291840"/>
            <a:ext cx="8138160" cy="320040"/>
          </a:xfrm>
          <a:prstGeom prst="rect">
            <a:avLst/>
          </a:prstGeom>
          <a:solidFill>
            <a:srgbClr val="E0F7FA"/>
          </a:solidFill>
          <a:ln w="12700">
            <a:solidFill>
              <a:srgbClr val="0097A7"/>
            </a:solidFill>
            <a:prstDash val="solid"/>
          </a:ln>
        </p:spPr>
        <p:txBody>
          <a:bodyPr/>
          <a:lstStyle/>
          <a:p>
            <a:endParaRPr lang="en-US"/>
          </a:p>
        </p:txBody>
      </p:sp>
      <p:sp>
        <p:nvSpPr>
          <p:cNvPr id="27" name="Text 25"/>
          <p:cNvSpPr/>
          <p:nvPr/>
        </p:nvSpPr>
        <p:spPr>
          <a:xfrm>
            <a:off x="594360" y="3291840"/>
            <a:ext cx="7955280" cy="32004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If verifier flags issues -&gt; revision loop back to planner. Optional Step 5 ensures factual accuracy.</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runtime/kernel.py, runtime/job_manager.py, data/agents/coordinator.md</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5: Memory in Action</a:t>
            </a:r>
            <a:endParaRPr lang="en-US" sz="2600" dirty="0"/>
          </a:p>
        </p:txBody>
      </p:sp>
      <p:sp>
        <p:nvSpPr>
          <p:cNvPr id="3" name="Shape 1"/>
          <p:cNvSpPr/>
          <p:nvPr/>
        </p:nvSpPr>
        <p:spPr>
          <a:xfrm>
            <a:off x="502920" y="960120"/>
            <a:ext cx="3840480" cy="18288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502920" y="960120"/>
            <a:ext cx="3840480" cy="320040"/>
          </a:xfrm>
          <a:prstGeom prst="rect">
            <a:avLst/>
          </a:prstGeom>
          <a:solidFill>
            <a:srgbClr val="0097A7"/>
          </a:solidFill>
          <a:ln/>
        </p:spPr>
        <p:txBody>
          <a:bodyPr/>
          <a:lstStyle/>
          <a:p>
            <a:endParaRPr lang="en-US"/>
          </a:p>
        </p:txBody>
      </p:sp>
      <p:sp>
        <p:nvSpPr>
          <p:cNvPr id="5" name="Text 3"/>
          <p:cNvSpPr/>
          <p:nvPr/>
        </p:nvSpPr>
        <p:spPr>
          <a:xfrm>
            <a:off x="612648" y="987552"/>
            <a:ext cx="362102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Part A: Memory Injection (Every Turn)</a:t>
            </a:r>
            <a:endParaRPr lang="en-US" sz="1200" dirty="0"/>
          </a:p>
        </p:txBody>
      </p:sp>
      <p:sp>
        <p:nvSpPr>
          <p:cNvPr id="6" name="Text 4"/>
          <p:cNvSpPr/>
          <p:nvPr/>
        </p:nvSpPr>
        <p:spPr>
          <a:xfrm>
            <a:off x="612648" y="1344168"/>
            <a:ext cx="3621024" cy="135331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MemoryContextBuilder injects relevant memories into the system prompt before each agent run.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Scoped to user + conversation</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Max 2000 characters</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Retrieved by relevance</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Refreshed every turn</a:t>
            </a:r>
            <a:endParaRPr lang="en-US" sz="1000" dirty="0"/>
          </a:p>
        </p:txBody>
      </p:sp>
      <p:sp>
        <p:nvSpPr>
          <p:cNvPr id="7" name="Shape 5"/>
          <p:cNvSpPr/>
          <p:nvPr/>
        </p:nvSpPr>
        <p:spPr>
          <a:xfrm>
            <a:off x="4754880" y="960120"/>
            <a:ext cx="3931920" cy="18288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8" name="Shape 6"/>
          <p:cNvSpPr/>
          <p:nvPr/>
        </p:nvSpPr>
        <p:spPr>
          <a:xfrm>
            <a:off x="4754880" y="960120"/>
            <a:ext cx="3931920" cy="320040"/>
          </a:xfrm>
          <a:prstGeom prst="rect">
            <a:avLst/>
          </a:prstGeom>
          <a:solidFill>
            <a:srgbClr val="1B2A4A"/>
          </a:solidFill>
          <a:ln/>
        </p:spPr>
        <p:txBody>
          <a:bodyPr/>
          <a:lstStyle/>
          <a:p>
            <a:endParaRPr lang="en-US"/>
          </a:p>
        </p:txBody>
      </p:sp>
      <p:sp>
        <p:nvSpPr>
          <p:cNvPr id="9" name="Text 7"/>
          <p:cNvSpPr/>
          <p:nvPr/>
        </p:nvSpPr>
        <p:spPr>
          <a:xfrm>
            <a:off x="4864608" y="987552"/>
            <a:ext cx="37124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Part B: Memory Extraction (Post-Turn)</a:t>
            </a:r>
            <a:endParaRPr lang="en-US" sz="1200" dirty="0"/>
          </a:p>
        </p:txBody>
      </p:sp>
      <p:sp>
        <p:nvSpPr>
          <p:cNvPr id="10" name="Text 8"/>
          <p:cNvSpPr/>
          <p:nvPr/>
        </p:nvSpPr>
        <p:spPr>
          <a:xfrm>
            <a:off x="4864608" y="1344168"/>
            <a:ext cx="3712464" cy="135331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memory_maintainer agent extracts new memories from conversation.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1. Pattern detection: 'remember that...', 'note that...'</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2. Saves to: data/memory/tenants/&lt;t&gt;/users/&lt;u&gt;/</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3. Updates: index.json (auth) -&gt; MEMORY.md + topics/*.md</a:t>
            </a:r>
            <a:endParaRPr lang="en-US" sz="1000" dirty="0"/>
          </a:p>
        </p:txBody>
      </p:sp>
      <p:sp>
        <p:nvSpPr>
          <p:cNvPr id="11" name="Text 9"/>
          <p:cNvSpPr/>
          <p:nvPr/>
        </p:nvSpPr>
        <p:spPr>
          <a:xfrm>
            <a:off x="502920" y="3017520"/>
            <a:ext cx="8138160" cy="548640"/>
          </a:xfrm>
          <a:prstGeom prst="rect">
            <a:avLst/>
          </a:prstGeom>
          <a:noFill/>
          <a:ln/>
        </p:spPr>
        <p:txBody>
          <a:bodyPr wrap="square" lIns="0" tIns="0" rIns="0" bIns="0" rtlCol="0" anchor="t"/>
          <a:lstStyle/>
          <a:p>
            <a:pPr marL="0" indent="0">
              <a:buNone/>
            </a:pPr>
            <a:r>
              <a:rPr lang="en-US" sz="1100" b="1" dirty="0">
                <a:solidFill>
                  <a:srgbClr val="333333"/>
                </a:solidFill>
                <a:latin typeface="Arial" pitchFamily="34" charset="0"/>
                <a:ea typeface="Arial" pitchFamily="34" charset="-122"/>
                <a:cs typeface="Arial" pitchFamily="34" charset="-120"/>
              </a:rPr>
              <a:t>Example: </a:t>
            </a:r>
            <a:r>
              <a:rPr lang="en-US" sz="1100" dirty="0">
                <a:solidFill>
                  <a:srgbClr val="333333"/>
                </a:solidFill>
                <a:latin typeface="Arial" pitchFamily="34" charset="0"/>
                <a:ea typeface="Arial" pitchFamily="34" charset="-122"/>
                <a:cs typeface="Arial" pitchFamily="34" charset="-120"/>
              </a:rPr>
              <a:t>User says 'I prefer charts in dark mode' -&gt; extracted and stored. Next data analysis request, this memory is injected into data_analyst prompt -&gt; dark-mode chart generated automatically.</a:t>
            </a:r>
            <a:endParaRPr lang="en-US" sz="1100" dirty="0"/>
          </a:p>
        </p:txBody>
      </p:sp>
      <p:sp>
        <p:nvSpPr>
          <p:cNvPr id="12" name="Shape 10"/>
          <p:cNvSpPr/>
          <p:nvPr/>
        </p:nvSpPr>
        <p:spPr>
          <a:xfrm>
            <a:off x="502920" y="3703320"/>
            <a:ext cx="8138160" cy="320040"/>
          </a:xfrm>
          <a:prstGeom prst="rect">
            <a:avLst/>
          </a:prstGeom>
          <a:solidFill>
            <a:srgbClr val="E0F7FA"/>
          </a:solidFill>
          <a:ln w="12700">
            <a:solidFill>
              <a:srgbClr val="0097A7"/>
            </a:solidFill>
            <a:prstDash val="solid"/>
          </a:ln>
        </p:spPr>
        <p:txBody>
          <a:bodyPr/>
          <a:lstStyle/>
          <a:p>
            <a:endParaRPr lang="en-US"/>
          </a:p>
        </p:txBody>
      </p:sp>
      <p:sp>
        <p:nvSpPr>
          <p:cNvPr id="13" name="Text 11"/>
          <p:cNvSpPr/>
          <p:nvPr/>
        </p:nvSpPr>
        <p:spPr>
          <a:xfrm>
            <a:off x="594360" y="3703320"/>
            <a:ext cx="7955280" cy="32004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Memory extraction still uses heuristic pattern detection. Storage is backed by the PostgreSQL persistence layer via KnowledgeStores.</a:t>
            </a:r>
            <a:endParaRPr lang="en-US" sz="1000" dirty="0"/>
          </a:p>
        </p:txBody>
      </p:sp>
      <p:sp>
        <p:nvSpPr>
          <p:cNvPr id="14" name="Text 12"/>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memory/context_builder.py, memory/file_store.py, memory/extractor.py</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Complete Routing Decision Tree</a:t>
            </a:r>
            <a:endParaRPr lang="en-US" sz="2600" dirty="0"/>
          </a:p>
        </p:txBody>
      </p:sp>
      <p:sp>
        <p:nvSpPr>
          <p:cNvPr id="3" name="Shape 1"/>
          <p:cNvSpPr/>
          <p:nvPr/>
        </p:nvSpPr>
        <p:spPr>
          <a:xfrm>
            <a:off x="731520" y="914400"/>
            <a:ext cx="7680960" cy="3200400"/>
          </a:xfrm>
          <a:prstGeom prst="rect">
            <a:avLst/>
          </a:prstGeom>
          <a:solidFill>
            <a:srgbClr val="2D2D2D"/>
          </a:solidFill>
          <a:ln/>
        </p:spPr>
        <p:txBody>
          <a:bodyPr/>
          <a:lstStyle/>
          <a:p>
            <a:endParaRPr lang="en-US"/>
          </a:p>
        </p:txBody>
      </p:sp>
      <p:sp>
        <p:nvSpPr>
          <p:cNvPr id="4" name="Text 2"/>
          <p:cNvSpPr/>
          <p:nvPr/>
        </p:nvSpPr>
        <p:spPr>
          <a:xfrm>
            <a:off x="841248" y="969264"/>
            <a:ext cx="7461504" cy="309067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User Message</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 has_attachments?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     |-- data analysis hints? --&gt; data_analyst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     |-- coordinator hints?   --&gt; coordinator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     |-- RAG hints?           --&gt; rag_worker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     '-- else                 --&gt; general</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 tool verbs / citation / high-stakes hints? --&gt; AGENT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     '-- (suggested agent based on pattern)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 text &gt; 600 chars? --&gt; AGENT (accumulated reasons)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 deterministic confidence &lt; 0.70? --&gt; LLM judge escalation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 none of the above --&gt; BASIC (confidence=0.85)</a:t>
            </a:r>
            <a:endParaRPr lang="en-US" sz="900" dirty="0"/>
          </a:p>
        </p:txBody>
      </p:sp>
      <p:sp>
        <p:nvSpPr>
          <p:cNvPr id="5" name="Text 3"/>
          <p:cNvSpPr/>
          <p:nvPr/>
        </p:nvSpPr>
        <p:spPr>
          <a:xfrm>
            <a:off x="502920" y="4297680"/>
            <a:ext cx="8138160" cy="274320"/>
          </a:xfrm>
          <a:prstGeom prst="rect">
            <a:avLst/>
          </a:prstGeom>
          <a:noFill/>
          <a:ln/>
        </p:spPr>
        <p:txBody>
          <a:bodyPr wrap="square" lIns="0" tIns="0" rIns="0" bIns="0" rtlCol="0" anchor="ctr"/>
          <a:lstStyle/>
          <a:p>
            <a:pPr marL="0" indent="0" algn="ctr">
              <a:buNone/>
            </a:pPr>
            <a:r>
              <a:rPr lang="en-US" sz="1100" b="1" dirty="0">
                <a:solidFill>
                  <a:srgbClr val="1B2A4A"/>
                </a:solidFill>
                <a:latin typeface="Arial" pitchFamily="34" charset="0"/>
                <a:ea typeface="Arial" pitchFamily="34" charset="-122"/>
                <a:cs typeface="Arial" pitchFamily="34" charset="-120"/>
              </a:rPr>
              <a:t>This is the complete routing logic in one view — the roadmap for understanding every request flow.</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RAG Pipeline — Retrieval to Grounded Answer</a:t>
            </a:r>
            <a:endParaRPr lang="en-US" sz="2600" dirty="0"/>
          </a:p>
        </p:txBody>
      </p:sp>
      <p:sp>
        <p:nvSpPr>
          <p:cNvPr id="3" name="Shape 1"/>
          <p:cNvSpPr/>
          <p:nvPr/>
        </p:nvSpPr>
        <p:spPr>
          <a:xfrm>
            <a:off x="562356" y="1051560"/>
            <a:ext cx="1051560" cy="59436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562356"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Query</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Analysis</a:t>
            </a:r>
            <a:endParaRPr lang="en-US" sz="1000" dirty="0"/>
          </a:p>
        </p:txBody>
      </p:sp>
      <p:sp>
        <p:nvSpPr>
          <p:cNvPr id="5" name="Shape 3"/>
          <p:cNvSpPr/>
          <p:nvPr/>
        </p:nvSpPr>
        <p:spPr>
          <a:xfrm>
            <a:off x="1613916" y="1348740"/>
            <a:ext cx="109728" cy="0"/>
          </a:xfrm>
          <a:prstGeom prst="line">
            <a:avLst/>
          </a:prstGeom>
          <a:noFill/>
          <a:ln w="25400">
            <a:solidFill>
              <a:srgbClr val="0097A7"/>
            </a:solidFill>
            <a:prstDash val="solid"/>
          </a:ln>
        </p:spPr>
        <p:txBody>
          <a:bodyPr/>
          <a:lstStyle/>
          <a:p>
            <a:endParaRPr lang="en-US"/>
          </a:p>
        </p:txBody>
      </p:sp>
      <p:sp>
        <p:nvSpPr>
          <p:cNvPr id="6" name="Text 4"/>
          <p:cNvSpPr/>
          <p:nvPr/>
        </p:nvSpPr>
        <p:spPr>
          <a:xfrm>
            <a:off x="1613916"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723644" y="1051560"/>
            <a:ext cx="1051560" cy="5943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1723644"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Hybrid</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Retrieval</a:t>
            </a:r>
            <a:endParaRPr lang="en-US" sz="1000" dirty="0"/>
          </a:p>
        </p:txBody>
      </p:sp>
      <p:sp>
        <p:nvSpPr>
          <p:cNvPr id="9" name="Shape 7"/>
          <p:cNvSpPr/>
          <p:nvPr/>
        </p:nvSpPr>
        <p:spPr>
          <a:xfrm>
            <a:off x="2775204" y="1348740"/>
            <a:ext cx="109728" cy="0"/>
          </a:xfrm>
          <a:prstGeom prst="line">
            <a:avLst/>
          </a:prstGeom>
          <a:noFill/>
          <a:ln w="25400">
            <a:solidFill>
              <a:srgbClr val="0097A7"/>
            </a:solidFill>
            <a:prstDash val="solid"/>
          </a:ln>
        </p:spPr>
        <p:txBody>
          <a:bodyPr/>
          <a:lstStyle/>
          <a:p>
            <a:endParaRPr lang="en-US"/>
          </a:p>
        </p:txBody>
      </p:sp>
      <p:sp>
        <p:nvSpPr>
          <p:cNvPr id="10" name="Text 8"/>
          <p:cNvSpPr/>
          <p:nvPr/>
        </p:nvSpPr>
        <p:spPr>
          <a:xfrm>
            <a:off x="2775204"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2884932" y="1051560"/>
            <a:ext cx="1051560" cy="59436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2884932"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Judge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Grading</a:t>
            </a:r>
            <a:endParaRPr lang="en-US" sz="1000" dirty="0"/>
          </a:p>
        </p:txBody>
      </p:sp>
      <p:sp>
        <p:nvSpPr>
          <p:cNvPr id="13" name="Shape 11"/>
          <p:cNvSpPr/>
          <p:nvPr/>
        </p:nvSpPr>
        <p:spPr>
          <a:xfrm>
            <a:off x="3936492" y="1348740"/>
            <a:ext cx="109728" cy="0"/>
          </a:xfrm>
          <a:prstGeom prst="line">
            <a:avLst/>
          </a:prstGeom>
          <a:noFill/>
          <a:ln w="25400">
            <a:solidFill>
              <a:srgbClr val="0097A7"/>
            </a:solidFill>
            <a:prstDash val="solid"/>
          </a:ln>
        </p:spPr>
        <p:txBody>
          <a:bodyPr/>
          <a:lstStyle/>
          <a:p>
            <a:endParaRPr lang="en-US"/>
          </a:p>
        </p:txBody>
      </p:sp>
      <p:sp>
        <p:nvSpPr>
          <p:cNvPr id="14" name="Text 12"/>
          <p:cNvSpPr/>
          <p:nvPr/>
        </p:nvSpPr>
        <p:spPr>
          <a:xfrm>
            <a:off x="3936492"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5" name="Shape 13"/>
          <p:cNvSpPr/>
          <p:nvPr/>
        </p:nvSpPr>
        <p:spPr>
          <a:xfrm>
            <a:off x="4046220" y="1051560"/>
            <a:ext cx="1051560" cy="59436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4046220"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Evidence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Assembly</a:t>
            </a:r>
            <a:endParaRPr lang="en-US" sz="1000" dirty="0"/>
          </a:p>
        </p:txBody>
      </p:sp>
      <p:sp>
        <p:nvSpPr>
          <p:cNvPr id="17" name="Shape 15"/>
          <p:cNvSpPr/>
          <p:nvPr/>
        </p:nvSpPr>
        <p:spPr>
          <a:xfrm>
            <a:off x="5097780" y="1348740"/>
            <a:ext cx="109728" cy="0"/>
          </a:xfrm>
          <a:prstGeom prst="line">
            <a:avLst/>
          </a:prstGeom>
          <a:noFill/>
          <a:ln w="25400">
            <a:solidFill>
              <a:srgbClr val="0097A7"/>
            </a:solidFill>
            <a:prstDash val="solid"/>
          </a:ln>
        </p:spPr>
        <p:txBody>
          <a:bodyPr/>
          <a:lstStyle/>
          <a:p>
            <a:endParaRPr lang="en-US"/>
          </a:p>
        </p:txBody>
      </p:sp>
      <p:sp>
        <p:nvSpPr>
          <p:cNvPr id="18" name="Text 16"/>
          <p:cNvSpPr/>
          <p:nvPr/>
        </p:nvSpPr>
        <p:spPr>
          <a:xfrm>
            <a:off x="5097780"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9" name="Shape 17"/>
          <p:cNvSpPr/>
          <p:nvPr/>
        </p:nvSpPr>
        <p:spPr>
          <a:xfrm>
            <a:off x="5207508" y="1051560"/>
            <a:ext cx="1051560" cy="5943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5207508"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Synthesis</a:t>
            </a:r>
            <a:endParaRPr lang="en-US" sz="1000" dirty="0"/>
          </a:p>
        </p:txBody>
      </p:sp>
      <p:sp>
        <p:nvSpPr>
          <p:cNvPr id="21" name="Shape 19"/>
          <p:cNvSpPr/>
          <p:nvPr/>
        </p:nvSpPr>
        <p:spPr>
          <a:xfrm>
            <a:off x="6259068" y="1348740"/>
            <a:ext cx="109728" cy="0"/>
          </a:xfrm>
          <a:prstGeom prst="line">
            <a:avLst/>
          </a:prstGeom>
          <a:noFill/>
          <a:ln w="25400">
            <a:solidFill>
              <a:srgbClr val="0097A7"/>
            </a:solidFill>
            <a:prstDash val="solid"/>
          </a:ln>
        </p:spPr>
        <p:txBody>
          <a:bodyPr/>
          <a:lstStyle/>
          <a:p>
            <a:endParaRPr lang="en-US"/>
          </a:p>
        </p:txBody>
      </p:sp>
      <p:sp>
        <p:nvSpPr>
          <p:cNvPr id="22" name="Text 20"/>
          <p:cNvSpPr/>
          <p:nvPr/>
        </p:nvSpPr>
        <p:spPr>
          <a:xfrm>
            <a:off x="6259068"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3" name="Shape 21"/>
          <p:cNvSpPr/>
          <p:nvPr/>
        </p:nvSpPr>
        <p:spPr>
          <a:xfrm>
            <a:off x="6368796" y="1051560"/>
            <a:ext cx="1051560" cy="59436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24" name="Text 22"/>
          <p:cNvSpPr/>
          <p:nvPr/>
        </p:nvSpPr>
        <p:spPr>
          <a:xfrm>
            <a:off x="6368796"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Citation</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Building</a:t>
            </a:r>
            <a:endParaRPr lang="en-US" sz="1000" dirty="0"/>
          </a:p>
        </p:txBody>
      </p:sp>
      <p:sp>
        <p:nvSpPr>
          <p:cNvPr id="25" name="Shape 23"/>
          <p:cNvSpPr/>
          <p:nvPr/>
        </p:nvSpPr>
        <p:spPr>
          <a:xfrm>
            <a:off x="7420356" y="1348740"/>
            <a:ext cx="109728" cy="0"/>
          </a:xfrm>
          <a:prstGeom prst="line">
            <a:avLst/>
          </a:prstGeom>
          <a:noFill/>
          <a:ln w="25400">
            <a:solidFill>
              <a:srgbClr val="0097A7"/>
            </a:solidFill>
            <a:prstDash val="solid"/>
          </a:ln>
        </p:spPr>
        <p:txBody>
          <a:bodyPr/>
          <a:lstStyle/>
          <a:p>
            <a:endParaRPr lang="en-US"/>
          </a:p>
        </p:txBody>
      </p:sp>
      <p:sp>
        <p:nvSpPr>
          <p:cNvPr id="26" name="Text 24"/>
          <p:cNvSpPr/>
          <p:nvPr/>
        </p:nvSpPr>
        <p:spPr>
          <a:xfrm>
            <a:off x="7420356"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7" name="Shape 25"/>
          <p:cNvSpPr/>
          <p:nvPr/>
        </p:nvSpPr>
        <p:spPr>
          <a:xfrm>
            <a:off x="7530084" y="1051560"/>
            <a:ext cx="1051560" cy="59436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28" name="Text 26"/>
          <p:cNvSpPr/>
          <p:nvPr/>
        </p:nvSpPr>
        <p:spPr>
          <a:xfrm>
            <a:off x="7530084"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Confidence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Extraction</a:t>
            </a:r>
            <a:endParaRPr lang="en-US" sz="1000" dirty="0"/>
          </a:p>
        </p:txBody>
      </p:sp>
      <p:sp>
        <p:nvSpPr>
          <p:cNvPr id="29" name="Shape 27"/>
          <p:cNvSpPr/>
          <p:nvPr/>
        </p:nvSpPr>
        <p:spPr>
          <a:xfrm>
            <a:off x="502920" y="1920240"/>
            <a:ext cx="8138160" cy="292608"/>
          </a:xfrm>
          <a:prstGeom prst="rect">
            <a:avLst/>
          </a:prstGeom>
          <a:solidFill>
            <a:srgbClr val="F5F5F5"/>
          </a:solidFill>
          <a:ln/>
        </p:spPr>
        <p:txBody>
          <a:bodyPr/>
          <a:lstStyle/>
          <a:p>
            <a:endParaRPr lang="en-US"/>
          </a:p>
        </p:txBody>
      </p:sp>
      <p:sp>
        <p:nvSpPr>
          <p:cNvPr id="30" name="Text 28"/>
          <p:cNvSpPr/>
          <p:nvPr/>
        </p:nvSpPr>
        <p:spPr>
          <a:xfrm>
            <a:off x="594360" y="1920240"/>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Query Analysis</a:t>
            </a:r>
            <a:endParaRPr lang="en-US" sz="1000" dirty="0"/>
          </a:p>
        </p:txBody>
      </p:sp>
      <p:sp>
        <p:nvSpPr>
          <p:cNvPr id="31" name="Text 29"/>
          <p:cNvSpPr/>
          <p:nvPr/>
        </p:nvSpPr>
        <p:spPr>
          <a:xfrm>
            <a:off x="2514600" y="1920240"/>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User query + context -&gt; reformulated search query</a:t>
            </a:r>
            <a:endParaRPr lang="en-US" sz="1000" dirty="0"/>
          </a:p>
        </p:txBody>
      </p:sp>
      <p:sp>
        <p:nvSpPr>
          <p:cNvPr id="32" name="Shape 30"/>
          <p:cNvSpPr/>
          <p:nvPr/>
        </p:nvSpPr>
        <p:spPr>
          <a:xfrm>
            <a:off x="502920" y="2221992"/>
            <a:ext cx="8138160" cy="292608"/>
          </a:xfrm>
          <a:prstGeom prst="rect">
            <a:avLst/>
          </a:prstGeom>
          <a:solidFill>
            <a:srgbClr val="FFFFFF"/>
          </a:solidFill>
          <a:ln/>
        </p:spPr>
        <p:txBody>
          <a:bodyPr/>
          <a:lstStyle/>
          <a:p>
            <a:endParaRPr lang="en-US"/>
          </a:p>
        </p:txBody>
      </p:sp>
      <p:sp>
        <p:nvSpPr>
          <p:cNvPr id="33" name="Text 31"/>
          <p:cNvSpPr/>
          <p:nvPr/>
        </p:nvSpPr>
        <p:spPr>
          <a:xfrm>
            <a:off x="594360" y="2221992"/>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Hybrid Retrieval</a:t>
            </a:r>
            <a:endParaRPr lang="en-US" sz="1000" dirty="0"/>
          </a:p>
        </p:txBody>
      </p:sp>
      <p:sp>
        <p:nvSpPr>
          <p:cNvPr id="34" name="Text 32"/>
          <p:cNvSpPr/>
          <p:nvPr/>
        </p:nvSpPr>
        <p:spPr>
          <a:xfrm>
            <a:off x="2514600" y="2221992"/>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Vector (embedding) + keyword (BM25) -&gt; merged, deduplicated</a:t>
            </a:r>
            <a:endParaRPr lang="en-US" sz="1000" dirty="0"/>
          </a:p>
        </p:txBody>
      </p:sp>
      <p:sp>
        <p:nvSpPr>
          <p:cNvPr id="35" name="Shape 33"/>
          <p:cNvSpPr/>
          <p:nvPr/>
        </p:nvSpPr>
        <p:spPr>
          <a:xfrm>
            <a:off x="502920" y="2523744"/>
            <a:ext cx="8138160" cy="292608"/>
          </a:xfrm>
          <a:prstGeom prst="rect">
            <a:avLst/>
          </a:prstGeom>
          <a:solidFill>
            <a:srgbClr val="F5F5F5"/>
          </a:solidFill>
          <a:ln/>
        </p:spPr>
        <p:txBody>
          <a:bodyPr/>
          <a:lstStyle/>
          <a:p>
            <a:endParaRPr lang="en-US"/>
          </a:p>
        </p:txBody>
      </p:sp>
      <p:sp>
        <p:nvSpPr>
          <p:cNvPr id="36" name="Text 34"/>
          <p:cNvSpPr/>
          <p:nvPr/>
        </p:nvSpPr>
        <p:spPr>
          <a:xfrm>
            <a:off x="594360" y="2523744"/>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Judge Grading</a:t>
            </a:r>
            <a:endParaRPr lang="en-US" sz="1000" dirty="0"/>
          </a:p>
        </p:txBody>
      </p:sp>
      <p:sp>
        <p:nvSpPr>
          <p:cNvPr id="37" name="Text 35"/>
          <p:cNvSpPr/>
          <p:nvPr/>
        </p:nvSpPr>
        <p:spPr>
          <a:xfrm>
            <a:off x="2514600" y="2523744"/>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Small fast LLM scores each chunk 0-1 for relevance</a:t>
            </a:r>
            <a:endParaRPr lang="en-US" sz="1000" dirty="0"/>
          </a:p>
        </p:txBody>
      </p:sp>
      <p:sp>
        <p:nvSpPr>
          <p:cNvPr id="38" name="Shape 36"/>
          <p:cNvSpPr/>
          <p:nvPr/>
        </p:nvSpPr>
        <p:spPr>
          <a:xfrm>
            <a:off x="502920" y="2825496"/>
            <a:ext cx="8138160" cy="292608"/>
          </a:xfrm>
          <a:prstGeom prst="rect">
            <a:avLst/>
          </a:prstGeom>
          <a:solidFill>
            <a:srgbClr val="FFFFFF"/>
          </a:solidFill>
          <a:ln/>
        </p:spPr>
        <p:txBody>
          <a:bodyPr/>
          <a:lstStyle/>
          <a:p>
            <a:endParaRPr lang="en-US"/>
          </a:p>
        </p:txBody>
      </p:sp>
      <p:sp>
        <p:nvSpPr>
          <p:cNvPr id="39" name="Text 37"/>
          <p:cNvSpPr/>
          <p:nvPr/>
        </p:nvSpPr>
        <p:spPr>
          <a:xfrm>
            <a:off x="594360" y="2825496"/>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Synthesis</a:t>
            </a:r>
            <a:endParaRPr lang="en-US" sz="1000" dirty="0"/>
          </a:p>
        </p:txBody>
      </p:sp>
      <p:sp>
        <p:nvSpPr>
          <p:cNvPr id="40" name="Text 38"/>
          <p:cNvSpPr/>
          <p:nvPr/>
        </p:nvSpPr>
        <p:spPr>
          <a:xfrm>
            <a:off x="2514600" y="2825496"/>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Main LLM generates answer citing evidence with (citation_id) format</a:t>
            </a:r>
            <a:endParaRPr lang="en-US" sz="1000" dirty="0"/>
          </a:p>
        </p:txBody>
      </p:sp>
      <p:sp>
        <p:nvSpPr>
          <p:cNvPr id="41" name="Shape 39"/>
          <p:cNvSpPr/>
          <p:nvPr/>
        </p:nvSpPr>
        <p:spPr>
          <a:xfrm>
            <a:off x="502920" y="3127248"/>
            <a:ext cx="8138160" cy="292608"/>
          </a:xfrm>
          <a:prstGeom prst="rect">
            <a:avLst/>
          </a:prstGeom>
          <a:solidFill>
            <a:srgbClr val="F5F5F5"/>
          </a:solidFill>
          <a:ln/>
        </p:spPr>
        <p:txBody>
          <a:bodyPr/>
          <a:lstStyle/>
          <a:p>
            <a:endParaRPr lang="en-US"/>
          </a:p>
        </p:txBody>
      </p:sp>
      <p:sp>
        <p:nvSpPr>
          <p:cNvPr id="42" name="Text 40"/>
          <p:cNvSpPr/>
          <p:nvPr/>
        </p:nvSpPr>
        <p:spPr>
          <a:xfrm>
            <a:off x="594360" y="3127248"/>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Citation Building</a:t>
            </a:r>
            <a:endParaRPr lang="en-US" sz="1000" dirty="0"/>
          </a:p>
        </p:txBody>
      </p:sp>
      <p:sp>
        <p:nvSpPr>
          <p:cNvPr id="43" name="Text 41"/>
          <p:cNvSpPr/>
          <p:nvPr/>
        </p:nvSpPr>
        <p:spPr>
          <a:xfrm>
            <a:off x="2514600" y="3127248"/>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build_citations() maps IDs to sources, 320-char snippets</a:t>
            </a:r>
            <a:endParaRPr lang="en-US" sz="1000" dirty="0"/>
          </a:p>
        </p:txBody>
      </p:sp>
      <p:sp>
        <p:nvSpPr>
          <p:cNvPr id="44" name="Shape 42"/>
          <p:cNvSpPr/>
          <p:nvPr/>
        </p:nvSpPr>
        <p:spPr>
          <a:xfrm>
            <a:off x="502920" y="3429000"/>
            <a:ext cx="8138160" cy="292608"/>
          </a:xfrm>
          <a:prstGeom prst="rect">
            <a:avLst/>
          </a:prstGeom>
          <a:solidFill>
            <a:srgbClr val="FFFFFF"/>
          </a:solidFill>
          <a:ln/>
        </p:spPr>
        <p:txBody>
          <a:bodyPr/>
          <a:lstStyle/>
          <a:p>
            <a:endParaRPr lang="en-US"/>
          </a:p>
        </p:txBody>
      </p:sp>
      <p:sp>
        <p:nvSpPr>
          <p:cNvPr id="45" name="Text 43"/>
          <p:cNvSpPr/>
          <p:nvPr/>
        </p:nvSpPr>
        <p:spPr>
          <a:xfrm>
            <a:off x="594360" y="3429000"/>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Multi-round</a:t>
            </a:r>
            <a:endParaRPr lang="en-US" sz="1000" dirty="0"/>
          </a:p>
        </p:txBody>
      </p:sp>
      <p:sp>
        <p:nvSpPr>
          <p:cNvPr id="46" name="Text 44"/>
          <p:cNvSpPr/>
          <p:nvPr/>
        </p:nvSpPr>
        <p:spPr>
          <a:xfrm>
            <a:off x="2514600" y="3429000"/>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Up to max_search_rounds if initial retrieval insufficient</a:t>
            </a:r>
            <a:endParaRPr lang="en-US" sz="1000" dirty="0"/>
          </a:p>
        </p:txBody>
      </p:sp>
      <p:sp>
        <p:nvSpPr>
          <p:cNvPr id="47" name="Text 45"/>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rag/engine.py, rag/retrieval.py, rag/synthesis.py, rag/citations.py</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Authorization Subsystem (authz/)</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457200"/>
          </a:xfrm>
          <a:prstGeom prst="rect">
            <a:avLst/>
          </a:prstGeom>
          <a:noFill/>
        </p:spPr>
        <p:txBody>
          <a:bodyPr wrap="square" anchor="t"/>
          <a:lstStyle/>
          <a:p>
            <a:pPr algn="l">
              <a:defRPr sz="1300" b="0">
                <a:solidFill>
                  <a:srgbClr val="666666"/>
                </a:solidFill>
                <a:latin typeface="Arial"/>
              </a:defRPr>
            </a:pPr>
            <a:r>
              <a:t>Fine-grained access control with principals, roles, bindings, and permissions</a:t>
            </a:r>
          </a:p>
        </p:txBody>
      </p:sp>
      <p:sp>
        <p:nvSpPr>
          <p:cNvPr id="6" name="TextBox 5"/>
          <p:cNvSpPr txBox="1"/>
          <p:nvPr/>
        </p:nvSpPr>
        <p:spPr>
          <a:xfrm>
            <a:off x="502920" y="1371600"/>
            <a:ext cx="3840480" cy="320040"/>
          </a:xfrm>
          <a:prstGeom prst="rect">
            <a:avLst/>
          </a:prstGeom>
          <a:noFill/>
        </p:spPr>
        <p:txBody>
          <a:bodyPr wrap="square" anchor="t"/>
          <a:lstStyle/>
          <a:p>
            <a:pPr algn="l">
              <a:defRPr sz="1300" b="1">
                <a:solidFill>
                  <a:srgbClr val="0097A7"/>
                </a:solidFill>
                <a:latin typeface="Arial"/>
              </a:defRPr>
            </a:pPr>
            <a:r>
              <a:t>RBAC MODEL</a:t>
            </a:r>
          </a:p>
        </p:txBody>
      </p:sp>
      <p:sp>
        <p:nvSpPr>
          <p:cNvPr id="7" name="Oval 6"/>
          <p:cNvSpPr/>
          <p:nvPr/>
        </p:nvSpPr>
        <p:spPr>
          <a:xfrm>
            <a:off x="502920" y="1783080"/>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737360"/>
            <a:ext cx="1280160" cy="256032"/>
          </a:xfrm>
          <a:prstGeom prst="rect">
            <a:avLst/>
          </a:prstGeom>
          <a:noFill/>
        </p:spPr>
        <p:txBody>
          <a:bodyPr wrap="square" anchor="t"/>
          <a:lstStyle/>
          <a:p>
            <a:pPr algn="l">
              <a:defRPr sz="1100" b="1">
                <a:solidFill>
                  <a:srgbClr val="333333"/>
                </a:solidFill>
                <a:latin typeface="Arial"/>
              </a:defRPr>
            </a:pPr>
            <a:r>
              <a:t>Principals</a:t>
            </a:r>
          </a:p>
        </p:txBody>
      </p:sp>
      <p:sp>
        <p:nvSpPr>
          <p:cNvPr id="9" name="TextBox 8"/>
          <p:cNvSpPr txBox="1"/>
          <p:nvPr/>
        </p:nvSpPr>
        <p:spPr>
          <a:xfrm>
            <a:off x="2011680" y="1737360"/>
            <a:ext cx="2286000" cy="256032"/>
          </a:xfrm>
          <a:prstGeom prst="rect">
            <a:avLst/>
          </a:prstGeom>
          <a:noFill/>
        </p:spPr>
        <p:txBody>
          <a:bodyPr wrap="square" anchor="t"/>
          <a:lstStyle/>
          <a:p>
            <a:pPr algn="l">
              <a:defRPr sz="1000" b="0">
                <a:solidFill>
                  <a:srgbClr val="666666"/>
                </a:solidFill>
                <a:latin typeface="Arial"/>
              </a:defRPr>
            </a:pPr>
            <a:r>
              <a:t>Users and service accounts with unique IDs</a:t>
            </a:r>
          </a:p>
        </p:txBody>
      </p:sp>
      <p:sp>
        <p:nvSpPr>
          <p:cNvPr id="10" name="Oval 9"/>
          <p:cNvSpPr/>
          <p:nvPr/>
        </p:nvSpPr>
        <p:spPr>
          <a:xfrm>
            <a:off x="502920" y="2130552"/>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 y="2084832"/>
            <a:ext cx="1280160" cy="256032"/>
          </a:xfrm>
          <a:prstGeom prst="rect">
            <a:avLst/>
          </a:prstGeom>
          <a:noFill/>
        </p:spPr>
        <p:txBody>
          <a:bodyPr wrap="square" anchor="t"/>
          <a:lstStyle/>
          <a:p>
            <a:pPr algn="l">
              <a:defRPr sz="1100" b="1">
                <a:solidFill>
                  <a:srgbClr val="333333"/>
                </a:solidFill>
                <a:latin typeface="Arial"/>
              </a:defRPr>
            </a:pPr>
            <a:r>
              <a:t>Roles</a:t>
            </a:r>
          </a:p>
        </p:txBody>
      </p:sp>
      <p:sp>
        <p:nvSpPr>
          <p:cNvPr id="12" name="TextBox 11"/>
          <p:cNvSpPr txBox="1"/>
          <p:nvPr/>
        </p:nvSpPr>
        <p:spPr>
          <a:xfrm>
            <a:off x="2011680" y="2084832"/>
            <a:ext cx="2286000" cy="256032"/>
          </a:xfrm>
          <a:prstGeom prst="rect">
            <a:avLst/>
          </a:prstGeom>
          <a:noFill/>
        </p:spPr>
        <p:txBody>
          <a:bodyPr wrap="square" anchor="t"/>
          <a:lstStyle/>
          <a:p>
            <a:pPr algn="l">
              <a:defRPr sz="1000" b="0">
                <a:solidFill>
                  <a:srgbClr val="666666"/>
                </a:solidFill>
                <a:latin typeface="Arial"/>
              </a:defRPr>
            </a:pPr>
            <a:r>
              <a:t>Named permission bundles (admin, editor, viewer)</a:t>
            </a:r>
          </a:p>
        </p:txBody>
      </p:sp>
      <p:sp>
        <p:nvSpPr>
          <p:cNvPr id="13" name="Oval 12"/>
          <p:cNvSpPr/>
          <p:nvPr/>
        </p:nvSpPr>
        <p:spPr>
          <a:xfrm>
            <a:off x="502920" y="2478024"/>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4088" y="2432304"/>
            <a:ext cx="1280160" cy="256032"/>
          </a:xfrm>
          <a:prstGeom prst="rect">
            <a:avLst/>
          </a:prstGeom>
          <a:noFill/>
        </p:spPr>
        <p:txBody>
          <a:bodyPr wrap="square" anchor="t"/>
          <a:lstStyle/>
          <a:p>
            <a:pPr algn="l">
              <a:defRPr sz="1100" b="1">
                <a:solidFill>
                  <a:srgbClr val="333333"/>
                </a:solidFill>
                <a:latin typeface="Arial"/>
              </a:defRPr>
            </a:pPr>
            <a:r>
              <a:t>Bindings</a:t>
            </a:r>
          </a:p>
        </p:txBody>
      </p:sp>
      <p:sp>
        <p:nvSpPr>
          <p:cNvPr id="15" name="TextBox 14"/>
          <p:cNvSpPr txBox="1"/>
          <p:nvPr/>
        </p:nvSpPr>
        <p:spPr>
          <a:xfrm>
            <a:off x="2011680" y="2432304"/>
            <a:ext cx="2286000" cy="256032"/>
          </a:xfrm>
          <a:prstGeom prst="rect">
            <a:avLst/>
          </a:prstGeom>
          <a:noFill/>
        </p:spPr>
        <p:txBody>
          <a:bodyPr wrap="square" anchor="t"/>
          <a:lstStyle/>
          <a:p>
            <a:pPr algn="l">
              <a:defRPr sz="1000" b="0">
                <a:solidFill>
                  <a:srgbClr val="666666"/>
                </a:solidFill>
                <a:latin typeface="Arial"/>
              </a:defRPr>
            </a:pPr>
            <a:r>
              <a:t>Map principals to roles on specific resources</a:t>
            </a:r>
          </a:p>
        </p:txBody>
      </p:sp>
      <p:sp>
        <p:nvSpPr>
          <p:cNvPr id="16" name="Oval 15"/>
          <p:cNvSpPr/>
          <p:nvPr/>
        </p:nvSpPr>
        <p:spPr>
          <a:xfrm>
            <a:off x="502920" y="2825496"/>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4088" y="2779776"/>
            <a:ext cx="1280160" cy="256032"/>
          </a:xfrm>
          <a:prstGeom prst="rect">
            <a:avLst/>
          </a:prstGeom>
          <a:noFill/>
        </p:spPr>
        <p:txBody>
          <a:bodyPr wrap="square" anchor="t"/>
          <a:lstStyle/>
          <a:p>
            <a:pPr algn="l">
              <a:defRPr sz="1100" b="1">
                <a:solidFill>
                  <a:srgbClr val="333333"/>
                </a:solidFill>
                <a:latin typeface="Arial"/>
              </a:defRPr>
            </a:pPr>
            <a:r>
              <a:t>Memberships</a:t>
            </a:r>
          </a:p>
        </p:txBody>
      </p:sp>
      <p:sp>
        <p:nvSpPr>
          <p:cNvPr id="18" name="TextBox 17"/>
          <p:cNvSpPr txBox="1"/>
          <p:nvPr/>
        </p:nvSpPr>
        <p:spPr>
          <a:xfrm>
            <a:off x="2011680" y="2779776"/>
            <a:ext cx="2286000" cy="256032"/>
          </a:xfrm>
          <a:prstGeom prst="rect">
            <a:avLst/>
          </a:prstGeom>
          <a:noFill/>
        </p:spPr>
        <p:txBody>
          <a:bodyPr wrap="square" anchor="t"/>
          <a:lstStyle/>
          <a:p>
            <a:pPr algn="l">
              <a:defRPr sz="1000" b="0">
                <a:solidFill>
                  <a:srgbClr val="666666"/>
                </a:solidFill>
                <a:latin typeface="Arial"/>
              </a:defRPr>
            </a:pPr>
            <a:r>
              <a:t>Group-level role inheritance</a:t>
            </a:r>
          </a:p>
        </p:txBody>
      </p:sp>
      <p:sp>
        <p:nvSpPr>
          <p:cNvPr id="19" name="Oval 18"/>
          <p:cNvSpPr/>
          <p:nvPr/>
        </p:nvSpPr>
        <p:spPr>
          <a:xfrm>
            <a:off x="502920" y="3172968"/>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4088" y="3127248"/>
            <a:ext cx="1280160" cy="256032"/>
          </a:xfrm>
          <a:prstGeom prst="rect">
            <a:avLst/>
          </a:prstGeom>
          <a:noFill/>
        </p:spPr>
        <p:txBody>
          <a:bodyPr wrap="square" anchor="t"/>
          <a:lstStyle/>
          <a:p>
            <a:pPr algn="l">
              <a:defRPr sz="1100" b="1">
                <a:solidFill>
                  <a:srgbClr val="333333"/>
                </a:solidFill>
                <a:latin typeface="Arial"/>
              </a:defRPr>
            </a:pPr>
            <a:r>
              <a:t>Permissions</a:t>
            </a:r>
          </a:p>
        </p:txBody>
      </p:sp>
      <p:sp>
        <p:nvSpPr>
          <p:cNvPr id="21" name="TextBox 20"/>
          <p:cNvSpPr txBox="1"/>
          <p:nvPr/>
        </p:nvSpPr>
        <p:spPr>
          <a:xfrm>
            <a:off x="2011680" y="3127248"/>
            <a:ext cx="2286000" cy="256032"/>
          </a:xfrm>
          <a:prstGeom prst="rect">
            <a:avLst/>
          </a:prstGeom>
          <a:noFill/>
        </p:spPr>
        <p:txBody>
          <a:bodyPr wrap="square" anchor="t"/>
          <a:lstStyle/>
          <a:p>
            <a:pPr algn="l">
              <a:defRPr sz="1000" b="0">
                <a:solidFill>
                  <a:srgbClr val="666666"/>
                </a:solidFill>
                <a:latin typeface="Arial"/>
              </a:defRPr>
            </a:pPr>
            <a:r>
              <a:t>Granular resource:action pairs</a:t>
            </a:r>
          </a:p>
        </p:txBody>
      </p:sp>
      <p:sp>
        <p:nvSpPr>
          <p:cNvPr id="22" name="TextBox 21"/>
          <p:cNvSpPr txBox="1"/>
          <p:nvPr/>
        </p:nvSpPr>
        <p:spPr>
          <a:xfrm>
            <a:off x="4846320" y="1371600"/>
            <a:ext cx="3840480" cy="320040"/>
          </a:xfrm>
          <a:prstGeom prst="rect">
            <a:avLst/>
          </a:prstGeom>
          <a:noFill/>
        </p:spPr>
        <p:txBody>
          <a:bodyPr wrap="square" anchor="t"/>
          <a:lstStyle/>
          <a:p>
            <a:pPr algn="l">
              <a:defRPr sz="1300" b="1">
                <a:solidFill>
                  <a:srgbClr val="FF9800"/>
                </a:solidFill>
                <a:latin typeface="Arial"/>
              </a:defRPr>
            </a:pPr>
            <a:r>
              <a:t>10 ADMIN ENDPOINTS</a:t>
            </a:r>
          </a:p>
        </p:txBody>
      </p:sp>
      <p:sp>
        <p:nvSpPr>
          <p:cNvPr id="23" name="TextBox 22"/>
          <p:cNvSpPr txBox="1"/>
          <p:nvPr/>
        </p:nvSpPr>
        <p:spPr>
          <a:xfrm>
            <a:off x="4846320" y="1783080"/>
            <a:ext cx="3840480" cy="228600"/>
          </a:xfrm>
          <a:prstGeom prst="rect">
            <a:avLst/>
          </a:prstGeom>
          <a:noFill/>
        </p:spPr>
        <p:txBody>
          <a:bodyPr wrap="square" anchor="t"/>
          <a:lstStyle/>
          <a:p>
            <a:pPr algn="l">
              <a:defRPr sz="1000" b="0">
                <a:solidFill>
                  <a:srgbClr val="444444"/>
                </a:solidFill>
                <a:latin typeface="Consolas"/>
              </a:defRPr>
            </a:pPr>
            <a:r>
              <a:t>GET/POST  /admin/access/principals</a:t>
            </a:r>
          </a:p>
        </p:txBody>
      </p:sp>
      <p:sp>
        <p:nvSpPr>
          <p:cNvPr id="24" name="TextBox 23"/>
          <p:cNvSpPr txBox="1"/>
          <p:nvPr/>
        </p:nvSpPr>
        <p:spPr>
          <a:xfrm>
            <a:off x="4846320" y="2057400"/>
            <a:ext cx="3840480" cy="228600"/>
          </a:xfrm>
          <a:prstGeom prst="rect">
            <a:avLst/>
          </a:prstGeom>
          <a:noFill/>
        </p:spPr>
        <p:txBody>
          <a:bodyPr wrap="square" anchor="t"/>
          <a:lstStyle/>
          <a:p>
            <a:pPr algn="l">
              <a:defRPr sz="1000" b="0">
                <a:solidFill>
                  <a:srgbClr val="444444"/>
                </a:solidFill>
                <a:latin typeface="Consolas"/>
              </a:defRPr>
            </a:pPr>
            <a:r>
              <a:t>GET/POST  /admin/access/roles</a:t>
            </a:r>
          </a:p>
        </p:txBody>
      </p:sp>
      <p:sp>
        <p:nvSpPr>
          <p:cNvPr id="25" name="TextBox 24"/>
          <p:cNvSpPr txBox="1"/>
          <p:nvPr/>
        </p:nvSpPr>
        <p:spPr>
          <a:xfrm>
            <a:off x="4846320" y="2331720"/>
            <a:ext cx="3840480" cy="228600"/>
          </a:xfrm>
          <a:prstGeom prst="rect">
            <a:avLst/>
          </a:prstGeom>
          <a:noFill/>
        </p:spPr>
        <p:txBody>
          <a:bodyPr wrap="square" anchor="t"/>
          <a:lstStyle/>
          <a:p>
            <a:pPr algn="l">
              <a:defRPr sz="1000" b="0">
                <a:solidFill>
                  <a:srgbClr val="444444"/>
                </a:solidFill>
                <a:latin typeface="Consolas"/>
              </a:defRPr>
            </a:pPr>
            <a:r>
              <a:t>GET/POST  /admin/access/bindings</a:t>
            </a:r>
          </a:p>
        </p:txBody>
      </p:sp>
      <p:sp>
        <p:nvSpPr>
          <p:cNvPr id="26" name="TextBox 25"/>
          <p:cNvSpPr txBox="1"/>
          <p:nvPr/>
        </p:nvSpPr>
        <p:spPr>
          <a:xfrm>
            <a:off x="4846320" y="2606040"/>
            <a:ext cx="3840480" cy="228600"/>
          </a:xfrm>
          <a:prstGeom prst="rect">
            <a:avLst/>
          </a:prstGeom>
          <a:noFill/>
        </p:spPr>
        <p:txBody>
          <a:bodyPr wrap="square" anchor="t"/>
          <a:lstStyle/>
          <a:p>
            <a:pPr algn="l">
              <a:defRPr sz="1000" b="0">
                <a:solidFill>
                  <a:srgbClr val="444444"/>
                </a:solidFill>
                <a:latin typeface="Consolas"/>
              </a:defRPr>
            </a:pPr>
            <a:r>
              <a:t>GET/POST  /admin/access/memberships</a:t>
            </a:r>
          </a:p>
        </p:txBody>
      </p:sp>
      <p:sp>
        <p:nvSpPr>
          <p:cNvPr id="27" name="TextBox 26"/>
          <p:cNvSpPr txBox="1"/>
          <p:nvPr/>
        </p:nvSpPr>
        <p:spPr>
          <a:xfrm>
            <a:off x="4846320" y="2880360"/>
            <a:ext cx="3840480" cy="228600"/>
          </a:xfrm>
          <a:prstGeom prst="rect">
            <a:avLst/>
          </a:prstGeom>
          <a:noFill/>
        </p:spPr>
        <p:txBody>
          <a:bodyPr wrap="square" anchor="t"/>
          <a:lstStyle/>
          <a:p>
            <a:pPr algn="l">
              <a:defRPr sz="1000" b="0">
                <a:solidFill>
                  <a:srgbClr val="444444"/>
                </a:solidFill>
                <a:latin typeface="Consolas"/>
              </a:defRPr>
            </a:pPr>
            <a:r>
              <a:t>GET       /admin/access/permissions</a:t>
            </a:r>
          </a:p>
        </p:txBody>
      </p:sp>
      <p:sp>
        <p:nvSpPr>
          <p:cNvPr id="28" name="TextBox 27"/>
          <p:cNvSpPr txBox="1"/>
          <p:nvPr/>
        </p:nvSpPr>
        <p:spPr>
          <a:xfrm>
            <a:off x="4846320" y="3154680"/>
            <a:ext cx="3840480" cy="228600"/>
          </a:xfrm>
          <a:prstGeom prst="rect">
            <a:avLst/>
          </a:prstGeom>
          <a:noFill/>
        </p:spPr>
        <p:txBody>
          <a:bodyPr wrap="square" anchor="t"/>
          <a:lstStyle/>
          <a:p>
            <a:pPr algn="l">
              <a:defRPr sz="1000" b="0">
                <a:solidFill>
                  <a:srgbClr val="444444"/>
                </a:solidFill>
                <a:latin typeface="Consolas"/>
              </a:defRPr>
            </a:pPr>
            <a:r>
              <a:t>GET       /admin/access/effective-access</a:t>
            </a:r>
          </a:p>
        </p:txBody>
      </p:sp>
      <p:sp>
        <p:nvSpPr>
          <p:cNvPr id="29" name="Rectangle 28"/>
          <p:cNvSpPr/>
          <p:nvPr/>
        </p:nvSpPr>
        <p:spPr>
          <a:xfrm>
            <a:off x="502920" y="3840480"/>
            <a:ext cx="8138160"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31520" y="3977639"/>
            <a:ext cx="7680960" cy="731520"/>
          </a:xfrm>
          <a:prstGeom prst="rect">
            <a:avLst/>
          </a:prstGeom>
          <a:noFill/>
        </p:spPr>
        <p:txBody>
          <a:bodyPr wrap="square" anchor="t"/>
          <a:lstStyle/>
          <a:p>
            <a:pPr algn="l">
              <a:defRPr sz="1100" b="0">
                <a:solidFill>
                  <a:srgbClr val="CCCCCC"/>
                </a:solidFill>
                <a:latin typeface="Arial"/>
              </a:defRPr>
            </a:pPr>
            <a:r>
              <a:t>authz/service.py provides tenant-scoped resource access. Integrated with API gateway (gateway_security.py) and connector endpoints (connector_security.py). Per-skill access filtering in SkillRuntime. Tool policy enforcement in tools/policy.py.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Documents Subsystem Deep Dive (documents/)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13 files across extractors, compare, consolidation, similarity, evidence, templates, and serializers</a:t>
            </a:r>
          </a:p>
        </p:txBody>
      </p:sp>
      <p:sp>
        <p:nvSpPr>
          <p:cNvPr id="6" name="Rectangle 5"/>
          <p:cNvSpPr/>
          <p:nvPr/>
        </p:nvSpPr>
        <p:spPr>
          <a:xfrm>
            <a:off x="502920" y="1371600"/>
            <a:ext cx="2560320" cy="15544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71600"/>
            <a:ext cx="54864" cy="155448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63040"/>
            <a:ext cx="2286000" cy="365760"/>
          </a:xfrm>
          <a:prstGeom prst="rect">
            <a:avLst/>
          </a:prstGeom>
          <a:noFill/>
        </p:spPr>
        <p:txBody>
          <a:bodyPr wrap="square" anchor="t"/>
          <a:lstStyle/>
          <a:p>
            <a:pPr algn="l">
              <a:defRPr sz="1300" b="1">
                <a:solidFill>
                  <a:srgbClr val="FFFFFF"/>
                </a:solidFill>
                <a:latin typeface="Arial"/>
              </a:defRPr>
            </a:pPr>
            <a:r>
              <a:t>Document Extraction</a:t>
            </a:r>
          </a:p>
        </p:txBody>
      </p:sp>
      <p:sp>
        <p:nvSpPr>
          <p:cNvPr id="9" name="TextBox 8"/>
          <p:cNvSpPr txBox="1"/>
          <p:nvPr/>
        </p:nvSpPr>
        <p:spPr>
          <a:xfrm>
            <a:off x="685800" y="1828800"/>
            <a:ext cx="2286000" cy="1005840"/>
          </a:xfrm>
          <a:prstGeom prst="rect">
            <a:avLst/>
          </a:prstGeom>
          <a:noFill/>
        </p:spPr>
        <p:txBody>
          <a:bodyPr wrap="square" anchor="t"/>
          <a:lstStyle/>
          <a:p>
            <a:pPr algn="l">
              <a:defRPr sz="1000" b="0">
                <a:solidFill>
                  <a:srgbClr val="CCCCCC"/>
                </a:solidFill>
                <a:latin typeface="Arial"/>
              </a:defRPr>
            </a:pPr>
            <a:r>
              <a:t>9 formats: PDF, DOCX, PPTX, XLSX, XLS, TXT, MD, CSV, TSV. Docling parser for PDFs. Max 200 elements per extraction.</a:t>
            </a:r>
          </a:p>
        </p:txBody>
      </p:sp>
      <p:sp>
        <p:nvSpPr>
          <p:cNvPr id="10" name="Rectangle 9"/>
          <p:cNvSpPr/>
          <p:nvPr/>
        </p:nvSpPr>
        <p:spPr>
          <a:xfrm>
            <a:off x="3200400" y="1371600"/>
            <a:ext cx="2560320" cy="15544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200400" y="1371600"/>
            <a:ext cx="54864" cy="155448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83280" y="1463040"/>
            <a:ext cx="2286000" cy="365760"/>
          </a:xfrm>
          <a:prstGeom prst="rect">
            <a:avLst/>
          </a:prstGeom>
          <a:noFill/>
        </p:spPr>
        <p:txBody>
          <a:bodyPr wrap="square" anchor="t"/>
          <a:lstStyle/>
          <a:p>
            <a:pPr algn="l">
              <a:defRPr sz="1300" b="1">
                <a:solidFill>
                  <a:srgbClr val="FFFFFF"/>
                </a:solidFill>
                <a:latin typeface="Arial"/>
              </a:defRPr>
            </a:pPr>
            <a:r>
              <a:t>Document Comparison</a:t>
            </a:r>
          </a:p>
        </p:txBody>
      </p:sp>
      <p:sp>
        <p:nvSpPr>
          <p:cNvPr id="13" name="TextBox 12"/>
          <p:cNvSpPr txBox="1"/>
          <p:nvPr/>
        </p:nvSpPr>
        <p:spPr>
          <a:xfrm>
            <a:off x="3383280" y="1828800"/>
            <a:ext cx="2286000" cy="1005840"/>
          </a:xfrm>
          <a:prstGeom prst="rect">
            <a:avLst/>
          </a:prstGeom>
          <a:noFill/>
        </p:spPr>
        <p:txBody>
          <a:bodyPr wrap="square" anchor="t"/>
          <a:lstStyle/>
          <a:p>
            <a:pPr algn="l">
              <a:defRPr sz="1000" b="0">
                <a:solidFill>
                  <a:srgbClr val="CCCCCC"/>
                </a:solidFill>
                <a:latin typeface="Arial"/>
              </a:defRPr>
            </a:pPr>
            <a:r>
              <a:t>Key-based + fuzzy matching (0.72 threshold). 14 obligation modalities. Binding strength ranking. Severity escalation for changed obligations.</a:t>
            </a:r>
          </a:p>
        </p:txBody>
      </p:sp>
      <p:sp>
        <p:nvSpPr>
          <p:cNvPr id="14" name="Rectangle 13"/>
          <p:cNvSpPr/>
          <p:nvPr/>
        </p:nvSpPr>
        <p:spPr>
          <a:xfrm>
            <a:off x="5897880" y="1371600"/>
            <a:ext cx="2560320" cy="15544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897880" y="1371600"/>
            <a:ext cx="54864" cy="155448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080760" y="1463040"/>
            <a:ext cx="2286000" cy="365760"/>
          </a:xfrm>
          <a:prstGeom prst="rect">
            <a:avLst/>
          </a:prstGeom>
          <a:noFill/>
        </p:spPr>
        <p:txBody>
          <a:bodyPr wrap="square" anchor="t"/>
          <a:lstStyle/>
          <a:p>
            <a:pPr algn="l">
              <a:defRPr sz="1300" b="1">
                <a:solidFill>
                  <a:srgbClr val="FFFFFF"/>
                </a:solidFill>
                <a:latin typeface="Arial"/>
              </a:defRPr>
            </a:pPr>
            <a:r>
              <a:t>Consolidation Campaigns</a:t>
            </a:r>
          </a:p>
        </p:txBody>
      </p:sp>
      <p:sp>
        <p:nvSpPr>
          <p:cNvPr id="17" name="TextBox 16"/>
          <p:cNvSpPr txBox="1"/>
          <p:nvPr/>
        </p:nvSpPr>
        <p:spPr>
          <a:xfrm>
            <a:off x="6080760" y="1828800"/>
            <a:ext cx="2286000" cy="1005840"/>
          </a:xfrm>
          <a:prstGeom prst="rect">
            <a:avLst/>
          </a:prstGeom>
          <a:noFill/>
        </p:spPr>
        <p:txBody>
          <a:bodyPr wrap="square" anchor="t"/>
          <a:lstStyle/>
          <a:p>
            <a:pPr algn="l">
              <a:defRPr sz="1000" b="0">
                <a:solidFill>
                  <a:srgbClr val="CCCCCC"/>
                </a:solidFill>
                <a:latin typeface="Arial"/>
              </a:defRPr>
            </a:pPr>
            <a:r>
              <a:t>Multi-doc corpus analysis with IDF weighting. 6 focus modes. Union-find clustering. Weighted Jaccard scoring.</a:t>
            </a:r>
          </a:p>
        </p:txBody>
      </p:sp>
      <p:sp>
        <p:nvSpPr>
          <p:cNvPr id="18" name="Rectangle 17"/>
          <p:cNvSpPr/>
          <p:nvPr/>
        </p:nvSpPr>
        <p:spPr>
          <a:xfrm>
            <a:off x="502920" y="3108960"/>
            <a:ext cx="3977639" cy="10972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02920" y="3108960"/>
            <a:ext cx="54864" cy="109728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5800" y="3200400"/>
            <a:ext cx="3703319" cy="365760"/>
          </a:xfrm>
          <a:prstGeom prst="rect">
            <a:avLst/>
          </a:prstGeom>
          <a:noFill/>
        </p:spPr>
        <p:txBody>
          <a:bodyPr wrap="square" anchor="t"/>
          <a:lstStyle/>
          <a:p>
            <a:pPr algn="l">
              <a:defRPr sz="1300" b="1">
                <a:solidFill>
                  <a:srgbClr val="FFFFFF"/>
                </a:solidFill>
                <a:latin typeface="Arial"/>
              </a:defRPr>
            </a:pPr>
            <a:r>
              <a:t>Evidence Binder</a:t>
            </a:r>
          </a:p>
        </p:txBody>
      </p:sp>
      <p:sp>
        <p:nvSpPr>
          <p:cNvPr id="21" name="TextBox 20"/>
          <p:cNvSpPr txBox="1"/>
          <p:nvPr/>
        </p:nvSpPr>
        <p:spPr>
          <a:xfrm>
            <a:off x="685800" y="3566160"/>
            <a:ext cx="3703319" cy="548640"/>
          </a:xfrm>
          <a:prstGeom prst="rect">
            <a:avLst/>
          </a:prstGeom>
          <a:noFill/>
        </p:spPr>
        <p:txBody>
          <a:bodyPr wrap="square" anchor="t"/>
          <a:lstStyle/>
          <a:p>
            <a:pPr algn="l">
              <a:defRPr sz="1000" b="0">
                <a:solidFill>
                  <a:srgbClr val="CCCCCC"/>
                </a:solidFill>
                <a:latin typeface="Arial"/>
              </a:defRPr>
            </a:pPr>
            <a:r>
              <a:t>Compile graded evidence into formatted reference packets with inline citations.</a:t>
            </a:r>
          </a:p>
        </p:txBody>
      </p:sp>
      <p:sp>
        <p:nvSpPr>
          <p:cNvPr id="22" name="Rectangle 21"/>
          <p:cNvSpPr/>
          <p:nvPr/>
        </p:nvSpPr>
        <p:spPr>
          <a:xfrm>
            <a:off x="4709160" y="3108960"/>
            <a:ext cx="3977639" cy="10972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709160" y="3108960"/>
            <a:ext cx="54864" cy="1097280"/>
          </a:xfrm>
          <a:prstGeom prst="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3200400"/>
            <a:ext cx="3703319" cy="365760"/>
          </a:xfrm>
          <a:prstGeom prst="rect">
            <a:avLst/>
          </a:prstGeom>
          <a:noFill/>
        </p:spPr>
        <p:txBody>
          <a:bodyPr wrap="square" anchor="t"/>
          <a:lstStyle/>
          <a:p>
            <a:pPr algn="l">
              <a:defRPr sz="1300" b="1">
                <a:solidFill>
                  <a:srgbClr val="FFFFFF"/>
                </a:solidFill>
                <a:latin typeface="Arial"/>
              </a:defRPr>
            </a:pPr>
            <a:r>
              <a:t>Similarity Analysis</a:t>
            </a:r>
          </a:p>
        </p:txBody>
      </p:sp>
      <p:sp>
        <p:nvSpPr>
          <p:cNvPr id="25" name="TextBox 24"/>
          <p:cNvSpPr txBox="1"/>
          <p:nvPr/>
        </p:nvSpPr>
        <p:spPr>
          <a:xfrm>
            <a:off x="4892040" y="3566160"/>
            <a:ext cx="3703319" cy="548640"/>
          </a:xfrm>
          <a:prstGeom prst="rect">
            <a:avLst/>
          </a:prstGeom>
          <a:noFill/>
        </p:spPr>
        <p:txBody>
          <a:bodyPr wrap="square" anchor="t"/>
          <a:lstStyle/>
          <a:p>
            <a:pPr algn="l">
              <a:defRPr sz="1000" b="0">
                <a:solidFill>
                  <a:srgbClr val="CCCCCC"/>
                </a:solidFill>
                <a:latin typeface="Arial"/>
              </a:defRPr>
            </a:pPr>
            <a:r>
              <a:t>TF-IDF fingerprinting. Process keyword matching (28 patterns). N-gram comparison.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Skills Architecture Deep Dive (skills/)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10 files: pack_loader, resolver, runtime, indexer, telemetry, dependency_graph, execution, query_builder</a:t>
            </a:r>
          </a:p>
        </p:txBody>
      </p:sp>
      <p:sp>
        <p:nvSpPr>
          <p:cNvPr id="6" name="Rectangle 5"/>
          <p:cNvSpPr/>
          <p:nvPr/>
        </p:nvSpPr>
        <p:spPr>
          <a:xfrm>
            <a:off x="502920" y="1280160"/>
            <a:ext cx="2560320" cy="100584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353312"/>
            <a:ext cx="2286000" cy="274320"/>
          </a:xfrm>
          <a:prstGeom prst="rect">
            <a:avLst/>
          </a:prstGeom>
          <a:noFill/>
        </p:spPr>
        <p:txBody>
          <a:bodyPr wrap="square" anchor="t"/>
          <a:lstStyle/>
          <a:p>
            <a:pPr algn="l">
              <a:defRPr sz="1400" b="1">
                <a:solidFill>
                  <a:srgbClr val="FFFFFF"/>
                </a:solidFill>
                <a:latin typeface="Arial"/>
              </a:defRPr>
            </a:pPr>
            <a:r>
              <a:t>3 Skill Kinds</a:t>
            </a:r>
          </a:p>
        </p:txBody>
      </p:sp>
      <p:sp>
        <p:nvSpPr>
          <p:cNvPr id="8" name="TextBox 7"/>
          <p:cNvSpPr txBox="1"/>
          <p:nvPr/>
        </p:nvSpPr>
        <p:spPr>
          <a:xfrm>
            <a:off x="640080" y="1645920"/>
            <a:ext cx="2286000" cy="548640"/>
          </a:xfrm>
          <a:prstGeom prst="rect">
            <a:avLst/>
          </a:prstGeom>
          <a:noFill/>
        </p:spPr>
        <p:txBody>
          <a:bodyPr wrap="square" anchor="t"/>
          <a:lstStyle/>
          <a:p>
            <a:pPr algn="l">
              <a:defRPr sz="1100" b="0">
                <a:solidFill>
                  <a:srgbClr val="EEEEEE"/>
                </a:solidFill>
                <a:latin typeface="Arial"/>
              </a:defRPr>
            </a:pPr>
            <a:r>
              <a:t>retrievable</a:t>
            </a:r>
            <a:br/>
            <a:r>
              <a:t>executable</a:t>
            </a:r>
            <a:br/>
            <a:r>
              <a:t>hybrid</a:t>
            </a:r>
          </a:p>
        </p:txBody>
      </p:sp>
      <p:sp>
        <p:nvSpPr>
          <p:cNvPr id="9" name="Rectangle 8"/>
          <p:cNvSpPr/>
          <p:nvPr/>
        </p:nvSpPr>
        <p:spPr>
          <a:xfrm>
            <a:off x="3291840" y="1280160"/>
            <a:ext cx="2560320" cy="100584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29000" y="1353312"/>
            <a:ext cx="2286000" cy="274320"/>
          </a:xfrm>
          <a:prstGeom prst="rect">
            <a:avLst/>
          </a:prstGeom>
          <a:noFill/>
        </p:spPr>
        <p:txBody>
          <a:bodyPr wrap="square" anchor="t"/>
          <a:lstStyle/>
          <a:p>
            <a:pPr algn="l">
              <a:defRPr sz="1400" b="1">
                <a:solidFill>
                  <a:srgbClr val="FFFFFF"/>
                </a:solidFill>
                <a:latin typeface="Arial"/>
              </a:defRPr>
            </a:pPr>
            <a:r>
              <a:t>2 Exec Contexts</a:t>
            </a:r>
          </a:p>
        </p:txBody>
      </p:sp>
      <p:sp>
        <p:nvSpPr>
          <p:cNvPr id="11" name="TextBox 10"/>
          <p:cNvSpPr txBox="1"/>
          <p:nvPr/>
        </p:nvSpPr>
        <p:spPr>
          <a:xfrm>
            <a:off x="3429000" y="1645920"/>
            <a:ext cx="2286000" cy="548640"/>
          </a:xfrm>
          <a:prstGeom prst="rect">
            <a:avLst/>
          </a:prstGeom>
          <a:noFill/>
        </p:spPr>
        <p:txBody>
          <a:bodyPr wrap="square" anchor="t"/>
          <a:lstStyle/>
          <a:p>
            <a:pPr algn="l">
              <a:defRPr sz="1100" b="0">
                <a:solidFill>
                  <a:srgbClr val="EEEEEE"/>
                </a:solidFill>
                <a:latin typeface="Arial"/>
              </a:defRPr>
            </a:pPr>
            <a:r>
              <a:t>inline (default)</a:t>
            </a:r>
            <a:br/>
            <a:r>
              <a:t>fork (isolated)</a:t>
            </a:r>
          </a:p>
        </p:txBody>
      </p:sp>
      <p:sp>
        <p:nvSpPr>
          <p:cNvPr id="12" name="Rectangle 11"/>
          <p:cNvSpPr/>
          <p:nvPr/>
        </p:nvSpPr>
        <p:spPr>
          <a:xfrm>
            <a:off x="6080760" y="1280160"/>
            <a:ext cx="2560320" cy="100584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0" y="1353312"/>
            <a:ext cx="2286000" cy="274320"/>
          </a:xfrm>
          <a:prstGeom prst="rect">
            <a:avLst/>
          </a:prstGeom>
          <a:noFill/>
        </p:spPr>
        <p:txBody>
          <a:bodyPr wrap="square" anchor="t"/>
          <a:lstStyle/>
          <a:p>
            <a:pPr algn="l">
              <a:defRPr sz="1400" b="1">
                <a:solidFill>
                  <a:srgbClr val="FFFFFF"/>
                </a:solidFill>
                <a:latin typeface="Arial"/>
              </a:defRPr>
            </a:pPr>
            <a:r>
              <a:t>5 Effort Levels</a:t>
            </a:r>
          </a:p>
        </p:txBody>
      </p:sp>
      <p:sp>
        <p:nvSpPr>
          <p:cNvPr id="14" name="TextBox 13"/>
          <p:cNvSpPr txBox="1"/>
          <p:nvPr/>
        </p:nvSpPr>
        <p:spPr>
          <a:xfrm>
            <a:off x="6217920" y="1645920"/>
            <a:ext cx="2286000" cy="548640"/>
          </a:xfrm>
          <a:prstGeom prst="rect">
            <a:avLst/>
          </a:prstGeom>
          <a:noFill/>
        </p:spPr>
        <p:txBody>
          <a:bodyPr wrap="square" anchor="t"/>
          <a:lstStyle/>
          <a:p>
            <a:pPr algn="l">
              <a:defRPr sz="1100" b="0">
                <a:solidFill>
                  <a:srgbClr val="EEEEEE"/>
                </a:solidFill>
                <a:latin typeface="Arial"/>
              </a:defRPr>
            </a:pPr>
            <a:r>
              <a:t>(empty), low</a:t>
            </a:r>
            <a:br/>
            <a:r>
              <a:t>medium, high, xhigh</a:t>
            </a:r>
          </a:p>
        </p:txBody>
      </p:sp>
      <p:sp>
        <p:nvSpPr>
          <p:cNvPr id="15" name="TextBox 14"/>
          <p:cNvSpPr txBox="1"/>
          <p:nvPr/>
        </p:nvSpPr>
        <p:spPr>
          <a:xfrm>
            <a:off x="502920" y="2468880"/>
            <a:ext cx="3657600" cy="320040"/>
          </a:xfrm>
          <a:prstGeom prst="rect">
            <a:avLst/>
          </a:prstGeom>
          <a:noFill/>
        </p:spPr>
        <p:txBody>
          <a:bodyPr wrap="square" anchor="t"/>
          <a:lstStyle/>
          <a:p>
            <a:pPr algn="l">
              <a:defRPr sz="1300" b="1">
                <a:solidFill>
                  <a:srgbClr val="1B2A4A"/>
                </a:solidFill>
                <a:latin typeface="Arial"/>
              </a:defRPr>
            </a:pPr>
            <a:r>
              <a:t>SKILL LIFECYCLE</a:t>
            </a:r>
          </a:p>
        </p:txBody>
      </p:sp>
      <p:sp>
        <p:nvSpPr>
          <p:cNvPr id="16" name="Oval 15"/>
          <p:cNvSpPr/>
          <p:nvPr/>
        </p:nvSpPr>
        <p:spPr>
          <a:xfrm>
            <a:off x="502920" y="2862072"/>
            <a:ext cx="201168" cy="201168"/>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1208" y="2862072"/>
            <a:ext cx="201168" cy="201168"/>
          </a:xfrm>
          <a:prstGeom prst="rect">
            <a:avLst/>
          </a:prstGeom>
          <a:noFill/>
        </p:spPr>
        <p:txBody>
          <a:bodyPr wrap="square" anchor="t"/>
          <a:lstStyle/>
          <a:p>
            <a:pPr algn="ctr">
              <a:defRPr sz="1000" b="1">
                <a:solidFill>
                  <a:srgbClr val="FFFFFF"/>
                </a:solidFill>
                <a:latin typeface="Arial"/>
              </a:defRPr>
            </a:pPr>
            <a:r>
              <a:t>1</a:t>
            </a:r>
          </a:p>
        </p:txBody>
      </p:sp>
      <p:sp>
        <p:nvSpPr>
          <p:cNvPr id="18" name="TextBox 17"/>
          <p:cNvSpPr txBox="1"/>
          <p:nvPr/>
        </p:nvSpPr>
        <p:spPr>
          <a:xfrm>
            <a:off x="777240" y="2834640"/>
            <a:ext cx="1463040" cy="228600"/>
          </a:xfrm>
          <a:prstGeom prst="rect">
            <a:avLst/>
          </a:prstGeom>
          <a:noFill/>
        </p:spPr>
        <p:txBody>
          <a:bodyPr wrap="square" anchor="t"/>
          <a:lstStyle/>
          <a:p>
            <a:pPr algn="l">
              <a:defRPr sz="1100" b="1">
                <a:solidFill>
                  <a:srgbClr val="333333"/>
                </a:solidFill>
                <a:latin typeface="Arial"/>
              </a:defRPr>
            </a:pPr>
            <a:r>
              <a:t>SkillPackFile</a:t>
            </a:r>
          </a:p>
        </p:txBody>
      </p:sp>
      <p:sp>
        <p:nvSpPr>
          <p:cNvPr id="19" name="TextBox 18"/>
          <p:cNvSpPr txBox="1"/>
          <p:nvPr/>
        </p:nvSpPr>
        <p:spPr>
          <a:xfrm>
            <a:off x="2286000" y="2834640"/>
            <a:ext cx="6400800" cy="228600"/>
          </a:xfrm>
          <a:prstGeom prst="rect">
            <a:avLst/>
          </a:prstGeom>
          <a:noFill/>
        </p:spPr>
        <p:txBody>
          <a:bodyPr wrap="square" anchor="t"/>
          <a:lstStyle/>
          <a:p>
            <a:pPr algn="l">
              <a:defRPr sz="1000" b="0">
                <a:solidFill>
                  <a:srgbClr val="555555"/>
                </a:solidFill>
                <a:latin typeface="Arial"/>
              </a:defRPr>
            </a:pPr>
            <a:r>
              <a:t>YAML frontmatter + markdown body. SHA256 checksum. Tags: tool_tags, task_tags.</a:t>
            </a:r>
          </a:p>
        </p:txBody>
      </p:sp>
      <p:sp>
        <p:nvSpPr>
          <p:cNvPr id="20" name="Oval 19"/>
          <p:cNvSpPr/>
          <p:nvPr/>
        </p:nvSpPr>
        <p:spPr>
          <a:xfrm>
            <a:off x="502920" y="3182112"/>
            <a:ext cx="201168" cy="201168"/>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21208" y="3182112"/>
            <a:ext cx="201168" cy="201168"/>
          </a:xfrm>
          <a:prstGeom prst="rect">
            <a:avLst/>
          </a:prstGeom>
          <a:noFill/>
        </p:spPr>
        <p:txBody>
          <a:bodyPr wrap="square" anchor="t"/>
          <a:lstStyle/>
          <a:p>
            <a:pPr algn="ctr">
              <a:defRPr sz="1000" b="1">
                <a:solidFill>
                  <a:srgbClr val="FFFFFF"/>
                </a:solidFill>
                <a:latin typeface="Arial"/>
              </a:defRPr>
            </a:pPr>
            <a:r>
              <a:t>2</a:t>
            </a:r>
          </a:p>
        </p:txBody>
      </p:sp>
      <p:sp>
        <p:nvSpPr>
          <p:cNvPr id="22" name="TextBox 21"/>
          <p:cNvSpPr txBox="1"/>
          <p:nvPr/>
        </p:nvSpPr>
        <p:spPr>
          <a:xfrm>
            <a:off x="777240" y="3154680"/>
            <a:ext cx="1463040" cy="228600"/>
          </a:xfrm>
          <a:prstGeom prst="rect">
            <a:avLst/>
          </a:prstGeom>
          <a:noFill/>
        </p:spPr>
        <p:txBody>
          <a:bodyPr wrap="square" anchor="t"/>
          <a:lstStyle/>
          <a:p>
            <a:pPr algn="l">
              <a:defRPr sz="1100" b="1">
                <a:solidFill>
                  <a:srgbClr val="333333"/>
                </a:solidFill>
                <a:latin typeface="Arial"/>
              </a:defRPr>
            </a:pPr>
            <a:r>
              <a:t>SkillIndexSync</a:t>
            </a:r>
          </a:p>
        </p:txBody>
      </p:sp>
      <p:sp>
        <p:nvSpPr>
          <p:cNvPr id="23" name="TextBox 22"/>
          <p:cNvSpPr txBox="1"/>
          <p:nvPr/>
        </p:nvSpPr>
        <p:spPr>
          <a:xfrm>
            <a:off x="2286000" y="3154680"/>
            <a:ext cx="6400800" cy="228600"/>
          </a:xfrm>
          <a:prstGeom prst="rect">
            <a:avLst/>
          </a:prstGeom>
          <a:noFill/>
        </p:spPr>
        <p:txBody>
          <a:bodyPr wrap="square" anchor="t"/>
          <a:lstStyle/>
          <a:p>
            <a:pPr algn="l">
              <a:defRPr sz="1000" b="0">
                <a:solidFill>
                  <a:srgbClr val="555555"/>
                </a:solidFill>
                <a:latin typeface="Arial"/>
              </a:defRPr>
            </a:pPr>
            <a:r>
              <a:t>Discovers .md files, chunks for RAG, builds inverted index. Incremental sync by checksum.</a:t>
            </a:r>
          </a:p>
        </p:txBody>
      </p:sp>
      <p:sp>
        <p:nvSpPr>
          <p:cNvPr id="24" name="Oval 23"/>
          <p:cNvSpPr/>
          <p:nvPr/>
        </p:nvSpPr>
        <p:spPr>
          <a:xfrm>
            <a:off x="502920" y="3502152"/>
            <a:ext cx="201168" cy="201168"/>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21208" y="3502152"/>
            <a:ext cx="201168" cy="201168"/>
          </a:xfrm>
          <a:prstGeom prst="rect">
            <a:avLst/>
          </a:prstGeom>
          <a:noFill/>
        </p:spPr>
        <p:txBody>
          <a:bodyPr wrap="square" anchor="t"/>
          <a:lstStyle/>
          <a:p>
            <a:pPr algn="ctr">
              <a:defRPr sz="1000" b="1">
                <a:solidFill>
                  <a:srgbClr val="FFFFFF"/>
                </a:solidFill>
                <a:latin typeface="Arial"/>
              </a:defRPr>
            </a:pPr>
            <a:r>
              <a:t>3</a:t>
            </a:r>
          </a:p>
        </p:txBody>
      </p:sp>
      <p:sp>
        <p:nvSpPr>
          <p:cNvPr id="26" name="TextBox 25"/>
          <p:cNvSpPr txBox="1"/>
          <p:nvPr/>
        </p:nvSpPr>
        <p:spPr>
          <a:xfrm>
            <a:off x="777240" y="3474720"/>
            <a:ext cx="1463040" cy="228600"/>
          </a:xfrm>
          <a:prstGeom prst="rect">
            <a:avLst/>
          </a:prstGeom>
          <a:noFill/>
        </p:spPr>
        <p:txBody>
          <a:bodyPr wrap="square" anchor="t"/>
          <a:lstStyle/>
          <a:p>
            <a:pPr algn="l">
              <a:defRPr sz="1100" b="1">
                <a:solidFill>
                  <a:srgbClr val="333333"/>
                </a:solidFill>
                <a:latin typeface="Arial"/>
              </a:defRPr>
            </a:pPr>
            <a:r>
              <a:t>SkillResolver</a:t>
            </a:r>
          </a:p>
        </p:txBody>
      </p:sp>
      <p:sp>
        <p:nvSpPr>
          <p:cNvPr id="27" name="TextBox 26"/>
          <p:cNvSpPr txBox="1"/>
          <p:nvPr/>
        </p:nvSpPr>
        <p:spPr>
          <a:xfrm>
            <a:off x="2286000" y="3474720"/>
            <a:ext cx="6400800" cy="228600"/>
          </a:xfrm>
          <a:prstGeom prst="rect">
            <a:avLst/>
          </a:prstGeom>
          <a:noFill/>
        </p:spPr>
        <p:txBody>
          <a:bodyPr wrap="square" anchor="t"/>
          <a:lstStyle/>
          <a:p>
            <a:pPr algn="l">
              <a:defRPr sz="1000" b="0">
                <a:solidFill>
                  <a:srgbClr val="555555"/>
                </a:solidFill>
                <a:latin typeface="Arial"/>
              </a:defRPr>
            </a:pPr>
            <a:r>
              <a:t>Semantic retrieval with BM25/embedding. Filters by agent_scope, tags. Pinned skill priority.</a:t>
            </a:r>
          </a:p>
        </p:txBody>
      </p:sp>
      <p:sp>
        <p:nvSpPr>
          <p:cNvPr id="28" name="Oval 27"/>
          <p:cNvSpPr/>
          <p:nvPr/>
        </p:nvSpPr>
        <p:spPr>
          <a:xfrm>
            <a:off x="502920" y="3822192"/>
            <a:ext cx="201168" cy="201168"/>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21208" y="3822192"/>
            <a:ext cx="201168" cy="201168"/>
          </a:xfrm>
          <a:prstGeom prst="rect">
            <a:avLst/>
          </a:prstGeom>
          <a:noFill/>
        </p:spPr>
        <p:txBody>
          <a:bodyPr wrap="square" anchor="t"/>
          <a:lstStyle/>
          <a:p>
            <a:pPr algn="ctr">
              <a:defRPr sz="1000" b="1">
                <a:solidFill>
                  <a:srgbClr val="FFFFFF"/>
                </a:solidFill>
                <a:latin typeface="Arial"/>
              </a:defRPr>
            </a:pPr>
            <a:r>
              <a:t>4</a:t>
            </a:r>
          </a:p>
        </p:txBody>
      </p:sp>
      <p:sp>
        <p:nvSpPr>
          <p:cNvPr id="30" name="TextBox 29"/>
          <p:cNvSpPr txBox="1"/>
          <p:nvPr/>
        </p:nvSpPr>
        <p:spPr>
          <a:xfrm>
            <a:off x="777240" y="3794760"/>
            <a:ext cx="1463040" cy="228600"/>
          </a:xfrm>
          <a:prstGeom prst="rect">
            <a:avLst/>
          </a:prstGeom>
          <a:noFill/>
        </p:spPr>
        <p:txBody>
          <a:bodyPr wrap="square" anchor="t"/>
          <a:lstStyle/>
          <a:p>
            <a:pPr algn="l">
              <a:defRPr sz="1100" b="1">
                <a:solidFill>
                  <a:srgbClr val="333333"/>
                </a:solidFill>
                <a:latin typeface="Arial"/>
              </a:defRPr>
            </a:pPr>
            <a:r>
              <a:t>SkillRuntime</a:t>
            </a:r>
          </a:p>
        </p:txBody>
      </p:sp>
      <p:sp>
        <p:nvSpPr>
          <p:cNvPr id="31" name="TextBox 30"/>
          <p:cNvSpPr txBox="1"/>
          <p:nvPr/>
        </p:nvSpPr>
        <p:spPr>
          <a:xfrm>
            <a:off x="2286000" y="3794760"/>
            <a:ext cx="6400800" cy="228600"/>
          </a:xfrm>
          <a:prstGeom prst="rect">
            <a:avLst/>
          </a:prstGeom>
          <a:noFill/>
        </p:spPr>
        <p:txBody>
          <a:bodyPr wrap="square" anchor="t"/>
          <a:lstStyle/>
          <a:p>
            <a:pPr algn="l">
              <a:defRPr sz="1000" b="0">
                <a:solidFill>
                  <a:srgbClr val="555555"/>
                </a:solidFill>
                <a:latin typeface="Arial"/>
              </a:defRPr>
            </a:pPr>
            <a:r>
              <a:t>Merges query + skills + session context. Access control filtering. Max 4000 chars budget.</a:t>
            </a:r>
          </a:p>
        </p:txBody>
      </p:sp>
      <p:sp>
        <p:nvSpPr>
          <p:cNvPr id="32" name="Rectangle 31"/>
          <p:cNvSpPr/>
          <p:nvPr/>
        </p:nvSpPr>
        <p:spPr>
          <a:xfrm>
            <a:off x="4846320" y="4160520"/>
            <a:ext cx="3840480" cy="7772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846320" y="4160520"/>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029200" y="4251960"/>
            <a:ext cx="3566160" cy="365760"/>
          </a:xfrm>
          <a:prstGeom prst="rect">
            <a:avLst/>
          </a:prstGeom>
          <a:noFill/>
        </p:spPr>
        <p:txBody>
          <a:bodyPr wrap="square" anchor="t"/>
          <a:lstStyle/>
          <a:p>
            <a:pPr algn="l">
              <a:defRPr sz="1200" b="1">
                <a:solidFill>
                  <a:srgbClr val="FFFFFF"/>
                </a:solidFill>
                <a:latin typeface="Arial"/>
              </a:defRPr>
            </a:pPr>
            <a:r>
              <a:t>Telemetry + Dependencies</a:t>
            </a:r>
          </a:p>
        </p:txBody>
      </p:sp>
      <p:sp>
        <p:nvSpPr>
          <p:cNvPr id="35" name="TextBox 34"/>
          <p:cNvSpPr txBox="1"/>
          <p:nvPr/>
        </p:nvSpPr>
        <p:spPr>
          <a:xfrm>
            <a:off x="5029200" y="4617720"/>
            <a:ext cx="3566160" cy="228600"/>
          </a:xfrm>
          <a:prstGeom prst="rect">
            <a:avLst/>
          </a:prstGeom>
          <a:noFill/>
        </p:spPr>
        <p:txBody>
          <a:bodyPr wrap="square" anchor="t"/>
          <a:lstStyle/>
          <a:p>
            <a:pPr algn="l">
              <a:defRPr sz="1000" b="0">
                <a:solidFill>
                  <a:srgbClr val="CCCCCC"/>
                </a:solidFill>
                <a:latin typeface="Arial"/>
              </a:defRPr>
            </a:pPr>
            <a:r>
              <a:t>80% success SLO, 20-use review window. DFS cycle detection. States: healthy/unstable/broken.</a:t>
            </a:r>
          </a:p>
        </p:txBody>
      </p:sp>
      <p:sp>
        <p:nvSpPr>
          <p:cNvPr id="36" name="Rectangle 35"/>
          <p:cNvSpPr/>
          <p:nvPr/>
        </p:nvSpPr>
        <p:spPr>
          <a:xfrm>
            <a:off x="502920" y="4160520"/>
            <a:ext cx="4114800" cy="7772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02920" y="4160520"/>
            <a:ext cx="54864" cy="77724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85800" y="4251960"/>
            <a:ext cx="3840480" cy="365760"/>
          </a:xfrm>
          <a:prstGeom prst="rect">
            <a:avLst/>
          </a:prstGeom>
          <a:noFill/>
        </p:spPr>
        <p:txBody>
          <a:bodyPr wrap="square" anchor="t"/>
          <a:lstStyle/>
          <a:p>
            <a:pPr algn="l">
              <a:defRPr sz="1200" b="1">
                <a:solidFill>
                  <a:srgbClr val="FFFFFF"/>
                </a:solidFill>
                <a:latin typeface="Arial"/>
              </a:defRPr>
            </a:pPr>
            <a:r>
              <a:t>Legacy Aliases + Visibility</a:t>
            </a:r>
          </a:p>
        </p:txBody>
      </p:sp>
      <p:sp>
        <p:nvSpPr>
          <p:cNvPr id="39" name="TextBox 38"/>
          <p:cNvSpPr txBox="1"/>
          <p:nvPr/>
        </p:nvSpPr>
        <p:spPr>
          <a:xfrm>
            <a:off x="685800" y="4617720"/>
            <a:ext cx="3840480" cy="228600"/>
          </a:xfrm>
          <a:prstGeom prst="rect">
            <a:avLst/>
          </a:prstGeom>
          <a:noFill/>
        </p:spPr>
        <p:txBody>
          <a:bodyPr wrap="square" anchor="t"/>
          <a:lstStyle/>
          <a:p>
            <a:pPr algn="l">
              <a:defRPr sz="1000" b="0">
                <a:solidFill>
                  <a:srgbClr val="CCCCCC"/>
                </a:solidFill>
                <a:latin typeface="Arial"/>
              </a:defRPr>
            </a:pPr>
            <a:r>
              <a:t>9 tool tag aliases mapped. Visibility: global / private / tenant scoped.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Provider System &amp; Circuit Breaker (providers/)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6 files: factory, llm_factory, circuit_breaker, output_limits, dependency_checks</a:t>
            </a:r>
          </a:p>
        </p:txBody>
      </p:sp>
      <p:sp>
        <p:nvSpPr>
          <p:cNvPr id="6" name="TextBox 5"/>
          <p:cNvSpPr txBox="1"/>
          <p:nvPr/>
        </p:nvSpPr>
        <p:spPr>
          <a:xfrm>
            <a:off x="502920" y="1371600"/>
            <a:ext cx="3931920" cy="320040"/>
          </a:xfrm>
          <a:prstGeom prst="rect">
            <a:avLst/>
          </a:prstGeom>
          <a:noFill/>
        </p:spPr>
        <p:txBody>
          <a:bodyPr wrap="square" anchor="t"/>
          <a:lstStyle/>
          <a:p>
            <a:pPr algn="l">
              <a:defRPr sz="1300" b="1">
                <a:solidFill>
                  <a:srgbClr val="0097A7"/>
                </a:solidFill>
                <a:latin typeface="Arial"/>
              </a:defRPr>
            </a:pPr>
            <a:r>
              <a:t>PROVIDER RESOLUTION</a:t>
            </a:r>
          </a:p>
        </p:txBody>
      </p:sp>
      <p:sp>
        <p:nvSpPr>
          <p:cNvPr id="7" name="Rectangle 6"/>
          <p:cNvSpPr/>
          <p:nvPr/>
        </p:nvSpPr>
        <p:spPr>
          <a:xfrm>
            <a:off x="502920" y="1737360"/>
            <a:ext cx="3931920" cy="12801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02920" y="1737360"/>
            <a:ext cx="54864" cy="12801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1828800"/>
            <a:ext cx="3657600" cy="365760"/>
          </a:xfrm>
          <a:prstGeom prst="rect">
            <a:avLst/>
          </a:prstGeom>
          <a:noFill/>
        </p:spPr>
        <p:txBody>
          <a:bodyPr wrap="square" anchor="t"/>
          <a:lstStyle/>
          <a:p>
            <a:pPr algn="l">
              <a:defRPr sz="1200" b="1">
                <a:solidFill>
                  <a:srgbClr val="FFFFFF"/>
                </a:solidFill>
                <a:latin typeface="Arial"/>
              </a:defRPr>
            </a:pPr>
            <a:r>
              <a:t>AgentProviderResolver</a:t>
            </a:r>
          </a:p>
        </p:txBody>
      </p:sp>
      <p:sp>
        <p:nvSpPr>
          <p:cNvPr id="10" name="TextBox 9"/>
          <p:cNvSpPr txBox="1"/>
          <p:nvPr/>
        </p:nvSpPr>
        <p:spPr>
          <a:xfrm>
            <a:off x="685800" y="2194560"/>
            <a:ext cx="3657600" cy="731520"/>
          </a:xfrm>
          <a:prstGeom prst="rect">
            <a:avLst/>
          </a:prstGeom>
          <a:noFill/>
        </p:spPr>
        <p:txBody>
          <a:bodyPr wrap="square" anchor="t"/>
          <a:lstStyle/>
          <a:p>
            <a:pPr algn="l">
              <a:defRPr sz="1000" b="0">
                <a:solidFill>
                  <a:srgbClr val="CCCCCC"/>
                </a:solidFill>
                <a:latin typeface="Arial"/>
              </a:defRPr>
            </a:pPr>
            <a:r>
              <a:t>Caches bundles by 6-tuple (provider, model, cap). Per-agent overrides: AGENT_{NAME}_CHAT_MODEL. Token cap chain: request &gt; agent &gt; global &gt; ollama.</a:t>
            </a:r>
          </a:p>
        </p:txBody>
      </p:sp>
      <p:sp>
        <p:nvSpPr>
          <p:cNvPr id="11" name="Rectangle 10"/>
          <p:cNvSpPr/>
          <p:nvPr/>
        </p:nvSpPr>
        <p:spPr>
          <a:xfrm>
            <a:off x="502920" y="3154680"/>
            <a:ext cx="3931920" cy="8686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3154680"/>
            <a:ext cx="54864" cy="868680"/>
          </a:xfrm>
          <a:prstGeom prst="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3246120"/>
            <a:ext cx="3657600" cy="365760"/>
          </a:xfrm>
          <a:prstGeom prst="rect">
            <a:avLst/>
          </a:prstGeom>
          <a:noFill/>
        </p:spPr>
        <p:txBody>
          <a:bodyPr wrap="square" anchor="t"/>
          <a:lstStyle/>
          <a:p>
            <a:pPr algn="l">
              <a:defRPr sz="1200" b="1">
                <a:solidFill>
                  <a:srgbClr val="FFFFFF"/>
                </a:solidFill>
                <a:latin typeface="Arial"/>
              </a:defRPr>
            </a:pPr>
            <a:r>
              <a:t>ProviderBundle</a:t>
            </a:r>
          </a:p>
        </p:txBody>
      </p:sp>
      <p:sp>
        <p:nvSpPr>
          <p:cNvPr id="14" name="TextBox 13"/>
          <p:cNvSpPr txBox="1"/>
          <p:nvPr/>
        </p:nvSpPr>
        <p:spPr>
          <a:xfrm>
            <a:off x="685800" y="3611880"/>
            <a:ext cx="3657600" cy="320040"/>
          </a:xfrm>
          <a:prstGeom prst="rect">
            <a:avLst/>
          </a:prstGeom>
          <a:noFill/>
        </p:spPr>
        <p:txBody>
          <a:bodyPr wrap="square" anchor="t"/>
          <a:lstStyle/>
          <a:p>
            <a:pPr algn="l">
              <a:defRPr sz="1000" b="0">
                <a:solidFill>
                  <a:srgbClr val="CCCCCC"/>
                </a:solidFill>
                <a:latin typeface="Arial"/>
              </a:defRPr>
            </a:pPr>
            <a:r>
              <a:t>Chat + judge + embeddings. Dims: 768 (Nomic) / 1536 (Ada-002). Timeouts: 120s HTTP, 20s connect.</a:t>
            </a:r>
          </a:p>
        </p:txBody>
      </p:sp>
      <p:sp>
        <p:nvSpPr>
          <p:cNvPr id="15" name="TextBox 14"/>
          <p:cNvSpPr txBox="1"/>
          <p:nvPr/>
        </p:nvSpPr>
        <p:spPr>
          <a:xfrm>
            <a:off x="4846320" y="1371600"/>
            <a:ext cx="3840480" cy="320040"/>
          </a:xfrm>
          <a:prstGeom prst="rect">
            <a:avLst/>
          </a:prstGeom>
          <a:noFill/>
        </p:spPr>
        <p:txBody>
          <a:bodyPr wrap="square" anchor="t"/>
          <a:lstStyle/>
          <a:p>
            <a:pPr algn="l">
              <a:defRPr sz="1300" b="1">
                <a:solidFill>
                  <a:srgbClr val="EF5350"/>
                </a:solidFill>
                <a:latin typeface="Arial"/>
              </a:defRPr>
            </a:pPr>
            <a:r>
              <a:t>CIRCUIT BREAKER</a:t>
            </a:r>
          </a:p>
        </p:txBody>
      </p:sp>
      <p:sp>
        <p:nvSpPr>
          <p:cNvPr id="16" name="Rectangle 15"/>
          <p:cNvSpPr/>
          <p:nvPr/>
        </p:nvSpPr>
        <p:spPr>
          <a:xfrm>
            <a:off x="4846320" y="1737360"/>
            <a:ext cx="3840480" cy="22402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846320" y="1737360"/>
            <a:ext cx="54864" cy="224028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74920" y="1874519"/>
            <a:ext cx="1645920" cy="228600"/>
          </a:xfrm>
          <a:prstGeom prst="rect">
            <a:avLst/>
          </a:prstGeom>
          <a:noFill/>
        </p:spPr>
        <p:txBody>
          <a:bodyPr wrap="square" anchor="t"/>
          <a:lstStyle/>
          <a:p>
            <a:pPr algn="l">
              <a:defRPr sz="1100" b="1">
                <a:solidFill>
                  <a:srgbClr val="FFFFFF"/>
                </a:solidFill>
                <a:latin typeface="Arial"/>
              </a:defRPr>
            </a:pPr>
            <a:r>
              <a:t>Window Size:</a:t>
            </a:r>
          </a:p>
        </p:txBody>
      </p:sp>
      <p:sp>
        <p:nvSpPr>
          <p:cNvPr id="19" name="TextBox 18"/>
          <p:cNvSpPr txBox="1"/>
          <p:nvPr/>
        </p:nvSpPr>
        <p:spPr>
          <a:xfrm>
            <a:off x="6766560" y="1874519"/>
            <a:ext cx="1828800" cy="228600"/>
          </a:xfrm>
          <a:prstGeom prst="rect">
            <a:avLst/>
          </a:prstGeom>
          <a:noFill/>
        </p:spPr>
        <p:txBody>
          <a:bodyPr wrap="square" anchor="t"/>
          <a:lstStyle/>
          <a:p>
            <a:pPr algn="l">
              <a:defRPr sz="1100" b="0">
                <a:solidFill>
                  <a:srgbClr val="CCCCCC"/>
                </a:solidFill>
                <a:latin typeface="Arial"/>
              </a:defRPr>
            </a:pPr>
            <a:r>
              <a:t>20 samples</a:t>
            </a:r>
          </a:p>
        </p:txBody>
      </p:sp>
      <p:sp>
        <p:nvSpPr>
          <p:cNvPr id="20" name="TextBox 19"/>
          <p:cNvSpPr txBox="1"/>
          <p:nvPr/>
        </p:nvSpPr>
        <p:spPr>
          <a:xfrm>
            <a:off x="5074920" y="2194559"/>
            <a:ext cx="1645920" cy="228600"/>
          </a:xfrm>
          <a:prstGeom prst="rect">
            <a:avLst/>
          </a:prstGeom>
          <a:noFill/>
        </p:spPr>
        <p:txBody>
          <a:bodyPr wrap="square" anchor="t"/>
          <a:lstStyle/>
          <a:p>
            <a:pPr algn="l">
              <a:defRPr sz="1100" b="1">
                <a:solidFill>
                  <a:srgbClr val="FFFFFF"/>
                </a:solidFill>
                <a:latin typeface="Arial"/>
              </a:defRPr>
            </a:pPr>
            <a:r>
              <a:t>Min Samples:</a:t>
            </a:r>
          </a:p>
        </p:txBody>
      </p:sp>
      <p:sp>
        <p:nvSpPr>
          <p:cNvPr id="21" name="TextBox 20"/>
          <p:cNvSpPr txBox="1"/>
          <p:nvPr/>
        </p:nvSpPr>
        <p:spPr>
          <a:xfrm>
            <a:off x="6766560" y="2194559"/>
            <a:ext cx="1828800" cy="228600"/>
          </a:xfrm>
          <a:prstGeom prst="rect">
            <a:avLst/>
          </a:prstGeom>
          <a:noFill/>
        </p:spPr>
        <p:txBody>
          <a:bodyPr wrap="square" anchor="t"/>
          <a:lstStyle/>
          <a:p>
            <a:pPr algn="l">
              <a:defRPr sz="1100" b="0">
                <a:solidFill>
                  <a:srgbClr val="CCCCCC"/>
                </a:solidFill>
                <a:latin typeface="Arial"/>
              </a:defRPr>
            </a:pPr>
            <a:r>
              <a:t>6 before tripping</a:t>
            </a:r>
          </a:p>
        </p:txBody>
      </p:sp>
      <p:sp>
        <p:nvSpPr>
          <p:cNvPr id="22" name="TextBox 21"/>
          <p:cNvSpPr txBox="1"/>
          <p:nvPr/>
        </p:nvSpPr>
        <p:spPr>
          <a:xfrm>
            <a:off x="5074920" y="2514599"/>
            <a:ext cx="1645920" cy="228600"/>
          </a:xfrm>
          <a:prstGeom prst="rect">
            <a:avLst/>
          </a:prstGeom>
          <a:noFill/>
        </p:spPr>
        <p:txBody>
          <a:bodyPr wrap="square" anchor="t"/>
          <a:lstStyle/>
          <a:p>
            <a:pPr algn="l">
              <a:defRPr sz="1100" b="1">
                <a:solidFill>
                  <a:srgbClr val="FFFFFF"/>
                </a:solidFill>
                <a:latin typeface="Arial"/>
              </a:defRPr>
            </a:pPr>
            <a:r>
              <a:t>Error Threshold:</a:t>
            </a:r>
          </a:p>
        </p:txBody>
      </p:sp>
      <p:sp>
        <p:nvSpPr>
          <p:cNvPr id="23" name="TextBox 22"/>
          <p:cNvSpPr txBox="1"/>
          <p:nvPr/>
        </p:nvSpPr>
        <p:spPr>
          <a:xfrm>
            <a:off x="6766560" y="2514599"/>
            <a:ext cx="1828800" cy="228600"/>
          </a:xfrm>
          <a:prstGeom prst="rect">
            <a:avLst/>
          </a:prstGeom>
          <a:noFill/>
        </p:spPr>
        <p:txBody>
          <a:bodyPr wrap="square" anchor="t"/>
          <a:lstStyle/>
          <a:p>
            <a:pPr algn="l">
              <a:defRPr sz="1100" b="0">
                <a:solidFill>
                  <a:srgbClr val="CCCCCC"/>
                </a:solidFill>
                <a:latin typeface="Arial"/>
              </a:defRPr>
            </a:pPr>
            <a:r>
              <a:t>50% error rate</a:t>
            </a:r>
          </a:p>
        </p:txBody>
      </p:sp>
      <p:sp>
        <p:nvSpPr>
          <p:cNvPr id="24" name="TextBox 23"/>
          <p:cNvSpPr txBox="1"/>
          <p:nvPr/>
        </p:nvSpPr>
        <p:spPr>
          <a:xfrm>
            <a:off x="5074920" y="2834639"/>
            <a:ext cx="1645920" cy="228600"/>
          </a:xfrm>
          <a:prstGeom prst="rect">
            <a:avLst/>
          </a:prstGeom>
          <a:noFill/>
        </p:spPr>
        <p:txBody>
          <a:bodyPr wrap="square" anchor="t"/>
          <a:lstStyle/>
          <a:p>
            <a:pPr algn="l">
              <a:defRPr sz="1100" b="1">
                <a:solidFill>
                  <a:srgbClr val="FFFFFF"/>
                </a:solidFill>
                <a:latin typeface="Arial"/>
              </a:defRPr>
            </a:pPr>
            <a:r>
              <a:t>Consecutive Fails:</a:t>
            </a:r>
          </a:p>
        </p:txBody>
      </p:sp>
      <p:sp>
        <p:nvSpPr>
          <p:cNvPr id="25" name="TextBox 24"/>
          <p:cNvSpPr txBox="1"/>
          <p:nvPr/>
        </p:nvSpPr>
        <p:spPr>
          <a:xfrm>
            <a:off x="6766560" y="2834639"/>
            <a:ext cx="1828800" cy="228600"/>
          </a:xfrm>
          <a:prstGeom prst="rect">
            <a:avLst/>
          </a:prstGeom>
          <a:noFill/>
        </p:spPr>
        <p:txBody>
          <a:bodyPr wrap="square" anchor="t"/>
          <a:lstStyle/>
          <a:p>
            <a:pPr algn="l">
              <a:defRPr sz="1100" b="0">
                <a:solidFill>
                  <a:srgbClr val="CCCCCC"/>
                </a:solidFill>
                <a:latin typeface="Arial"/>
              </a:defRPr>
            </a:pPr>
            <a:r>
              <a:t>3 triggers open</a:t>
            </a:r>
          </a:p>
        </p:txBody>
      </p:sp>
      <p:sp>
        <p:nvSpPr>
          <p:cNvPr id="26" name="TextBox 25"/>
          <p:cNvSpPr txBox="1"/>
          <p:nvPr/>
        </p:nvSpPr>
        <p:spPr>
          <a:xfrm>
            <a:off x="5074920" y="3154679"/>
            <a:ext cx="1645920" cy="228600"/>
          </a:xfrm>
          <a:prstGeom prst="rect">
            <a:avLst/>
          </a:prstGeom>
          <a:noFill/>
        </p:spPr>
        <p:txBody>
          <a:bodyPr wrap="square" anchor="t"/>
          <a:lstStyle/>
          <a:p>
            <a:pPr algn="l">
              <a:defRPr sz="1100" b="1">
                <a:solidFill>
                  <a:srgbClr val="FFFFFF"/>
                </a:solidFill>
                <a:latin typeface="Arial"/>
              </a:defRPr>
            </a:pPr>
            <a:r>
              <a:t>Open Duration:</a:t>
            </a:r>
          </a:p>
        </p:txBody>
      </p:sp>
      <p:sp>
        <p:nvSpPr>
          <p:cNvPr id="27" name="TextBox 26"/>
          <p:cNvSpPr txBox="1"/>
          <p:nvPr/>
        </p:nvSpPr>
        <p:spPr>
          <a:xfrm>
            <a:off x="6766560" y="3154679"/>
            <a:ext cx="1828800" cy="228600"/>
          </a:xfrm>
          <a:prstGeom prst="rect">
            <a:avLst/>
          </a:prstGeom>
          <a:noFill/>
        </p:spPr>
        <p:txBody>
          <a:bodyPr wrap="square" anchor="t"/>
          <a:lstStyle/>
          <a:p>
            <a:pPr algn="l">
              <a:defRPr sz="1100" b="0">
                <a:solidFill>
                  <a:srgbClr val="CCCCCC"/>
                </a:solidFill>
                <a:latin typeface="Arial"/>
              </a:defRPr>
            </a:pPr>
            <a:r>
              <a:t>30 seconds cooldown</a:t>
            </a:r>
          </a:p>
        </p:txBody>
      </p:sp>
      <p:sp>
        <p:nvSpPr>
          <p:cNvPr id="28" name="TextBox 27"/>
          <p:cNvSpPr txBox="1"/>
          <p:nvPr/>
        </p:nvSpPr>
        <p:spPr>
          <a:xfrm>
            <a:off x="5074920" y="3474719"/>
            <a:ext cx="1645920" cy="228600"/>
          </a:xfrm>
          <a:prstGeom prst="rect">
            <a:avLst/>
          </a:prstGeom>
          <a:noFill/>
        </p:spPr>
        <p:txBody>
          <a:bodyPr wrap="square" anchor="t"/>
          <a:lstStyle/>
          <a:p>
            <a:pPr algn="l">
              <a:defRPr sz="1100" b="1">
                <a:solidFill>
                  <a:srgbClr val="FFFFFF"/>
                </a:solidFill>
                <a:latin typeface="Arial"/>
              </a:defRPr>
            </a:pPr>
            <a:r>
              <a:t>Fallback:</a:t>
            </a:r>
          </a:p>
        </p:txBody>
      </p:sp>
      <p:sp>
        <p:nvSpPr>
          <p:cNvPr id="29" name="TextBox 28"/>
          <p:cNvSpPr txBox="1"/>
          <p:nvPr/>
        </p:nvSpPr>
        <p:spPr>
          <a:xfrm>
            <a:off x="6766560" y="3474719"/>
            <a:ext cx="1828800" cy="228600"/>
          </a:xfrm>
          <a:prstGeom prst="rect">
            <a:avLst/>
          </a:prstGeom>
          <a:noFill/>
        </p:spPr>
        <p:txBody>
          <a:bodyPr wrap="square" anchor="t"/>
          <a:lstStyle/>
          <a:p>
            <a:pPr algn="l">
              <a:defRPr sz="1100" b="0">
                <a:solidFill>
                  <a:srgbClr val="CCCCCC"/>
                </a:solidFill>
                <a:latin typeface="Arial"/>
              </a:defRPr>
            </a:pPr>
            <a:r>
              <a:t>Degrades to basic mode</a:t>
            </a:r>
          </a:p>
        </p:txBody>
      </p:sp>
      <p:sp>
        <p:nvSpPr>
          <p:cNvPr id="30" name="Rectangle 29"/>
          <p:cNvSpPr/>
          <p:nvPr/>
        </p:nvSpPr>
        <p:spPr>
          <a:xfrm>
            <a:off x="502920" y="4206240"/>
            <a:ext cx="8138160" cy="7315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31520" y="4297680"/>
            <a:ext cx="7680960" cy="548640"/>
          </a:xfrm>
          <a:prstGeom prst="rect">
            <a:avLst/>
          </a:prstGeom>
          <a:noFill/>
        </p:spPr>
        <p:txBody>
          <a:bodyPr wrap="square" anchor="t"/>
          <a:lstStyle/>
          <a:p>
            <a:pPr algn="l">
              <a:defRPr sz="1100" b="0">
                <a:solidFill>
                  <a:srgbClr val="CCCCCC"/>
                </a:solidFill>
                <a:latin typeface="Arial"/>
              </a:defRPr>
            </a:pPr>
            <a:r>
              <a:t>If an agent's LLM provider trips the circuit breaker, RuntimeService degrades to basic mode with a different provider. If even that fails, returns a graceful degraded message to the user.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MCP Security Model (mcp/)</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Cryptographic isolation, URL validation, tool deferral, and connection lifecycle management</a:t>
            </a:r>
          </a:p>
        </p:txBody>
      </p:sp>
      <p:sp>
        <p:nvSpPr>
          <p:cNvPr id="6" name="Rectangle 5"/>
          <p:cNvSpPr/>
          <p:nvPr/>
        </p:nvSpPr>
        <p:spPr>
          <a:xfrm>
            <a:off x="502920" y="137160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71600"/>
            <a:ext cx="54864" cy="137160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63040"/>
            <a:ext cx="3703319" cy="365760"/>
          </a:xfrm>
          <a:prstGeom prst="rect">
            <a:avLst/>
          </a:prstGeom>
          <a:noFill/>
        </p:spPr>
        <p:txBody>
          <a:bodyPr wrap="square" anchor="t"/>
          <a:lstStyle/>
          <a:p>
            <a:pPr algn="l">
              <a:defRPr sz="1300" b="1">
                <a:solidFill>
                  <a:srgbClr val="FFFFFF"/>
                </a:solidFill>
                <a:latin typeface="Arial"/>
              </a:defRPr>
            </a:pPr>
            <a:r>
              <a:t>Secret Encryption</a:t>
            </a:r>
          </a:p>
        </p:txBody>
      </p:sp>
      <p:sp>
        <p:nvSpPr>
          <p:cNvPr id="9" name="TextBox 8"/>
          <p:cNvSpPr txBox="1"/>
          <p:nvPr/>
        </p:nvSpPr>
        <p:spPr>
          <a:xfrm>
            <a:off x="685800" y="1828800"/>
            <a:ext cx="3703319" cy="822960"/>
          </a:xfrm>
          <a:prstGeom prst="rect">
            <a:avLst/>
          </a:prstGeom>
          <a:noFill/>
        </p:spPr>
        <p:txBody>
          <a:bodyPr wrap="square" anchor="t"/>
          <a:lstStyle/>
          <a:p>
            <a:pPr algn="l">
              <a:defRPr sz="1000" b="0">
                <a:solidFill>
                  <a:srgbClr val="CCCCCC"/>
                </a:solidFill>
                <a:latin typeface="Arial"/>
              </a:defRPr>
            </a:pPr>
            <a:r>
              <a:t>Fernet symmetric encryption with SHA256 key derivation. Prefix: 'fernet:v1:' identifies encrypted values. Secrets never stored in plaintext. Decrypted only at call time.</a:t>
            </a:r>
          </a:p>
        </p:txBody>
      </p:sp>
      <p:sp>
        <p:nvSpPr>
          <p:cNvPr id="10" name="Rectangle 9"/>
          <p:cNvSpPr/>
          <p:nvPr/>
        </p:nvSpPr>
        <p:spPr>
          <a:xfrm>
            <a:off x="4709160" y="137160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09160" y="1371600"/>
            <a:ext cx="54864" cy="137160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92040" y="1463040"/>
            <a:ext cx="3703319" cy="365760"/>
          </a:xfrm>
          <a:prstGeom prst="rect">
            <a:avLst/>
          </a:prstGeom>
          <a:noFill/>
        </p:spPr>
        <p:txBody>
          <a:bodyPr wrap="square" anchor="t"/>
          <a:lstStyle/>
          <a:p>
            <a:pPr algn="l">
              <a:defRPr sz="1300" b="1">
                <a:solidFill>
                  <a:srgbClr val="FFFFFF"/>
                </a:solidFill>
                <a:latin typeface="Arial"/>
              </a:defRPr>
            </a:pPr>
            <a:r>
              <a:t>URL Validation</a:t>
            </a:r>
          </a:p>
        </p:txBody>
      </p:sp>
      <p:sp>
        <p:nvSpPr>
          <p:cNvPr id="13" name="TextBox 12"/>
          <p:cNvSpPr txBox="1"/>
          <p:nvPr/>
        </p:nvSpPr>
        <p:spPr>
          <a:xfrm>
            <a:off x="4892040" y="1828800"/>
            <a:ext cx="3703319" cy="822960"/>
          </a:xfrm>
          <a:prstGeom prst="rect">
            <a:avLst/>
          </a:prstGeom>
          <a:noFill/>
        </p:spPr>
        <p:txBody>
          <a:bodyPr wrap="square" anchor="t"/>
          <a:lstStyle/>
          <a:p>
            <a:pPr algn="l">
              <a:defRPr sz="1000" b="0">
                <a:solidFill>
                  <a:srgbClr val="CCCCCC"/>
                </a:solidFill>
                <a:latin typeface="Arial"/>
              </a:defRPr>
            </a:pPr>
            <a:r>
              <a:t>HTTPS enforced by default (configurable). Private network blocking prevents SSRF attacks. Connection names slugified: max 80 chars, [a-z0-9_] only.</a:t>
            </a:r>
          </a:p>
        </p:txBody>
      </p:sp>
      <p:sp>
        <p:nvSpPr>
          <p:cNvPr id="14" name="Rectangle 13"/>
          <p:cNvSpPr/>
          <p:nvPr/>
        </p:nvSpPr>
        <p:spPr>
          <a:xfrm>
            <a:off x="502920" y="292608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2926080"/>
            <a:ext cx="54864" cy="137160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017520"/>
            <a:ext cx="3703319" cy="365760"/>
          </a:xfrm>
          <a:prstGeom prst="rect">
            <a:avLst/>
          </a:prstGeom>
          <a:noFill/>
        </p:spPr>
        <p:txBody>
          <a:bodyPr wrap="square" anchor="t"/>
          <a:lstStyle/>
          <a:p>
            <a:pPr algn="l">
              <a:defRPr sz="1300" b="1">
                <a:solidFill>
                  <a:srgbClr val="FFFFFF"/>
                </a:solidFill>
                <a:latin typeface="Arial"/>
              </a:defRPr>
            </a:pPr>
            <a:r>
              <a:t>Tool Deferral System</a:t>
            </a:r>
          </a:p>
        </p:txBody>
      </p:sp>
      <p:sp>
        <p:nvSpPr>
          <p:cNvPr id="17" name="TextBox 16"/>
          <p:cNvSpPr txBox="1"/>
          <p:nvPr/>
        </p:nvSpPr>
        <p:spPr>
          <a:xfrm>
            <a:off x="685800" y="3383280"/>
            <a:ext cx="3703319" cy="822960"/>
          </a:xfrm>
          <a:prstGeom prst="rect">
            <a:avLst/>
          </a:prstGeom>
          <a:noFill/>
        </p:spPr>
        <p:txBody>
          <a:bodyPr wrap="square" anchor="t"/>
          <a:lstStyle/>
          <a:p>
            <a:pPr algn="l">
              <a:defRPr sz="1000" b="0">
                <a:solidFill>
                  <a:srgbClr val="CCCCCC"/>
                </a:solidFill>
                <a:latin typeface="Arial"/>
              </a:defRPr>
            </a:pPr>
            <a:r>
              <a:t>All MCP tools: defer=True, destructive=True, defer_priority=50. Tools only execute after explicit user/agent approval. Schema sanitization: enforces type='object', additionalProperties=True.</a:t>
            </a:r>
          </a:p>
        </p:txBody>
      </p:sp>
      <p:sp>
        <p:nvSpPr>
          <p:cNvPr id="18" name="Rectangle 17"/>
          <p:cNvSpPr/>
          <p:nvPr/>
        </p:nvSpPr>
        <p:spPr>
          <a:xfrm>
            <a:off x="4709160" y="292608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709160" y="2926080"/>
            <a:ext cx="54864" cy="13716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892040" y="3017520"/>
            <a:ext cx="3703319" cy="365760"/>
          </a:xfrm>
          <a:prstGeom prst="rect">
            <a:avLst/>
          </a:prstGeom>
          <a:noFill/>
        </p:spPr>
        <p:txBody>
          <a:bodyPr wrap="square" anchor="t"/>
          <a:lstStyle/>
          <a:p>
            <a:pPr algn="l">
              <a:defRPr sz="1300" b="1">
                <a:solidFill>
                  <a:srgbClr val="FFFFFF"/>
                </a:solidFill>
                <a:latin typeface="Arial"/>
              </a:defRPr>
            </a:pPr>
            <a:r>
              <a:t>Connection Lifecycle</a:t>
            </a:r>
          </a:p>
        </p:txBody>
      </p:sp>
      <p:sp>
        <p:nvSpPr>
          <p:cNvPr id="21" name="TextBox 20"/>
          <p:cNvSpPr txBox="1"/>
          <p:nvPr/>
        </p:nvSpPr>
        <p:spPr>
          <a:xfrm>
            <a:off x="4892040" y="3383280"/>
            <a:ext cx="3703319" cy="822960"/>
          </a:xfrm>
          <a:prstGeom prst="rect">
            <a:avLst/>
          </a:prstGeom>
          <a:noFill/>
        </p:spPr>
        <p:txBody>
          <a:bodyPr wrap="square" anchor="t"/>
          <a:lstStyle/>
          <a:p>
            <a:pPr algn="l">
              <a:defRPr sz="1000" b="0">
                <a:solidFill>
                  <a:srgbClr val="CCCCCC"/>
                </a:solidFill>
                <a:latin typeface="Arial"/>
              </a:defRPr>
            </a:pPr>
            <a:r>
              <a:t>Timeouts: 15s for listing tools, 60s for execution. Tool name pattern: mcp__{connection}__{tool}. Per-tool enable/disable. Status/enabled flags gate execution.</a:t>
            </a:r>
          </a:p>
        </p:txBody>
      </p:sp>
      <p:sp>
        <p:nvSpPr>
          <p:cNvPr id="22" name="TextBox 21"/>
          <p:cNvSpPr txBox="1"/>
          <p:nvPr/>
        </p:nvSpPr>
        <p:spPr>
          <a:xfrm>
            <a:off x="502920" y="4480560"/>
            <a:ext cx="8138160" cy="457200"/>
          </a:xfrm>
          <a:prstGeom prst="rect">
            <a:avLst/>
          </a:prstGeom>
          <a:noFill/>
        </p:spPr>
        <p:txBody>
          <a:bodyPr wrap="square" anchor="t"/>
          <a:lstStyle/>
          <a:p>
            <a:pPr algn="l">
              <a:defRPr sz="1000" b="0">
                <a:solidFill>
                  <a:srgbClr val="888888"/>
                </a:solidFill>
                <a:latin typeface="Arial"/>
              </a:defRPr>
            </a:pPr>
            <a:r>
              <a:t>McpStreamableHttpClient wraps the official MCP Streamable HTTP client with sync/async support. McpCatalogService manages the full connection CRUD + tool discovery + execution pipeline.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Task Plan &amp; Artifact Handoff System</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Structured task decomposition with typed artifact handoffs between worker agents</a:t>
            </a:r>
          </a:p>
        </p:txBody>
      </p:sp>
      <p:sp>
        <p:nvSpPr>
          <p:cNvPr id="6" name="TextBox 5"/>
          <p:cNvSpPr txBox="1"/>
          <p:nvPr/>
        </p:nvSpPr>
        <p:spPr>
          <a:xfrm>
            <a:off x="502920" y="1280160"/>
            <a:ext cx="3931920" cy="320040"/>
          </a:xfrm>
          <a:prstGeom prst="rect">
            <a:avLst/>
          </a:prstGeom>
          <a:noFill/>
        </p:spPr>
        <p:txBody>
          <a:bodyPr wrap="square" anchor="t"/>
          <a:lstStyle/>
          <a:p>
            <a:pPr algn="l">
              <a:defRPr sz="1300" b="1">
                <a:solidFill>
                  <a:srgbClr val="0097A7"/>
                </a:solidFill>
                <a:latin typeface="Arial"/>
              </a:defRPr>
            </a:pPr>
            <a:r>
              <a:t>TASK SPECIFICATION</a:t>
            </a:r>
          </a:p>
        </p:txBody>
      </p:sp>
      <p:sp>
        <p:nvSpPr>
          <p:cNvPr id="7" name="TextBox 6"/>
          <p:cNvSpPr txBox="1"/>
          <p:nvPr/>
        </p:nvSpPr>
        <p:spPr>
          <a:xfrm>
            <a:off x="502920" y="1691640"/>
            <a:ext cx="1371600" cy="228600"/>
          </a:xfrm>
          <a:prstGeom prst="rect">
            <a:avLst/>
          </a:prstGeom>
          <a:noFill/>
        </p:spPr>
        <p:txBody>
          <a:bodyPr wrap="square" anchor="t"/>
          <a:lstStyle/>
          <a:p>
            <a:pPr algn="l">
              <a:defRPr sz="1100" b="1">
                <a:solidFill>
                  <a:srgbClr val="333333"/>
                </a:solidFill>
                <a:latin typeface="Arial"/>
              </a:defRPr>
            </a:pPr>
            <a:r>
              <a:t>Executors:</a:t>
            </a:r>
          </a:p>
        </p:txBody>
      </p:sp>
      <p:sp>
        <p:nvSpPr>
          <p:cNvPr id="8" name="TextBox 7"/>
          <p:cNvSpPr txBox="1"/>
          <p:nvPr/>
        </p:nvSpPr>
        <p:spPr>
          <a:xfrm>
            <a:off x="1828800" y="1691640"/>
            <a:ext cx="2560320" cy="228600"/>
          </a:xfrm>
          <a:prstGeom prst="rect">
            <a:avLst/>
          </a:prstGeom>
          <a:noFill/>
        </p:spPr>
        <p:txBody>
          <a:bodyPr wrap="square" anchor="t"/>
          <a:lstStyle/>
          <a:p>
            <a:pPr algn="l">
              <a:defRPr sz="1000" b="0">
                <a:solidFill>
                  <a:srgbClr val="555555"/>
                </a:solidFill>
                <a:latin typeface="Arial"/>
              </a:defRPr>
            </a:pPr>
            <a:r>
              <a:t>rag_worker, utility, data_analyst, general, graph_manager, verifier</a:t>
            </a:r>
          </a:p>
        </p:txBody>
      </p:sp>
      <p:sp>
        <p:nvSpPr>
          <p:cNvPr id="9" name="TextBox 8"/>
          <p:cNvSpPr txBox="1"/>
          <p:nvPr/>
        </p:nvSpPr>
        <p:spPr>
          <a:xfrm>
            <a:off x="502920" y="2011680"/>
            <a:ext cx="1371600" cy="228600"/>
          </a:xfrm>
          <a:prstGeom prst="rect">
            <a:avLst/>
          </a:prstGeom>
          <a:noFill/>
        </p:spPr>
        <p:txBody>
          <a:bodyPr wrap="square" anchor="t"/>
          <a:lstStyle/>
          <a:p>
            <a:pPr algn="l">
              <a:defRPr sz="1100" b="1">
                <a:solidFill>
                  <a:srgbClr val="333333"/>
                </a:solidFill>
                <a:latin typeface="Arial"/>
              </a:defRPr>
            </a:pPr>
            <a:r>
              <a:t>Modes:</a:t>
            </a:r>
          </a:p>
        </p:txBody>
      </p:sp>
      <p:sp>
        <p:nvSpPr>
          <p:cNvPr id="10" name="TextBox 9"/>
          <p:cNvSpPr txBox="1"/>
          <p:nvPr/>
        </p:nvSpPr>
        <p:spPr>
          <a:xfrm>
            <a:off x="1828800" y="2011680"/>
            <a:ext cx="2560320" cy="228600"/>
          </a:xfrm>
          <a:prstGeom prst="rect">
            <a:avLst/>
          </a:prstGeom>
          <a:noFill/>
        </p:spPr>
        <p:txBody>
          <a:bodyPr wrap="square" anchor="t"/>
          <a:lstStyle/>
          <a:p>
            <a:pPr algn="l">
              <a:defRPr sz="1000" b="0">
                <a:solidFill>
                  <a:srgbClr val="555555"/>
                </a:solidFill>
                <a:latin typeface="Arial"/>
              </a:defRPr>
            </a:pPr>
            <a:r>
              <a:t>sequential or parallel execution</a:t>
            </a:r>
          </a:p>
        </p:txBody>
      </p:sp>
      <p:sp>
        <p:nvSpPr>
          <p:cNvPr id="11" name="TextBox 10"/>
          <p:cNvSpPr txBox="1"/>
          <p:nvPr/>
        </p:nvSpPr>
        <p:spPr>
          <a:xfrm>
            <a:off x="502920" y="2331720"/>
            <a:ext cx="1371600" cy="228600"/>
          </a:xfrm>
          <a:prstGeom prst="rect">
            <a:avLst/>
          </a:prstGeom>
          <a:noFill/>
        </p:spPr>
        <p:txBody>
          <a:bodyPr wrap="square" anchor="t"/>
          <a:lstStyle/>
          <a:p>
            <a:pPr algn="l">
              <a:defRPr sz="1100" b="1">
                <a:solidFill>
                  <a:srgbClr val="333333"/>
                </a:solidFill>
                <a:latin typeface="Arial"/>
              </a:defRPr>
            </a:pPr>
            <a:r>
              <a:t>Terminal States:</a:t>
            </a:r>
          </a:p>
        </p:txBody>
      </p:sp>
      <p:sp>
        <p:nvSpPr>
          <p:cNvPr id="12" name="TextBox 11"/>
          <p:cNvSpPr txBox="1"/>
          <p:nvPr/>
        </p:nvSpPr>
        <p:spPr>
          <a:xfrm>
            <a:off x="1828800" y="2331720"/>
            <a:ext cx="2560320" cy="228600"/>
          </a:xfrm>
          <a:prstGeom prst="rect">
            <a:avLst/>
          </a:prstGeom>
          <a:noFill/>
        </p:spPr>
        <p:txBody>
          <a:bodyPr wrap="square" anchor="t"/>
          <a:lstStyle/>
          <a:p>
            <a:pPr algn="l">
              <a:defRPr sz="1000" b="0">
                <a:solidFill>
                  <a:srgbClr val="555555"/>
                </a:solidFill>
                <a:latin typeface="Arial"/>
              </a:defRPr>
            </a:pPr>
            <a:r>
              <a:t>completed, failed, stopped, waiting_message</a:t>
            </a:r>
          </a:p>
        </p:txBody>
      </p:sp>
      <p:sp>
        <p:nvSpPr>
          <p:cNvPr id="13" name="TextBox 12"/>
          <p:cNvSpPr txBox="1"/>
          <p:nvPr/>
        </p:nvSpPr>
        <p:spPr>
          <a:xfrm>
            <a:off x="502920" y="2651760"/>
            <a:ext cx="1371600" cy="228600"/>
          </a:xfrm>
          <a:prstGeom prst="rect">
            <a:avLst/>
          </a:prstGeom>
          <a:noFill/>
        </p:spPr>
        <p:txBody>
          <a:bodyPr wrap="square" anchor="t"/>
          <a:lstStyle/>
          <a:p>
            <a:pPr algn="l">
              <a:defRPr sz="1100" b="1">
                <a:solidFill>
                  <a:srgbClr val="333333"/>
                </a:solidFill>
                <a:latin typeface="Arial"/>
              </a:defRPr>
            </a:pPr>
            <a:r>
              <a:t>Hints:</a:t>
            </a:r>
          </a:p>
        </p:txBody>
      </p:sp>
      <p:sp>
        <p:nvSpPr>
          <p:cNvPr id="14" name="TextBox 13"/>
          <p:cNvSpPr txBox="1"/>
          <p:nvPr/>
        </p:nvSpPr>
        <p:spPr>
          <a:xfrm>
            <a:off x="1828800" y="2651760"/>
            <a:ext cx="2560320" cy="228600"/>
          </a:xfrm>
          <a:prstGeom prst="rect">
            <a:avLst/>
          </a:prstGeom>
          <a:noFill/>
        </p:spPr>
        <p:txBody>
          <a:bodyPr wrap="square" anchor="t"/>
          <a:lstStyle/>
          <a:p>
            <a:pPr algn="l">
              <a:defRPr sz="1000" b="0">
                <a:solidFill>
                  <a:srgbClr val="555555"/>
                </a:solidFill>
                <a:latin typeface="Arial"/>
              </a:defRPr>
            </a:pPr>
            <a:r>
              <a:t>research_profile, coverage_goal, result_mode, answer_mode</a:t>
            </a:r>
          </a:p>
        </p:txBody>
      </p:sp>
      <p:sp>
        <p:nvSpPr>
          <p:cNvPr id="15" name="TextBox 14"/>
          <p:cNvSpPr txBox="1"/>
          <p:nvPr/>
        </p:nvSpPr>
        <p:spPr>
          <a:xfrm>
            <a:off x="4846320" y="1280160"/>
            <a:ext cx="3840480" cy="320040"/>
          </a:xfrm>
          <a:prstGeom prst="rect">
            <a:avLst/>
          </a:prstGeom>
          <a:noFill/>
        </p:spPr>
        <p:txBody>
          <a:bodyPr wrap="square" anchor="t"/>
          <a:lstStyle/>
          <a:p>
            <a:pPr algn="l">
              <a:defRPr sz="1300" b="1">
                <a:solidFill>
                  <a:srgbClr val="FF9800"/>
                </a:solidFill>
                <a:latin typeface="Arial"/>
              </a:defRPr>
            </a:pPr>
            <a:r>
              <a:t>8 ARTIFACT HANDOFF TYPES</a:t>
            </a:r>
          </a:p>
        </p:txBody>
      </p:sp>
      <p:sp>
        <p:nvSpPr>
          <p:cNvPr id="16" name="Rectangle 15"/>
          <p:cNvSpPr/>
          <p:nvPr/>
        </p:nvSpPr>
        <p:spPr>
          <a:xfrm>
            <a:off x="4846320" y="1691640"/>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74920" y="1691640"/>
            <a:ext cx="3566160" cy="201168"/>
          </a:xfrm>
          <a:prstGeom prst="rect">
            <a:avLst/>
          </a:prstGeom>
          <a:noFill/>
        </p:spPr>
        <p:txBody>
          <a:bodyPr wrap="square" anchor="t"/>
          <a:lstStyle/>
          <a:p>
            <a:pPr algn="l">
              <a:defRPr sz="1100" b="0">
                <a:solidFill>
                  <a:srgbClr val="333333"/>
                </a:solidFill>
                <a:latin typeface="Consolas"/>
              </a:defRPr>
            </a:pPr>
            <a:r>
              <a:t>title_candidates</a:t>
            </a:r>
          </a:p>
        </p:txBody>
      </p:sp>
      <p:sp>
        <p:nvSpPr>
          <p:cNvPr id="18" name="Rectangle 17"/>
          <p:cNvSpPr/>
          <p:nvPr/>
        </p:nvSpPr>
        <p:spPr>
          <a:xfrm>
            <a:off x="4846320" y="1947672"/>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74920" y="1947672"/>
            <a:ext cx="3566160" cy="201168"/>
          </a:xfrm>
          <a:prstGeom prst="rect">
            <a:avLst/>
          </a:prstGeom>
          <a:noFill/>
        </p:spPr>
        <p:txBody>
          <a:bodyPr wrap="square" anchor="t"/>
          <a:lstStyle/>
          <a:p>
            <a:pPr algn="l">
              <a:defRPr sz="1100" b="0">
                <a:solidFill>
                  <a:srgbClr val="333333"/>
                </a:solidFill>
                <a:latin typeface="Consolas"/>
              </a:defRPr>
            </a:pPr>
            <a:r>
              <a:t>doc_focus</a:t>
            </a:r>
          </a:p>
        </p:txBody>
      </p:sp>
      <p:sp>
        <p:nvSpPr>
          <p:cNvPr id="20" name="Rectangle 19"/>
          <p:cNvSpPr/>
          <p:nvPr/>
        </p:nvSpPr>
        <p:spPr>
          <a:xfrm>
            <a:off x="4846320" y="2203704"/>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74920" y="2203704"/>
            <a:ext cx="3566160" cy="201168"/>
          </a:xfrm>
          <a:prstGeom prst="rect">
            <a:avLst/>
          </a:prstGeom>
          <a:noFill/>
        </p:spPr>
        <p:txBody>
          <a:bodyPr wrap="square" anchor="t"/>
          <a:lstStyle/>
          <a:p>
            <a:pPr algn="l">
              <a:defRPr sz="1100" b="0">
                <a:solidFill>
                  <a:srgbClr val="333333"/>
                </a:solidFill>
                <a:latin typeface="Consolas"/>
              </a:defRPr>
            </a:pPr>
            <a:r>
              <a:t>research_facets</a:t>
            </a:r>
          </a:p>
        </p:txBody>
      </p:sp>
      <p:sp>
        <p:nvSpPr>
          <p:cNvPr id="22" name="Rectangle 21"/>
          <p:cNvSpPr/>
          <p:nvPr/>
        </p:nvSpPr>
        <p:spPr>
          <a:xfrm>
            <a:off x="4846320" y="2459736"/>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74920" y="2459736"/>
            <a:ext cx="3566160" cy="201168"/>
          </a:xfrm>
          <a:prstGeom prst="rect">
            <a:avLst/>
          </a:prstGeom>
          <a:noFill/>
        </p:spPr>
        <p:txBody>
          <a:bodyPr wrap="square" anchor="t"/>
          <a:lstStyle/>
          <a:p>
            <a:pPr algn="l">
              <a:defRPr sz="1100" b="0">
                <a:solidFill>
                  <a:srgbClr val="333333"/>
                </a:solidFill>
                <a:latin typeface="Consolas"/>
              </a:defRPr>
            </a:pPr>
            <a:r>
              <a:t>facet_matches</a:t>
            </a:r>
          </a:p>
        </p:txBody>
      </p:sp>
      <p:sp>
        <p:nvSpPr>
          <p:cNvPr id="24" name="Rectangle 23"/>
          <p:cNvSpPr/>
          <p:nvPr/>
        </p:nvSpPr>
        <p:spPr>
          <a:xfrm>
            <a:off x="4846320" y="2715768"/>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074920" y="2715768"/>
            <a:ext cx="3566160" cy="201168"/>
          </a:xfrm>
          <a:prstGeom prst="rect">
            <a:avLst/>
          </a:prstGeom>
          <a:noFill/>
        </p:spPr>
        <p:txBody>
          <a:bodyPr wrap="square" anchor="t"/>
          <a:lstStyle/>
          <a:p>
            <a:pPr algn="l">
              <a:defRPr sz="1100" b="0">
                <a:solidFill>
                  <a:srgbClr val="333333"/>
                </a:solidFill>
                <a:latin typeface="Consolas"/>
              </a:defRPr>
            </a:pPr>
            <a:r>
              <a:t>doc_digest</a:t>
            </a:r>
          </a:p>
        </p:txBody>
      </p:sp>
      <p:sp>
        <p:nvSpPr>
          <p:cNvPr id="26" name="Rectangle 25"/>
          <p:cNvSpPr/>
          <p:nvPr/>
        </p:nvSpPr>
        <p:spPr>
          <a:xfrm>
            <a:off x="4846320" y="2971800"/>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074920" y="2971800"/>
            <a:ext cx="3566160" cy="201168"/>
          </a:xfrm>
          <a:prstGeom prst="rect">
            <a:avLst/>
          </a:prstGeom>
          <a:noFill/>
        </p:spPr>
        <p:txBody>
          <a:bodyPr wrap="square" anchor="t"/>
          <a:lstStyle/>
          <a:p>
            <a:pPr algn="l">
              <a:defRPr sz="1100" b="0">
                <a:solidFill>
                  <a:srgbClr val="333333"/>
                </a:solidFill>
                <a:latin typeface="Consolas"/>
              </a:defRPr>
            </a:pPr>
            <a:r>
              <a:t>subsystem_inventory</a:t>
            </a:r>
          </a:p>
        </p:txBody>
      </p:sp>
      <p:sp>
        <p:nvSpPr>
          <p:cNvPr id="28" name="Rectangle 27"/>
          <p:cNvSpPr/>
          <p:nvPr/>
        </p:nvSpPr>
        <p:spPr>
          <a:xfrm>
            <a:off x="4846320" y="3227832"/>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74920" y="3227832"/>
            <a:ext cx="3566160" cy="201168"/>
          </a:xfrm>
          <a:prstGeom prst="rect">
            <a:avLst/>
          </a:prstGeom>
          <a:noFill/>
        </p:spPr>
        <p:txBody>
          <a:bodyPr wrap="square" anchor="t"/>
          <a:lstStyle/>
          <a:p>
            <a:pPr algn="l">
              <a:defRPr sz="1100" b="0">
                <a:solidFill>
                  <a:srgbClr val="333333"/>
                </a:solidFill>
                <a:latin typeface="Consolas"/>
              </a:defRPr>
            </a:pPr>
            <a:r>
              <a:t>policy_guidance_matches</a:t>
            </a:r>
          </a:p>
        </p:txBody>
      </p:sp>
      <p:sp>
        <p:nvSpPr>
          <p:cNvPr id="30" name="Rectangle 29"/>
          <p:cNvSpPr/>
          <p:nvPr/>
        </p:nvSpPr>
        <p:spPr>
          <a:xfrm>
            <a:off x="4846320" y="3483864"/>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74920" y="3483864"/>
            <a:ext cx="3566160" cy="201168"/>
          </a:xfrm>
          <a:prstGeom prst="rect">
            <a:avLst/>
          </a:prstGeom>
          <a:noFill/>
        </p:spPr>
        <p:txBody>
          <a:bodyPr wrap="square" anchor="t"/>
          <a:lstStyle/>
          <a:p>
            <a:pPr algn="l">
              <a:defRPr sz="1100" b="0">
                <a:solidFill>
                  <a:srgbClr val="333333"/>
                </a:solidFill>
                <a:latin typeface="Consolas"/>
              </a:defRPr>
            </a:pPr>
            <a:r>
              <a:t>buyer_recommendation_table</a:t>
            </a:r>
          </a:p>
        </p:txBody>
      </p:sp>
      <p:sp>
        <p:nvSpPr>
          <p:cNvPr id="32" name="Rectangle 31"/>
          <p:cNvSpPr/>
          <p:nvPr/>
        </p:nvSpPr>
        <p:spPr>
          <a:xfrm>
            <a:off x="502920" y="3840480"/>
            <a:ext cx="8138160"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3931920"/>
            <a:ext cx="7680960" cy="320040"/>
          </a:xfrm>
          <a:prstGeom prst="rect">
            <a:avLst/>
          </a:prstGeom>
          <a:noFill/>
        </p:spPr>
        <p:txBody>
          <a:bodyPr wrap="square" anchor="t"/>
          <a:lstStyle/>
          <a:p>
            <a:pPr algn="l">
              <a:defRPr sz="1200" b="1">
                <a:solidFill>
                  <a:srgbClr val="0097A7"/>
                </a:solidFill>
                <a:latin typeface="Arial"/>
              </a:defRPr>
            </a:pPr>
            <a:r>
              <a:t>DOCUMENT RANKING KEYS</a:t>
            </a:r>
          </a:p>
        </p:txBody>
      </p:sp>
      <p:sp>
        <p:nvSpPr>
          <p:cNvPr id="34" name="TextBox 33"/>
          <p:cNvSpPr txBox="1"/>
          <p:nvPr/>
        </p:nvSpPr>
        <p:spPr>
          <a:xfrm>
            <a:off x="731520" y="4251960"/>
            <a:ext cx="7680960" cy="457200"/>
          </a:xfrm>
          <a:prstGeom prst="rect">
            <a:avLst/>
          </a:prstGeom>
          <a:noFill/>
        </p:spPr>
        <p:txBody>
          <a:bodyPr wrap="square" anchor="t"/>
          <a:lstStyle/>
          <a:p>
            <a:pPr algn="l">
              <a:defRPr sz="1100" b="0">
                <a:solidFill>
                  <a:srgbClr val="CCCCCC"/>
                </a:solidFill>
                <a:latin typeface="Consolas"/>
              </a:defRPr>
            </a:pPr>
            <a:r>
              <a:t>is_meta_document  |  reviewed_relevance  |  matched_facets  |  strong_evidence_count  |  title_path_score  |  seed_hits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Storage &amp; Blob Store (storage/)</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Multi-backend blob storage abstraction for documents, artifacts, and signed downloads</a:t>
            </a:r>
          </a:p>
        </p:txBody>
      </p:sp>
      <p:sp>
        <p:nvSpPr>
          <p:cNvPr id="6" name="Rectangle 5"/>
          <p:cNvSpPr/>
          <p:nvPr/>
        </p:nvSpPr>
        <p:spPr>
          <a:xfrm>
            <a:off x="1371600" y="1371600"/>
            <a:ext cx="6400800" cy="18288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371600" y="1371600"/>
            <a:ext cx="54864" cy="182880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45920" y="1463040"/>
            <a:ext cx="5943600" cy="320040"/>
          </a:xfrm>
          <a:prstGeom prst="rect">
            <a:avLst/>
          </a:prstGeom>
          <a:noFill/>
        </p:spPr>
        <p:txBody>
          <a:bodyPr wrap="square" anchor="t"/>
          <a:lstStyle/>
          <a:p>
            <a:pPr algn="l">
              <a:defRPr sz="1600" b="1">
                <a:solidFill>
                  <a:srgbClr val="FFFFFF"/>
                </a:solidFill>
                <a:latin typeface="Arial"/>
              </a:defRPr>
            </a:pPr>
            <a:r>
              <a:t>BlobRef Dataclass</a:t>
            </a:r>
          </a:p>
        </p:txBody>
      </p:sp>
      <p:sp>
        <p:nvSpPr>
          <p:cNvPr id="9" name="TextBox 8"/>
          <p:cNvSpPr txBox="1"/>
          <p:nvPr/>
        </p:nvSpPr>
        <p:spPr>
          <a:xfrm>
            <a:off x="1737360" y="1874519"/>
            <a:ext cx="2011680" cy="228600"/>
          </a:xfrm>
          <a:prstGeom prst="rect">
            <a:avLst/>
          </a:prstGeom>
          <a:noFill/>
        </p:spPr>
        <p:txBody>
          <a:bodyPr wrap="square" anchor="t"/>
          <a:lstStyle/>
          <a:p>
            <a:pPr algn="l">
              <a:defRPr sz="1200" b="1">
                <a:solidFill>
                  <a:srgbClr val="0097A7"/>
                </a:solidFill>
                <a:latin typeface="Consolas"/>
              </a:defRPr>
            </a:pPr>
            <a:r>
              <a:t>backend</a:t>
            </a:r>
          </a:p>
        </p:txBody>
      </p:sp>
      <p:sp>
        <p:nvSpPr>
          <p:cNvPr id="10" name="TextBox 9"/>
          <p:cNvSpPr txBox="1"/>
          <p:nvPr/>
        </p:nvSpPr>
        <p:spPr>
          <a:xfrm>
            <a:off x="3840480" y="1874519"/>
            <a:ext cx="3657600" cy="228600"/>
          </a:xfrm>
          <a:prstGeom prst="rect">
            <a:avLst/>
          </a:prstGeom>
          <a:noFill/>
        </p:spPr>
        <p:txBody>
          <a:bodyPr wrap="square" anchor="t"/>
          <a:lstStyle/>
          <a:p>
            <a:pPr algn="l">
              <a:defRPr sz="1100" b="0">
                <a:solidFill>
                  <a:srgbClr val="CCCCCC"/>
                </a:solidFill>
                <a:latin typeface="Arial"/>
              </a:defRPr>
            </a:pPr>
            <a:r>
              <a:t>Storage provider (S3, Azure, local)</a:t>
            </a:r>
          </a:p>
        </p:txBody>
      </p:sp>
      <p:sp>
        <p:nvSpPr>
          <p:cNvPr id="11" name="TextBox 10"/>
          <p:cNvSpPr txBox="1"/>
          <p:nvPr/>
        </p:nvSpPr>
        <p:spPr>
          <a:xfrm>
            <a:off x="1737360" y="2148839"/>
            <a:ext cx="2011680" cy="228600"/>
          </a:xfrm>
          <a:prstGeom prst="rect">
            <a:avLst/>
          </a:prstGeom>
          <a:noFill/>
        </p:spPr>
        <p:txBody>
          <a:bodyPr wrap="square" anchor="t"/>
          <a:lstStyle/>
          <a:p>
            <a:pPr algn="l">
              <a:defRPr sz="1200" b="1">
                <a:solidFill>
                  <a:srgbClr val="0097A7"/>
                </a:solidFill>
                <a:latin typeface="Consolas"/>
              </a:defRPr>
            </a:pPr>
            <a:r>
              <a:t>uri</a:t>
            </a:r>
          </a:p>
        </p:txBody>
      </p:sp>
      <p:sp>
        <p:nvSpPr>
          <p:cNvPr id="12" name="TextBox 11"/>
          <p:cNvSpPr txBox="1"/>
          <p:nvPr/>
        </p:nvSpPr>
        <p:spPr>
          <a:xfrm>
            <a:off x="3840480" y="2148839"/>
            <a:ext cx="3657600" cy="228600"/>
          </a:xfrm>
          <a:prstGeom prst="rect">
            <a:avLst/>
          </a:prstGeom>
          <a:noFill/>
        </p:spPr>
        <p:txBody>
          <a:bodyPr wrap="square" anchor="t"/>
          <a:lstStyle/>
          <a:p>
            <a:pPr algn="l">
              <a:defRPr sz="1100" b="0">
                <a:solidFill>
                  <a:srgbClr val="CCCCCC"/>
                </a:solidFill>
                <a:latin typeface="Arial"/>
              </a:defRPr>
            </a:pPr>
            <a:r>
              <a:t>Full resource URI</a:t>
            </a:r>
          </a:p>
        </p:txBody>
      </p:sp>
      <p:sp>
        <p:nvSpPr>
          <p:cNvPr id="13" name="TextBox 12"/>
          <p:cNvSpPr txBox="1"/>
          <p:nvPr/>
        </p:nvSpPr>
        <p:spPr>
          <a:xfrm>
            <a:off x="1737360" y="2423159"/>
            <a:ext cx="2011680" cy="228600"/>
          </a:xfrm>
          <a:prstGeom prst="rect">
            <a:avLst/>
          </a:prstGeom>
          <a:noFill/>
        </p:spPr>
        <p:txBody>
          <a:bodyPr wrap="square" anchor="t"/>
          <a:lstStyle/>
          <a:p>
            <a:pPr algn="l">
              <a:defRPr sz="1200" b="1">
                <a:solidFill>
                  <a:srgbClr val="0097A7"/>
                </a:solidFill>
                <a:latin typeface="Consolas"/>
              </a:defRPr>
            </a:pPr>
            <a:r>
              <a:t>bucket / key</a:t>
            </a:r>
          </a:p>
        </p:txBody>
      </p:sp>
      <p:sp>
        <p:nvSpPr>
          <p:cNvPr id="14" name="TextBox 13"/>
          <p:cNvSpPr txBox="1"/>
          <p:nvPr/>
        </p:nvSpPr>
        <p:spPr>
          <a:xfrm>
            <a:off x="3840480" y="2423159"/>
            <a:ext cx="3657600" cy="228600"/>
          </a:xfrm>
          <a:prstGeom prst="rect">
            <a:avLst/>
          </a:prstGeom>
          <a:noFill/>
        </p:spPr>
        <p:txBody>
          <a:bodyPr wrap="square" anchor="t"/>
          <a:lstStyle/>
          <a:p>
            <a:pPr algn="l">
              <a:defRPr sz="1100" b="0">
                <a:solidFill>
                  <a:srgbClr val="CCCCCC"/>
                </a:solidFill>
                <a:latin typeface="Arial"/>
              </a:defRPr>
            </a:pPr>
            <a:r>
              <a:t>Bucket name + object key</a:t>
            </a:r>
          </a:p>
        </p:txBody>
      </p:sp>
      <p:sp>
        <p:nvSpPr>
          <p:cNvPr id="15" name="TextBox 14"/>
          <p:cNvSpPr txBox="1"/>
          <p:nvPr/>
        </p:nvSpPr>
        <p:spPr>
          <a:xfrm>
            <a:off x="1737360" y="2697479"/>
            <a:ext cx="2011680" cy="228600"/>
          </a:xfrm>
          <a:prstGeom prst="rect">
            <a:avLst/>
          </a:prstGeom>
          <a:noFill/>
        </p:spPr>
        <p:txBody>
          <a:bodyPr wrap="square" anchor="t"/>
          <a:lstStyle/>
          <a:p>
            <a:pPr algn="l">
              <a:defRPr sz="1200" b="1">
                <a:solidFill>
                  <a:srgbClr val="0097A7"/>
                </a:solidFill>
                <a:latin typeface="Consolas"/>
              </a:defRPr>
            </a:pPr>
            <a:r>
              <a:t>etag / sha1</a:t>
            </a:r>
          </a:p>
        </p:txBody>
      </p:sp>
      <p:sp>
        <p:nvSpPr>
          <p:cNvPr id="16" name="TextBox 15"/>
          <p:cNvSpPr txBox="1"/>
          <p:nvPr/>
        </p:nvSpPr>
        <p:spPr>
          <a:xfrm>
            <a:off x="3840480" y="2697479"/>
            <a:ext cx="3657600" cy="228600"/>
          </a:xfrm>
          <a:prstGeom prst="rect">
            <a:avLst/>
          </a:prstGeom>
          <a:noFill/>
        </p:spPr>
        <p:txBody>
          <a:bodyPr wrap="square" anchor="t"/>
          <a:lstStyle/>
          <a:p>
            <a:pPr algn="l">
              <a:defRPr sz="1100" b="0">
                <a:solidFill>
                  <a:srgbClr val="CCCCCC"/>
                </a:solidFill>
                <a:latin typeface="Arial"/>
              </a:defRPr>
            </a:pPr>
            <a:r>
              <a:t>Content integrity hashes</a:t>
            </a:r>
          </a:p>
        </p:txBody>
      </p:sp>
      <p:sp>
        <p:nvSpPr>
          <p:cNvPr id="17" name="TextBox 16"/>
          <p:cNvSpPr txBox="1"/>
          <p:nvPr/>
        </p:nvSpPr>
        <p:spPr>
          <a:xfrm>
            <a:off x="1737360" y="2971799"/>
            <a:ext cx="2011680" cy="228600"/>
          </a:xfrm>
          <a:prstGeom prst="rect">
            <a:avLst/>
          </a:prstGeom>
          <a:noFill/>
        </p:spPr>
        <p:txBody>
          <a:bodyPr wrap="square" anchor="t"/>
          <a:lstStyle/>
          <a:p>
            <a:pPr algn="l">
              <a:defRPr sz="1200" b="1">
                <a:solidFill>
                  <a:srgbClr val="0097A7"/>
                </a:solidFill>
                <a:latin typeface="Consolas"/>
              </a:defRPr>
            </a:pPr>
            <a:r>
              <a:t>size / content_type</a:t>
            </a:r>
          </a:p>
        </p:txBody>
      </p:sp>
      <p:sp>
        <p:nvSpPr>
          <p:cNvPr id="18" name="TextBox 17"/>
          <p:cNvSpPr txBox="1"/>
          <p:nvPr/>
        </p:nvSpPr>
        <p:spPr>
          <a:xfrm>
            <a:off x="3840480" y="2971799"/>
            <a:ext cx="3657600" cy="228600"/>
          </a:xfrm>
          <a:prstGeom prst="rect">
            <a:avLst/>
          </a:prstGeom>
          <a:noFill/>
        </p:spPr>
        <p:txBody>
          <a:bodyPr wrap="square" anchor="t"/>
          <a:lstStyle/>
          <a:p>
            <a:pPr algn="l">
              <a:defRPr sz="1100" b="0">
                <a:solidFill>
                  <a:srgbClr val="CCCCCC"/>
                </a:solidFill>
                <a:latin typeface="Arial"/>
              </a:defRPr>
            </a:pPr>
            <a:r>
              <a:t>Byte size + MIME type</a:t>
            </a:r>
          </a:p>
        </p:txBody>
      </p:sp>
      <p:sp>
        <p:nvSpPr>
          <p:cNvPr id="19" name="Rectangle 18"/>
          <p:cNvSpPr/>
          <p:nvPr/>
        </p:nvSpPr>
        <p:spPr>
          <a:xfrm>
            <a:off x="1371600" y="3520440"/>
            <a:ext cx="2011680" cy="64008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508760" y="3566160"/>
            <a:ext cx="1737360" cy="228600"/>
          </a:xfrm>
          <a:prstGeom prst="rect">
            <a:avLst/>
          </a:prstGeom>
          <a:noFill/>
        </p:spPr>
        <p:txBody>
          <a:bodyPr wrap="square" anchor="t"/>
          <a:lstStyle/>
          <a:p>
            <a:pPr algn="ctr">
              <a:defRPr sz="1300" b="1">
                <a:solidFill>
                  <a:srgbClr val="FFFFFF"/>
                </a:solidFill>
                <a:latin typeface="Arial"/>
              </a:defRPr>
            </a:pPr>
            <a:r>
              <a:t>S3</a:t>
            </a:r>
          </a:p>
        </p:txBody>
      </p:sp>
      <p:sp>
        <p:nvSpPr>
          <p:cNvPr id="21" name="TextBox 20"/>
          <p:cNvSpPr txBox="1"/>
          <p:nvPr/>
        </p:nvSpPr>
        <p:spPr>
          <a:xfrm>
            <a:off x="1508760" y="3822191"/>
            <a:ext cx="1737360" cy="228600"/>
          </a:xfrm>
          <a:prstGeom prst="rect">
            <a:avLst/>
          </a:prstGeom>
          <a:noFill/>
        </p:spPr>
        <p:txBody>
          <a:bodyPr wrap="square" anchor="t"/>
          <a:lstStyle/>
          <a:p>
            <a:pPr algn="ctr">
              <a:defRPr sz="1000" b="0">
                <a:solidFill>
                  <a:srgbClr val="EEEEEE"/>
                </a:solidFill>
                <a:latin typeface="Arial"/>
              </a:defRPr>
            </a:pPr>
            <a:r>
              <a:t>Amazon S3 compatible</a:t>
            </a:r>
          </a:p>
        </p:txBody>
      </p:sp>
      <p:sp>
        <p:nvSpPr>
          <p:cNvPr id="22" name="Rectangle 21"/>
          <p:cNvSpPr/>
          <p:nvPr/>
        </p:nvSpPr>
        <p:spPr>
          <a:xfrm>
            <a:off x="3566160" y="3520440"/>
            <a:ext cx="2011680" cy="640080"/>
          </a:xfrm>
          <a:prstGeom prst="rect">
            <a:avLst/>
          </a:prstGeom>
          <a:solidFill>
            <a:srgbClr val="42A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03320" y="3566160"/>
            <a:ext cx="1737360" cy="228600"/>
          </a:xfrm>
          <a:prstGeom prst="rect">
            <a:avLst/>
          </a:prstGeom>
          <a:noFill/>
        </p:spPr>
        <p:txBody>
          <a:bodyPr wrap="square" anchor="t"/>
          <a:lstStyle/>
          <a:p>
            <a:pPr algn="ctr">
              <a:defRPr sz="1300" b="1">
                <a:solidFill>
                  <a:srgbClr val="FFFFFF"/>
                </a:solidFill>
                <a:latin typeface="Arial"/>
              </a:defRPr>
            </a:pPr>
            <a:r>
              <a:t>Azure Blob</a:t>
            </a:r>
          </a:p>
        </p:txBody>
      </p:sp>
      <p:sp>
        <p:nvSpPr>
          <p:cNvPr id="24" name="TextBox 23"/>
          <p:cNvSpPr txBox="1"/>
          <p:nvPr/>
        </p:nvSpPr>
        <p:spPr>
          <a:xfrm>
            <a:off x="3703320" y="3822191"/>
            <a:ext cx="1737360" cy="228600"/>
          </a:xfrm>
          <a:prstGeom prst="rect">
            <a:avLst/>
          </a:prstGeom>
          <a:noFill/>
        </p:spPr>
        <p:txBody>
          <a:bodyPr wrap="square" anchor="t"/>
          <a:lstStyle/>
          <a:p>
            <a:pPr algn="ctr">
              <a:defRPr sz="1000" b="0">
                <a:solidFill>
                  <a:srgbClr val="EEEEEE"/>
                </a:solidFill>
                <a:latin typeface="Arial"/>
              </a:defRPr>
            </a:pPr>
            <a:r>
              <a:t>Azure storage accounts</a:t>
            </a:r>
          </a:p>
        </p:txBody>
      </p:sp>
      <p:sp>
        <p:nvSpPr>
          <p:cNvPr id="25" name="Rectangle 24"/>
          <p:cNvSpPr/>
          <p:nvPr/>
        </p:nvSpPr>
        <p:spPr>
          <a:xfrm>
            <a:off x="5760720" y="3520440"/>
            <a:ext cx="2011680" cy="64008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97880" y="3566160"/>
            <a:ext cx="1737360" cy="228600"/>
          </a:xfrm>
          <a:prstGeom prst="rect">
            <a:avLst/>
          </a:prstGeom>
          <a:noFill/>
        </p:spPr>
        <p:txBody>
          <a:bodyPr wrap="square" anchor="t"/>
          <a:lstStyle/>
          <a:p>
            <a:pPr algn="ctr">
              <a:defRPr sz="1300" b="1">
                <a:solidFill>
                  <a:srgbClr val="FFFFFF"/>
                </a:solidFill>
                <a:latin typeface="Arial"/>
              </a:defRPr>
            </a:pPr>
            <a:r>
              <a:t>Local FS</a:t>
            </a:r>
          </a:p>
        </p:txBody>
      </p:sp>
      <p:sp>
        <p:nvSpPr>
          <p:cNvPr id="27" name="TextBox 26"/>
          <p:cNvSpPr txBox="1"/>
          <p:nvPr/>
        </p:nvSpPr>
        <p:spPr>
          <a:xfrm>
            <a:off x="5897880" y="3822191"/>
            <a:ext cx="1737360" cy="228600"/>
          </a:xfrm>
          <a:prstGeom prst="rect">
            <a:avLst/>
          </a:prstGeom>
          <a:noFill/>
        </p:spPr>
        <p:txBody>
          <a:bodyPr wrap="square" anchor="t"/>
          <a:lstStyle/>
          <a:p>
            <a:pPr algn="ctr">
              <a:defRPr sz="1000" b="0">
                <a:solidFill>
                  <a:srgbClr val="EEEEEE"/>
                </a:solidFill>
                <a:latin typeface="Arial"/>
              </a:defRPr>
            </a:pPr>
            <a:r>
              <a:t>File-based development</a:t>
            </a:r>
          </a:p>
        </p:txBody>
      </p:sp>
      <p:sp>
        <p:nvSpPr>
          <p:cNvPr id="28" name="TextBox 27"/>
          <p:cNvSpPr txBox="1"/>
          <p:nvPr/>
        </p:nvSpPr>
        <p:spPr>
          <a:xfrm>
            <a:off x="502920" y="4389120"/>
            <a:ext cx="8138160" cy="457200"/>
          </a:xfrm>
          <a:prstGeom prst="rect">
            <a:avLst/>
          </a:prstGeom>
          <a:noFill/>
        </p:spPr>
        <p:txBody>
          <a:bodyPr wrap="square" anchor="t"/>
          <a:lstStyle/>
          <a:p>
            <a:pPr algn="l">
              <a:defRPr sz="1000" b="0">
                <a:solidFill>
                  <a:srgbClr val="888888"/>
                </a:solidFill>
                <a:latin typeface="Arial"/>
              </a:defRPr>
            </a:pPr>
            <a:r>
              <a:t>Used across API for uploaded documents, agent artifacts, and signed downloads (/v1/files/{download_id}). Key sanitization + SHA1 hashing ensure safe, deduplicated storage.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Graph Query Methods &amp; Build Pipeline (graph/)</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4 query methods, phased build pipeline, and 2 backend options</a:t>
            </a:r>
          </a:p>
        </p:txBody>
      </p:sp>
      <p:sp>
        <p:nvSpPr>
          <p:cNvPr id="6" name="Rectangle 5"/>
          <p:cNvSpPr/>
          <p:nvPr/>
        </p:nvSpPr>
        <p:spPr>
          <a:xfrm>
            <a:off x="502920" y="137160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71600"/>
            <a:ext cx="54864" cy="10515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63040"/>
            <a:ext cx="3703319" cy="365760"/>
          </a:xfrm>
          <a:prstGeom prst="rect">
            <a:avLst/>
          </a:prstGeom>
          <a:noFill/>
        </p:spPr>
        <p:txBody>
          <a:bodyPr wrap="square" anchor="t"/>
          <a:lstStyle/>
          <a:p>
            <a:pPr algn="l">
              <a:defRPr sz="1300" b="1">
                <a:solidFill>
                  <a:srgbClr val="FFFFFF"/>
                </a:solidFill>
                <a:latin typeface="Arial"/>
              </a:defRPr>
            </a:pPr>
            <a:r>
              <a:t>LOCAL</a:t>
            </a:r>
          </a:p>
        </p:txBody>
      </p:sp>
      <p:sp>
        <p:nvSpPr>
          <p:cNvPr id="9" name="TextBox 8"/>
          <p:cNvSpPr txBox="1"/>
          <p:nvPr/>
        </p:nvSpPr>
        <p:spPr>
          <a:xfrm>
            <a:off x="685800" y="1828800"/>
            <a:ext cx="3703319" cy="502920"/>
          </a:xfrm>
          <a:prstGeom prst="rect">
            <a:avLst/>
          </a:prstGeom>
          <a:noFill/>
        </p:spPr>
        <p:txBody>
          <a:bodyPr wrap="square" anchor="t"/>
          <a:lstStyle/>
          <a:p>
            <a:pPr algn="l">
              <a:defRPr sz="1000" b="0">
                <a:solidFill>
                  <a:srgbClr val="CCCCCC"/>
                </a:solidFill>
                <a:latin typeface="Arial"/>
              </a:defRPr>
            </a:pPr>
            <a:r>
              <a:t>Entity &amp; relationship queries. Multihop within document clusters. Requires 5 artifacts.</a:t>
            </a:r>
          </a:p>
        </p:txBody>
      </p:sp>
      <p:sp>
        <p:nvSpPr>
          <p:cNvPr id="10" name="Rectangle 9"/>
          <p:cNvSpPr/>
          <p:nvPr/>
        </p:nvSpPr>
        <p:spPr>
          <a:xfrm>
            <a:off x="4709160" y="137160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09160" y="1371600"/>
            <a:ext cx="54864" cy="10515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92040" y="1463040"/>
            <a:ext cx="3703319" cy="365760"/>
          </a:xfrm>
          <a:prstGeom prst="rect">
            <a:avLst/>
          </a:prstGeom>
          <a:noFill/>
        </p:spPr>
        <p:txBody>
          <a:bodyPr wrap="square" anchor="t"/>
          <a:lstStyle/>
          <a:p>
            <a:pPr algn="l">
              <a:defRPr sz="1300" b="1">
                <a:solidFill>
                  <a:srgbClr val="FFFFFF"/>
                </a:solidFill>
                <a:latin typeface="Arial"/>
              </a:defRPr>
            </a:pPr>
            <a:r>
              <a:t>GLOBAL</a:t>
            </a:r>
          </a:p>
        </p:txBody>
      </p:sp>
      <p:sp>
        <p:nvSpPr>
          <p:cNvPr id="13" name="TextBox 12"/>
          <p:cNvSpPr txBox="1"/>
          <p:nvPr/>
        </p:nvSpPr>
        <p:spPr>
          <a:xfrm>
            <a:off x="4892040" y="1828800"/>
            <a:ext cx="3703319" cy="502920"/>
          </a:xfrm>
          <a:prstGeom prst="rect">
            <a:avLst/>
          </a:prstGeom>
          <a:noFill/>
        </p:spPr>
        <p:txBody>
          <a:bodyPr wrap="square" anchor="t"/>
          <a:lstStyle/>
          <a:p>
            <a:pPr algn="l">
              <a:defRPr sz="1000" b="0">
                <a:solidFill>
                  <a:srgbClr val="CCCCCC"/>
                </a:solidFill>
                <a:latin typeface="Arial"/>
              </a:defRPr>
            </a:pPr>
            <a:r>
              <a:t>Corpus-wide summaries and cross-document themes. Requires 3 artifacts.</a:t>
            </a:r>
          </a:p>
        </p:txBody>
      </p:sp>
      <p:sp>
        <p:nvSpPr>
          <p:cNvPr id="14" name="Rectangle 13"/>
          <p:cNvSpPr/>
          <p:nvPr/>
        </p:nvSpPr>
        <p:spPr>
          <a:xfrm>
            <a:off x="502920" y="260604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2606040"/>
            <a:ext cx="54864" cy="105156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2697480"/>
            <a:ext cx="3703319" cy="365760"/>
          </a:xfrm>
          <a:prstGeom prst="rect">
            <a:avLst/>
          </a:prstGeom>
          <a:noFill/>
        </p:spPr>
        <p:txBody>
          <a:bodyPr wrap="square" anchor="t"/>
          <a:lstStyle/>
          <a:p>
            <a:pPr algn="l">
              <a:defRPr sz="1300" b="1">
                <a:solidFill>
                  <a:srgbClr val="FFFFFF"/>
                </a:solidFill>
                <a:latin typeface="Arial"/>
              </a:defRPr>
            </a:pPr>
            <a:r>
              <a:t>DRIFT</a:t>
            </a:r>
          </a:p>
        </p:txBody>
      </p:sp>
      <p:sp>
        <p:nvSpPr>
          <p:cNvPr id="17" name="TextBox 16"/>
          <p:cNvSpPr txBox="1"/>
          <p:nvPr/>
        </p:nvSpPr>
        <p:spPr>
          <a:xfrm>
            <a:off x="685800" y="3063240"/>
            <a:ext cx="3703319" cy="502920"/>
          </a:xfrm>
          <a:prstGeom prst="rect">
            <a:avLst/>
          </a:prstGeom>
          <a:noFill/>
        </p:spPr>
        <p:txBody>
          <a:bodyPr wrap="square" anchor="t"/>
          <a:lstStyle/>
          <a:p>
            <a:pPr algn="l">
              <a:defRPr sz="1000" b="0">
                <a:solidFill>
                  <a:srgbClr val="CCCCCC"/>
                </a:solidFill>
                <a:latin typeface="Arial"/>
              </a:defRPr>
            </a:pPr>
            <a:r>
              <a:t>Temporal change detection and evolution tracking across rebuilds. 5 artifacts.</a:t>
            </a:r>
          </a:p>
        </p:txBody>
      </p:sp>
      <p:sp>
        <p:nvSpPr>
          <p:cNvPr id="18" name="Rectangle 17"/>
          <p:cNvSpPr/>
          <p:nvPr/>
        </p:nvSpPr>
        <p:spPr>
          <a:xfrm>
            <a:off x="4709160" y="260604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709160" y="2606040"/>
            <a:ext cx="54864" cy="1051560"/>
          </a:xfrm>
          <a:prstGeom prst="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892040" y="2697480"/>
            <a:ext cx="3703319" cy="365760"/>
          </a:xfrm>
          <a:prstGeom prst="rect">
            <a:avLst/>
          </a:prstGeom>
          <a:noFill/>
        </p:spPr>
        <p:txBody>
          <a:bodyPr wrap="square" anchor="t"/>
          <a:lstStyle/>
          <a:p>
            <a:pPr algn="l">
              <a:defRPr sz="1300" b="1">
                <a:solidFill>
                  <a:srgbClr val="FFFFFF"/>
                </a:solidFill>
                <a:latin typeface="Arial"/>
              </a:defRPr>
            </a:pPr>
            <a:r>
              <a:t>SQL</a:t>
            </a:r>
          </a:p>
        </p:txBody>
      </p:sp>
      <p:sp>
        <p:nvSpPr>
          <p:cNvPr id="21" name="TextBox 20"/>
          <p:cNvSpPr txBox="1"/>
          <p:nvPr/>
        </p:nvSpPr>
        <p:spPr>
          <a:xfrm>
            <a:off x="4892040" y="3063240"/>
            <a:ext cx="3703319" cy="502920"/>
          </a:xfrm>
          <a:prstGeom prst="rect">
            <a:avLst/>
          </a:prstGeom>
          <a:noFill/>
        </p:spPr>
        <p:txBody>
          <a:bodyPr wrap="square" anchor="t"/>
          <a:lstStyle/>
          <a:p>
            <a:pPr algn="l">
              <a:defRPr sz="1000" b="0">
                <a:solidFill>
                  <a:srgbClr val="CCCCCC"/>
                </a:solidFill>
                <a:latin typeface="Arial"/>
              </a:defRPr>
            </a:pPr>
            <a:r>
              <a:t>Structured queries, exact matches, metadata filtering via StructuredSearchAdapter.</a:t>
            </a:r>
          </a:p>
        </p:txBody>
      </p:sp>
      <p:sp>
        <p:nvSpPr>
          <p:cNvPr id="22" name="TextBox 21"/>
          <p:cNvSpPr txBox="1"/>
          <p:nvPr/>
        </p:nvSpPr>
        <p:spPr>
          <a:xfrm>
            <a:off x="502920" y="3931920"/>
            <a:ext cx="8229600" cy="320040"/>
          </a:xfrm>
          <a:prstGeom prst="rect">
            <a:avLst/>
          </a:prstGeom>
          <a:noFill/>
        </p:spPr>
        <p:txBody>
          <a:bodyPr wrap="square" anchor="t"/>
          <a:lstStyle/>
          <a:p>
            <a:pPr algn="l">
              <a:defRPr sz="1200" b="1">
                <a:solidFill>
                  <a:srgbClr val="1B2A4A"/>
                </a:solidFill>
                <a:latin typeface="Arial"/>
              </a:defRPr>
            </a:pPr>
            <a:r>
              <a:t>PHASED BUILD PIPELINE</a:t>
            </a:r>
          </a:p>
        </p:txBody>
      </p:sp>
      <p:sp>
        <p:nvSpPr>
          <p:cNvPr id="23" name="Rectangle 22"/>
          <p:cNvSpPr/>
          <p:nvPr/>
        </p:nvSpPr>
        <p:spPr>
          <a:xfrm>
            <a:off x="502920" y="4297680"/>
            <a:ext cx="2560320" cy="5943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4343400"/>
            <a:ext cx="2286000" cy="201168"/>
          </a:xfrm>
          <a:prstGeom prst="rect">
            <a:avLst/>
          </a:prstGeom>
          <a:noFill/>
        </p:spPr>
        <p:txBody>
          <a:bodyPr wrap="square" anchor="t"/>
          <a:lstStyle/>
          <a:p>
            <a:pPr algn="l">
              <a:defRPr sz="1100" b="1">
                <a:solidFill>
                  <a:srgbClr val="0097A7"/>
                </a:solidFill>
                <a:latin typeface="Arial"/>
              </a:defRPr>
            </a:pPr>
            <a:r>
              <a:t>Phase 1</a:t>
            </a:r>
          </a:p>
        </p:txBody>
      </p:sp>
      <p:sp>
        <p:nvSpPr>
          <p:cNvPr id="25" name="TextBox 24"/>
          <p:cNvSpPr txBox="1"/>
          <p:nvPr/>
        </p:nvSpPr>
        <p:spPr>
          <a:xfrm>
            <a:off x="640080" y="4572000"/>
            <a:ext cx="2286000" cy="274320"/>
          </a:xfrm>
          <a:prstGeom prst="rect">
            <a:avLst/>
          </a:prstGeom>
          <a:noFill/>
        </p:spPr>
        <p:txBody>
          <a:bodyPr wrap="square" anchor="t"/>
          <a:lstStyle/>
          <a:p>
            <a:pPr algn="l">
              <a:defRPr sz="1000" b="0">
                <a:solidFill>
                  <a:srgbClr val="CCCCCC"/>
                </a:solidFill>
                <a:latin typeface="Arial"/>
              </a:defRPr>
            </a:pPr>
            <a:r>
              <a:t>Entity/Relationship Extraction via LLM</a:t>
            </a:r>
          </a:p>
        </p:txBody>
      </p:sp>
      <p:sp>
        <p:nvSpPr>
          <p:cNvPr id="26" name="Rectangle 25"/>
          <p:cNvSpPr/>
          <p:nvPr/>
        </p:nvSpPr>
        <p:spPr>
          <a:xfrm>
            <a:off x="3291840" y="4297680"/>
            <a:ext cx="2560320" cy="5943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29000" y="4343400"/>
            <a:ext cx="2286000" cy="201168"/>
          </a:xfrm>
          <a:prstGeom prst="rect">
            <a:avLst/>
          </a:prstGeom>
          <a:noFill/>
        </p:spPr>
        <p:txBody>
          <a:bodyPr wrap="square" anchor="t"/>
          <a:lstStyle/>
          <a:p>
            <a:pPr algn="l">
              <a:defRPr sz="1100" b="1">
                <a:solidFill>
                  <a:srgbClr val="0097A7"/>
                </a:solidFill>
                <a:latin typeface="Arial"/>
              </a:defRPr>
            </a:pPr>
            <a:r>
              <a:t>Phase 2</a:t>
            </a:r>
          </a:p>
        </p:txBody>
      </p:sp>
      <p:sp>
        <p:nvSpPr>
          <p:cNvPr id="28" name="TextBox 27"/>
          <p:cNvSpPr txBox="1"/>
          <p:nvPr/>
        </p:nvSpPr>
        <p:spPr>
          <a:xfrm>
            <a:off x="3429000" y="4572000"/>
            <a:ext cx="2286000" cy="274320"/>
          </a:xfrm>
          <a:prstGeom prst="rect">
            <a:avLst/>
          </a:prstGeom>
          <a:noFill/>
        </p:spPr>
        <p:txBody>
          <a:bodyPr wrap="square" anchor="t"/>
          <a:lstStyle/>
          <a:p>
            <a:pPr algn="l">
              <a:defRPr sz="1000" b="0">
                <a:solidFill>
                  <a:srgbClr val="CCCCCC"/>
                </a:solidFill>
                <a:latin typeface="Arial"/>
              </a:defRPr>
            </a:pPr>
            <a:r>
              <a:t>Community Detection (native or text-based fallback)</a:t>
            </a:r>
          </a:p>
        </p:txBody>
      </p:sp>
      <p:sp>
        <p:nvSpPr>
          <p:cNvPr id="29" name="Rectangle 28"/>
          <p:cNvSpPr/>
          <p:nvPr/>
        </p:nvSpPr>
        <p:spPr>
          <a:xfrm>
            <a:off x="6080760" y="4297680"/>
            <a:ext cx="2560320" cy="5943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17920" y="4343400"/>
            <a:ext cx="2286000" cy="201168"/>
          </a:xfrm>
          <a:prstGeom prst="rect">
            <a:avLst/>
          </a:prstGeom>
          <a:noFill/>
        </p:spPr>
        <p:txBody>
          <a:bodyPr wrap="square" anchor="t"/>
          <a:lstStyle/>
          <a:p>
            <a:pPr algn="l">
              <a:defRPr sz="1100" b="1">
                <a:solidFill>
                  <a:srgbClr val="0097A7"/>
                </a:solidFill>
                <a:latin typeface="Arial"/>
              </a:defRPr>
            </a:pPr>
            <a:r>
              <a:t>Phase 3</a:t>
            </a:r>
          </a:p>
        </p:txBody>
      </p:sp>
      <p:sp>
        <p:nvSpPr>
          <p:cNvPr id="31" name="TextBox 30"/>
          <p:cNvSpPr txBox="1"/>
          <p:nvPr/>
        </p:nvSpPr>
        <p:spPr>
          <a:xfrm>
            <a:off x="6217920" y="4572000"/>
            <a:ext cx="2286000" cy="274320"/>
          </a:xfrm>
          <a:prstGeom prst="rect">
            <a:avLst/>
          </a:prstGeom>
          <a:noFill/>
        </p:spPr>
        <p:txBody>
          <a:bodyPr wrap="square" anchor="t"/>
          <a:lstStyle/>
          <a:p>
            <a:pPr algn="l">
              <a:defRPr sz="1000" b="0">
                <a:solidFill>
                  <a:srgbClr val="CCCCCC"/>
                </a:solidFill>
                <a:latin typeface="Arial"/>
              </a:defRPr>
            </a:pPr>
            <a:r>
              <a:t>Embedding &amp; Indexing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Configuration &amp; Tuning Defaults (config.py)</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300+ configuration variables in config.py with fine-grained subsystem tuning</a:t>
            </a:r>
          </a:p>
        </p:txBody>
      </p:sp>
      <p:sp>
        <p:nvSpPr>
          <p:cNvPr id="6" name="TextBox 5"/>
          <p:cNvSpPr txBox="1"/>
          <p:nvPr/>
        </p:nvSpPr>
        <p:spPr>
          <a:xfrm>
            <a:off x="502920" y="1280160"/>
            <a:ext cx="3931920" cy="320040"/>
          </a:xfrm>
          <a:prstGeom prst="rect">
            <a:avLst/>
          </a:prstGeom>
          <a:noFill/>
        </p:spPr>
        <p:txBody>
          <a:bodyPr wrap="square" anchor="t"/>
          <a:lstStyle/>
          <a:p>
            <a:pPr algn="l">
              <a:defRPr sz="1300" b="1">
                <a:solidFill>
                  <a:srgbClr val="0097A7"/>
                </a:solidFill>
                <a:latin typeface="Arial"/>
              </a:defRPr>
            </a:pPr>
            <a:r>
              <a:t>CONTEXT BUDGET</a:t>
            </a:r>
          </a:p>
        </p:txBody>
      </p:sp>
      <p:sp>
        <p:nvSpPr>
          <p:cNvPr id="7" name="TextBox 6"/>
          <p:cNvSpPr txBox="1"/>
          <p:nvPr/>
        </p:nvSpPr>
        <p:spPr>
          <a:xfrm>
            <a:off x="502920" y="1691640"/>
            <a:ext cx="2377440" cy="201168"/>
          </a:xfrm>
          <a:prstGeom prst="rect">
            <a:avLst/>
          </a:prstGeom>
          <a:noFill/>
        </p:spPr>
        <p:txBody>
          <a:bodyPr wrap="square" anchor="t"/>
          <a:lstStyle/>
          <a:p>
            <a:pPr algn="l">
              <a:defRPr sz="1000" b="0">
                <a:solidFill>
                  <a:srgbClr val="444444"/>
                </a:solidFill>
                <a:latin typeface="Consolas"/>
              </a:defRPr>
            </a:pPr>
            <a:r>
              <a:t>context_window_tokens</a:t>
            </a:r>
          </a:p>
        </p:txBody>
      </p:sp>
      <p:sp>
        <p:nvSpPr>
          <p:cNvPr id="8" name="TextBox 7"/>
          <p:cNvSpPr txBox="1"/>
          <p:nvPr/>
        </p:nvSpPr>
        <p:spPr>
          <a:xfrm>
            <a:off x="2926080" y="1691640"/>
            <a:ext cx="1188720" cy="201168"/>
          </a:xfrm>
          <a:prstGeom prst="rect">
            <a:avLst/>
          </a:prstGeom>
          <a:noFill/>
        </p:spPr>
        <p:txBody>
          <a:bodyPr wrap="square" anchor="t"/>
          <a:lstStyle/>
          <a:p>
            <a:pPr algn="l">
              <a:defRPr sz="1000" b="1">
                <a:solidFill>
                  <a:srgbClr val="0097A7"/>
                </a:solidFill>
                <a:latin typeface="Consolas"/>
              </a:defRPr>
            </a:pPr>
            <a:r>
              <a:t>32,768</a:t>
            </a:r>
          </a:p>
        </p:txBody>
      </p:sp>
      <p:sp>
        <p:nvSpPr>
          <p:cNvPr id="9" name="TextBox 8"/>
          <p:cNvSpPr txBox="1"/>
          <p:nvPr/>
        </p:nvSpPr>
        <p:spPr>
          <a:xfrm>
            <a:off x="502920" y="1947672"/>
            <a:ext cx="2377440" cy="201168"/>
          </a:xfrm>
          <a:prstGeom prst="rect">
            <a:avLst/>
          </a:prstGeom>
          <a:noFill/>
        </p:spPr>
        <p:txBody>
          <a:bodyPr wrap="square" anchor="t"/>
          <a:lstStyle/>
          <a:p>
            <a:pPr algn="l">
              <a:defRPr sz="1000" b="0">
                <a:solidFill>
                  <a:srgbClr val="444444"/>
                </a:solidFill>
                <a:latin typeface="Consolas"/>
              </a:defRPr>
            </a:pPr>
            <a:r>
              <a:t>context_target_ratio</a:t>
            </a:r>
          </a:p>
        </p:txBody>
      </p:sp>
      <p:sp>
        <p:nvSpPr>
          <p:cNvPr id="10" name="TextBox 9"/>
          <p:cNvSpPr txBox="1"/>
          <p:nvPr/>
        </p:nvSpPr>
        <p:spPr>
          <a:xfrm>
            <a:off x="2926080" y="1947672"/>
            <a:ext cx="1188720" cy="201168"/>
          </a:xfrm>
          <a:prstGeom prst="rect">
            <a:avLst/>
          </a:prstGeom>
          <a:noFill/>
        </p:spPr>
        <p:txBody>
          <a:bodyPr wrap="square" anchor="t"/>
          <a:lstStyle/>
          <a:p>
            <a:pPr algn="l">
              <a:defRPr sz="1000" b="1">
                <a:solidFill>
                  <a:srgbClr val="0097A7"/>
                </a:solidFill>
                <a:latin typeface="Consolas"/>
              </a:defRPr>
            </a:pPr>
            <a:r>
              <a:t>0.72</a:t>
            </a:r>
          </a:p>
        </p:txBody>
      </p:sp>
      <p:sp>
        <p:nvSpPr>
          <p:cNvPr id="11" name="TextBox 10"/>
          <p:cNvSpPr txBox="1"/>
          <p:nvPr/>
        </p:nvSpPr>
        <p:spPr>
          <a:xfrm>
            <a:off x="502920" y="2203704"/>
            <a:ext cx="2377440" cy="201168"/>
          </a:xfrm>
          <a:prstGeom prst="rect">
            <a:avLst/>
          </a:prstGeom>
          <a:noFill/>
        </p:spPr>
        <p:txBody>
          <a:bodyPr wrap="square" anchor="t"/>
          <a:lstStyle/>
          <a:p>
            <a:pPr algn="l">
              <a:defRPr sz="1000" b="0">
                <a:solidFill>
                  <a:srgbClr val="444444"/>
                </a:solidFill>
                <a:latin typeface="Consolas"/>
              </a:defRPr>
            </a:pPr>
            <a:r>
              <a:t>autocompact_threshold</a:t>
            </a:r>
          </a:p>
        </p:txBody>
      </p:sp>
      <p:sp>
        <p:nvSpPr>
          <p:cNvPr id="12" name="TextBox 11"/>
          <p:cNvSpPr txBox="1"/>
          <p:nvPr/>
        </p:nvSpPr>
        <p:spPr>
          <a:xfrm>
            <a:off x="2926080" y="2203704"/>
            <a:ext cx="1188720" cy="201168"/>
          </a:xfrm>
          <a:prstGeom prst="rect">
            <a:avLst/>
          </a:prstGeom>
          <a:noFill/>
        </p:spPr>
        <p:txBody>
          <a:bodyPr wrap="square" anchor="t"/>
          <a:lstStyle/>
          <a:p>
            <a:pPr algn="l">
              <a:defRPr sz="1000" b="1">
                <a:solidFill>
                  <a:srgbClr val="0097A7"/>
                </a:solidFill>
                <a:latin typeface="Consolas"/>
              </a:defRPr>
            </a:pPr>
            <a:r>
              <a:t>0.85</a:t>
            </a:r>
          </a:p>
        </p:txBody>
      </p:sp>
      <p:sp>
        <p:nvSpPr>
          <p:cNvPr id="13" name="TextBox 12"/>
          <p:cNvSpPr txBox="1"/>
          <p:nvPr/>
        </p:nvSpPr>
        <p:spPr>
          <a:xfrm>
            <a:off x="502920" y="2459736"/>
            <a:ext cx="2377440" cy="201168"/>
          </a:xfrm>
          <a:prstGeom prst="rect">
            <a:avLst/>
          </a:prstGeom>
          <a:noFill/>
        </p:spPr>
        <p:txBody>
          <a:bodyPr wrap="square" anchor="t"/>
          <a:lstStyle/>
          <a:p>
            <a:pPr algn="l">
              <a:defRPr sz="1000" b="0">
                <a:solidFill>
                  <a:srgbClr val="444444"/>
                </a:solidFill>
                <a:latin typeface="Consolas"/>
              </a:defRPr>
            </a:pPr>
            <a:r>
              <a:t>tool_result_max_tokens</a:t>
            </a:r>
          </a:p>
        </p:txBody>
      </p:sp>
      <p:sp>
        <p:nvSpPr>
          <p:cNvPr id="14" name="TextBox 13"/>
          <p:cNvSpPr txBox="1"/>
          <p:nvPr/>
        </p:nvSpPr>
        <p:spPr>
          <a:xfrm>
            <a:off x="2926080" y="2459736"/>
            <a:ext cx="1188720" cy="201168"/>
          </a:xfrm>
          <a:prstGeom prst="rect">
            <a:avLst/>
          </a:prstGeom>
          <a:noFill/>
        </p:spPr>
        <p:txBody>
          <a:bodyPr wrap="square" anchor="t"/>
          <a:lstStyle/>
          <a:p>
            <a:pPr algn="l">
              <a:defRPr sz="1000" b="1">
                <a:solidFill>
                  <a:srgbClr val="0097A7"/>
                </a:solidFill>
                <a:latin typeface="Consolas"/>
              </a:defRPr>
            </a:pPr>
            <a:r>
              <a:t>2,000</a:t>
            </a:r>
          </a:p>
        </p:txBody>
      </p:sp>
      <p:sp>
        <p:nvSpPr>
          <p:cNvPr id="15" name="TextBox 14"/>
          <p:cNvSpPr txBox="1"/>
          <p:nvPr/>
        </p:nvSpPr>
        <p:spPr>
          <a:xfrm>
            <a:off x="502920" y="2715768"/>
            <a:ext cx="2377440" cy="201168"/>
          </a:xfrm>
          <a:prstGeom prst="rect">
            <a:avLst/>
          </a:prstGeom>
          <a:noFill/>
        </p:spPr>
        <p:txBody>
          <a:bodyPr wrap="square" anchor="t"/>
          <a:lstStyle/>
          <a:p>
            <a:pPr algn="l">
              <a:defRPr sz="1000" b="0">
                <a:solidFill>
                  <a:srgbClr val="444444"/>
                </a:solidFill>
                <a:latin typeface="Consolas"/>
              </a:defRPr>
            </a:pPr>
            <a:r>
              <a:t>tool_results_total</a:t>
            </a:r>
          </a:p>
        </p:txBody>
      </p:sp>
      <p:sp>
        <p:nvSpPr>
          <p:cNvPr id="16" name="TextBox 15"/>
          <p:cNvSpPr txBox="1"/>
          <p:nvPr/>
        </p:nvSpPr>
        <p:spPr>
          <a:xfrm>
            <a:off x="2926080" y="2715768"/>
            <a:ext cx="1188720" cy="201168"/>
          </a:xfrm>
          <a:prstGeom prst="rect">
            <a:avLst/>
          </a:prstGeom>
          <a:noFill/>
        </p:spPr>
        <p:txBody>
          <a:bodyPr wrap="square" anchor="t"/>
          <a:lstStyle/>
          <a:p>
            <a:pPr algn="l">
              <a:defRPr sz="1000" b="1">
                <a:solidFill>
                  <a:srgbClr val="0097A7"/>
                </a:solidFill>
                <a:latin typeface="Consolas"/>
              </a:defRPr>
            </a:pPr>
            <a:r>
              <a:t>8,000</a:t>
            </a:r>
          </a:p>
        </p:txBody>
      </p:sp>
      <p:sp>
        <p:nvSpPr>
          <p:cNvPr id="17" name="TextBox 16"/>
          <p:cNvSpPr txBox="1"/>
          <p:nvPr/>
        </p:nvSpPr>
        <p:spPr>
          <a:xfrm>
            <a:off x="502920" y="2971800"/>
            <a:ext cx="2377440" cy="201168"/>
          </a:xfrm>
          <a:prstGeom prst="rect">
            <a:avLst/>
          </a:prstGeom>
          <a:noFill/>
        </p:spPr>
        <p:txBody>
          <a:bodyPr wrap="square" anchor="t"/>
          <a:lstStyle/>
          <a:p>
            <a:pPr algn="l">
              <a:defRPr sz="1000" b="0">
                <a:solidFill>
                  <a:srgbClr val="444444"/>
                </a:solidFill>
                <a:latin typeface="Consolas"/>
              </a:defRPr>
            </a:pPr>
            <a:r>
              <a:t>microcompact_target</a:t>
            </a:r>
          </a:p>
        </p:txBody>
      </p:sp>
      <p:sp>
        <p:nvSpPr>
          <p:cNvPr id="18" name="TextBox 17"/>
          <p:cNvSpPr txBox="1"/>
          <p:nvPr/>
        </p:nvSpPr>
        <p:spPr>
          <a:xfrm>
            <a:off x="2926080" y="2971800"/>
            <a:ext cx="1188720" cy="201168"/>
          </a:xfrm>
          <a:prstGeom prst="rect">
            <a:avLst/>
          </a:prstGeom>
          <a:noFill/>
        </p:spPr>
        <p:txBody>
          <a:bodyPr wrap="square" anchor="t"/>
          <a:lstStyle/>
          <a:p>
            <a:pPr algn="l">
              <a:defRPr sz="1000" b="1">
                <a:solidFill>
                  <a:srgbClr val="0097A7"/>
                </a:solidFill>
                <a:latin typeface="Consolas"/>
              </a:defRPr>
            </a:pPr>
            <a:r>
              <a:t>2,400</a:t>
            </a:r>
          </a:p>
        </p:txBody>
      </p:sp>
      <p:sp>
        <p:nvSpPr>
          <p:cNvPr id="19" name="TextBox 18"/>
          <p:cNvSpPr txBox="1"/>
          <p:nvPr/>
        </p:nvSpPr>
        <p:spPr>
          <a:xfrm>
            <a:off x="502920" y="3227832"/>
            <a:ext cx="2377440" cy="201168"/>
          </a:xfrm>
          <a:prstGeom prst="rect">
            <a:avLst/>
          </a:prstGeom>
          <a:noFill/>
        </p:spPr>
        <p:txBody>
          <a:bodyPr wrap="square" anchor="t"/>
          <a:lstStyle/>
          <a:p>
            <a:pPr algn="l">
              <a:defRPr sz="1000" b="0">
                <a:solidFill>
                  <a:srgbClr val="444444"/>
                </a:solidFill>
                <a:latin typeface="Consolas"/>
              </a:defRPr>
            </a:pPr>
            <a:r>
              <a:t>compact_recent_msgs</a:t>
            </a:r>
          </a:p>
        </p:txBody>
      </p:sp>
      <p:sp>
        <p:nvSpPr>
          <p:cNvPr id="20" name="TextBox 19"/>
          <p:cNvSpPr txBox="1"/>
          <p:nvPr/>
        </p:nvSpPr>
        <p:spPr>
          <a:xfrm>
            <a:off x="2926080" y="3227832"/>
            <a:ext cx="1188720" cy="201168"/>
          </a:xfrm>
          <a:prstGeom prst="rect">
            <a:avLst/>
          </a:prstGeom>
          <a:noFill/>
        </p:spPr>
        <p:txBody>
          <a:bodyPr wrap="square" anchor="t"/>
          <a:lstStyle/>
          <a:p>
            <a:pPr algn="l">
              <a:defRPr sz="1000" b="1">
                <a:solidFill>
                  <a:srgbClr val="0097A7"/>
                </a:solidFill>
                <a:latin typeface="Consolas"/>
              </a:defRPr>
            </a:pPr>
            <a:r>
              <a:t>12</a:t>
            </a:r>
          </a:p>
        </p:txBody>
      </p:sp>
      <p:sp>
        <p:nvSpPr>
          <p:cNvPr id="21" name="TextBox 20"/>
          <p:cNvSpPr txBox="1"/>
          <p:nvPr/>
        </p:nvSpPr>
        <p:spPr>
          <a:xfrm>
            <a:off x="4846320" y="1280160"/>
            <a:ext cx="3840480" cy="320040"/>
          </a:xfrm>
          <a:prstGeom prst="rect">
            <a:avLst/>
          </a:prstGeom>
          <a:noFill/>
        </p:spPr>
        <p:txBody>
          <a:bodyPr wrap="square" anchor="t"/>
          <a:lstStyle/>
          <a:p>
            <a:pPr algn="l">
              <a:defRPr sz="1300" b="1">
                <a:solidFill>
                  <a:srgbClr val="FF9800"/>
                </a:solidFill>
                <a:latin typeface="Arial"/>
              </a:defRPr>
            </a:pPr>
            <a:r>
              <a:t>WORKER SCHEDULER</a:t>
            </a:r>
          </a:p>
        </p:txBody>
      </p:sp>
      <p:sp>
        <p:nvSpPr>
          <p:cNvPr id="22" name="TextBox 21"/>
          <p:cNvSpPr txBox="1"/>
          <p:nvPr/>
        </p:nvSpPr>
        <p:spPr>
          <a:xfrm>
            <a:off x="4846320" y="1691640"/>
            <a:ext cx="2377440" cy="201168"/>
          </a:xfrm>
          <a:prstGeom prst="rect">
            <a:avLst/>
          </a:prstGeom>
          <a:noFill/>
        </p:spPr>
        <p:txBody>
          <a:bodyPr wrap="square" anchor="t"/>
          <a:lstStyle/>
          <a:p>
            <a:pPr algn="l">
              <a:defRPr sz="1000" b="0">
                <a:solidFill>
                  <a:srgbClr val="444444"/>
                </a:solidFill>
                <a:latin typeface="Consolas"/>
              </a:defRPr>
            </a:pPr>
            <a:r>
              <a:t>max_concurrency</a:t>
            </a:r>
          </a:p>
        </p:txBody>
      </p:sp>
      <p:sp>
        <p:nvSpPr>
          <p:cNvPr id="23" name="TextBox 22"/>
          <p:cNvSpPr txBox="1"/>
          <p:nvPr/>
        </p:nvSpPr>
        <p:spPr>
          <a:xfrm>
            <a:off x="7315200" y="1691640"/>
            <a:ext cx="1188720" cy="201168"/>
          </a:xfrm>
          <a:prstGeom prst="rect">
            <a:avLst/>
          </a:prstGeom>
          <a:noFill/>
        </p:spPr>
        <p:txBody>
          <a:bodyPr wrap="square" anchor="t"/>
          <a:lstStyle/>
          <a:p>
            <a:pPr algn="l">
              <a:defRPr sz="1000" b="1">
                <a:solidFill>
                  <a:srgbClr val="FF9800"/>
                </a:solidFill>
                <a:latin typeface="Consolas"/>
              </a:defRPr>
            </a:pPr>
            <a:r>
              <a:t>6</a:t>
            </a:r>
          </a:p>
        </p:txBody>
      </p:sp>
      <p:sp>
        <p:nvSpPr>
          <p:cNvPr id="24" name="TextBox 23"/>
          <p:cNvSpPr txBox="1"/>
          <p:nvPr/>
        </p:nvSpPr>
        <p:spPr>
          <a:xfrm>
            <a:off x="4846320" y="1947672"/>
            <a:ext cx="2377440" cy="201168"/>
          </a:xfrm>
          <a:prstGeom prst="rect">
            <a:avLst/>
          </a:prstGeom>
          <a:noFill/>
        </p:spPr>
        <p:txBody>
          <a:bodyPr wrap="square" anchor="t"/>
          <a:lstStyle/>
          <a:p>
            <a:pPr algn="l">
              <a:defRPr sz="1000" b="0">
                <a:solidFill>
                  <a:srgbClr val="444444"/>
                </a:solidFill>
                <a:latin typeface="Consolas"/>
              </a:defRPr>
            </a:pPr>
            <a:r>
              <a:t>urgent weight</a:t>
            </a:r>
          </a:p>
        </p:txBody>
      </p:sp>
      <p:sp>
        <p:nvSpPr>
          <p:cNvPr id="25" name="TextBox 24"/>
          <p:cNvSpPr txBox="1"/>
          <p:nvPr/>
        </p:nvSpPr>
        <p:spPr>
          <a:xfrm>
            <a:off x="7315200" y="1947672"/>
            <a:ext cx="1188720" cy="201168"/>
          </a:xfrm>
          <a:prstGeom prst="rect">
            <a:avLst/>
          </a:prstGeom>
          <a:noFill/>
        </p:spPr>
        <p:txBody>
          <a:bodyPr wrap="square" anchor="t"/>
          <a:lstStyle/>
          <a:p>
            <a:pPr algn="l">
              <a:defRPr sz="1000" b="1">
                <a:solidFill>
                  <a:srgbClr val="FF9800"/>
                </a:solidFill>
                <a:latin typeface="Consolas"/>
              </a:defRPr>
            </a:pPr>
            <a:r>
              <a:t>8</a:t>
            </a:r>
          </a:p>
        </p:txBody>
      </p:sp>
      <p:sp>
        <p:nvSpPr>
          <p:cNvPr id="26" name="TextBox 25"/>
          <p:cNvSpPr txBox="1"/>
          <p:nvPr/>
        </p:nvSpPr>
        <p:spPr>
          <a:xfrm>
            <a:off x="4846320" y="2203704"/>
            <a:ext cx="2377440" cy="201168"/>
          </a:xfrm>
          <a:prstGeom prst="rect">
            <a:avLst/>
          </a:prstGeom>
          <a:noFill/>
        </p:spPr>
        <p:txBody>
          <a:bodyPr wrap="square" anchor="t"/>
          <a:lstStyle/>
          <a:p>
            <a:pPr algn="l">
              <a:defRPr sz="1000" b="0">
                <a:solidFill>
                  <a:srgbClr val="444444"/>
                </a:solidFill>
                <a:latin typeface="Consolas"/>
              </a:defRPr>
            </a:pPr>
            <a:r>
              <a:t>interactive weight</a:t>
            </a:r>
          </a:p>
        </p:txBody>
      </p:sp>
      <p:sp>
        <p:nvSpPr>
          <p:cNvPr id="27" name="TextBox 26"/>
          <p:cNvSpPr txBox="1"/>
          <p:nvPr/>
        </p:nvSpPr>
        <p:spPr>
          <a:xfrm>
            <a:off x="7315200" y="2203704"/>
            <a:ext cx="1188720" cy="201168"/>
          </a:xfrm>
          <a:prstGeom prst="rect">
            <a:avLst/>
          </a:prstGeom>
          <a:noFill/>
        </p:spPr>
        <p:txBody>
          <a:bodyPr wrap="square" anchor="t"/>
          <a:lstStyle/>
          <a:p>
            <a:pPr algn="l">
              <a:defRPr sz="1000" b="1">
                <a:solidFill>
                  <a:srgbClr val="FF9800"/>
                </a:solidFill>
                <a:latin typeface="Consolas"/>
              </a:defRPr>
            </a:pPr>
            <a:r>
              <a:t>3</a:t>
            </a:r>
          </a:p>
        </p:txBody>
      </p:sp>
      <p:sp>
        <p:nvSpPr>
          <p:cNvPr id="28" name="TextBox 27"/>
          <p:cNvSpPr txBox="1"/>
          <p:nvPr/>
        </p:nvSpPr>
        <p:spPr>
          <a:xfrm>
            <a:off x="4846320" y="2459736"/>
            <a:ext cx="2377440" cy="201168"/>
          </a:xfrm>
          <a:prstGeom prst="rect">
            <a:avLst/>
          </a:prstGeom>
          <a:noFill/>
        </p:spPr>
        <p:txBody>
          <a:bodyPr wrap="square" anchor="t"/>
          <a:lstStyle/>
          <a:p>
            <a:pPr algn="l">
              <a:defRPr sz="1000" b="0">
                <a:solidFill>
                  <a:srgbClr val="444444"/>
                </a:solidFill>
                <a:latin typeface="Consolas"/>
              </a:defRPr>
            </a:pPr>
            <a:r>
              <a:t>background weight</a:t>
            </a:r>
          </a:p>
        </p:txBody>
      </p:sp>
      <p:sp>
        <p:nvSpPr>
          <p:cNvPr id="29" name="TextBox 28"/>
          <p:cNvSpPr txBox="1"/>
          <p:nvPr/>
        </p:nvSpPr>
        <p:spPr>
          <a:xfrm>
            <a:off x="7315200" y="2459736"/>
            <a:ext cx="1188720" cy="201168"/>
          </a:xfrm>
          <a:prstGeom prst="rect">
            <a:avLst/>
          </a:prstGeom>
          <a:noFill/>
        </p:spPr>
        <p:txBody>
          <a:bodyPr wrap="square" anchor="t"/>
          <a:lstStyle/>
          <a:p>
            <a:pPr algn="l">
              <a:defRPr sz="1000" b="1">
                <a:solidFill>
                  <a:srgbClr val="FF9800"/>
                </a:solidFill>
                <a:latin typeface="Consolas"/>
              </a:defRPr>
            </a:pPr>
            <a:r>
              <a:t>1</a:t>
            </a:r>
          </a:p>
        </p:txBody>
      </p:sp>
      <p:sp>
        <p:nvSpPr>
          <p:cNvPr id="30" name="TextBox 29"/>
          <p:cNvSpPr txBox="1"/>
          <p:nvPr/>
        </p:nvSpPr>
        <p:spPr>
          <a:xfrm>
            <a:off x="4846320" y="2715768"/>
            <a:ext cx="2377440" cy="201168"/>
          </a:xfrm>
          <a:prstGeom prst="rect">
            <a:avLst/>
          </a:prstGeom>
          <a:noFill/>
        </p:spPr>
        <p:txBody>
          <a:bodyPr wrap="square" anchor="t"/>
          <a:lstStyle/>
          <a:p>
            <a:pPr algn="l">
              <a:defRPr sz="1000" b="0">
                <a:solidFill>
                  <a:srgbClr val="444444"/>
                </a:solidFill>
                <a:latin typeface="Consolas"/>
              </a:defRPr>
            </a:pPr>
            <a:r>
              <a:t>budget_tokens/min</a:t>
            </a:r>
          </a:p>
        </p:txBody>
      </p:sp>
      <p:sp>
        <p:nvSpPr>
          <p:cNvPr id="31" name="TextBox 30"/>
          <p:cNvSpPr txBox="1"/>
          <p:nvPr/>
        </p:nvSpPr>
        <p:spPr>
          <a:xfrm>
            <a:off x="7315200" y="2715768"/>
            <a:ext cx="1188720" cy="201168"/>
          </a:xfrm>
          <a:prstGeom prst="rect">
            <a:avLst/>
          </a:prstGeom>
          <a:noFill/>
        </p:spPr>
        <p:txBody>
          <a:bodyPr wrap="square" anchor="t"/>
          <a:lstStyle/>
          <a:p>
            <a:pPr algn="l">
              <a:defRPr sz="1000" b="1">
                <a:solidFill>
                  <a:srgbClr val="FF9800"/>
                </a:solidFill>
                <a:latin typeface="Consolas"/>
              </a:defRPr>
            </a:pPr>
            <a:r>
              <a:t>24,000</a:t>
            </a:r>
          </a:p>
        </p:txBody>
      </p:sp>
      <p:sp>
        <p:nvSpPr>
          <p:cNvPr id="32" name="TextBox 31"/>
          <p:cNvSpPr txBox="1"/>
          <p:nvPr/>
        </p:nvSpPr>
        <p:spPr>
          <a:xfrm>
            <a:off x="4846320" y="2971800"/>
            <a:ext cx="2377440" cy="201168"/>
          </a:xfrm>
          <a:prstGeom prst="rect">
            <a:avLst/>
          </a:prstGeom>
          <a:noFill/>
        </p:spPr>
        <p:txBody>
          <a:bodyPr wrap="square" anchor="t"/>
          <a:lstStyle/>
          <a:p>
            <a:pPr algn="l">
              <a:defRPr sz="1000" b="0">
                <a:solidFill>
                  <a:srgbClr val="444444"/>
                </a:solidFill>
                <a:latin typeface="Consolas"/>
              </a:defRPr>
            </a:pPr>
            <a:r>
              <a:t>burst_tokens</a:t>
            </a:r>
          </a:p>
        </p:txBody>
      </p:sp>
      <p:sp>
        <p:nvSpPr>
          <p:cNvPr id="33" name="TextBox 32"/>
          <p:cNvSpPr txBox="1"/>
          <p:nvPr/>
        </p:nvSpPr>
        <p:spPr>
          <a:xfrm>
            <a:off x="7315200" y="2971800"/>
            <a:ext cx="1188720" cy="201168"/>
          </a:xfrm>
          <a:prstGeom prst="rect">
            <a:avLst/>
          </a:prstGeom>
          <a:noFill/>
        </p:spPr>
        <p:txBody>
          <a:bodyPr wrap="square" anchor="t"/>
          <a:lstStyle/>
          <a:p>
            <a:pPr algn="l">
              <a:defRPr sz="1000" b="1">
                <a:solidFill>
                  <a:srgbClr val="FF9800"/>
                </a:solidFill>
                <a:latin typeface="Consolas"/>
              </a:defRPr>
            </a:pPr>
            <a:r>
              <a:t>48,000</a:t>
            </a:r>
          </a:p>
        </p:txBody>
      </p:sp>
      <p:sp>
        <p:nvSpPr>
          <p:cNvPr id="34" name="TextBox 33"/>
          <p:cNvSpPr txBox="1"/>
          <p:nvPr/>
        </p:nvSpPr>
        <p:spPr>
          <a:xfrm>
            <a:off x="4846320" y="3227832"/>
            <a:ext cx="2377440" cy="201168"/>
          </a:xfrm>
          <a:prstGeom prst="rect">
            <a:avLst/>
          </a:prstGeom>
          <a:noFill/>
        </p:spPr>
        <p:txBody>
          <a:bodyPr wrap="square" anchor="t"/>
          <a:lstStyle/>
          <a:p>
            <a:pPr algn="l">
              <a:defRPr sz="1000" b="0">
                <a:solidFill>
                  <a:srgbClr val="444444"/>
                </a:solidFill>
                <a:latin typeface="Consolas"/>
              </a:defRPr>
            </a:pPr>
            <a:r>
              <a:t>token_cost_factor</a:t>
            </a:r>
          </a:p>
        </p:txBody>
      </p:sp>
      <p:sp>
        <p:nvSpPr>
          <p:cNvPr id="35" name="TextBox 34"/>
          <p:cNvSpPr txBox="1"/>
          <p:nvPr/>
        </p:nvSpPr>
        <p:spPr>
          <a:xfrm>
            <a:off x="7315200" y="3227832"/>
            <a:ext cx="1188720" cy="201168"/>
          </a:xfrm>
          <a:prstGeom prst="rect">
            <a:avLst/>
          </a:prstGeom>
          <a:noFill/>
        </p:spPr>
        <p:txBody>
          <a:bodyPr wrap="square" anchor="t"/>
          <a:lstStyle/>
          <a:p>
            <a:pPr algn="l">
              <a:defRPr sz="1000" b="1">
                <a:solidFill>
                  <a:srgbClr val="FF9800"/>
                </a:solidFill>
                <a:latin typeface="Consolas"/>
              </a:defRPr>
            </a:pPr>
            <a:r>
              <a:t>1.35x</a:t>
            </a:r>
          </a:p>
        </p:txBody>
      </p:sp>
      <p:sp>
        <p:nvSpPr>
          <p:cNvPr id="36" name="Rectangle 35"/>
          <p:cNvSpPr/>
          <p:nvPr/>
        </p:nvSpPr>
        <p:spPr>
          <a:xfrm>
            <a:off x="502920" y="3657600"/>
            <a:ext cx="3931920" cy="12344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02920" y="3657600"/>
            <a:ext cx="54864" cy="123444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85800" y="3749040"/>
            <a:ext cx="3657600" cy="365760"/>
          </a:xfrm>
          <a:prstGeom prst="rect">
            <a:avLst/>
          </a:prstGeom>
          <a:noFill/>
        </p:spPr>
        <p:txBody>
          <a:bodyPr wrap="square" anchor="t"/>
          <a:lstStyle/>
          <a:p>
            <a:pPr algn="l">
              <a:defRPr sz="1200" b="1">
                <a:solidFill>
                  <a:srgbClr val="FFFFFF"/>
                </a:solidFill>
                <a:latin typeface="Arial"/>
              </a:defRPr>
            </a:pPr>
            <a:r>
              <a:t>RAG Defaults</a:t>
            </a:r>
          </a:p>
        </p:txBody>
      </p:sp>
      <p:sp>
        <p:nvSpPr>
          <p:cNvPr id="39" name="TextBox 38"/>
          <p:cNvSpPr txBox="1"/>
          <p:nvPr/>
        </p:nvSpPr>
        <p:spPr>
          <a:xfrm>
            <a:off x="685800" y="4114800"/>
            <a:ext cx="3657600" cy="685800"/>
          </a:xfrm>
          <a:prstGeom prst="rect">
            <a:avLst/>
          </a:prstGeom>
          <a:noFill/>
        </p:spPr>
        <p:txBody>
          <a:bodyPr wrap="square" anchor="t"/>
          <a:lstStyle/>
          <a:p>
            <a:pPr algn="l">
              <a:defRPr sz="1000" b="0">
                <a:solidFill>
                  <a:srgbClr val="CCCCCC"/>
                </a:solidFill>
                <a:latin typeface="Arial"/>
              </a:defRPr>
            </a:pPr>
            <a:r>
              <a:t>top_k: 15 (vector + keyword)  |  chunk: 900/150</a:t>
            </a:r>
            <a:br/>
            <a:r>
              <a:t>RRF k=60  |  retries: 2  |  min_evidence: 2</a:t>
            </a:r>
            <a:br/>
            <a:r>
              <a:t>parallel_collection_probes: 4</a:t>
            </a:r>
          </a:p>
        </p:txBody>
      </p:sp>
      <p:sp>
        <p:nvSpPr>
          <p:cNvPr id="40" name="Rectangle 39"/>
          <p:cNvSpPr/>
          <p:nvPr/>
        </p:nvSpPr>
        <p:spPr>
          <a:xfrm>
            <a:off x="4709160" y="3657600"/>
            <a:ext cx="3977639" cy="12344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709160" y="3657600"/>
            <a:ext cx="54864" cy="123444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892040" y="3749040"/>
            <a:ext cx="3703319" cy="365760"/>
          </a:xfrm>
          <a:prstGeom prst="rect">
            <a:avLst/>
          </a:prstGeom>
          <a:noFill/>
        </p:spPr>
        <p:txBody>
          <a:bodyPr wrap="square" anchor="t"/>
          <a:lstStyle/>
          <a:p>
            <a:pPr algn="l">
              <a:defRPr sz="1200" b="1">
                <a:solidFill>
                  <a:srgbClr val="FFFFFF"/>
                </a:solidFill>
                <a:latin typeface="Arial"/>
              </a:defRPr>
            </a:pPr>
            <a:r>
              <a:t>Memory Defaults</a:t>
            </a:r>
          </a:p>
        </p:txBody>
      </p:sp>
      <p:sp>
        <p:nvSpPr>
          <p:cNvPr id="43" name="TextBox 42"/>
          <p:cNvSpPr txBox="1"/>
          <p:nvPr/>
        </p:nvSpPr>
        <p:spPr>
          <a:xfrm>
            <a:off x="4892040" y="4114800"/>
            <a:ext cx="3703319" cy="685800"/>
          </a:xfrm>
          <a:prstGeom prst="rect">
            <a:avLst/>
          </a:prstGeom>
          <a:noFill/>
        </p:spPr>
        <p:txBody>
          <a:bodyPr wrap="square" anchor="t"/>
          <a:lstStyle/>
          <a:p>
            <a:pPr algn="l">
              <a:defRPr sz="1000" b="0">
                <a:solidFill>
                  <a:srgbClr val="CCCCCC"/>
                </a:solidFill>
                <a:latin typeface="Arial"/>
              </a:defRPr>
            </a:pPr>
            <a:r>
              <a:t>top_k: 16  |  budget: 1,600 chars</a:t>
            </a:r>
            <a:br/>
            <a:r>
              <a:t>Modes: shadow / selector / live</a:t>
            </a:r>
            <a:br/>
            <a:r>
              <a:t>5 types: profile, task, decision, constraint, open_loop</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Deep RAG &amp; Verification Pipeline (rag/)</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Multi-pass parallel retrieval with automated verification and citation checking</a:t>
            </a:r>
          </a:p>
        </p:txBody>
      </p:sp>
      <p:sp>
        <p:nvSpPr>
          <p:cNvPr id="6" name="TextBox 5"/>
          <p:cNvSpPr txBox="1"/>
          <p:nvPr/>
        </p:nvSpPr>
        <p:spPr>
          <a:xfrm>
            <a:off x="502920" y="1280160"/>
            <a:ext cx="3931920" cy="320040"/>
          </a:xfrm>
          <a:prstGeom prst="rect">
            <a:avLst/>
          </a:prstGeom>
          <a:noFill/>
        </p:spPr>
        <p:txBody>
          <a:bodyPr wrap="square" anchor="t"/>
          <a:lstStyle/>
          <a:p>
            <a:pPr algn="l">
              <a:defRPr sz="1300" b="1">
                <a:solidFill>
                  <a:srgbClr val="0097A7"/>
                </a:solidFill>
                <a:latin typeface="Arial"/>
              </a:defRPr>
            </a:pPr>
            <a:r>
              <a:t>DEEP RAG MODE</a:t>
            </a:r>
          </a:p>
        </p:txBody>
      </p:sp>
      <p:sp>
        <p:nvSpPr>
          <p:cNvPr id="7" name="TextBox 6"/>
          <p:cNvSpPr txBox="1"/>
          <p:nvPr/>
        </p:nvSpPr>
        <p:spPr>
          <a:xfrm>
            <a:off x="502920" y="1691640"/>
            <a:ext cx="1737360" cy="201168"/>
          </a:xfrm>
          <a:prstGeom prst="rect">
            <a:avLst/>
          </a:prstGeom>
          <a:noFill/>
        </p:spPr>
        <p:txBody>
          <a:bodyPr wrap="square" anchor="t"/>
          <a:lstStyle/>
          <a:p>
            <a:pPr algn="l">
              <a:defRPr sz="1000" b="1">
                <a:solidFill>
                  <a:srgbClr val="333333"/>
                </a:solidFill>
                <a:latin typeface="Arial"/>
              </a:defRPr>
            </a:pPr>
            <a:r>
              <a:t>Parallel Lanes:</a:t>
            </a:r>
          </a:p>
        </p:txBody>
      </p:sp>
      <p:sp>
        <p:nvSpPr>
          <p:cNvPr id="8" name="TextBox 7"/>
          <p:cNvSpPr txBox="1"/>
          <p:nvPr/>
        </p:nvSpPr>
        <p:spPr>
          <a:xfrm>
            <a:off x="2286000" y="1691640"/>
            <a:ext cx="2103120" cy="201168"/>
          </a:xfrm>
          <a:prstGeom prst="rect">
            <a:avLst/>
          </a:prstGeom>
          <a:noFill/>
        </p:spPr>
        <p:txBody>
          <a:bodyPr wrap="square" anchor="t"/>
          <a:lstStyle/>
          <a:p>
            <a:pPr algn="l">
              <a:defRPr sz="1000" b="0">
                <a:solidFill>
                  <a:srgbClr val="555555"/>
                </a:solidFill>
                <a:latin typeface="Arial"/>
              </a:defRPr>
            </a:pPr>
            <a:r>
              <a:t>3 concurrent retrieval lanes</a:t>
            </a:r>
          </a:p>
        </p:txBody>
      </p:sp>
      <p:sp>
        <p:nvSpPr>
          <p:cNvPr id="9" name="TextBox 8"/>
          <p:cNvSpPr txBox="1"/>
          <p:nvPr/>
        </p:nvSpPr>
        <p:spPr>
          <a:xfrm>
            <a:off x="502920" y="1965960"/>
            <a:ext cx="1737360" cy="201168"/>
          </a:xfrm>
          <a:prstGeom prst="rect">
            <a:avLst/>
          </a:prstGeom>
          <a:noFill/>
        </p:spPr>
        <p:txBody>
          <a:bodyPr wrap="square" anchor="t"/>
          <a:lstStyle/>
          <a:p>
            <a:pPr algn="l">
              <a:defRPr sz="1000" b="1">
                <a:solidFill>
                  <a:srgbClr val="333333"/>
                </a:solidFill>
                <a:latin typeface="Arial"/>
              </a:defRPr>
            </a:pPr>
            <a:r>
              <a:t>Chunk Threshold:</a:t>
            </a:r>
          </a:p>
        </p:txBody>
      </p:sp>
      <p:sp>
        <p:nvSpPr>
          <p:cNvPr id="10" name="TextBox 9"/>
          <p:cNvSpPr txBox="1"/>
          <p:nvPr/>
        </p:nvSpPr>
        <p:spPr>
          <a:xfrm>
            <a:off x="2286000" y="1965960"/>
            <a:ext cx="2103120" cy="201168"/>
          </a:xfrm>
          <a:prstGeom prst="rect">
            <a:avLst/>
          </a:prstGeom>
          <a:noFill/>
        </p:spPr>
        <p:txBody>
          <a:bodyPr wrap="square" anchor="t"/>
          <a:lstStyle/>
          <a:p>
            <a:pPr algn="l">
              <a:defRPr sz="1000" b="0">
                <a:solidFill>
                  <a:srgbClr val="555555"/>
                </a:solidFill>
                <a:latin typeface="Arial"/>
              </a:defRPr>
            </a:pPr>
            <a:r>
              <a:t>24 chunks trigger full-read mode</a:t>
            </a:r>
          </a:p>
        </p:txBody>
      </p:sp>
      <p:sp>
        <p:nvSpPr>
          <p:cNvPr id="11" name="TextBox 10"/>
          <p:cNvSpPr txBox="1"/>
          <p:nvPr/>
        </p:nvSpPr>
        <p:spPr>
          <a:xfrm>
            <a:off x="502920" y="2240280"/>
            <a:ext cx="1737360" cy="201168"/>
          </a:xfrm>
          <a:prstGeom prst="rect">
            <a:avLst/>
          </a:prstGeom>
          <a:noFill/>
        </p:spPr>
        <p:txBody>
          <a:bodyPr wrap="square" anchor="t"/>
          <a:lstStyle/>
          <a:p>
            <a:pPr algn="l">
              <a:defRPr sz="1000" b="1">
                <a:solidFill>
                  <a:srgbClr val="333333"/>
                </a:solidFill>
                <a:latin typeface="Arial"/>
              </a:defRPr>
            </a:pPr>
            <a:r>
              <a:t>Reflection Rounds:</a:t>
            </a:r>
          </a:p>
        </p:txBody>
      </p:sp>
      <p:sp>
        <p:nvSpPr>
          <p:cNvPr id="12" name="TextBox 11"/>
          <p:cNvSpPr txBox="1"/>
          <p:nvPr/>
        </p:nvSpPr>
        <p:spPr>
          <a:xfrm>
            <a:off x="2286000" y="2240280"/>
            <a:ext cx="2103120" cy="201168"/>
          </a:xfrm>
          <a:prstGeom prst="rect">
            <a:avLst/>
          </a:prstGeom>
          <a:noFill/>
        </p:spPr>
        <p:txBody>
          <a:bodyPr wrap="square" anchor="t"/>
          <a:lstStyle/>
          <a:p>
            <a:pPr algn="l">
              <a:defRPr sz="1000" b="0">
                <a:solidFill>
                  <a:srgbClr val="555555"/>
                </a:solidFill>
                <a:latin typeface="Arial"/>
              </a:defRPr>
            </a:pPr>
            <a:r>
              <a:t>1 sync reflection per pass</a:t>
            </a:r>
          </a:p>
        </p:txBody>
      </p:sp>
      <p:sp>
        <p:nvSpPr>
          <p:cNvPr id="13" name="TextBox 12"/>
          <p:cNvSpPr txBox="1"/>
          <p:nvPr/>
        </p:nvSpPr>
        <p:spPr>
          <a:xfrm>
            <a:off x="502920" y="2514600"/>
            <a:ext cx="1737360" cy="201168"/>
          </a:xfrm>
          <a:prstGeom prst="rect">
            <a:avLst/>
          </a:prstGeom>
          <a:noFill/>
        </p:spPr>
        <p:txBody>
          <a:bodyPr wrap="square" anchor="t"/>
          <a:lstStyle/>
          <a:p>
            <a:pPr algn="l">
              <a:defRPr sz="1000" b="1">
                <a:solidFill>
                  <a:srgbClr val="333333"/>
                </a:solidFill>
                <a:latin typeface="Arial"/>
              </a:defRPr>
            </a:pPr>
            <a:r>
              <a:t>Background Threshold:</a:t>
            </a:r>
          </a:p>
        </p:txBody>
      </p:sp>
      <p:sp>
        <p:nvSpPr>
          <p:cNvPr id="14" name="TextBox 13"/>
          <p:cNvSpPr txBox="1"/>
          <p:nvPr/>
        </p:nvSpPr>
        <p:spPr>
          <a:xfrm>
            <a:off x="2286000" y="2514600"/>
            <a:ext cx="2103120" cy="201168"/>
          </a:xfrm>
          <a:prstGeom prst="rect">
            <a:avLst/>
          </a:prstGeom>
          <a:noFill/>
        </p:spPr>
        <p:txBody>
          <a:bodyPr wrap="square" anchor="t"/>
          <a:lstStyle/>
          <a:p>
            <a:pPr algn="l">
              <a:defRPr sz="1000" b="0">
                <a:solidFill>
                  <a:srgbClr val="555555"/>
                </a:solidFill>
                <a:latin typeface="Arial"/>
              </a:defRPr>
            </a:pPr>
            <a:r>
              <a:t>4+ tasks trigger background mode</a:t>
            </a:r>
          </a:p>
        </p:txBody>
      </p:sp>
      <p:sp>
        <p:nvSpPr>
          <p:cNvPr id="15" name="TextBox 14"/>
          <p:cNvSpPr txBox="1"/>
          <p:nvPr/>
        </p:nvSpPr>
        <p:spPr>
          <a:xfrm>
            <a:off x="502920" y="2788920"/>
            <a:ext cx="1737360" cy="201168"/>
          </a:xfrm>
          <a:prstGeom prst="rect">
            <a:avLst/>
          </a:prstGeom>
          <a:noFill/>
        </p:spPr>
        <p:txBody>
          <a:bodyPr wrap="square" anchor="t"/>
          <a:lstStyle/>
          <a:p>
            <a:pPr algn="l">
              <a:defRPr sz="1000" b="1">
                <a:solidFill>
                  <a:srgbClr val="333333"/>
                </a:solidFill>
                <a:latin typeface="Arial"/>
              </a:defRPr>
            </a:pPr>
            <a:r>
              <a:t>Coverage Goals:</a:t>
            </a:r>
          </a:p>
        </p:txBody>
      </p:sp>
      <p:sp>
        <p:nvSpPr>
          <p:cNvPr id="16" name="TextBox 15"/>
          <p:cNvSpPr txBox="1"/>
          <p:nvPr/>
        </p:nvSpPr>
        <p:spPr>
          <a:xfrm>
            <a:off x="2286000" y="2788920"/>
            <a:ext cx="2103120" cy="201168"/>
          </a:xfrm>
          <a:prstGeom prst="rect">
            <a:avLst/>
          </a:prstGeom>
          <a:noFill/>
        </p:spPr>
        <p:txBody>
          <a:bodyPr wrap="square" anchor="t"/>
          <a:lstStyle/>
          <a:p>
            <a:pPr algn="l">
              <a:defRPr sz="1000" b="0">
                <a:solidFill>
                  <a:srgbClr val="555555"/>
                </a:solidFill>
                <a:latin typeface="Arial"/>
              </a:defRPr>
            </a:pPr>
            <a:r>
              <a:t>corpus_wide, exhaustive, specific</a:t>
            </a:r>
          </a:p>
        </p:txBody>
      </p:sp>
      <p:sp>
        <p:nvSpPr>
          <p:cNvPr id="17" name="TextBox 16"/>
          <p:cNvSpPr txBox="1"/>
          <p:nvPr/>
        </p:nvSpPr>
        <p:spPr>
          <a:xfrm>
            <a:off x="502920" y="3063240"/>
            <a:ext cx="1737360" cy="201168"/>
          </a:xfrm>
          <a:prstGeom prst="rect">
            <a:avLst/>
          </a:prstGeom>
          <a:noFill/>
        </p:spPr>
        <p:txBody>
          <a:bodyPr wrap="square" anchor="t"/>
          <a:lstStyle/>
          <a:p>
            <a:pPr algn="l">
              <a:defRPr sz="1000" b="1">
                <a:solidFill>
                  <a:srgbClr val="333333"/>
                </a:solidFill>
                <a:latin typeface="Arial"/>
              </a:defRPr>
            </a:pPr>
            <a:r>
              <a:t>Result Modes:</a:t>
            </a:r>
          </a:p>
        </p:txBody>
      </p:sp>
      <p:sp>
        <p:nvSpPr>
          <p:cNvPr id="18" name="TextBox 17"/>
          <p:cNvSpPr txBox="1"/>
          <p:nvPr/>
        </p:nvSpPr>
        <p:spPr>
          <a:xfrm>
            <a:off x="2286000" y="3063240"/>
            <a:ext cx="2103120" cy="201168"/>
          </a:xfrm>
          <a:prstGeom prst="rect">
            <a:avLst/>
          </a:prstGeom>
          <a:noFill/>
        </p:spPr>
        <p:txBody>
          <a:bodyPr wrap="square" anchor="t"/>
          <a:lstStyle/>
          <a:p>
            <a:pPr algn="l">
              <a:defRPr sz="1000" b="0">
                <a:solidFill>
                  <a:srgbClr val="555555"/>
                </a:solidFill>
                <a:latin typeface="Arial"/>
              </a:defRPr>
            </a:pPr>
            <a:r>
              <a:t>answer, comparison, inventory</a:t>
            </a:r>
          </a:p>
        </p:txBody>
      </p:sp>
      <p:sp>
        <p:nvSpPr>
          <p:cNvPr id="19" name="TextBox 18"/>
          <p:cNvSpPr txBox="1"/>
          <p:nvPr/>
        </p:nvSpPr>
        <p:spPr>
          <a:xfrm>
            <a:off x="502920" y="3337560"/>
            <a:ext cx="1737360" cy="201168"/>
          </a:xfrm>
          <a:prstGeom prst="rect">
            <a:avLst/>
          </a:prstGeom>
          <a:noFill/>
        </p:spPr>
        <p:txBody>
          <a:bodyPr wrap="square" anchor="t"/>
          <a:lstStyle/>
          <a:p>
            <a:pPr algn="l">
              <a:defRPr sz="1000" b="1">
                <a:solidFill>
                  <a:srgbClr val="333333"/>
                </a:solidFill>
                <a:latin typeface="Arial"/>
              </a:defRPr>
            </a:pPr>
            <a:r>
              <a:t>Search Modes:</a:t>
            </a:r>
          </a:p>
        </p:txBody>
      </p:sp>
      <p:sp>
        <p:nvSpPr>
          <p:cNvPr id="20" name="TextBox 19"/>
          <p:cNvSpPr txBox="1"/>
          <p:nvPr/>
        </p:nvSpPr>
        <p:spPr>
          <a:xfrm>
            <a:off x="2286000" y="3337560"/>
            <a:ext cx="2103120" cy="201168"/>
          </a:xfrm>
          <a:prstGeom prst="rect">
            <a:avLst/>
          </a:prstGeom>
          <a:noFill/>
        </p:spPr>
        <p:txBody>
          <a:bodyPr wrap="square" anchor="t"/>
          <a:lstStyle/>
          <a:p>
            <a:pPr algn="l">
              <a:defRPr sz="1000" b="0">
                <a:solidFill>
                  <a:srgbClr val="555555"/>
                </a:solidFill>
                <a:latin typeface="Arial"/>
              </a:defRPr>
            </a:pPr>
            <a:r>
              <a:t>auto, vector_only, keyword_only, hybrid, none</a:t>
            </a:r>
          </a:p>
        </p:txBody>
      </p:sp>
      <p:sp>
        <p:nvSpPr>
          <p:cNvPr id="21" name="TextBox 20"/>
          <p:cNvSpPr txBox="1"/>
          <p:nvPr/>
        </p:nvSpPr>
        <p:spPr>
          <a:xfrm>
            <a:off x="4846320" y="1280160"/>
            <a:ext cx="3840480" cy="320040"/>
          </a:xfrm>
          <a:prstGeom prst="rect">
            <a:avLst/>
          </a:prstGeom>
          <a:noFill/>
        </p:spPr>
        <p:txBody>
          <a:bodyPr wrap="square" anchor="t"/>
          <a:lstStyle/>
          <a:p>
            <a:pPr algn="l">
              <a:defRPr sz="1300" b="1">
                <a:solidFill>
                  <a:srgbClr val="EF5350"/>
                </a:solidFill>
                <a:latin typeface="Arial"/>
              </a:defRPr>
            </a:pPr>
            <a:r>
              <a:t>VERIFICATION PIPELINE</a:t>
            </a:r>
          </a:p>
        </p:txBody>
      </p:sp>
      <p:sp>
        <p:nvSpPr>
          <p:cNvPr id="22" name="Oval 21"/>
          <p:cNvSpPr/>
          <p:nvPr/>
        </p:nvSpPr>
        <p:spPr>
          <a:xfrm>
            <a:off x="4846320" y="172821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74920" y="1691640"/>
            <a:ext cx="3566160" cy="201168"/>
          </a:xfrm>
          <a:prstGeom prst="rect">
            <a:avLst/>
          </a:prstGeom>
          <a:noFill/>
        </p:spPr>
        <p:txBody>
          <a:bodyPr wrap="square" anchor="t"/>
          <a:lstStyle/>
          <a:p>
            <a:pPr algn="l">
              <a:defRPr sz="1100" b="1">
                <a:solidFill>
                  <a:srgbClr val="333333"/>
                </a:solidFill>
                <a:latin typeface="Arial"/>
              </a:defRPr>
            </a:pPr>
            <a:r>
              <a:t>Missed Doc Detection</a:t>
            </a:r>
          </a:p>
        </p:txBody>
      </p:sp>
      <p:sp>
        <p:nvSpPr>
          <p:cNvPr id="24" name="TextBox 23"/>
          <p:cNvSpPr txBox="1"/>
          <p:nvPr/>
        </p:nvSpPr>
        <p:spPr>
          <a:xfrm>
            <a:off x="5074920" y="1892808"/>
            <a:ext cx="3566160" cy="274320"/>
          </a:xfrm>
          <a:prstGeom prst="rect">
            <a:avLst/>
          </a:prstGeom>
          <a:noFill/>
        </p:spPr>
        <p:txBody>
          <a:bodyPr wrap="square" anchor="t"/>
          <a:lstStyle/>
          <a:p>
            <a:pPr algn="l">
              <a:defRPr sz="900" b="0">
                <a:solidFill>
                  <a:srgbClr val="666666"/>
                </a:solidFill>
                <a:latin typeface="Arial"/>
              </a:defRPr>
            </a:pPr>
            <a:r>
              <a:t>Identifies documents that should have been retrieved but weren't</a:t>
            </a:r>
          </a:p>
        </p:txBody>
      </p:sp>
      <p:sp>
        <p:nvSpPr>
          <p:cNvPr id="25" name="Oval 24"/>
          <p:cNvSpPr/>
          <p:nvPr/>
        </p:nvSpPr>
        <p:spPr>
          <a:xfrm>
            <a:off x="4846320" y="223113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74920" y="2194560"/>
            <a:ext cx="3566160" cy="201168"/>
          </a:xfrm>
          <a:prstGeom prst="rect">
            <a:avLst/>
          </a:prstGeom>
          <a:noFill/>
        </p:spPr>
        <p:txBody>
          <a:bodyPr wrap="square" anchor="t"/>
          <a:lstStyle/>
          <a:p>
            <a:pPr algn="l">
              <a:defRPr sz="1100" b="1">
                <a:solidFill>
                  <a:srgbClr val="333333"/>
                </a:solidFill>
                <a:latin typeface="Arial"/>
              </a:defRPr>
            </a:pPr>
            <a:r>
              <a:t>Unsupported Hop Detection</a:t>
            </a:r>
          </a:p>
        </p:txBody>
      </p:sp>
      <p:sp>
        <p:nvSpPr>
          <p:cNvPr id="27" name="TextBox 26"/>
          <p:cNvSpPr txBox="1"/>
          <p:nvPr/>
        </p:nvSpPr>
        <p:spPr>
          <a:xfrm>
            <a:off x="5074920" y="2395728"/>
            <a:ext cx="3566160" cy="274320"/>
          </a:xfrm>
          <a:prstGeom prst="rect">
            <a:avLst/>
          </a:prstGeom>
          <a:noFill/>
        </p:spPr>
        <p:txBody>
          <a:bodyPr wrap="square" anchor="t"/>
          <a:lstStyle/>
          <a:p>
            <a:pPr algn="l">
              <a:defRPr sz="900" b="0">
                <a:solidFill>
                  <a:srgbClr val="666666"/>
                </a:solidFill>
                <a:latin typeface="Arial"/>
              </a:defRPr>
            </a:pPr>
            <a:r>
              <a:t>Flags claims requiring evidence hops the system can't make</a:t>
            </a:r>
          </a:p>
        </p:txBody>
      </p:sp>
      <p:sp>
        <p:nvSpPr>
          <p:cNvPr id="28" name="Oval 27"/>
          <p:cNvSpPr/>
          <p:nvPr/>
        </p:nvSpPr>
        <p:spPr>
          <a:xfrm>
            <a:off x="4846320" y="273405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74920" y="2697480"/>
            <a:ext cx="3566160" cy="201168"/>
          </a:xfrm>
          <a:prstGeom prst="rect">
            <a:avLst/>
          </a:prstGeom>
          <a:noFill/>
        </p:spPr>
        <p:txBody>
          <a:bodyPr wrap="square" anchor="t"/>
          <a:lstStyle/>
          <a:p>
            <a:pPr algn="l">
              <a:defRPr sz="1100" b="1">
                <a:solidFill>
                  <a:srgbClr val="333333"/>
                </a:solidFill>
                <a:latin typeface="Arial"/>
              </a:defRPr>
            </a:pPr>
            <a:r>
              <a:t>Citation Mismatch</a:t>
            </a:r>
          </a:p>
        </p:txBody>
      </p:sp>
      <p:sp>
        <p:nvSpPr>
          <p:cNvPr id="30" name="TextBox 29"/>
          <p:cNvSpPr txBox="1"/>
          <p:nvPr/>
        </p:nvSpPr>
        <p:spPr>
          <a:xfrm>
            <a:off x="5074920" y="2898648"/>
            <a:ext cx="3566160" cy="274320"/>
          </a:xfrm>
          <a:prstGeom prst="rect">
            <a:avLst/>
          </a:prstGeom>
          <a:noFill/>
        </p:spPr>
        <p:txBody>
          <a:bodyPr wrap="square" anchor="t"/>
          <a:lstStyle/>
          <a:p>
            <a:pPr algn="l">
              <a:defRPr sz="900" b="0">
                <a:solidFill>
                  <a:srgbClr val="666666"/>
                </a:solidFill>
                <a:latin typeface="Arial"/>
              </a:defRPr>
            </a:pPr>
            <a:r>
              <a:t>Checks citation topic/text alignment against source material</a:t>
            </a:r>
          </a:p>
        </p:txBody>
      </p:sp>
      <p:sp>
        <p:nvSpPr>
          <p:cNvPr id="31" name="Oval 30"/>
          <p:cNvSpPr/>
          <p:nvPr/>
        </p:nvSpPr>
        <p:spPr>
          <a:xfrm>
            <a:off x="4846320" y="323697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74920" y="3200400"/>
            <a:ext cx="3566160" cy="201168"/>
          </a:xfrm>
          <a:prstGeom prst="rect">
            <a:avLst/>
          </a:prstGeom>
          <a:noFill/>
        </p:spPr>
        <p:txBody>
          <a:bodyPr wrap="square" anchor="t"/>
          <a:lstStyle/>
          <a:p>
            <a:pPr algn="l">
              <a:defRPr sz="1100" b="1">
                <a:solidFill>
                  <a:srgbClr val="333333"/>
                </a:solidFill>
                <a:latin typeface="Arial"/>
              </a:defRPr>
            </a:pPr>
            <a:r>
              <a:t>Stale Graph Detection</a:t>
            </a:r>
          </a:p>
        </p:txBody>
      </p:sp>
      <p:sp>
        <p:nvSpPr>
          <p:cNvPr id="33" name="TextBox 32"/>
          <p:cNvSpPr txBox="1"/>
          <p:nvPr/>
        </p:nvSpPr>
        <p:spPr>
          <a:xfrm>
            <a:off x="5074920" y="3401568"/>
            <a:ext cx="3566160" cy="274320"/>
          </a:xfrm>
          <a:prstGeom prst="rect">
            <a:avLst/>
          </a:prstGeom>
          <a:noFill/>
        </p:spPr>
        <p:txBody>
          <a:bodyPr wrap="square" anchor="t"/>
          <a:lstStyle/>
          <a:p>
            <a:pPr algn="l">
              <a:defRPr sz="900" b="0">
                <a:solidFill>
                  <a:srgbClr val="666666"/>
                </a:solidFill>
                <a:latin typeface="Arial"/>
              </a:defRPr>
            </a:pPr>
            <a:r>
              <a:t>Compares graph index age vs. document ingest timestamps</a:t>
            </a:r>
          </a:p>
        </p:txBody>
      </p:sp>
      <p:sp>
        <p:nvSpPr>
          <p:cNvPr id="34" name="Rectangle 33"/>
          <p:cNvSpPr/>
          <p:nvPr/>
        </p:nvSpPr>
        <p:spPr>
          <a:xfrm>
            <a:off x="502920" y="3931920"/>
            <a:ext cx="8138160" cy="9144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4005072"/>
            <a:ext cx="7680960" cy="274320"/>
          </a:xfrm>
          <a:prstGeom prst="rect">
            <a:avLst/>
          </a:prstGeom>
          <a:noFill/>
        </p:spPr>
        <p:txBody>
          <a:bodyPr wrap="square" anchor="t"/>
          <a:lstStyle/>
          <a:p>
            <a:pPr algn="l">
              <a:defRPr sz="1200" b="1">
                <a:solidFill>
                  <a:srgbClr val="0097A7"/>
                </a:solidFill>
                <a:latin typeface="Arial"/>
              </a:defRPr>
            </a:pPr>
            <a:r>
              <a:t>4-LEVEL RELEVANCE GRADING</a:t>
            </a:r>
          </a:p>
        </p:txBody>
      </p:sp>
      <p:sp>
        <p:nvSpPr>
          <p:cNvPr id="36" name="TextBox 35"/>
          <p:cNvSpPr txBox="1"/>
          <p:nvPr/>
        </p:nvSpPr>
        <p:spPr>
          <a:xfrm>
            <a:off x="731520" y="4297680"/>
            <a:ext cx="7680960" cy="228600"/>
          </a:xfrm>
          <a:prstGeom prst="rect">
            <a:avLst/>
          </a:prstGeom>
          <a:noFill/>
        </p:spPr>
        <p:txBody>
          <a:bodyPr wrap="square" anchor="t"/>
          <a:lstStyle/>
          <a:p>
            <a:pPr algn="ctr">
              <a:defRPr sz="1200" b="0">
                <a:solidFill>
                  <a:srgbClr val="FFFFFF"/>
                </a:solidFill>
                <a:latin typeface="Arial"/>
              </a:defRPr>
            </a:pPr>
            <a:r>
              <a:t>0 = Not Relevant    |    1 = Somewhat    |    2 = Relevant    |    3 = Highly Relevant</a:t>
            </a:r>
          </a:p>
        </p:txBody>
      </p:sp>
      <p:sp>
        <p:nvSpPr>
          <p:cNvPr id="37" name="TextBox 36"/>
          <p:cNvSpPr txBox="1"/>
          <p:nvPr/>
        </p:nvSpPr>
        <p:spPr>
          <a:xfrm>
            <a:off x="731520" y="4572000"/>
            <a:ext cx="7680960" cy="201168"/>
          </a:xfrm>
          <a:prstGeom prst="rect">
            <a:avLst/>
          </a:prstGeom>
          <a:noFill/>
        </p:spPr>
        <p:txBody>
          <a:bodyPr wrap="square" anchor="t"/>
          <a:lstStyle/>
          <a:p>
            <a:pPr algn="ctr">
              <a:defRPr sz="1000" b="0">
                <a:solidFill>
                  <a:srgbClr val="CCCCCC"/>
                </a:solidFill>
                <a:latin typeface="Arial"/>
              </a:defRPr>
            </a:pPr>
            <a:r>
              <a:t>LLM grading (max 12 chunks) with heuristic fallback (term overlap &gt;= 3 tokens = score 3)</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Persistence, Observability &amp; Benchmarks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PostgreSQL persistence layer, dedicated observability directory, and benchmark suite</a:t>
            </a:r>
          </a:p>
        </p:txBody>
      </p:sp>
      <p:sp>
        <p:nvSpPr>
          <p:cNvPr id="6" name="Rectangle 5"/>
          <p:cNvSpPr/>
          <p:nvPr/>
        </p:nvSpPr>
        <p:spPr>
          <a:xfrm>
            <a:off x="502920" y="1371600"/>
            <a:ext cx="2560320" cy="301752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71600"/>
            <a:ext cx="54864" cy="301752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63040"/>
            <a:ext cx="2286000" cy="274320"/>
          </a:xfrm>
          <a:prstGeom prst="rect">
            <a:avLst/>
          </a:prstGeom>
          <a:noFill/>
        </p:spPr>
        <p:txBody>
          <a:bodyPr wrap="square" anchor="t"/>
          <a:lstStyle/>
          <a:p>
            <a:pPr algn="l">
              <a:defRPr sz="1400" b="1">
                <a:solidFill>
                  <a:srgbClr val="FFFFFF"/>
                </a:solidFill>
                <a:latin typeface="Arial"/>
              </a:defRPr>
            </a:pPr>
            <a:r>
              <a:t>Persistence (persistence/)</a:t>
            </a:r>
          </a:p>
        </p:txBody>
      </p:sp>
      <p:sp>
        <p:nvSpPr>
          <p:cNvPr id="9" name="TextBox 8"/>
          <p:cNvSpPr txBox="1"/>
          <p:nvPr/>
        </p:nvSpPr>
        <p:spPr>
          <a:xfrm>
            <a:off x="731520" y="1828800"/>
            <a:ext cx="2194560" cy="228600"/>
          </a:xfrm>
          <a:prstGeom prst="rect">
            <a:avLst/>
          </a:prstGeom>
          <a:noFill/>
        </p:spPr>
        <p:txBody>
          <a:bodyPr wrap="square" anchor="t"/>
          <a:lstStyle/>
          <a:p>
            <a:pPr algn="l">
              <a:defRPr sz="1000" b="0">
                <a:solidFill>
                  <a:srgbClr val="CCCCCC"/>
                </a:solidFill>
                <a:latin typeface="Arial"/>
              </a:defRPr>
            </a:pPr>
            <a:r>
              <a:t>- PostgreSQL-backed data layer</a:t>
            </a:r>
          </a:p>
        </p:txBody>
      </p:sp>
      <p:sp>
        <p:nvSpPr>
          <p:cNvPr id="10" name="TextBox 9"/>
          <p:cNvSpPr txBox="1"/>
          <p:nvPr/>
        </p:nvSpPr>
        <p:spPr>
          <a:xfrm>
            <a:off x="731520" y="2103120"/>
            <a:ext cx="2194560" cy="228600"/>
          </a:xfrm>
          <a:prstGeom prst="rect">
            <a:avLst/>
          </a:prstGeom>
          <a:noFill/>
        </p:spPr>
        <p:txBody>
          <a:bodyPr wrap="square" anchor="t"/>
          <a:lstStyle/>
          <a:p>
            <a:pPr algn="l">
              <a:defRPr sz="1000" b="0">
                <a:solidFill>
                  <a:srgbClr val="CCCCCC"/>
                </a:solidFill>
                <a:latin typeface="Arial"/>
              </a:defRPr>
            </a:pPr>
            <a:r>
              <a:t>- pgvector for embeddings</a:t>
            </a:r>
          </a:p>
        </p:txBody>
      </p:sp>
      <p:sp>
        <p:nvSpPr>
          <p:cNvPr id="11" name="TextBox 10"/>
          <p:cNvSpPr txBox="1"/>
          <p:nvPr/>
        </p:nvSpPr>
        <p:spPr>
          <a:xfrm>
            <a:off x="731520" y="2377440"/>
            <a:ext cx="2194560" cy="228600"/>
          </a:xfrm>
          <a:prstGeom prst="rect">
            <a:avLst/>
          </a:prstGeom>
          <a:noFill/>
        </p:spPr>
        <p:txBody>
          <a:bodyPr wrap="square" anchor="t"/>
          <a:lstStyle/>
          <a:p>
            <a:pPr algn="l">
              <a:defRPr sz="1000" b="0">
                <a:solidFill>
                  <a:srgbClr val="CCCCCC"/>
                </a:solidFill>
                <a:latin typeface="Arial"/>
              </a:defRPr>
            </a:pPr>
            <a:r>
              <a:t>- Session transcript storage</a:t>
            </a:r>
          </a:p>
        </p:txBody>
      </p:sp>
      <p:sp>
        <p:nvSpPr>
          <p:cNvPr id="12" name="TextBox 11"/>
          <p:cNvSpPr txBox="1"/>
          <p:nvPr/>
        </p:nvSpPr>
        <p:spPr>
          <a:xfrm>
            <a:off x="731520" y="2651760"/>
            <a:ext cx="2194560" cy="228600"/>
          </a:xfrm>
          <a:prstGeom prst="rect">
            <a:avLst/>
          </a:prstGeom>
          <a:noFill/>
        </p:spPr>
        <p:txBody>
          <a:bodyPr wrap="square" anchor="t"/>
          <a:lstStyle/>
          <a:p>
            <a:pPr algn="l">
              <a:defRPr sz="1000" b="0">
                <a:solidFill>
                  <a:srgbClr val="CCCCCC"/>
                </a:solidFill>
                <a:latin typeface="Arial"/>
              </a:defRPr>
            </a:pPr>
            <a:r>
              <a:t>- Job records &amp; results</a:t>
            </a:r>
          </a:p>
        </p:txBody>
      </p:sp>
      <p:sp>
        <p:nvSpPr>
          <p:cNvPr id="13" name="TextBox 12"/>
          <p:cNvSpPr txBox="1"/>
          <p:nvPr/>
        </p:nvSpPr>
        <p:spPr>
          <a:xfrm>
            <a:off x="731520" y="2926080"/>
            <a:ext cx="2194560" cy="228600"/>
          </a:xfrm>
          <a:prstGeom prst="rect">
            <a:avLst/>
          </a:prstGeom>
          <a:noFill/>
        </p:spPr>
        <p:txBody>
          <a:bodyPr wrap="square" anchor="t"/>
          <a:lstStyle/>
          <a:p>
            <a:pPr algn="l">
              <a:defRPr sz="1000" b="0">
                <a:solidFill>
                  <a:srgbClr val="CCCCCC"/>
                </a:solidFill>
                <a:latin typeface="Arial"/>
              </a:defRPr>
            </a:pPr>
            <a:r>
              <a:t>- Tenant/user data isolation</a:t>
            </a:r>
          </a:p>
        </p:txBody>
      </p:sp>
      <p:sp>
        <p:nvSpPr>
          <p:cNvPr id="14" name="TextBox 13"/>
          <p:cNvSpPr txBox="1"/>
          <p:nvPr/>
        </p:nvSpPr>
        <p:spPr>
          <a:xfrm>
            <a:off x="731520" y="3200400"/>
            <a:ext cx="2194560" cy="228600"/>
          </a:xfrm>
          <a:prstGeom prst="rect">
            <a:avLst/>
          </a:prstGeom>
          <a:noFill/>
        </p:spPr>
        <p:txBody>
          <a:bodyPr wrap="square" anchor="t"/>
          <a:lstStyle/>
          <a:p>
            <a:pPr algn="l">
              <a:defRPr sz="1000" b="0">
                <a:solidFill>
                  <a:srgbClr val="CCCCCC"/>
                </a:solidFill>
                <a:latin typeface="Arial"/>
              </a:defRPr>
            </a:pPr>
            <a:r>
              <a:t>- Migration support</a:t>
            </a:r>
          </a:p>
        </p:txBody>
      </p:sp>
      <p:sp>
        <p:nvSpPr>
          <p:cNvPr id="15" name="Rectangle 14"/>
          <p:cNvSpPr/>
          <p:nvPr/>
        </p:nvSpPr>
        <p:spPr>
          <a:xfrm>
            <a:off x="3200400" y="1371600"/>
            <a:ext cx="2560320" cy="301752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00400" y="1371600"/>
            <a:ext cx="54864" cy="301752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83280" y="1463040"/>
            <a:ext cx="2286000" cy="274320"/>
          </a:xfrm>
          <a:prstGeom prst="rect">
            <a:avLst/>
          </a:prstGeom>
          <a:noFill/>
        </p:spPr>
        <p:txBody>
          <a:bodyPr wrap="square" anchor="t"/>
          <a:lstStyle/>
          <a:p>
            <a:pPr algn="l">
              <a:defRPr sz="1400" b="1">
                <a:solidFill>
                  <a:srgbClr val="FFFFFF"/>
                </a:solidFill>
                <a:latin typeface="Arial"/>
              </a:defRPr>
            </a:pPr>
            <a:r>
              <a:t>Observability (observability/)</a:t>
            </a:r>
          </a:p>
        </p:txBody>
      </p:sp>
      <p:sp>
        <p:nvSpPr>
          <p:cNvPr id="18" name="TextBox 17"/>
          <p:cNvSpPr txBox="1"/>
          <p:nvPr/>
        </p:nvSpPr>
        <p:spPr>
          <a:xfrm>
            <a:off x="3429000" y="1828800"/>
            <a:ext cx="2194560" cy="228600"/>
          </a:xfrm>
          <a:prstGeom prst="rect">
            <a:avLst/>
          </a:prstGeom>
          <a:noFill/>
        </p:spPr>
        <p:txBody>
          <a:bodyPr wrap="square" anchor="t"/>
          <a:lstStyle/>
          <a:p>
            <a:pPr algn="l">
              <a:defRPr sz="1000" b="0">
                <a:solidFill>
                  <a:srgbClr val="CCCCCC"/>
                </a:solidFill>
                <a:latin typeface="Arial"/>
              </a:defRPr>
            </a:pPr>
            <a:r>
              <a:t>- LangFuse integration for traces</a:t>
            </a:r>
          </a:p>
        </p:txBody>
      </p:sp>
      <p:sp>
        <p:nvSpPr>
          <p:cNvPr id="19" name="TextBox 18"/>
          <p:cNvSpPr txBox="1"/>
          <p:nvPr/>
        </p:nvSpPr>
        <p:spPr>
          <a:xfrm>
            <a:off x="3429000" y="2103120"/>
            <a:ext cx="2194560" cy="228600"/>
          </a:xfrm>
          <a:prstGeom prst="rect">
            <a:avLst/>
          </a:prstGeom>
          <a:noFill/>
        </p:spPr>
        <p:txBody>
          <a:bodyPr wrap="square" anchor="t"/>
          <a:lstStyle/>
          <a:p>
            <a:pPr algn="l">
              <a:defRPr sz="1000" b="0">
                <a:solidFill>
                  <a:srgbClr val="CCCCCC"/>
                </a:solidFill>
                <a:latin typeface="Arial"/>
              </a:defRPr>
            </a:pPr>
            <a:r>
              <a:t>- Event emission per tool call</a:t>
            </a:r>
          </a:p>
        </p:txBody>
      </p:sp>
      <p:sp>
        <p:nvSpPr>
          <p:cNvPr id="20" name="TextBox 19"/>
          <p:cNvSpPr txBox="1"/>
          <p:nvPr/>
        </p:nvSpPr>
        <p:spPr>
          <a:xfrm>
            <a:off x="3429000" y="2377440"/>
            <a:ext cx="2194560" cy="228600"/>
          </a:xfrm>
          <a:prstGeom prst="rect">
            <a:avLst/>
          </a:prstGeom>
          <a:noFill/>
        </p:spPr>
        <p:txBody>
          <a:bodyPr wrap="square" anchor="t"/>
          <a:lstStyle/>
          <a:p>
            <a:pPr algn="l">
              <a:defRPr sz="1000" b="0">
                <a:solidFill>
                  <a:srgbClr val="CCCCCC"/>
                </a:solidFill>
                <a:latin typeface="Arial"/>
              </a:defRPr>
            </a:pPr>
            <a:r>
              <a:t>- Router decision logging</a:t>
            </a:r>
          </a:p>
        </p:txBody>
      </p:sp>
      <p:sp>
        <p:nvSpPr>
          <p:cNvPr id="21" name="TextBox 20"/>
          <p:cNvSpPr txBox="1"/>
          <p:nvPr/>
        </p:nvSpPr>
        <p:spPr>
          <a:xfrm>
            <a:off x="3429000" y="2651760"/>
            <a:ext cx="2194560" cy="228600"/>
          </a:xfrm>
          <a:prstGeom prst="rect">
            <a:avLst/>
          </a:prstGeom>
          <a:noFill/>
        </p:spPr>
        <p:txBody>
          <a:bodyPr wrap="square" anchor="t"/>
          <a:lstStyle/>
          <a:p>
            <a:pPr algn="l">
              <a:defRPr sz="1000" b="0">
                <a:solidFill>
                  <a:srgbClr val="CCCCCC"/>
                </a:solidFill>
                <a:latin typeface="Arial"/>
              </a:defRPr>
            </a:pPr>
            <a:r>
              <a:t>- Turn-level status tracking</a:t>
            </a:r>
          </a:p>
        </p:txBody>
      </p:sp>
      <p:sp>
        <p:nvSpPr>
          <p:cNvPr id="22" name="TextBox 21"/>
          <p:cNvSpPr txBox="1"/>
          <p:nvPr/>
        </p:nvSpPr>
        <p:spPr>
          <a:xfrm>
            <a:off x="3429000" y="2926080"/>
            <a:ext cx="2194560" cy="228600"/>
          </a:xfrm>
          <a:prstGeom prst="rect">
            <a:avLst/>
          </a:prstGeom>
          <a:noFill/>
        </p:spPr>
        <p:txBody>
          <a:bodyPr wrap="square" anchor="t"/>
          <a:lstStyle/>
          <a:p>
            <a:pPr algn="l">
              <a:defRPr sz="1000" b="0">
                <a:solidFill>
                  <a:srgbClr val="CCCCCC"/>
                </a:solidFill>
                <a:latin typeface="Arial"/>
              </a:defRPr>
            </a:pPr>
            <a:r>
              <a:t>- SSE progress streaming</a:t>
            </a:r>
          </a:p>
        </p:txBody>
      </p:sp>
      <p:sp>
        <p:nvSpPr>
          <p:cNvPr id="23" name="TextBox 22"/>
          <p:cNvSpPr txBox="1"/>
          <p:nvPr/>
        </p:nvSpPr>
        <p:spPr>
          <a:xfrm>
            <a:off x="3429000" y="3200400"/>
            <a:ext cx="2194560" cy="228600"/>
          </a:xfrm>
          <a:prstGeom prst="rect">
            <a:avLst/>
          </a:prstGeom>
          <a:noFill/>
        </p:spPr>
        <p:txBody>
          <a:bodyPr wrap="square" anchor="t"/>
          <a:lstStyle/>
          <a:p>
            <a:pPr algn="l">
              <a:defRPr sz="1000" b="0">
                <a:solidFill>
                  <a:srgbClr val="CCCCCC"/>
                </a:solidFill>
                <a:latin typeface="Arial"/>
              </a:defRPr>
            </a:pPr>
            <a:r>
              <a:t>- events.jsonl audit trail</a:t>
            </a:r>
          </a:p>
        </p:txBody>
      </p:sp>
      <p:sp>
        <p:nvSpPr>
          <p:cNvPr id="24" name="Rectangle 23"/>
          <p:cNvSpPr/>
          <p:nvPr/>
        </p:nvSpPr>
        <p:spPr>
          <a:xfrm>
            <a:off x="5897880" y="1371600"/>
            <a:ext cx="2560320" cy="301752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5897880" y="1371600"/>
            <a:ext cx="54864" cy="30175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080760" y="1463040"/>
            <a:ext cx="2286000" cy="274320"/>
          </a:xfrm>
          <a:prstGeom prst="rect">
            <a:avLst/>
          </a:prstGeom>
          <a:noFill/>
        </p:spPr>
        <p:txBody>
          <a:bodyPr wrap="square" anchor="t"/>
          <a:lstStyle/>
          <a:p>
            <a:pPr algn="l">
              <a:defRPr sz="1400" b="1">
                <a:solidFill>
                  <a:srgbClr val="FFFFFF"/>
                </a:solidFill>
                <a:latin typeface="Arial"/>
              </a:defRPr>
            </a:pPr>
            <a:r>
              <a:t>Benchmark (benchmark/)</a:t>
            </a:r>
          </a:p>
        </p:txBody>
      </p:sp>
      <p:sp>
        <p:nvSpPr>
          <p:cNvPr id="27" name="TextBox 26"/>
          <p:cNvSpPr txBox="1"/>
          <p:nvPr/>
        </p:nvSpPr>
        <p:spPr>
          <a:xfrm>
            <a:off x="6126480" y="1828800"/>
            <a:ext cx="2194560" cy="228600"/>
          </a:xfrm>
          <a:prstGeom prst="rect">
            <a:avLst/>
          </a:prstGeom>
          <a:noFill/>
        </p:spPr>
        <p:txBody>
          <a:bodyPr wrap="square" anchor="t"/>
          <a:lstStyle/>
          <a:p>
            <a:pPr algn="l">
              <a:defRPr sz="1000" b="0">
                <a:solidFill>
                  <a:srgbClr val="CCCCCC"/>
                </a:solidFill>
                <a:latin typeface="Arial"/>
              </a:defRPr>
            </a:pPr>
            <a:r>
              <a:t>- Performance benchmarking suite</a:t>
            </a:r>
          </a:p>
        </p:txBody>
      </p:sp>
      <p:sp>
        <p:nvSpPr>
          <p:cNvPr id="28" name="TextBox 27"/>
          <p:cNvSpPr txBox="1"/>
          <p:nvPr/>
        </p:nvSpPr>
        <p:spPr>
          <a:xfrm>
            <a:off x="6126480" y="2103120"/>
            <a:ext cx="2194560" cy="228600"/>
          </a:xfrm>
          <a:prstGeom prst="rect">
            <a:avLst/>
          </a:prstGeom>
          <a:noFill/>
        </p:spPr>
        <p:txBody>
          <a:bodyPr wrap="square" anchor="t"/>
          <a:lstStyle/>
          <a:p>
            <a:pPr algn="l">
              <a:defRPr sz="1000" b="0">
                <a:solidFill>
                  <a:srgbClr val="CCCCCC"/>
                </a:solidFill>
                <a:latin typeface="Arial"/>
              </a:defRPr>
            </a:pPr>
            <a:r>
              <a:t>- Defense RAG test corpus</a:t>
            </a:r>
          </a:p>
        </p:txBody>
      </p:sp>
      <p:sp>
        <p:nvSpPr>
          <p:cNvPr id="29" name="TextBox 28"/>
          <p:cNvSpPr txBox="1"/>
          <p:nvPr/>
        </p:nvSpPr>
        <p:spPr>
          <a:xfrm>
            <a:off x="6126480" y="2377440"/>
            <a:ext cx="2194560" cy="228600"/>
          </a:xfrm>
          <a:prstGeom prst="rect">
            <a:avLst/>
          </a:prstGeom>
          <a:noFill/>
        </p:spPr>
        <p:txBody>
          <a:bodyPr wrap="square" anchor="t"/>
          <a:lstStyle/>
          <a:p>
            <a:pPr algn="l">
              <a:defRPr sz="1000" b="0">
                <a:solidFill>
                  <a:srgbClr val="CCCCCC"/>
                </a:solidFill>
                <a:latin typeface="Arial"/>
              </a:defRPr>
            </a:pPr>
            <a:r>
              <a:t>- Adversarial prompt testing</a:t>
            </a:r>
          </a:p>
        </p:txBody>
      </p:sp>
      <p:sp>
        <p:nvSpPr>
          <p:cNvPr id="30" name="TextBox 29"/>
          <p:cNvSpPr txBox="1"/>
          <p:nvPr/>
        </p:nvSpPr>
        <p:spPr>
          <a:xfrm>
            <a:off x="6126480" y="2651760"/>
            <a:ext cx="2194560" cy="228600"/>
          </a:xfrm>
          <a:prstGeom prst="rect">
            <a:avLst/>
          </a:prstGeom>
          <a:noFill/>
        </p:spPr>
        <p:txBody>
          <a:bodyPr wrap="square" anchor="t"/>
          <a:lstStyle/>
          <a:p>
            <a:pPr algn="l">
              <a:defRPr sz="1000" b="0">
                <a:solidFill>
                  <a:srgbClr val="CCCCCC"/>
                </a:solidFill>
                <a:latin typeface="Arial"/>
              </a:defRPr>
            </a:pPr>
            <a:r>
              <a:t>- Regression detection</a:t>
            </a:r>
          </a:p>
        </p:txBody>
      </p:sp>
      <p:sp>
        <p:nvSpPr>
          <p:cNvPr id="31" name="TextBox 30"/>
          <p:cNvSpPr txBox="1"/>
          <p:nvPr/>
        </p:nvSpPr>
        <p:spPr>
          <a:xfrm>
            <a:off x="6126480" y="2926080"/>
            <a:ext cx="2194560" cy="228600"/>
          </a:xfrm>
          <a:prstGeom prst="rect">
            <a:avLst/>
          </a:prstGeom>
          <a:noFill/>
        </p:spPr>
        <p:txBody>
          <a:bodyPr wrap="square" anchor="t"/>
          <a:lstStyle/>
          <a:p>
            <a:pPr algn="l">
              <a:defRPr sz="1000" b="0">
                <a:solidFill>
                  <a:srgbClr val="CCCCCC"/>
                </a:solidFill>
                <a:latin typeface="Arial"/>
              </a:defRPr>
            </a:pPr>
            <a:r>
              <a:t>- Latency profiling per tool</a:t>
            </a:r>
          </a:p>
        </p:txBody>
      </p:sp>
      <p:sp>
        <p:nvSpPr>
          <p:cNvPr id="32" name="TextBox 31"/>
          <p:cNvSpPr txBox="1"/>
          <p:nvPr/>
        </p:nvSpPr>
        <p:spPr>
          <a:xfrm>
            <a:off x="6126480" y="3200400"/>
            <a:ext cx="2194560" cy="228600"/>
          </a:xfrm>
          <a:prstGeom prst="rect">
            <a:avLst/>
          </a:prstGeom>
          <a:noFill/>
        </p:spPr>
        <p:txBody>
          <a:bodyPr wrap="square" anchor="t"/>
          <a:lstStyle/>
          <a:p>
            <a:pPr algn="l">
              <a:defRPr sz="1000" b="0">
                <a:solidFill>
                  <a:srgbClr val="CCCCCC"/>
                </a:solidFill>
                <a:latin typeface="Arial"/>
              </a:defRPr>
            </a:pPr>
            <a:r>
              <a:t>- Token cost analysis</a:t>
            </a:r>
          </a:p>
        </p:txBody>
      </p:sp>
      <p:sp>
        <p:nvSpPr>
          <p:cNvPr id="33" name="TextBox 32"/>
          <p:cNvSpPr txBox="1"/>
          <p:nvPr/>
        </p:nvSpPr>
        <p:spPr>
          <a:xfrm>
            <a:off x="502920" y="4572000"/>
            <a:ext cx="8138160" cy="365760"/>
          </a:xfrm>
          <a:prstGeom prst="rect">
            <a:avLst/>
          </a:prstGeom>
          <a:noFill/>
        </p:spPr>
        <p:txBody>
          <a:bodyPr wrap="square" anchor="t"/>
          <a:lstStyle/>
          <a:p>
            <a:pPr algn="l">
              <a:defRPr sz="1000" b="0">
                <a:solidFill>
                  <a:srgbClr val="888888"/>
                </a:solidFill>
                <a:latin typeface="Arial"/>
              </a:defRPr>
            </a:pPr>
            <a:r>
              <a:t>Sandbox: 180s timeout, isolated Docker containers. Control Panel Frontend: React/TypeScript (Vite) at /control_panel/.</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Top-Level Repository Map</a:t>
            </a:r>
            <a:endParaRPr lang="en-US" sz="2600" dirty="0"/>
          </a:p>
        </p:txBody>
      </p:sp>
      <p:sp>
        <p:nvSpPr>
          <p:cNvPr id="3" name="Text 1"/>
          <p:cNvSpPr/>
          <p:nvPr/>
        </p:nvSpPr>
        <p:spPr>
          <a:xfrm>
            <a:off x="502920" y="841248"/>
            <a:ext cx="8138160" cy="32004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The repo is organized into 8 major top-level areas. Every feature you want to change lives in one of these directories.</a:t>
            </a:r>
            <a:endParaRPr lang="en-US" sz="1050" dirty="0"/>
          </a:p>
        </p:txBody>
      </p:sp>
      <p:sp>
        <p:nvSpPr>
          <p:cNvPr id="4" name="Shape 2"/>
          <p:cNvSpPr/>
          <p:nvPr/>
        </p:nvSpPr>
        <p:spPr>
          <a:xfrm>
            <a:off x="502920" y="1261872"/>
            <a:ext cx="2926080" cy="384048"/>
          </a:xfrm>
          <a:prstGeom prst="rect">
            <a:avLst/>
          </a:prstGeom>
          <a:solidFill>
            <a:srgbClr val="0097A7"/>
          </a:solidFill>
          <a:ln/>
        </p:spPr>
        <p:txBody>
          <a:bodyPr/>
          <a:lstStyle/>
          <a:p>
            <a:endParaRPr lang="en-US"/>
          </a:p>
        </p:txBody>
      </p:sp>
      <p:sp>
        <p:nvSpPr>
          <p:cNvPr id="5" name="Text 3"/>
          <p:cNvSpPr/>
          <p:nvPr/>
        </p:nvSpPr>
        <p:spPr>
          <a:xfrm>
            <a:off x="594360" y="126187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src/agentic_chatbot_next/</a:t>
            </a:r>
            <a:endParaRPr lang="en-US" sz="950" dirty="0"/>
          </a:p>
        </p:txBody>
      </p:sp>
      <p:sp>
        <p:nvSpPr>
          <p:cNvPr id="6" name="Shape 4"/>
          <p:cNvSpPr/>
          <p:nvPr/>
        </p:nvSpPr>
        <p:spPr>
          <a:xfrm>
            <a:off x="3429000" y="1261872"/>
            <a:ext cx="5212080" cy="384048"/>
          </a:xfrm>
          <a:prstGeom prst="rect">
            <a:avLst/>
          </a:prstGeom>
          <a:solidFill>
            <a:srgbClr val="F5F5F5"/>
          </a:solidFill>
          <a:ln w="3810">
            <a:solidFill>
              <a:srgbClr val="F0F0F0"/>
            </a:solidFill>
            <a:prstDash val="solid"/>
          </a:ln>
        </p:spPr>
        <p:txBody>
          <a:bodyPr/>
          <a:lstStyle/>
          <a:p>
            <a:endParaRPr lang="en-US"/>
          </a:p>
        </p:txBody>
      </p:sp>
      <p:sp>
        <p:nvSpPr>
          <p:cNvPr id="7" name="Text 5"/>
          <p:cNvSpPr/>
          <p:nvPr/>
        </p:nvSpPr>
        <p:spPr>
          <a:xfrm>
            <a:off x="3520440" y="126187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Python backend: agents, RAG, runtime, tools, skills, providers, control panel API. 133 files, 27 modules. THE main codebase.</a:t>
            </a:r>
            <a:endParaRPr lang="en-US" sz="900" dirty="0"/>
          </a:p>
        </p:txBody>
      </p:sp>
      <p:sp>
        <p:nvSpPr>
          <p:cNvPr id="8" name="Shape 6"/>
          <p:cNvSpPr/>
          <p:nvPr/>
        </p:nvSpPr>
        <p:spPr>
          <a:xfrm>
            <a:off x="502920" y="1673352"/>
            <a:ext cx="2926080" cy="384048"/>
          </a:xfrm>
          <a:prstGeom prst="rect">
            <a:avLst/>
          </a:prstGeom>
          <a:solidFill>
            <a:srgbClr val="1B2A4A"/>
          </a:solidFill>
          <a:ln/>
        </p:spPr>
        <p:txBody>
          <a:bodyPr/>
          <a:lstStyle/>
          <a:p>
            <a:endParaRPr lang="en-US"/>
          </a:p>
        </p:txBody>
      </p:sp>
      <p:sp>
        <p:nvSpPr>
          <p:cNvPr id="9" name="Text 7"/>
          <p:cNvSpPr/>
          <p:nvPr/>
        </p:nvSpPr>
        <p:spPr>
          <a:xfrm>
            <a:off x="594360" y="167335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frontend/</a:t>
            </a:r>
            <a:endParaRPr lang="en-US" sz="950" dirty="0"/>
          </a:p>
        </p:txBody>
      </p:sp>
      <p:sp>
        <p:nvSpPr>
          <p:cNvPr id="10" name="Shape 8"/>
          <p:cNvSpPr/>
          <p:nvPr/>
        </p:nvSpPr>
        <p:spPr>
          <a:xfrm>
            <a:off x="3429000" y="1673352"/>
            <a:ext cx="5212080" cy="384048"/>
          </a:xfrm>
          <a:prstGeom prst="rect">
            <a:avLst/>
          </a:prstGeom>
          <a:solidFill>
            <a:srgbClr val="FFFFFF"/>
          </a:solidFill>
          <a:ln w="3810">
            <a:solidFill>
              <a:srgbClr val="F0F0F0"/>
            </a:solidFill>
            <a:prstDash val="solid"/>
          </a:ln>
        </p:spPr>
        <p:txBody>
          <a:bodyPr/>
          <a:lstStyle/>
          <a:p>
            <a:endParaRPr lang="en-US"/>
          </a:p>
        </p:txBody>
      </p:sp>
      <p:sp>
        <p:nvSpPr>
          <p:cNvPr id="11" name="Text 9"/>
          <p:cNvSpPr/>
          <p:nvPr/>
        </p:nvSpPr>
        <p:spPr>
          <a:xfrm>
            <a:off x="3520440" y="167335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React 18 + TypeScript chat UI. Components: ChatWindow, MessageBubble, AgentStatusPanel, FileUpload, ChatInput. Vite build.</a:t>
            </a:r>
            <a:endParaRPr lang="en-US" sz="900" dirty="0"/>
          </a:p>
        </p:txBody>
      </p:sp>
      <p:sp>
        <p:nvSpPr>
          <p:cNvPr id="12" name="Shape 10"/>
          <p:cNvSpPr/>
          <p:nvPr/>
        </p:nvSpPr>
        <p:spPr>
          <a:xfrm>
            <a:off x="502920" y="2084832"/>
            <a:ext cx="2926080" cy="384048"/>
          </a:xfrm>
          <a:prstGeom prst="rect">
            <a:avLst/>
          </a:prstGeom>
          <a:solidFill>
            <a:srgbClr val="00796B"/>
          </a:solidFill>
          <a:ln/>
        </p:spPr>
        <p:txBody>
          <a:bodyPr/>
          <a:lstStyle/>
          <a:p>
            <a:endParaRPr lang="en-US"/>
          </a:p>
        </p:txBody>
      </p:sp>
      <p:sp>
        <p:nvSpPr>
          <p:cNvPr id="13" name="Text 11"/>
          <p:cNvSpPr/>
          <p:nvPr/>
        </p:nvSpPr>
        <p:spPr>
          <a:xfrm>
            <a:off x="594360" y="208483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control_panel/</a:t>
            </a:r>
            <a:endParaRPr lang="en-US" sz="950" dirty="0"/>
          </a:p>
        </p:txBody>
      </p:sp>
      <p:sp>
        <p:nvSpPr>
          <p:cNvPr id="14" name="Shape 12"/>
          <p:cNvSpPr/>
          <p:nvPr/>
        </p:nvSpPr>
        <p:spPr>
          <a:xfrm>
            <a:off x="3429000" y="2084832"/>
            <a:ext cx="5212080" cy="384048"/>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3520440" y="208483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React 18 + TypeScript admin UI (109KB App.tsx). System overview, agent/prompt editor, KB management, job monitor, audit log.</a:t>
            </a:r>
            <a:endParaRPr lang="en-US" sz="900" dirty="0"/>
          </a:p>
        </p:txBody>
      </p:sp>
      <p:sp>
        <p:nvSpPr>
          <p:cNvPr id="16" name="Shape 14"/>
          <p:cNvSpPr/>
          <p:nvPr/>
        </p:nvSpPr>
        <p:spPr>
          <a:xfrm>
            <a:off x="502920" y="2496312"/>
            <a:ext cx="2926080" cy="384048"/>
          </a:xfrm>
          <a:prstGeom prst="rect">
            <a:avLst/>
          </a:prstGeom>
          <a:solidFill>
            <a:srgbClr val="F9A825"/>
          </a:solidFill>
          <a:ln/>
        </p:spPr>
        <p:txBody>
          <a:bodyPr/>
          <a:lstStyle/>
          <a:p>
            <a:endParaRPr lang="en-US"/>
          </a:p>
        </p:txBody>
      </p:sp>
      <p:sp>
        <p:nvSpPr>
          <p:cNvPr id="17" name="Text 15"/>
          <p:cNvSpPr/>
          <p:nvPr/>
        </p:nvSpPr>
        <p:spPr>
          <a:xfrm>
            <a:off x="594360" y="249631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data/</a:t>
            </a:r>
            <a:endParaRPr lang="en-US" sz="950" dirty="0"/>
          </a:p>
        </p:txBody>
      </p:sp>
      <p:sp>
        <p:nvSpPr>
          <p:cNvPr id="18" name="Shape 16"/>
          <p:cNvSpPr/>
          <p:nvPr/>
        </p:nvSpPr>
        <p:spPr>
          <a:xfrm>
            <a:off x="3429000" y="2496312"/>
            <a:ext cx="5212080" cy="384048"/>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3520440" y="249631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Runtime data: agents/*.md, skills/*.md, skill_packs/ (28 packs), prompts/, kb/ (20 collections), workspaces/, memory/, control_panel/overlays/.</a:t>
            </a:r>
            <a:endParaRPr lang="en-US" sz="900" dirty="0"/>
          </a:p>
        </p:txBody>
      </p:sp>
      <p:sp>
        <p:nvSpPr>
          <p:cNvPr id="20" name="Shape 18"/>
          <p:cNvSpPr/>
          <p:nvPr/>
        </p:nvSpPr>
        <p:spPr>
          <a:xfrm>
            <a:off x="502920" y="2907792"/>
            <a:ext cx="2926080" cy="384048"/>
          </a:xfrm>
          <a:prstGeom prst="rect">
            <a:avLst/>
          </a:prstGeom>
          <a:solidFill>
            <a:srgbClr val="1B2A4A"/>
          </a:solidFill>
          <a:ln/>
        </p:spPr>
        <p:txBody>
          <a:bodyPr/>
          <a:lstStyle/>
          <a:p>
            <a:endParaRPr lang="en-US"/>
          </a:p>
        </p:txBody>
      </p:sp>
      <p:sp>
        <p:nvSpPr>
          <p:cNvPr id="21" name="Text 19"/>
          <p:cNvSpPr/>
          <p:nvPr/>
        </p:nvSpPr>
        <p:spPr>
          <a:xfrm>
            <a:off x="594360" y="290779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new_demo_notebook/</a:t>
            </a:r>
            <a:endParaRPr lang="en-US" sz="950" dirty="0"/>
          </a:p>
        </p:txBody>
      </p:sp>
      <p:sp>
        <p:nvSpPr>
          <p:cNvPr id="22" name="Shape 20"/>
          <p:cNvSpPr/>
          <p:nvPr/>
        </p:nvSpPr>
        <p:spPr>
          <a:xfrm>
            <a:off x="3429000" y="2907792"/>
            <a:ext cx="5212080" cy="384048"/>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3520440" y="290779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Jupyter notebook (agentic_system_showcase.ipynb) + lib/ helpers. Drives the live API — no private imports. Full scenario coverage.</a:t>
            </a:r>
            <a:endParaRPr lang="en-US" sz="900" dirty="0"/>
          </a:p>
        </p:txBody>
      </p:sp>
      <p:sp>
        <p:nvSpPr>
          <p:cNvPr id="24" name="Shape 22"/>
          <p:cNvSpPr/>
          <p:nvPr/>
        </p:nvSpPr>
        <p:spPr>
          <a:xfrm>
            <a:off x="502920" y="3319272"/>
            <a:ext cx="2926080" cy="384048"/>
          </a:xfrm>
          <a:prstGeom prst="rect">
            <a:avLst/>
          </a:prstGeom>
          <a:solidFill>
            <a:srgbClr val="00796B"/>
          </a:solidFill>
          <a:ln/>
        </p:spPr>
        <p:txBody>
          <a:bodyPr/>
          <a:lstStyle/>
          <a:p>
            <a:endParaRPr lang="en-US"/>
          </a:p>
        </p:txBody>
      </p:sp>
      <p:sp>
        <p:nvSpPr>
          <p:cNvPr id="25" name="Text 23"/>
          <p:cNvSpPr/>
          <p:nvPr/>
        </p:nvSpPr>
        <p:spPr>
          <a:xfrm>
            <a:off x="594360" y="331927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docs/</a:t>
            </a:r>
            <a:endParaRPr lang="en-US" sz="950" dirty="0"/>
          </a:p>
        </p:txBody>
      </p:sp>
      <p:sp>
        <p:nvSpPr>
          <p:cNvPr id="26" name="Shape 24"/>
          <p:cNvSpPr/>
          <p:nvPr/>
        </p:nvSpPr>
        <p:spPr>
          <a:xfrm>
            <a:off x="3429000" y="3319272"/>
            <a:ext cx="5212080" cy="384048"/>
          </a:xfrm>
          <a:prstGeom prst="rect">
            <a:avLst/>
          </a:prstGeom>
          <a:solidFill>
            <a:srgbClr val="FFFFFF"/>
          </a:solidFill>
          <a:ln w="3810">
            <a:solidFill>
              <a:srgbClr val="F0F0F0"/>
            </a:solidFill>
            <a:prstDash val="solid"/>
          </a:ln>
        </p:spPr>
        <p:txBody>
          <a:bodyPr/>
          <a:lstStyle/>
          <a:p>
            <a:endParaRPr lang="en-US"/>
          </a:p>
        </p:txBody>
      </p:sp>
      <p:sp>
        <p:nvSpPr>
          <p:cNvPr id="27" name="Text 25"/>
          <p:cNvSpPr/>
          <p:nvPr/>
        </p:nvSpPr>
        <p:spPr>
          <a:xfrm>
            <a:off x="3520440" y="331927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24 architecture docs: ARCHITECTURE.md, CONTROL_FLOW.md, RAG_AGENT_DESIGN.md, TOOLS_AND_TOOL_CALLING.md, PROVIDERS.md, and more.</a:t>
            </a:r>
            <a:endParaRPr lang="en-US" sz="900" dirty="0"/>
          </a:p>
        </p:txBody>
      </p:sp>
      <p:sp>
        <p:nvSpPr>
          <p:cNvPr id="28" name="Shape 26"/>
          <p:cNvSpPr/>
          <p:nvPr/>
        </p:nvSpPr>
        <p:spPr>
          <a:xfrm>
            <a:off x="502920" y="3730752"/>
            <a:ext cx="2926080" cy="384048"/>
          </a:xfrm>
          <a:prstGeom prst="rect">
            <a:avLst/>
          </a:prstGeom>
          <a:solidFill>
            <a:srgbClr val="999999"/>
          </a:solidFill>
          <a:ln/>
        </p:spPr>
        <p:txBody>
          <a:bodyPr/>
          <a:lstStyle/>
          <a:p>
            <a:endParaRPr lang="en-US"/>
          </a:p>
        </p:txBody>
      </p:sp>
      <p:sp>
        <p:nvSpPr>
          <p:cNvPr id="29" name="Text 27"/>
          <p:cNvSpPr/>
          <p:nvPr/>
        </p:nvSpPr>
        <p:spPr>
          <a:xfrm>
            <a:off x="594360" y="373075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docker/</a:t>
            </a:r>
            <a:endParaRPr lang="en-US" sz="950" dirty="0"/>
          </a:p>
        </p:txBody>
      </p:sp>
      <p:sp>
        <p:nvSpPr>
          <p:cNvPr id="30" name="Shape 28"/>
          <p:cNvSpPr/>
          <p:nvPr/>
        </p:nvSpPr>
        <p:spPr>
          <a:xfrm>
            <a:off x="3429000" y="3730752"/>
            <a:ext cx="5212080" cy="384048"/>
          </a:xfrm>
          <a:prstGeom prst="rect">
            <a:avLst/>
          </a:prstGeom>
          <a:solidFill>
            <a:srgbClr val="F5F5F5"/>
          </a:solidFill>
          <a:ln w="3810">
            <a:solidFill>
              <a:srgbClr val="F0F0F0"/>
            </a:solidFill>
            <a:prstDash val="solid"/>
          </a:ln>
        </p:spPr>
        <p:txBody>
          <a:bodyPr/>
          <a:lstStyle/>
          <a:p>
            <a:endParaRPr lang="en-US"/>
          </a:p>
        </p:txBody>
      </p:sp>
      <p:sp>
        <p:nvSpPr>
          <p:cNvPr id="31" name="Text 29"/>
          <p:cNvSpPr/>
          <p:nvPr/>
        </p:nvSpPr>
        <p:spPr>
          <a:xfrm>
            <a:off x="3520440" y="373075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sandbox.Dockerfile (Python 3.12-slim for code execution). Main Dockerfile at repo root (multi-stage: Node.js → Python).</a:t>
            </a:r>
            <a:endParaRPr lang="en-US" sz="900" dirty="0"/>
          </a:p>
        </p:txBody>
      </p:sp>
      <p:sp>
        <p:nvSpPr>
          <p:cNvPr id="32" name="Shape 30"/>
          <p:cNvSpPr/>
          <p:nvPr/>
        </p:nvSpPr>
        <p:spPr>
          <a:xfrm>
            <a:off x="502920" y="4142232"/>
            <a:ext cx="2926080" cy="384048"/>
          </a:xfrm>
          <a:prstGeom prst="rect">
            <a:avLst/>
          </a:prstGeom>
          <a:solidFill>
            <a:srgbClr val="999999"/>
          </a:solidFill>
          <a:ln/>
        </p:spPr>
        <p:txBody>
          <a:bodyPr/>
          <a:lstStyle/>
          <a:p>
            <a:endParaRPr lang="en-US"/>
          </a:p>
        </p:txBody>
      </p:sp>
      <p:sp>
        <p:nvSpPr>
          <p:cNvPr id="33" name="Text 31"/>
          <p:cNvSpPr/>
          <p:nvPr/>
        </p:nvSpPr>
        <p:spPr>
          <a:xfrm>
            <a:off x="594360" y="414223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deployment/</a:t>
            </a:r>
            <a:endParaRPr lang="en-US" sz="950" dirty="0"/>
          </a:p>
        </p:txBody>
      </p:sp>
      <p:sp>
        <p:nvSpPr>
          <p:cNvPr id="34" name="Shape 32"/>
          <p:cNvSpPr/>
          <p:nvPr/>
        </p:nvSpPr>
        <p:spPr>
          <a:xfrm>
            <a:off x="3429000" y="4142232"/>
            <a:ext cx="5212080" cy="384048"/>
          </a:xfrm>
          <a:prstGeom prst="rect">
            <a:avLst/>
          </a:prstGeom>
          <a:solidFill>
            <a:srgbClr val="FFFFFF"/>
          </a:solidFill>
          <a:ln w="3810">
            <a:solidFill>
              <a:srgbClr val="F0F0F0"/>
            </a:solidFill>
            <a:prstDash val="solid"/>
          </a:ln>
        </p:spPr>
        <p:txBody>
          <a:bodyPr/>
          <a:lstStyle/>
          <a:p>
            <a:endParaRPr lang="en-US"/>
          </a:p>
        </p:txBody>
      </p:sp>
      <p:sp>
        <p:nvSpPr>
          <p:cNvPr id="35" name="Text 33"/>
          <p:cNvSpPr/>
          <p:nvPr/>
        </p:nvSpPr>
        <p:spPr>
          <a:xfrm>
            <a:off x="3520440" y="414223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OpenWebUI integration files. docker-compose.yml at repo root defines 6 services (postgres, ollama, app, openwebui, bootstrap).</a:t>
            </a:r>
            <a:endParaRPr lang="en-US" sz="900" dirty="0"/>
          </a:p>
        </p:txBody>
      </p:sp>
      <p:sp>
        <p:nvSpPr>
          <p:cNvPr id="36" name="Text 3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Repository root: Dockerfile, docker-compose.yml, requirements.txt, .env.example, run.py</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Frontend — React Chat UI (frontend/)</a:t>
            </a:r>
            <a:endParaRPr lang="en-US" sz="2600" dirty="0"/>
          </a:p>
        </p:txBody>
      </p:sp>
      <p:sp>
        <p:nvSpPr>
          <p:cNvPr id="3" name="Text 1"/>
          <p:cNvSpPr/>
          <p:nvPr/>
        </p:nvSpPr>
        <p:spPr>
          <a:xfrm>
            <a:off x="502920" y="841248"/>
            <a:ext cx="8138160" cy="32004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React 18 + TypeScript + Vite. The user-facing chat interface. Communicates with the backend via the OpenAI-compatible /v1/chat/completions SSE endpoint.</a:t>
            </a:r>
            <a:endParaRPr lang="en-US" sz="1050" dirty="0"/>
          </a:p>
        </p:txBody>
      </p:sp>
      <p:sp>
        <p:nvSpPr>
          <p:cNvPr id="4" name="Shape 2"/>
          <p:cNvSpPr/>
          <p:nvPr/>
        </p:nvSpPr>
        <p:spPr>
          <a:xfrm>
            <a:off x="502920" y="1261872"/>
            <a:ext cx="4023360" cy="23774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261872"/>
            <a:ext cx="4023360" cy="320040"/>
          </a:xfrm>
          <a:prstGeom prst="rect">
            <a:avLst/>
          </a:prstGeom>
          <a:solidFill>
            <a:srgbClr val="0097A7"/>
          </a:solidFill>
          <a:ln/>
        </p:spPr>
        <p:txBody>
          <a:bodyPr/>
          <a:lstStyle/>
          <a:p>
            <a:endParaRPr lang="en-US"/>
          </a:p>
        </p:txBody>
      </p:sp>
      <p:sp>
        <p:nvSpPr>
          <p:cNvPr id="6" name="Text 4"/>
          <p:cNvSpPr/>
          <p:nvPr/>
        </p:nvSpPr>
        <p:spPr>
          <a:xfrm>
            <a:off x="612648" y="1289304"/>
            <a:ext cx="380390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Key Source Files (frontend/src/)</a:t>
            </a:r>
            <a:endParaRPr lang="en-US" sz="1200" dirty="0"/>
          </a:p>
        </p:txBody>
      </p:sp>
      <p:sp>
        <p:nvSpPr>
          <p:cNvPr id="7" name="Text 5"/>
          <p:cNvSpPr/>
          <p:nvPr/>
        </p:nvSpPr>
        <p:spPr>
          <a:xfrm>
            <a:off x="612648" y="1645920"/>
            <a:ext cx="3803904" cy="190195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App.tsx — root component, routing, global state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types.ts — Message, Agent, FileRef, SessionInfo types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api/ — API client (chat, upload, skills endpoints)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hooks/ — custom React hooks (useChat, useSession...)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components/ChatWindow.tsx — message list + scroll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components/MessageBubble.tsx — renders markdown, citations, artifacts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components/AgentStatusPanel.tsx — real-time agent progress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components/FileUpload.tsx — drag-drop upload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components/ChatInput.tsx — input form, skill selection</a:t>
            </a:r>
            <a:endParaRPr lang="en-US" sz="1000" dirty="0"/>
          </a:p>
        </p:txBody>
      </p:sp>
      <p:sp>
        <p:nvSpPr>
          <p:cNvPr id="8" name="Shape 6"/>
          <p:cNvSpPr/>
          <p:nvPr/>
        </p:nvSpPr>
        <p:spPr>
          <a:xfrm>
            <a:off x="4709160" y="1261872"/>
            <a:ext cx="4434840" cy="128016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709160" y="1261872"/>
            <a:ext cx="4434840" cy="320040"/>
          </a:xfrm>
          <a:prstGeom prst="rect">
            <a:avLst/>
          </a:prstGeom>
          <a:solidFill>
            <a:srgbClr val="1B2A4A"/>
          </a:solidFill>
          <a:ln/>
        </p:spPr>
        <p:txBody>
          <a:bodyPr/>
          <a:lstStyle/>
          <a:p>
            <a:endParaRPr lang="en-US"/>
          </a:p>
        </p:txBody>
      </p:sp>
      <p:sp>
        <p:nvSpPr>
          <p:cNvPr id="10" name="Text 8"/>
          <p:cNvSpPr/>
          <p:nvPr/>
        </p:nvSpPr>
        <p:spPr>
          <a:xfrm>
            <a:off x="4818888" y="1289304"/>
            <a:ext cx="42153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Tech Stack</a:t>
            </a:r>
            <a:endParaRPr lang="en-US" sz="1200" dirty="0"/>
          </a:p>
        </p:txBody>
      </p:sp>
      <p:sp>
        <p:nvSpPr>
          <p:cNvPr id="11" name="Text 9"/>
          <p:cNvSpPr/>
          <p:nvPr/>
        </p:nvSpPr>
        <p:spPr>
          <a:xfrm>
            <a:off x="4818888" y="1645920"/>
            <a:ext cx="4215384" cy="80467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React 18.3 + TypeScript 5.5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Vite 5.4 (build tool, HMR for dev)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react-markdown (message rendering)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Vitest (unit tests)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Build: npm run build → dist/ (served by FastAPI static files)</a:t>
            </a:r>
            <a:endParaRPr lang="en-US" sz="1000" dirty="0"/>
          </a:p>
        </p:txBody>
      </p:sp>
      <p:sp>
        <p:nvSpPr>
          <p:cNvPr id="12" name="Shape 10"/>
          <p:cNvSpPr/>
          <p:nvPr/>
        </p:nvSpPr>
        <p:spPr>
          <a:xfrm>
            <a:off x="4709160" y="2633472"/>
            <a:ext cx="4434840" cy="10058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4709160" y="2633472"/>
            <a:ext cx="4434840" cy="320040"/>
          </a:xfrm>
          <a:prstGeom prst="rect">
            <a:avLst/>
          </a:prstGeom>
          <a:solidFill>
            <a:srgbClr val="00796B"/>
          </a:solidFill>
          <a:ln/>
        </p:spPr>
        <p:txBody>
          <a:bodyPr/>
          <a:lstStyle/>
          <a:p>
            <a:endParaRPr lang="en-US"/>
          </a:p>
        </p:txBody>
      </p:sp>
      <p:sp>
        <p:nvSpPr>
          <p:cNvPr id="14" name="Text 12"/>
          <p:cNvSpPr/>
          <p:nvPr/>
        </p:nvSpPr>
        <p:spPr>
          <a:xfrm>
            <a:off x="4818888" y="2660904"/>
            <a:ext cx="42153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If You Need to Change the UI</a:t>
            </a:r>
            <a:endParaRPr lang="en-US" sz="1200" dirty="0"/>
          </a:p>
        </p:txBody>
      </p:sp>
      <p:sp>
        <p:nvSpPr>
          <p:cNvPr id="15" name="Text 13"/>
          <p:cNvSpPr/>
          <p:nvPr/>
        </p:nvSpPr>
        <p:spPr>
          <a:xfrm>
            <a:off x="4818888" y="3017520"/>
            <a:ext cx="4215384" cy="53035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npm install → npm run dev for local dev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AgentStatusPanel.tsx — change progress display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MessageBubble.tsx — change how messages render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api/ — change API calls (model name, headers, etc.)</a:t>
            </a:r>
            <a:endParaRPr lang="en-US" sz="1000" dirty="0"/>
          </a:p>
        </p:txBody>
      </p:sp>
      <p:sp>
        <p:nvSpPr>
          <p:cNvPr id="16" name="Text 1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frontend/src/ — App.tsx, types.ts, components/, api/, hooks/ | frontend/package.json — React 18, Vite 5, TypeScript 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Control Panel UI — Admin React App (control_panel/)</a:t>
            </a:r>
            <a:endParaRPr lang="en-US" sz="2600" dirty="0"/>
          </a:p>
        </p:txBody>
      </p:sp>
      <p:sp>
        <p:nvSpPr>
          <p:cNvPr id="3" name="Text 1"/>
          <p:cNvSpPr/>
          <p:nvPr/>
        </p:nvSpPr>
        <p:spPr>
          <a:xfrm>
            <a:off x="502920" y="841248"/>
            <a:ext cx="8138160" cy="36576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Separate React 18 + TypeScript admin application. Talks to the /v1/admin API with X-Admin-Token auth. Purpose: review system health and make controlled runtime changes without touching files or restarting.</a:t>
            </a:r>
            <a:endParaRPr lang="en-US" sz="1050" dirty="0"/>
          </a:p>
        </p:txBody>
      </p:sp>
      <p:sp>
        <p:nvSpPr>
          <p:cNvPr id="4" name="Shape 2"/>
          <p:cNvSpPr/>
          <p:nvPr/>
        </p:nvSpPr>
        <p:spPr>
          <a:xfrm>
            <a:off x="502920" y="1353312"/>
            <a:ext cx="2590800" cy="292608"/>
          </a:xfrm>
          <a:prstGeom prst="rect">
            <a:avLst/>
          </a:prstGeom>
          <a:solidFill>
            <a:srgbClr val="0097A7"/>
          </a:solidFill>
          <a:ln/>
        </p:spPr>
        <p:txBody>
          <a:bodyPr/>
          <a:lstStyle/>
          <a:p>
            <a:endParaRPr lang="en-US"/>
          </a:p>
        </p:txBody>
      </p:sp>
      <p:sp>
        <p:nvSpPr>
          <p:cNvPr id="5" name="Text 3"/>
          <p:cNvSpPr/>
          <p:nvPr/>
        </p:nvSpPr>
        <p:spPr>
          <a:xfrm>
            <a:off x="557784" y="135331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System Overview</a:t>
            </a:r>
            <a:endParaRPr lang="en-US" sz="1000" dirty="0"/>
          </a:p>
        </p:txBody>
      </p:sp>
      <p:sp>
        <p:nvSpPr>
          <p:cNvPr id="6" name="Shape 4"/>
          <p:cNvSpPr/>
          <p:nvPr/>
        </p:nvSpPr>
        <p:spPr>
          <a:xfrm>
            <a:off x="502920" y="1645920"/>
            <a:ext cx="2590800" cy="896112"/>
          </a:xfrm>
          <a:prstGeom prst="rect">
            <a:avLst/>
          </a:prstGeom>
          <a:solidFill>
            <a:srgbClr val="F5F5F5"/>
          </a:solidFill>
          <a:ln w="3810">
            <a:solidFill>
              <a:srgbClr val="F0F0F0"/>
            </a:solidFill>
            <a:prstDash val="solid"/>
          </a:ln>
        </p:spPr>
        <p:txBody>
          <a:bodyPr/>
          <a:lstStyle/>
          <a:p>
            <a:endParaRPr lang="en-US"/>
          </a:p>
        </p:txBody>
      </p:sp>
      <p:sp>
        <p:nvSpPr>
          <p:cNvPr id="7" name="Text 5"/>
          <p:cNvSpPr/>
          <p:nvPr/>
        </p:nvSpPr>
        <p:spPr>
          <a:xfrm>
            <a:off x="557784" y="164592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Settings snapshot, provider status, operation history, architecture visualization (architectureLayout.ts renders component graph)</a:t>
            </a:r>
            <a:endParaRPr lang="en-US" sz="900" dirty="0"/>
          </a:p>
        </p:txBody>
      </p:sp>
      <p:sp>
        <p:nvSpPr>
          <p:cNvPr id="8" name="Shape 6"/>
          <p:cNvSpPr/>
          <p:nvPr/>
        </p:nvSpPr>
        <p:spPr>
          <a:xfrm>
            <a:off x="3276600" y="1353312"/>
            <a:ext cx="2590800" cy="292608"/>
          </a:xfrm>
          <a:prstGeom prst="rect">
            <a:avLst/>
          </a:prstGeom>
          <a:solidFill>
            <a:srgbClr val="1B2A4A"/>
          </a:solidFill>
          <a:ln/>
        </p:spPr>
        <p:txBody>
          <a:bodyPr/>
          <a:lstStyle/>
          <a:p>
            <a:endParaRPr lang="en-US"/>
          </a:p>
        </p:txBody>
      </p:sp>
      <p:sp>
        <p:nvSpPr>
          <p:cNvPr id="9" name="Text 7"/>
          <p:cNvSpPr/>
          <p:nvPr/>
        </p:nvSpPr>
        <p:spPr>
          <a:xfrm>
            <a:off x="3331464" y="135331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Agent Editor</a:t>
            </a:r>
            <a:endParaRPr lang="en-US" sz="1000" dirty="0"/>
          </a:p>
        </p:txBody>
      </p:sp>
      <p:sp>
        <p:nvSpPr>
          <p:cNvPr id="10" name="Shape 8"/>
          <p:cNvSpPr/>
          <p:nvPr/>
        </p:nvSpPr>
        <p:spPr>
          <a:xfrm>
            <a:off x="3276600" y="1645920"/>
            <a:ext cx="2590800" cy="896112"/>
          </a:xfrm>
          <a:prstGeom prst="rect">
            <a:avLst/>
          </a:prstGeom>
          <a:solidFill>
            <a:srgbClr val="F5F5F5"/>
          </a:solidFill>
          <a:ln w="3810">
            <a:solidFill>
              <a:srgbClr val="F0F0F0"/>
            </a:solidFill>
            <a:prstDash val="solid"/>
          </a:ln>
        </p:spPr>
        <p:txBody>
          <a:bodyPr/>
          <a:lstStyle/>
          <a:p>
            <a:endParaRPr lang="en-US"/>
          </a:p>
        </p:txBody>
      </p:sp>
      <p:sp>
        <p:nvSpPr>
          <p:cNvPr id="11" name="Text 9"/>
          <p:cNvSpPr/>
          <p:nvPr/>
        </p:nvSpPr>
        <p:spPr>
          <a:xfrm>
            <a:off x="3331464" y="164592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View all agent definitions. Edit fields (mode, max_steps, allowed_tools) via PUT /agents/{name}. Changes persist via OverlayStore.</a:t>
            </a:r>
            <a:endParaRPr lang="en-US" sz="900" dirty="0"/>
          </a:p>
        </p:txBody>
      </p:sp>
      <p:sp>
        <p:nvSpPr>
          <p:cNvPr id="12" name="Shape 10"/>
          <p:cNvSpPr/>
          <p:nvPr/>
        </p:nvSpPr>
        <p:spPr>
          <a:xfrm>
            <a:off x="6050280" y="1353312"/>
            <a:ext cx="2590800" cy="292608"/>
          </a:xfrm>
          <a:prstGeom prst="rect">
            <a:avLst/>
          </a:prstGeom>
          <a:solidFill>
            <a:srgbClr val="00796B"/>
          </a:solidFill>
          <a:ln/>
        </p:spPr>
        <p:txBody>
          <a:bodyPr/>
          <a:lstStyle/>
          <a:p>
            <a:endParaRPr lang="en-US"/>
          </a:p>
        </p:txBody>
      </p:sp>
      <p:sp>
        <p:nvSpPr>
          <p:cNvPr id="13" name="Text 11"/>
          <p:cNvSpPr/>
          <p:nvPr/>
        </p:nvSpPr>
        <p:spPr>
          <a:xfrm>
            <a:off x="6105144" y="135331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Prompt Editor</a:t>
            </a:r>
            <a:endParaRPr lang="en-US" sz="1000" dirty="0"/>
          </a:p>
        </p:txBody>
      </p:sp>
      <p:sp>
        <p:nvSpPr>
          <p:cNvPr id="14" name="Shape 12"/>
          <p:cNvSpPr/>
          <p:nvPr/>
        </p:nvSpPr>
        <p:spPr>
          <a:xfrm>
            <a:off x="6050280" y="1645920"/>
            <a:ext cx="2590800" cy="896112"/>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6105144" y="164592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Read and edit system prompt files. PUT /prompts/{file} writes overlay. Reload button triggers agent re-init via POST /agents/reload.</a:t>
            </a:r>
            <a:endParaRPr lang="en-US" sz="900" dirty="0"/>
          </a:p>
        </p:txBody>
      </p:sp>
      <p:sp>
        <p:nvSpPr>
          <p:cNvPr id="16" name="Shape 14"/>
          <p:cNvSpPr/>
          <p:nvPr/>
        </p:nvSpPr>
        <p:spPr>
          <a:xfrm>
            <a:off x="502920" y="2633472"/>
            <a:ext cx="2590800" cy="292608"/>
          </a:xfrm>
          <a:prstGeom prst="rect">
            <a:avLst/>
          </a:prstGeom>
          <a:solidFill>
            <a:srgbClr val="F9A825"/>
          </a:solidFill>
          <a:ln/>
        </p:spPr>
        <p:txBody>
          <a:bodyPr/>
          <a:lstStyle/>
          <a:p>
            <a:endParaRPr lang="en-US"/>
          </a:p>
        </p:txBody>
      </p:sp>
      <p:sp>
        <p:nvSpPr>
          <p:cNvPr id="17" name="Text 15"/>
          <p:cNvSpPr/>
          <p:nvPr/>
        </p:nvSpPr>
        <p:spPr>
          <a:xfrm>
            <a:off x="557784" y="263347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KB / Collections</a:t>
            </a:r>
            <a:endParaRPr lang="en-US" sz="1000" dirty="0"/>
          </a:p>
        </p:txBody>
      </p:sp>
      <p:sp>
        <p:nvSpPr>
          <p:cNvPr id="18" name="Shape 16"/>
          <p:cNvSpPr/>
          <p:nvPr/>
        </p:nvSpPr>
        <p:spPr>
          <a:xfrm>
            <a:off x="502920" y="2926080"/>
            <a:ext cx="2590800" cy="896112"/>
          </a:xfrm>
          <a:prstGeom prst="rect">
            <a:avLst/>
          </a:prstGeom>
          <a:solidFill>
            <a:srgbClr val="F5F5F5"/>
          </a:solidFill>
          <a:ln w="3810">
            <a:solidFill>
              <a:srgbClr val="F0F0F0"/>
            </a:solidFill>
            <a:prstDash val="solid"/>
          </a:ln>
        </p:spPr>
        <p:txBody>
          <a:bodyPr/>
          <a:lstStyle/>
          <a:p>
            <a:endParaRPr lang="en-US"/>
          </a:p>
        </p:txBody>
      </p:sp>
      <p:sp>
        <p:nvSpPr>
          <p:cNvPr id="19" name="Text 17"/>
          <p:cNvSpPr/>
          <p:nvPr/>
        </p:nvSpPr>
        <p:spPr>
          <a:xfrm>
            <a:off x="557784" y="292608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List collections and documents. POST /{id}/sync, POST /{id}/ingest-paths, POST /{id}/upload. View/delete individual documents.</a:t>
            </a:r>
            <a:endParaRPr lang="en-US" sz="900" dirty="0"/>
          </a:p>
        </p:txBody>
      </p:sp>
      <p:sp>
        <p:nvSpPr>
          <p:cNvPr id="20" name="Shape 18"/>
          <p:cNvSpPr/>
          <p:nvPr/>
        </p:nvSpPr>
        <p:spPr>
          <a:xfrm>
            <a:off x="3276600" y="2633472"/>
            <a:ext cx="2590800" cy="292608"/>
          </a:xfrm>
          <a:prstGeom prst="rect">
            <a:avLst/>
          </a:prstGeom>
          <a:solidFill>
            <a:srgbClr val="0097A7"/>
          </a:solidFill>
          <a:ln/>
        </p:spPr>
        <p:txBody>
          <a:bodyPr/>
          <a:lstStyle/>
          <a:p>
            <a:endParaRPr lang="en-US"/>
          </a:p>
        </p:txBody>
      </p:sp>
      <p:sp>
        <p:nvSpPr>
          <p:cNvPr id="21" name="Text 19"/>
          <p:cNvSpPr/>
          <p:nvPr/>
        </p:nvSpPr>
        <p:spPr>
          <a:xfrm>
            <a:off x="3331464" y="263347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Job Monitor</a:t>
            </a:r>
            <a:endParaRPr lang="en-US" sz="1000" dirty="0"/>
          </a:p>
        </p:txBody>
      </p:sp>
      <p:sp>
        <p:nvSpPr>
          <p:cNvPr id="22" name="Shape 20"/>
          <p:cNvSpPr/>
          <p:nvPr/>
        </p:nvSpPr>
        <p:spPr>
          <a:xfrm>
            <a:off x="3276600" y="2926080"/>
            <a:ext cx="2590800" cy="896112"/>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3331464" y="292608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List background jobs (GET /operations). View status, transcript, and result of each coordinator worker task.</a:t>
            </a:r>
            <a:endParaRPr lang="en-US" sz="900" dirty="0"/>
          </a:p>
        </p:txBody>
      </p:sp>
      <p:sp>
        <p:nvSpPr>
          <p:cNvPr id="24" name="Shape 22"/>
          <p:cNvSpPr/>
          <p:nvPr/>
        </p:nvSpPr>
        <p:spPr>
          <a:xfrm>
            <a:off x="6050280" y="2633472"/>
            <a:ext cx="2590800" cy="292608"/>
          </a:xfrm>
          <a:prstGeom prst="rect">
            <a:avLst/>
          </a:prstGeom>
          <a:solidFill>
            <a:srgbClr val="1B2A4A"/>
          </a:solidFill>
          <a:ln/>
        </p:spPr>
        <p:txBody>
          <a:bodyPr/>
          <a:lstStyle/>
          <a:p>
            <a:endParaRPr lang="en-US"/>
          </a:p>
        </p:txBody>
      </p:sp>
      <p:sp>
        <p:nvSpPr>
          <p:cNvPr id="25" name="Text 23"/>
          <p:cNvSpPr/>
          <p:nvPr/>
        </p:nvSpPr>
        <p:spPr>
          <a:xfrm>
            <a:off x="6105144" y="263347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Config / Audit</a:t>
            </a:r>
            <a:endParaRPr lang="en-US" sz="1000" dirty="0"/>
          </a:p>
        </p:txBody>
      </p:sp>
      <p:sp>
        <p:nvSpPr>
          <p:cNvPr id="26" name="Shape 24"/>
          <p:cNvSpPr/>
          <p:nvPr/>
        </p:nvSpPr>
        <p:spPr>
          <a:xfrm>
            <a:off x="6050280" y="2926080"/>
            <a:ext cx="2590800" cy="896112"/>
          </a:xfrm>
          <a:prstGeom prst="rect">
            <a:avLst/>
          </a:prstGeom>
          <a:solidFill>
            <a:srgbClr val="F5F5F5"/>
          </a:solidFill>
          <a:ln w="3810">
            <a:solidFill>
              <a:srgbClr val="F0F0F0"/>
            </a:solidFill>
            <a:prstDash val="solid"/>
          </a:ln>
        </p:spPr>
        <p:txBody>
          <a:bodyPr/>
          <a:lstStyle/>
          <a:p>
            <a:endParaRPr lang="en-US"/>
          </a:p>
        </p:txBody>
      </p:sp>
      <p:sp>
        <p:nvSpPr>
          <p:cNvPr id="27" name="Text 25"/>
          <p:cNvSpPr/>
          <p:nvPr/>
        </p:nvSpPr>
        <p:spPr>
          <a:xfrm>
            <a:off x="6105144" y="292608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GET /config/effective shows live settings. POST /config/apply applies env var overrides via RuntimeManager. GET audit log (events.jsonl).</a:t>
            </a:r>
            <a:endParaRPr lang="en-US" sz="9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control_panel/src/App.tsx (109KB), control_panel/src/api.ts, control_panel/src/types.ts, control_panel/src/architectureLayout.ts, control_panel/README.md</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data/ Directory — Configuration &amp; Runtime State</a:t>
            </a:r>
            <a:endParaRPr lang="en-US" sz="2600" dirty="0"/>
          </a:p>
        </p:txBody>
      </p:sp>
      <p:sp>
        <p:nvSpPr>
          <p:cNvPr id="3" name="Text 1"/>
          <p:cNvSpPr/>
          <p:nvPr/>
        </p:nvSpPr>
        <p:spPr>
          <a:xfrm>
            <a:off x="502920" y="841248"/>
            <a:ext cx="8138160" cy="32004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data/ holds both static configuration files (agents, skills, prompts) AND dynamic runtime state (sessions, workspaces, memory). Separating them from code enables hot-reload and operator customization.</a:t>
            </a:r>
            <a:endParaRPr lang="en-US" sz="1050" dirty="0"/>
          </a:p>
        </p:txBody>
      </p:sp>
      <p:sp>
        <p:nvSpPr>
          <p:cNvPr id="4" name="Shape 2"/>
          <p:cNvSpPr/>
          <p:nvPr/>
        </p:nvSpPr>
        <p:spPr>
          <a:xfrm>
            <a:off x="502920" y="1261872"/>
            <a:ext cx="2286000" cy="347472"/>
          </a:xfrm>
          <a:prstGeom prst="rect">
            <a:avLst/>
          </a:prstGeom>
          <a:solidFill>
            <a:srgbClr val="0097A7"/>
          </a:solidFill>
          <a:ln/>
        </p:spPr>
        <p:txBody>
          <a:bodyPr/>
          <a:lstStyle/>
          <a:p>
            <a:endParaRPr lang="en-US"/>
          </a:p>
        </p:txBody>
      </p:sp>
      <p:sp>
        <p:nvSpPr>
          <p:cNvPr id="5" name="Text 3"/>
          <p:cNvSpPr/>
          <p:nvPr/>
        </p:nvSpPr>
        <p:spPr>
          <a:xfrm>
            <a:off x="576072" y="126187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data/agents/</a:t>
            </a:r>
            <a:endParaRPr lang="en-US" sz="900" dirty="0"/>
          </a:p>
        </p:txBody>
      </p:sp>
      <p:sp>
        <p:nvSpPr>
          <p:cNvPr id="6" name="Shape 4"/>
          <p:cNvSpPr/>
          <p:nvPr/>
        </p:nvSpPr>
        <p:spPr>
          <a:xfrm>
            <a:off x="2788920" y="1261872"/>
            <a:ext cx="5852160" cy="347472"/>
          </a:xfrm>
          <a:prstGeom prst="rect">
            <a:avLst/>
          </a:prstGeom>
          <a:solidFill>
            <a:srgbClr val="F5F5F5"/>
          </a:solidFill>
          <a:ln w="3810">
            <a:solidFill>
              <a:srgbClr val="F0F0F0"/>
            </a:solidFill>
            <a:prstDash val="solid"/>
          </a:ln>
        </p:spPr>
        <p:txBody>
          <a:bodyPr/>
          <a:lstStyle/>
          <a:p>
            <a:endParaRPr lang="en-US"/>
          </a:p>
        </p:txBody>
      </p:sp>
      <p:sp>
        <p:nvSpPr>
          <p:cNvPr id="7" name="Text 5"/>
          <p:cNvSpPr/>
          <p:nvPr/>
        </p:nvSpPr>
        <p:spPr>
          <a:xfrm>
            <a:off x="2880360" y="126187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11 agent definition .md files. YAML frontmatter + role description. Includes new graph_manager agent. Edit here to change agent mode, tools, max_steps.</a:t>
            </a:r>
            <a:endParaRPr lang="en-US" sz="900" dirty="0"/>
          </a:p>
        </p:txBody>
      </p:sp>
      <p:sp>
        <p:nvSpPr>
          <p:cNvPr id="8" name="Shape 6"/>
          <p:cNvSpPr/>
          <p:nvPr/>
        </p:nvSpPr>
        <p:spPr>
          <a:xfrm>
            <a:off x="502920" y="1627632"/>
            <a:ext cx="2286000" cy="347472"/>
          </a:xfrm>
          <a:prstGeom prst="rect">
            <a:avLst/>
          </a:prstGeom>
          <a:solidFill>
            <a:srgbClr val="1B2A4A"/>
          </a:solidFill>
          <a:ln/>
        </p:spPr>
        <p:txBody>
          <a:bodyPr/>
          <a:lstStyle/>
          <a:p>
            <a:endParaRPr lang="en-US"/>
          </a:p>
        </p:txBody>
      </p:sp>
      <p:sp>
        <p:nvSpPr>
          <p:cNvPr id="9" name="Text 7"/>
          <p:cNvSpPr/>
          <p:nvPr/>
        </p:nvSpPr>
        <p:spPr>
          <a:xfrm>
            <a:off x="576072" y="162763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data/skills/</a:t>
            </a:r>
            <a:endParaRPr lang="en-US" sz="900" dirty="0"/>
          </a:p>
        </p:txBody>
      </p:sp>
      <p:sp>
        <p:nvSpPr>
          <p:cNvPr id="10" name="Shape 8"/>
          <p:cNvSpPr/>
          <p:nvPr/>
        </p:nvSpPr>
        <p:spPr>
          <a:xfrm>
            <a:off x="2788920" y="1627632"/>
            <a:ext cx="5852160" cy="347472"/>
          </a:xfrm>
          <a:prstGeom prst="rect">
            <a:avLst/>
          </a:prstGeom>
          <a:solidFill>
            <a:srgbClr val="FFFFFF"/>
          </a:solidFill>
          <a:ln w="3810">
            <a:solidFill>
              <a:srgbClr val="F0F0F0"/>
            </a:solidFill>
            <a:prstDash val="solid"/>
          </a:ln>
        </p:spPr>
        <p:txBody>
          <a:bodyPr/>
          <a:lstStyle/>
          <a:p>
            <a:endParaRPr lang="en-US"/>
          </a:p>
        </p:txBody>
      </p:sp>
      <p:sp>
        <p:nvSpPr>
          <p:cNvPr id="11" name="Text 9"/>
          <p:cNvSpPr/>
          <p:nvPr/>
        </p:nvSpPr>
        <p:spPr>
          <a:xfrm>
            <a:off x="2880360" y="162763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11 base agent prompt files (.md). These are the system prompts loaded by PromptBuilder. Customize via control_panel/overlays/prompts/ overlay.</a:t>
            </a:r>
            <a:endParaRPr lang="en-US" sz="900" dirty="0"/>
          </a:p>
        </p:txBody>
      </p:sp>
      <p:sp>
        <p:nvSpPr>
          <p:cNvPr id="12" name="Shape 10"/>
          <p:cNvSpPr/>
          <p:nvPr/>
        </p:nvSpPr>
        <p:spPr>
          <a:xfrm>
            <a:off x="502920" y="1993392"/>
            <a:ext cx="2286000" cy="347472"/>
          </a:xfrm>
          <a:prstGeom prst="rect">
            <a:avLst/>
          </a:prstGeom>
          <a:solidFill>
            <a:srgbClr val="00796B"/>
          </a:solidFill>
          <a:ln/>
        </p:spPr>
        <p:txBody>
          <a:bodyPr/>
          <a:lstStyle/>
          <a:p>
            <a:endParaRPr lang="en-US"/>
          </a:p>
        </p:txBody>
      </p:sp>
      <p:sp>
        <p:nvSpPr>
          <p:cNvPr id="13" name="Text 11"/>
          <p:cNvSpPr/>
          <p:nvPr/>
        </p:nvSpPr>
        <p:spPr>
          <a:xfrm>
            <a:off x="576072" y="199339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data/skill_packs/</a:t>
            </a:r>
            <a:endParaRPr lang="en-US" sz="900" dirty="0"/>
          </a:p>
        </p:txBody>
      </p:sp>
      <p:sp>
        <p:nvSpPr>
          <p:cNvPr id="14" name="Shape 12"/>
          <p:cNvSpPr/>
          <p:nvPr/>
        </p:nvSpPr>
        <p:spPr>
          <a:xfrm>
            <a:off x="2788920" y="1993392"/>
            <a:ext cx="5852160" cy="347472"/>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2880360" y="199339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Skill documents organised in 7 subdirs (data_analyst/, rag/, general/, planner/, finalizer/, verifier/, utility/). Indexed in SkillStore for semantic retrieval.</a:t>
            </a:r>
            <a:endParaRPr lang="en-US" sz="900" dirty="0"/>
          </a:p>
        </p:txBody>
      </p:sp>
      <p:sp>
        <p:nvSpPr>
          <p:cNvPr id="16" name="Shape 14"/>
          <p:cNvSpPr/>
          <p:nvPr/>
        </p:nvSpPr>
        <p:spPr>
          <a:xfrm>
            <a:off x="502920" y="2359152"/>
            <a:ext cx="2286000" cy="347472"/>
          </a:xfrm>
          <a:prstGeom prst="rect">
            <a:avLst/>
          </a:prstGeom>
          <a:solidFill>
            <a:srgbClr val="F9A825"/>
          </a:solidFill>
          <a:ln/>
        </p:spPr>
        <p:txBody>
          <a:bodyPr/>
          <a:lstStyle/>
          <a:p>
            <a:endParaRPr lang="en-US"/>
          </a:p>
        </p:txBody>
      </p:sp>
      <p:sp>
        <p:nvSpPr>
          <p:cNvPr id="17" name="Text 15"/>
          <p:cNvSpPr/>
          <p:nvPr/>
        </p:nvSpPr>
        <p:spPr>
          <a:xfrm>
            <a:off x="576072" y="235915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data/prompts/</a:t>
            </a:r>
            <a:endParaRPr lang="en-US" sz="900" dirty="0"/>
          </a:p>
        </p:txBody>
      </p:sp>
      <p:sp>
        <p:nvSpPr>
          <p:cNvPr id="18" name="Shape 16"/>
          <p:cNvSpPr/>
          <p:nvPr/>
        </p:nvSpPr>
        <p:spPr>
          <a:xfrm>
            <a:off x="2788920" y="2359152"/>
            <a:ext cx="5852160" cy="347472"/>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2880360" y="235915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Judge prompts (judge_grading.txt, judge_rewrite.txt), grounded_answer template, rag_synthesis template, planner/router/verifier templates.</a:t>
            </a:r>
            <a:endParaRPr lang="en-US" sz="900" dirty="0"/>
          </a:p>
        </p:txBody>
      </p:sp>
      <p:sp>
        <p:nvSpPr>
          <p:cNvPr id="20" name="Shape 18"/>
          <p:cNvSpPr/>
          <p:nvPr/>
        </p:nvSpPr>
        <p:spPr>
          <a:xfrm>
            <a:off x="502920" y="2724912"/>
            <a:ext cx="2286000" cy="347472"/>
          </a:xfrm>
          <a:prstGeom prst="rect">
            <a:avLst/>
          </a:prstGeom>
          <a:solidFill>
            <a:srgbClr val="0097A7"/>
          </a:solidFill>
          <a:ln/>
        </p:spPr>
        <p:txBody>
          <a:bodyPr/>
          <a:lstStyle/>
          <a:p>
            <a:endParaRPr lang="en-US"/>
          </a:p>
        </p:txBody>
      </p:sp>
      <p:sp>
        <p:nvSpPr>
          <p:cNvPr id="21" name="Text 19"/>
          <p:cNvSpPr/>
          <p:nvPr/>
        </p:nvSpPr>
        <p:spPr>
          <a:xfrm>
            <a:off x="576072" y="272491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data/kb/</a:t>
            </a:r>
            <a:endParaRPr lang="en-US" sz="900" dirty="0"/>
          </a:p>
        </p:txBody>
      </p:sp>
      <p:sp>
        <p:nvSpPr>
          <p:cNvPr id="22" name="Shape 20"/>
          <p:cNvSpPr/>
          <p:nvPr/>
        </p:nvSpPr>
        <p:spPr>
          <a:xfrm>
            <a:off x="2788920" y="2724912"/>
            <a:ext cx="5852160" cy="347472"/>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2880360" y="272491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20 knowledge base collection directories. Each maps to a pgvector collection. Documents are indexed here by the /ingest and /sync endpoints.</a:t>
            </a:r>
            <a:endParaRPr lang="en-US" sz="900" dirty="0"/>
          </a:p>
        </p:txBody>
      </p:sp>
      <p:sp>
        <p:nvSpPr>
          <p:cNvPr id="24" name="Shape 22"/>
          <p:cNvSpPr/>
          <p:nvPr/>
        </p:nvSpPr>
        <p:spPr>
          <a:xfrm>
            <a:off x="502920" y="3090672"/>
            <a:ext cx="2286000" cy="347472"/>
          </a:xfrm>
          <a:prstGeom prst="rect">
            <a:avLst/>
          </a:prstGeom>
          <a:solidFill>
            <a:srgbClr val="1B2A4A"/>
          </a:solidFill>
          <a:ln/>
        </p:spPr>
        <p:txBody>
          <a:bodyPr/>
          <a:lstStyle/>
          <a:p>
            <a:endParaRPr lang="en-US"/>
          </a:p>
        </p:txBody>
      </p:sp>
      <p:sp>
        <p:nvSpPr>
          <p:cNvPr id="25" name="Text 23"/>
          <p:cNvSpPr/>
          <p:nvPr/>
        </p:nvSpPr>
        <p:spPr>
          <a:xfrm>
            <a:off x="576072" y="309067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data/runtime/</a:t>
            </a:r>
            <a:endParaRPr lang="en-US" sz="900" dirty="0"/>
          </a:p>
        </p:txBody>
      </p:sp>
      <p:sp>
        <p:nvSpPr>
          <p:cNvPr id="26" name="Shape 24"/>
          <p:cNvSpPr/>
          <p:nvPr/>
        </p:nvSpPr>
        <p:spPr>
          <a:xfrm>
            <a:off x="2788920" y="3090672"/>
            <a:ext cx="5852160" cy="347472"/>
          </a:xfrm>
          <a:prstGeom prst="rect">
            <a:avLst/>
          </a:prstGeom>
          <a:solidFill>
            <a:srgbClr val="FFFFFF"/>
          </a:solidFill>
          <a:ln w="3810">
            <a:solidFill>
              <a:srgbClr val="F0F0F0"/>
            </a:solidFill>
            <a:prstDash val="solid"/>
          </a:ln>
        </p:spPr>
        <p:txBody>
          <a:bodyPr/>
          <a:lstStyle/>
          <a:p>
            <a:endParaRPr lang="en-US"/>
          </a:p>
        </p:txBody>
      </p:sp>
      <p:sp>
        <p:nvSpPr>
          <p:cNvPr id="27" name="Text 25"/>
          <p:cNvSpPr/>
          <p:nvPr/>
        </p:nvSpPr>
        <p:spPr>
          <a:xfrm>
            <a:off x="2880360" y="309067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sessions/ (session transcripts by filesystem key), jobs/ (background job records and results). Auto-created at runtime.</a:t>
            </a:r>
            <a:endParaRPr lang="en-US" sz="900" dirty="0"/>
          </a:p>
        </p:txBody>
      </p:sp>
      <p:sp>
        <p:nvSpPr>
          <p:cNvPr id="28" name="Shape 26"/>
          <p:cNvSpPr/>
          <p:nvPr/>
        </p:nvSpPr>
        <p:spPr>
          <a:xfrm>
            <a:off x="502920" y="3456432"/>
            <a:ext cx="2286000" cy="347472"/>
          </a:xfrm>
          <a:prstGeom prst="rect">
            <a:avLst/>
          </a:prstGeom>
          <a:solidFill>
            <a:srgbClr val="00796B"/>
          </a:solidFill>
          <a:ln/>
        </p:spPr>
        <p:txBody>
          <a:bodyPr/>
          <a:lstStyle/>
          <a:p>
            <a:endParaRPr lang="en-US"/>
          </a:p>
        </p:txBody>
      </p:sp>
      <p:sp>
        <p:nvSpPr>
          <p:cNvPr id="29" name="Text 27"/>
          <p:cNvSpPr/>
          <p:nvPr/>
        </p:nvSpPr>
        <p:spPr>
          <a:xfrm>
            <a:off x="576072" y="345643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data/memory/</a:t>
            </a:r>
            <a:endParaRPr lang="en-US" sz="900" dirty="0"/>
          </a:p>
        </p:txBody>
      </p:sp>
      <p:sp>
        <p:nvSpPr>
          <p:cNvPr id="30" name="Shape 28"/>
          <p:cNvSpPr/>
          <p:nvPr/>
        </p:nvSpPr>
        <p:spPr>
          <a:xfrm>
            <a:off x="2788920" y="3456432"/>
            <a:ext cx="5852160" cy="347472"/>
          </a:xfrm>
          <a:prstGeom prst="rect">
            <a:avLst/>
          </a:prstGeom>
          <a:solidFill>
            <a:srgbClr val="F5F5F5"/>
          </a:solidFill>
          <a:ln w="3810">
            <a:solidFill>
              <a:srgbClr val="F0F0F0"/>
            </a:solidFill>
            <a:prstDash val="solid"/>
          </a:ln>
        </p:spPr>
        <p:txBody>
          <a:bodyPr/>
          <a:lstStyle/>
          <a:p>
            <a:endParaRPr lang="en-US"/>
          </a:p>
        </p:txBody>
      </p:sp>
      <p:sp>
        <p:nvSpPr>
          <p:cNvPr id="31" name="Text 29"/>
          <p:cNvSpPr/>
          <p:nvPr/>
        </p:nvSpPr>
        <p:spPr>
          <a:xfrm>
            <a:off x="2880360" y="345643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tenants/{id}/users/{id}/ — per-user memory files. Written by memory_maintainer agent, read by MemoryContextBuilder.</a:t>
            </a:r>
            <a:endParaRPr lang="en-US" sz="900" dirty="0"/>
          </a:p>
        </p:txBody>
      </p:sp>
      <p:sp>
        <p:nvSpPr>
          <p:cNvPr id="32" name="Shape 30"/>
          <p:cNvSpPr/>
          <p:nvPr/>
        </p:nvSpPr>
        <p:spPr>
          <a:xfrm>
            <a:off x="502920" y="3822192"/>
            <a:ext cx="2286000" cy="347472"/>
          </a:xfrm>
          <a:prstGeom prst="rect">
            <a:avLst/>
          </a:prstGeom>
          <a:solidFill>
            <a:srgbClr val="999999"/>
          </a:solidFill>
          <a:ln/>
        </p:spPr>
        <p:txBody>
          <a:bodyPr/>
          <a:lstStyle/>
          <a:p>
            <a:endParaRPr lang="en-US"/>
          </a:p>
        </p:txBody>
      </p:sp>
      <p:sp>
        <p:nvSpPr>
          <p:cNvPr id="33" name="Text 31"/>
          <p:cNvSpPr/>
          <p:nvPr/>
        </p:nvSpPr>
        <p:spPr>
          <a:xfrm>
            <a:off x="576072" y="382219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data/control_panel/</a:t>
            </a:r>
            <a:endParaRPr lang="en-US" sz="900" dirty="0"/>
          </a:p>
        </p:txBody>
      </p:sp>
      <p:sp>
        <p:nvSpPr>
          <p:cNvPr id="34" name="Shape 32"/>
          <p:cNvSpPr/>
          <p:nvPr/>
        </p:nvSpPr>
        <p:spPr>
          <a:xfrm>
            <a:off x="2788920" y="3822192"/>
            <a:ext cx="5852160" cy="347472"/>
          </a:xfrm>
          <a:prstGeom prst="rect">
            <a:avLst/>
          </a:prstGeom>
          <a:solidFill>
            <a:srgbClr val="FFFFFF"/>
          </a:solidFill>
          <a:ln w="3810">
            <a:solidFill>
              <a:srgbClr val="F0F0F0"/>
            </a:solidFill>
            <a:prstDash val="solid"/>
          </a:ln>
        </p:spPr>
        <p:txBody>
          <a:bodyPr/>
          <a:lstStyle/>
          <a:p>
            <a:endParaRPr lang="en-US"/>
          </a:p>
        </p:txBody>
      </p:sp>
      <p:sp>
        <p:nvSpPr>
          <p:cNvPr id="35" name="Text 33"/>
          <p:cNvSpPr/>
          <p:nvPr/>
        </p:nvSpPr>
        <p:spPr>
          <a:xfrm>
            <a:off x="2880360" y="382219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overlays/ (agent + prompt overrides), audit/events.jsonl (admin action log). Written by Control Panel API.</a:t>
            </a:r>
            <a:endParaRPr lang="en-US" sz="900" dirty="0"/>
          </a:p>
        </p:txBody>
      </p:sp>
      <p:sp>
        <p:nvSpPr>
          <p:cNvPr id="36" name="Text 3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data/agents/*.md, data/skills/*.md, data/skill_packs/**/*.md, data/prompts/*.txt, data/kb/, data/runtime/, data/memory/</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GraphRAG — Knowledge Graph Integration</a:t>
            </a:r>
            <a:endParaRPr lang="en-US" sz="2600" dirty="0"/>
          </a:p>
        </p:txBody>
      </p:sp>
      <p:sp>
        <p:nvSpPr>
          <p:cNvPr id="3" name="Text 1"/>
          <p:cNvSpPr/>
          <p:nvPr/>
        </p:nvSpPr>
        <p:spPr>
          <a:xfrm>
            <a:off x="502920" y="804672"/>
            <a:ext cx="8138160" cy="32004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A new graph/ module adds Microsoft GraphRAG and Neo4j backends. A dedicated graph_manager agent uses 5 new graph tools to query entity relationships, discover sources, and plan retrieval strategies.</a:t>
            </a:r>
            <a:endParaRPr lang="en-US" sz="1050" dirty="0"/>
          </a:p>
        </p:txBody>
      </p:sp>
      <p:sp>
        <p:nvSpPr>
          <p:cNvPr id="4" name="Shape 2"/>
          <p:cNvSpPr/>
          <p:nvPr/>
        </p:nvSpPr>
        <p:spPr>
          <a:xfrm>
            <a:off x="502920" y="1234440"/>
            <a:ext cx="3977640" cy="22860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234440"/>
            <a:ext cx="3977640" cy="320040"/>
          </a:xfrm>
          <a:prstGeom prst="rect">
            <a:avLst/>
          </a:prstGeom>
          <a:solidFill>
            <a:srgbClr val="0097A7"/>
          </a:solidFill>
          <a:ln/>
        </p:spPr>
        <p:txBody>
          <a:bodyPr/>
          <a:lstStyle/>
          <a:p>
            <a:endParaRPr lang="en-US"/>
          </a:p>
        </p:txBody>
      </p:sp>
      <p:sp>
        <p:nvSpPr>
          <p:cNvPr id="6" name="Text 4"/>
          <p:cNvSpPr/>
          <p:nvPr/>
        </p:nvSpPr>
        <p:spPr>
          <a:xfrm>
            <a:off x="61264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graph/ Module — What Was Built</a:t>
            </a:r>
            <a:endParaRPr lang="en-US" sz="1200" dirty="0"/>
          </a:p>
        </p:txBody>
      </p:sp>
      <p:sp>
        <p:nvSpPr>
          <p:cNvPr id="7" name="Text 5"/>
          <p:cNvSpPr/>
          <p:nvPr/>
        </p:nvSpPr>
        <p:spPr>
          <a:xfrm>
            <a:off x="612648" y="1618488"/>
            <a:ext cx="3758184" cy="1810512"/>
          </a:xfrm>
          <a:prstGeom prst="rect">
            <a:avLst/>
          </a:prstGeom>
          <a:noFill/>
          <a:ln/>
        </p:spPr>
        <p:txBody>
          <a:bodyPr wrap="square" lIns="0" tIns="0" rIns="0" bIns="0" rtlCol="0" anchor="t"/>
          <a:lstStyle/>
          <a:p>
            <a:pPr marL="0" indent="0">
              <a:lnSpc>
                <a:spcPct val="110000"/>
              </a:lnSpc>
              <a:buNone/>
            </a:pPr>
            <a:r>
              <a:rPr lang="en-US" sz="950" b="1" dirty="0">
                <a:solidFill>
                  <a:srgbClr val="0097A7"/>
                </a:solidFill>
                <a:latin typeface="Arial" pitchFamily="34" charset="0"/>
                <a:ea typeface="Arial" pitchFamily="34" charset="-122"/>
                <a:cs typeface="Arial" pitchFamily="34" charset="-120"/>
              </a:rPr>
              <a:t>GraphService</a:t>
            </a:r>
            <a:r>
              <a:rPr lang="en-US" sz="950" dirty="0">
                <a:solidFill>
                  <a:srgbClr val="333333"/>
                </a:solidFill>
                <a:latin typeface="Arial" pitchFamily="34" charset="0"/>
                <a:ea typeface="Arial" pitchFamily="34" charset="-122"/>
                <a:cs typeface="Arial" pitchFamily="34" charset="-120"/>
              </a:rPr>
              <a:t> — tenant-scoped service managing indexing, querying, and artifact storage
</a:t>
            </a:r>
            <a:r>
              <a:rPr lang="en-US" sz="950" b="1" dirty="0">
                <a:solidFill>
                  <a:srgbClr val="1B2A4A"/>
                </a:solidFill>
                <a:latin typeface="Arial" pitchFamily="34" charset="0"/>
                <a:ea typeface="Arial" pitchFamily="34" charset="-122"/>
                <a:cs typeface="Arial" pitchFamily="34" charset="-120"/>
              </a:rPr>
              <a:t>Backends</a:t>
            </a:r>
            <a:r>
              <a:rPr lang="en-US" sz="950" dirty="0">
                <a:solidFill>
                  <a:srgbClr val="333333"/>
                </a:solidFill>
                <a:latin typeface="Arial" pitchFamily="34" charset="0"/>
                <a:ea typeface="Arial" pitchFamily="34" charset="-122"/>
                <a:cs typeface="Arial" pitchFamily="34" charset="-120"/>
              </a:rPr>
              <a:t>: MicrosoftGraphRagBackend + Neo4jGraphImportBackend (switchable via settings.graph_backend)
</a:t>
            </a:r>
            <a:r>
              <a:rPr lang="en-US" sz="950" b="1" dirty="0">
                <a:solidFill>
                  <a:srgbClr val="0097A7"/>
                </a:solidFill>
                <a:latin typeface="Courier New" pitchFamily="34" charset="0"/>
                <a:ea typeface="Courier New" pitchFamily="34" charset="-122"/>
                <a:cs typeface="Courier New" pitchFamily="34" charset="-120"/>
              </a:rPr>
              <a:t>graph/planner.py</a:t>
            </a:r>
            <a:r>
              <a:rPr lang="en-US" sz="950" dirty="0">
                <a:solidFill>
                  <a:srgbClr val="333333"/>
                </a:solidFill>
                <a:latin typeface="Arial" pitchFamily="34" charset="0"/>
                <a:ea typeface="Arial" pitchFamily="34" charset="-122"/>
                <a:cs typeface="Arial" pitchFamily="34" charset="-120"/>
              </a:rPr>
              <a:t> — plan_sources() selects which graph indexes to query for a given task
</a:t>
            </a:r>
            <a:r>
              <a:rPr lang="en-US" sz="950" b="1" dirty="0">
                <a:solidFill>
                  <a:srgbClr val="0097A7"/>
                </a:solidFill>
                <a:latin typeface="Courier New" pitchFamily="34" charset="0"/>
                <a:ea typeface="Courier New" pitchFamily="34" charset="-122"/>
                <a:cs typeface="Courier New" pitchFamily="34" charset="-120"/>
              </a:rPr>
              <a:t>graph/artifacts.py</a:t>
            </a:r>
            <a:r>
              <a:rPr lang="en-US" sz="950" dirty="0">
                <a:solidFill>
                  <a:srgbClr val="333333"/>
                </a:solidFill>
                <a:latin typeface="Arial" pitchFamily="34" charset="0"/>
                <a:ea typeface="Arial" pitchFamily="34" charset="-122"/>
                <a:cs typeface="Arial" pitchFamily="34" charset="-120"/>
              </a:rPr>
              <a:t> — loads and serialises GraphRAG output bundles for downstream agents</a:t>
            </a:r>
            <a:endParaRPr lang="en-US" sz="1000" dirty="0"/>
          </a:p>
        </p:txBody>
      </p:sp>
      <p:sp>
        <p:nvSpPr>
          <p:cNvPr id="8" name="Shape 6"/>
          <p:cNvSpPr/>
          <p:nvPr/>
        </p:nvSpPr>
        <p:spPr>
          <a:xfrm>
            <a:off x="4663440" y="1234440"/>
            <a:ext cx="3977640" cy="22860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663440" y="1234440"/>
            <a:ext cx="3977640" cy="320040"/>
          </a:xfrm>
          <a:prstGeom prst="rect">
            <a:avLst/>
          </a:prstGeom>
          <a:solidFill>
            <a:srgbClr val="F9A825"/>
          </a:solidFill>
          <a:ln/>
        </p:spPr>
        <p:txBody>
          <a:bodyPr/>
          <a:lstStyle/>
          <a:p>
            <a:endParaRPr lang="en-US"/>
          </a:p>
        </p:txBody>
      </p:sp>
      <p:sp>
        <p:nvSpPr>
          <p:cNvPr id="10" name="Text 8"/>
          <p:cNvSpPr/>
          <p:nvPr/>
        </p:nvSpPr>
        <p:spPr>
          <a:xfrm>
            <a:off x="477316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graph_manager Agent — New Worker</a:t>
            </a:r>
            <a:endParaRPr lang="en-US" sz="1200" dirty="0"/>
          </a:p>
        </p:txBody>
      </p:sp>
      <p:sp>
        <p:nvSpPr>
          <p:cNvPr id="11" name="Text 9"/>
          <p:cNvSpPr/>
          <p:nvPr/>
        </p:nvSpPr>
        <p:spPr>
          <a:xfrm>
            <a:off x="4773168" y="1618488"/>
            <a:ext cx="3758184" cy="1810512"/>
          </a:xfrm>
          <a:prstGeom prst="rect">
            <a:avLst/>
          </a:prstGeom>
          <a:noFill/>
          <a:ln/>
        </p:spPr>
        <p:txBody>
          <a:bodyPr wrap="square" lIns="0" tIns="0" rIns="0" bIns="0" rtlCol="0" anchor="t"/>
          <a:lstStyle/>
          <a:p>
            <a:pPr marL="0" indent="0">
              <a:lnSpc>
                <a:spcPct val="110000"/>
              </a:lnSpc>
              <a:buNone/>
            </a:pPr>
            <a:r>
              <a:rPr lang="en-US" sz="950" b="1" dirty="0">
                <a:solidFill>
                  <a:srgbClr val="1B2A4A"/>
                </a:solidFill>
                <a:latin typeface="Arial" pitchFamily="34" charset="0"/>
                <a:ea typeface="Arial" pitchFamily="34" charset="-122"/>
                <a:cs typeface="Arial" pitchFamily="34" charset="-120"/>
              </a:rPr>
              <a:t>Role: </a:t>
            </a:r>
            <a:r>
              <a:rPr lang="en-US" sz="950" dirty="0">
                <a:solidFill>
                  <a:srgbClr val="333333"/>
                </a:solidFill>
                <a:latin typeface="Arial" pitchFamily="34" charset="0"/>
                <a:ea typeface="Arial" pitchFamily="34" charset="-122"/>
                <a:cs typeface="Arial" pitchFamily="34" charset="-120"/>
              </a:rPr>
              <a:t>worker-only (entry_path: delegated_only), dispatched by coordinator or general agent
</a:t>
            </a:r>
            <a:r>
              <a:rPr lang="en-US" sz="950" b="1" dirty="0">
                <a:solidFill>
                  <a:srgbClr val="1B2A4A"/>
                </a:solidFill>
                <a:latin typeface="Arial" pitchFamily="34" charset="0"/>
                <a:ea typeface="Arial" pitchFamily="34" charset="-122"/>
                <a:cs typeface="Arial" pitchFamily="34" charset="-120"/>
              </a:rPr>
              <a:t>5 tools: </a:t>
            </a:r>
            <a:r>
              <a:rPr lang="en-US" sz="950" dirty="0">
                <a:solidFill>
                  <a:srgbClr val="333333"/>
                </a:solidFill>
                <a:latin typeface="Courier New" pitchFamily="34" charset="0"/>
                <a:ea typeface="Courier New" pitchFamily="34" charset="-122"/>
                <a:cs typeface="Courier New" pitchFamily="34" charset="-120"/>
              </a:rPr>
              <a:t>list_graph_indexes, inspect_graph_index, search_graph_index, explain_source_plan, invoke_agent
</a:t>
            </a:r>
            <a:r>
              <a:rPr lang="en-US" sz="950" b="1" dirty="0">
                <a:solidFill>
                  <a:srgbClr val="1B2A4A"/>
                </a:solidFill>
                <a:latin typeface="Arial" pitchFamily="34" charset="0"/>
                <a:ea typeface="Arial" pitchFamily="34" charset="-122"/>
                <a:cs typeface="Arial" pitchFamily="34" charset="-120"/>
              </a:rPr>
              <a:t>Can delegate to: </a:t>
            </a:r>
            <a:r>
              <a:rPr lang="en-US" sz="950" dirty="0">
                <a:solidFill>
                  <a:srgbClr val="333333"/>
                </a:solidFill>
                <a:latin typeface="Arial" pitchFamily="34" charset="0"/>
                <a:ea typeface="Arial" pitchFamily="34" charset="-122"/>
                <a:cs typeface="Arial" pitchFamily="34" charset="-120"/>
              </a:rPr>
              <a:t>rag_worker or general agent for synthesis after graph retrieval
</a:t>
            </a:r>
            <a:r>
              <a:rPr lang="en-US" sz="950" b="1" dirty="0">
                <a:solidFill>
                  <a:srgbClr val="1B2A4A"/>
                </a:solidFill>
                <a:latin typeface="Arial" pitchFamily="34" charset="0"/>
                <a:ea typeface="Arial" pitchFamily="34" charset="-122"/>
                <a:cs typeface="Arial" pitchFamily="34" charset="-120"/>
              </a:rPr>
              <a:t>Use case: </a:t>
            </a:r>
            <a:r>
              <a:rPr lang="en-US" sz="950" dirty="0">
                <a:solidFill>
                  <a:srgbClr val="333333"/>
                </a:solidFill>
                <a:latin typeface="Arial" pitchFamily="34" charset="0"/>
                <a:ea typeface="Arial" pitchFamily="34" charset="-122"/>
                <a:cs typeface="Arial" pitchFamily="34" charset="-120"/>
              </a:rPr>
              <a:t>"What entities connect contract risk to vendor performance?" — traverses graph instead of vector search</a:t>
            </a:r>
            <a:endParaRPr lang="en-US" sz="1000" dirty="0"/>
          </a:p>
        </p:txBody>
      </p:sp>
      <p:sp>
        <p:nvSpPr>
          <p:cNvPr id="12" name="Text 10"/>
          <p:cNvSpPr/>
          <p:nvPr/>
        </p:nvSpPr>
        <p:spPr>
          <a:xfrm>
            <a:off x="502920" y="3639312"/>
            <a:ext cx="8138160" cy="219456"/>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New Graph API Endpoints (5)</a:t>
            </a:r>
            <a:endParaRPr lang="en-US" sz="1000" dirty="0"/>
          </a:p>
        </p:txBody>
      </p:sp>
      <p:sp>
        <p:nvSpPr>
          <p:cNvPr id="13" name="Shape 11"/>
          <p:cNvSpPr/>
          <p:nvPr/>
        </p:nvSpPr>
        <p:spPr>
          <a:xfrm>
            <a:off x="502920" y="3904488"/>
            <a:ext cx="1591056" cy="502920"/>
          </a:xfrm>
          <a:prstGeom prst="rect">
            <a:avLst/>
          </a:prstGeom>
          <a:solidFill>
            <a:srgbClr val="E0F7FA"/>
          </a:solidFill>
          <a:ln w="6350">
            <a:solidFill>
              <a:srgbClr val="0097A7"/>
            </a:solidFill>
            <a:prstDash val="solid"/>
          </a:ln>
        </p:spPr>
        <p:txBody>
          <a:bodyPr/>
          <a:lstStyle/>
          <a:p>
            <a:endParaRPr lang="en-US"/>
          </a:p>
        </p:txBody>
      </p:sp>
      <p:sp>
        <p:nvSpPr>
          <p:cNvPr id="14" name="Text 12"/>
          <p:cNvSpPr/>
          <p:nvPr/>
        </p:nvSpPr>
        <p:spPr>
          <a:xfrm>
            <a:off x="548640"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GET /v1/graphs</a:t>
            </a:r>
            <a:endParaRPr lang="en-US" sz="800" dirty="0"/>
          </a:p>
        </p:txBody>
      </p:sp>
      <p:sp>
        <p:nvSpPr>
          <p:cNvPr id="15" name="Text 13"/>
          <p:cNvSpPr/>
          <p:nvPr/>
        </p:nvSpPr>
        <p:spPr>
          <a:xfrm>
            <a:off x="548640"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List graph indexes</a:t>
            </a:r>
            <a:endParaRPr lang="en-US" sz="850" dirty="0"/>
          </a:p>
        </p:txBody>
      </p:sp>
      <p:sp>
        <p:nvSpPr>
          <p:cNvPr id="16" name="Shape 14"/>
          <p:cNvSpPr/>
          <p:nvPr/>
        </p:nvSpPr>
        <p:spPr>
          <a:xfrm>
            <a:off x="2130552" y="3904488"/>
            <a:ext cx="1591056" cy="502920"/>
          </a:xfrm>
          <a:prstGeom prst="rect">
            <a:avLst/>
          </a:prstGeom>
          <a:solidFill>
            <a:srgbClr val="E8F5E9"/>
          </a:solidFill>
          <a:ln w="6350">
            <a:solidFill>
              <a:srgbClr val="0097A7"/>
            </a:solidFill>
            <a:prstDash val="solid"/>
          </a:ln>
        </p:spPr>
        <p:txBody>
          <a:bodyPr/>
          <a:lstStyle/>
          <a:p>
            <a:endParaRPr lang="en-US"/>
          </a:p>
        </p:txBody>
      </p:sp>
      <p:sp>
        <p:nvSpPr>
          <p:cNvPr id="17" name="Text 15"/>
          <p:cNvSpPr/>
          <p:nvPr/>
        </p:nvSpPr>
        <p:spPr>
          <a:xfrm>
            <a:off x="2176272"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GET /v1/graphs/{id}</a:t>
            </a:r>
            <a:endParaRPr lang="en-US" sz="800" dirty="0"/>
          </a:p>
        </p:txBody>
      </p:sp>
      <p:sp>
        <p:nvSpPr>
          <p:cNvPr id="18" name="Text 16"/>
          <p:cNvSpPr/>
          <p:nvPr/>
        </p:nvSpPr>
        <p:spPr>
          <a:xfrm>
            <a:off x="2176272"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Graph metadata</a:t>
            </a:r>
            <a:endParaRPr lang="en-US" sz="850" dirty="0"/>
          </a:p>
        </p:txBody>
      </p:sp>
      <p:sp>
        <p:nvSpPr>
          <p:cNvPr id="19" name="Shape 17"/>
          <p:cNvSpPr/>
          <p:nvPr/>
        </p:nvSpPr>
        <p:spPr>
          <a:xfrm>
            <a:off x="3758184" y="3904488"/>
            <a:ext cx="1591056" cy="502920"/>
          </a:xfrm>
          <a:prstGeom prst="rect">
            <a:avLst/>
          </a:prstGeom>
          <a:solidFill>
            <a:srgbClr val="E0F7FA"/>
          </a:solidFill>
          <a:ln w="6350">
            <a:solidFill>
              <a:srgbClr val="0097A7"/>
            </a:solidFill>
            <a:prstDash val="solid"/>
          </a:ln>
        </p:spPr>
        <p:txBody>
          <a:bodyPr/>
          <a:lstStyle/>
          <a:p>
            <a:endParaRPr lang="en-US"/>
          </a:p>
        </p:txBody>
      </p:sp>
      <p:sp>
        <p:nvSpPr>
          <p:cNvPr id="20" name="Text 18"/>
          <p:cNvSpPr/>
          <p:nvPr/>
        </p:nvSpPr>
        <p:spPr>
          <a:xfrm>
            <a:off x="3803904"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POST /v1/graphs/index</a:t>
            </a:r>
            <a:endParaRPr lang="en-US" sz="800" dirty="0"/>
          </a:p>
        </p:txBody>
      </p:sp>
      <p:sp>
        <p:nvSpPr>
          <p:cNvPr id="21" name="Text 19"/>
          <p:cNvSpPr/>
          <p:nvPr/>
        </p:nvSpPr>
        <p:spPr>
          <a:xfrm>
            <a:off x="3803904"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Run indexing</a:t>
            </a:r>
            <a:endParaRPr lang="en-US" sz="850" dirty="0"/>
          </a:p>
        </p:txBody>
      </p:sp>
      <p:sp>
        <p:nvSpPr>
          <p:cNvPr id="22" name="Shape 20"/>
          <p:cNvSpPr/>
          <p:nvPr/>
        </p:nvSpPr>
        <p:spPr>
          <a:xfrm>
            <a:off x="5385816" y="3904488"/>
            <a:ext cx="1591056" cy="502920"/>
          </a:xfrm>
          <a:prstGeom prst="rect">
            <a:avLst/>
          </a:prstGeom>
          <a:solidFill>
            <a:srgbClr val="E8F5E9"/>
          </a:solidFill>
          <a:ln w="6350">
            <a:solidFill>
              <a:srgbClr val="0097A7"/>
            </a:solidFill>
            <a:prstDash val="solid"/>
          </a:ln>
        </p:spPr>
        <p:txBody>
          <a:bodyPr/>
          <a:lstStyle/>
          <a:p>
            <a:endParaRPr lang="en-US"/>
          </a:p>
        </p:txBody>
      </p:sp>
      <p:sp>
        <p:nvSpPr>
          <p:cNvPr id="23" name="Text 21"/>
          <p:cNvSpPr/>
          <p:nvPr/>
        </p:nvSpPr>
        <p:spPr>
          <a:xfrm>
            <a:off x="5431536"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POST /v1/graphs/import</a:t>
            </a:r>
            <a:endParaRPr lang="en-US" sz="800" dirty="0"/>
          </a:p>
        </p:txBody>
      </p:sp>
      <p:sp>
        <p:nvSpPr>
          <p:cNvPr id="24" name="Text 22"/>
          <p:cNvSpPr/>
          <p:nvPr/>
        </p:nvSpPr>
        <p:spPr>
          <a:xfrm>
            <a:off x="5431536"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Import Neo4j/GraphRAG</a:t>
            </a:r>
            <a:endParaRPr lang="en-US" sz="850" dirty="0"/>
          </a:p>
        </p:txBody>
      </p:sp>
      <p:sp>
        <p:nvSpPr>
          <p:cNvPr id="25" name="Shape 23"/>
          <p:cNvSpPr/>
          <p:nvPr/>
        </p:nvSpPr>
        <p:spPr>
          <a:xfrm>
            <a:off x="7013448" y="3904488"/>
            <a:ext cx="1591056" cy="502920"/>
          </a:xfrm>
          <a:prstGeom prst="rect">
            <a:avLst/>
          </a:prstGeom>
          <a:solidFill>
            <a:srgbClr val="E0F7FA"/>
          </a:solidFill>
          <a:ln w="6350">
            <a:solidFill>
              <a:srgbClr val="0097A7"/>
            </a:solidFill>
            <a:prstDash val="solid"/>
          </a:ln>
        </p:spPr>
        <p:txBody>
          <a:bodyPr/>
          <a:lstStyle/>
          <a:p>
            <a:endParaRPr lang="en-US"/>
          </a:p>
        </p:txBody>
      </p:sp>
      <p:sp>
        <p:nvSpPr>
          <p:cNvPr id="26" name="Text 24"/>
          <p:cNvSpPr/>
          <p:nvPr/>
        </p:nvSpPr>
        <p:spPr>
          <a:xfrm>
            <a:off x="7059168"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POST /v1/graphs/query</a:t>
            </a:r>
            <a:endParaRPr lang="en-US" sz="800" dirty="0"/>
          </a:p>
        </p:txBody>
      </p:sp>
      <p:sp>
        <p:nvSpPr>
          <p:cNvPr id="27" name="Text 25"/>
          <p:cNvSpPr/>
          <p:nvPr/>
        </p:nvSpPr>
        <p:spPr>
          <a:xfrm>
            <a:off x="7059168"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Direct graph query</a:t>
            </a:r>
            <a:endParaRPr lang="en-US" sz="85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graph/service.py, graph/planner.py, graph/backend.py — MicrosoftGraphRagBackend + Neo4jGraphImportBackend</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Deep RAG &amp; Adaptive Retrieval</a:t>
            </a:r>
            <a:endParaRPr lang="en-US" sz="2600" dirty="0"/>
          </a:p>
        </p:txBody>
      </p:sp>
      <p:sp>
        <p:nvSpPr>
          <p:cNvPr id="3" name="Text 1"/>
          <p:cNvSpPr/>
          <p:nvPr/>
        </p:nvSpPr>
        <p:spPr>
          <a:xfrm>
            <a:off x="502920" y="804672"/>
            <a:ext cx="8138160" cy="32004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Two new layers sit above the base RAG pipeline: DeepRagRequest controls search depth, and CorpusRetrievalAdapter orchestrates multi-step, entity-linked, and graph-augmented retrieval.</a:t>
            </a:r>
            <a:endParaRPr lang="en-US" sz="1050" dirty="0"/>
          </a:p>
        </p:txBody>
      </p:sp>
      <p:sp>
        <p:nvSpPr>
          <p:cNvPr id="4" name="Shape 2"/>
          <p:cNvSpPr/>
          <p:nvPr/>
        </p:nvSpPr>
        <p:spPr>
          <a:xfrm>
            <a:off x="502920" y="1234440"/>
            <a:ext cx="397764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234440"/>
            <a:ext cx="3977640" cy="320040"/>
          </a:xfrm>
          <a:prstGeom prst="rect">
            <a:avLst/>
          </a:prstGeom>
          <a:solidFill>
            <a:srgbClr val="0097A7"/>
          </a:solidFill>
          <a:ln/>
        </p:spPr>
        <p:txBody>
          <a:bodyPr/>
          <a:lstStyle/>
          <a:p>
            <a:endParaRPr lang="en-US"/>
          </a:p>
        </p:txBody>
      </p:sp>
      <p:sp>
        <p:nvSpPr>
          <p:cNvPr id="6" name="Text 4"/>
          <p:cNvSpPr/>
          <p:nvPr/>
        </p:nvSpPr>
        <p:spPr>
          <a:xfrm>
            <a:off x="61264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runtime/deep_rag.py — Search Modes</a:t>
            </a:r>
            <a:endParaRPr lang="en-US" sz="1200" dirty="0"/>
          </a:p>
        </p:txBody>
      </p:sp>
      <p:sp>
        <p:nvSpPr>
          <p:cNvPr id="7" name="Text 5"/>
          <p:cNvSpPr/>
          <p:nvPr/>
        </p:nvSpPr>
        <p:spPr>
          <a:xfrm>
            <a:off x="612648" y="1618488"/>
            <a:ext cx="3758184" cy="2084832"/>
          </a:xfrm>
          <a:prstGeom prst="rect">
            <a:avLst/>
          </a:prstGeom>
          <a:noFill/>
          <a:ln/>
        </p:spPr>
        <p:txBody>
          <a:bodyPr wrap="square" lIns="0" tIns="0" rIns="0" bIns="0" rtlCol="0" anchor="t"/>
          <a:lstStyle/>
          <a:p>
            <a:pPr marL="0" indent="0">
              <a:lnSpc>
                <a:spcPct val="110000"/>
              </a:lnSpc>
              <a:buNone/>
            </a:pPr>
            <a:r>
              <a:rPr lang="en-US" sz="950" b="1" dirty="0">
                <a:solidFill>
                  <a:srgbClr val="0097A7"/>
                </a:solidFill>
                <a:latin typeface="Courier New" pitchFamily="34" charset="0"/>
                <a:ea typeface="Courier New" pitchFamily="34" charset="-122"/>
                <a:cs typeface="Courier New" pitchFamily="34" charset="-120"/>
              </a:rPr>
              <a:t>DeepRagRequest </a:t>
            </a:r>
            <a:r>
              <a:rPr lang="en-US" sz="950" dirty="0">
                <a:solidFill>
                  <a:srgbClr val="333333"/>
                </a:solidFill>
                <a:latin typeface="Arial" pitchFamily="34" charset="0"/>
                <a:ea typeface="Arial" pitchFamily="34" charset="-122"/>
                <a:cs typeface="Arial" pitchFamily="34" charset="-120"/>
              </a:rPr>
              <a:t>controls per-turn retrieval policy:
</a:t>
            </a:r>
            <a:r>
              <a:rPr lang="en-US" sz="950" b="1" dirty="0">
                <a:solidFill>
                  <a:srgbClr val="1B2A4A"/>
                </a:solidFill>
                <a:latin typeface="Arial" pitchFamily="34" charset="0"/>
                <a:ea typeface="Arial" pitchFamily="34" charset="-122"/>
                <a:cs typeface="Arial" pitchFamily="34" charset="-120"/>
              </a:rPr>
              <a:t>mode: </a:t>
            </a:r>
            <a:r>
              <a:rPr lang="en-US" sz="950" dirty="0">
                <a:solidFill>
                  <a:srgbClr val="333333"/>
                </a:solidFill>
                <a:latin typeface="Courier New" pitchFamily="34" charset="0"/>
                <a:ea typeface="Courier New" pitchFamily="34" charset="-122"/>
                <a:cs typeface="Courier New" pitchFamily="34" charset="-120"/>
              </a:rPr>
              <a:t>off | auto | force
</a:t>
            </a:r>
            <a:r>
              <a:rPr lang="en-US" sz="950" b="1" dirty="0">
                <a:solidFill>
                  <a:srgbClr val="1B2A4A"/>
                </a:solidFill>
                <a:latin typeface="Arial" pitchFamily="34" charset="0"/>
                <a:ea typeface="Arial" pitchFamily="34" charset="-122"/>
                <a:cs typeface="Arial" pitchFamily="34" charset="-120"/>
              </a:rPr>
              <a:t>search_mode: </a:t>
            </a:r>
            <a:r>
              <a:rPr lang="en-US" sz="950" dirty="0">
                <a:solidFill>
                  <a:srgbClr val="333333"/>
                </a:solidFill>
                <a:latin typeface="Courier New" pitchFamily="34" charset="0"/>
                <a:ea typeface="Courier New" pitchFamily="34" charset="-122"/>
                <a:cs typeface="Courier New" pitchFamily="34" charset="-120"/>
              </a:rPr>
              <a:t>fast | auto | deep
</a:t>
            </a:r>
            <a:r>
              <a:rPr lang="en-US" sz="950" b="1" dirty="0">
                <a:solidFill>
                  <a:srgbClr val="0097A7"/>
                </a:solidFill>
                <a:latin typeface="Courier New" pitchFamily="34" charset="0"/>
                <a:ea typeface="Courier New" pitchFamily="34" charset="-122"/>
                <a:cs typeface="Courier New" pitchFamily="34" charset="-120"/>
              </a:rPr>
              <a:t>auto</a:t>
            </a:r>
            <a:r>
              <a:rPr lang="en-US" sz="950" dirty="0">
                <a:solidFill>
                  <a:srgbClr val="333333"/>
                </a:solidFill>
                <a:latin typeface="Arial" pitchFamily="34" charset="0"/>
                <a:ea typeface="Arial" pitchFamily="34" charset="-122"/>
                <a:cs typeface="Arial" pitchFamily="34" charset="-120"/>
              </a:rPr>
              <a:t>: LLM policy planner decides based on query complexity
</a:t>
            </a:r>
            <a:r>
              <a:rPr lang="en-US" sz="950" b="1" dirty="0">
                <a:solidFill>
                  <a:srgbClr val="C62828"/>
                </a:solidFill>
                <a:latin typeface="Courier New" pitchFamily="34" charset="0"/>
                <a:ea typeface="Courier New" pitchFamily="34" charset="-122"/>
                <a:cs typeface="Courier New" pitchFamily="34" charset="-120"/>
              </a:rPr>
              <a:t>deep</a:t>
            </a:r>
            <a:r>
              <a:rPr lang="en-US" sz="950" dirty="0">
                <a:solidFill>
                  <a:srgbClr val="333333"/>
                </a:solidFill>
                <a:latin typeface="Arial" pitchFamily="34" charset="0"/>
                <a:ea typeface="Arial" pitchFamily="34" charset="-122"/>
                <a:cs typeface="Arial" pitchFamily="34" charset="-120"/>
              </a:rPr>
              <a:t>: Forces CorpusRetrievalAdapter for multi-stage, entity-linked, graph-augmented retrieval
</a:t>
            </a:r>
            <a:r>
              <a:rPr lang="en-US" sz="950" b="1" dirty="0">
                <a:solidFill>
                  <a:srgbClr val="2E7D32"/>
                </a:solidFill>
                <a:latin typeface="Courier New" pitchFamily="34" charset="0"/>
                <a:ea typeface="Courier New" pitchFamily="34" charset="-122"/>
                <a:cs typeface="Courier New" pitchFamily="34" charset="-120"/>
              </a:rPr>
              <a:t>fast</a:t>
            </a:r>
            <a:r>
              <a:rPr lang="en-US" sz="950" dirty="0">
                <a:solidFill>
                  <a:srgbClr val="333333"/>
                </a:solidFill>
                <a:latin typeface="Arial" pitchFamily="34" charset="0"/>
                <a:ea typeface="Arial" pitchFamily="34" charset="-122"/>
                <a:cs typeface="Arial" pitchFamily="34" charset="-120"/>
              </a:rPr>
              <a:t>: Single-pass vector + BM25 (same as before)</a:t>
            </a:r>
            <a:endParaRPr lang="en-US" sz="1000" dirty="0"/>
          </a:p>
        </p:txBody>
      </p:sp>
      <p:sp>
        <p:nvSpPr>
          <p:cNvPr id="8" name="Shape 6"/>
          <p:cNvSpPr/>
          <p:nvPr/>
        </p:nvSpPr>
        <p:spPr>
          <a:xfrm>
            <a:off x="4663440" y="1234440"/>
            <a:ext cx="397764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663440" y="1234440"/>
            <a:ext cx="3977640" cy="320040"/>
          </a:xfrm>
          <a:prstGeom prst="rect">
            <a:avLst/>
          </a:prstGeom>
          <a:solidFill>
            <a:srgbClr val="00796B"/>
          </a:solidFill>
          <a:ln/>
        </p:spPr>
        <p:txBody>
          <a:bodyPr/>
          <a:lstStyle/>
          <a:p>
            <a:endParaRPr lang="en-US"/>
          </a:p>
        </p:txBody>
      </p:sp>
      <p:sp>
        <p:nvSpPr>
          <p:cNvPr id="10" name="Text 8"/>
          <p:cNvSpPr/>
          <p:nvPr/>
        </p:nvSpPr>
        <p:spPr>
          <a:xfrm>
            <a:off x="477316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rag/adaptive.py — CorpusRetrievalAdapter</a:t>
            </a:r>
            <a:endParaRPr lang="en-US" sz="1200" dirty="0"/>
          </a:p>
        </p:txBody>
      </p:sp>
      <p:sp>
        <p:nvSpPr>
          <p:cNvPr id="11" name="Text 9"/>
          <p:cNvSpPr/>
          <p:nvPr/>
        </p:nvSpPr>
        <p:spPr>
          <a:xfrm>
            <a:off x="4773168" y="1618488"/>
            <a:ext cx="3758184" cy="2084832"/>
          </a:xfrm>
          <a:prstGeom prst="rect">
            <a:avLst/>
          </a:prstGeom>
          <a:noFill/>
          <a:ln/>
        </p:spPr>
        <p:txBody>
          <a:bodyPr wrap="square" lIns="0" tIns="0" rIns="0" bIns="0" rtlCol="0" anchor="t"/>
          <a:lstStyle/>
          <a:p>
            <a:pPr marL="0" indent="0">
              <a:lnSpc>
                <a:spcPct val="110000"/>
              </a:lnSpc>
              <a:buNone/>
            </a:pPr>
            <a:r>
              <a:rPr lang="en-US" sz="950" b="1" dirty="0">
                <a:solidFill>
                  <a:srgbClr val="00796B"/>
                </a:solidFill>
                <a:latin typeface="Courier New" pitchFamily="34" charset="0"/>
                <a:ea typeface="Courier New" pitchFamily="34" charset="-122"/>
                <a:cs typeface="Courier New" pitchFamily="34" charset="-120"/>
              </a:rPr>
              <a:t>CorpusRetrievalAdapter </a:t>
            </a:r>
            <a:r>
              <a:rPr lang="en-US" sz="950" dirty="0">
                <a:solidFill>
                  <a:srgbClr val="333333"/>
                </a:solidFill>
                <a:latin typeface="Arial" pitchFamily="34" charset="0"/>
                <a:ea typeface="Arial" pitchFamily="34" charset="-122"/>
                <a:cs typeface="Arial" pitchFamily="34" charset="-120"/>
              </a:rPr>
              <a:t>(113KB) — the full deep retrieval pipeline:
</a:t>
            </a:r>
            <a:r>
              <a:rPr lang="en-US" sz="950" b="1" dirty="0">
                <a:solidFill>
                  <a:srgbClr val="1B2A4A"/>
                </a:solidFill>
                <a:latin typeface="Arial" pitchFamily="34" charset="0"/>
                <a:ea typeface="Arial" pitchFamily="34" charset="-122"/>
                <a:cs typeface="Arial" pitchFamily="34" charset="-120"/>
              </a:rPr>
              <a:t>① Entity linking </a:t>
            </a:r>
            <a:r>
              <a:rPr lang="en-US" sz="950" dirty="0">
                <a:solidFill>
                  <a:srgbClr val="333333"/>
                </a:solidFill>
                <a:latin typeface="Arial" pitchFamily="34" charset="0"/>
                <a:ea typeface="Arial" pitchFamily="34" charset="-122"/>
                <a:cs typeface="Arial" pitchFamily="34" charset="-120"/>
              </a:rPr>
              <a:t>— rag/entity_linking.py resolves query entities against the KB before searching
</a:t>
            </a:r>
            <a:r>
              <a:rPr lang="en-US" sz="950" b="1" dirty="0">
                <a:solidFill>
                  <a:srgbClr val="1B2A4A"/>
                </a:solidFill>
                <a:latin typeface="Arial" pitchFamily="34" charset="0"/>
                <a:ea typeface="Arial" pitchFamily="34" charset="-122"/>
                <a:cs typeface="Arial" pitchFamily="34" charset="-120"/>
              </a:rPr>
              <a:t>② Discovery precision </a:t>
            </a:r>
            <a:r>
              <a:rPr lang="en-US" sz="950" dirty="0">
                <a:solidFill>
                  <a:srgbClr val="333333"/>
                </a:solidFill>
                <a:latin typeface="Arial" pitchFamily="34" charset="0"/>
                <a:ea typeface="Arial" pitchFamily="34" charset="-122"/>
                <a:cs typeface="Arial" pitchFamily="34" charset="-120"/>
              </a:rPr>
              <a:t>— filters candidate docs using topic seed terms
</a:t>
            </a:r>
            <a:r>
              <a:rPr lang="en-US" sz="950" b="1" dirty="0">
                <a:solidFill>
                  <a:srgbClr val="1B2A4A"/>
                </a:solidFill>
                <a:latin typeface="Arial" pitchFamily="34" charset="0"/>
                <a:ea typeface="Arial" pitchFamily="34" charset="-122"/>
                <a:cs typeface="Arial" pitchFamily="34" charset="-120"/>
              </a:rPr>
              <a:t>③ Retrieval verification </a:t>
            </a:r>
            <a:r>
              <a:rPr lang="en-US" sz="950" dirty="0">
                <a:solidFill>
                  <a:srgbClr val="333333"/>
                </a:solidFill>
                <a:latin typeface="Arial" pitchFamily="34" charset="0"/>
                <a:ea typeface="Arial" pitchFamily="34" charset="-122"/>
                <a:cs typeface="Arial" pitchFamily="34" charset="-120"/>
              </a:rPr>
              <a:t>— rag/verification.py validates quality before synthesis
</a:t>
            </a:r>
            <a:r>
              <a:rPr lang="en-US" sz="950" b="1" dirty="0">
                <a:solidFill>
                  <a:srgbClr val="1B2A4A"/>
                </a:solidFill>
                <a:latin typeface="Arial" pitchFamily="34" charset="0"/>
                <a:ea typeface="Arial" pitchFamily="34" charset="-122"/>
                <a:cs typeface="Arial" pitchFamily="34" charset="-120"/>
              </a:rPr>
              <a:t>④ Graph augmentation </a:t>
            </a:r>
            <a:r>
              <a:rPr lang="en-US" sz="950" dirty="0">
                <a:solidFill>
                  <a:srgbClr val="333333"/>
                </a:solidFill>
                <a:latin typeface="Arial" pitchFamily="34" charset="0"/>
                <a:ea typeface="Arial" pitchFamily="34" charset="-122"/>
                <a:cs typeface="Arial" pitchFamily="34" charset="-120"/>
              </a:rPr>
              <a:t>— integrates GraphService results when graph indexes exist</a:t>
            </a:r>
            <a:endParaRPr lang="en-US" sz="1000" dirty="0"/>
          </a:p>
        </p:txBody>
      </p:sp>
      <p:sp>
        <p:nvSpPr>
          <p:cNvPr id="12" name="Shape 10"/>
          <p:cNvSpPr/>
          <p:nvPr/>
        </p:nvSpPr>
        <p:spPr>
          <a:xfrm>
            <a:off x="502920" y="3904488"/>
            <a:ext cx="8138160" cy="402336"/>
          </a:xfrm>
          <a:prstGeom prst="rect">
            <a:avLst/>
          </a:prstGeom>
          <a:solidFill>
            <a:srgbClr val="E0F7FA"/>
          </a:solidFill>
          <a:ln w="12700">
            <a:solidFill>
              <a:srgbClr val="0097A7"/>
            </a:solidFill>
            <a:prstDash val="solid"/>
          </a:ln>
        </p:spPr>
        <p:txBody>
          <a:bodyPr/>
          <a:lstStyle/>
          <a:p>
            <a:endParaRPr lang="en-US"/>
          </a:p>
        </p:txBody>
      </p:sp>
      <p:sp>
        <p:nvSpPr>
          <p:cNvPr id="13" name="Text 11"/>
          <p:cNvSpPr/>
          <p:nvPr/>
        </p:nvSpPr>
        <p:spPr>
          <a:xfrm>
            <a:off x="594360" y="3904488"/>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Deep RAG activates automatically for broad research queries ("comprehensive", "end-to-end", "identify all documents") or when search_mode=deep is forced in controller_hints.</a:t>
            </a:r>
            <a:endParaRPr lang="en-US" sz="1000" dirty="0"/>
          </a:p>
        </p:txBody>
      </p:sp>
      <p:sp>
        <p:nvSpPr>
          <p:cNvPr id="14" name="Text 12"/>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runtime/deep_rag.py, rag/adaptive.py (113KB), rag/entity_linking.py, rag/verification.py, rag/discovery_precision.py</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Router Feedback Loop &amp; Worker Scheduler — Built</a:t>
            </a:r>
            <a:endParaRPr lang="en-US" sz="2600" dirty="0"/>
          </a:p>
        </p:txBody>
      </p:sp>
      <p:sp>
        <p:nvSpPr>
          <p:cNvPr id="3" name="Text 1"/>
          <p:cNvSpPr/>
          <p:nvPr/>
        </p:nvSpPr>
        <p:spPr>
          <a:xfrm>
            <a:off x="502920" y="804672"/>
            <a:ext cx="813816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Two operational improvements recommended in earlier analysis are now implemented and active in the codebase.</a:t>
            </a:r>
            <a:endParaRPr lang="en-US" sz="1100" dirty="0"/>
          </a:p>
        </p:txBody>
      </p:sp>
      <p:sp>
        <p:nvSpPr>
          <p:cNvPr id="4" name="Shape 2"/>
          <p:cNvSpPr/>
          <p:nvPr/>
        </p:nvSpPr>
        <p:spPr>
          <a:xfrm>
            <a:off x="502920" y="1188720"/>
            <a:ext cx="3977640" cy="27432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3977640" cy="320040"/>
          </a:xfrm>
          <a:prstGeom prst="rect">
            <a:avLst/>
          </a:prstGeom>
          <a:solidFill>
            <a:srgbClr val="0097A7"/>
          </a:solidFill>
          <a:ln/>
        </p:spPr>
        <p:txBody>
          <a:bodyPr/>
          <a:lstStyle/>
          <a:p>
            <a:endParaRPr lang="en-US"/>
          </a:p>
        </p:txBody>
      </p:sp>
      <p:sp>
        <p:nvSpPr>
          <p:cNvPr id="6" name="Text 4"/>
          <p:cNvSpPr/>
          <p:nvPr/>
        </p:nvSpPr>
        <p:spPr>
          <a:xfrm>
            <a:off x="612648" y="121615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router/feedback_loop.py — Built</a:t>
            </a:r>
            <a:endParaRPr lang="en-US" sz="1200" dirty="0"/>
          </a:p>
        </p:txBody>
      </p:sp>
      <p:sp>
        <p:nvSpPr>
          <p:cNvPr id="7" name="Text 5"/>
          <p:cNvSpPr/>
          <p:nvPr/>
        </p:nvSpPr>
        <p:spPr>
          <a:xfrm>
            <a:off x="612648" y="1572768"/>
            <a:ext cx="3758184" cy="2267712"/>
          </a:xfrm>
          <a:prstGeom prst="rect">
            <a:avLst/>
          </a:prstGeom>
          <a:noFill/>
          <a:ln/>
        </p:spPr>
        <p:txBody>
          <a:bodyPr wrap="square" lIns="0" tIns="0" rIns="0" bIns="0" rtlCol="0" anchor="t"/>
          <a:lstStyle/>
          <a:p>
            <a:pPr marL="0" indent="0">
              <a:lnSpc>
                <a:spcPct val="110000"/>
              </a:lnSpc>
              <a:buNone/>
            </a:pPr>
            <a:r>
              <a:rPr lang="en-US" sz="950" b="1" dirty="0">
                <a:solidFill>
                  <a:srgbClr val="1B2A4A"/>
                </a:solidFill>
                <a:latin typeface="Arial" pitchFamily="34" charset="0"/>
                <a:ea typeface="Arial" pitchFamily="34" charset="-122"/>
                <a:cs typeface="Arial" pitchFamily="34" charset="-120"/>
              </a:rPr>
              <a:t>Tracks outcome per RouterDecision:
</a:t>
            </a:r>
            <a:r>
              <a:rPr lang="en-US" sz="950" dirty="0">
                <a:solidFill>
                  <a:srgbClr val="333333"/>
                </a:solidFill>
                <a:latin typeface="Courier New" pitchFamily="34" charset="0"/>
                <a:ea typeface="Courier New" pitchFamily="34" charset="-122"/>
                <a:cs typeface="Courier New" pitchFamily="34" charset="-120"/>
              </a:rPr>
              <a:t>POSITIVE / NEUTRAL / NEGATIVE
</a:t>
            </a:r>
            <a:r>
              <a:rPr lang="en-US" sz="950" b="1" dirty="0">
                <a:solidFill>
                  <a:srgbClr val="C62828"/>
                </a:solidFill>
                <a:latin typeface="Arial" pitchFamily="34" charset="0"/>
                <a:ea typeface="Arial" pitchFamily="34" charset="-122"/>
                <a:cs typeface="Arial" pitchFamily="34" charset="-120"/>
              </a:rPr>
              <a:t>Dissatisfaction detector </a:t>
            </a:r>
            <a:r>
              <a:rPr lang="en-US" sz="950" dirty="0">
                <a:solidFill>
                  <a:srgbClr val="333333"/>
                </a:solidFill>
                <a:latin typeface="Arial" pitchFamily="34" charset="0"/>
                <a:ea typeface="Arial" pitchFamily="34" charset="-122"/>
                <a:cs typeface="Arial" pitchFamily="34" charset="-120"/>
              </a:rPr>
              <a:t>— regex matches "try again", "you missed", "wrong", "rephrase" in follow-up messages
</a:t>
            </a:r>
            <a:r>
              <a:rPr lang="en-US" sz="950" b="1" dirty="0">
                <a:solidFill>
                  <a:srgbClr val="1B2A4A"/>
                </a:solidFill>
                <a:latin typeface="Arial" pitchFamily="34" charset="0"/>
                <a:ea typeface="Arial" pitchFamily="34" charset="-122"/>
                <a:cs typeface="Arial" pitchFamily="34" charset="-120"/>
              </a:rPr>
              <a:t>Sampling </a:t>
            </a:r>
            <a:r>
              <a:rPr lang="en-US" sz="950" dirty="0">
                <a:solidFill>
                  <a:srgbClr val="333333"/>
                </a:solidFill>
                <a:latin typeface="Arial" pitchFamily="34" charset="0"/>
                <a:ea typeface="Arial" pitchFamily="34" charset="-122"/>
                <a:cs typeface="Arial" pitchFamily="34" charset="-120"/>
              </a:rPr>
              <a:t>— 10% neutral sample rate, 25 reviews/tenant/day cap prevents noise
</a:t>
            </a:r>
            <a:r>
              <a:rPr lang="en-US" sz="950" b="1" dirty="0">
                <a:solidFill>
                  <a:srgbClr val="1B2A4A"/>
                </a:solidFill>
                <a:latin typeface="Arial" pitchFamily="34" charset="0"/>
                <a:ea typeface="Arial" pitchFamily="34" charset="-122"/>
                <a:cs typeface="Arial" pitchFamily="34" charset="-120"/>
              </a:rPr>
              <a:t>Outputs </a:t>
            </a:r>
            <a:r>
              <a:rPr lang="en-US" sz="950" dirty="0">
                <a:solidFill>
                  <a:srgbClr val="333333"/>
                </a:solidFill>
                <a:latin typeface="Arial" pitchFamily="34" charset="0"/>
                <a:ea typeface="Arial" pitchFamily="34" charset="-122"/>
                <a:cs typeface="Arial" pitchFamily="34" charset="-120"/>
              </a:rPr>
              <a:t>JSONL review files — structured labeled pool for quarterly pattern retraining</a:t>
            </a:r>
            <a:endParaRPr lang="en-US" sz="1000" dirty="0"/>
          </a:p>
        </p:txBody>
      </p:sp>
      <p:sp>
        <p:nvSpPr>
          <p:cNvPr id="8" name="Shape 6"/>
          <p:cNvSpPr/>
          <p:nvPr/>
        </p:nvSpPr>
        <p:spPr>
          <a:xfrm>
            <a:off x="4663440" y="1188720"/>
            <a:ext cx="3977640" cy="27432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663440" y="1188720"/>
            <a:ext cx="3977640" cy="320040"/>
          </a:xfrm>
          <a:prstGeom prst="rect">
            <a:avLst/>
          </a:prstGeom>
          <a:solidFill>
            <a:srgbClr val="00796B"/>
          </a:solidFill>
          <a:ln/>
        </p:spPr>
        <p:txBody>
          <a:bodyPr/>
          <a:lstStyle/>
          <a:p>
            <a:endParaRPr lang="en-US"/>
          </a:p>
        </p:txBody>
      </p:sp>
      <p:sp>
        <p:nvSpPr>
          <p:cNvPr id="10" name="Text 8"/>
          <p:cNvSpPr/>
          <p:nvPr/>
        </p:nvSpPr>
        <p:spPr>
          <a:xfrm>
            <a:off x="4773168" y="121615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runtime/worker_scheduler.py — Built</a:t>
            </a:r>
            <a:endParaRPr lang="en-US" sz="1200" dirty="0"/>
          </a:p>
        </p:txBody>
      </p:sp>
      <p:sp>
        <p:nvSpPr>
          <p:cNvPr id="11" name="Text 9"/>
          <p:cNvSpPr/>
          <p:nvPr/>
        </p:nvSpPr>
        <p:spPr>
          <a:xfrm>
            <a:off x="4773168" y="1572768"/>
            <a:ext cx="3758184" cy="2267712"/>
          </a:xfrm>
          <a:prstGeom prst="rect">
            <a:avLst/>
          </a:prstGeom>
          <a:noFill/>
          <a:ln/>
        </p:spPr>
        <p:txBody>
          <a:bodyPr wrap="square" lIns="0" tIns="0" rIns="0" bIns="0" rtlCol="0" anchor="t"/>
          <a:lstStyle/>
          <a:p>
            <a:pPr marL="0" indent="0">
              <a:lnSpc>
                <a:spcPct val="110000"/>
              </a:lnSpc>
              <a:buNone/>
            </a:pPr>
            <a:r>
              <a:rPr lang="en-US" sz="950" b="1" dirty="0">
                <a:solidFill>
                  <a:srgbClr val="1B2A4A"/>
                </a:solidFill>
                <a:latin typeface="Arial" pitchFamily="34" charset="0"/>
                <a:ea typeface="Arial" pitchFamily="34" charset="-122"/>
                <a:cs typeface="Arial" pitchFamily="34" charset="-120"/>
              </a:rPr>
              <a:t>3 queue classes with weighted fair queuing:
</a:t>
            </a:r>
            <a:r>
              <a:rPr lang="en-US" sz="950" dirty="0">
                <a:solidFill>
                  <a:srgbClr val="333333"/>
                </a:solidFill>
                <a:latin typeface="Courier New" pitchFamily="34" charset="0"/>
                <a:ea typeface="Courier New" pitchFamily="34" charset="-122"/>
                <a:cs typeface="Courier New" pitchFamily="34" charset="-120"/>
              </a:rPr>
              <a:t>urgent (weight 8) | interactive (3) | background (1)
</a:t>
            </a:r>
            <a:r>
              <a:rPr lang="en-US" sz="950" b="1" dirty="0">
                <a:solidFill>
                  <a:srgbClr val="00796B"/>
                </a:solidFill>
                <a:latin typeface="Arial" pitchFamily="34" charset="0"/>
                <a:ea typeface="Arial" pitchFamily="34" charset="-122"/>
                <a:cs typeface="Arial" pitchFamily="34" charset="-120"/>
              </a:rPr>
              <a:t>Per-tenant token budgets </a:t>
            </a:r>
            <a:r>
              <a:rPr lang="en-US" sz="950" dirty="0">
                <a:solidFill>
                  <a:srgbClr val="333333"/>
                </a:solidFill>
                <a:latin typeface="Arial" pitchFamily="34" charset="0"/>
                <a:ea typeface="Arial" pitchFamily="34" charset="-122"/>
                <a:cs typeface="Arial" pitchFamily="34" charset="-120"/>
              </a:rPr>
              <a:t>— prevents one noisy tenant from starving others
</a:t>
            </a:r>
            <a:r>
              <a:rPr lang="en-US" sz="950" b="1" dirty="0">
                <a:solidFill>
                  <a:srgbClr val="00796B"/>
                </a:solidFill>
                <a:latin typeface="Arial" pitchFamily="34" charset="0"/>
                <a:ea typeface="Arial" pitchFamily="34" charset="-122"/>
                <a:cs typeface="Arial" pitchFamily="34" charset="-120"/>
              </a:rPr>
              <a:t>Token estimation </a:t>
            </a:r>
            <a:r>
              <a:rPr lang="en-US" sz="950" dirty="0">
                <a:solidFill>
                  <a:srgbClr val="333333"/>
                </a:solidFill>
                <a:latin typeface="Arial" pitchFamily="34" charset="0"/>
                <a:ea typeface="Arial" pitchFamily="34" charset="-122"/>
                <a:cs typeface="Arial" pitchFamily="34" charset="-120"/>
              </a:rPr>
              <a:t>— _estimate_text_tokens() measures job weight for fair scheduling
</a:t>
            </a:r>
            <a:r>
              <a:rPr lang="en-US" sz="950" b="1" dirty="0">
                <a:solidFill>
                  <a:srgbClr val="00796B"/>
                </a:solidFill>
                <a:latin typeface="Arial" pitchFamily="34" charset="0"/>
                <a:ea typeface="Arial" pitchFamily="34" charset="-122"/>
                <a:cs typeface="Arial" pitchFamily="34" charset="-120"/>
              </a:rPr>
              <a:t>Preemption </a:t>
            </a:r>
            <a:r>
              <a:rPr lang="en-US" sz="950" dirty="0">
                <a:solidFill>
                  <a:srgbClr val="333333"/>
                </a:solidFill>
                <a:latin typeface="Arial" pitchFamily="34" charset="0"/>
                <a:ea typeface="Arial" pitchFamily="34" charset="-122"/>
                <a:cs typeface="Arial" pitchFamily="34" charset="-120"/>
              </a:rPr>
              <a:t>— urgent jobs (escalations, SLA-critical tasks) jump ahead of background batch work</a:t>
            </a:r>
            <a:endParaRPr lang="en-US" sz="1000" dirty="0"/>
          </a:p>
        </p:txBody>
      </p:sp>
      <p:sp>
        <p:nvSpPr>
          <p:cNvPr id="12" name="Shape 10"/>
          <p:cNvSpPr/>
          <p:nvPr/>
        </p:nvSpPr>
        <p:spPr>
          <a:xfrm>
            <a:off x="3566160" y="1207008"/>
            <a:ext cx="822960" cy="201168"/>
          </a:xfrm>
          <a:prstGeom prst="rect">
            <a:avLst/>
          </a:prstGeom>
          <a:solidFill>
            <a:srgbClr val="2E7D32"/>
          </a:solidFill>
          <a:ln/>
        </p:spPr>
        <p:txBody>
          <a:bodyPr/>
          <a:lstStyle/>
          <a:p>
            <a:endParaRPr lang="en-US"/>
          </a:p>
        </p:txBody>
      </p:sp>
      <p:sp>
        <p:nvSpPr>
          <p:cNvPr id="13" name="Text 11"/>
          <p:cNvSpPr/>
          <p:nvPr/>
        </p:nvSpPr>
        <p:spPr>
          <a:xfrm>
            <a:off x="3566160" y="1207008"/>
            <a:ext cx="82296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 BUILT</a:t>
            </a:r>
            <a:endParaRPr lang="en-US" sz="900" dirty="0"/>
          </a:p>
        </p:txBody>
      </p:sp>
      <p:sp>
        <p:nvSpPr>
          <p:cNvPr id="14" name="Shape 12"/>
          <p:cNvSpPr/>
          <p:nvPr/>
        </p:nvSpPr>
        <p:spPr>
          <a:xfrm>
            <a:off x="7726680" y="1207008"/>
            <a:ext cx="822960" cy="201168"/>
          </a:xfrm>
          <a:prstGeom prst="rect">
            <a:avLst/>
          </a:prstGeom>
          <a:solidFill>
            <a:srgbClr val="2E7D32"/>
          </a:solidFill>
          <a:ln/>
        </p:spPr>
        <p:txBody>
          <a:bodyPr/>
          <a:lstStyle/>
          <a:p>
            <a:endParaRPr lang="en-US"/>
          </a:p>
        </p:txBody>
      </p:sp>
      <p:sp>
        <p:nvSpPr>
          <p:cNvPr id="15" name="Text 13"/>
          <p:cNvSpPr/>
          <p:nvPr/>
        </p:nvSpPr>
        <p:spPr>
          <a:xfrm>
            <a:off x="7726680" y="1207008"/>
            <a:ext cx="82296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 BUILT</a:t>
            </a:r>
            <a:endParaRPr lang="en-US" sz="900" dirty="0"/>
          </a:p>
        </p:txBody>
      </p:sp>
      <p:sp>
        <p:nvSpPr>
          <p:cNvPr id="16" name="Shape 14"/>
          <p:cNvSpPr/>
          <p:nvPr/>
        </p:nvSpPr>
        <p:spPr>
          <a:xfrm>
            <a:off x="502920" y="4041648"/>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041648"/>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Both modules are active in the live codebase. The feedback loop feeds labeled data for router pattern improvement. The scheduler ensures coordinator workers run fairly across tenants even under high load.</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router/feedback_loop.py (31KB), runtime/worker_scheduler.py (21KB)</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New Infrastructure — 7 Modules Added</a:t>
            </a:r>
            <a:endParaRPr lang="en-US" sz="2600" dirty="0"/>
          </a:p>
        </p:txBody>
      </p:sp>
      <p:sp>
        <p:nvSpPr>
          <p:cNvPr id="3" name="Text 1"/>
          <p:cNvSpPr/>
          <p:nvPr/>
        </p:nvSpPr>
        <p:spPr>
          <a:xfrm>
            <a:off x="502920" y="804672"/>
            <a:ext cx="8138160" cy="27432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Seven new modules strengthen auth, memory, observability, parallelism, prompt resilience, and task routing — moving several enterprise and harness recommendations toward completion.</a:t>
            </a:r>
            <a:endParaRPr lang="en-US" sz="1050" dirty="0"/>
          </a:p>
        </p:txBody>
      </p:sp>
      <p:sp>
        <p:nvSpPr>
          <p:cNvPr id="4" name="Shape 2"/>
          <p:cNvSpPr/>
          <p:nvPr/>
        </p:nvSpPr>
        <p:spPr>
          <a:xfrm>
            <a:off x="502920" y="1170432"/>
            <a:ext cx="3931920" cy="16916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70432"/>
            <a:ext cx="3931920" cy="320040"/>
          </a:xfrm>
          <a:prstGeom prst="rect">
            <a:avLst/>
          </a:prstGeom>
          <a:solidFill>
            <a:srgbClr val="0097A7"/>
          </a:solidFill>
          <a:ln/>
        </p:spPr>
        <p:txBody>
          <a:bodyPr/>
          <a:lstStyle/>
          <a:p>
            <a:endParaRPr lang="en-US"/>
          </a:p>
        </p:txBody>
      </p:sp>
      <p:sp>
        <p:nvSpPr>
          <p:cNvPr id="6" name="Text 4"/>
          <p:cNvSpPr/>
          <p:nvPr/>
        </p:nvSpPr>
        <p:spPr>
          <a:xfrm>
            <a:off x="612648" y="1197864"/>
            <a:ext cx="37124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authz/service.py — RBAC Service (267 lines)</a:t>
            </a:r>
            <a:endParaRPr lang="en-US" sz="1200" dirty="0"/>
          </a:p>
        </p:txBody>
      </p:sp>
      <p:sp>
        <p:nvSpPr>
          <p:cNvPr id="7" name="Text 5"/>
          <p:cNvSpPr/>
          <p:nvPr/>
        </p:nvSpPr>
        <p:spPr>
          <a:xfrm>
            <a:off x="612648" y="1554480"/>
            <a:ext cx="3712464" cy="1216152"/>
          </a:xfrm>
          <a:prstGeom prst="rect">
            <a:avLst/>
          </a:prstGeom>
          <a:noFill/>
          <a:ln/>
        </p:spPr>
        <p:txBody>
          <a:bodyPr wrap="square" lIns="0" tIns="0" rIns="0" bIns="0" rtlCol="0" anchor="t"/>
          <a:lstStyle/>
          <a:p>
            <a:pPr marL="0" indent="0">
              <a:lnSpc>
                <a:spcPct val="110000"/>
              </a:lnSpc>
              <a:buNone/>
            </a:pPr>
            <a:r>
              <a:rPr lang="en-US" sz="950" dirty="0">
                <a:solidFill>
                  <a:srgbClr val="333333"/>
                </a:solidFill>
                <a:latin typeface="Arial" pitchFamily="34" charset="0"/>
                <a:ea typeface="Arial" pitchFamily="34" charset="-122"/>
                <a:cs typeface="Arial" pitchFamily="34" charset="-120"/>
              </a:rPr>
              <a:t>Principal &amp; role membership tracking
Tenant-scoped resource access control
Foundation for ABAC extension (dataset/column-level)
</a:t>
            </a:r>
            <a:r>
              <a:rPr lang="en-US" sz="950" dirty="0">
                <a:solidFill>
                  <a:srgbClr val="999999"/>
                </a:solidFill>
                <a:latin typeface="Courier New" pitchFamily="34" charset="0"/>
                <a:ea typeface="Courier New" pitchFamily="34" charset="-122"/>
                <a:cs typeface="Courier New" pitchFamily="34" charset="-120"/>
              </a:rPr>
              <a:t>persistence/postgres/access.py adds RBAC data layer</a:t>
            </a:r>
            <a:endParaRPr lang="en-US" sz="1000" dirty="0"/>
          </a:p>
        </p:txBody>
      </p:sp>
      <p:sp>
        <p:nvSpPr>
          <p:cNvPr id="8" name="Shape 6"/>
          <p:cNvSpPr/>
          <p:nvPr/>
        </p:nvSpPr>
        <p:spPr>
          <a:xfrm>
            <a:off x="4709160" y="1170432"/>
            <a:ext cx="3931920" cy="16916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709160" y="1170432"/>
            <a:ext cx="3931920" cy="320040"/>
          </a:xfrm>
          <a:prstGeom prst="rect">
            <a:avLst/>
          </a:prstGeom>
          <a:solidFill>
            <a:srgbClr val="00796B"/>
          </a:solidFill>
          <a:ln/>
        </p:spPr>
        <p:txBody>
          <a:bodyPr/>
          <a:lstStyle/>
          <a:p>
            <a:endParaRPr lang="en-US"/>
          </a:p>
        </p:txBody>
      </p:sp>
      <p:sp>
        <p:nvSpPr>
          <p:cNvPr id="10" name="Text 8"/>
          <p:cNvSpPr/>
          <p:nvPr/>
        </p:nvSpPr>
        <p:spPr>
          <a:xfrm>
            <a:off x="4818888" y="1197864"/>
            <a:ext cx="37124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persistence/postgres/memory_v2.py (831 lines)</a:t>
            </a:r>
            <a:endParaRPr lang="en-US" sz="1200" dirty="0"/>
          </a:p>
        </p:txBody>
      </p:sp>
      <p:sp>
        <p:nvSpPr>
          <p:cNvPr id="11" name="Text 9"/>
          <p:cNvSpPr/>
          <p:nvPr/>
        </p:nvSpPr>
        <p:spPr>
          <a:xfrm>
            <a:off x="4818888" y="1554480"/>
            <a:ext cx="3712464" cy="1216152"/>
          </a:xfrm>
          <a:prstGeom prst="rect">
            <a:avLst/>
          </a:prstGeom>
          <a:noFill/>
          <a:ln/>
        </p:spPr>
        <p:txBody>
          <a:bodyPr wrap="square" lIns="0" tIns="0" rIns="0" bIns="0" rtlCol="0" anchor="t"/>
          <a:lstStyle/>
          <a:p>
            <a:pPr marL="0" indent="0">
              <a:lnSpc>
                <a:spcPct val="110000"/>
              </a:lnSpc>
              <a:buNone/>
            </a:pPr>
            <a:r>
              <a:rPr lang="en-US" sz="950" dirty="0">
                <a:solidFill>
                  <a:srgbClr val="333333"/>
                </a:solidFill>
                <a:latin typeface="Arial" pitchFamily="34" charset="0"/>
                <a:ea typeface="Arial" pitchFamily="34" charset="-122"/>
                <a:cs typeface="Arial" pitchFamily="34" charset="-120"/>
              </a:rPr>
              <a:t>MemoryEpisode + ManagedMemoryRecord types
Importance/confidence scoring per entry
TTL hints + supersession tracking + provenance
</a:t>
            </a:r>
            <a:r>
              <a:rPr lang="en-US" sz="950" dirty="0">
                <a:solidFill>
                  <a:srgbClr val="999999"/>
                </a:solidFill>
                <a:latin typeface="Arial" pitchFamily="34" charset="0"/>
                <a:ea typeface="Arial" pitchFamily="34" charset="-122"/>
                <a:cs typeface="Arial" pitchFamily="34" charset="-120"/>
              </a:rPr>
              <a:t>Multi-scope: conversation + user scopes</a:t>
            </a:r>
            <a:endParaRPr lang="en-US" sz="1000" dirty="0"/>
          </a:p>
        </p:txBody>
      </p:sp>
      <p:sp>
        <p:nvSpPr>
          <p:cNvPr id="12" name="Shape 10"/>
          <p:cNvSpPr/>
          <p:nvPr/>
        </p:nvSpPr>
        <p:spPr>
          <a:xfrm>
            <a:off x="50292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502920" y="2971800"/>
            <a:ext cx="1931670" cy="320040"/>
          </a:xfrm>
          <a:prstGeom prst="rect">
            <a:avLst/>
          </a:prstGeom>
          <a:solidFill>
            <a:srgbClr val="1B2A4A"/>
          </a:solidFill>
          <a:ln/>
        </p:spPr>
        <p:txBody>
          <a:bodyPr/>
          <a:lstStyle/>
          <a:p>
            <a:endParaRPr lang="en-US"/>
          </a:p>
        </p:txBody>
      </p:sp>
      <p:sp>
        <p:nvSpPr>
          <p:cNvPr id="14" name="Text 12"/>
          <p:cNvSpPr/>
          <p:nvPr/>
        </p:nvSpPr>
        <p:spPr>
          <a:xfrm>
            <a:off x="61264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live_progress + status_tracker</a:t>
            </a:r>
            <a:endParaRPr lang="en-US" sz="1200" dirty="0"/>
          </a:p>
        </p:txBody>
      </p:sp>
      <p:sp>
        <p:nvSpPr>
          <p:cNvPr id="15" name="Text 13"/>
          <p:cNvSpPr/>
          <p:nvPr/>
        </p:nvSpPr>
        <p:spPr>
          <a:xfrm>
            <a:off x="61264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SSE status events, job progress
</a:t>
            </a:r>
            <a:r>
              <a:rPr lang="en-US" sz="850" dirty="0">
                <a:solidFill>
                  <a:srgbClr val="2E7D32"/>
                </a:solidFill>
                <a:latin typeface="Arial" pitchFamily="34" charset="0"/>
                <a:ea typeface="Arial" pitchFamily="34" charset="-122"/>
                <a:cs typeface="Arial" pitchFamily="34" charset="-120"/>
              </a:rPr>
              <a:t>status_tracker.py 558→827L (+269)
</a:t>
            </a:r>
            <a:r>
              <a:rPr lang="en-US" sz="850" dirty="0">
                <a:solidFill>
                  <a:srgbClr val="333333"/>
                </a:solidFill>
                <a:latin typeface="Arial" pitchFamily="34" charset="0"/>
                <a:ea typeface="Arial" pitchFamily="34" charset="-122"/>
                <a:cs typeface="Arial" pitchFamily="34" charset="-120"/>
              </a:rPr>
              <a:t>Per-tool-call granularity ready</a:t>
            </a:r>
            <a:endParaRPr lang="en-US" sz="1000" dirty="0"/>
          </a:p>
        </p:txBody>
      </p:sp>
      <p:sp>
        <p:nvSpPr>
          <p:cNvPr id="16" name="Shape 14"/>
          <p:cNvSpPr/>
          <p:nvPr/>
        </p:nvSpPr>
        <p:spPr>
          <a:xfrm>
            <a:off x="257175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7" name="Shape 15"/>
          <p:cNvSpPr/>
          <p:nvPr/>
        </p:nvSpPr>
        <p:spPr>
          <a:xfrm>
            <a:off x="2571750" y="2971800"/>
            <a:ext cx="1931670" cy="320040"/>
          </a:xfrm>
          <a:prstGeom prst="rect">
            <a:avLst/>
          </a:prstGeom>
          <a:solidFill>
            <a:srgbClr val="2E7D32"/>
          </a:solidFill>
          <a:ln/>
        </p:spPr>
        <p:txBody>
          <a:bodyPr/>
          <a:lstStyle/>
          <a:p>
            <a:endParaRPr lang="en-US"/>
          </a:p>
        </p:txBody>
      </p:sp>
      <p:sp>
        <p:nvSpPr>
          <p:cNvPr id="18" name="Text 16"/>
          <p:cNvSpPr/>
          <p:nvPr/>
        </p:nvSpPr>
        <p:spPr>
          <a:xfrm>
            <a:off x="268147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tool_parallelism.py (181L)</a:t>
            </a:r>
            <a:endParaRPr lang="en-US" sz="1200" dirty="0"/>
          </a:p>
        </p:txBody>
      </p:sp>
      <p:sp>
        <p:nvSpPr>
          <p:cNvPr id="19" name="Text 17"/>
          <p:cNvSpPr/>
          <p:nvPr/>
        </p:nvSpPr>
        <p:spPr>
          <a:xfrm>
            <a:off x="268147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Wave-based parallel tool exec
Concurrency key conflict detect
</a:t>
            </a:r>
            <a:r>
              <a:rPr lang="en-US" sz="850" dirty="0">
                <a:solidFill>
                  <a:srgbClr val="2E7D32"/>
                </a:solidFill>
                <a:latin typeface="Arial" pitchFamily="34" charset="0"/>
                <a:ea typeface="Arial" pitchFamily="34" charset="-122"/>
                <a:cs typeface="Arial" pitchFamily="34" charset="-120"/>
              </a:rPr>
              <a:t>Budget: max 12 calls/turn</a:t>
            </a:r>
            <a:endParaRPr lang="en-US" sz="1000" dirty="0"/>
          </a:p>
        </p:txBody>
      </p:sp>
      <p:sp>
        <p:nvSpPr>
          <p:cNvPr id="20" name="Shape 18"/>
          <p:cNvSpPr/>
          <p:nvPr/>
        </p:nvSpPr>
        <p:spPr>
          <a:xfrm>
            <a:off x="464058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21" name="Shape 19"/>
          <p:cNvSpPr/>
          <p:nvPr/>
        </p:nvSpPr>
        <p:spPr>
          <a:xfrm>
            <a:off x="4640580" y="2971800"/>
            <a:ext cx="1931670" cy="320040"/>
          </a:xfrm>
          <a:prstGeom prst="rect">
            <a:avLst/>
          </a:prstGeom>
          <a:solidFill>
            <a:srgbClr val="F9A825"/>
          </a:solidFill>
          <a:ln/>
        </p:spPr>
        <p:txBody>
          <a:bodyPr/>
          <a:lstStyle/>
          <a:p>
            <a:endParaRPr lang="en-US"/>
          </a:p>
        </p:txBody>
      </p:sp>
      <p:sp>
        <p:nvSpPr>
          <p:cNvPr id="22" name="Text 20"/>
          <p:cNvSpPr/>
          <p:nvPr/>
        </p:nvSpPr>
        <p:spPr>
          <a:xfrm>
            <a:off x="475030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prompt_fallbacks.py (181L)</a:t>
            </a:r>
            <a:endParaRPr lang="en-US" sz="1200" dirty="0"/>
          </a:p>
        </p:txBody>
      </p:sp>
      <p:sp>
        <p:nvSpPr>
          <p:cNvPr id="23" name="Text 21"/>
          <p:cNvSpPr/>
          <p:nvPr/>
        </p:nvSpPr>
        <p:spPr>
          <a:xfrm>
            <a:off x="475030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Fallback prompts for 10 roles
Shared charter + per-role mission
</a:t>
            </a:r>
            <a:r>
              <a:rPr lang="en-US" sz="850" dirty="0">
                <a:solidFill>
                  <a:srgbClr val="2E7D32"/>
                </a:solidFill>
                <a:latin typeface="Arial" pitchFamily="34" charset="0"/>
                <a:ea typeface="Arial" pitchFamily="34" charset="-122"/>
                <a:cs typeface="Arial" pitchFamily="34" charset="-120"/>
              </a:rPr>
              <a:t>Resilience when files missing</a:t>
            </a:r>
            <a:endParaRPr lang="en-US" sz="1000" dirty="0"/>
          </a:p>
        </p:txBody>
      </p:sp>
      <p:sp>
        <p:nvSpPr>
          <p:cNvPr id="24" name="Shape 22"/>
          <p:cNvSpPr/>
          <p:nvPr/>
        </p:nvSpPr>
        <p:spPr>
          <a:xfrm>
            <a:off x="670941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25" name="Shape 23"/>
          <p:cNvSpPr/>
          <p:nvPr/>
        </p:nvSpPr>
        <p:spPr>
          <a:xfrm>
            <a:off x="6709410" y="2971800"/>
            <a:ext cx="1931670" cy="320040"/>
          </a:xfrm>
          <a:prstGeom prst="rect">
            <a:avLst/>
          </a:prstGeom>
          <a:solidFill>
            <a:srgbClr val="0097A7"/>
          </a:solidFill>
          <a:ln/>
        </p:spPr>
        <p:txBody>
          <a:bodyPr/>
          <a:lstStyle/>
          <a:p>
            <a:endParaRPr lang="en-US"/>
          </a:p>
        </p:txBody>
      </p:sp>
      <p:sp>
        <p:nvSpPr>
          <p:cNvPr id="26" name="Text 24"/>
          <p:cNvSpPr/>
          <p:nvPr/>
        </p:nvSpPr>
        <p:spPr>
          <a:xfrm>
            <a:off x="681913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task_decomposition.py (232L)</a:t>
            </a:r>
            <a:endParaRPr lang="en-US" sz="1200" dirty="0"/>
          </a:p>
        </p:txBody>
      </p:sp>
      <p:sp>
        <p:nvSpPr>
          <p:cNvPr id="27" name="Text 25"/>
          <p:cNvSpPr/>
          <p:nvPr/>
        </p:nvSpPr>
        <p:spPr>
          <a:xfrm>
            <a:off x="681913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Mixed-intent request detection
Routes to coordinator or direct
</a:t>
            </a:r>
            <a:r>
              <a:rPr lang="en-US" sz="850" dirty="0">
                <a:solidFill>
                  <a:srgbClr val="2E7D32"/>
                </a:solidFill>
                <a:latin typeface="Arial" pitchFamily="34" charset="0"/>
                <a:ea typeface="Arial" pitchFamily="34" charset="-122"/>
                <a:cs typeface="Arial" pitchFamily="34" charset="-120"/>
              </a:rPr>
              <a:t>Arithmetic + RAG + analysis slices</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authz/service.py, memory_v2.py, live_progress.py, status_tracker.py, tool_parallelism.py, prompt_fallbacks.py, task_decomposition.py</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Agentic Harness — 6 Runtime Improvements</a:t>
            </a:r>
            <a:endParaRPr lang="en-US" sz="2600" dirty="0"/>
          </a:p>
        </p:txBody>
      </p:sp>
      <p:sp>
        <p:nvSpPr>
          <p:cNvPr id="3" name="Text 1"/>
          <p:cNvSpPr/>
          <p:nvPr/>
        </p:nvSpPr>
        <p:spPr>
          <a:xfrm>
            <a:off x="502920" y="804672"/>
            <a:ext cx="8138160" cy="27432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The ReAct loop in query_loop.py and kernel.py is functional but lacks patterns that production agentic systems need for reliability and observability.</a:t>
            </a:r>
            <a:endParaRPr lang="en-US" sz="1050" dirty="0"/>
          </a:p>
        </p:txBody>
      </p:sp>
      <p:sp>
        <p:nvSpPr>
          <p:cNvPr id="4" name="Shape 2"/>
          <p:cNvSpPr/>
          <p:nvPr/>
        </p:nvSpPr>
        <p:spPr>
          <a:xfrm>
            <a:off x="502920" y="1170432"/>
            <a:ext cx="2148840" cy="256032"/>
          </a:xfrm>
          <a:prstGeom prst="rect">
            <a:avLst/>
          </a:prstGeom>
          <a:solidFill>
            <a:srgbClr val="1B2A4A"/>
          </a:solidFill>
          <a:ln w="3810">
            <a:solidFill>
              <a:srgbClr val="F0F0F0"/>
            </a:solidFill>
            <a:prstDash val="solid"/>
          </a:ln>
        </p:spPr>
        <p:txBody>
          <a:bodyPr/>
          <a:lstStyle/>
          <a:p>
            <a:endParaRPr lang="en-US"/>
          </a:p>
        </p:txBody>
      </p:sp>
      <p:sp>
        <p:nvSpPr>
          <p:cNvPr id="5" name="Text 3"/>
          <p:cNvSpPr/>
          <p:nvPr/>
        </p:nvSpPr>
        <p:spPr>
          <a:xfrm>
            <a:off x="576072" y="1170432"/>
            <a:ext cx="2002536" cy="256032"/>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Improvement</a:t>
            </a:r>
            <a:endParaRPr lang="en-US" sz="950" dirty="0"/>
          </a:p>
        </p:txBody>
      </p:sp>
      <p:sp>
        <p:nvSpPr>
          <p:cNvPr id="6" name="Shape 4"/>
          <p:cNvSpPr/>
          <p:nvPr/>
        </p:nvSpPr>
        <p:spPr>
          <a:xfrm>
            <a:off x="2651760" y="1170432"/>
            <a:ext cx="3291840" cy="256032"/>
          </a:xfrm>
          <a:prstGeom prst="rect">
            <a:avLst/>
          </a:prstGeom>
          <a:solidFill>
            <a:srgbClr val="1B2A4A"/>
          </a:solidFill>
          <a:ln w="3810">
            <a:solidFill>
              <a:srgbClr val="F0F0F0"/>
            </a:solidFill>
            <a:prstDash val="solid"/>
          </a:ln>
        </p:spPr>
        <p:txBody>
          <a:bodyPr/>
          <a:lstStyle/>
          <a:p>
            <a:endParaRPr lang="en-US"/>
          </a:p>
        </p:txBody>
      </p:sp>
      <p:sp>
        <p:nvSpPr>
          <p:cNvPr id="7" name="Text 5"/>
          <p:cNvSpPr/>
          <p:nvPr/>
        </p:nvSpPr>
        <p:spPr>
          <a:xfrm>
            <a:off x="2724912" y="1170432"/>
            <a:ext cx="3145536" cy="256032"/>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What's Missing &amp; Why It Matters</a:t>
            </a:r>
            <a:endParaRPr lang="en-US" sz="950" dirty="0"/>
          </a:p>
        </p:txBody>
      </p:sp>
      <p:sp>
        <p:nvSpPr>
          <p:cNvPr id="8" name="Shape 6"/>
          <p:cNvSpPr/>
          <p:nvPr/>
        </p:nvSpPr>
        <p:spPr>
          <a:xfrm>
            <a:off x="5943600" y="1170432"/>
            <a:ext cx="2971800" cy="256032"/>
          </a:xfrm>
          <a:prstGeom prst="rect">
            <a:avLst/>
          </a:prstGeom>
          <a:solidFill>
            <a:srgbClr val="1B2A4A"/>
          </a:solidFill>
          <a:ln w="3810">
            <a:solidFill>
              <a:srgbClr val="F0F0F0"/>
            </a:solidFill>
            <a:prstDash val="solid"/>
          </a:ln>
        </p:spPr>
        <p:txBody>
          <a:bodyPr/>
          <a:lstStyle/>
          <a:p>
            <a:endParaRPr lang="en-US"/>
          </a:p>
        </p:txBody>
      </p:sp>
      <p:sp>
        <p:nvSpPr>
          <p:cNvPr id="9" name="Text 7"/>
          <p:cNvSpPr/>
          <p:nvPr/>
        </p:nvSpPr>
        <p:spPr>
          <a:xfrm>
            <a:off x="6016752" y="1170432"/>
            <a:ext cx="2825496" cy="256032"/>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Implementation Path</a:t>
            </a:r>
            <a:endParaRPr lang="en-US" sz="950" dirty="0"/>
          </a:p>
        </p:txBody>
      </p:sp>
      <p:sp>
        <p:nvSpPr>
          <p:cNvPr id="10" name="Shape 8"/>
          <p:cNvSpPr/>
          <p:nvPr/>
        </p:nvSpPr>
        <p:spPr>
          <a:xfrm>
            <a:off x="502920" y="1426464"/>
            <a:ext cx="2148840" cy="548640"/>
          </a:xfrm>
          <a:prstGeom prst="rect">
            <a:avLst/>
          </a:prstGeom>
          <a:solidFill>
            <a:srgbClr val="E0F7FA"/>
          </a:solidFill>
          <a:ln w="3810">
            <a:solidFill>
              <a:srgbClr val="F0F0F0"/>
            </a:solidFill>
            <a:prstDash val="solid"/>
          </a:ln>
        </p:spPr>
        <p:txBody>
          <a:bodyPr/>
          <a:lstStyle/>
          <a:p>
            <a:endParaRPr lang="en-US"/>
          </a:p>
        </p:txBody>
      </p:sp>
      <p:sp>
        <p:nvSpPr>
          <p:cNvPr id="11" name="Text 9"/>
          <p:cNvSpPr/>
          <p:nvPr/>
        </p:nvSpPr>
        <p:spPr>
          <a:xfrm>
            <a:off x="576072" y="145389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Step-Level Retry Policy</a:t>
            </a:r>
            <a:endParaRPr lang="en-US" sz="900" dirty="0"/>
          </a:p>
        </p:txBody>
      </p:sp>
      <p:sp>
        <p:nvSpPr>
          <p:cNvPr id="12" name="Shape 10"/>
          <p:cNvSpPr/>
          <p:nvPr/>
        </p:nvSpPr>
        <p:spPr>
          <a:xfrm>
            <a:off x="2651760" y="1426464"/>
            <a:ext cx="3291840" cy="548640"/>
          </a:xfrm>
          <a:prstGeom prst="rect">
            <a:avLst/>
          </a:prstGeom>
          <a:solidFill>
            <a:srgbClr val="F5F5F5"/>
          </a:solidFill>
          <a:ln w="3810">
            <a:solidFill>
              <a:srgbClr val="F0F0F0"/>
            </a:solidFill>
            <a:prstDash val="solid"/>
          </a:ln>
        </p:spPr>
        <p:txBody>
          <a:bodyPr/>
          <a:lstStyle/>
          <a:p>
            <a:endParaRPr lang="en-US"/>
          </a:p>
        </p:txBody>
      </p:sp>
      <p:sp>
        <p:nvSpPr>
          <p:cNvPr id="13" name="Text 11"/>
          <p:cNvSpPr/>
          <p:nvPr/>
        </p:nvSpPr>
        <p:spPr>
          <a:xfrm>
            <a:off x="2724912" y="145389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Tool failures halt the entire turn. No exponential backoff, no retry budgets. Recovery only at _finalize_messages().</a:t>
            </a:r>
            <a:endParaRPr lang="en-US" sz="850" dirty="0"/>
          </a:p>
        </p:txBody>
      </p:sp>
      <p:sp>
        <p:nvSpPr>
          <p:cNvPr id="14" name="Shape 12"/>
          <p:cNvSpPr/>
          <p:nvPr/>
        </p:nvSpPr>
        <p:spPr>
          <a:xfrm>
            <a:off x="5943600" y="1426464"/>
            <a:ext cx="2971800" cy="548640"/>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6016752" y="145389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Add RetryPolicy per tool: max_retries, backoff, fallback_tool. Wrap tool calls in retry_with_policy() in general_agent.py.</a:t>
            </a:r>
            <a:endParaRPr lang="en-US" sz="850" dirty="0"/>
          </a:p>
        </p:txBody>
      </p:sp>
      <p:sp>
        <p:nvSpPr>
          <p:cNvPr id="16" name="Shape 14"/>
          <p:cNvSpPr/>
          <p:nvPr/>
        </p:nvSpPr>
        <p:spPr>
          <a:xfrm>
            <a:off x="502920" y="1975104"/>
            <a:ext cx="2148840" cy="548640"/>
          </a:xfrm>
          <a:prstGeom prst="rect">
            <a:avLst/>
          </a:prstGeom>
          <a:solidFill>
            <a:srgbClr val="E0F7FA"/>
          </a:solidFill>
          <a:ln w="3810">
            <a:solidFill>
              <a:srgbClr val="F0F0F0"/>
            </a:solidFill>
            <a:prstDash val="solid"/>
          </a:ln>
        </p:spPr>
        <p:txBody>
          <a:bodyPr/>
          <a:lstStyle/>
          <a:p>
            <a:endParaRPr lang="en-US"/>
          </a:p>
        </p:txBody>
      </p:sp>
      <p:sp>
        <p:nvSpPr>
          <p:cNvPr id="17" name="Text 15"/>
          <p:cNvSpPr/>
          <p:nvPr/>
        </p:nvSpPr>
        <p:spPr>
          <a:xfrm>
            <a:off x="576072" y="200253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Per-Step Observability</a:t>
            </a:r>
            <a:endParaRPr lang="en-US" sz="900" dirty="0"/>
          </a:p>
        </p:txBody>
      </p:sp>
      <p:sp>
        <p:nvSpPr>
          <p:cNvPr id="18" name="Shape 16"/>
          <p:cNvSpPr/>
          <p:nvPr/>
        </p:nvSpPr>
        <p:spPr>
          <a:xfrm>
            <a:off x="2651760" y="1975104"/>
            <a:ext cx="3291840" cy="548640"/>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2724912" y="200253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Events emitted at turn level only. No tool timing, no failure categorization (timeout vs validation vs missing data).</a:t>
            </a:r>
            <a:endParaRPr lang="en-US" sz="850" dirty="0"/>
          </a:p>
        </p:txBody>
      </p:sp>
      <p:sp>
        <p:nvSpPr>
          <p:cNvPr id="20" name="Shape 18"/>
          <p:cNvSpPr/>
          <p:nvPr/>
        </p:nvSpPr>
        <p:spPr>
          <a:xfrm>
            <a:off x="5943600" y="1975104"/>
            <a:ext cx="2971800" cy="548640"/>
          </a:xfrm>
          <a:prstGeom prst="rect">
            <a:avLst/>
          </a:prstGeom>
          <a:solidFill>
            <a:srgbClr val="FFFFFF"/>
          </a:solidFill>
          <a:ln w="3810">
            <a:solidFill>
              <a:srgbClr val="F0F0F0"/>
            </a:solidFill>
            <a:prstDash val="solid"/>
          </a:ln>
        </p:spPr>
        <p:txBody>
          <a:bodyPr/>
          <a:lstStyle/>
          <a:p>
            <a:endParaRPr lang="en-US"/>
          </a:p>
        </p:txBody>
      </p:sp>
      <p:sp>
        <p:nvSpPr>
          <p:cNvPr id="21" name="Text 19"/>
          <p:cNvSpPr/>
          <p:nvPr/>
        </p:nvSpPr>
        <p:spPr>
          <a:xfrm>
            <a:off x="6016752" y="200253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Emit StepEvent(tool, latency_ms, tokens, status, error_type) per tool call. Feed to status_tracker for live SSE per-step events.</a:t>
            </a:r>
            <a:endParaRPr lang="en-US" sz="850" dirty="0"/>
          </a:p>
        </p:txBody>
      </p:sp>
      <p:sp>
        <p:nvSpPr>
          <p:cNvPr id="22" name="Shape 20"/>
          <p:cNvSpPr/>
          <p:nvPr/>
        </p:nvSpPr>
        <p:spPr>
          <a:xfrm>
            <a:off x="502920" y="2523744"/>
            <a:ext cx="2148840" cy="548640"/>
          </a:xfrm>
          <a:prstGeom prst="rect">
            <a:avLst/>
          </a:prstGeom>
          <a:solidFill>
            <a:srgbClr val="E0F7FA"/>
          </a:solidFill>
          <a:ln w="3810">
            <a:solidFill>
              <a:srgbClr val="F0F0F0"/>
            </a:solidFill>
            <a:prstDash val="solid"/>
          </a:ln>
        </p:spPr>
        <p:txBody>
          <a:bodyPr/>
          <a:lstStyle/>
          <a:p>
            <a:endParaRPr lang="en-US"/>
          </a:p>
        </p:txBody>
      </p:sp>
      <p:sp>
        <p:nvSpPr>
          <p:cNvPr id="23" name="Text 21"/>
          <p:cNvSpPr/>
          <p:nvPr/>
        </p:nvSpPr>
        <p:spPr>
          <a:xfrm>
            <a:off x="576072" y="255117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Dynamic Memory Refresh</a:t>
            </a:r>
            <a:endParaRPr lang="en-US" sz="900" dirty="0"/>
          </a:p>
        </p:txBody>
      </p:sp>
      <p:sp>
        <p:nvSpPr>
          <p:cNvPr id="24" name="Shape 22"/>
          <p:cNvSpPr/>
          <p:nvPr/>
        </p:nvSpPr>
        <p:spPr>
          <a:xfrm>
            <a:off x="2651760" y="2523744"/>
            <a:ext cx="3291840" cy="548640"/>
          </a:xfrm>
          <a:prstGeom prst="rect">
            <a:avLst/>
          </a:prstGeom>
          <a:solidFill>
            <a:srgbClr val="F5F5F5"/>
          </a:solidFill>
          <a:ln w="3810">
            <a:solidFill>
              <a:srgbClr val="F0F0F0"/>
            </a:solidFill>
            <a:prstDash val="solid"/>
          </a:ln>
        </p:spPr>
        <p:txBody>
          <a:bodyPr/>
          <a:lstStyle/>
          <a:p>
            <a:endParaRPr lang="en-US"/>
          </a:p>
        </p:txBody>
      </p:sp>
      <p:sp>
        <p:nvSpPr>
          <p:cNvPr id="25" name="Text 23"/>
          <p:cNvSpPr/>
          <p:nvPr/>
        </p:nvSpPr>
        <p:spPr>
          <a:xfrm>
            <a:off x="2724912" y="255117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Memory loads once at turn start (kernel.py:183). Long-running turns can't access facts saved mid-turn.</a:t>
            </a:r>
            <a:endParaRPr lang="en-US" sz="850" dirty="0"/>
          </a:p>
        </p:txBody>
      </p:sp>
      <p:sp>
        <p:nvSpPr>
          <p:cNvPr id="26" name="Shape 24"/>
          <p:cNvSpPr/>
          <p:nvPr/>
        </p:nvSpPr>
        <p:spPr>
          <a:xfrm>
            <a:off x="5943600" y="2523744"/>
            <a:ext cx="2971800" cy="548640"/>
          </a:xfrm>
          <a:prstGeom prst="rect">
            <a:avLst/>
          </a:prstGeom>
          <a:solidFill>
            <a:srgbClr val="F5F5F5"/>
          </a:solidFill>
          <a:ln w="3810">
            <a:solidFill>
              <a:srgbClr val="F0F0F0"/>
            </a:solidFill>
            <a:prstDash val="solid"/>
          </a:ln>
        </p:spPr>
        <p:txBody>
          <a:bodyPr/>
          <a:lstStyle/>
          <a:p>
            <a:endParaRPr lang="en-US"/>
          </a:p>
        </p:txBody>
      </p:sp>
      <p:sp>
        <p:nvSpPr>
          <p:cNvPr id="27" name="Text 25"/>
          <p:cNvSpPr/>
          <p:nvPr/>
        </p:nvSpPr>
        <p:spPr>
          <a:xfrm>
            <a:off x="6016752" y="255117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Add memory_refresh_after_steps=N config. Re-inject memory context after high-impact tool calls (memory_save, workspace_write).</a:t>
            </a:r>
            <a:endParaRPr lang="en-US" sz="850" dirty="0"/>
          </a:p>
        </p:txBody>
      </p:sp>
      <p:sp>
        <p:nvSpPr>
          <p:cNvPr id="28" name="Shape 26"/>
          <p:cNvSpPr/>
          <p:nvPr/>
        </p:nvSpPr>
        <p:spPr>
          <a:xfrm>
            <a:off x="502920" y="3072384"/>
            <a:ext cx="2148840" cy="548640"/>
          </a:xfrm>
          <a:prstGeom prst="rect">
            <a:avLst/>
          </a:prstGeom>
          <a:solidFill>
            <a:srgbClr val="E0F7FA"/>
          </a:solidFill>
          <a:ln w="3810">
            <a:solidFill>
              <a:srgbClr val="F0F0F0"/>
            </a:solidFill>
            <a:prstDash val="solid"/>
          </a:ln>
        </p:spPr>
        <p:txBody>
          <a:bodyPr/>
          <a:lstStyle/>
          <a:p>
            <a:endParaRPr lang="en-US"/>
          </a:p>
        </p:txBody>
      </p:sp>
      <p:sp>
        <p:nvSpPr>
          <p:cNvPr id="29" name="Text 27"/>
          <p:cNvSpPr/>
          <p:nvPr/>
        </p:nvSpPr>
        <p:spPr>
          <a:xfrm>
            <a:off x="576072" y="309981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Parallel Tool Execution ✓</a:t>
            </a:r>
            <a:endParaRPr lang="en-US" sz="900" dirty="0"/>
          </a:p>
        </p:txBody>
      </p:sp>
      <p:sp>
        <p:nvSpPr>
          <p:cNvPr id="30" name="Shape 28"/>
          <p:cNvSpPr/>
          <p:nvPr/>
        </p:nvSpPr>
        <p:spPr>
          <a:xfrm>
            <a:off x="2651760" y="3072384"/>
            <a:ext cx="3291840" cy="548640"/>
          </a:xfrm>
          <a:prstGeom prst="rect">
            <a:avLst/>
          </a:prstGeom>
          <a:solidFill>
            <a:srgbClr val="FFFFFF"/>
          </a:solidFill>
          <a:ln w="3810">
            <a:solidFill>
              <a:srgbClr val="F0F0F0"/>
            </a:solidFill>
            <a:prstDash val="solid"/>
          </a:ln>
        </p:spPr>
        <p:txBody>
          <a:bodyPr/>
          <a:lstStyle/>
          <a:p>
            <a:endParaRPr lang="en-US"/>
          </a:p>
        </p:txBody>
      </p:sp>
      <p:sp>
        <p:nvSpPr>
          <p:cNvPr id="31" name="Text 29"/>
          <p:cNvSpPr/>
          <p:nvPr/>
        </p:nvSpPr>
        <p:spPr>
          <a:xfrm>
            <a:off x="2724912" y="309981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 BUILT — tool_parallelism.py (181L). Wave-based execution with concurrency key conflict detection and 12-call/turn budget.</a:t>
            </a:r>
            <a:endParaRPr lang="en-US" sz="850" dirty="0"/>
          </a:p>
        </p:txBody>
      </p:sp>
      <p:sp>
        <p:nvSpPr>
          <p:cNvPr id="32" name="Shape 30"/>
          <p:cNvSpPr/>
          <p:nvPr/>
        </p:nvSpPr>
        <p:spPr>
          <a:xfrm>
            <a:off x="5943600" y="3072384"/>
            <a:ext cx="2971800" cy="548640"/>
          </a:xfrm>
          <a:prstGeom prst="rect">
            <a:avLst/>
          </a:prstGeom>
          <a:solidFill>
            <a:srgbClr val="FFFFFF"/>
          </a:solidFill>
          <a:ln w="3810">
            <a:solidFill>
              <a:srgbClr val="F0F0F0"/>
            </a:solidFill>
            <a:prstDash val="solid"/>
          </a:ln>
        </p:spPr>
        <p:txBody>
          <a:bodyPr/>
          <a:lstStyle/>
          <a:p>
            <a:endParaRPr lang="en-US"/>
          </a:p>
        </p:txBody>
      </p:sp>
      <p:sp>
        <p:nvSpPr>
          <p:cNvPr id="33" name="Text 31"/>
          <p:cNvSpPr/>
          <p:nvPr/>
        </p:nvSpPr>
        <p:spPr>
          <a:xfrm>
            <a:off x="6016752" y="309981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Done. Extend: add per-wave timeout, retry integration, and step-event emission per parallel batch.</a:t>
            </a:r>
            <a:endParaRPr lang="en-US" sz="850" dirty="0"/>
          </a:p>
        </p:txBody>
      </p:sp>
      <p:sp>
        <p:nvSpPr>
          <p:cNvPr id="34" name="Shape 32"/>
          <p:cNvSpPr/>
          <p:nvPr/>
        </p:nvSpPr>
        <p:spPr>
          <a:xfrm>
            <a:off x="502920" y="3621024"/>
            <a:ext cx="2148840" cy="548640"/>
          </a:xfrm>
          <a:prstGeom prst="rect">
            <a:avLst/>
          </a:prstGeom>
          <a:solidFill>
            <a:srgbClr val="E0F7FA"/>
          </a:solidFill>
          <a:ln w="3810">
            <a:solidFill>
              <a:srgbClr val="F0F0F0"/>
            </a:solidFill>
            <a:prstDash val="solid"/>
          </a:ln>
        </p:spPr>
        <p:txBody>
          <a:bodyPr/>
          <a:lstStyle/>
          <a:p>
            <a:endParaRPr lang="en-US"/>
          </a:p>
        </p:txBody>
      </p:sp>
      <p:sp>
        <p:nvSpPr>
          <p:cNvPr id="35" name="Text 33"/>
          <p:cNvSpPr/>
          <p:nvPr/>
        </p:nvSpPr>
        <p:spPr>
          <a:xfrm>
            <a:off x="576072" y="364845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Chain-of-Thought Capture</a:t>
            </a:r>
            <a:endParaRPr lang="en-US" sz="900" dirty="0"/>
          </a:p>
        </p:txBody>
      </p:sp>
      <p:sp>
        <p:nvSpPr>
          <p:cNvPr id="36" name="Shape 34"/>
          <p:cNvSpPr/>
          <p:nvPr/>
        </p:nvSpPr>
        <p:spPr>
          <a:xfrm>
            <a:off x="2651760" y="3621024"/>
            <a:ext cx="3291840" cy="548640"/>
          </a:xfrm>
          <a:prstGeom prst="rect">
            <a:avLst/>
          </a:prstGeom>
          <a:solidFill>
            <a:srgbClr val="F5F5F5"/>
          </a:solidFill>
          <a:ln w="3810">
            <a:solidFill>
              <a:srgbClr val="F0F0F0"/>
            </a:solidFill>
            <a:prstDash val="solid"/>
          </a:ln>
        </p:spPr>
        <p:txBody>
          <a:bodyPr/>
          <a:lstStyle/>
          <a:p>
            <a:endParaRPr lang="en-US"/>
          </a:p>
        </p:txBody>
      </p:sp>
      <p:sp>
        <p:nvSpPr>
          <p:cNvPr id="37" name="Text 35"/>
          <p:cNvSpPr/>
          <p:nvPr/>
        </p:nvSpPr>
        <p:spPr>
          <a:xfrm>
            <a:off x="2724912" y="364845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CoT reasoning exists only in LLM tokens. Intermediate conclusions aren't stored for verification or replay.</a:t>
            </a:r>
            <a:endParaRPr lang="en-US" sz="850" dirty="0"/>
          </a:p>
        </p:txBody>
      </p:sp>
      <p:sp>
        <p:nvSpPr>
          <p:cNvPr id="38" name="Shape 36"/>
          <p:cNvSpPr/>
          <p:nvPr/>
        </p:nvSpPr>
        <p:spPr>
          <a:xfrm>
            <a:off x="5943600" y="3621024"/>
            <a:ext cx="2971800" cy="548640"/>
          </a:xfrm>
          <a:prstGeom prst="rect">
            <a:avLst/>
          </a:prstGeom>
          <a:solidFill>
            <a:srgbClr val="F5F5F5"/>
          </a:solidFill>
          <a:ln w="3810">
            <a:solidFill>
              <a:srgbClr val="F0F0F0"/>
            </a:solidFill>
            <a:prstDash val="solid"/>
          </a:ln>
        </p:spPr>
        <p:txBody>
          <a:bodyPr/>
          <a:lstStyle/>
          <a:p>
            <a:endParaRPr lang="en-US"/>
          </a:p>
        </p:txBody>
      </p:sp>
      <p:sp>
        <p:nvSpPr>
          <p:cNvPr id="39" name="Text 37"/>
          <p:cNvSpPr/>
          <p:nvPr/>
        </p:nvSpPr>
        <p:spPr>
          <a:xfrm>
            <a:off x="6016752" y="364845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Persist ReasoningArtifact per step: (step_num, thought, action, observation). Store in session for verifier access and debug replay.</a:t>
            </a:r>
            <a:endParaRPr lang="en-US" sz="850" dirty="0"/>
          </a:p>
        </p:txBody>
      </p:sp>
      <p:sp>
        <p:nvSpPr>
          <p:cNvPr id="40" name="Shape 38"/>
          <p:cNvSpPr/>
          <p:nvPr/>
        </p:nvSpPr>
        <p:spPr>
          <a:xfrm>
            <a:off x="502920" y="4169664"/>
            <a:ext cx="2148840" cy="548640"/>
          </a:xfrm>
          <a:prstGeom prst="rect">
            <a:avLst/>
          </a:prstGeom>
          <a:solidFill>
            <a:srgbClr val="E0F7FA"/>
          </a:solidFill>
          <a:ln w="3810">
            <a:solidFill>
              <a:srgbClr val="F0F0F0"/>
            </a:solidFill>
            <a:prstDash val="solid"/>
          </a:ln>
        </p:spPr>
        <p:txBody>
          <a:bodyPr/>
          <a:lstStyle/>
          <a:p>
            <a:endParaRPr lang="en-US"/>
          </a:p>
        </p:txBody>
      </p:sp>
      <p:sp>
        <p:nvSpPr>
          <p:cNvPr id="41" name="Text 39"/>
          <p:cNvSpPr/>
          <p:nvPr/>
        </p:nvSpPr>
        <p:spPr>
          <a:xfrm>
            <a:off x="576072" y="419709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Configurable Fallback Chains</a:t>
            </a:r>
            <a:endParaRPr lang="en-US" sz="900" dirty="0"/>
          </a:p>
        </p:txBody>
      </p:sp>
      <p:sp>
        <p:nvSpPr>
          <p:cNvPr id="42" name="Shape 40"/>
          <p:cNvSpPr/>
          <p:nvPr/>
        </p:nvSpPr>
        <p:spPr>
          <a:xfrm>
            <a:off x="2651760" y="4169664"/>
            <a:ext cx="3291840" cy="548640"/>
          </a:xfrm>
          <a:prstGeom prst="rect">
            <a:avLst/>
          </a:prstGeom>
          <a:solidFill>
            <a:srgbClr val="FFFFFF"/>
          </a:solidFill>
          <a:ln w="3810">
            <a:solidFill>
              <a:srgbClr val="F0F0F0"/>
            </a:solidFill>
            <a:prstDash val="solid"/>
          </a:ln>
        </p:spPr>
        <p:txBody>
          <a:bodyPr/>
          <a:lstStyle/>
          <a:p>
            <a:endParaRPr lang="en-US"/>
          </a:p>
        </p:txBody>
      </p:sp>
      <p:sp>
        <p:nvSpPr>
          <p:cNvPr id="43" name="Text 41"/>
          <p:cNvSpPr/>
          <p:nvPr/>
        </p:nvSpPr>
        <p:spPr>
          <a:xfrm>
            <a:off x="2724912" y="419709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_finalize_messages() tries 4 hardcoded recovery strategies. No per-agent or per-tool customization.</a:t>
            </a:r>
            <a:endParaRPr lang="en-US" sz="850" dirty="0"/>
          </a:p>
        </p:txBody>
      </p:sp>
      <p:sp>
        <p:nvSpPr>
          <p:cNvPr id="44" name="Shape 42"/>
          <p:cNvSpPr/>
          <p:nvPr/>
        </p:nvSpPr>
        <p:spPr>
          <a:xfrm>
            <a:off x="5943600" y="4169664"/>
            <a:ext cx="2971800" cy="548640"/>
          </a:xfrm>
          <a:prstGeom prst="rect">
            <a:avLst/>
          </a:prstGeom>
          <a:solidFill>
            <a:srgbClr val="FFFFFF"/>
          </a:solidFill>
          <a:ln w="3810">
            <a:solidFill>
              <a:srgbClr val="F0F0F0"/>
            </a:solidFill>
            <a:prstDash val="solid"/>
          </a:ln>
        </p:spPr>
        <p:txBody>
          <a:bodyPr/>
          <a:lstStyle/>
          <a:p>
            <a:endParaRPr lang="en-US"/>
          </a:p>
        </p:txBody>
      </p:sp>
      <p:sp>
        <p:nvSpPr>
          <p:cNvPr id="45" name="Text 43"/>
          <p:cNvSpPr/>
          <p:nvPr/>
        </p:nvSpPr>
        <p:spPr>
          <a:xfrm>
            <a:off x="6016752" y="419709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Add FallbackChain config to AgentDefinition. Each chain: [strategy_1, strategy_2, ...]. Priority order configurable per agent mode.</a:t>
            </a:r>
            <a:endParaRPr lang="en-US" sz="850" dirty="0"/>
          </a:p>
        </p:txBody>
      </p:sp>
      <p:sp>
        <p:nvSpPr>
          <p:cNvPr id="46" name="Text 4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runtime/kernel.py (1782 lines), runtime/query_loop.py (1350 lines), general_agent.py (1430 lines)</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Feature Roadmap — All 13 Improvements</a:t>
            </a:r>
            <a:endParaRPr lang="en-US" sz="2600" dirty="0"/>
          </a:p>
        </p:txBody>
      </p:sp>
      <p:sp>
        <p:nvSpPr>
          <p:cNvPr id="3" name="Shape 1"/>
          <p:cNvSpPr/>
          <p:nvPr/>
        </p:nvSpPr>
        <p:spPr>
          <a:xfrm>
            <a:off x="502920" y="804672"/>
            <a:ext cx="3931920" cy="237744"/>
          </a:xfrm>
          <a:prstGeom prst="rect">
            <a:avLst/>
          </a:prstGeom>
          <a:solidFill>
            <a:srgbClr val="1B2A4A"/>
          </a:solidFill>
          <a:ln/>
        </p:spPr>
        <p:txBody>
          <a:bodyPr/>
          <a:lstStyle/>
          <a:p>
            <a:endParaRPr lang="en-US"/>
          </a:p>
        </p:txBody>
      </p:sp>
      <p:sp>
        <p:nvSpPr>
          <p:cNvPr id="4" name="Text 2"/>
          <p:cNvSpPr/>
          <p:nvPr/>
        </p:nvSpPr>
        <p:spPr>
          <a:xfrm>
            <a:off x="576072" y="804672"/>
            <a:ext cx="210312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Feature</a:t>
            </a:r>
            <a:endParaRPr lang="en-US" sz="900" dirty="0"/>
          </a:p>
        </p:txBody>
      </p:sp>
      <p:sp>
        <p:nvSpPr>
          <p:cNvPr id="5" name="Text 3"/>
          <p:cNvSpPr/>
          <p:nvPr/>
        </p:nvSpPr>
        <p:spPr>
          <a:xfrm>
            <a:off x="2697480" y="804672"/>
            <a:ext cx="109728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File / Module</a:t>
            </a:r>
            <a:endParaRPr lang="en-US" sz="900" dirty="0"/>
          </a:p>
        </p:txBody>
      </p:sp>
      <p:sp>
        <p:nvSpPr>
          <p:cNvPr id="6" name="Text 4"/>
          <p:cNvSpPr/>
          <p:nvPr/>
        </p:nvSpPr>
        <p:spPr>
          <a:xfrm>
            <a:off x="3886200" y="804672"/>
            <a:ext cx="548640"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Effort</a:t>
            </a:r>
            <a:endParaRPr lang="en-US" sz="900" dirty="0"/>
          </a:p>
        </p:txBody>
      </p:sp>
      <p:sp>
        <p:nvSpPr>
          <p:cNvPr id="7" name="Shape 5"/>
          <p:cNvSpPr/>
          <p:nvPr/>
        </p:nvSpPr>
        <p:spPr>
          <a:xfrm>
            <a:off x="4709160" y="804672"/>
            <a:ext cx="3931920" cy="237744"/>
          </a:xfrm>
          <a:prstGeom prst="rect">
            <a:avLst/>
          </a:prstGeom>
          <a:solidFill>
            <a:srgbClr val="1B2A4A"/>
          </a:solidFill>
          <a:ln/>
        </p:spPr>
        <p:txBody>
          <a:bodyPr/>
          <a:lstStyle/>
          <a:p>
            <a:endParaRPr lang="en-US"/>
          </a:p>
        </p:txBody>
      </p:sp>
      <p:sp>
        <p:nvSpPr>
          <p:cNvPr id="8" name="Text 6"/>
          <p:cNvSpPr/>
          <p:nvPr/>
        </p:nvSpPr>
        <p:spPr>
          <a:xfrm>
            <a:off x="4782312" y="804672"/>
            <a:ext cx="210312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Feature</a:t>
            </a:r>
            <a:endParaRPr lang="en-US" sz="900" dirty="0"/>
          </a:p>
        </p:txBody>
      </p:sp>
      <p:sp>
        <p:nvSpPr>
          <p:cNvPr id="9" name="Text 7"/>
          <p:cNvSpPr/>
          <p:nvPr/>
        </p:nvSpPr>
        <p:spPr>
          <a:xfrm>
            <a:off x="6903720" y="804672"/>
            <a:ext cx="109728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File / Module</a:t>
            </a:r>
            <a:endParaRPr lang="en-US" sz="900" dirty="0"/>
          </a:p>
        </p:txBody>
      </p:sp>
      <p:sp>
        <p:nvSpPr>
          <p:cNvPr id="10" name="Text 8"/>
          <p:cNvSpPr/>
          <p:nvPr/>
        </p:nvSpPr>
        <p:spPr>
          <a:xfrm>
            <a:off x="8092440" y="804672"/>
            <a:ext cx="548640"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Effort</a:t>
            </a:r>
            <a:endParaRPr lang="en-US" sz="900" dirty="0"/>
          </a:p>
        </p:txBody>
      </p:sp>
      <p:sp>
        <p:nvSpPr>
          <p:cNvPr id="11" name="Shape 9"/>
          <p:cNvSpPr/>
          <p:nvPr/>
        </p:nvSpPr>
        <p:spPr>
          <a:xfrm>
            <a:off x="502920" y="1078992"/>
            <a:ext cx="2194560" cy="310896"/>
          </a:xfrm>
          <a:prstGeom prst="rect">
            <a:avLst/>
          </a:prstGeom>
          <a:solidFill>
            <a:srgbClr val="F5F5F5"/>
          </a:solidFill>
          <a:ln w="3810">
            <a:solidFill>
              <a:srgbClr val="F0F0F0"/>
            </a:solidFill>
            <a:prstDash val="solid"/>
          </a:ln>
        </p:spPr>
        <p:txBody>
          <a:bodyPr/>
          <a:lstStyle/>
          <a:p>
            <a:endParaRPr lang="en-US"/>
          </a:p>
        </p:txBody>
      </p:sp>
      <p:sp>
        <p:nvSpPr>
          <p:cNvPr id="12" name="Text 10"/>
          <p:cNvSpPr/>
          <p:nvPr/>
        </p:nvSpPr>
        <p:spPr>
          <a:xfrm>
            <a:off x="557784" y="107899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Conversation Export</a:t>
            </a:r>
            <a:endParaRPr lang="en-US" sz="850" dirty="0"/>
          </a:p>
        </p:txBody>
      </p:sp>
      <p:sp>
        <p:nvSpPr>
          <p:cNvPr id="13" name="Shape 11"/>
          <p:cNvSpPr/>
          <p:nvPr/>
        </p:nvSpPr>
        <p:spPr>
          <a:xfrm>
            <a:off x="2697480" y="1078992"/>
            <a:ext cx="1188720" cy="310896"/>
          </a:xfrm>
          <a:prstGeom prst="rect">
            <a:avLst/>
          </a:prstGeom>
          <a:solidFill>
            <a:srgbClr val="F5F5F5"/>
          </a:solidFill>
          <a:ln w="3810">
            <a:solidFill>
              <a:srgbClr val="F0F0F0"/>
            </a:solidFill>
            <a:prstDash val="solid"/>
          </a:ln>
        </p:spPr>
        <p:txBody>
          <a:bodyPr/>
          <a:lstStyle/>
          <a:p>
            <a:endParaRPr lang="en-US"/>
          </a:p>
        </p:txBody>
      </p:sp>
      <p:sp>
        <p:nvSpPr>
          <p:cNvPr id="14" name="Text 12"/>
          <p:cNvSpPr/>
          <p:nvPr/>
        </p:nvSpPr>
        <p:spPr>
          <a:xfrm>
            <a:off x="2743200" y="107899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api/main.py</a:t>
            </a:r>
            <a:endParaRPr lang="en-US" sz="800" dirty="0"/>
          </a:p>
        </p:txBody>
      </p:sp>
      <p:sp>
        <p:nvSpPr>
          <p:cNvPr id="15" name="Shape 13"/>
          <p:cNvSpPr/>
          <p:nvPr/>
        </p:nvSpPr>
        <p:spPr>
          <a:xfrm>
            <a:off x="3886200" y="1078992"/>
            <a:ext cx="548640" cy="310896"/>
          </a:xfrm>
          <a:prstGeom prst="rect">
            <a:avLst/>
          </a:prstGeom>
          <a:solidFill>
            <a:srgbClr val="2E7D32"/>
          </a:solidFill>
          <a:ln/>
        </p:spPr>
        <p:txBody>
          <a:bodyPr/>
          <a:lstStyle/>
          <a:p>
            <a:endParaRPr lang="en-US"/>
          </a:p>
        </p:txBody>
      </p:sp>
      <p:sp>
        <p:nvSpPr>
          <p:cNvPr id="16" name="Text 14"/>
          <p:cNvSpPr/>
          <p:nvPr/>
        </p:nvSpPr>
        <p:spPr>
          <a:xfrm>
            <a:off x="3913632" y="107899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~1d</a:t>
            </a:r>
            <a:endParaRPr lang="en-US" sz="800" dirty="0"/>
          </a:p>
        </p:txBody>
      </p:sp>
      <p:sp>
        <p:nvSpPr>
          <p:cNvPr id="17" name="Shape 15"/>
          <p:cNvSpPr/>
          <p:nvPr/>
        </p:nvSpPr>
        <p:spPr>
          <a:xfrm>
            <a:off x="502920" y="1389888"/>
            <a:ext cx="2194560" cy="310896"/>
          </a:xfrm>
          <a:prstGeom prst="rect">
            <a:avLst/>
          </a:prstGeom>
          <a:solidFill>
            <a:srgbClr val="FFFFFF"/>
          </a:solidFill>
          <a:ln w="3810">
            <a:solidFill>
              <a:srgbClr val="F0F0F0"/>
            </a:solidFill>
            <a:prstDash val="solid"/>
          </a:ln>
        </p:spPr>
        <p:txBody>
          <a:bodyPr/>
          <a:lstStyle/>
          <a:p>
            <a:endParaRPr lang="en-US"/>
          </a:p>
        </p:txBody>
      </p:sp>
      <p:sp>
        <p:nvSpPr>
          <p:cNvPr id="18" name="Text 16"/>
          <p:cNvSpPr/>
          <p:nvPr/>
        </p:nvSpPr>
        <p:spPr>
          <a:xfrm>
            <a:off x="557784" y="1389888"/>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History Pagination</a:t>
            </a:r>
            <a:endParaRPr lang="en-US" sz="850" dirty="0"/>
          </a:p>
        </p:txBody>
      </p:sp>
      <p:sp>
        <p:nvSpPr>
          <p:cNvPr id="19" name="Shape 17"/>
          <p:cNvSpPr/>
          <p:nvPr/>
        </p:nvSpPr>
        <p:spPr>
          <a:xfrm>
            <a:off x="2697480" y="1389888"/>
            <a:ext cx="1188720" cy="310896"/>
          </a:xfrm>
          <a:prstGeom prst="rect">
            <a:avLst/>
          </a:prstGeom>
          <a:solidFill>
            <a:srgbClr val="FFFFFF"/>
          </a:solidFill>
          <a:ln w="3810">
            <a:solidFill>
              <a:srgbClr val="F0F0F0"/>
            </a:solidFill>
            <a:prstDash val="solid"/>
          </a:ln>
        </p:spPr>
        <p:txBody>
          <a:bodyPr/>
          <a:lstStyle/>
          <a:p>
            <a:endParaRPr lang="en-US"/>
          </a:p>
        </p:txBody>
      </p:sp>
      <p:sp>
        <p:nvSpPr>
          <p:cNvPr id="20" name="Text 18"/>
          <p:cNvSpPr/>
          <p:nvPr/>
        </p:nvSpPr>
        <p:spPr>
          <a:xfrm>
            <a:off x="2743200" y="1389888"/>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api/main.py</a:t>
            </a:r>
            <a:endParaRPr lang="en-US" sz="800" dirty="0"/>
          </a:p>
        </p:txBody>
      </p:sp>
      <p:sp>
        <p:nvSpPr>
          <p:cNvPr id="21" name="Shape 19"/>
          <p:cNvSpPr/>
          <p:nvPr/>
        </p:nvSpPr>
        <p:spPr>
          <a:xfrm>
            <a:off x="3886200" y="1389888"/>
            <a:ext cx="548640" cy="310896"/>
          </a:xfrm>
          <a:prstGeom prst="rect">
            <a:avLst/>
          </a:prstGeom>
          <a:solidFill>
            <a:srgbClr val="2E7D32"/>
          </a:solidFill>
          <a:ln/>
        </p:spPr>
        <p:txBody>
          <a:bodyPr/>
          <a:lstStyle/>
          <a:p>
            <a:endParaRPr lang="en-US"/>
          </a:p>
        </p:txBody>
      </p:sp>
      <p:sp>
        <p:nvSpPr>
          <p:cNvPr id="22" name="Text 20"/>
          <p:cNvSpPr/>
          <p:nvPr/>
        </p:nvSpPr>
        <p:spPr>
          <a:xfrm>
            <a:off x="3913632" y="1389888"/>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~1d</a:t>
            </a:r>
            <a:endParaRPr lang="en-US" sz="800" dirty="0"/>
          </a:p>
        </p:txBody>
      </p:sp>
      <p:sp>
        <p:nvSpPr>
          <p:cNvPr id="23" name="Shape 21"/>
          <p:cNvSpPr/>
          <p:nvPr/>
        </p:nvSpPr>
        <p:spPr>
          <a:xfrm>
            <a:off x="502920" y="1700784"/>
            <a:ext cx="2194560" cy="310896"/>
          </a:xfrm>
          <a:prstGeom prst="rect">
            <a:avLst/>
          </a:prstGeom>
          <a:solidFill>
            <a:srgbClr val="F5F5F5"/>
          </a:solidFill>
          <a:ln w="3810">
            <a:solidFill>
              <a:srgbClr val="F0F0F0"/>
            </a:solidFill>
            <a:prstDash val="solid"/>
          </a:ln>
        </p:spPr>
        <p:txBody>
          <a:bodyPr/>
          <a:lstStyle/>
          <a:p>
            <a:endParaRPr lang="en-US"/>
          </a:p>
        </p:txBody>
      </p:sp>
      <p:sp>
        <p:nvSpPr>
          <p:cNvPr id="24" name="Text 22"/>
          <p:cNvSpPr/>
          <p:nvPr/>
        </p:nvSpPr>
        <p:spPr>
          <a:xfrm>
            <a:off x="557784" y="1700784"/>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Skill Version Diff/Branch</a:t>
            </a:r>
            <a:endParaRPr lang="en-US" sz="850" dirty="0"/>
          </a:p>
        </p:txBody>
      </p:sp>
      <p:sp>
        <p:nvSpPr>
          <p:cNvPr id="25" name="Shape 23"/>
          <p:cNvSpPr/>
          <p:nvPr/>
        </p:nvSpPr>
        <p:spPr>
          <a:xfrm>
            <a:off x="2697480" y="1700784"/>
            <a:ext cx="1188720" cy="310896"/>
          </a:xfrm>
          <a:prstGeom prst="rect">
            <a:avLst/>
          </a:prstGeom>
          <a:solidFill>
            <a:srgbClr val="F5F5F5"/>
          </a:solidFill>
          <a:ln w="3810">
            <a:solidFill>
              <a:srgbClr val="F0F0F0"/>
            </a:solidFill>
            <a:prstDash val="solid"/>
          </a:ln>
        </p:spPr>
        <p:txBody>
          <a:bodyPr/>
          <a:lstStyle/>
          <a:p>
            <a:endParaRPr lang="en-US"/>
          </a:p>
        </p:txBody>
      </p:sp>
      <p:sp>
        <p:nvSpPr>
          <p:cNvPr id="26" name="Text 24"/>
          <p:cNvSpPr/>
          <p:nvPr/>
        </p:nvSpPr>
        <p:spPr>
          <a:xfrm>
            <a:off x="2743200" y="1700784"/>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skills API</a:t>
            </a:r>
            <a:endParaRPr lang="en-US" sz="800" dirty="0"/>
          </a:p>
        </p:txBody>
      </p:sp>
      <p:sp>
        <p:nvSpPr>
          <p:cNvPr id="27" name="Shape 25"/>
          <p:cNvSpPr/>
          <p:nvPr/>
        </p:nvSpPr>
        <p:spPr>
          <a:xfrm>
            <a:off x="3886200" y="1700784"/>
            <a:ext cx="548640" cy="310896"/>
          </a:xfrm>
          <a:prstGeom prst="rect">
            <a:avLst/>
          </a:prstGeom>
          <a:solidFill>
            <a:srgbClr val="2E7D32"/>
          </a:solidFill>
          <a:ln/>
        </p:spPr>
        <p:txBody>
          <a:bodyPr/>
          <a:lstStyle/>
          <a:p>
            <a:endParaRPr lang="en-US"/>
          </a:p>
        </p:txBody>
      </p:sp>
      <p:sp>
        <p:nvSpPr>
          <p:cNvPr id="28" name="Text 26"/>
          <p:cNvSpPr/>
          <p:nvPr/>
        </p:nvSpPr>
        <p:spPr>
          <a:xfrm>
            <a:off x="3913632" y="1700784"/>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~2d</a:t>
            </a:r>
            <a:endParaRPr lang="en-US" sz="800" dirty="0"/>
          </a:p>
        </p:txBody>
      </p:sp>
      <p:sp>
        <p:nvSpPr>
          <p:cNvPr id="29" name="Shape 27"/>
          <p:cNvSpPr/>
          <p:nvPr/>
        </p:nvSpPr>
        <p:spPr>
          <a:xfrm>
            <a:off x="502920" y="2011680"/>
            <a:ext cx="2194560" cy="310896"/>
          </a:xfrm>
          <a:prstGeom prst="rect">
            <a:avLst/>
          </a:prstGeom>
          <a:solidFill>
            <a:srgbClr val="FFFFFF"/>
          </a:solidFill>
          <a:ln w="3810">
            <a:solidFill>
              <a:srgbClr val="F0F0F0"/>
            </a:solidFill>
            <a:prstDash val="solid"/>
          </a:ln>
        </p:spPr>
        <p:txBody>
          <a:bodyPr/>
          <a:lstStyle/>
          <a:p>
            <a:endParaRPr lang="en-US"/>
          </a:p>
        </p:txBody>
      </p:sp>
      <p:sp>
        <p:nvSpPr>
          <p:cNvPr id="30" name="Text 28"/>
          <p:cNvSpPr/>
          <p:nvPr/>
        </p:nvSpPr>
        <p:spPr>
          <a:xfrm>
            <a:off x="557784" y="2011680"/>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Graph Query Cache</a:t>
            </a:r>
            <a:endParaRPr lang="en-US" sz="850" dirty="0"/>
          </a:p>
        </p:txBody>
      </p:sp>
      <p:sp>
        <p:nvSpPr>
          <p:cNvPr id="31" name="Shape 29"/>
          <p:cNvSpPr/>
          <p:nvPr/>
        </p:nvSpPr>
        <p:spPr>
          <a:xfrm>
            <a:off x="2697480" y="2011680"/>
            <a:ext cx="1188720" cy="310896"/>
          </a:xfrm>
          <a:prstGeom prst="rect">
            <a:avLst/>
          </a:prstGeom>
          <a:solidFill>
            <a:srgbClr val="FFFFFF"/>
          </a:solidFill>
          <a:ln w="3810">
            <a:solidFill>
              <a:srgbClr val="F0F0F0"/>
            </a:solidFill>
            <a:prstDash val="solid"/>
          </a:ln>
        </p:spPr>
        <p:txBody>
          <a:bodyPr/>
          <a:lstStyle/>
          <a:p>
            <a:endParaRPr lang="en-US"/>
          </a:p>
        </p:txBody>
      </p:sp>
      <p:sp>
        <p:nvSpPr>
          <p:cNvPr id="32" name="Text 30"/>
          <p:cNvSpPr/>
          <p:nvPr/>
        </p:nvSpPr>
        <p:spPr>
          <a:xfrm>
            <a:off x="2743200" y="2011680"/>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rag/graph_store.py</a:t>
            </a:r>
            <a:endParaRPr lang="en-US" sz="800" dirty="0"/>
          </a:p>
        </p:txBody>
      </p:sp>
      <p:sp>
        <p:nvSpPr>
          <p:cNvPr id="33" name="Shape 31"/>
          <p:cNvSpPr/>
          <p:nvPr/>
        </p:nvSpPr>
        <p:spPr>
          <a:xfrm>
            <a:off x="3886200" y="2011680"/>
            <a:ext cx="548640" cy="310896"/>
          </a:xfrm>
          <a:prstGeom prst="rect">
            <a:avLst/>
          </a:prstGeom>
          <a:solidFill>
            <a:srgbClr val="2E7D32"/>
          </a:solidFill>
          <a:ln/>
        </p:spPr>
        <p:txBody>
          <a:bodyPr/>
          <a:lstStyle/>
          <a:p>
            <a:endParaRPr lang="en-US"/>
          </a:p>
        </p:txBody>
      </p:sp>
      <p:sp>
        <p:nvSpPr>
          <p:cNvPr id="34" name="Text 32"/>
          <p:cNvSpPr/>
          <p:nvPr/>
        </p:nvSpPr>
        <p:spPr>
          <a:xfrm>
            <a:off x="3913632" y="2011680"/>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~1d</a:t>
            </a:r>
            <a:endParaRPr lang="en-US" sz="800" dirty="0"/>
          </a:p>
        </p:txBody>
      </p:sp>
      <p:sp>
        <p:nvSpPr>
          <p:cNvPr id="35" name="Shape 33"/>
          <p:cNvSpPr/>
          <p:nvPr/>
        </p:nvSpPr>
        <p:spPr>
          <a:xfrm>
            <a:off x="502920" y="2322576"/>
            <a:ext cx="2194560" cy="310896"/>
          </a:xfrm>
          <a:prstGeom prst="rect">
            <a:avLst/>
          </a:prstGeom>
          <a:solidFill>
            <a:srgbClr val="F5F5F5"/>
          </a:solidFill>
          <a:ln w="3810">
            <a:solidFill>
              <a:srgbClr val="F0F0F0"/>
            </a:solidFill>
            <a:prstDash val="solid"/>
          </a:ln>
        </p:spPr>
        <p:txBody>
          <a:bodyPr/>
          <a:lstStyle/>
          <a:p>
            <a:endParaRPr lang="en-US"/>
          </a:p>
        </p:txBody>
      </p:sp>
      <p:sp>
        <p:nvSpPr>
          <p:cNvPr id="36" name="Text 34"/>
          <p:cNvSpPr/>
          <p:nvPr/>
        </p:nvSpPr>
        <p:spPr>
          <a:xfrm>
            <a:off x="557784" y="2322576"/>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Doc Confidence Scoring</a:t>
            </a:r>
            <a:endParaRPr lang="en-US" sz="850" dirty="0"/>
          </a:p>
        </p:txBody>
      </p:sp>
      <p:sp>
        <p:nvSpPr>
          <p:cNvPr id="37" name="Shape 35"/>
          <p:cNvSpPr/>
          <p:nvPr/>
        </p:nvSpPr>
        <p:spPr>
          <a:xfrm>
            <a:off x="2697480" y="2322576"/>
            <a:ext cx="1188720" cy="310896"/>
          </a:xfrm>
          <a:prstGeom prst="rect">
            <a:avLst/>
          </a:prstGeom>
          <a:solidFill>
            <a:srgbClr val="F5F5F5"/>
          </a:solidFill>
          <a:ln w="3810">
            <a:solidFill>
              <a:srgbClr val="F0F0F0"/>
            </a:solidFill>
            <a:prstDash val="solid"/>
          </a:ln>
        </p:spPr>
        <p:txBody>
          <a:bodyPr/>
          <a:lstStyle/>
          <a:p>
            <a:endParaRPr lang="en-US"/>
          </a:p>
        </p:txBody>
      </p:sp>
      <p:sp>
        <p:nvSpPr>
          <p:cNvPr id="38" name="Text 36"/>
          <p:cNvSpPr/>
          <p:nvPr/>
        </p:nvSpPr>
        <p:spPr>
          <a:xfrm>
            <a:off x="2743200" y="2322576"/>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rag/synthesis.py</a:t>
            </a:r>
            <a:endParaRPr lang="en-US" sz="800" dirty="0"/>
          </a:p>
        </p:txBody>
      </p:sp>
      <p:sp>
        <p:nvSpPr>
          <p:cNvPr id="39" name="Shape 37"/>
          <p:cNvSpPr/>
          <p:nvPr/>
        </p:nvSpPr>
        <p:spPr>
          <a:xfrm>
            <a:off x="3886200" y="2322576"/>
            <a:ext cx="548640" cy="310896"/>
          </a:xfrm>
          <a:prstGeom prst="rect">
            <a:avLst/>
          </a:prstGeom>
          <a:solidFill>
            <a:srgbClr val="2E7D32"/>
          </a:solidFill>
          <a:ln/>
        </p:spPr>
        <p:txBody>
          <a:bodyPr/>
          <a:lstStyle/>
          <a:p>
            <a:endParaRPr lang="en-US"/>
          </a:p>
        </p:txBody>
      </p:sp>
      <p:sp>
        <p:nvSpPr>
          <p:cNvPr id="40" name="Text 38"/>
          <p:cNvSpPr/>
          <p:nvPr/>
        </p:nvSpPr>
        <p:spPr>
          <a:xfrm>
            <a:off x="3913632" y="2322576"/>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~2d</a:t>
            </a:r>
            <a:endParaRPr lang="en-US" sz="800" dirty="0"/>
          </a:p>
        </p:txBody>
      </p:sp>
      <p:sp>
        <p:nvSpPr>
          <p:cNvPr id="41" name="Shape 39"/>
          <p:cNvSpPr/>
          <p:nvPr/>
        </p:nvSpPr>
        <p:spPr>
          <a:xfrm>
            <a:off x="502920" y="2633472"/>
            <a:ext cx="2194560" cy="310896"/>
          </a:xfrm>
          <a:prstGeom prst="rect">
            <a:avLst/>
          </a:prstGeom>
          <a:solidFill>
            <a:srgbClr val="FFFFFF"/>
          </a:solidFill>
          <a:ln w="3810">
            <a:solidFill>
              <a:srgbClr val="F0F0F0"/>
            </a:solidFill>
            <a:prstDash val="solid"/>
          </a:ln>
        </p:spPr>
        <p:txBody>
          <a:bodyPr/>
          <a:lstStyle/>
          <a:p>
            <a:endParaRPr lang="en-US"/>
          </a:p>
        </p:txBody>
      </p:sp>
      <p:sp>
        <p:nvSpPr>
          <p:cNvPr id="42" name="Text 40"/>
          <p:cNvSpPr/>
          <p:nvPr/>
        </p:nvSpPr>
        <p:spPr>
          <a:xfrm>
            <a:off x="557784" y="263347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Streaming Reasoning (▲)</a:t>
            </a:r>
            <a:endParaRPr lang="en-US" sz="850" dirty="0"/>
          </a:p>
        </p:txBody>
      </p:sp>
      <p:sp>
        <p:nvSpPr>
          <p:cNvPr id="43" name="Shape 41"/>
          <p:cNvSpPr/>
          <p:nvPr/>
        </p:nvSpPr>
        <p:spPr>
          <a:xfrm>
            <a:off x="2697480" y="2633472"/>
            <a:ext cx="1188720" cy="310896"/>
          </a:xfrm>
          <a:prstGeom prst="rect">
            <a:avLst/>
          </a:prstGeom>
          <a:solidFill>
            <a:srgbClr val="FFFFFF"/>
          </a:solidFill>
          <a:ln w="3810">
            <a:solidFill>
              <a:srgbClr val="F0F0F0"/>
            </a:solidFill>
            <a:prstDash val="solid"/>
          </a:ln>
        </p:spPr>
        <p:txBody>
          <a:bodyPr/>
          <a:lstStyle/>
          <a:p>
            <a:endParaRPr lang="en-US"/>
          </a:p>
        </p:txBody>
      </p:sp>
      <p:sp>
        <p:nvSpPr>
          <p:cNvPr id="44" name="Text 42"/>
          <p:cNvSpPr/>
          <p:nvPr/>
        </p:nvSpPr>
        <p:spPr>
          <a:xfrm>
            <a:off x="2743200" y="263347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api/live_progress.py</a:t>
            </a:r>
            <a:endParaRPr lang="en-US" sz="800" dirty="0"/>
          </a:p>
        </p:txBody>
      </p:sp>
      <p:sp>
        <p:nvSpPr>
          <p:cNvPr id="45" name="Shape 43"/>
          <p:cNvSpPr/>
          <p:nvPr/>
        </p:nvSpPr>
        <p:spPr>
          <a:xfrm>
            <a:off x="3886200" y="2633472"/>
            <a:ext cx="548640" cy="310896"/>
          </a:xfrm>
          <a:prstGeom prst="rect">
            <a:avLst/>
          </a:prstGeom>
          <a:solidFill>
            <a:srgbClr val="0097A7"/>
          </a:solidFill>
          <a:ln/>
        </p:spPr>
        <p:txBody>
          <a:bodyPr/>
          <a:lstStyle/>
          <a:p>
            <a:endParaRPr lang="en-US"/>
          </a:p>
        </p:txBody>
      </p:sp>
      <p:sp>
        <p:nvSpPr>
          <p:cNvPr id="46" name="Text 44"/>
          <p:cNvSpPr/>
          <p:nvPr/>
        </p:nvSpPr>
        <p:spPr>
          <a:xfrm>
            <a:off x="3913632" y="263347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~1w</a:t>
            </a:r>
            <a:endParaRPr lang="en-US" sz="800" dirty="0"/>
          </a:p>
        </p:txBody>
      </p:sp>
      <p:sp>
        <p:nvSpPr>
          <p:cNvPr id="47" name="Shape 45"/>
          <p:cNvSpPr/>
          <p:nvPr/>
        </p:nvSpPr>
        <p:spPr>
          <a:xfrm>
            <a:off x="502920" y="2944368"/>
            <a:ext cx="2194560" cy="310896"/>
          </a:xfrm>
          <a:prstGeom prst="rect">
            <a:avLst/>
          </a:prstGeom>
          <a:solidFill>
            <a:srgbClr val="F5F5F5"/>
          </a:solidFill>
          <a:ln w="3810">
            <a:solidFill>
              <a:srgbClr val="F0F0F0"/>
            </a:solidFill>
            <a:prstDash val="solid"/>
          </a:ln>
        </p:spPr>
        <p:txBody>
          <a:bodyPr/>
          <a:lstStyle/>
          <a:p>
            <a:endParaRPr lang="en-US"/>
          </a:p>
        </p:txBody>
      </p:sp>
      <p:sp>
        <p:nvSpPr>
          <p:cNvPr id="48" name="Text 46"/>
          <p:cNvSpPr/>
          <p:nvPr/>
        </p:nvSpPr>
        <p:spPr>
          <a:xfrm>
            <a:off x="557784" y="2944368"/>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Memory Lifecycle (▲)</a:t>
            </a:r>
            <a:endParaRPr lang="en-US" sz="850" dirty="0"/>
          </a:p>
        </p:txBody>
      </p:sp>
      <p:sp>
        <p:nvSpPr>
          <p:cNvPr id="49" name="Shape 47"/>
          <p:cNvSpPr/>
          <p:nvPr/>
        </p:nvSpPr>
        <p:spPr>
          <a:xfrm>
            <a:off x="2697480" y="2944368"/>
            <a:ext cx="1188720" cy="310896"/>
          </a:xfrm>
          <a:prstGeom prst="rect">
            <a:avLst/>
          </a:prstGeom>
          <a:solidFill>
            <a:srgbClr val="F5F5F5"/>
          </a:solidFill>
          <a:ln w="3810">
            <a:solidFill>
              <a:srgbClr val="F0F0F0"/>
            </a:solidFill>
            <a:prstDash val="solid"/>
          </a:ln>
        </p:spPr>
        <p:txBody>
          <a:bodyPr/>
          <a:lstStyle/>
          <a:p>
            <a:endParaRPr lang="en-US"/>
          </a:p>
        </p:txBody>
      </p:sp>
      <p:sp>
        <p:nvSpPr>
          <p:cNvPr id="50" name="Text 48"/>
          <p:cNvSpPr/>
          <p:nvPr/>
        </p:nvSpPr>
        <p:spPr>
          <a:xfrm>
            <a:off x="2743200" y="2944368"/>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persistence/memory_v2.py</a:t>
            </a:r>
            <a:endParaRPr lang="en-US" sz="800" dirty="0"/>
          </a:p>
        </p:txBody>
      </p:sp>
      <p:sp>
        <p:nvSpPr>
          <p:cNvPr id="51" name="Shape 49"/>
          <p:cNvSpPr/>
          <p:nvPr/>
        </p:nvSpPr>
        <p:spPr>
          <a:xfrm>
            <a:off x="3886200" y="2944368"/>
            <a:ext cx="548640" cy="310896"/>
          </a:xfrm>
          <a:prstGeom prst="rect">
            <a:avLst/>
          </a:prstGeom>
          <a:solidFill>
            <a:srgbClr val="0097A7"/>
          </a:solidFill>
          <a:ln/>
        </p:spPr>
        <p:txBody>
          <a:bodyPr/>
          <a:lstStyle/>
          <a:p>
            <a:endParaRPr lang="en-US"/>
          </a:p>
        </p:txBody>
      </p:sp>
      <p:sp>
        <p:nvSpPr>
          <p:cNvPr id="52" name="Text 50"/>
          <p:cNvSpPr/>
          <p:nvPr/>
        </p:nvSpPr>
        <p:spPr>
          <a:xfrm>
            <a:off x="3913632" y="2944368"/>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~1w</a:t>
            </a:r>
            <a:endParaRPr lang="en-US" sz="800" dirty="0"/>
          </a:p>
        </p:txBody>
      </p:sp>
      <p:sp>
        <p:nvSpPr>
          <p:cNvPr id="53" name="Shape 51"/>
          <p:cNvSpPr/>
          <p:nvPr/>
        </p:nvSpPr>
        <p:spPr>
          <a:xfrm>
            <a:off x="4709160" y="1078992"/>
            <a:ext cx="2194560" cy="310896"/>
          </a:xfrm>
          <a:prstGeom prst="rect">
            <a:avLst/>
          </a:prstGeom>
          <a:solidFill>
            <a:srgbClr val="F5F5F5"/>
          </a:solidFill>
          <a:ln w="3810">
            <a:solidFill>
              <a:srgbClr val="F0F0F0"/>
            </a:solidFill>
            <a:prstDash val="solid"/>
          </a:ln>
        </p:spPr>
        <p:txBody>
          <a:bodyPr/>
          <a:lstStyle/>
          <a:p>
            <a:endParaRPr lang="en-US"/>
          </a:p>
        </p:txBody>
      </p:sp>
      <p:sp>
        <p:nvSpPr>
          <p:cNvPr id="54" name="Text 52"/>
          <p:cNvSpPr/>
          <p:nvPr/>
        </p:nvSpPr>
        <p:spPr>
          <a:xfrm>
            <a:off x="4764024" y="107899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Rate Limiting (▲)</a:t>
            </a:r>
            <a:endParaRPr lang="en-US" sz="850" dirty="0"/>
          </a:p>
        </p:txBody>
      </p:sp>
      <p:sp>
        <p:nvSpPr>
          <p:cNvPr id="55" name="Shape 53"/>
          <p:cNvSpPr/>
          <p:nvPr/>
        </p:nvSpPr>
        <p:spPr>
          <a:xfrm>
            <a:off x="6903720" y="1078992"/>
            <a:ext cx="1188720" cy="310896"/>
          </a:xfrm>
          <a:prstGeom prst="rect">
            <a:avLst/>
          </a:prstGeom>
          <a:solidFill>
            <a:srgbClr val="F5F5F5"/>
          </a:solidFill>
          <a:ln w="3810">
            <a:solidFill>
              <a:srgbClr val="F0F0F0"/>
            </a:solidFill>
            <a:prstDash val="solid"/>
          </a:ln>
        </p:spPr>
        <p:txBody>
          <a:bodyPr/>
          <a:lstStyle/>
          <a:p>
            <a:endParaRPr lang="en-US"/>
          </a:p>
        </p:txBody>
      </p:sp>
      <p:sp>
        <p:nvSpPr>
          <p:cNvPr id="56" name="Text 54"/>
          <p:cNvSpPr/>
          <p:nvPr/>
        </p:nvSpPr>
        <p:spPr>
          <a:xfrm>
            <a:off x="6949440" y="107899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connector_security.py</a:t>
            </a:r>
            <a:endParaRPr lang="en-US" sz="800" dirty="0"/>
          </a:p>
        </p:txBody>
      </p:sp>
      <p:sp>
        <p:nvSpPr>
          <p:cNvPr id="57" name="Shape 55"/>
          <p:cNvSpPr/>
          <p:nvPr/>
        </p:nvSpPr>
        <p:spPr>
          <a:xfrm>
            <a:off x="8092440" y="1078992"/>
            <a:ext cx="548640" cy="310896"/>
          </a:xfrm>
          <a:prstGeom prst="rect">
            <a:avLst/>
          </a:prstGeom>
          <a:solidFill>
            <a:srgbClr val="2E7D32"/>
          </a:solidFill>
          <a:ln/>
        </p:spPr>
        <p:txBody>
          <a:bodyPr/>
          <a:lstStyle/>
          <a:p>
            <a:endParaRPr lang="en-US"/>
          </a:p>
        </p:txBody>
      </p:sp>
      <p:sp>
        <p:nvSpPr>
          <p:cNvPr id="58" name="Text 56"/>
          <p:cNvSpPr/>
          <p:nvPr/>
        </p:nvSpPr>
        <p:spPr>
          <a:xfrm>
            <a:off x="8119872" y="107899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~3d</a:t>
            </a:r>
            <a:endParaRPr lang="en-US" sz="800" dirty="0"/>
          </a:p>
        </p:txBody>
      </p:sp>
      <p:sp>
        <p:nvSpPr>
          <p:cNvPr id="59" name="Shape 57"/>
          <p:cNvSpPr/>
          <p:nvPr/>
        </p:nvSpPr>
        <p:spPr>
          <a:xfrm>
            <a:off x="4709160" y="1389888"/>
            <a:ext cx="2194560" cy="310896"/>
          </a:xfrm>
          <a:prstGeom prst="rect">
            <a:avLst/>
          </a:prstGeom>
          <a:solidFill>
            <a:srgbClr val="FFFFFF"/>
          </a:solidFill>
          <a:ln w="3810">
            <a:solidFill>
              <a:srgbClr val="F0F0F0"/>
            </a:solidFill>
            <a:prstDash val="solid"/>
          </a:ln>
        </p:spPr>
        <p:txBody>
          <a:bodyPr/>
          <a:lstStyle/>
          <a:p>
            <a:endParaRPr lang="en-US"/>
          </a:p>
        </p:txBody>
      </p:sp>
      <p:sp>
        <p:nvSpPr>
          <p:cNvPr id="60" name="Text 58"/>
          <p:cNvSpPr/>
          <p:nvPr/>
        </p:nvSpPr>
        <p:spPr>
          <a:xfrm>
            <a:off x="4764024" y="1389888"/>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Structured Audit Trail</a:t>
            </a:r>
            <a:endParaRPr lang="en-US" sz="850" dirty="0"/>
          </a:p>
        </p:txBody>
      </p:sp>
      <p:sp>
        <p:nvSpPr>
          <p:cNvPr id="61" name="Shape 59"/>
          <p:cNvSpPr/>
          <p:nvPr/>
        </p:nvSpPr>
        <p:spPr>
          <a:xfrm>
            <a:off x="6903720" y="1389888"/>
            <a:ext cx="1188720" cy="310896"/>
          </a:xfrm>
          <a:prstGeom prst="rect">
            <a:avLst/>
          </a:prstGeom>
          <a:solidFill>
            <a:srgbClr val="FFFFFF"/>
          </a:solidFill>
          <a:ln w="3810">
            <a:solidFill>
              <a:srgbClr val="F0F0F0"/>
            </a:solidFill>
            <a:prstDash val="solid"/>
          </a:ln>
        </p:spPr>
        <p:txBody>
          <a:bodyPr/>
          <a:lstStyle/>
          <a:p>
            <a:endParaRPr lang="en-US"/>
          </a:p>
        </p:txBody>
      </p:sp>
      <p:sp>
        <p:nvSpPr>
          <p:cNvPr id="62" name="Text 60"/>
          <p:cNvSpPr/>
          <p:nvPr/>
        </p:nvSpPr>
        <p:spPr>
          <a:xfrm>
            <a:off x="6949440" y="1389888"/>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runtime/kernel.py</a:t>
            </a:r>
            <a:endParaRPr lang="en-US" sz="800" dirty="0"/>
          </a:p>
        </p:txBody>
      </p:sp>
      <p:sp>
        <p:nvSpPr>
          <p:cNvPr id="63" name="Shape 61"/>
          <p:cNvSpPr/>
          <p:nvPr/>
        </p:nvSpPr>
        <p:spPr>
          <a:xfrm>
            <a:off x="8092440" y="1389888"/>
            <a:ext cx="548640" cy="310896"/>
          </a:xfrm>
          <a:prstGeom prst="rect">
            <a:avLst/>
          </a:prstGeom>
          <a:solidFill>
            <a:srgbClr val="F9A825"/>
          </a:solidFill>
          <a:ln/>
        </p:spPr>
        <p:txBody>
          <a:bodyPr/>
          <a:lstStyle/>
          <a:p>
            <a:endParaRPr lang="en-US"/>
          </a:p>
        </p:txBody>
      </p:sp>
      <p:sp>
        <p:nvSpPr>
          <p:cNvPr id="64" name="Text 62"/>
          <p:cNvSpPr/>
          <p:nvPr/>
        </p:nvSpPr>
        <p:spPr>
          <a:xfrm>
            <a:off x="8119872" y="1389888"/>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~2w</a:t>
            </a:r>
            <a:endParaRPr lang="en-US" sz="800" dirty="0"/>
          </a:p>
        </p:txBody>
      </p:sp>
      <p:sp>
        <p:nvSpPr>
          <p:cNvPr id="65" name="Shape 63"/>
          <p:cNvSpPr/>
          <p:nvPr/>
        </p:nvSpPr>
        <p:spPr>
          <a:xfrm>
            <a:off x="4709160" y="1700784"/>
            <a:ext cx="2194560" cy="310896"/>
          </a:xfrm>
          <a:prstGeom prst="rect">
            <a:avLst/>
          </a:prstGeom>
          <a:solidFill>
            <a:srgbClr val="F5F5F5"/>
          </a:solidFill>
          <a:ln w="3810">
            <a:solidFill>
              <a:srgbClr val="F0F0F0"/>
            </a:solidFill>
            <a:prstDash val="solid"/>
          </a:ln>
        </p:spPr>
        <p:txBody>
          <a:bodyPr/>
          <a:lstStyle/>
          <a:p>
            <a:endParaRPr lang="en-US"/>
          </a:p>
        </p:txBody>
      </p:sp>
      <p:sp>
        <p:nvSpPr>
          <p:cNvPr id="66" name="Text 64"/>
          <p:cNvSpPr/>
          <p:nvPr/>
        </p:nvSpPr>
        <p:spPr>
          <a:xfrm>
            <a:off x="4764024" y="1700784"/>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Tenant Auth Middleware (▲)</a:t>
            </a:r>
            <a:endParaRPr lang="en-US" sz="850" dirty="0"/>
          </a:p>
        </p:txBody>
      </p:sp>
      <p:sp>
        <p:nvSpPr>
          <p:cNvPr id="67" name="Shape 65"/>
          <p:cNvSpPr/>
          <p:nvPr/>
        </p:nvSpPr>
        <p:spPr>
          <a:xfrm>
            <a:off x="6903720" y="1700784"/>
            <a:ext cx="1188720" cy="310896"/>
          </a:xfrm>
          <a:prstGeom prst="rect">
            <a:avLst/>
          </a:prstGeom>
          <a:solidFill>
            <a:srgbClr val="F5F5F5"/>
          </a:solidFill>
          <a:ln w="3810">
            <a:solidFill>
              <a:srgbClr val="F0F0F0"/>
            </a:solidFill>
            <a:prstDash val="solid"/>
          </a:ln>
        </p:spPr>
        <p:txBody>
          <a:bodyPr/>
          <a:lstStyle/>
          <a:p>
            <a:endParaRPr lang="en-US"/>
          </a:p>
        </p:txBody>
      </p:sp>
      <p:sp>
        <p:nvSpPr>
          <p:cNvPr id="68" name="Text 66"/>
          <p:cNvSpPr/>
          <p:nvPr/>
        </p:nvSpPr>
        <p:spPr>
          <a:xfrm>
            <a:off x="6949440" y="1700784"/>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authz/service.py</a:t>
            </a:r>
            <a:endParaRPr lang="en-US" sz="800" dirty="0"/>
          </a:p>
        </p:txBody>
      </p:sp>
      <p:sp>
        <p:nvSpPr>
          <p:cNvPr id="69" name="Shape 67"/>
          <p:cNvSpPr/>
          <p:nvPr/>
        </p:nvSpPr>
        <p:spPr>
          <a:xfrm>
            <a:off x="8092440" y="1700784"/>
            <a:ext cx="548640" cy="310896"/>
          </a:xfrm>
          <a:prstGeom prst="rect">
            <a:avLst/>
          </a:prstGeom>
          <a:solidFill>
            <a:srgbClr val="2E7D32"/>
          </a:solidFill>
          <a:ln/>
        </p:spPr>
        <p:txBody>
          <a:bodyPr/>
          <a:lstStyle/>
          <a:p>
            <a:endParaRPr lang="en-US"/>
          </a:p>
        </p:txBody>
      </p:sp>
      <p:sp>
        <p:nvSpPr>
          <p:cNvPr id="70" name="Text 68"/>
          <p:cNvSpPr/>
          <p:nvPr/>
        </p:nvSpPr>
        <p:spPr>
          <a:xfrm>
            <a:off x="8119872" y="1700784"/>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~3d</a:t>
            </a:r>
            <a:endParaRPr lang="en-US" sz="800" dirty="0"/>
          </a:p>
        </p:txBody>
      </p:sp>
      <p:sp>
        <p:nvSpPr>
          <p:cNvPr id="71" name="Shape 69"/>
          <p:cNvSpPr/>
          <p:nvPr/>
        </p:nvSpPr>
        <p:spPr>
          <a:xfrm>
            <a:off x="4709160" y="2011680"/>
            <a:ext cx="2194560" cy="310896"/>
          </a:xfrm>
          <a:prstGeom prst="rect">
            <a:avLst/>
          </a:prstGeom>
          <a:solidFill>
            <a:srgbClr val="FFFFFF"/>
          </a:solidFill>
          <a:ln w="3810">
            <a:solidFill>
              <a:srgbClr val="F0F0F0"/>
            </a:solidFill>
            <a:prstDash val="solid"/>
          </a:ln>
        </p:spPr>
        <p:txBody>
          <a:bodyPr/>
          <a:lstStyle/>
          <a:p>
            <a:endParaRPr lang="en-US"/>
          </a:p>
        </p:txBody>
      </p:sp>
      <p:sp>
        <p:nvSpPr>
          <p:cNvPr id="72" name="Text 70"/>
          <p:cNvSpPr/>
          <p:nvPr/>
        </p:nvSpPr>
        <p:spPr>
          <a:xfrm>
            <a:off x="4764024" y="2011680"/>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Webhook Job Notifications</a:t>
            </a:r>
            <a:endParaRPr lang="en-US" sz="850" dirty="0"/>
          </a:p>
        </p:txBody>
      </p:sp>
      <p:sp>
        <p:nvSpPr>
          <p:cNvPr id="73" name="Shape 71"/>
          <p:cNvSpPr/>
          <p:nvPr/>
        </p:nvSpPr>
        <p:spPr>
          <a:xfrm>
            <a:off x="6903720" y="2011680"/>
            <a:ext cx="1188720" cy="310896"/>
          </a:xfrm>
          <a:prstGeom prst="rect">
            <a:avLst/>
          </a:prstGeom>
          <a:solidFill>
            <a:srgbClr val="FFFFFF"/>
          </a:solidFill>
          <a:ln w="3810">
            <a:solidFill>
              <a:srgbClr val="F0F0F0"/>
            </a:solidFill>
            <a:prstDash val="solid"/>
          </a:ln>
        </p:spPr>
        <p:txBody>
          <a:bodyPr/>
          <a:lstStyle/>
          <a:p>
            <a:endParaRPr lang="en-US"/>
          </a:p>
        </p:txBody>
      </p:sp>
      <p:sp>
        <p:nvSpPr>
          <p:cNvPr id="74" name="Text 72"/>
          <p:cNvSpPr/>
          <p:nvPr/>
        </p:nvSpPr>
        <p:spPr>
          <a:xfrm>
            <a:off x="6949440" y="2011680"/>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runtime/job_manager.py</a:t>
            </a:r>
            <a:endParaRPr lang="en-US" sz="800" dirty="0"/>
          </a:p>
        </p:txBody>
      </p:sp>
      <p:sp>
        <p:nvSpPr>
          <p:cNvPr id="75" name="Shape 73"/>
          <p:cNvSpPr/>
          <p:nvPr/>
        </p:nvSpPr>
        <p:spPr>
          <a:xfrm>
            <a:off x="8092440" y="2011680"/>
            <a:ext cx="548640" cy="310896"/>
          </a:xfrm>
          <a:prstGeom prst="rect">
            <a:avLst/>
          </a:prstGeom>
          <a:solidFill>
            <a:srgbClr val="F9A825"/>
          </a:solidFill>
          <a:ln/>
        </p:spPr>
        <p:txBody>
          <a:bodyPr/>
          <a:lstStyle/>
          <a:p>
            <a:endParaRPr lang="en-US"/>
          </a:p>
        </p:txBody>
      </p:sp>
      <p:sp>
        <p:nvSpPr>
          <p:cNvPr id="76" name="Text 74"/>
          <p:cNvSpPr/>
          <p:nvPr/>
        </p:nvSpPr>
        <p:spPr>
          <a:xfrm>
            <a:off x="8119872" y="2011680"/>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~2w</a:t>
            </a:r>
            <a:endParaRPr lang="en-US" sz="800" dirty="0"/>
          </a:p>
        </p:txBody>
      </p:sp>
      <p:sp>
        <p:nvSpPr>
          <p:cNvPr id="77" name="Shape 75"/>
          <p:cNvSpPr/>
          <p:nvPr/>
        </p:nvSpPr>
        <p:spPr>
          <a:xfrm>
            <a:off x="4709160" y="2322576"/>
            <a:ext cx="2194560" cy="310896"/>
          </a:xfrm>
          <a:prstGeom prst="rect">
            <a:avLst/>
          </a:prstGeom>
          <a:solidFill>
            <a:srgbClr val="F5F5F5"/>
          </a:solidFill>
          <a:ln w="3810">
            <a:solidFill>
              <a:srgbClr val="F0F0F0"/>
            </a:solidFill>
            <a:prstDash val="solid"/>
          </a:ln>
        </p:spPr>
        <p:txBody>
          <a:bodyPr/>
          <a:lstStyle/>
          <a:p>
            <a:endParaRPr lang="en-US"/>
          </a:p>
        </p:txBody>
      </p:sp>
      <p:sp>
        <p:nvSpPr>
          <p:cNvPr id="78" name="Text 76"/>
          <p:cNvSpPr/>
          <p:nvPr/>
        </p:nvSpPr>
        <p:spPr>
          <a:xfrm>
            <a:off x="4764024" y="2322576"/>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Automated Eval Harness</a:t>
            </a:r>
            <a:endParaRPr lang="en-US" sz="850" dirty="0"/>
          </a:p>
        </p:txBody>
      </p:sp>
      <p:sp>
        <p:nvSpPr>
          <p:cNvPr id="79" name="Shape 77"/>
          <p:cNvSpPr/>
          <p:nvPr/>
        </p:nvSpPr>
        <p:spPr>
          <a:xfrm>
            <a:off x="6903720" y="2322576"/>
            <a:ext cx="1188720" cy="310896"/>
          </a:xfrm>
          <a:prstGeom prst="rect">
            <a:avLst/>
          </a:prstGeom>
          <a:solidFill>
            <a:srgbClr val="F5F5F5"/>
          </a:solidFill>
          <a:ln w="3810">
            <a:solidFill>
              <a:srgbClr val="F0F0F0"/>
            </a:solidFill>
            <a:prstDash val="solid"/>
          </a:ln>
        </p:spPr>
        <p:txBody>
          <a:bodyPr/>
          <a:lstStyle/>
          <a:p>
            <a:endParaRPr lang="en-US"/>
          </a:p>
        </p:txBody>
      </p:sp>
      <p:sp>
        <p:nvSpPr>
          <p:cNvPr id="80" name="Text 78"/>
          <p:cNvSpPr/>
          <p:nvPr/>
        </p:nvSpPr>
        <p:spPr>
          <a:xfrm>
            <a:off x="6949440" y="2322576"/>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benchmark/eval_harness.py</a:t>
            </a:r>
            <a:endParaRPr lang="en-US" sz="800" dirty="0"/>
          </a:p>
        </p:txBody>
      </p:sp>
      <p:sp>
        <p:nvSpPr>
          <p:cNvPr id="81" name="Shape 79"/>
          <p:cNvSpPr/>
          <p:nvPr/>
        </p:nvSpPr>
        <p:spPr>
          <a:xfrm>
            <a:off x="8092440" y="2322576"/>
            <a:ext cx="548640" cy="310896"/>
          </a:xfrm>
          <a:prstGeom prst="rect">
            <a:avLst/>
          </a:prstGeom>
          <a:solidFill>
            <a:srgbClr val="C62828"/>
          </a:solidFill>
          <a:ln/>
        </p:spPr>
        <p:txBody>
          <a:bodyPr/>
          <a:lstStyle/>
          <a:p>
            <a:endParaRPr lang="en-US"/>
          </a:p>
        </p:txBody>
      </p:sp>
      <p:sp>
        <p:nvSpPr>
          <p:cNvPr id="82" name="Text 80"/>
          <p:cNvSpPr/>
          <p:nvPr/>
        </p:nvSpPr>
        <p:spPr>
          <a:xfrm>
            <a:off x="8119872" y="2322576"/>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~4w</a:t>
            </a:r>
            <a:endParaRPr lang="en-US" sz="800" dirty="0"/>
          </a:p>
        </p:txBody>
      </p:sp>
      <p:sp>
        <p:nvSpPr>
          <p:cNvPr id="83" name="Shape 81"/>
          <p:cNvSpPr/>
          <p:nvPr/>
        </p:nvSpPr>
        <p:spPr>
          <a:xfrm>
            <a:off x="4709160" y="2633472"/>
            <a:ext cx="2194560" cy="310896"/>
          </a:xfrm>
          <a:prstGeom prst="rect">
            <a:avLst/>
          </a:prstGeom>
          <a:solidFill>
            <a:srgbClr val="FFFFFF"/>
          </a:solidFill>
          <a:ln w="3810">
            <a:solidFill>
              <a:srgbClr val="F0F0F0"/>
            </a:solidFill>
            <a:prstDash val="solid"/>
          </a:ln>
        </p:spPr>
        <p:txBody>
          <a:bodyPr/>
          <a:lstStyle/>
          <a:p>
            <a:endParaRPr lang="en-US"/>
          </a:p>
        </p:txBody>
      </p:sp>
      <p:sp>
        <p:nvSpPr>
          <p:cNvPr id="84" name="Text 82"/>
          <p:cNvSpPr/>
          <p:nvPr/>
        </p:nvSpPr>
        <p:spPr>
          <a:xfrm>
            <a:off x="4764024" y="263347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A/B Model Testing</a:t>
            </a:r>
            <a:endParaRPr lang="en-US" sz="850" dirty="0"/>
          </a:p>
        </p:txBody>
      </p:sp>
      <p:sp>
        <p:nvSpPr>
          <p:cNvPr id="85" name="Shape 83"/>
          <p:cNvSpPr/>
          <p:nvPr/>
        </p:nvSpPr>
        <p:spPr>
          <a:xfrm>
            <a:off x="6903720" y="2633472"/>
            <a:ext cx="1188720" cy="310896"/>
          </a:xfrm>
          <a:prstGeom prst="rect">
            <a:avLst/>
          </a:prstGeom>
          <a:solidFill>
            <a:srgbClr val="FFFFFF"/>
          </a:solidFill>
          <a:ln w="3810">
            <a:solidFill>
              <a:srgbClr val="F0F0F0"/>
            </a:solidFill>
            <a:prstDash val="solid"/>
          </a:ln>
        </p:spPr>
        <p:txBody>
          <a:bodyPr/>
          <a:lstStyle/>
          <a:p>
            <a:endParaRPr lang="en-US"/>
          </a:p>
        </p:txBody>
      </p:sp>
      <p:sp>
        <p:nvSpPr>
          <p:cNvPr id="86" name="Text 84"/>
          <p:cNvSpPr/>
          <p:nvPr/>
        </p:nvSpPr>
        <p:spPr>
          <a:xfrm>
            <a:off x="6949440" y="263347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api/main.py + providers</a:t>
            </a:r>
            <a:endParaRPr lang="en-US" sz="800" dirty="0"/>
          </a:p>
        </p:txBody>
      </p:sp>
      <p:sp>
        <p:nvSpPr>
          <p:cNvPr id="87" name="Shape 85"/>
          <p:cNvSpPr/>
          <p:nvPr/>
        </p:nvSpPr>
        <p:spPr>
          <a:xfrm>
            <a:off x="8092440" y="2633472"/>
            <a:ext cx="548640" cy="310896"/>
          </a:xfrm>
          <a:prstGeom prst="rect">
            <a:avLst/>
          </a:prstGeom>
          <a:solidFill>
            <a:srgbClr val="C62828"/>
          </a:solidFill>
          <a:ln/>
        </p:spPr>
        <p:txBody>
          <a:bodyPr/>
          <a:lstStyle/>
          <a:p>
            <a:endParaRPr lang="en-US"/>
          </a:p>
        </p:txBody>
      </p:sp>
      <p:sp>
        <p:nvSpPr>
          <p:cNvPr id="88" name="Text 86"/>
          <p:cNvSpPr/>
          <p:nvPr/>
        </p:nvSpPr>
        <p:spPr>
          <a:xfrm>
            <a:off x="8119872" y="263347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~4w</a:t>
            </a:r>
            <a:endParaRPr lang="en-US" sz="800" dirty="0"/>
          </a:p>
        </p:txBody>
      </p:sp>
      <p:sp>
        <p:nvSpPr>
          <p:cNvPr id="89" name="Text 87"/>
          <p:cNvSpPr/>
          <p:nvPr/>
        </p:nvSpPr>
        <p:spPr>
          <a:xfrm>
            <a:off x="502920" y="3364992"/>
            <a:ext cx="822960" cy="237744"/>
          </a:xfrm>
          <a:prstGeom prst="rect">
            <a:avLst/>
          </a:prstGeom>
          <a:noFill/>
          <a:ln/>
        </p:spPr>
        <p:txBody>
          <a:bodyPr wrap="square" lIns="0" tIns="0" rIns="0" bIns="0" rtlCol="0" anchor="ctr"/>
          <a:lstStyle/>
          <a:p>
            <a:pPr marL="0" indent="0">
              <a:buNone/>
            </a:pPr>
            <a:r>
              <a:rPr lang="en-US" sz="850" dirty="0">
                <a:solidFill>
                  <a:srgbClr val="999999"/>
                </a:solidFill>
                <a:latin typeface="Arial" pitchFamily="34" charset="0"/>
                <a:ea typeface="Arial" pitchFamily="34" charset="-122"/>
                <a:cs typeface="Arial" pitchFamily="34" charset="-120"/>
              </a:rPr>
              <a:t>Effort key:</a:t>
            </a:r>
            <a:endParaRPr lang="en-US" sz="850" dirty="0"/>
          </a:p>
        </p:txBody>
      </p:sp>
      <p:sp>
        <p:nvSpPr>
          <p:cNvPr id="90" name="Shape 88"/>
          <p:cNvSpPr/>
          <p:nvPr/>
        </p:nvSpPr>
        <p:spPr>
          <a:xfrm>
            <a:off x="1344168" y="3401568"/>
            <a:ext cx="548640" cy="164592"/>
          </a:xfrm>
          <a:prstGeom prst="rect">
            <a:avLst/>
          </a:prstGeom>
          <a:solidFill>
            <a:srgbClr val="2E7D32"/>
          </a:solidFill>
          <a:ln/>
        </p:spPr>
        <p:txBody>
          <a:bodyPr/>
          <a:lstStyle/>
          <a:p>
            <a:endParaRPr lang="en-US"/>
          </a:p>
        </p:txBody>
      </p:sp>
      <p:sp>
        <p:nvSpPr>
          <p:cNvPr id="91" name="Text 89"/>
          <p:cNvSpPr/>
          <p:nvPr/>
        </p:nvSpPr>
        <p:spPr>
          <a:xfrm>
            <a:off x="1938528"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~1-2 days</a:t>
            </a:r>
            <a:endParaRPr lang="en-US" sz="850" dirty="0"/>
          </a:p>
        </p:txBody>
      </p:sp>
      <p:sp>
        <p:nvSpPr>
          <p:cNvPr id="92" name="Shape 90"/>
          <p:cNvSpPr/>
          <p:nvPr/>
        </p:nvSpPr>
        <p:spPr>
          <a:xfrm>
            <a:off x="2880360" y="3401568"/>
            <a:ext cx="548640" cy="164592"/>
          </a:xfrm>
          <a:prstGeom prst="rect">
            <a:avLst/>
          </a:prstGeom>
          <a:solidFill>
            <a:srgbClr val="0097A7"/>
          </a:solidFill>
          <a:ln/>
        </p:spPr>
        <p:txBody>
          <a:bodyPr/>
          <a:lstStyle/>
          <a:p>
            <a:endParaRPr lang="en-US"/>
          </a:p>
        </p:txBody>
      </p:sp>
      <p:sp>
        <p:nvSpPr>
          <p:cNvPr id="93" name="Text 91"/>
          <p:cNvSpPr/>
          <p:nvPr/>
        </p:nvSpPr>
        <p:spPr>
          <a:xfrm>
            <a:off x="3474720"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~1 week</a:t>
            </a:r>
            <a:endParaRPr lang="en-US" sz="850" dirty="0"/>
          </a:p>
        </p:txBody>
      </p:sp>
      <p:sp>
        <p:nvSpPr>
          <p:cNvPr id="94" name="Shape 92"/>
          <p:cNvSpPr/>
          <p:nvPr/>
        </p:nvSpPr>
        <p:spPr>
          <a:xfrm>
            <a:off x="4416552" y="3401568"/>
            <a:ext cx="548640" cy="164592"/>
          </a:xfrm>
          <a:prstGeom prst="rect">
            <a:avLst/>
          </a:prstGeom>
          <a:solidFill>
            <a:srgbClr val="F9A825"/>
          </a:solidFill>
          <a:ln/>
        </p:spPr>
        <p:txBody>
          <a:bodyPr/>
          <a:lstStyle/>
          <a:p>
            <a:endParaRPr lang="en-US"/>
          </a:p>
        </p:txBody>
      </p:sp>
      <p:sp>
        <p:nvSpPr>
          <p:cNvPr id="95" name="Text 93"/>
          <p:cNvSpPr/>
          <p:nvPr/>
        </p:nvSpPr>
        <p:spPr>
          <a:xfrm>
            <a:off x="5010912"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~2 weeks</a:t>
            </a:r>
            <a:endParaRPr lang="en-US" sz="850" dirty="0"/>
          </a:p>
        </p:txBody>
      </p:sp>
      <p:sp>
        <p:nvSpPr>
          <p:cNvPr id="96" name="Shape 94"/>
          <p:cNvSpPr/>
          <p:nvPr/>
        </p:nvSpPr>
        <p:spPr>
          <a:xfrm>
            <a:off x="5952744" y="3401568"/>
            <a:ext cx="548640" cy="164592"/>
          </a:xfrm>
          <a:prstGeom prst="rect">
            <a:avLst/>
          </a:prstGeom>
          <a:solidFill>
            <a:srgbClr val="C62828"/>
          </a:solidFill>
          <a:ln/>
        </p:spPr>
        <p:txBody>
          <a:bodyPr/>
          <a:lstStyle/>
          <a:p>
            <a:endParaRPr lang="en-US"/>
          </a:p>
        </p:txBody>
      </p:sp>
      <p:sp>
        <p:nvSpPr>
          <p:cNvPr id="97" name="Text 95"/>
          <p:cNvSpPr/>
          <p:nvPr/>
        </p:nvSpPr>
        <p:spPr>
          <a:xfrm>
            <a:off x="6547104"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3-4 weeks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Memory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memory_v2.py adds episodes + importance scoring + TTL hints. Remaining: conflict resolution, cross-session synthesis, compliance enforcement.</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Memory Conflict Resolution</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Gap: </a:t>
            </a:r>
            <a:r>
              <a:rPr lang="en-US" sz="950" dirty="0">
                <a:solidFill>
                  <a:srgbClr val="333333"/>
                </a:solidFill>
                <a:latin typeface="Arial" pitchFamily="34" charset="0"/>
                <a:ea typeface="Arial" pitchFamily="34" charset="-122"/>
                <a:cs typeface="Arial" pitchFamily="34" charset="-120"/>
              </a:rPr>
              <a:t>Entity extractor writes new facts but never reconciles contradictions with existing entries.
</a:t>
            </a:r>
            <a:r>
              <a:rPr lang="en-US" sz="950" b="1" dirty="0">
                <a:solidFill>
                  <a:srgbClr val="1B2A4A"/>
                </a:solidFill>
                <a:latin typeface="Arial" pitchFamily="34" charset="0"/>
                <a:ea typeface="Arial" pitchFamily="34" charset="-122"/>
                <a:cs typeface="Arial" pitchFamily="34" charset="-120"/>
              </a:rPr>
              <a:t>Evidence: </a:t>
            </a:r>
            <a:r>
              <a:rPr lang="en-US" sz="950" dirty="0">
                <a:solidFill>
                  <a:srgbClr val="333333"/>
                </a:solidFill>
                <a:latin typeface="Courier New" pitchFamily="34" charset="0"/>
                <a:ea typeface="Courier New" pitchFamily="34" charset="-122"/>
                <a:cs typeface="Courier New" pitchFamily="34" charset="-120"/>
              </a:rPr>
              <a:t>memory/extractor.py writes; context_builder.py reads — no merge/conflict layer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Stale facts persist alongside corrected facts — agent gets conflicting context.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memory/conflict_resolver.py — timestamp-aware merge that supersedes old facts, emits MemoryConflictEvent for audit.</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Cross-Session Synthesis</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Gap: </a:t>
            </a:r>
            <a:r>
              <a:rPr lang="en-US" sz="950" dirty="0">
                <a:solidFill>
                  <a:srgbClr val="333333"/>
                </a:solidFill>
                <a:latin typeface="Arial" pitchFamily="34" charset="0"/>
                <a:ea typeface="Arial" pitchFamily="34" charset="-122"/>
                <a:cs typeface="Arial" pitchFamily="34" charset="-120"/>
              </a:rPr>
              <a:t>User &amp; conversation scopes are hard walls — no pattern synthesis across threads.
</a:t>
            </a:r>
            <a:r>
              <a:rPr lang="en-US" sz="950" b="1" dirty="0">
                <a:solidFill>
                  <a:srgbClr val="1B2A4A"/>
                </a:solidFill>
                <a:latin typeface="Arial" pitchFamily="34" charset="0"/>
                <a:ea typeface="Arial" pitchFamily="34" charset="-122"/>
                <a:cs typeface="Arial" pitchFamily="34" charset="-120"/>
              </a:rPr>
              <a:t>Evidence: </a:t>
            </a:r>
            <a:r>
              <a:rPr lang="en-US" sz="950" dirty="0">
                <a:solidFill>
                  <a:srgbClr val="333333"/>
                </a:solidFill>
                <a:latin typeface="Courier New" pitchFamily="34" charset="0"/>
                <a:ea typeface="Courier New" pitchFamily="34" charset="-122"/>
                <a:cs typeface="Courier New" pitchFamily="34" charset="-120"/>
              </a:rPr>
              <a:t>context_builder.py loads only current scope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Can't track user behavior, escalation history, or preferences over time.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cross_session_synthesizer.py runs periodic jobs that promote high-confidence user facts (role, domain, preferences) with confidence scores.</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Retention &amp; Compliance Decay</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Gap: </a:t>
            </a:r>
            <a:r>
              <a:rPr lang="en-US" sz="950" dirty="0">
                <a:solidFill>
                  <a:srgbClr val="333333"/>
                </a:solidFill>
                <a:latin typeface="Arial" pitchFamily="34" charset="0"/>
                <a:ea typeface="Arial" pitchFamily="34" charset="-122"/>
                <a:cs typeface="Arial" pitchFamily="34" charset="-120"/>
              </a:rPr>
              <a:t>Memory is write-once — no TTL, no PII redaction, no right-to-forget.
</a:t>
            </a:r>
            <a:r>
              <a:rPr lang="en-US" sz="950" b="1" dirty="0">
                <a:solidFill>
                  <a:srgbClr val="1B2A4A"/>
                </a:solidFill>
                <a:latin typeface="Arial" pitchFamily="34" charset="0"/>
                <a:ea typeface="Arial" pitchFamily="34" charset="-122"/>
                <a:cs typeface="Arial" pitchFamily="34" charset="-120"/>
              </a:rPr>
              <a:t>Evidence: </a:t>
            </a:r>
            <a:r>
              <a:rPr lang="en-US" sz="950" dirty="0">
                <a:solidFill>
                  <a:srgbClr val="333333"/>
                </a:solidFill>
                <a:latin typeface="Courier New" pitchFamily="34" charset="0"/>
                <a:ea typeface="Courier New" pitchFamily="34" charset="-122"/>
                <a:cs typeface="Courier New" pitchFamily="34" charset="-120"/>
              </a:rPr>
              <a:t>file_store.py has no deletion or masking logic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GDPR / CCPA violations; no audit trail of what was erased or when.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retention_policy.py with per-scope TTLs, Presidio-style PII classifier, and compliant deletion records written to audit log before erasure.</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Conflict resolution + cross-session synthesis + compliant retention turn a chatbot's memory into an auditable, self-correcting knowledge graph.</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memory/extractor.py (built), memory/file_store.py, memory/context_builder.py  —  no conflict merge, no TTL, no PII redaction</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 Routing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Feedback loop and scheduler are built. Remaining gaps: cost signals, agent self-reflection, and human-in-the-loop escalation.</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Cost-Aware Routing</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Gap: </a:t>
            </a:r>
            <a:r>
              <a:rPr lang="en-US" sz="950" dirty="0">
                <a:solidFill>
                  <a:srgbClr val="333333"/>
                </a:solidFill>
                <a:latin typeface="Arial" pitchFamily="34" charset="0"/>
                <a:ea typeface="Arial" pitchFamily="34" charset="-122"/>
                <a:cs typeface="Arial" pitchFamily="34" charset="-120"/>
              </a:rPr>
              <a:t>Router picks agents on intent + confidence only. No cost or latency awareness.
</a:t>
            </a:r>
            <a:r>
              <a:rPr lang="en-US" sz="950" b="1" dirty="0">
                <a:solidFill>
                  <a:srgbClr val="1B2A4A"/>
                </a:solidFill>
                <a:latin typeface="Arial" pitchFamily="34" charset="0"/>
                <a:ea typeface="Arial" pitchFamily="34" charset="-122"/>
                <a:cs typeface="Arial" pitchFamily="34" charset="-120"/>
              </a:rPr>
              <a:t>Evidence: </a:t>
            </a:r>
            <a:r>
              <a:rPr lang="en-US" sz="950" dirty="0">
                <a:solidFill>
                  <a:srgbClr val="333333"/>
                </a:solidFill>
                <a:latin typeface="Courier New" pitchFamily="34" charset="0"/>
                <a:ea typeface="Courier New" pitchFamily="34" charset="-122"/>
                <a:cs typeface="Courier New" pitchFamily="34" charset="-120"/>
              </a:rPr>
              <a:t>router/llm_router.py:110 — no cost metadata in RouterDecision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Cheap fast-path never escalates; expensive LLM fires on trivial intents.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router/cost_model.py with per-provider cost/latency profile; RouterDecision gains estimated_cost_cents, expected_latency_ms; SLA-aware thresholds.</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Agent Self-Reflection Loop</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Gap: </a:t>
            </a:r>
            <a:r>
              <a:rPr lang="en-US" sz="950" dirty="0">
                <a:solidFill>
                  <a:srgbClr val="333333"/>
                </a:solidFill>
                <a:latin typeface="Arial" pitchFamily="34" charset="0"/>
                <a:ea typeface="Arial" pitchFamily="34" charset="-122"/>
                <a:cs typeface="Arial" pitchFamily="34" charset="-120"/>
              </a:rPr>
              <a:t>Agents return first-draft answers. No self-critique before final output.
</a:t>
            </a:r>
            <a:r>
              <a:rPr lang="en-US" sz="950" b="1" dirty="0">
                <a:solidFill>
                  <a:srgbClr val="1B2A4A"/>
                </a:solidFill>
                <a:latin typeface="Arial" pitchFamily="34" charset="0"/>
                <a:ea typeface="Arial" pitchFamily="34" charset="-122"/>
                <a:cs typeface="Arial" pitchFamily="34" charset="-120"/>
              </a:rPr>
              <a:t>Evidence: </a:t>
            </a:r>
            <a:r>
              <a:rPr lang="en-US" sz="950" dirty="0">
                <a:solidFill>
                  <a:srgbClr val="333333"/>
                </a:solidFill>
                <a:latin typeface="Courier New" pitchFamily="34" charset="0"/>
                <a:ea typeface="Courier New" pitchFamily="34" charset="-122"/>
                <a:cs typeface="Courier New" pitchFamily="34" charset="-120"/>
              </a:rPr>
              <a:t>query_loop.py emits answer immediately; verifier only runs under coordinator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Hallucinations and incomplete answers reach users without a second pass.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runtime/self_reflect.py — post-generation critique step that checks factuality, completeness, and tone before returning. Configurable per agent mode.</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Human-in-the-Loop Escalation</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Gap: </a:t>
            </a:r>
            <a:r>
              <a:rPr lang="en-US" sz="950" dirty="0">
                <a:solidFill>
                  <a:srgbClr val="333333"/>
                </a:solidFill>
                <a:latin typeface="Arial" pitchFamily="34" charset="0"/>
                <a:ea typeface="Arial" pitchFamily="34" charset="-122"/>
                <a:cs typeface="Arial" pitchFamily="34" charset="-120"/>
              </a:rPr>
              <a:t>No confidence-based handoff to a human when agent is unsure.
</a:t>
            </a:r>
            <a:r>
              <a:rPr lang="en-US" sz="950" b="1" dirty="0">
                <a:solidFill>
                  <a:srgbClr val="1B2A4A"/>
                </a:solidFill>
                <a:latin typeface="Arial" pitchFamily="34" charset="0"/>
                <a:ea typeface="Arial" pitchFamily="34" charset="-122"/>
                <a:cs typeface="Arial" pitchFamily="34" charset="-120"/>
              </a:rPr>
              <a:t>Evidence: </a:t>
            </a:r>
            <a:r>
              <a:rPr lang="en-US" sz="950" dirty="0">
                <a:solidFill>
                  <a:srgbClr val="333333"/>
                </a:solidFill>
                <a:latin typeface="Courier New" pitchFamily="34" charset="0"/>
                <a:ea typeface="Courier New" pitchFamily="34" charset="-122"/>
                <a:cs typeface="Courier New" pitchFamily="34" charset="-120"/>
              </a:rPr>
              <a:t>No escalation_policy or human_handoff in router or kernel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High-stakes queries (legal, compliance) get best-effort AI answers with no safety net.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runtime/escalation.py — confidence threshold triggers human review queue; webhook notifies support; agent pauses until human approves or overrides.</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Cost routing controls burn rate. Self-reflection catches errors pre-delivery. Human escalation is a safety net for high-stakes domains.</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router/llm_router.py, runtime/query_loop.py, runtime/kernel.py  —  no cost model, no self-critique, no human handoff</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Tools &amp; Capability Model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Docker sandbox + agent-level policy matrix are good start, but tools lack versioning, fine-grained permissions, and code analysis.</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Tool Versioning &amp; Pinning</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Gap: </a:t>
            </a:r>
            <a:r>
              <a:rPr lang="en-US" sz="950" dirty="0">
                <a:solidFill>
                  <a:srgbClr val="333333"/>
                </a:solidFill>
                <a:latin typeface="Arial" pitchFamily="34" charset="0"/>
                <a:ea typeface="Arial" pitchFamily="34" charset="-122"/>
                <a:cs typeface="Arial" pitchFamily="34" charset="-120"/>
              </a:rPr>
              <a:t>ToolDefinition has no version field. Singleton references.
</a:t>
            </a:r>
            <a:r>
              <a:rPr lang="en-US" sz="950" b="1" dirty="0">
                <a:solidFill>
                  <a:srgbClr val="1B2A4A"/>
                </a:solidFill>
                <a:latin typeface="Arial" pitchFamily="34" charset="0"/>
                <a:ea typeface="Arial" pitchFamily="34" charset="-122"/>
                <a:cs typeface="Arial" pitchFamily="34" charset="-120"/>
              </a:rPr>
              <a:t>Evidence: </a:t>
            </a:r>
            <a:r>
              <a:rPr lang="en-US" sz="950" dirty="0">
                <a:solidFill>
                  <a:srgbClr val="333333"/>
                </a:solidFill>
                <a:latin typeface="Courier New" pitchFamily="34" charset="0"/>
                <a:ea typeface="Courier New" pitchFamily="34" charset="-122"/>
                <a:cs typeface="Courier New" pitchFamily="34" charset="-120"/>
              </a:rPr>
              <a:t>contracts/tools.py:8-43 — no version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Shipping a new tool version silently breaks in-flight workflows; no rollback lane.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Add version to ToolDefinition + changelog. version_resolver.py pins agent→tool at definition time; graceful degradation on missing versions.</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RBAC → ABAC Tool Permissions</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2E7D32"/>
                </a:solidFill>
                <a:latin typeface="Arial" pitchFamily="34" charset="0"/>
                <a:ea typeface="Arial" pitchFamily="34" charset="-122"/>
                <a:cs typeface="Arial" pitchFamily="34" charset="-120"/>
              </a:rPr>
              <a:t>Progress: </a:t>
            </a:r>
            <a:r>
              <a:rPr lang="en-US" sz="950" dirty="0">
                <a:solidFill>
                  <a:srgbClr val="333333"/>
                </a:solidFill>
                <a:latin typeface="Arial" pitchFamily="34" charset="0"/>
                <a:ea typeface="Arial" pitchFamily="34" charset="-122"/>
                <a:cs typeface="Arial" pitchFamily="34" charset="-120"/>
              </a:rPr>
              <a:t>authz/service.py (267 lines) adds RBAC with principal/role membership.
</a:t>
            </a:r>
            <a:r>
              <a:rPr lang="en-US" sz="950" b="1" dirty="0">
                <a:solidFill>
                  <a:srgbClr val="1B2A4A"/>
                </a:solidFill>
                <a:latin typeface="Arial" pitchFamily="34" charset="0"/>
                <a:ea typeface="Arial" pitchFamily="34" charset="-122"/>
                <a:cs typeface="Arial" pitchFamily="34" charset="-120"/>
              </a:rPr>
              <a:t>Evidence: </a:t>
            </a:r>
            <a:r>
              <a:rPr lang="en-US" sz="950" dirty="0">
                <a:solidFill>
                  <a:srgbClr val="333333"/>
                </a:solidFill>
                <a:latin typeface="Courier New" pitchFamily="34" charset="0"/>
                <a:ea typeface="Courier New" pitchFamily="34" charset="-122"/>
                <a:cs typeface="Courier New" pitchFamily="34" charset="-120"/>
              </a:rPr>
              <a:t>authz/service.py provides tenant-scoped resource access; tools/policy.py still agent-level only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Remaining gap: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RBAC exists but no ABAC — no dataset/column-level checks; analyst can load any data.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Extend authz with attribute-based policies: (tenant, user, dataset, columns, op) tuples. Add data-lineage tracking to analyst tools.</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AST-Level Sandbox Analyzer</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Gap: </a:t>
            </a:r>
            <a:r>
              <a:rPr lang="en-US" sz="950" dirty="0">
                <a:solidFill>
                  <a:srgbClr val="333333"/>
                </a:solidFill>
                <a:latin typeface="Arial" pitchFamily="34" charset="0"/>
                <a:ea typeface="Arial" pitchFamily="34" charset="-122"/>
                <a:cs typeface="Arial" pitchFamily="34" charset="-120"/>
              </a:rPr>
              <a:t>Docker sandbox is coarse. LLM-generated code runs without static analysis.
</a:t>
            </a:r>
            <a:r>
              <a:rPr lang="en-US" sz="950" b="1" dirty="0">
                <a:solidFill>
                  <a:srgbClr val="1B2A4A"/>
                </a:solidFill>
                <a:latin typeface="Arial" pitchFamily="34" charset="0"/>
                <a:ea typeface="Arial" pitchFamily="34" charset="-122"/>
                <a:cs typeface="Arial" pitchFamily="34" charset="-120"/>
              </a:rPr>
              <a:t>Evidence: </a:t>
            </a:r>
            <a:r>
              <a:rPr lang="en-US" sz="950" dirty="0">
                <a:solidFill>
                  <a:srgbClr val="333333"/>
                </a:solidFill>
                <a:latin typeface="Courier New" pitchFamily="34" charset="0"/>
                <a:ea typeface="Courier New" pitchFamily="34" charset="-122"/>
                <a:cs typeface="Courier New" pitchFamily="34" charset="-120"/>
              </a:rPr>
              <a:t>sandbox/docker_exec.py:48 runs code verbatim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Prompt injection → malicious pandas that exfiltrates workspace to external API.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sandbox/code_analyzer.py — AST allow-list for imports / syscalls, YARA rules for injection signatures, pre-execution rejection.</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Versioning unblocks safe rollouts. RBAC is the prerequisite to selling into regulated verticals. AST analysis closes the biggest LLM-code attack surface.</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contracts/tools.py, tools/policy.py, sandbox/docker_exec.py  —  no version pinning, agent-level policy, no code analysis</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Skills &amp; Prompt Governance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Dependency DAG and telemetry are now built. Remaining gaps: cryptographic signing, prompt versioning, and structured output validation.</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Cryptographic Skill Signing</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Gap: </a:t>
            </a:r>
            <a:r>
              <a:rPr lang="en-US" sz="950" dirty="0">
                <a:solidFill>
                  <a:srgbClr val="333333"/>
                </a:solidFill>
                <a:latin typeface="Arial" pitchFamily="34" charset="0"/>
                <a:ea typeface="Arial" pitchFamily="34" charset="-122"/>
                <a:cs typeface="Arial" pitchFamily="34" charset="-120"/>
              </a:rPr>
              <a:t>Skills stored as JSON with SHA1 checksums — no signature verification.
</a:t>
            </a:r>
            <a:r>
              <a:rPr lang="en-US" sz="950" b="1" dirty="0">
                <a:solidFill>
                  <a:srgbClr val="1B2A4A"/>
                </a:solidFill>
                <a:latin typeface="Arial" pitchFamily="34" charset="0"/>
                <a:ea typeface="Arial" pitchFamily="34" charset="-122"/>
                <a:cs typeface="Arial" pitchFamily="34" charset="-120"/>
              </a:rPr>
              <a:t>Evidence: </a:t>
            </a:r>
            <a:r>
              <a:rPr lang="en-US" sz="950" dirty="0">
                <a:solidFill>
                  <a:srgbClr val="333333"/>
                </a:solidFill>
                <a:latin typeface="Courier New" pitchFamily="34" charset="0"/>
                <a:ea typeface="Courier New" pitchFamily="34" charset="-122"/>
                <a:cs typeface="Courier New" pitchFamily="34" charset="-120"/>
              </a:rPr>
              <a:t>pack_loader.py:112 computes SHA1 only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Insider threat: DB compromise injects malicious skill, passes SHA1 check.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skills/signing.py — asymmetric keys (org private, agent public), require signature verify on load, chain-of-custody (author, approver, timestamp).</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Prompt Versioning &amp; Registry</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Gap: </a:t>
            </a:r>
            <a:r>
              <a:rPr lang="en-US" sz="950" dirty="0">
                <a:solidFill>
                  <a:srgbClr val="333333"/>
                </a:solidFill>
                <a:latin typeface="Arial" pitchFamily="34" charset="0"/>
                <a:ea typeface="Arial" pitchFamily="34" charset="-122"/>
                <a:cs typeface="Arial" pitchFamily="34" charset="-120"/>
              </a:rPr>
              <a:t>System prompts are inline strings in agent configs — no version history or rollback.
</a:t>
            </a:r>
            <a:r>
              <a:rPr lang="en-US" sz="950" b="1" dirty="0">
                <a:solidFill>
                  <a:srgbClr val="1B2A4A"/>
                </a:solidFill>
                <a:latin typeface="Arial" pitchFamily="34" charset="0"/>
                <a:ea typeface="Arial" pitchFamily="34" charset="-122"/>
                <a:cs typeface="Arial" pitchFamily="34" charset="-120"/>
              </a:rPr>
              <a:t>Evidence: </a:t>
            </a:r>
            <a:r>
              <a:rPr lang="en-US" sz="950" dirty="0">
                <a:solidFill>
                  <a:srgbClr val="333333"/>
                </a:solidFill>
                <a:latin typeface="Courier New" pitchFamily="34" charset="0"/>
                <a:ea typeface="Courier New" pitchFamily="34" charset="-122"/>
                <a:cs typeface="Courier New" pitchFamily="34" charset="-120"/>
              </a:rPr>
              <a:t>agent_config.py embeds prompts as plain strings; no prompt_id or version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Prompt change breaks agent behavior silently — no diff, no rollback, no A/B comparison.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prompts/registry.py — versioned prompt store with SHA-based IDs, diff view, canary rollout (10% traffic on new prompt), automatic rollback on quality drop.</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Structured Output Guardrails</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Gap: </a:t>
            </a:r>
            <a:r>
              <a:rPr lang="en-US" sz="950" dirty="0">
                <a:solidFill>
                  <a:srgbClr val="333333"/>
                </a:solidFill>
                <a:latin typeface="Arial" pitchFamily="34" charset="0"/>
                <a:ea typeface="Arial" pitchFamily="34" charset="-122"/>
                <a:cs typeface="Arial" pitchFamily="34" charset="-120"/>
              </a:rPr>
              <a:t>Agent outputs are free-form text — no schema validation or content filtering.
</a:t>
            </a:r>
            <a:r>
              <a:rPr lang="en-US" sz="950" b="1" dirty="0">
                <a:solidFill>
                  <a:srgbClr val="1B2A4A"/>
                </a:solidFill>
                <a:latin typeface="Arial" pitchFamily="34" charset="0"/>
                <a:ea typeface="Arial" pitchFamily="34" charset="-122"/>
                <a:cs typeface="Arial" pitchFamily="34" charset="-120"/>
              </a:rPr>
              <a:t>Evidence: </a:t>
            </a:r>
            <a:r>
              <a:rPr lang="en-US" sz="950" dirty="0">
                <a:solidFill>
                  <a:srgbClr val="333333"/>
                </a:solidFill>
                <a:latin typeface="Courier New" pitchFamily="34" charset="0"/>
                <a:ea typeface="Courier New" pitchFamily="34" charset="-122"/>
                <a:cs typeface="Courier New" pitchFamily="34" charset="-120"/>
              </a:rPr>
              <a:t>query_loop.py returns raw LLM text; no output_schema or guardrail check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Agents can return malformed JSON, leak PII, or produce off-brand content.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runtime/guardrails.py — Pydantic output schemas per agent mode, content policy filter (PII, toxicity, brand compliance), retry on validation failure.</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Signing secures the supply chain. Prompt versioning enables safe iteration. Output guardrails prevent LLM failures from reaching users.</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skills/pack_loader.py, agent_config.py, runtime/query_loop.py  —  no signatures, no prompt versioning, no output validation</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Observability, Governance &amp; Compliance — 5 Gaps</a:t>
            </a:r>
            <a:endParaRPr lang="en-US" sz="2600" dirty="0"/>
          </a:p>
        </p:txBody>
      </p:sp>
      <p:sp>
        <p:nvSpPr>
          <p:cNvPr id="3" name="Text 1"/>
          <p:cNvSpPr/>
          <p:nvPr/>
        </p:nvSpPr>
        <p:spPr>
          <a:xfrm>
            <a:off x="502920" y="804672"/>
            <a:ext cx="8138160" cy="36576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LangFuse traces + spans are a start, but SOC2 / GDPR / FedRAMP require cost attribution, immutable audit, PII controls, model governance, and red-team infra.</a:t>
            </a:r>
            <a:endParaRPr lang="en-US" sz="1050" dirty="0"/>
          </a:p>
        </p:txBody>
      </p:sp>
      <p:sp>
        <p:nvSpPr>
          <p:cNvPr id="4" name="Shape 2"/>
          <p:cNvSpPr/>
          <p:nvPr/>
        </p:nvSpPr>
        <p:spPr>
          <a:xfrm>
            <a:off x="502920" y="1243584"/>
            <a:ext cx="1920240" cy="256032"/>
          </a:xfrm>
          <a:prstGeom prst="rect">
            <a:avLst/>
          </a:prstGeom>
          <a:solidFill>
            <a:srgbClr val="1B2A4A"/>
          </a:solidFill>
          <a:ln w="3810">
            <a:solidFill>
              <a:srgbClr val="F0F0F0"/>
            </a:solidFill>
            <a:prstDash val="solid"/>
          </a:ln>
        </p:spPr>
        <p:txBody>
          <a:bodyPr/>
          <a:lstStyle/>
          <a:p>
            <a:endParaRPr lang="en-US"/>
          </a:p>
        </p:txBody>
      </p:sp>
      <p:sp>
        <p:nvSpPr>
          <p:cNvPr id="5" name="Text 3"/>
          <p:cNvSpPr/>
          <p:nvPr/>
        </p:nvSpPr>
        <p:spPr>
          <a:xfrm>
            <a:off x="557784" y="1243584"/>
            <a:ext cx="181051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Gap</a:t>
            </a:r>
            <a:endParaRPr lang="en-US" sz="900" dirty="0"/>
          </a:p>
        </p:txBody>
      </p:sp>
      <p:sp>
        <p:nvSpPr>
          <p:cNvPr id="6" name="Shape 4"/>
          <p:cNvSpPr/>
          <p:nvPr/>
        </p:nvSpPr>
        <p:spPr>
          <a:xfrm>
            <a:off x="2423160" y="1243584"/>
            <a:ext cx="2743200" cy="256032"/>
          </a:xfrm>
          <a:prstGeom prst="rect">
            <a:avLst/>
          </a:prstGeom>
          <a:solidFill>
            <a:srgbClr val="1B2A4A"/>
          </a:solidFill>
          <a:ln w="3810">
            <a:solidFill>
              <a:srgbClr val="F0F0F0"/>
            </a:solidFill>
            <a:prstDash val="solid"/>
          </a:ln>
        </p:spPr>
        <p:txBody>
          <a:bodyPr/>
          <a:lstStyle/>
          <a:p>
            <a:endParaRPr lang="en-US"/>
          </a:p>
        </p:txBody>
      </p:sp>
      <p:sp>
        <p:nvSpPr>
          <p:cNvPr id="7" name="Text 5"/>
          <p:cNvSpPr/>
          <p:nvPr/>
        </p:nvSpPr>
        <p:spPr>
          <a:xfrm>
            <a:off x="2478024" y="1243584"/>
            <a:ext cx="263347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What's Missing &amp; Why</a:t>
            </a:r>
            <a:endParaRPr lang="en-US" sz="900" dirty="0"/>
          </a:p>
        </p:txBody>
      </p:sp>
      <p:sp>
        <p:nvSpPr>
          <p:cNvPr id="8" name="Shape 6"/>
          <p:cNvSpPr/>
          <p:nvPr/>
        </p:nvSpPr>
        <p:spPr>
          <a:xfrm>
            <a:off x="5166360" y="1243584"/>
            <a:ext cx="2606040" cy="256032"/>
          </a:xfrm>
          <a:prstGeom prst="rect">
            <a:avLst/>
          </a:prstGeom>
          <a:solidFill>
            <a:srgbClr val="1B2A4A"/>
          </a:solidFill>
          <a:ln w="3810">
            <a:solidFill>
              <a:srgbClr val="F0F0F0"/>
            </a:solidFill>
            <a:prstDash val="solid"/>
          </a:ln>
        </p:spPr>
        <p:txBody>
          <a:bodyPr/>
          <a:lstStyle/>
          <a:p>
            <a:endParaRPr lang="en-US"/>
          </a:p>
        </p:txBody>
      </p:sp>
      <p:sp>
        <p:nvSpPr>
          <p:cNvPr id="9" name="Text 7"/>
          <p:cNvSpPr/>
          <p:nvPr/>
        </p:nvSpPr>
        <p:spPr>
          <a:xfrm>
            <a:off x="5221224" y="1243584"/>
            <a:ext cx="249631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Build</a:t>
            </a:r>
            <a:endParaRPr lang="en-US" sz="900" dirty="0"/>
          </a:p>
        </p:txBody>
      </p:sp>
      <p:sp>
        <p:nvSpPr>
          <p:cNvPr id="10" name="Shape 8"/>
          <p:cNvSpPr/>
          <p:nvPr/>
        </p:nvSpPr>
        <p:spPr>
          <a:xfrm>
            <a:off x="7772400" y="1243584"/>
            <a:ext cx="1143000" cy="256032"/>
          </a:xfrm>
          <a:prstGeom prst="rect">
            <a:avLst/>
          </a:prstGeom>
          <a:solidFill>
            <a:srgbClr val="1B2A4A"/>
          </a:solidFill>
          <a:ln w="3810">
            <a:solidFill>
              <a:srgbClr val="F0F0F0"/>
            </a:solidFill>
            <a:prstDash val="solid"/>
          </a:ln>
        </p:spPr>
        <p:txBody>
          <a:bodyPr/>
          <a:lstStyle/>
          <a:p>
            <a:endParaRPr lang="en-US"/>
          </a:p>
        </p:txBody>
      </p:sp>
      <p:sp>
        <p:nvSpPr>
          <p:cNvPr id="11" name="Text 9"/>
          <p:cNvSpPr/>
          <p:nvPr/>
        </p:nvSpPr>
        <p:spPr>
          <a:xfrm>
            <a:off x="7827264" y="1243584"/>
            <a:ext cx="103327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Severity</a:t>
            </a:r>
            <a:endParaRPr lang="en-US" sz="900" dirty="0"/>
          </a:p>
        </p:txBody>
      </p:sp>
      <p:sp>
        <p:nvSpPr>
          <p:cNvPr id="12" name="Shape 10"/>
          <p:cNvSpPr/>
          <p:nvPr/>
        </p:nvSpPr>
        <p:spPr>
          <a:xfrm>
            <a:off x="502920" y="1499616"/>
            <a:ext cx="1920240" cy="512064"/>
          </a:xfrm>
          <a:prstGeom prst="rect">
            <a:avLst/>
          </a:prstGeom>
          <a:solidFill>
            <a:srgbClr val="FFFFFF"/>
          </a:solidFill>
          <a:ln w="3810">
            <a:solidFill>
              <a:srgbClr val="F0F0F0"/>
            </a:solidFill>
            <a:prstDash val="solid"/>
          </a:ln>
        </p:spPr>
        <p:txBody>
          <a:bodyPr/>
          <a:lstStyle/>
          <a:p>
            <a:endParaRPr lang="en-US"/>
          </a:p>
        </p:txBody>
      </p:sp>
      <p:sp>
        <p:nvSpPr>
          <p:cNvPr id="13" name="Text 11"/>
          <p:cNvSpPr/>
          <p:nvPr/>
        </p:nvSpPr>
        <p:spPr>
          <a:xfrm>
            <a:off x="557784" y="1499616"/>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Cost Attribution</a:t>
            </a:r>
            <a:endParaRPr lang="en-US" sz="950" dirty="0"/>
          </a:p>
        </p:txBody>
      </p:sp>
      <p:sp>
        <p:nvSpPr>
          <p:cNvPr id="14" name="Shape 12"/>
          <p:cNvSpPr/>
          <p:nvPr/>
        </p:nvSpPr>
        <p:spPr>
          <a:xfrm>
            <a:off x="2423160" y="1499616"/>
            <a:ext cx="2743200" cy="512064"/>
          </a:xfrm>
          <a:prstGeom prst="rect">
            <a:avLst/>
          </a:prstGeom>
          <a:solidFill>
            <a:srgbClr val="FFFFFF"/>
          </a:solidFill>
          <a:ln w="3810">
            <a:solidFill>
              <a:srgbClr val="F0F0F0"/>
            </a:solidFill>
            <a:prstDash val="solid"/>
          </a:ln>
        </p:spPr>
        <p:txBody>
          <a:bodyPr/>
          <a:lstStyle/>
          <a:p>
            <a:endParaRPr lang="en-US"/>
          </a:p>
        </p:txBody>
      </p:sp>
      <p:sp>
        <p:nvSpPr>
          <p:cNvPr id="15" name="Text 13"/>
          <p:cNvSpPr/>
          <p:nvPr/>
        </p:nvSpPr>
        <p:spPr>
          <a:xfrm>
            <a:off x="2478024" y="1499616"/>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Traces log elapsed time but not tokens or dollars. Cannot answer 'cost per request / tenant / model.'</a:t>
            </a:r>
            <a:endParaRPr lang="en-US" sz="850" dirty="0"/>
          </a:p>
        </p:txBody>
      </p:sp>
      <p:sp>
        <p:nvSpPr>
          <p:cNvPr id="16" name="Shape 14"/>
          <p:cNvSpPr/>
          <p:nvPr/>
        </p:nvSpPr>
        <p:spPr>
          <a:xfrm>
            <a:off x="5166360" y="1499616"/>
            <a:ext cx="2606040" cy="512064"/>
          </a:xfrm>
          <a:prstGeom prst="rect">
            <a:avLst/>
          </a:prstGeom>
          <a:solidFill>
            <a:srgbClr val="FFFFFF"/>
          </a:solidFill>
          <a:ln w="3810">
            <a:solidFill>
              <a:srgbClr val="F0F0F0"/>
            </a:solidFill>
            <a:prstDash val="solid"/>
          </a:ln>
        </p:spPr>
        <p:txBody>
          <a:bodyPr/>
          <a:lstStyle/>
          <a:p>
            <a:endParaRPr lang="en-US"/>
          </a:p>
        </p:txBody>
      </p:sp>
      <p:sp>
        <p:nvSpPr>
          <p:cNvPr id="17" name="Text 15"/>
          <p:cNvSpPr/>
          <p:nvPr/>
        </p:nvSpPr>
        <p:spPr>
          <a:xfrm>
            <a:off x="5221224" y="1499616"/>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observability/cost_tracker.py hooks LLM callbacks, emits CostEvent(tenant, user, model, tokens, cents).</a:t>
            </a:r>
            <a:endParaRPr lang="en-US" sz="850" dirty="0"/>
          </a:p>
        </p:txBody>
      </p:sp>
      <p:sp>
        <p:nvSpPr>
          <p:cNvPr id="18" name="Shape 16"/>
          <p:cNvSpPr/>
          <p:nvPr/>
        </p:nvSpPr>
        <p:spPr>
          <a:xfrm>
            <a:off x="7772400" y="1499616"/>
            <a:ext cx="1143000" cy="512064"/>
          </a:xfrm>
          <a:prstGeom prst="rect">
            <a:avLst/>
          </a:prstGeom>
          <a:solidFill>
            <a:srgbClr val="C62828"/>
          </a:solidFill>
          <a:ln/>
        </p:spPr>
        <p:txBody>
          <a:bodyPr/>
          <a:lstStyle/>
          <a:p>
            <a:endParaRPr lang="en-US"/>
          </a:p>
        </p:txBody>
      </p:sp>
      <p:sp>
        <p:nvSpPr>
          <p:cNvPr id="19" name="Text 17"/>
          <p:cNvSpPr/>
          <p:nvPr/>
        </p:nvSpPr>
        <p:spPr>
          <a:xfrm>
            <a:off x="7772400" y="1499616"/>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Critical</a:t>
            </a:r>
            <a:endParaRPr lang="en-US" sz="1000" dirty="0"/>
          </a:p>
        </p:txBody>
      </p:sp>
      <p:sp>
        <p:nvSpPr>
          <p:cNvPr id="20" name="Shape 18"/>
          <p:cNvSpPr/>
          <p:nvPr/>
        </p:nvSpPr>
        <p:spPr>
          <a:xfrm>
            <a:off x="502920" y="2011680"/>
            <a:ext cx="1920240" cy="512064"/>
          </a:xfrm>
          <a:prstGeom prst="rect">
            <a:avLst/>
          </a:prstGeom>
          <a:solidFill>
            <a:srgbClr val="F5F5F5"/>
          </a:solidFill>
          <a:ln w="3810">
            <a:solidFill>
              <a:srgbClr val="F0F0F0"/>
            </a:solidFill>
            <a:prstDash val="solid"/>
          </a:ln>
        </p:spPr>
        <p:txBody>
          <a:bodyPr/>
          <a:lstStyle/>
          <a:p>
            <a:endParaRPr lang="en-US"/>
          </a:p>
        </p:txBody>
      </p:sp>
      <p:sp>
        <p:nvSpPr>
          <p:cNvPr id="21" name="Text 19"/>
          <p:cNvSpPr/>
          <p:nvPr/>
        </p:nvSpPr>
        <p:spPr>
          <a:xfrm>
            <a:off x="557784" y="2011680"/>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Immutable Audit Log</a:t>
            </a:r>
            <a:endParaRPr lang="en-US" sz="950" dirty="0"/>
          </a:p>
        </p:txBody>
      </p:sp>
      <p:sp>
        <p:nvSpPr>
          <p:cNvPr id="22" name="Shape 20"/>
          <p:cNvSpPr/>
          <p:nvPr/>
        </p:nvSpPr>
        <p:spPr>
          <a:xfrm>
            <a:off x="2423160" y="2011680"/>
            <a:ext cx="2743200" cy="512064"/>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2478024" y="2011680"/>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LangFuse is external. No local append-only log of who did what to which resource with what outcome.</a:t>
            </a:r>
            <a:endParaRPr lang="en-US" sz="850" dirty="0"/>
          </a:p>
        </p:txBody>
      </p:sp>
      <p:sp>
        <p:nvSpPr>
          <p:cNvPr id="24" name="Shape 22"/>
          <p:cNvSpPr/>
          <p:nvPr/>
        </p:nvSpPr>
        <p:spPr>
          <a:xfrm>
            <a:off x="5166360" y="2011680"/>
            <a:ext cx="2606040" cy="512064"/>
          </a:xfrm>
          <a:prstGeom prst="rect">
            <a:avLst/>
          </a:prstGeom>
          <a:solidFill>
            <a:srgbClr val="F5F5F5"/>
          </a:solidFill>
          <a:ln w="3810">
            <a:solidFill>
              <a:srgbClr val="F0F0F0"/>
            </a:solidFill>
            <a:prstDash val="solid"/>
          </a:ln>
        </p:spPr>
        <p:txBody>
          <a:bodyPr/>
          <a:lstStyle/>
          <a:p>
            <a:endParaRPr lang="en-US"/>
          </a:p>
        </p:txBody>
      </p:sp>
      <p:sp>
        <p:nvSpPr>
          <p:cNvPr id="25" name="Text 23"/>
          <p:cNvSpPr/>
          <p:nvPr/>
        </p:nvSpPr>
        <p:spPr>
          <a:xfrm>
            <a:off x="5221224" y="2011680"/>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audit_log.py — append-only Postgres table, write-once, S3 cold archive for multi-year retention.</a:t>
            </a:r>
            <a:endParaRPr lang="en-US" sz="850" dirty="0"/>
          </a:p>
        </p:txBody>
      </p:sp>
      <p:sp>
        <p:nvSpPr>
          <p:cNvPr id="26" name="Shape 24"/>
          <p:cNvSpPr/>
          <p:nvPr/>
        </p:nvSpPr>
        <p:spPr>
          <a:xfrm>
            <a:off x="7772400" y="2011680"/>
            <a:ext cx="1143000" cy="512064"/>
          </a:xfrm>
          <a:prstGeom prst="rect">
            <a:avLst/>
          </a:prstGeom>
          <a:solidFill>
            <a:srgbClr val="C62828"/>
          </a:solidFill>
          <a:ln/>
        </p:spPr>
        <p:txBody>
          <a:bodyPr/>
          <a:lstStyle/>
          <a:p>
            <a:endParaRPr lang="en-US"/>
          </a:p>
        </p:txBody>
      </p:sp>
      <p:sp>
        <p:nvSpPr>
          <p:cNvPr id="27" name="Text 25"/>
          <p:cNvSpPr/>
          <p:nvPr/>
        </p:nvSpPr>
        <p:spPr>
          <a:xfrm>
            <a:off x="7772400" y="2011680"/>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Critical</a:t>
            </a:r>
            <a:endParaRPr lang="en-US" sz="1000" dirty="0"/>
          </a:p>
        </p:txBody>
      </p:sp>
      <p:sp>
        <p:nvSpPr>
          <p:cNvPr id="28" name="Shape 26"/>
          <p:cNvSpPr/>
          <p:nvPr/>
        </p:nvSpPr>
        <p:spPr>
          <a:xfrm>
            <a:off x="502920" y="2523744"/>
            <a:ext cx="1920240" cy="512064"/>
          </a:xfrm>
          <a:prstGeom prst="rect">
            <a:avLst/>
          </a:prstGeom>
          <a:solidFill>
            <a:srgbClr val="FFFFFF"/>
          </a:solidFill>
          <a:ln w="3810">
            <a:solidFill>
              <a:srgbClr val="F0F0F0"/>
            </a:solidFill>
            <a:prstDash val="solid"/>
          </a:ln>
        </p:spPr>
        <p:txBody>
          <a:bodyPr/>
          <a:lstStyle/>
          <a:p>
            <a:endParaRPr lang="en-US"/>
          </a:p>
        </p:txBody>
      </p:sp>
      <p:sp>
        <p:nvSpPr>
          <p:cNvPr id="29" name="Text 27"/>
          <p:cNvSpPr/>
          <p:nvPr/>
        </p:nvSpPr>
        <p:spPr>
          <a:xfrm>
            <a:off x="557784" y="2523744"/>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PII Classifier &amp; Redact</a:t>
            </a:r>
            <a:endParaRPr lang="en-US" sz="950" dirty="0"/>
          </a:p>
        </p:txBody>
      </p:sp>
      <p:sp>
        <p:nvSpPr>
          <p:cNvPr id="30" name="Shape 28"/>
          <p:cNvSpPr/>
          <p:nvPr/>
        </p:nvSpPr>
        <p:spPr>
          <a:xfrm>
            <a:off x="2423160" y="2523744"/>
            <a:ext cx="2743200" cy="512064"/>
          </a:xfrm>
          <a:prstGeom prst="rect">
            <a:avLst/>
          </a:prstGeom>
          <a:solidFill>
            <a:srgbClr val="FFFFFF"/>
          </a:solidFill>
          <a:ln w="3810">
            <a:solidFill>
              <a:srgbClr val="F0F0F0"/>
            </a:solidFill>
            <a:prstDash val="solid"/>
          </a:ln>
        </p:spPr>
        <p:txBody>
          <a:bodyPr/>
          <a:lstStyle/>
          <a:p>
            <a:endParaRPr lang="en-US"/>
          </a:p>
        </p:txBody>
      </p:sp>
      <p:sp>
        <p:nvSpPr>
          <p:cNvPr id="31" name="Text 29"/>
          <p:cNvSpPr/>
          <p:nvPr/>
        </p:nvSpPr>
        <p:spPr>
          <a:xfrm>
            <a:off x="2478024" y="2523744"/>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Raw user text, files, and memory stored without PII scan. SSNs / PHI can leak into logs &amp; traces.</a:t>
            </a:r>
            <a:endParaRPr lang="en-US" sz="850" dirty="0"/>
          </a:p>
        </p:txBody>
      </p:sp>
      <p:sp>
        <p:nvSpPr>
          <p:cNvPr id="32" name="Shape 30"/>
          <p:cNvSpPr/>
          <p:nvPr/>
        </p:nvSpPr>
        <p:spPr>
          <a:xfrm>
            <a:off x="5166360" y="2523744"/>
            <a:ext cx="2606040" cy="512064"/>
          </a:xfrm>
          <a:prstGeom prst="rect">
            <a:avLst/>
          </a:prstGeom>
          <a:solidFill>
            <a:srgbClr val="FFFFFF"/>
          </a:solidFill>
          <a:ln w="3810">
            <a:solidFill>
              <a:srgbClr val="F0F0F0"/>
            </a:solidFill>
            <a:prstDash val="solid"/>
          </a:ln>
        </p:spPr>
        <p:txBody>
          <a:bodyPr/>
          <a:lstStyle/>
          <a:p>
            <a:endParaRPr lang="en-US"/>
          </a:p>
        </p:txBody>
      </p:sp>
      <p:sp>
        <p:nvSpPr>
          <p:cNvPr id="33" name="Text 31"/>
          <p:cNvSpPr/>
          <p:nvPr/>
        </p:nvSpPr>
        <p:spPr>
          <a:xfrm>
            <a:off x="5221224" y="2523744"/>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Integrate Presidio (regex + NER); redact before write; require explicit consent for debug retention.</a:t>
            </a:r>
            <a:endParaRPr lang="en-US" sz="850" dirty="0"/>
          </a:p>
        </p:txBody>
      </p:sp>
      <p:sp>
        <p:nvSpPr>
          <p:cNvPr id="34" name="Shape 32"/>
          <p:cNvSpPr/>
          <p:nvPr/>
        </p:nvSpPr>
        <p:spPr>
          <a:xfrm>
            <a:off x="7772400" y="2523744"/>
            <a:ext cx="1143000" cy="512064"/>
          </a:xfrm>
          <a:prstGeom prst="rect">
            <a:avLst/>
          </a:prstGeom>
          <a:solidFill>
            <a:srgbClr val="C62828"/>
          </a:solidFill>
          <a:ln/>
        </p:spPr>
        <p:txBody>
          <a:bodyPr/>
          <a:lstStyle/>
          <a:p>
            <a:endParaRPr lang="en-US"/>
          </a:p>
        </p:txBody>
      </p:sp>
      <p:sp>
        <p:nvSpPr>
          <p:cNvPr id="35" name="Text 33"/>
          <p:cNvSpPr/>
          <p:nvPr/>
        </p:nvSpPr>
        <p:spPr>
          <a:xfrm>
            <a:off x="7772400" y="2523744"/>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Critical</a:t>
            </a:r>
            <a:endParaRPr lang="en-US" sz="1000" dirty="0"/>
          </a:p>
        </p:txBody>
      </p:sp>
      <p:sp>
        <p:nvSpPr>
          <p:cNvPr id="36" name="Shape 34"/>
          <p:cNvSpPr/>
          <p:nvPr/>
        </p:nvSpPr>
        <p:spPr>
          <a:xfrm>
            <a:off x="502920" y="3035808"/>
            <a:ext cx="1920240" cy="512064"/>
          </a:xfrm>
          <a:prstGeom prst="rect">
            <a:avLst/>
          </a:prstGeom>
          <a:solidFill>
            <a:srgbClr val="F5F5F5"/>
          </a:solidFill>
          <a:ln w="3810">
            <a:solidFill>
              <a:srgbClr val="F0F0F0"/>
            </a:solidFill>
            <a:prstDash val="solid"/>
          </a:ln>
        </p:spPr>
        <p:txBody>
          <a:bodyPr/>
          <a:lstStyle/>
          <a:p>
            <a:endParaRPr lang="en-US"/>
          </a:p>
        </p:txBody>
      </p:sp>
      <p:sp>
        <p:nvSpPr>
          <p:cNvPr id="37" name="Text 35"/>
          <p:cNvSpPr/>
          <p:nvPr/>
        </p:nvSpPr>
        <p:spPr>
          <a:xfrm>
            <a:off x="557784" y="3035808"/>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Model Allowlist</a:t>
            </a:r>
            <a:endParaRPr lang="en-US" sz="950" dirty="0"/>
          </a:p>
        </p:txBody>
      </p:sp>
      <p:sp>
        <p:nvSpPr>
          <p:cNvPr id="38" name="Shape 36"/>
          <p:cNvSpPr/>
          <p:nvPr/>
        </p:nvSpPr>
        <p:spPr>
          <a:xfrm>
            <a:off x="2423160" y="3035808"/>
            <a:ext cx="2743200" cy="512064"/>
          </a:xfrm>
          <a:prstGeom prst="rect">
            <a:avLst/>
          </a:prstGeom>
          <a:solidFill>
            <a:srgbClr val="F5F5F5"/>
          </a:solidFill>
          <a:ln w="3810">
            <a:solidFill>
              <a:srgbClr val="F0F0F0"/>
            </a:solidFill>
            <a:prstDash val="solid"/>
          </a:ln>
        </p:spPr>
        <p:txBody>
          <a:bodyPr/>
          <a:lstStyle/>
          <a:p>
            <a:endParaRPr lang="en-US"/>
          </a:p>
        </p:txBody>
      </p:sp>
      <p:sp>
        <p:nvSpPr>
          <p:cNvPr id="39" name="Text 37"/>
          <p:cNvSpPr/>
          <p:nvPr/>
        </p:nvSpPr>
        <p:spPr>
          <a:xfrm>
            <a:off x="2478024" y="3035808"/>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LLM_PROVIDER is env-var; any operator can swap to untested model with no approval workflow.</a:t>
            </a:r>
            <a:endParaRPr lang="en-US" sz="850" dirty="0"/>
          </a:p>
        </p:txBody>
      </p:sp>
      <p:sp>
        <p:nvSpPr>
          <p:cNvPr id="40" name="Shape 38"/>
          <p:cNvSpPr/>
          <p:nvPr/>
        </p:nvSpPr>
        <p:spPr>
          <a:xfrm>
            <a:off x="5166360" y="3035808"/>
            <a:ext cx="2606040" cy="512064"/>
          </a:xfrm>
          <a:prstGeom prst="rect">
            <a:avLst/>
          </a:prstGeom>
          <a:solidFill>
            <a:srgbClr val="F5F5F5"/>
          </a:solidFill>
          <a:ln w="3810">
            <a:solidFill>
              <a:srgbClr val="F0F0F0"/>
            </a:solidFill>
            <a:prstDash val="solid"/>
          </a:ln>
        </p:spPr>
        <p:txBody>
          <a:bodyPr/>
          <a:lstStyle/>
          <a:p>
            <a:endParaRPr lang="en-US"/>
          </a:p>
        </p:txBody>
      </p:sp>
      <p:sp>
        <p:nvSpPr>
          <p:cNvPr id="41" name="Text 39"/>
          <p:cNvSpPr/>
          <p:nvPr/>
        </p:nvSpPr>
        <p:spPr>
          <a:xfrm>
            <a:off x="5221224" y="3035808"/>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governance/model_policy.py — approved registry with risk_level, max_cost, min_accuracy; enforced at init.</a:t>
            </a:r>
            <a:endParaRPr lang="en-US" sz="850" dirty="0"/>
          </a:p>
        </p:txBody>
      </p:sp>
      <p:sp>
        <p:nvSpPr>
          <p:cNvPr id="42" name="Shape 40"/>
          <p:cNvSpPr/>
          <p:nvPr/>
        </p:nvSpPr>
        <p:spPr>
          <a:xfrm>
            <a:off x="7772400" y="3035808"/>
            <a:ext cx="1143000" cy="512064"/>
          </a:xfrm>
          <a:prstGeom prst="rect">
            <a:avLst/>
          </a:prstGeom>
          <a:solidFill>
            <a:srgbClr val="F9A825"/>
          </a:solidFill>
          <a:ln/>
        </p:spPr>
        <p:txBody>
          <a:bodyPr/>
          <a:lstStyle/>
          <a:p>
            <a:endParaRPr lang="en-US"/>
          </a:p>
        </p:txBody>
      </p:sp>
      <p:sp>
        <p:nvSpPr>
          <p:cNvPr id="43" name="Text 41"/>
          <p:cNvSpPr/>
          <p:nvPr/>
        </p:nvSpPr>
        <p:spPr>
          <a:xfrm>
            <a:off x="7772400" y="3035808"/>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High</a:t>
            </a:r>
            <a:endParaRPr lang="en-US" sz="1000" dirty="0"/>
          </a:p>
        </p:txBody>
      </p:sp>
      <p:sp>
        <p:nvSpPr>
          <p:cNvPr id="44" name="Shape 42"/>
          <p:cNvSpPr/>
          <p:nvPr/>
        </p:nvSpPr>
        <p:spPr>
          <a:xfrm>
            <a:off x="502920" y="3547872"/>
            <a:ext cx="1920240" cy="512064"/>
          </a:xfrm>
          <a:prstGeom prst="rect">
            <a:avLst/>
          </a:prstGeom>
          <a:solidFill>
            <a:srgbClr val="FFFFFF"/>
          </a:solidFill>
          <a:ln w="3810">
            <a:solidFill>
              <a:srgbClr val="F0F0F0"/>
            </a:solidFill>
            <a:prstDash val="solid"/>
          </a:ln>
        </p:spPr>
        <p:txBody>
          <a:bodyPr/>
          <a:lstStyle/>
          <a:p>
            <a:endParaRPr lang="en-US"/>
          </a:p>
        </p:txBody>
      </p:sp>
      <p:sp>
        <p:nvSpPr>
          <p:cNvPr id="45" name="Text 43"/>
          <p:cNvSpPr/>
          <p:nvPr/>
        </p:nvSpPr>
        <p:spPr>
          <a:xfrm>
            <a:off x="557784" y="3547872"/>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Red-Team Eval Infra</a:t>
            </a:r>
            <a:endParaRPr lang="en-US" sz="950" dirty="0"/>
          </a:p>
        </p:txBody>
      </p:sp>
      <p:sp>
        <p:nvSpPr>
          <p:cNvPr id="46" name="Shape 44"/>
          <p:cNvSpPr/>
          <p:nvPr/>
        </p:nvSpPr>
        <p:spPr>
          <a:xfrm>
            <a:off x="2423160" y="3547872"/>
            <a:ext cx="2743200" cy="512064"/>
          </a:xfrm>
          <a:prstGeom prst="rect">
            <a:avLst/>
          </a:prstGeom>
          <a:solidFill>
            <a:srgbClr val="FFFFFF"/>
          </a:solidFill>
          <a:ln w="3810">
            <a:solidFill>
              <a:srgbClr val="F0F0F0"/>
            </a:solidFill>
            <a:prstDash val="solid"/>
          </a:ln>
        </p:spPr>
        <p:txBody>
          <a:bodyPr/>
          <a:lstStyle/>
          <a:p>
            <a:endParaRPr lang="en-US"/>
          </a:p>
        </p:txBody>
      </p:sp>
      <p:sp>
        <p:nvSpPr>
          <p:cNvPr id="47" name="Text 45"/>
          <p:cNvSpPr/>
          <p:nvPr/>
        </p:nvSpPr>
        <p:spPr>
          <a:xfrm>
            <a:off x="2478024" y="3547872"/>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benchmark/defense_corpus.py is skeletal. No continuous jailbreak / injection / exfil tests.</a:t>
            </a:r>
            <a:endParaRPr lang="en-US" sz="850" dirty="0"/>
          </a:p>
        </p:txBody>
      </p:sp>
      <p:sp>
        <p:nvSpPr>
          <p:cNvPr id="48" name="Shape 46"/>
          <p:cNvSpPr/>
          <p:nvPr/>
        </p:nvSpPr>
        <p:spPr>
          <a:xfrm>
            <a:off x="5166360" y="3547872"/>
            <a:ext cx="2606040" cy="512064"/>
          </a:xfrm>
          <a:prstGeom prst="rect">
            <a:avLst/>
          </a:prstGeom>
          <a:solidFill>
            <a:srgbClr val="FFFFFF"/>
          </a:solidFill>
          <a:ln w="3810">
            <a:solidFill>
              <a:srgbClr val="F0F0F0"/>
            </a:solidFill>
            <a:prstDash val="solid"/>
          </a:ln>
        </p:spPr>
        <p:txBody>
          <a:bodyPr/>
          <a:lstStyle/>
          <a:p>
            <a:endParaRPr lang="en-US"/>
          </a:p>
        </p:txBody>
      </p:sp>
      <p:sp>
        <p:nvSpPr>
          <p:cNvPr id="49" name="Text 47"/>
          <p:cNvSpPr/>
          <p:nvPr/>
        </p:nvSpPr>
        <p:spPr>
          <a:xfrm>
            <a:off x="5221224" y="3547872"/>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benchmark/red_team.py nightly — OWASP LLM Top 10 templates, regression alerts, canary prompts.</a:t>
            </a:r>
            <a:endParaRPr lang="en-US" sz="850" dirty="0"/>
          </a:p>
        </p:txBody>
      </p:sp>
      <p:sp>
        <p:nvSpPr>
          <p:cNvPr id="50" name="Shape 48"/>
          <p:cNvSpPr/>
          <p:nvPr/>
        </p:nvSpPr>
        <p:spPr>
          <a:xfrm>
            <a:off x="7772400" y="3547872"/>
            <a:ext cx="1143000" cy="512064"/>
          </a:xfrm>
          <a:prstGeom prst="rect">
            <a:avLst/>
          </a:prstGeom>
          <a:solidFill>
            <a:srgbClr val="F9A825"/>
          </a:solidFill>
          <a:ln/>
        </p:spPr>
        <p:txBody>
          <a:bodyPr/>
          <a:lstStyle/>
          <a:p>
            <a:endParaRPr lang="en-US"/>
          </a:p>
        </p:txBody>
      </p:sp>
      <p:sp>
        <p:nvSpPr>
          <p:cNvPr id="51" name="Text 49"/>
          <p:cNvSpPr/>
          <p:nvPr/>
        </p:nvSpPr>
        <p:spPr>
          <a:xfrm>
            <a:off x="7772400" y="3547872"/>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High</a:t>
            </a:r>
            <a:endParaRPr lang="en-US" sz="1000" dirty="0"/>
          </a:p>
        </p:txBody>
      </p:sp>
      <p:sp>
        <p:nvSpPr>
          <p:cNvPr id="52" name="Text 50"/>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observability/callbacks.py, benchmark/defense_corpus.py, config.py  —  5 compliance &amp; governance gaps</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Enterprise Readiness Matrix — 17 Gaps</a:t>
            </a:r>
            <a:endParaRPr lang="en-US" sz="2600" dirty="0"/>
          </a:p>
        </p:txBody>
      </p:sp>
      <p:sp>
        <p:nvSpPr>
          <p:cNvPr id="3" name="Text 1"/>
          <p:cNvSpPr/>
          <p:nvPr/>
        </p:nvSpPr>
        <p:spPr>
          <a:xfrm>
            <a:off x="502920" y="822960"/>
            <a:ext cx="3931920" cy="219456"/>
          </a:xfrm>
          <a:prstGeom prst="rect">
            <a:avLst/>
          </a:prstGeom>
          <a:noFill/>
          <a:ln/>
        </p:spPr>
        <p:txBody>
          <a:bodyPr wrap="square" lIns="0" tIns="0" rIns="0" bIns="0" rtlCol="0" anchor="ctr"/>
          <a:lstStyle/>
          <a:p>
            <a:pPr marL="0" indent="0">
              <a:buNone/>
            </a:pPr>
            <a:r>
              <a:rPr lang="en-US" sz="1100" b="1" dirty="0">
                <a:solidFill>
                  <a:srgbClr val="1B2A4A"/>
                </a:solidFill>
                <a:latin typeface="Arial" pitchFamily="34" charset="0"/>
                <a:ea typeface="Arial" pitchFamily="34" charset="-122"/>
                <a:cs typeface="Arial" pitchFamily="34" charset="-120"/>
              </a:rPr>
              <a:t>Memory • Routing • Tools</a:t>
            </a:r>
            <a:endParaRPr lang="en-US" sz="1100" dirty="0"/>
          </a:p>
        </p:txBody>
      </p:sp>
      <p:sp>
        <p:nvSpPr>
          <p:cNvPr id="4" name="Shape 2"/>
          <p:cNvSpPr/>
          <p:nvPr/>
        </p:nvSpPr>
        <p:spPr>
          <a:xfrm>
            <a:off x="502920" y="1078992"/>
            <a:ext cx="1920240" cy="237744"/>
          </a:xfrm>
          <a:prstGeom prst="rect">
            <a:avLst/>
          </a:prstGeom>
          <a:solidFill>
            <a:srgbClr val="1B2A4A"/>
          </a:solidFill>
          <a:ln/>
        </p:spPr>
        <p:txBody>
          <a:bodyPr/>
          <a:lstStyle/>
          <a:p>
            <a:endParaRPr lang="en-US"/>
          </a:p>
        </p:txBody>
      </p:sp>
      <p:sp>
        <p:nvSpPr>
          <p:cNvPr id="5" name="Text 3"/>
          <p:cNvSpPr/>
          <p:nvPr/>
        </p:nvSpPr>
        <p:spPr>
          <a:xfrm>
            <a:off x="557784" y="1078992"/>
            <a:ext cx="181051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Capability Gap</a:t>
            </a:r>
            <a:endParaRPr lang="en-US" sz="850" dirty="0"/>
          </a:p>
        </p:txBody>
      </p:sp>
      <p:sp>
        <p:nvSpPr>
          <p:cNvPr id="6" name="Shape 4"/>
          <p:cNvSpPr/>
          <p:nvPr/>
        </p:nvSpPr>
        <p:spPr>
          <a:xfrm>
            <a:off x="2423160" y="1078992"/>
            <a:ext cx="1325880" cy="237744"/>
          </a:xfrm>
          <a:prstGeom prst="rect">
            <a:avLst/>
          </a:prstGeom>
          <a:solidFill>
            <a:srgbClr val="1B2A4A"/>
          </a:solidFill>
          <a:ln/>
        </p:spPr>
        <p:txBody>
          <a:bodyPr/>
          <a:lstStyle/>
          <a:p>
            <a:endParaRPr lang="en-US"/>
          </a:p>
        </p:txBody>
      </p:sp>
      <p:sp>
        <p:nvSpPr>
          <p:cNvPr id="7" name="Text 5"/>
          <p:cNvSpPr/>
          <p:nvPr/>
        </p:nvSpPr>
        <p:spPr>
          <a:xfrm>
            <a:off x="2478024" y="1078992"/>
            <a:ext cx="121615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Build Path</a:t>
            </a:r>
            <a:endParaRPr lang="en-US" sz="850" dirty="0"/>
          </a:p>
        </p:txBody>
      </p:sp>
      <p:sp>
        <p:nvSpPr>
          <p:cNvPr id="8" name="Shape 6"/>
          <p:cNvSpPr/>
          <p:nvPr/>
        </p:nvSpPr>
        <p:spPr>
          <a:xfrm>
            <a:off x="3749040" y="1078992"/>
            <a:ext cx="685800" cy="237744"/>
          </a:xfrm>
          <a:prstGeom prst="rect">
            <a:avLst/>
          </a:prstGeom>
          <a:solidFill>
            <a:srgbClr val="1B2A4A"/>
          </a:solidFill>
          <a:ln/>
        </p:spPr>
        <p:txBody>
          <a:bodyPr/>
          <a:lstStyle/>
          <a:p>
            <a:endParaRPr lang="en-US"/>
          </a:p>
        </p:txBody>
      </p:sp>
      <p:sp>
        <p:nvSpPr>
          <p:cNvPr id="9" name="Text 7"/>
          <p:cNvSpPr/>
          <p:nvPr/>
        </p:nvSpPr>
        <p:spPr>
          <a:xfrm>
            <a:off x="3803904" y="1078992"/>
            <a:ext cx="57607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Sev</a:t>
            </a:r>
            <a:endParaRPr lang="en-US" sz="850" dirty="0"/>
          </a:p>
        </p:txBody>
      </p:sp>
      <p:sp>
        <p:nvSpPr>
          <p:cNvPr id="10" name="Shape 8"/>
          <p:cNvSpPr/>
          <p:nvPr/>
        </p:nvSpPr>
        <p:spPr>
          <a:xfrm>
            <a:off x="502920" y="1316736"/>
            <a:ext cx="1920240" cy="256032"/>
          </a:xfrm>
          <a:prstGeom prst="rect">
            <a:avLst/>
          </a:prstGeom>
          <a:solidFill>
            <a:srgbClr val="F5F5F5"/>
          </a:solidFill>
          <a:ln w="3810">
            <a:solidFill>
              <a:srgbClr val="F0F0F0"/>
            </a:solidFill>
            <a:prstDash val="solid"/>
          </a:ln>
        </p:spPr>
        <p:txBody>
          <a:bodyPr/>
          <a:lstStyle/>
          <a:p>
            <a:endParaRPr lang="en-US"/>
          </a:p>
        </p:txBody>
      </p:sp>
      <p:sp>
        <p:nvSpPr>
          <p:cNvPr id="11" name="Text 9"/>
          <p:cNvSpPr/>
          <p:nvPr/>
        </p:nvSpPr>
        <p:spPr>
          <a:xfrm>
            <a:off x="557784" y="131673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Memory Conflict Resolution</a:t>
            </a:r>
            <a:endParaRPr lang="en-US" sz="850" dirty="0"/>
          </a:p>
        </p:txBody>
      </p:sp>
      <p:sp>
        <p:nvSpPr>
          <p:cNvPr id="12" name="Shape 10"/>
          <p:cNvSpPr/>
          <p:nvPr/>
        </p:nvSpPr>
        <p:spPr>
          <a:xfrm>
            <a:off x="2423160" y="1316736"/>
            <a:ext cx="1325880" cy="256032"/>
          </a:xfrm>
          <a:prstGeom prst="rect">
            <a:avLst/>
          </a:prstGeom>
          <a:solidFill>
            <a:srgbClr val="F5F5F5"/>
          </a:solidFill>
          <a:ln w="3810">
            <a:solidFill>
              <a:srgbClr val="F0F0F0"/>
            </a:solidFill>
            <a:prstDash val="solid"/>
          </a:ln>
        </p:spPr>
        <p:txBody>
          <a:bodyPr/>
          <a:lstStyle/>
          <a:p>
            <a:endParaRPr lang="en-US"/>
          </a:p>
        </p:txBody>
      </p:sp>
      <p:sp>
        <p:nvSpPr>
          <p:cNvPr id="13" name="Text 11"/>
          <p:cNvSpPr/>
          <p:nvPr/>
        </p:nvSpPr>
        <p:spPr>
          <a:xfrm>
            <a:off x="2468880" y="131673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conflict_resolver + merge</a:t>
            </a:r>
            <a:endParaRPr lang="en-US" sz="750" dirty="0"/>
          </a:p>
        </p:txBody>
      </p:sp>
      <p:sp>
        <p:nvSpPr>
          <p:cNvPr id="14" name="Shape 12"/>
          <p:cNvSpPr/>
          <p:nvPr/>
        </p:nvSpPr>
        <p:spPr>
          <a:xfrm>
            <a:off x="3749040" y="1316736"/>
            <a:ext cx="685800" cy="256032"/>
          </a:xfrm>
          <a:prstGeom prst="rect">
            <a:avLst/>
          </a:prstGeom>
          <a:solidFill>
            <a:srgbClr val="F9A825"/>
          </a:solidFill>
          <a:ln/>
        </p:spPr>
        <p:txBody>
          <a:bodyPr/>
          <a:lstStyle/>
          <a:p>
            <a:endParaRPr lang="en-US"/>
          </a:p>
        </p:txBody>
      </p:sp>
      <p:sp>
        <p:nvSpPr>
          <p:cNvPr id="15" name="Text 13"/>
          <p:cNvSpPr/>
          <p:nvPr/>
        </p:nvSpPr>
        <p:spPr>
          <a:xfrm>
            <a:off x="3749040" y="131673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16" name="Shape 14"/>
          <p:cNvSpPr/>
          <p:nvPr/>
        </p:nvSpPr>
        <p:spPr>
          <a:xfrm>
            <a:off x="502920" y="1572768"/>
            <a:ext cx="1920240" cy="256032"/>
          </a:xfrm>
          <a:prstGeom prst="rect">
            <a:avLst/>
          </a:prstGeom>
          <a:solidFill>
            <a:srgbClr val="FFFFFF"/>
          </a:solidFill>
          <a:ln w="3810">
            <a:solidFill>
              <a:srgbClr val="F0F0F0"/>
            </a:solidFill>
            <a:prstDash val="solid"/>
          </a:ln>
        </p:spPr>
        <p:txBody>
          <a:bodyPr/>
          <a:lstStyle/>
          <a:p>
            <a:endParaRPr lang="en-US"/>
          </a:p>
        </p:txBody>
      </p:sp>
      <p:sp>
        <p:nvSpPr>
          <p:cNvPr id="17" name="Text 15"/>
          <p:cNvSpPr/>
          <p:nvPr/>
        </p:nvSpPr>
        <p:spPr>
          <a:xfrm>
            <a:off x="557784" y="157276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Cross-Session Synthesis</a:t>
            </a:r>
            <a:endParaRPr lang="en-US" sz="850" dirty="0"/>
          </a:p>
        </p:txBody>
      </p:sp>
      <p:sp>
        <p:nvSpPr>
          <p:cNvPr id="18" name="Shape 16"/>
          <p:cNvSpPr/>
          <p:nvPr/>
        </p:nvSpPr>
        <p:spPr>
          <a:xfrm>
            <a:off x="2423160" y="1572768"/>
            <a:ext cx="1325880" cy="256032"/>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2468880" y="157276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synthesizer job + facts tbl</a:t>
            </a:r>
            <a:endParaRPr lang="en-US" sz="750" dirty="0"/>
          </a:p>
        </p:txBody>
      </p:sp>
      <p:sp>
        <p:nvSpPr>
          <p:cNvPr id="20" name="Shape 18"/>
          <p:cNvSpPr/>
          <p:nvPr/>
        </p:nvSpPr>
        <p:spPr>
          <a:xfrm>
            <a:off x="3749040" y="1572768"/>
            <a:ext cx="685800" cy="256032"/>
          </a:xfrm>
          <a:prstGeom prst="rect">
            <a:avLst/>
          </a:prstGeom>
          <a:solidFill>
            <a:srgbClr val="F9A825"/>
          </a:solidFill>
          <a:ln/>
        </p:spPr>
        <p:txBody>
          <a:bodyPr/>
          <a:lstStyle/>
          <a:p>
            <a:endParaRPr lang="en-US"/>
          </a:p>
        </p:txBody>
      </p:sp>
      <p:sp>
        <p:nvSpPr>
          <p:cNvPr id="21" name="Text 19"/>
          <p:cNvSpPr/>
          <p:nvPr/>
        </p:nvSpPr>
        <p:spPr>
          <a:xfrm>
            <a:off x="3749040" y="157276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22" name="Shape 20"/>
          <p:cNvSpPr/>
          <p:nvPr/>
        </p:nvSpPr>
        <p:spPr>
          <a:xfrm>
            <a:off x="502920" y="1828800"/>
            <a:ext cx="1920240" cy="256032"/>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557784" y="182880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Retention &amp; PII Decay</a:t>
            </a:r>
            <a:endParaRPr lang="en-US" sz="850" dirty="0"/>
          </a:p>
        </p:txBody>
      </p:sp>
      <p:sp>
        <p:nvSpPr>
          <p:cNvPr id="24" name="Shape 22"/>
          <p:cNvSpPr/>
          <p:nvPr/>
        </p:nvSpPr>
        <p:spPr>
          <a:xfrm>
            <a:off x="2423160" y="1828800"/>
            <a:ext cx="1325880" cy="256032"/>
          </a:xfrm>
          <a:prstGeom prst="rect">
            <a:avLst/>
          </a:prstGeom>
          <a:solidFill>
            <a:srgbClr val="F5F5F5"/>
          </a:solidFill>
          <a:ln w="3810">
            <a:solidFill>
              <a:srgbClr val="F0F0F0"/>
            </a:solidFill>
            <a:prstDash val="solid"/>
          </a:ln>
        </p:spPr>
        <p:txBody>
          <a:bodyPr/>
          <a:lstStyle/>
          <a:p>
            <a:endParaRPr lang="en-US"/>
          </a:p>
        </p:txBody>
      </p:sp>
      <p:sp>
        <p:nvSpPr>
          <p:cNvPr id="25" name="Text 23"/>
          <p:cNvSpPr/>
          <p:nvPr/>
        </p:nvSpPr>
        <p:spPr>
          <a:xfrm>
            <a:off x="2468880" y="182880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retention_policy + TTL</a:t>
            </a:r>
            <a:endParaRPr lang="en-US" sz="750" dirty="0"/>
          </a:p>
        </p:txBody>
      </p:sp>
      <p:sp>
        <p:nvSpPr>
          <p:cNvPr id="26" name="Shape 24"/>
          <p:cNvSpPr/>
          <p:nvPr/>
        </p:nvSpPr>
        <p:spPr>
          <a:xfrm>
            <a:off x="3749040" y="1828800"/>
            <a:ext cx="685800" cy="256032"/>
          </a:xfrm>
          <a:prstGeom prst="rect">
            <a:avLst/>
          </a:prstGeom>
          <a:solidFill>
            <a:srgbClr val="C62828"/>
          </a:solidFill>
          <a:ln/>
        </p:spPr>
        <p:txBody>
          <a:bodyPr/>
          <a:lstStyle/>
          <a:p>
            <a:endParaRPr lang="en-US"/>
          </a:p>
        </p:txBody>
      </p:sp>
      <p:sp>
        <p:nvSpPr>
          <p:cNvPr id="27" name="Text 25"/>
          <p:cNvSpPr/>
          <p:nvPr/>
        </p:nvSpPr>
        <p:spPr>
          <a:xfrm>
            <a:off x="3749040" y="182880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28" name="Shape 26"/>
          <p:cNvSpPr/>
          <p:nvPr/>
        </p:nvSpPr>
        <p:spPr>
          <a:xfrm>
            <a:off x="502920" y="2084832"/>
            <a:ext cx="1920240" cy="256032"/>
          </a:xfrm>
          <a:prstGeom prst="rect">
            <a:avLst/>
          </a:prstGeom>
          <a:solidFill>
            <a:srgbClr val="FFFFFF"/>
          </a:solidFill>
          <a:ln w="3810">
            <a:solidFill>
              <a:srgbClr val="F0F0F0"/>
            </a:solidFill>
            <a:prstDash val="solid"/>
          </a:ln>
        </p:spPr>
        <p:txBody>
          <a:bodyPr/>
          <a:lstStyle/>
          <a:p>
            <a:endParaRPr lang="en-US"/>
          </a:p>
        </p:txBody>
      </p:sp>
      <p:sp>
        <p:nvSpPr>
          <p:cNvPr id="29" name="Text 27"/>
          <p:cNvSpPr/>
          <p:nvPr/>
        </p:nvSpPr>
        <p:spPr>
          <a:xfrm>
            <a:off x="557784" y="2084832"/>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Cost-Aware Routing</a:t>
            </a:r>
            <a:endParaRPr lang="en-US" sz="850" dirty="0"/>
          </a:p>
        </p:txBody>
      </p:sp>
      <p:sp>
        <p:nvSpPr>
          <p:cNvPr id="30" name="Shape 28"/>
          <p:cNvSpPr/>
          <p:nvPr/>
        </p:nvSpPr>
        <p:spPr>
          <a:xfrm>
            <a:off x="2423160" y="2084832"/>
            <a:ext cx="1325880" cy="256032"/>
          </a:xfrm>
          <a:prstGeom prst="rect">
            <a:avLst/>
          </a:prstGeom>
          <a:solidFill>
            <a:srgbClr val="FFFFFF"/>
          </a:solidFill>
          <a:ln w="3810">
            <a:solidFill>
              <a:srgbClr val="F0F0F0"/>
            </a:solidFill>
            <a:prstDash val="solid"/>
          </a:ln>
        </p:spPr>
        <p:txBody>
          <a:bodyPr/>
          <a:lstStyle/>
          <a:p>
            <a:endParaRPr lang="en-US"/>
          </a:p>
        </p:txBody>
      </p:sp>
      <p:sp>
        <p:nvSpPr>
          <p:cNvPr id="31" name="Text 29"/>
          <p:cNvSpPr/>
          <p:nvPr/>
        </p:nvSpPr>
        <p:spPr>
          <a:xfrm>
            <a:off x="2468880" y="2084832"/>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router/cost_model.py</a:t>
            </a:r>
            <a:endParaRPr lang="en-US" sz="750" dirty="0"/>
          </a:p>
        </p:txBody>
      </p:sp>
      <p:sp>
        <p:nvSpPr>
          <p:cNvPr id="32" name="Shape 30"/>
          <p:cNvSpPr/>
          <p:nvPr/>
        </p:nvSpPr>
        <p:spPr>
          <a:xfrm>
            <a:off x="3749040" y="2084832"/>
            <a:ext cx="685800" cy="256032"/>
          </a:xfrm>
          <a:prstGeom prst="rect">
            <a:avLst/>
          </a:prstGeom>
          <a:solidFill>
            <a:srgbClr val="F9A825"/>
          </a:solidFill>
          <a:ln/>
        </p:spPr>
        <p:txBody>
          <a:bodyPr/>
          <a:lstStyle/>
          <a:p>
            <a:endParaRPr lang="en-US"/>
          </a:p>
        </p:txBody>
      </p:sp>
      <p:sp>
        <p:nvSpPr>
          <p:cNvPr id="33" name="Text 31"/>
          <p:cNvSpPr/>
          <p:nvPr/>
        </p:nvSpPr>
        <p:spPr>
          <a:xfrm>
            <a:off x="3749040" y="2084832"/>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34" name="Shape 32"/>
          <p:cNvSpPr/>
          <p:nvPr/>
        </p:nvSpPr>
        <p:spPr>
          <a:xfrm>
            <a:off x="502920" y="2340864"/>
            <a:ext cx="1920240" cy="256032"/>
          </a:xfrm>
          <a:prstGeom prst="rect">
            <a:avLst/>
          </a:prstGeom>
          <a:solidFill>
            <a:srgbClr val="F5F5F5"/>
          </a:solidFill>
          <a:ln w="3810">
            <a:solidFill>
              <a:srgbClr val="F0F0F0"/>
            </a:solidFill>
            <a:prstDash val="solid"/>
          </a:ln>
        </p:spPr>
        <p:txBody>
          <a:bodyPr/>
          <a:lstStyle/>
          <a:p>
            <a:endParaRPr lang="en-US"/>
          </a:p>
        </p:txBody>
      </p:sp>
      <p:sp>
        <p:nvSpPr>
          <p:cNvPr id="35" name="Text 33"/>
          <p:cNvSpPr/>
          <p:nvPr/>
        </p:nvSpPr>
        <p:spPr>
          <a:xfrm>
            <a:off x="557784" y="2340864"/>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Agent Self-Reflection</a:t>
            </a:r>
            <a:endParaRPr lang="en-US" sz="850" dirty="0"/>
          </a:p>
        </p:txBody>
      </p:sp>
      <p:sp>
        <p:nvSpPr>
          <p:cNvPr id="36" name="Shape 34"/>
          <p:cNvSpPr/>
          <p:nvPr/>
        </p:nvSpPr>
        <p:spPr>
          <a:xfrm>
            <a:off x="2423160" y="2340864"/>
            <a:ext cx="1325880" cy="256032"/>
          </a:xfrm>
          <a:prstGeom prst="rect">
            <a:avLst/>
          </a:prstGeom>
          <a:solidFill>
            <a:srgbClr val="F5F5F5"/>
          </a:solidFill>
          <a:ln w="3810">
            <a:solidFill>
              <a:srgbClr val="F0F0F0"/>
            </a:solidFill>
            <a:prstDash val="solid"/>
          </a:ln>
        </p:spPr>
        <p:txBody>
          <a:bodyPr/>
          <a:lstStyle/>
          <a:p>
            <a:endParaRPr lang="en-US"/>
          </a:p>
        </p:txBody>
      </p:sp>
      <p:sp>
        <p:nvSpPr>
          <p:cNvPr id="37" name="Text 35"/>
          <p:cNvSpPr/>
          <p:nvPr/>
        </p:nvSpPr>
        <p:spPr>
          <a:xfrm>
            <a:off x="2468880" y="2340864"/>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runtime/self_reflect.py</a:t>
            </a:r>
            <a:endParaRPr lang="en-US" sz="750" dirty="0"/>
          </a:p>
        </p:txBody>
      </p:sp>
      <p:sp>
        <p:nvSpPr>
          <p:cNvPr id="38" name="Shape 36"/>
          <p:cNvSpPr/>
          <p:nvPr/>
        </p:nvSpPr>
        <p:spPr>
          <a:xfrm>
            <a:off x="3749040" y="2340864"/>
            <a:ext cx="685800" cy="256032"/>
          </a:xfrm>
          <a:prstGeom prst="rect">
            <a:avLst/>
          </a:prstGeom>
          <a:solidFill>
            <a:srgbClr val="F9A825"/>
          </a:solidFill>
          <a:ln/>
        </p:spPr>
        <p:txBody>
          <a:bodyPr/>
          <a:lstStyle/>
          <a:p>
            <a:endParaRPr lang="en-US"/>
          </a:p>
        </p:txBody>
      </p:sp>
      <p:sp>
        <p:nvSpPr>
          <p:cNvPr id="39" name="Text 37"/>
          <p:cNvSpPr/>
          <p:nvPr/>
        </p:nvSpPr>
        <p:spPr>
          <a:xfrm>
            <a:off x="3749040" y="2340864"/>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40" name="Shape 38"/>
          <p:cNvSpPr/>
          <p:nvPr/>
        </p:nvSpPr>
        <p:spPr>
          <a:xfrm>
            <a:off x="502920" y="2596896"/>
            <a:ext cx="1920240" cy="256032"/>
          </a:xfrm>
          <a:prstGeom prst="rect">
            <a:avLst/>
          </a:prstGeom>
          <a:solidFill>
            <a:srgbClr val="FFFFFF"/>
          </a:solidFill>
          <a:ln w="3810">
            <a:solidFill>
              <a:srgbClr val="F0F0F0"/>
            </a:solidFill>
            <a:prstDash val="solid"/>
          </a:ln>
        </p:spPr>
        <p:txBody>
          <a:bodyPr/>
          <a:lstStyle/>
          <a:p>
            <a:endParaRPr lang="en-US"/>
          </a:p>
        </p:txBody>
      </p:sp>
      <p:sp>
        <p:nvSpPr>
          <p:cNvPr id="41" name="Text 39"/>
          <p:cNvSpPr/>
          <p:nvPr/>
        </p:nvSpPr>
        <p:spPr>
          <a:xfrm>
            <a:off x="557784" y="259689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Human-in-the-Loop Escalat.</a:t>
            </a:r>
            <a:endParaRPr lang="en-US" sz="850" dirty="0"/>
          </a:p>
        </p:txBody>
      </p:sp>
      <p:sp>
        <p:nvSpPr>
          <p:cNvPr id="42" name="Shape 40"/>
          <p:cNvSpPr/>
          <p:nvPr/>
        </p:nvSpPr>
        <p:spPr>
          <a:xfrm>
            <a:off x="2423160" y="2596896"/>
            <a:ext cx="1325880" cy="256032"/>
          </a:xfrm>
          <a:prstGeom prst="rect">
            <a:avLst/>
          </a:prstGeom>
          <a:solidFill>
            <a:srgbClr val="FFFFFF"/>
          </a:solidFill>
          <a:ln w="3810">
            <a:solidFill>
              <a:srgbClr val="F0F0F0"/>
            </a:solidFill>
            <a:prstDash val="solid"/>
          </a:ln>
        </p:spPr>
        <p:txBody>
          <a:bodyPr/>
          <a:lstStyle/>
          <a:p>
            <a:endParaRPr lang="en-US"/>
          </a:p>
        </p:txBody>
      </p:sp>
      <p:sp>
        <p:nvSpPr>
          <p:cNvPr id="43" name="Text 41"/>
          <p:cNvSpPr/>
          <p:nvPr/>
        </p:nvSpPr>
        <p:spPr>
          <a:xfrm>
            <a:off x="2468880" y="259689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runtime/escalation.py</a:t>
            </a:r>
            <a:endParaRPr lang="en-US" sz="750" dirty="0"/>
          </a:p>
        </p:txBody>
      </p:sp>
      <p:sp>
        <p:nvSpPr>
          <p:cNvPr id="44" name="Shape 42"/>
          <p:cNvSpPr/>
          <p:nvPr/>
        </p:nvSpPr>
        <p:spPr>
          <a:xfrm>
            <a:off x="3749040" y="2596896"/>
            <a:ext cx="685800" cy="256032"/>
          </a:xfrm>
          <a:prstGeom prst="rect">
            <a:avLst/>
          </a:prstGeom>
          <a:solidFill>
            <a:srgbClr val="C62828"/>
          </a:solidFill>
          <a:ln/>
        </p:spPr>
        <p:txBody>
          <a:bodyPr/>
          <a:lstStyle/>
          <a:p>
            <a:endParaRPr lang="en-US"/>
          </a:p>
        </p:txBody>
      </p:sp>
      <p:sp>
        <p:nvSpPr>
          <p:cNvPr id="45" name="Text 43"/>
          <p:cNvSpPr/>
          <p:nvPr/>
        </p:nvSpPr>
        <p:spPr>
          <a:xfrm>
            <a:off x="3749040" y="259689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46" name="Shape 44"/>
          <p:cNvSpPr/>
          <p:nvPr/>
        </p:nvSpPr>
        <p:spPr>
          <a:xfrm>
            <a:off x="502920" y="2852928"/>
            <a:ext cx="1920240" cy="256032"/>
          </a:xfrm>
          <a:prstGeom prst="rect">
            <a:avLst/>
          </a:prstGeom>
          <a:solidFill>
            <a:srgbClr val="F5F5F5"/>
          </a:solidFill>
          <a:ln w="3810">
            <a:solidFill>
              <a:srgbClr val="F0F0F0"/>
            </a:solidFill>
            <a:prstDash val="solid"/>
          </a:ln>
        </p:spPr>
        <p:txBody>
          <a:bodyPr/>
          <a:lstStyle/>
          <a:p>
            <a:endParaRPr lang="en-US"/>
          </a:p>
        </p:txBody>
      </p:sp>
      <p:sp>
        <p:nvSpPr>
          <p:cNvPr id="47" name="Text 45"/>
          <p:cNvSpPr/>
          <p:nvPr/>
        </p:nvSpPr>
        <p:spPr>
          <a:xfrm>
            <a:off x="557784" y="285292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Tool Versioning &amp; Pinning</a:t>
            </a:r>
            <a:endParaRPr lang="en-US" sz="850" dirty="0"/>
          </a:p>
        </p:txBody>
      </p:sp>
      <p:sp>
        <p:nvSpPr>
          <p:cNvPr id="48" name="Shape 46"/>
          <p:cNvSpPr/>
          <p:nvPr/>
        </p:nvSpPr>
        <p:spPr>
          <a:xfrm>
            <a:off x="2423160" y="2852928"/>
            <a:ext cx="1325880" cy="256032"/>
          </a:xfrm>
          <a:prstGeom prst="rect">
            <a:avLst/>
          </a:prstGeom>
          <a:solidFill>
            <a:srgbClr val="F5F5F5"/>
          </a:solidFill>
          <a:ln w="3810">
            <a:solidFill>
              <a:srgbClr val="F0F0F0"/>
            </a:solidFill>
            <a:prstDash val="solid"/>
          </a:ln>
        </p:spPr>
        <p:txBody>
          <a:bodyPr/>
          <a:lstStyle/>
          <a:p>
            <a:endParaRPr lang="en-US"/>
          </a:p>
        </p:txBody>
      </p:sp>
      <p:sp>
        <p:nvSpPr>
          <p:cNvPr id="49" name="Text 47"/>
          <p:cNvSpPr/>
          <p:nvPr/>
        </p:nvSpPr>
        <p:spPr>
          <a:xfrm>
            <a:off x="2468880" y="285292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version_resolver.py</a:t>
            </a:r>
            <a:endParaRPr lang="en-US" sz="750" dirty="0"/>
          </a:p>
        </p:txBody>
      </p:sp>
      <p:sp>
        <p:nvSpPr>
          <p:cNvPr id="50" name="Shape 48"/>
          <p:cNvSpPr/>
          <p:nvPr/>
        </p:nvSpPr>
        <p:spPr>
          <a:xfrm>
            <a:off x="3749040" y="2852928"/>
            <a:ext cx="685800" cy="256032"/>
          </a:xfrm>
          <a:prstGeom prst="rect">
            <a:avLst/>
          </a:prstGeom>
          <a:solidFill>
            <a:srgbClr val="F9A825"/>
          </a:solidFill>
          <a:ln/>
        </p:spPr>
        <p:txBody>
          <a:bodyPr/>
          <a:lstStyle/>
          <a:p>
            <a:endParaRPr lang="en-US"/>
          </a:p>
        </p:txBody>
      </p:sp>
      <p:sp>
        <p:nvSpPr>
          <p:cNvPr id="51" name="Text 49"/>
          <p:cNvSpPr/>
          <p:nvPr/>
        </p:nvSpPr>
        <p:spPr>
          <a:xfrm>
            <a:off x="3749040" y="285292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52" name="Shape 50"/>
          <p:cNvSpPr/>
          <p:nvPr/>
        </p:nvSpPr>
        <p:spPr>
          <a:xfrm>
            <a:off x="502920" y="3108960"/>
            <a:ext cx="1920240" cy="256032"/>
          </a:xfrm>
          <a:prstGeom prst="rect">
            <a:avLst/>
          </a:prstGeom>
          <a:solidFill>
            <a:srgbClr val="FFFFFF"/>
          </a:solidFill>
          <a:ln w="3810">
            <a:solidFill>
              <a:srgbClr val="F0F0F0"/>
            </a:solidFill>
            <a:prstDash val="solid"/>
          </a:ln>
        </p:spPr>
        <p:txBody>
          <a:bodyPr/>
          <a:lstStyle/>
          <a:p>
            <a:endParaRPr lang="en-US"/>
          </a:p>
        </p:txBody>
      </p:sp>
      <p:sp>
        <p:nvSpPr>
          <p:cNvPr id="53" name="Text 51"/>
          <p:cNvSpPr/>
          <p:nvPr/>
        </p:nvSpPr>
        <p:spPr>
          <a:xfrm>
            <a:off x="557784" y="310896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RBAC→ABAC (▲ partial)</a:t>
            </a:r>
            <a:endParaRPr lang="en-US" sz="850" dirty="0"/>
          </a:p>
        </p:txBody>
      </p:sp>
      <p:sp>
        <p:nvSpPr>
          <p:cNvPr id="54" name="Shape 52"/>
          <p:cNvSpPr/>
          <p:nvPr/>
        </p:nvSpPr>
        <p:spPr>
          <a:xfrm>
            <a:off x="2423160" y="3108960"/>
            <a:ext cx="1325880" cy="256032"/>
          </a:xfrm>
          <a:prstGeom prst="rect">
            <a:avLst/>
          </a:prstGeom>
          <a:solidFill>
            <a:srgbClr val="FFFFFF"/>
          </a:solidFill>
          <a:ln w="3810">
            <a:solidFill>
              <a:srgbClr val="F0F0F0"/>
            </a:solidFill>
            <a:prstDash val="solid"/>
          </a:ln>
        </p:spPr>
        <p:txBody>
          <a:bodyPr/>
          <a:lstStyle/>
          <a:p>
            <a:endParaRPr lang="en-US"/>
          </a:p>
        </p:txBody>
      </p:sp>
      <p:sp>
        <p:nvSpPr>
          <p:cNvPr id="55" name="Text 53"/>
          <p:cNvSpPr/>
          <p:nvPr/>
        </p:nvSpPr>
        <p:spPr>
          <a:xfrm>
            <a:off x="2468880" y="310896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authz/service.py + ABAC</a:t>
            </a:r>
            <a:endParaRPr lang="en-US" sz="750" dirty="0"/>
          </a:p>
        </p:txBody>
      </p:sp>
      <p:sp>
        <p:nvSpPr>
          <p:cNvPr id="56" name="Shape 54"/>
          <p:cNvSpPr/>
          <p:nvPr/>
        </p:nvSpPr>
        <p:spPr>
          <a:xfrm>
            <a:off x="3749040" y="3108960"/>
            <a:ext cx="685800" cy="256032"/>
          </a:xfrm>
          <a:prstGeom prst="rect">
            <a:avLst/>
          </a:prstGeom>
          <a:solidFill>
            <a:srgbClr val="C62828"/>
          </a:solidFill>
          <a:ln/>
        </p:spPr>
        <p:txBody>
          <a:bodyPr/>
          <a:lstStyle/>
          <a:p>
            <a:endParaRPr lang="en-US"/>
          </a:p>
        </p:txBody>
      </p:sp>
      <p:sp>
        <p:nvSpPr>
          <p:cNvPr id="57" name="Text 55"/>
          <p:cNvSpPr/>
          <p:nvPr/>
        </p:nvSpPr>
        <p:spPr>
          <a:xfrm>
            <a:off x="3749040" y="310896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58" name="Shape 56"/>
          <p:cNvSpPr/>
          <p:nvPr/>
        </p:nvSpPr>
        <p:spPr>
          <a:xfrm>
            <a:off x="502920" y="3364992"/>
            <a:ext cx="1920240" cy="256032"/>
          </a:xfrm>
          <a:prstGeom prst="rect">
            <a:avLst/>
          </a:prstGeom>
          <a:solidFill>
            <a:srgbClr val="F5F5F5"/>
          </a:solidFill>
          <a:ln w="3810">
            <a:solidFill>
              <a:srgbClr val="F0F0F0"/>
            </a:solidFill>
            <a:prstDash val="solid"/>
          </a:ln>
        </p:spPr>
        <p:txBody>
          <a:bodyPr/>
          <a:lstStyle/>
          <a:p>
            <a:endParaRPr lang="en-US"/>
          </a:p>
        </p:txBody>
      </p:sp>
      <p:sp>
        <p:nvSpPr>
          <p:cNvPr id="59" name="Text 57"/>
          <p:cNvSpPr/>
          <p:nvPr/>
        </p:nvSpPr>
        <p:spPr>
          <a:xfrm>
            <a:off x="557784" y="3364992"/>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AST Sandbox Analyzer</a:t>
            </a:r>
            <a:endParaRPr lang="en-US" sz="850" dirty="0"/>
          </a:p>
        </p:txBody>
      </p:sp>
      <p:sp>
        <p:nvSpPr>
          <p:cNvPr id="60" name="Shape 58"/>
          <p:cNvSpPr/>
          <p:nvPr/>
        </p:nvSpPr>
        <p:spPr>
          <a:xfrm>
            <a:off x="2423160" y="3364992"/>
            <a:ext cx="1325880" cy="256032"/>
          </a:xfrm>
          <a:prstGeom prst="rect">
            <a:avLst/>
          </a:prstGeom>
          <a:solidFill>
            <a:srgbClr val="F5F5F5"/>
          </a:solidFill>
          <a:ln w="3810">
            <a:solidFill>
              <a:srgbClr val="F0F0F0"/>
            </a:solidFill>
            <a:prstDash val="solid"/>
          </a:ln>
        </p:spPr>
        <p:txBody>
          <a:bodyPr/>
          <a:lstStyle/>
          <a:p>
            <a:endParaRPr lang="en-US"/>
          </a:p>
        </p:txBody>
      </p:sp>
      <p:sp>
        <p:nvSpPr>
          <p:cNvPr id="61" name="Text 59"/>
          <p:cNvSpPr/>
          <p:nvPr/>
        </p:nvSpPr>
        <p:spPr>
          <a:xfrm>
            <a:off x="2468880" y="3364992"/>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sandbox/code_analyzer.py</a:t>
            </a:r>
            <a:endParaRPr lang="en-US" sz="750" dirty="0"/>
          </a:p>
        </p:txBody>
      </p:sp>
      <p:sp>
        <p:nvSpPr>
          <p:cNvPr id="62" name="Shape 60"/>
          <p:cNvSpPr/>
          <p:nvPr/>
        </p:nvSpPr>
        <p:spPr>
          <a:xfrm>
            <a:off x="3749040" y="3364992"/>
            <a:ext cx="685800" cy="256032"/>
          </a:xfrm>
          <a:prstGeom prst="rect">
            <a:avLst/>
          </a:prstGeom>
          <a:solidFill>
            <a:srgbClr val="C62828"/>
          </a:solidFill>
          <a:ln/>
        </p:spPr>
        <p:txBody>
          <a:bodyPr/>
          <a:lstStyle/>
          <a:p>
            <a:endParaRPr lang="en-US"/>
          </a:p>
        </p:txBody>
      </p:sp>
      <p:sp>
        <p:nvSpPr>
          <p:cNvPr id="63" name="Text 61"/>
          <p:cNvSpPr/>
          <p:nvPr/>
        </p:nvSpPr>
        <p:spPr>
          <a:xfrm>
            <a:off x="3749040" y="3364992"/>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64" name="Text 62"/>
          <p:cNvSpPr/>
          <p:nvPr/>
        </p:nvSpPr>
        <p:spPr>
          <a:xfrm>
            <a:off x="4709160" y="822960"/>
            <a:ext cx="3931920" cy="219456"/>
          </a:xfrm>
          <a:prstGeom prst="rect">
            <a:avLst/>
          </a:prstGeom>
          <a:noFill/>
          <a:ln/>
        </p:spPr>
        <p:txBody>
          <a:bodyPr wrap="square" lIns="0" tIns="0" rIns="0" bIns="0" rtlCol="0" anchor="ctr"/>
          <a:lstStyle/>
          <a:p>
            <a:pPr marL="0" indent="0">
              <a:buNone/>
            </a:pPr>
            <a:r>
              <a:rPr lang="en-US" sz="1100" b="1" dirty="0">
                <a:solidFill>
                  <a:srgbClr val="1B2A4A"/>
                </a:solidFill>
                <a:latin typeface="Arial" pitchFamily="34" charset="0"/>
                <a:ea typeface="Arial" pitchFamily="34" charset="-122"/>
                <a:cs typeface="Arial" pitchFamily="34" charset="-120"/>
              </a:rPr>
              <a:t>Skills • Governance • Compliance</a:t>
            </a:r>
            <a:endParaRPr lang="en-US" sz="1100" dirty="0"/>
          </a:p>
        </p:txBody>
      </p:sp>
      <p:sp>
        <p:nvSpPr>
          <p:cNvPr id="65" name="Shape 63"/>
          <p:cNvSpPr/>
          <p:nvPr/>
        </p:nvSpPr>
        <p:spPr>
          <a:xfrm>
            <a:off x="4709160" y="1078992"/>
            <a:ext cx="1920240" cy="237744"/>
          </a:xfrm>
          <a:prstGeom prst="rect">
            <a:avLst/>
          </a:prstGeom>
          <a:solidFill>
            <a:srgbClr val="1B2A4A"/>
          </a:solidFill>
          <a:ln/>
        </p:spPr>
        <p:txBody>
          <a:bodyPr/>
          <a:lstStyle/>
          <a:p>
            <a:endParaRPr lang="en-US"/>
          </a:p>
        </p:txBody>
      </p:sp>
      <p:sp>
        <p:nvSpPr>
          <p:cNvPr id="66" name="Text 64"/>
          <p:cNvSpPr/>
          <p:nvPr/>
        </p:nvSpPr>
        <p:spPr>
          <a:xfrm>
            <a:off x="4764024" y="1078992"/>
            <a:ext cx="181051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Capability Gap</a:t>
            </a:r>
            <a:endParaRPr lang="en-US" sz="850" dirty="0"/>
          </a:p>
        </p:txBody>
      </p:sp>
      <p:sp>
        <p:nvSpPr>
          <p:cNvPr id="67" name="Shape 65"/>
          <p:cNvSpPr/>
          <p:nvPr/>
        </p:nvSpPr>
        <p:spPr>
          <a:xfrm>
            <a:off x="6629400" y="1078992"/>
            <a:ext cx="1325880" cy="237744"/>
          </a:xfrm>
          <a:prstGeom prst="rect">
            <a:avLst/>
          </a:prstGeom>
          <a:solidFill>
            <a:srgbClr val="1B2A4A"/>
          </a:solidFill>
          <a:ln/>
        </p:spPr>
        <p:txBody>
          <a:bodyPr/>
          <a:lstStyle/>
          <a:p>
            <a:endParaRPr lang="en-US"/>
          </a:p>
        </p:txBody>
      </p:sp>
      <p:sp>
        <p:nvSpPr>
          <p:cNvPr id="68" name="Text 66"/>
          <p:cNvSpPr/>
          <p:nvPr/>
        </p:nvSpPr>
        <p:spPr>
          <a:xfrm>
            <a:off x="6684264" y="1078992"/>
            <a:ext cx="121615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Build Path</a:t>
            </a:r>
            <a:endParaRPr lang="en-US" sz="850" dirty="0"/>
          </a:p>
        </p:txBody>
      </p:sp>
      <p:sp>
        <p:nvSpPr>
          <p:cNvPr id="69" name="Shape 67"/>
          <p:cNvSpPr/>
          <p:nvPr/>
        </p:nvSpPr>
        <p:spPr>
          <a:xfrm>
            <a:off x="7955280" y="1078992"/>
            <a:ext cx="685800" cy="237744"/>
          </a:xfrm>
          <a:prstGeom prst="rect">
            <a:avLst/>
          </a:prstGeom>
          <a:solidFill>
            <a:srgbClr val="1B2A4A"/>
          </a:solidFill>
          <a:ln/>
        </p:spPr>
        <p:txBody>
          <a:bodyPr/>
          <a:lstStyle/>
          <a:p>
            <a:endParaRPr lang="en-US"/>
          </a:p>
        </p:txBody>
      </p:sp>
      <p:sp>
        <p:nvSpPr>
          <p:cNvPr id="70" name="Text 68"/>
          <p:cNvSpPr/>
          <p:nvPr/>
        </p:nvSpPr>
        <p:spPr>
          <a:xfrm>
            <a:off x="8010144" y="1078992"/>
            <a:ext cx="57607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Sev</a:t>
            </a:r>
            <a:endParaRPr lang="en-US" sz="850" dirty="0"/>
          </a:p>
        </p:txBody>
      </p:sp>
      <p:sp>
        <p:nvSpPr>
          <p:cNvPr id="71" name="Shape 69"/>
          <p:cNvSpPr/>
          <p:nvPr/>
        </p:nvSpPr>
        <p:spPr>
          <a:xfrm>
            <a:off x="4709160" y="1316736"/>
            <a:ext cx="1920240" cy="256032"/>
          </a:xfrm>
          <a:prstGeom prst="rect">
            <a:avLst/>
          </a:prstGeom>
          <a:solidFill>
            <a:srgbClr val="F5F5F5"/>
          </a:solidFill>
          <a:ln w="3810">
            <a:solidFill>
              <a:srgbClr val="F0F0F0"/>
            </a:solidFill>
            <a:prstDash val="solid"/>
          </a:ln>
        </p:spPr>
        <p:txBody>
          <a:bodyPr/>
          <a:lstStyle/>
          <a:p>
            <a:endParaRPr lang="en-US"/>
          </a:p>
        </p:txBody>
      </p:sp>
      <p:sp>
        <p:nvSpPr>
          <p:cNvPr id="72" name="Text 70"/>
          <p:cNvSpPr/>
          <p:nvPr/>
        </p:nvSpPr>
        <p:spPr>
          <a:xfrm>
            <a:off x="4764024" y="131673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Cryptographic Signing</a:t>
            </a:r>
            <a:endParaRPr lang="en-US" sz="850" dirty="0"/>
          </a:p>
        </p:txBody>
      </p:sp>
      <p:sp>
        <p:nvSpPr>
          <p:cNvPr id="73" name="Shape 71"/>
          <p:cNvSpPr/>
          <p:nvPr/>
        </p:nvSpPr>
        <p:spPr>
          <a:xfrm>
            <a:off x="6629400" y="1316736"/>
            <a:ext cx="1325880" cy="256032"/>
          </a:xfrm>
          <a:prstGeom prst="rect">
            <a:avLst/>
          </a:prstGeom>
          <a:solidFill>
            <a:srgbClr val="F5F5F5"/>
          </a:solidFill>
          <a:ln w="3810">
            <a:solidFill>
              <a:srgbClr val="F0F0F0"/>
            </a:solidFill>
            <a:prstDash val="solid"/>
          </a:ln>
        </p:spPr>
        <p:txBody>
          <a:bodyPr/>
          <a:lstStyle/>
          <a:p>
            <a:endParaRPr lang="en-US"/>
          </a:p>
        </p:txBody>
      </p:sp>
      <p:sp>
        <p:nvSpPr>
          <p:cNvPr id="74" name="Text 72"/>
          <p:cNvSpPr/>
          <p:nvPr/>
        </p:nvSpPr>
        <p:spPr>
          <a:xfrm>
            <a:off x="6675120" y="131673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skills/signing.py + keys</a:t>
            </a:r>
            <a:endParaRPr lang="en-US" sz="750" dirty="0"/>
          </a:p>
        </p:txBody>
      </p:sp>
      <p:sp>
        <p:nvSpPr>
          <p:cNvPr id="75" name="Shape 73"/>
          <p:cNvSpPr/>
          <p:nvPr/>
        </p:nvSpPr>
        <p:spPr>
          <a:xfrm>
            <a:off x="7955280" y="1316736"/>
            <a:ext cx="685800" cy="256032"/>
          </a:xfrm>
          <a:prstGeom prst="rect">
            <a:avLst/>
          </a:prstGeom>
          <a:solidFill>
            <a:srgbClr val="C62828"/>
          </a:solidFill>
          <a:ln/>
        </p:spPr>
        <p:txBody>
          <a:bodyPr/>
          <a:lstStyle/>
          <a:p>
            <a:endParaRPr lang="en-US"/>
          </a:p>
        </p:txBody>
      </p:sp>
      <p:sp>
        <p:nvSpPr>
          <p:cNvPr id="76" name="Text 74"/>
          <p:cNvSpPr/>
          <p:nvPr/>
        </p:nvSpPr>
        <p:spPr>
          <a:xfrm>
            <a:off x="7955280" y="131673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77" name="Shape 75"/>
          <p:cNvSpPr/>
          <p:nvPr/>
        </p:nvSpPr>
        <p:spPr>
          <a:xfrm>
            <a:off x="4709160" y="1572768"/>
            <a:ext cx="1920240" cy="256032"/>
          </a:xfrm>
          <a:prstGeom prst="rect">
            <a:avLst/>
          </a:prstGeom>
          <a:solidFill>
            <a:srgbClr val="FFFFFF"/>
          </a:solidFill>
          <a:ln w="3810">
            <a:solidFill>
              <a:srgbClr val="F0F0F0"/>
            </a:solidFill>
            <a:prstDash val="solid"/>
          </a:ln>
        </p:spPr>
        <p:txBody>
          <a:bodyPr/>
          <a:lstStyle/>
          <a:p>
            <a:endParaRPr lang="en-US"/>
          </a:p>
        </p:txBody>
      </p:sp>
      <p:sp>
        <p:nvSpPr>
          <p:cNvPr id="78" name="Text 76"/>
          <p:cNvSpPr/>
          <p:nvPr/>
        </p:nvSpPr>
        <p:spPr>
          <a:xfrm>
            <a:off x="4764024" y="157276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Prompt Versioning</a:t>
            </a:r>
            <a:endParaRPr lang="en-US" sz="850" dirty="0"/>
          </a:p>
        </p:txBody>
      </p:sp>
      <p:sp>
        <p:nvSpPr>
          <p:cNvPr id="79" name="Shape 77"/>
          <p:cNvSpPr/>
          <p:nvPr/>
        </p:nvSpPr>
        <p:spPr>
          <a:xfrm>
            <a:off x="6629400" y="1572768"/>
            <a:ext cx="1325880" cy="256032"/>
          </a:xfrm>
          <a:prstGeom prst="rect">
            <a:avLst/>
          </a:prstGeom>
          <a:solidFill>
            <a:srgbClr val="FFFFFF"/>
          </a:solidFill>
          <a:ln w="3810">
            <a:solidFill>
              <a:srgbClr val="F0F0F0"/>
            </a:solidFill>
            <a:prstDash val="solid"/>
          </a:ln>
        </p:spPr>
        <p:txBody>
          <a:bodyPr/>
          <a:lstStyle/>
          <a:p>
            <a:endParaRPr lang="en-US"/>
          </a:p>
        </p:txBody>
      </p:sp>
      <p:sp>
        <p:nvSpPr>
          <p:cNvPr id="80" name="Text 78"/>
          <p:cNvSpPr/>
          <p:nvPr/>
        </p:nvSpPr>
        <p:spPr>
          <a:xfrm>
            <a:off x="6675120" y="157276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prompts/registry.py</a:t>
            </a:r>
            <a:endParaRPr lang="en-US" sz="750" dirty="0"/>
          </a:p>
        </p:txBody>
      </p:sp>
      <p:sp>
        <p:nvSpPr>
          <p:cNvPr id="81" name="Shape 79"/>
          <p:cNvSpPr/>
          <p:nvPr/>
        </p:nvSpPr>
        <p:spPr>
          <a:xfrm>
            <a:off x="7955280" y="1572768"/>
            <a:ext cx="685800" cy="256032"/>
          </a:xfrm>
          <a:prstGeom prst="rect">
            <a:avLst/>
          </a:prstGeom>
          <a:solidFill>
            <a:srgbClr val="F9A825"/>
          </a:solidFill>
          <a:ln/>
        </p:spPr>
        <p:txBody>
          <a:bodyPr/>
          <a:lstStyle/>
          <a:p>
            <a:endParaRPr lang="en-US"/>
          </a:p>
        </p:txBody>
      </p:sp>
      <p:sp>
        <p:nvSpPr>
          <p:cNvPr id="82" name="Text 80"/>
          <p:cNvSpPr/>
          <p:nvPr/>
        </p:nvSpPr>
        <p:spPr>
          <a:xfrm>
            <a:off x="7955280" y="157276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83" name="Shape 81"/>
          <p:cNvSpPr/>
          <p:nvPr/>
        </p:nvSpPr>
        <p:spPr>
          <a:xfrm>
            <a:off x="4709160" y="1828800"/>
            <a:ext cx="1920240" cy="256032"/>
          </a:xfrm>
          <a:prstGeom prst="rect">
            <a:avLst/>
          </a:prstGeom>
          <a:solidFill>
            <a:srgbClr val="F5F5F5"/>
          </a:solidFill>
          <a:ln w="3810">
            <a:solidFill>
              <a:srgbClr val="F0F0F0"/>
            </a:solidFill>
            <a:prstDash val="solid"/>
          </a:ln>
        </p:spPr>
        <p:txBody>
          <a:bodyPr/>
          <a:lstStyle/>
          <a:p>
            <a:endParaRPr lang="en-US"/>
          </a:p>
        </p:txBody>
      </p:sp>
      <p:sp>
        <p:nvSpPr>
          <p:cNvPr id="84" name="Text 82"/>
          <p:cNvSpPr/>
          <p:nvPr/>
        </p:nvSpPr>
        <p:spPr>
          <a:xfrm>
            <a:off x="4764024" y="182880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Structured Output Guards</a:t>
            </a:r>
            <a:endParaRPr lang="en-US" sz="850" dirty="0"/>
          </a:p>
        </p:txBody>
      </p:sp>
      <p:sp>
        <p:nvSpPr>
          <p:cNvPr id="85" name="Shape 83"/>
          <p:cNvSpPr/>
          <p:nvPr/>
        </p:nvSpPr>
        <p:spPr>
          <a:xfrm>
            <a:off x="6629400" y="1828800"/>
            <a:ext cx="1325880" cy="256032"/>
          </a:xfrm>
          <a:prstGeom prst="rect">
            <a:avLst/>
          </a:prstGeom>
          <a:solidFill>
            <a:srgbClr val="F5F5F5"/>
          </a:solidFill>
          <a:ln w="3810">
            <a:solidFill>
              <a:srgbClr val="F0F0F0"/>
            </a:solidFill>
            <a:prstDash val="solid"/>
          </a:ln>
        </p:spPr>
        <p:txBody>
          <a:bodyPr/>
          <a:lstStyle/>
          <a:p>
            <a:endParaRPr lang="en-US"/>
          </a:p>
        </p:txBody>
      </p:sp>
      <p:sp>
        <p:nvSpPr>
          <p:cNvPr id="86" name="Text 84"/>
          <p:cNvSpPr/>
          <p:nvPr/>
        </p:nvSpPr>
        <p:spPr>
          <a:xfrm>
            <a:off x="6675120" y="182880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runtime/guardrails.py</a:t>
            </a:r>
            <a:endParaRPr lang="en-US" sz="750" dirty="0"/>
          </a:p>
        </p:txBody>
      </p:sp>
      <p:sp>
        <p:nvSpPr>
          <p:cNvPr id="87" name="Shape 85"/>
          <p:cNvSpPr/>
          <p:nvPr/>
        </p:nvSpPr>
        <p:spPr>
          <a:xfrm>
            <a:off x="7955280" y="1828800"/>
            <a:ext cx="685800" cy="256032"/>
          </a:xfrm>
          <a:prstGeom prst="rect">
            <a:avLst/>
          </a:prstGeom>
          <a:solidFill>
            <a:srgbClr val="F9A825"/>
          </a:solidFill>
          <a:ln/>
        </p:spPr>
        <p:txBody>
          <a:bodyPr/>
          <a:lstStyle/>
          <a:p>
            <a:endParaRPr lang="en-US"/>
          </a:p>
        </p:txBody>
      </p:sp>
      <p:sp>
        <p:nvSpPr>
          <p:cNvPr id="88" name="Text 86"/>
          <p:cNvSpPr/>
          <p:nvPr/>
        </p:nvSpPr>
        <p:spPr>
          <a:xfrm>
            <a:off x="7955280" y="182880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89" name="Shape 87"/>
          <p:cNvSpPr/>
          <p:nvPr/>
        </p:nvSpPr>
        <p:spPr>
          <a:xfrm>
            <a:off x="4709160" y="2084832"/>
            <a:ext cx="1920240" cy="256032"/>
          </a:xfrm>
          <a:prstGeom prst="rect">
            <a:avLst/>
          </a:prstGeom>
          <a:solidFill>
            <a:srgbClr val="FFFFFF"/>
          </a:solidFill>
          <a:ln w="3810">
            <a:solidFill>
              <a:srgbClr val="F0F0F0"/>
            </a:solidFill>
            <a:prstDash val="solid"/>
          </a:ln>
        </p:spPr>
        <p:txBody>
          <a:bodyPr/>
          <a:lstStyle/>
          <a:p>
            <a:endParaRPr lang="en-US"/>
          </a:p>
        </p:txBody>
      </p:sp>
      <p:sp>
        <p:nvSpPr>
          <p:cNvPr id="90" name="Text 88"/>
          <p:cNvSpPr/>
          <p:nvPr/>
        </p:nvSpPr>
        <p:spPr>
          <a:xfrm>
            <a:off x="4764024" y="2084832"/>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Cost Attribution</a:t>
            </a:r>
            <a:endParaRPr lang="en-US" sz="850" dirty="0"/>
          </a:p>
        </p:txBody>
      </p:sp>
      <p:sp>
        <p:nvSpPr>
          <p:cNvPr id="91" name="Shape 89"/>
          <p:cNvSpPr/>
          <p:nvPr/>
        </p:nvSpPr>
        <p:spPr>
          <a:xfrm>
            <a:off x="6629400" y="2084832"/>
            <a:ext cx="1325880" cy="256032"/>
          </a:xfrm>
          <a:prstGeom prst="rect">
            <a:avLst/>
          </a:prstGeom>
          <a:solidFill>
            <a:srgbClr val="FFFFFF"/>
          </a:solidFill>
          <a:ln w="3810">
            <a:solidFill>
              <a:srgbClr val="F0F0F0"/>
            </a:solidFill>
            <a:prstDash val="solid"/>
          </a:ln>
        </p:spPr>
        <p:txBody>
          <a:bodyPr/>
          <a:lstStyle/>
          <a:p>
            <a:endParaRPr lang="en-US"/>
          </a:p>
        </p:txBody>
      </p:sp>
      <p:sp>
        <p:nvSpPr>
          <p:cNvPr id="92" name="Text 90"/>
          <p:cNvSpPr/>
          <p:nvPr/>
        </p:nvSpPr>
        <p:spPr>
          <a:xfrm>
            <a:off x="6675120" y="2084832"/>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observability/cost_tracker</a:t>
            </a:r>
            <a:endParaRPr lang="en-US" sz="750" dirty="0"/>
          </a:p>
        </p:txBody>
      </p:sp>
      <p:sp>
        <p:nvSpPr>
          <p:cNvPr id="93" name="Shape 91"/>
          <p:cNvSpPr/>
          <p:nvPr/>
        </p:nvSpPr>
        <p:spPr>
          <a:xfrm>
            <a:off x="7955280" y="2084832"/>
            <a:ext cx="685800" cy="256032"/>
          </a:xfrm>
          <a:prstGeom prst="rect">
            <a:avLst/>
          </a:prstGeom>
          <a:solidFill>
            <a:srgbClr val="C62828"/>
          </a:solidFill>
          <a:ln/>
        </p:spPr>
        <p:txBody>
          <a:bodyPr/>
          <a:lstStyle/>
          <a:p>
            <a:endParaRPr lang="en-US"/>
          </a:p>
        </p:txBody>
      </p:sp>
      <p:sp>
        <p:nvSpPr>
          <p:cNvPr id="94" name="Text 92"/>
          <p:cNvSpPr/>
          <p:nvPr/>
        </p:nvSpPr>
        <p:spPr>
          <a:xfrm>
            <a:off x="7955280" y="2084832"/>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95" name="Shape 93"/>
          <p:cNvSpPr/>
          <p:nvPr/>
        </p:nvSpPr>
        <p:spPr>
          <a:xfrm>
            <a:off x="4709160" y="2340864"/>
            <a:ext cx="1920240" cy="256032"/>
          </a:xfrm>
          <a:prstGeom prst="rect">
            <a:avLst/>
          </a:prstGeom>
          <a:solidFill>
            <a:srgbClr val="F5F5F5"/>
          </a:solidFill>
          <a:ln w="3810">
            <a:solidFill>
              <a:srgbClr val="F0F0F0"/>
            </a:solidFill>
            <a:prstDash val="solid"/>
          </a:ln>
        </p:spPr>
        <p:txBody>
          <a:bodyPr/>
          <a:lstStyle/>
          <a:p>
            <a:endParaRPr lang="en-US"/>
          </a:p>
        </p:txBody>
      </p:sp>
      <p:sp>
        <p:nvSpPr>
          <p:cNvPr id="96" name="Text 94"/>
          <p:cNvSpPr/>
          <p:nvPr/>
        </p:nvSpPr>
        <p:spPr>
          <a:xfrm>
            <a:off x="4764024" y="2340864"/>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Immutable Audit Log</a:t>
            </a:r>
            <a:endParaRPr lang="en-US" sz="850" dirty="0"/>
          </a:p>
        </p:txBody>
      </p:sp>
      <p:sp>
        <p:nvSpPr>
          <p:cNvPr id="97" name="Shape 95"/>
          <p:cNvSpPr/>
          <p:nvPr/>
        </p:nvSpPr>
        <p:spPr>
          <a:xfrm>
            <a:off x="6629400" y="2340864"/>
            <a:ext cx="1325880" cy="256032"/>
          </a:xfrm>
          <a:prstGeom prst="rect">
            <a:avLst/>
          </a:prstGeom>
          <a:solidFill>
            <a:srgbClr val="F5F5F5"/>
          </a:solidFill>
          <a:ln w="3810">
            <a:solidFill>
              <a:srgbClr val="F0F0F0"/>
            </a:solidFill>
            <a:prstDash val="solid"/>
          </a:ln>
        </p:spPr>
        <p:txBody>
          <a:bodyPr/>
          <a:lstStyle/>
          <a:p>
            <a:endParaRPr lang="en-US"/>
          </a:p>
        </p:txBody>
      </p:sp>
      <p:sp>
        <p:nvSpPr>
          <p:cNvPr id="98" name="Text 96"/>
          <p:cNvSpPr/>
          <p:nvPr/>
        </p:nvSpPr>
        <p:spPr>
          <a:xfrm>
            <a:off x="6675120" y="2340864"/>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audit_log.py + S3 archive</a:t>
            </a:r>
            <a:endParaRPr lang="en-US" sz="750" dirty="0"/>
          </a:p>
        </p:txBody>
      </p:sp>
      <p:sp>
        <p:nvSpPr>
          <p:cNvPr id="99" name="Shape 97"/>
          <p:cNvSpPr/>
          <p:nvPr/>
        </p:nvSpPr>
        <p:spPr>
          <a:xfrm>
            <a:off x="7955280" y="2340864"/>
            <a:ext cx="685800" cy="256032"/>
          </a:xfrm>
          <a:prstGeom prst="rect">
            <a:avLst/>
          </a:prstGeom>
          <a:solidFill>
            <a:srgbClr val="C62828"/>
          </a:solidFill>
          <a:ln/>
        </p:spPr>
        <p:txBody>
          <a:bodyPr/>
          <a:lstStyle/>
          <a:p>
            <a:endParaRPr lang="en-US"/>
          </a:p>
        </p:txBody>
      </p:sp>
      <p:sp>
        <p:nvSpPr>
          <p:cNvPr id="100" name="Text 98"/>
          <p:cNvSpPr/>
          <p:nvPr/>
        </p:nvSpPr>
        <p:spPr>
          <a:xfrm>
            <a:off x="7955280" y="2340864"/>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101" name="Shape 99"/>
          <p:cNvSpPr/>
          <p:nvPr/>
        </p:nvSpPr>
        <p:spPr>
          <a:xfrm>
            <a:off x="4709160" y="2596896"/>
            <a:ext cx="1920240" cy="256032"/>
          </a:xfrm>
          <a:prstGeom prst="rect">
            <a:avLst/>
          </a:prstGeom>
          <a:solidFill>
            <a:srgbClr val="FFFFFF"/>
          </a:solidFill>
          <a:ln w="3810">
            <a:solidFill>
              <a:srgbClr val="F0F0F0"/>
            </a:solidFill>
            <a:prstDash val="solid"/>
          </a:ln>
        </p:spPr>
        <p:txBody>
          <a:bodyPr/>
          <a:lstStyle/>
          <a:p>
            <a:endParaRPr lang="en-US"/>
          </a:p>
        </p:txBody>
      </p:sp>
      <p:sp>
        <p:nvSpPr>
          <p:cNvPr id="102" name="Text 100"/>
          <p:cNvSpPr/>
          <p:nvPr/>
        </p:nvSpPr>
        <p:spPr>
          <a:xfrm>
            <a:off x="4764024" y="259689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PII Classifier &amp; Redact</a:t>
            </a:r>
            <a:endParaRPr lang="en-US" sz="850" dirty="0"/>
          </a:p>
        </p:txBody>
      </p:sp>
      <p:sp>
        <p:nvSpPr>
          <p:cNvPr id="103" name="Shape 101"/>
          <p:cNvSpPr/>
          <p:nvPr/>
        </p:nvSpPr>
        <p:spPr>
          <a:xfrm>
            <a:off x="6629400" y="2596896"/>
            <a:ext cx="1325880" cy="256032"/>
          </a:xfrm>
          <a:prstGeom prst="rect">
            <a:avLst/>
          </a:prstGeom>
          <a:solidFill>
            <a:srgbClr val="FFFFFF"/>
          </a:solidFill>
          <a:ln w="3810">
            <a:solidFill>
              <a:srgbClr val="F0F0F0"/>
            </a:solidFill>
            <a:prstDash val="solid"/>
          </a:ln>
        </p:spPr>
        <p:txBody>
          <a:bodyPr/>
          <a:lstStyle/>
          <a:p>
            <a:endParaRPr lang="en-US"/>
          </a:p>
        </p:txBody>
      </p:sp>
      <p:sp>
        <p:nvSpPr>
          <p:cNvPr id="104" name="Text 102"/>
          <p:cNvSpPr/>
          <p:nvPr/>
        </p:nvSpPr>
        <p:spPr>
          <a:xfrm>
            <a:off x="6675120" y="259689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Presidio integration</a:t>
            </a:r>
            <a:endParaRPr lang="en-US" sz="750" dirty="0"/>
          </a:p>
        </p:txBody>
      </p:sp>
      <p:sp>
        <p:nvSpPr>
          <p:cNvPr id="105" name="Shape 103"/>
          <p:cNvSpPr/>
          <p:nvPr/>
        </p:nvSpPr>
        <p:spPr>
          <a:xfrm>
            <a:off x="7955280" y="2596896"/>
            <a:ext cx="685800" cy="256032"/>
          </a:xfrm>
          <a:prstGeom prst="rect">
            <a:avLst/>
          </a:prstGeom>
          <a:solidFill>
            <a:srgbClr val="C62828"/>
          </a:solidFill>
          <a:ln/>
        </p:spPr>
        <p:txBody>
          <a:bodyPr/>
          <a:lstStyle/>
          <a:p>
            <a:endParaRPr lang="en-US"/>
          </a:p>
        </p:txBody>
      </p:sp>
      <p:sp>
        <p:nvSpPr>
          <p:cNvPr id="106" name="Text 104"/>
          <p:cNvSpPr/>
          <p:nvPr/>
        </p:nvSpPr>
        <p:spPr>
          <a:xfrm>
            <a:off x="7955280" y="259689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107" name="Shape 105"/>
          <p:cNvSpPr/>
          <p:nvPr/>
        </p:nvSpPr>
        <p:spPr>
          <a:xfrm>
            <a:off x="4709160" y="2852928"/>
            <a:ext cx="1920240" cy="256032"/>
          </a:xfrm>
          <a:prstGeom prst="rect">
            <a:avLst/>
          </a:prstGeom>
          <a:solidFill>
            <a:srgbClr val="F5F5F5"/>
          </a:solidFill>
          <a:ln w="3810">
            <a:solidFill>
              <a:srgbClr val="F0F0F0"/>
            </a:solidFill>
            <a:prstDash val="solid"/>
          </a:ln>
        </p:spPr>
        <p:txBody>
          <a:bodyPr/>
          <a:lstStyle/>
          <a:p>
            <a:endParaRPr lang="en-US"/>
          </a:p>
        </p:txBody>
      </p:sp>
      <p:sp>
        <p:nvSpPr>
          <p:cNvPr id="108" name="Text 106"/>
          <p:cNvSpPr/>
          <p:nvPr/>
        </p:nvSpPr>
        <p:spPr>
          <a:xfrm>
            <a:off x="4764024" y="285292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Model Allowlist Governance</a:t>
            </a:r>
            <a:endParaRPr lang="en-US" sz="850" dirty="0"/>
          </a:p>
        </p:txBody>
      </p:sp>
      <p:sp>
        <p:nvSpPr>
          <p:cNvPr id="109" name="Shape 107"/>
          <p:cNvSpPr/>
          <p:nvPr/>
        </p:nvSpPr>
        <p:spPr>
          <a:xfrm>
            <a:off x="6629400" y="2852928"/>
            <a:ext cx="1325880" cy="256032"/>
          </a:xfrm>
          <a:prstGeom prst="rect">
            <a:avLst/>
          </a:prstGeom>
          <a:solidFill>
            <a:srgbClr val="F5F5F5"/>
          </a:solidFill>
          <a:ln w="3810">
            <a:solidFill>
              <a:srgbClr val="F0F0F0"/>
            </a:solidFill>
            <a:prstDash val="solid"/>
          </a:ln>
        </p:spPr>
        <p:txBody>
          <a:bodyPr/>
          <a:lstStyle/>
          <a:p>
            <a:endParaRPr lang="en-US"/>
          </a:p>
        </p:txBody>
      </p:sp>
      <p:sp>
        <p:nvSpPr>
          <p:cNvPr id="110" name="Text 108"/>
          <p:cNvSpPr/>
          <p:nvPr/>
        </p:nvSpPr>
        <p:spPr>
          <a:xfrm>
            <a:off x="6675120" y="285292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governance/model_policy.py</a:t>
            </a:r>
            <a:endParaRPr lang="en-US" sz="750" dirty="0"/>
          </a:p>
        </p:txBody>
      </p:sp>
      <p:sp>
        <p:nvSpPr>
          <p:cNvPr id="111" name="Shape 109"/>
          <p:cNvSpPr/>
          <p:nvPr/>
        </p:nvSpPr>
        <p:spPr>
          <a:xfrm>
            <a:off x="7955280" y="2852928"/>
            <a:ext cx="685800" cy="256032"/>
          </a:xfrm>
          <a:prstGeom prst="rect">
            <a:avLst/>
          </a:prstGeom>
          <a:solidFill>
            <a:srgbClr val="F9A825"/>
          </a:solidFill>
          <a:ln/>
        </p:spPr>
        <p:txBody>
          <a:bodyPr/>
          <a:lstStyle/>
          <a:p>
            <a:endParaRPr lang="en-US"/>
          </a:p>
        </p:txBody>
      </p:sp>
      <p:sp>
        <p:nvSpPr>
          <p:cNvPr id="112" name="Text 110"/>
          <p:cNvSpPr/>
          <p:nvPr/>
        </p:nvSpPr>
        <p:spPr>
          <a:xfrm>
            <a:off x="7955280" y="285292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113" name="Shape 111"/>
          <p:cNvSpPr/>
          <p:nvPr/>
        </p:nvSpPr>
        <p:spPr>
          <a:xfrm>
            <a:off x="4709160" y="3108960"/>
            <a:ext cx="1920240" cy="256032"/>
          </a:xfrm>
          <a:prstGeom prst="rect">
            <a:avLst/>
          </a:prstGeom>
          <a:solidFill>
            <a:srgbClr val="FFFFFF"/>
          </a:solidFill>
          <a:ln w="3810">
            <a:solidFill>
              <a:srgbClr val="F0F0F0"/>
            </a:solidFill>
            <a:prstDash val="solid"/>
          </a:ln>
        </p:spPr>
        <p:txBody>
          <a:bodyPr/>
          <a:lstStyle/>
          <a:p>
            <a:endParaRPr lang="en-US"/>
          </a:p>
        </p:txBody>
      </p:sp>
      <p:sp>
        <p:nvSpPr>
          <p:cNvPr id="114" name="Text 112"/>
          <p:cNvSpPr/>
          <p:nvPr/>
        </p:nvSpPr>
        <p:spPr>
          <a:xfrm>
            <a:off x="4764024" y="310896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Red-Team Eval Infra</a:t>
            </a:r>
            <a:endParaRPr lang="en-US" sz="850" dirty="0"/>
          </a:p>
        </p:txBody>
      </p:sp>
      <p:sp>
        <p:nvSpPr>
          <p:cNvPr id="115" name="Shape 113"/>
          <p:cNvSpPr/>
          <p:nvPr/>
        </p:nvSpPr>
        <p:spPr>
          <a:xfrm>
            <a:off x="6629400" y="3108960"/>
            <a:ext cx="1325880" cy="256032"/>
          </a:xfrm>
          <a:prstGeom prst="rect">
            <a:avLst/>
          </a:prstGeom>
          <a:solidFill>
            <a:srgbClr val="FFFFFF"/>
          </a:solidFill>
          <a:ln w="3810">
            <a:solidFill>
              <a:srgbClr val="F0F0F0"/>
            </a:solidFill>
            <a:prstDash val="solid"/>
          </a:ln>
        </p:spPr>
        <p:txBody>
          <a:bodyPr/>
          <a:lstStyle/>
          <a:p>
            <a:endParaRPr lang="en-US"/>
          </a:p>
        </p:txBody>
      </p:sp>
      <p:sp>
        <p:nvSpPr>
          <p:cNvPr id="116" name="Text 114"/>
          <p:cNvSpPr/>
          <p:nvPr/>
        </p:nvSpPr>
        <p:spPr>
          <a:xfrm>
            <a:off x="6675120" y="310896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benchmark/red_team.py</a:t>
            </a:r>
            <a:endParaRPr lang="en-US" sz="750" dirty="0"/>
          </a:p>
        </p:txBody>
      </p:sp>
      <p:sp>
        <p:nvSpPr>
          <p:cNvPr id="117" name="Shape 115"/>
          <p:cNvSpPr/>
          <p:nvPr/>
        </p:nvSpPr>
        <p:spPr>
          <a:xfrm>
            <a:off x="7955280" y="3108960"/>
            <a:ext cx="685800" cy="256032"/>
          </a:xfrm>
          <a:prstGeom prst="rect">
            <a:avLst/>
          </a:prstGeom>
          <a:solidFill>
            <a:srgbClr val="F9A825"/>
          </a:solidFill>
          <a:ln/>
        </p:spPr>
        <p:txBody>
          <a:bodyPr/>
          <a:lstStyle/>
          <a:p>
            <a:endParaRPr lang="en-US"/>
          </a:p>
        </p:txBody>
      </p:sp>
      <p:sp>
        <p:nvSpPr>
          <p:cNvPr id="118" name="Text 116"/>
          <p:cNvSpPr/>
          <p:nvPr/>
        </p:nvSpPr>
        <p:spPr>
          <a:xfrm>
            <a:off x="7955280" y="310896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119" name="Text 117"/>
          <p:cNvSpPr/>
          <p:nvPr/>
        </p:nvSpPr>
        <p:spPr>
          <a:xfrm>
            <a:off x="502920" y="4370832"/>
            <a:ext cx="685800" cy="201168"/>
          </a:xfrm>
          <a:prstGeom prst="rect">
            <a:avLst/>
          </a:prstGeom>
          <a:noFill/>
          <a:ln/>
        </p:spPr>
        <p:txBody>
          <a:bodyPr wrap="square" lIns="0" tIns="0" rIns="0" bIns="0" rtlCol="0" anchor="ctr"/>
          <a:lstStyle/>
          <a:p>
            <a:pPr marL="0" indent="0">
              <a:buNone/>
            </a:pPr>
            <a:r>
              <a:rPr lang="en-US" sz="900" dirty="0">
                <a:solidFill>
                  <a:srgbClr val="999999"/>
                </a:solidFill>
                <a:latin typeface="Arial" pitchFamily="34" charset="0"/>
                <a:ea typeface="Arial" pitchFamily="34" charset="-122"/>
                <a:cs typeface="Arial" pitchFamily="34" charset="-120"/>
              </a:rPr>
              <a:t>Severity:</a:t>
            </a:r>
            <a:endParaRPr lang="en-US" sz="900" dirty="0"/>
          </a:p>
        </p:txBody>
      </p:sp>
      <p:sp>
        <p:nvSpPr>
          <p:cNvPr id="120" name="Shape 118"/>
          <p:cNvSpPr/>
          <p:nvPr/>
        </p:nvSpPr>
        <p:spPr>
          <a:xfrm>
            <a:off x="1216152" y="4398264"/>
            <a:ext cx="502920" cy="146304"/>
          </a:xfrm>
          <a:prstGeom prst="rect">
            <a:avLst/>
          </a:prstGeom>
          <a:solidFill>
            <a:srgbClr val="C62828"/>
          </a:solidFill>
          <a:ln/>
        </p:spPr>
        <p:txBody>
          <a:bodyPr/>
          <a:lstStyle/>
          <a:p>
            <a:endParaRPr lang="en-US"/>
          </a:p>
        </p:txBody>
      </p:sp>
      <p:sp>
        <p:nvSpPr>
          <p:cNvPr id="121" name="Text 119"/>
          <p:cNvSpPr/>
          <p:nvPr/>
        </p:nvSpPr>
        <p:spPr>
          <a:xfrm>
            <a:off x="1764792" y="4370832"/>
            <a:ext cx="777240" cy="201168"/>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Critical</a:t>
            </a:r>
            <a:endParaRPr lang="en-US" sz="900" dirty="0"/>
          </a:p>
        </p:txBody>
      </p:sp>
      <p:sp>
        <p:nvSpPr>
          <p:cNvPr id="122" name="Shape 120"/>
          <p:cNvSpPr/>
          <p:nvPr/>
        </p:nvSpPr>
        <p:spPr>
          <a:xfrm>
            <a:off x="2542032" y="4398264"/>
            <a:ext cx="502920" cy="146304"/>
          </a:xfrm>
          <a:prstGeom prst="rect">
            <a:avLst/>
          </a:prstGeom>
          <a:solidFill>
            <a:srgbClr val="F9A825"/>
          </a:solidFill>
          <a:ln/>
        </p:spPr>
        <p:txBody>
          <a:bodyPr/>
          <a:lstStyle/>
          <a:p>
            <a:endParaRPr lang="en-US"/>
          </a:p>
        </p:txBody>
      </p:sp>
      <p:sp>
        <p:nvSpPr>
          <p:cNvPr id="123" name="Text 121"/>
          <p:cNvSpPr/>
          <p:nvPr/>
        </p:nvSpPr>
        <p:spPr>
          <a:xfrm>
            <a:off x="3090672" y="4370832"/>
            <a:ext cx="777240" cy="201168"/>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High</a:t>
            </a:r>
            <a:endParaRPr lang="en-US" sz="900" dirty="0"/>
          </a:p>
        </p:txBody>
      </p:sp>
      <p:sp>
        <p:nvSpPr>
          <p:cNvPr id="124" name="Shape 122"/>
          <p:cNvSpPr/>
          <p:nvPr/>
        </p:nvSpPr>
        <p:spPr>
          <a:xfrm>
            <a:off x="3867912" y="4398264"/>
            <a:ext cx="502920" cy="146304"/>
          </a:xfrm>
          <a:prstGeom prst="rect">
            <a:avLst/>
          </a:prstGeom>
          <a:solidFill>
            <a:srgbClr val="0097A7"/>
          </a:solidFill>
          <a:ln/>
        </p:spPr>
        <p:txBody>
          <a:bodyPr/>
          <a:lstStyle/>
          <a:p>
            <a:endParaRPr lang="en-US"/>
          </a:p>
        </p:txBody>
      </p:sp>
      <p:sp>
        <p:nvSpPr>
          <p:cNvPr id="125" name="Text 123"/>
          <p:cNvSpPr/>
          <p:nvPr/>
        </p:nvSpPr>
        <p:spPr>
          <a:xfrm>
            <a:off x="4416552" y="4370832"/>
            <a:ext cx="777240" cy="201168"/>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Medium</a:t>
            </a:r>
            <a:endParaRPr lang="en-US" sz="900" dirty="0"/>
          </a:p>
        </p:txBody>
      </p:sp>
      <p:sp>
        <p:nvSpPr>
          <p:cNvPr id="126" name="Shape 124"/>
          <p:cNvSpPr/>
          <p:nvPr/>
        </p:nvSpPr>
        <p:spPr>
          <a:xfrm>
            <a:off x="502920" y="4617720"/>
            <a:ext cx="8138160" cy="182880"/>
          </a:xfrm>
          <a:prstGeom prst="rect">
            <a:avLst/>
          </a:prstGeom>
          <a:solidFill>
            <a:srgbClr val="E0F7FA"/>
          </a:solidFill>
          <a:ln w="12700">
            <a:solidFill>
              <a:srgbClr val="0097A7"/>
            </a:solidFill>
            <a:prstDash val="solid"/>
          </a:ln>
        </p:spPr>
        <p:txBody>
          <a:bodyPr/>
          <a:lstStyle/>
          <a:p>
            <a:endParaRPr lang="en-US"/>
          </a:p>
        </p:txBody>
      </p:sp>
      <p:sp>
        <p:nvSpPr>
          <p:cNvPr id="127" name="Text 125"/>
          <p:cNvSpPr/>
          <p:nvPr/>
        </p:nvSpPr>
        <p:spPr>
          <a:xfrm>
            <a:off x="594360" y="4617720"/>
            <a:ext cx="7955280" cy="18288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Sprint order: Critical-first (compliance &amp; security), then High (scale &amp; reliability), then Medium (governance polish).</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2802</TotalTime>
  <Words>12520</Words>
  <Application>Microsoft Macintosh PowerPoint</Application>
  <PresentationFormat>On-screen Show (16:9)</PresentationFormat>
  <Paragraphs>1306</Paragraphs>
  <Slides>53</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Chatbot v2 — Complete System Deep-Dive</dc:title>
  <dc:subject>PptxGenJS Presentation</dc:subject>
  <dc:creator>Shiv</dc:creator>
  <cp:lastModifiedBy>Balodi, Shiv A</cp:lastModifiedBy>
  <cp:revision>2</cp:revision>
  <dcterms:created xsi:type="dcterms:W3CDTF">2026-04-22T02:21:53Z</dcterms:created>
  <dcterms:modified xsi:type="dcterms:W3CDTF">2026-04-29T23:12:51Z</dcterms:modified>
</cp:coreProperties>
</file>