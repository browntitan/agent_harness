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386" r:id="rId3"/>
    <p:sldId id="387" r:id="rId4"/>
    <p:sldId id="388" r:id="rId5"/>
    <p:sldId id="389" r:id="rId6"/>
    <p:sldId id="390" r:id="rId7"/>
    <p:sldId id="257" r:id="rId8"/>
    <p:sldId id="258" r:id="rId9"/>
    <p:sldId id="392" r:id="rId10"/>
    <p:sldId id="394" r:id="rId12"/>
    <p:sldId id="270" r:id="rId14"/>
    <p:sldId id="271" r:id="rId15"/>
    <p:sldId id="399" r:id="rId31"/>
    <p:sldId id="404" r:id="rId36"/>
    <p:sldId id="279" r:id="rId16"/>
    <p:sldId id="294" r:id="rId26"/>
    <p:sldId id="358" r:id="rId45"/>
    <p:sldId id="285" r:id="rId17"/>
    <p:sldId id="286" r:id="rId18"/>
    <p:sldId id="311" r:id="rId19"/>
    <p:sldId id="393" r:id="rId13"/>
    <p:sldId id="391" r:id="rId11"/>
    <p:sldId id="400" r:id="rId32"/>
    <p:sldId id="401" r:id="rId33"/>
    <p:sldId id="313" r:id="rId27"/>
    <p:sldId id="357" r:id="rId44"/>
    <p:sldId id="405" r:id="rId37"/>
    <p:sldId id="356" r:id="rId43"/>
    <p:sldId id="403" r:id="rId35"/>
    <p:sldId id="288" r:id="rId20"/>
    <p:sldId id="289" r:id="rId21"/>
    <p:sldId id="290" r:id="rId22"/>
    <p:sldId id="291" r:id="rId23"/>
    <p:sldId id="292" r:id="rId24"/>
    <p:sldId id="293" r:id="rId25"/>
    <p:sldId id="396" r:id="rId28"/>
    <p:sldId id="397" r:id="rId29"/>
    <p:sldId id="398" r:id="rId30"/>
    <p:sldId id="402" r:id="rId34"/>
    <p:sldId id="406" r:id="rId38"/>
    <p:sldId id="359" r:id="rId46"/>
    <p:sldId id="260" r:id="rId39"/>
    <p:sldId id="261" r:id="rId40"/>
    <p:sldId id="262" r:id="rId41"/>
    <p:sldId id="264" r:id="rId42"/>
    <p:sldId id="360" r:id="rId47"/>
    <p:sldId id="354" r:id="rId48"/>
    <p:sldId id="380" r:id="rId49"/>
    <p:sldId id="381" r:id="rId50"/>
    <p:sldId id="382" r:id="rId51"/>
    <p:sldId id="383" r:id="rId52"/>
    <p:sldId id="384" r:id="rId53"/>
    <p:sldId id="385" r:id="rId5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39"/>
    <p:restoredTop sz="77613"/>
  </p:normalViewPr>
  <p:slideViewPr>
    <p:cSldViewPr snapToGrid="0" snapToObjects="1">
      <p:cViewPr varScale="1">
        <p:scale>
          <a:sx n="164" d="100"/>
          <a:sy n="164" d="100"/>
        </p:scale>
        <p:origin x="1232" y="16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161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48.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9.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0.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1.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2.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3.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thanks for joining! So today we're going to walk through this entire agentic chatbot system from top to bottom. By the end, you'll understand how every piece talks to each other — from that first HTTP request all the way through routing, agent selection, and getting back a smart answer. Ready?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think of this system like a really smart switchboard operator, right? A customer calls in with a question, and this operator has to figure out: 'Do I just answer this quickly, or do I need to get a specialist involved?' If it's simple, boom — direct answer. If it's complex, the operator routes it to the right department. Same idea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every request, no matter what, follows this exact path. See that fork in the road in the middle? That's the router — the most important decision point. It asks: 'Is this BASIC — just chat, no tools needed?' Or is it AGENT — meaning 'This needs some real processing, tools, maybe multiple steps.' We're gonna spend the next 40 slides unpacking every box in this flow.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system at a glance — four numbers that capture the scale. We have 12 specialized agents, each defined as a markdown file with YAML frontmatter rather than hard-coded classes. This "agents as data" approach means you can change an agent's behavior, tools, or mode by editing a markdown file and hitting the reload endpoint — no code deployment needed. 55 registered tools are organized into 8 functional groups: orchestration, RAG gateway, analyst, graph gateway, memory, utility, discovery, and skills. Each agent gets a curated subset via its allowed_tools whitelist. 7 execution modes determine how each agent processes requests: basic, react, rag, planner, finalizer, verifier, memory_maintainer, and coordinator. The three-layer runtime separates concerns cleanly: RuntimeService handles orchestration and routing, RuntimeKernel manages session state and persistence, and QueryLoop runs the actual LLM calls. GraphRAG integration adds knowledge graph querying alongside traditional vector search. MCP enables dynamic tool discovery from external servers. And the worker orchestration system with 14 tools supports multi-agent coordination where a coordinator can decompose complex tasks across parallel workers. The 70-endpoint admin API lets operators inspect and modify all of this at runtime.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surface tells you the scope of what this system exposes. On the public side, 48 endpoints follow the OpenAI-compatible protocol, meaning any client that speaks the OpenAI API can connect without modification. The chat endpoints include /v1/chat/completions for standard chat and /v1/connector/chat for MCP-integrated conversations. Document endpoints handle upload, ingestion, and source downloads. Graph endpoints let you list, get, index, import, and query knowledge graphs. Skills endpoints provide full CRUD plus activate, deactivate, preview, and rollback. MCP connection endpoints handle CRUD, tool listing, testing, and refresh. Jobs and tasks endpoints manage background work, and the team mailbox endpoints let agents communicate through channels. On the admin side, roughly 78 endpoints power the control panel. Agent management has 5 endpoints for listing, getting, updating, deleting, and hot-reloading agents. Collection management has 13 endpoints for CRUD, document listing, upload, sync, repair, and health checks. The access control section has 15 endpoints covering principals, roles, bindings, memberships, and permissions — this is the RBAC system we will detail later. Graph admin has 15 endpoints for full graph lifecycle management including build, refresh, validate, prompt tuning, and skill assignment. Config admin provides 4 endpoints for schema inspection, effective config view, validation, and runtime apply. All admin endpoints require X-Admin-Token authentication.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imagine Russian dolls — three layers. RuntimeService handles workspace, KB ready, routing. RuntimeKernel loads session, LLM config, events, jobs. QueryLoop runs the LLM in the right mode. Service never calls LLM. QueryLoop never persists. Kernel is the glue. That separation is why it's maintainable.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RuntimeService doesn't know HOW to run an agent, just WHICH agent to run. try/finally around progress cleanup prevents resource leaks. Circuit breaker chain: if agent's provider is down, falls back to basic mode with different provider. If even that fails, returns graceful degraded message. API callers can pass requested_agent_override to force specific agent.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 is the first decision. Three modes: hybrid (default, regex first), llm_only, or disabled. Dynamic agent discovery from registry means new agents are automatically routable. Circuit breaker on judge: if down, fall back to regex.</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System has 12 agents. Key tool count updates from the latest audit: general has 33 tools (including MCP wildcard for dynamic tool discovery), coordinator has 11 tools (spawn_worker, message_worker, team mailbox tools, etc.), data_analyst has 20 tools (analyst + team mailbox + invoke_agent), graph_manager has 12 tools, utility has 13 tools, verifier has 13 tools (RAG + graph). basic, rag_worker, planner, and finalizer have 0 tools. memory_maintainer has 3. Coordinator now has 9 allowed workers including graph_manager.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is the decoder ring. Mode field determines execution path. Coordinator is special — handled by Kernel, not QueryLoop. React is most powerful — access to tools. Basic is simplest. RAG has structured pipeline with citations.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 this one — it's the cheat sheet. When you're debugging, check here first. Only data_analyst can run code. Only agents with Workers=Yes can spawn sub-agents. The asterisk on RAG means they use the rag_agent_tool wrapper, not the native pipeline — less control but still functional. rag_worker is the only one with native RAG. Role kind tells you where it runs: top_level is user-facing, workers are coordinator-spawned, coordinator-only is internal pipeline, background runs automatically.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covered the architecture, agents, tools, RAG pipeline, and GraphRAG individually, let us see how they all work together in practice. The next six slides trace five different request types end-to-end through the system, from the moment the HTTP request arrives to the final response being streamed back. We will cover: a simple general knowledge question that takes the fast basic path, a data analysis request with CSV upload that exercises the Docker sandbox, a document-specific question that runs the full RAG pipeline with citations, a complex multi-part request that triggers the coordinator's planner-workers-finalizer pipeline, and a memory extraction scenario showing how the system learns user preferences over time. Pay attention to how the router makes different decisions for each scenario and how the execution path changes accordingly. These flows are the best way to build intuition for how the system behaves in production.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asks 'What is machine learning?' — simple question. No attachments, short text, confidence 0.85, routes BASIC. FastAPI calls RuntimeService, delegates to BasicAgent via QueryLoop. One LLM call, no tools. Fast and cheap.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ReAct loop with data analyst. User uploads CSV. System loads, inspects columns, plans analysis, executes, maybe runs code in sandbox, returns artifacts. File upload in workspace, referenced by upload_id. Agent retries if tool fails.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pipeline in action. User asks document-specific question. Router detects keyword, high confidence, routes to rag_worker. Agent retrieves chunks, ranks, synthesizes, cites. If synthesis fails, fallback scan finds domain themes, assembles from snippets without hallucinating.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powerful flow. User asks multi-part task. Router detects 'multi-step', routes to coordinator. Planner breaks into subtasks. Workers run parallel. Finalizer synthesizes. Verifier fact-checks. Loop back if issues. Cap at 4 rounds.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makes learning happen. Two halves work together. memory_maintainer extracts facts after each turn, stores by tenant/user. MemoryContextBuilder retrieves before LLM call so agent knows past preferences, decisions. Institutional memory.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and pin it. Complete routing tree. Every question hits this flowchart. Single most important decision point. If routing is wrong, nothing else matters. Right routing enables agent specialization.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thing about retrieval — it's noisy. You might pull chunks that look relevant but aren't actually answering the question. That's where the judge LLM comes in. It's a fast, cheap model that scores each chunk on relevance, and we only pass the high-scoring chunks to the synthesis step. Saves compute and prevents hallucination from junk.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authorization subsystem implements Role-Based Access Control, or RBAC, which is the industry standard for managing who can do what in an enterprise system. Let me walk through the model. Principals are the identities - users and service accounts, each with a unique ID. Roles are named permission bundles like admin, editor, and viewer. Bindings map a principal to a role on a specific resource - so you might bind user Alice to the editor role on collection "hr-docs". Memberships handle group-level role inheritance so you do not have to assign roles individually to every user. And Permissions are the granular resource-action pairs like "collection:read" or "agent:invoke". The system exposes 15 admin endpoints for managing all of this - CRUD operations for principals, roles, bindings, memberships, plus a permissions query and an effective-access endpoint that resolves the full permission set for a given principal. The authz service in authz/service.py is about 269 lines and provides tenant-scoped resource access. It integrates with the API gateway via gateway_security.py, with connector endpoints via connector_security.py, and with the skill runtime for per-skill access filtering. Tool policy enforcement happens in tools/policy.py. This is the foundation - the next evolution is ABAC, attribute-based access control, which would add dataset-level and column-level checks.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documents subsystem is the backbone of how the system ingests, compares, and reasons about uploaded files. It spans 16 Python files across extractors, comparison logic, consolidation campaigns, similarity analysis, evidence compilation, templates, and serializers. On the extraction side, it supports 9 file formats: PDF, DOCX, PPTX, XLSX, XLS, TXT, Markdown, CSV, and TSV. PDF extraction uses the Docling parser for high-fidelity parsing with a cap of 200 elements per extraction to keep context manageable. Document comparison in compare.py uses key-based matching plus fuzzy matching with a 0.72 similarity threshold. It identifies 12 obligation modality patterns - these are regulatory language patterns like "shall", "must", "required_to", "prohibited", "permitted", and "may" - each with a binding strength ranking. When obligations change between document versions, the system escalates severity automatically. Consolidation campaigns handle multi-document corpus analysis using IDF weighting, union-find clustering, and weighted Jaccard scoring across 6 focus modes. The evidence binder compiles graded evidence into formatted reference packets with inline citations - this is what the RAG pipeline uses to build its final answers. Similarity analysis uses TF-IDF fingerprinting with 28 process keyword patterns and n-gram comparison. This entire subsystem feeds directly into the RAG pipeline and the document-related tools.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the system's way of injecting domain-specific guidance into agent behavior at runtime without changing code. Think of a skill as a markdown document with YAML frontmatter that gets loaded into an agent's context when it is relevant to the current task. There are 3 skill kinds: retrievable skills are guidance documents indexed for semantic search, executable skills contain runnable instructions, and hybrid skills combine both. The system has 49 skill packs organized across 7 subdirectories - one per agent type - covering everything from data analysis patterns to RAG strategies. The lifecycle works in four stages. First, SkillPackFile validates the YAML frontmatter and computes a SHA256 checksum for integrity tracking. Second, SkillIndexSync discovers markdown files, chunks them for RAG indexing, and builds an inverted index - incremental sync by checksum means only changed skills get re-indexed. Third, SkillResolver does semantic retrieval using BM25 and embedding search, filtering by agent_scope and tags, with pinned skills getting priority. Fourth, SkillRuntime merges the query, matched skills, and session context within a 4000-character budget with access control filtering. Skills run in two execution contexts: inline runs in the agent's process, fork runs in isolation. Five effort levels - empty string meaning default, low, medium, high, and xhigh - control how much compute a skill execution is allowed. The telemetry module tracks an 80 percent success SLO with a 20-use review window, and the dependency graph module uses DFS cycle detection to validate skill dependencies.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system abstracts away the underlying LLM services so agents do not care whether they are talking to OpenAI, Anthropic, Ollama, or any other provider. The providers directory has 6 files: factory, llm_factory, circuit_breaker, output_limits, and dependency_checks. At the core, AgentProviderResolver caches bundles by a 6-tuple of provider, model, and capabilities. Each agent can override its LLM via the AGENT_NAME_CHAT_MODEL environment variable. Token caps follow a chain: request-level overrides agent-level, which overrides global, which overrides Ollama defaults. A ProviderBundle packages three models together: the chat model for conversation, the judge model for grading relevance, and the embeddings model for vector search. Embedding dimensions are 768 for Nomic and 1536 for Ada-002. The circuit breaker is the reliability story. It uses a 20-sample sliding window and requires at least 6 samples before it can trip. If the error rate exceeds 50 percent or 3 consecutive failures occur, the circuit opens for a 30-second cooldown period. During this time, no requests go to that provider. The fallback chain is important: if an agent's provider trips the circuit breaker, RuntimeService automatically degrades to basic mode with a different provider. If even that fails, the system returns a graceful degraded message rather than an error. This multi-layer resilience is critical for production reliability.</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stands for Model Context Protocol - it is an open standard that lets LLM agents discover and call tools from external servers dynamically. Our implementation wraps the official MCP Streamable HTTP client with both sync and async support. Security is the primary design concern. Secret encryption uses Fernet symmetric encryption with SHA256 key derivation. The prefix "fernet:v1:" identifies encrypted values, and secrets are never stored in plaintext - they are decrypted only at call time. URL validation enforces HTTPS by default, which is configurable but on by default. Private network blocking prevents SSRF attacks where a malicious MCP server might try to probe your internal network. Connection names are slugified to max 80 characters using only lowercase alphanumeric and underscores. The tool deferral system is a critical safety feature. All MCP tools are registered with defer equals true, destructive equals true, and defer_priority of 50. This means MCP tools only execute after explicit user or agent approval - they never fire automatically. Schema sanitization enforces consistent type definitions on all tool parameters. Connection lifecycle management handles timeouts of 15 seconds for listing tools and 60 seconds for execution. Each tool can be individually enabled or disabled, and status flags gate execution. The McpCatalogService manages the full connection CRUD pipeline plus tool discovery and execution.</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coordinator agent decomposes a complex task, it creates a structured task plan that specifies exactly what each worker should do and how they should pass results back. Each task specification includes an executor - the worker agent type like rag_worker, data_analyst, utility, general, graph_manager, or verifier. Tasks can run in sequential or parallel execution modes. Terminal states are completed, failed, stopped, or waiting_message (when a worker needs clarification from the coordinator). The 8 artifact handoff types define the structured data that workers pass back to the coordinator and finalizer. These include title_candidates for document identification, doc_focus for narrowing to specific documents, research_facets for breaking research into angles, facet_matches for results mapped to research angles, doc_digest for document summaries, subsystem_inventory for architecture inventories, policy_guidance_matches for compliance findings, and buyer_recommendation_table for comparative analysis. Document ranking uses 6 keys to prioritize which documents matter most: is_meta_document flags high-level overview docs, reviewed_relevance scores human-verified importance, matched_facets counts how many research angles a doc covers, strong_evidence_count tallies high-confidence citations, title_path_score measures filename relevance, and seed_hits counts initial search matches. This structured approach ensures worker outputs are machine-parseable and the finalizer can synthesize coherently.</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storage subsystem provides a unified abstraction over three different blob storage backends: Amazon S3, Azure Blob Storage, and local filesystem. This means the application code never cares where files physically live - it just works with BlobRef objects. A BlobRef is a dataclass with 8 fields: backend identifies which storage provider (S3, Azure, or local), uri is the full resource URI, bucket and key specify the bucket name and object key, etag and sha1 provide content integrity hashes for deduplication and verification, size is the byte count, and content_type is the MIME type. The system uses key sanitization and SHA1 hashing to ensure safe, deduplicated storage - if you upload the same file twice, it detects the duplicate by hash. BlobRefs are used across the API for three main purposes: storing uploaded documents from the ingestion pipeline, storing agent artifacts like charts and analysis results from the data_analyst, and generating signed download URLs via the /v1/files/download_id endpoint so clients can securely download files without direct storage access. For development and testing, the local filesystem backend means you do not need cloud storage configured. In production, S3 or Azure provides durability, versioning, and access control.</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module supports 4 query methods, each optimized for different types of questions. Local queries traverse entity relationships within document clusters - great for "what entities connect contract risk to vendor performance?" type questions. This requires 5 graph artifacts to be built. Global queries generate corpus-wide summaries and cross-document themes - useful for "what are the main risk categories across all our contracts?" This requires 3 artifacts. Drift queries track temporal changes and evolution across graph rebuilds - so you can see how entity relationships changed between two versions of a document corpus. This also requires 5 artifacts. SQL queries go through the StructuredSearchAdapter for exact matches, metadata filtering, and structured queries that do not need semantic search. The build pipeline runs in three phases. Phase 1 is Entity and Relationship Extraction via LLM - the system reads documents and uses the LLM to identify named entities (people, organizations, concepts) and the relationships between them. Phase 2 is Community Detection - the system groups related entities into communities and generates summary reports. This uses native graph algorithms with a text-based fallback. Phase 3 is Embedding and Indexing - entity descriptions and community reports get vectorized for semantic search. Two backends are available: MicrosoftGraphRagBackend provides the full local/global/drift query pipeline, and Neo4jGraphImportBackend enables importing existing Neo4j graph databases.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Config.py is the central nervous system for tuning the entire platform, with over 300 configuration variables. Every number on this slide is a default that can be overridden via environment variables. Context budget management controls how much of the LLM's context window gets used: context_window_tokens is 32,768 by default, context_target_ratio of 0.72 means we aim to use 72 percent of the window leaving headroom for the response, and autocompact_threshold of 0.85 triggers automatic context compaction when usage exceeds 85 percent. Tool result limits cap individual tool outputs at 2,000 tokens and total tool results per turn at 8,000 tokens, preventing any single tool from consuming the entire context. The worker scheduler uses weighted fair queuing with three priority lanes: urgent tasks get weight 8, interactive tasks get weight 3, and background tasks get weight 1. Per-tenant token budgets prevent one heavy user from starving others - 24,000 tokens per minute with burst allowance of 48,000, and a token cost factor of 1.35x accounts for overhead. RAG defaults include top_k of 15 for both vector and keyword retrieval, chunk size 900 with 150 overlap, Reciprocal Rank Fusion k of 60 for merging results, 2 retries on insufficient evidence, minimum 2 evidence chunks, and 4 parallel collection probes. Memory retrieves up to 16 candidate memories within a 1,600-character budget. These defaults represent production-tuned values - change them carefully.</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RAG sits above the base RAG pipeline and adds two critical capabilities: multi-pass parallel retrieval and automated verification. On the left, Deep RAG mode controls search depth with three modes. Off uses the standard single-pass pipeline. Auto lets an LLM policy planner decide based on query complexity - broad research questions automatically escalate to deep mode. Force always uses the full deep pipeline. Within deep mode, three concurrent retrieval lanes run in parallel, each pursuing different search strategies. If a collection returns 24 or more chunks, full-read mode activates to ensure comprehensive coverage. One synchronous reflection round per pass lets the system self-correct before moving on. When 4 or more background tasks are queued, the system switches to background mode to avoid blocking interactive queries. Coverage goals specify how exhaustive the search should be: corpus_wide, exhaustive, targeted, or cross_document. Result modes control output format: answer, comparison, or inventory. On the right, the verification pipeline catches four types of problems. Missed document detection identifies documents that should have been retrieved but were not. Unsupported hop detection flags claims requiring evidence hops the system cannot make. Citation mismatch checks that citation text actually aligns with source material. And stale graph detection compares graph index age against document ingest timestamps. The 4-level relevance grading system scores chunks from 0 (not relevant) to 3 (highly relevant), using LLM grading for up to 12 chunks with a heuristic fallback that assigns score 3 when term overlap reaches 3 or more tokens.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supporting subsystems handle data persistence, monitoring, and quality assurance. Persistence is built on PostgreSQL with the pgvector extension for storing and searching vector embeddings. Session transcripts, job records and results, and all tenant and user data are stored in Postgres with proper data isolation between tenants. The system supports database migrations for schema evolution. Observability integrates with LangFuse, an open-source LLM observability platform, for distributed tracing. Every tool call emits events that are captured as spans in a trace. Router decisions are logged for analysis. Turn-level status tracking provides real-time visibility into what the system is doing. SSE progress streaming pushes live updates to the frontend so users see agent progress in real time. An events.jsonl audit trail captures admin actions for compliance. The benchmark suite provides automated quality assurance. It includes a defense RAG test corpus with 245 lines of benchmark infrastructure for testing retrieval accuracy. Adversarial prompt testing validates the system against injection attacks. Regression detection catches silent quality degradation -- the kind of bug where the system still works but answers get subtly worse. Latency profiling measures performance per tool, and token cost analysis tracks LLM spending. The Docker sandbox for code execution uses 180-second timeouts in isolated containers. The control panel frontend is a separate React and TypeScript application built with Vite.</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at the root level you've got a multi-stage Dockerfile — which is nice because Node.js builds the React admin UI in stage 1, then Python handles the backend in stage 2. No Node needed in production. You've also got docker-compose with six services, requirements.txt with all the Python deps, and run.py as your entry point. The key thing to know: data/ is where the runtime lives. Agent definitions, skill packs, prompts — that's all in data/. Your Python code handles logic, but behavior is driven by data. If you want to change how an agent acts, go to data/agents/. If you want to change system behavior, that's in Python code.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frontend is straightforward — a React app that only talks to the backend through the public API. AgentStatusPanel watches the SSE stream and shows real-time progress. MessageBubble handles markdown, citations, artifacts. FileUpload uploads a file, gets an ID, passes it with the next message. The whole thing gets built into dist/ and served as static files by FastAPI. No separate Node server needed.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control panel is a separate admin tool — not for end users, just for operators. It's its own React app served at /admin. App.tsx is 109KB because all state management is inline, no Redux. architectureLayout.ts renders the architecture as a visual graph. start_local_stack.sh starts postgres, Python backend, and both React dev servers at once.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the operator's control room. Agent definitions, skill docs, prompts — all editable. skill_packs/ are really powerful: each markdown file is a guidance document injected into the agent's context when relevant. Add a skill, BAM, the next query uses it. kb/ collections map to PostgreSQL. Memory uses tenant/user hierarchy. overlays/ is how the control panel edits work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got the graph/ module that's a pretty big deal. Instead of just searching by "does this text sound similar?", we can now actually follow relationships between entities — like finding all vendors connected to a specific risk clause. We've built in two backends: Microsoft's GraphRAG and Neo4j, so you can pick whatever works for your graph data. The graph_manager agent handles the choreography — it figures out which graph indexes are relevant, queries them, and hands off to other agents for the actual synthesis work. Everything's stored in Postgres so you've got a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RAG addresses a fundamental retrieval challenge: when someone asks a broad research question like "compare all the risk clauses", the basic keyword+vector search gets lost in the weeds. So we built four layers on top of the base retrieval. Entity linking runs first — it resolves "ACME" to all its aliases and abbreviations before searching. Then we filter candidate documents using semantic topics to avoid expensive retrieval on obviously-irrelevant stuff. Next we verify that what we found actually answers the question — if coverage is weak, we reformulate and search again. And finally, if you have graphs set up, we fold in that entity context too. The whole thing sits above the existing pipeline, so you get smart multi-step research for complex questions while keeping fast single-pass queries for simple ones.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feedback loop and worker scheduler are two operational subsystems that keep the system healthy at scale. The feedback loop in router/feedback_loop.py tracks whether routing decisions actually work. After each turn, it classifies the outcome as positive, neutral, or negative. Dissatisfaction detection uses regex to match phrases like 'try again', 'you missed', 'wrong', or 'rephrase' in follow-up messages. To avoid noise, it samples only 10 percent of neutral outcomes and caps at 25 reviews per tenant per day. All labeled data goes to JSONL review files — structured training data for quarterly router pattern retraining. The worker scheduler in runtime/worker_scheduler.py implements weighted-fair-queuing with three priority lanes. Urgent tasks like escalations and SLA-critical work get weight 8. Interactive tasks for normal chat get weight 3. Background batch work gets weight 1. Per-tenant token budgets prevent any single heavy user from starving everyone else — 24,000 tokens per minute with burst allowance up to 48,000. The token cost factor of 1.35x accounts for overhead in estimation. Preemption lets urgent jobs jump ahead of background work. Together, these subsystems ensure the router keeps improving and resources stay fairly distributed.</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infrastructure modules provide the foundation for enterprise reliability. The RBAC service in authz/service.py at 269 lines implements principal and role membership tracking with tenant-scoped resource access control. It provides the foundation for extending to ABAC — attribute-based access control — for dataset and column-level checks. The memory v2 layer in persistence/postgres/memory_v2.py at 831 lines introduces MemoryEpisode and ManagedMemoryRecord types with importance and confidence scoring per entry, TTL hints for expiration, supersession tracking so corrected facts replace old ones, and provenance tracking back to source turns. Multi-scope support covers both conversation and user-level memories. Live progress and status tracking in the api directory provide real-time SSE status events and job progress updates. The status tracker grew to 827 lines to support per-tool-call granularity. Tool parallelism in tool_parallelism.py at 500 lines enables wave-based parallel tool execution with concurrency key conflict detection and a budget of 12 calls per turn — meaning multiple independent tool calls run simultaneously rather than sequentially. Prompt fallbacks at the package root provides resilient fallback prompts for all agent roles with a shared charter and per-role mission statements, so agents keep working even when skill files go missing. Task decomposition in task_decomposition.py at 341 lines handles mixed-intent request detection and routes them appropriately — if someone asks for arithmetic plus data analysis plus document search in one message, it splits that across the right specialists.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six patterns that really matter for making agents more reliable. Step-level retry is the biggest one — right now if a tool times out, the entire turn fails. With retry policies, we can back off exponentially and try again. Each tool declares its own retry behavior, which is way better than one-size-fits-all. Observability gets way better too — right now you only see phase-level stuff like "searching" or "thinking." We need tool-level detail. Dynamic memory refresh helps in long workflows — you don't want context from five minutes ago when something just changed. Parallel tool execution is already in there and it's a huge latency win when the LLM asks for multiple independent tools. CoT capture is about persistence — intermediate reasoning currently evaporates after each turn, but we should preserve it for the verifier and for debugging. And fallback chains make recovery smart — the coordinator can escalate to humans while the general agent retries simpler.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gives the full picture. Green items are quick wins — any developer in a sprint without touching core architecture. Teal and amber matter most for production readiness: rate limiting and audit trail especially. Red items are multi-sprint: automated eval and A/B testing are agentic best practices every production system needs to catch silent quality degradation. Recommended order: (1) ship green quick wins; (2) complete operational hardening before external exposure; (3) implement streaming agent thoughts; (4) build eval harness and A/B testing as a dedicated quality sprint.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system handles extraction and storage well, but three enterprise gaps remain. First, conflict resolution -- when a user corrects a fact, both old and corrected versions persist and the agent sees contradictions. The system needs intelligent merging with timestamp-aware supersession. Second, scope isolation is too rigid -- user scope and conversation scope are hard walls with no pattern synthesis across sessions. User behavior, escalation history, and preferences cannot be tracked longitudinally. The planned cross_session_synthesizer would run periodic jobs to promote high-confidence user facts with confidence scores. Third, and most critical for regulated industries: compliance. Memory is currently write-once with no TTL enforcement, no PII redaction, and no right-to-forget capability. GDPR and CCPA require delete-on-request with auditable proof of erasure. The planned retention_policy.py would add per-scope TTLs, a Presidio-style PII classifier, and compliant deletion records written to the audit log before erasure. Memory v2 in persistence/postgres/memory_v2.py has laid the groundwork with MemoryEpisode types, importance scoring, TTL hints, and supersession tracking -- but enforcement of these policies is not yet active.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system handles intent classification and fair scheduling, but three enterprise gaps remain. Cost-aware routing would make smart decisions about whether to use the expensive LLM or fast heuristics. Agent self-reflection is a best practice — agents should critique their own output before delivery, not just the verifier. Human-in-the-loop escalation is critical for high-stakes domains — when confidence drops or risk is high, hand it to a human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well-registered and have agent-level policies, but three gaps keep them from enterprise-ready. One, no versioning — shipping a new tool breaks in-flight workflows silently. Two, permissions stop at agents — "analyst can use pandas" but not "analyst can access this dataset but not that one." Regulated industries need row/column-level checks. Three, the sandbox is coarse — Docker isolation is good but doesn't catch prompt-injected malicious code. AST analysis pre-flight would block obvious exploits.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skills subsystem has dependency graph validation via dependency_graph.py and quality telemetry via telemetry.py, but three governance gaps remain. First, cryptographic signing -- skill packs use SHA256 checksums for integrity, but not asymmetric signatures for authenticity. A compromised database could inject a malicious skill that passes the checksum. The fix is asymmetric key signing with chain-of-custody tracking: author, approver, and timestamp on every skill pack. Second, prompt versioning -- system prompts are the single most important control surface for agent behavior, yet they are stored as inline strings with no version history, no diff view, and no rollback capability. A prompt change that degrades quality is invisible until users complain. The planned prompts/registry.py would add versioned prompt storage with SHA-based IDs, diff comparison, canary rollout at 10 percent traffic, and automatic rollback on quality regression. Third, structured output guardrails -- agent outputs are free-form text with no schema validation or content filtering. Agents can return malformed JSON, leak PII, or produce off-brand content. The planned runtime/guardrails.py would enforce Pydantic output schemas per agent mode and add content policy filters for PII, toxicity, and brand compliance with automatic retry on validation failure.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honestly where enterprise deals live or die. LangFuse is great for debugging but not an audit log. Five show-stoppers. One, cost attribution — we can't answer "what's this request cost?" or "who's our biggest spender?" Two, immutable audit log — enterprise auditors need proof that tool X wasn't called by user Y on date Z. Traces don't cut it. Three, PII — raw user input hits disk with no scanning, that's a GDPR violation. Four, model governance — anyone can swap the LLM via env var, needs approval workflow. Five, red-teaming — we should be running OWASP Top 10 adversarial tests nightly.</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left with 17 gaps. RBAC has foundations, needs ABAC for data-level access. Memory v2 has the types, needs TTL enforcement and conflict resolution. Cost attribution is the gateway to enterprise — you can't chargeback without it. Audit logs are table stakes for compliance. PII redaction is GDPR minimum. Model governance prevents cowboys from shipping untested models. Tool versioning unblocks safe deployments. Prompt versioning enables AB testing. Human escalation is critical for high-stakes domains. Self-reflection prevents first-draft answers. Output guardrails stop PII/toxicity leaks. Red-teaming builds confidence. AST analysis locks down the sandbox. Skill signing secures the supply chain. Cross-session memory synthesis enables long-term learning. The sprint order is Critical first — human escalation, retention, RBAC→ABAC, AST sandbox, signing, cost attribution, audit log, PII. Then High-priority — routing, reflection, prompt versioning, tool versioning, escalation, output guards. Then Medium — conflict resolution, cross-session synthesis, cost model, red-teaming.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the specifics of our system, let's establish what we mean by an "agent harness." In the AI world, an LLM by itself is just a text prediction engine -- it takes text in, produces text out, and that's it. An agent harness is the orchestration framework that wraps around the LLM to give it actual capabilities: tool access, memory, multi-step reasoning, and task management. Think of it like the difference between a brain in a jar and a brain connected to hands, eyes, and a nervous system. The harness handles the reasoning loop (observe, think, act, repeat), manages state between turns, routes requests to specialized agents, and enforces security policies on what tools each agent can use. Every major production AI system -- from coding assistants to enterprise chatbots -- uses some form of agent harness. Ours is built on LangChain/LangGraph with custom extensions for multi-agent coordination, knowledge graph integration, and enterprise access control. The next few slides break down why this architecture matters and how the core patterns work.</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4632096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case for why we need the harness at all. On the left side, you see the four fundamental limitations of raw LLMs. "Single-Turn Only" means the model answers one question at a time with no ability to take actions or loop back if the answer is incomplete. "No Tool Access" means it cannot search databases, execute code, or call APIs -- it only generates text. "No Memory" means every request starts from scratch with no knowledge of previous conversations. And "No Planning" means it cannot decompose complex multi-step tasks. On the right side, each limitation maps to a specific harness capability. The multi-turn loop implements the ReAct pattern where the agent can observe, think, act, and repeat until the task is done. Tool integration provides a registry of callable functions -- in our case, 55 tools across 8 groups. Session and memory gives the agent persistence across turns plus long-term memory extraction. And task orchestration enables the coordinator agent to decompose work into parallel subtasks dispatched to specialized workers. Each of these capabilities is a distinct subsystem in our codebase that we will walk through in detail.</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2516199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architecture that every slide after this will reference. The core loop at the top -- Observe, Think, Act, Repeat -- is called the ReAct pattern, which stands for Reasoning plus Acting. It was introduced in a 2022 research paper and has become the standard approach for building autonomous agents. User input comes in, gets classified by the routing layer, enters the agent's ReAct loop where the LLM reasons about what to do, calls tools as needed, evaluates results, and either loops again or returns a response. Below the loop, the five key layers of any harness are listed. The Routing Layer classifies intent and selects the right agent -- in our system this is a two-phase deterministic-then-LLM approach. The Agent Registry holds declarative agent definitions as markdown files with YAML frontmatter, not hard-coded classes. The Execution Engine runs the actual LLM calls in the correct mode -- basic, ReAct, RAG, coordinator, and others. The Tool System is a registry of callable functions with per-agent whitelists and policy enforcement. And Memory and State handles session persistence, long-term memory extraction, and context budget management. Our system implements all five of these layers, and we will deep-dive into each one.</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3510350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the ReAct pattern with a concrete example. The user asks "What does the policy say about remote work?" On the left, you see the four-step loop: Observe (receive the query and conversation context), Think (the LLM reasons about what to do next using chain-of-thought), Act (call a tool like search, code execution, or an API), and Evaluate (check if the result is complete -- if not, loop back to Observe). On the right, the example traces through the actual steps. The router detects RAG intent with 0.92 confidence and selects the rag_worker agent. Step 1 parses the query for search terms. Step 2 runs hybrid search combining vector similarity and keyword matching, finding 12 chunks from the HR Policy PDF. Step 3 uses a judge LLM -- a separate, fast, cheap model -- to grade each chunk's relevance on a 0-3 scale. Five chunks score 2 or higher and pass the filter. Step 4 synthesizes a grounded answer with inline citations. The key insight is that this loop is self-correcting: if the first retrieval does not find enough evidence, the agent can reformulate the query and search again, up to a configurable number of retries. This is fundamentally different from a single LLM call.</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2106295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tasks need different execution strategies, and this slide shows the four main categories. Basic mode is a single LLM call with no tools -- used for greetings, simple Q and A, and general knowledge questions. It is fast, cheap, and the router defaults to it when confidence is low. ReAct mode is the full reasoning loop with tool calling -- the agent can call any of its allowed tools, evaluate results, and loop up to its max_steps limit. This is used by the general agent, data_analyst, utility, and graph_manager. RAG mode is a specialized pipeline specifically designed for document search: it retrieves evidence from indexed documents, grades relevance with a judge LLM, synthesizes a grounded answer, and produces structured citations. The rag_worker agent uses this mode exclusively. Coordinator mode is the most powerful -- it does not do work itself but instead decomposes tasks using a planner agent, dispatches subtasks to parallel workers (like data_analyst, rag_worker, utility), collects their results through a team mailbox system, synthesizes with a finalizer, and optionally fact-checks with a verifier. The coordinator can manage up to 4 concurrent workers and will loop through revision rounds if the verifier flags issues. Each agent in our system declares exactly one mode in its definition file.</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2356237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you the complete tool inventory and RAG pipeline overview in one view. On the left, the 55 tools are organized into 8 functional groups. Orchestration has 14 tools for multi-agent coordination -- spawning workers, messaging between agents, team mailbox channels, and job control. RAG Gateway has 12 tools for document operations -- search, read, compare, extract requirements, consolidate evidence. Analyst has 12 tools for data work -- loading datasets, inspecting columns, executing code in a Docker sandbox, scratchpad operations, and workspace file management. Graph Gateway has 8 tools for knowledge graph queries -- listing indexes, searching graphs, explaining source plans, and importing graph data. Memory has 3 tools for saving, loading, and listing memories. Utility has 3 tools -- calculator, listing indexed docs, and searching skills. Discovery has 2 tools for dynamic tool discovery via MCP. And Skills has 1 tool for executing loaded skills at runtime. On the right, the RAG pipeline shows the five-stage process: query analysis, hybrid retrieval combining vector and keyword search, judge grading where a small fast LLM scores each chunk 0-3, evidence assembly with deduplication and ranking, and synthesis where the main LLM generates a grounded answer with inline citations. Each agent gets a curated subset of tools via its allowed_tools whitelist in its definition file -- no agent has access to everything.</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9922857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major subsystems define what makes this harness enterprise-grade rather than a simple chatbot. GraphRAG adds knowledge graph integration -- instead of just searching by text similarity, we can follow entity relationships across documents. The graph module has 10 files, a dedicated graph_manager agent with 12 tools, and supports both Microsoft GraphRAG and Neo4j backends. It uses a phased build pipeline: Phase 1 extracts entities and relationships via LLM, Phase 2 detects communities and generates reports, Phase 3 builds embeddings and indexes. Four query methods are available: local (entity-level), global (corpus-wide themes), drift (temporal change tracking), and SQL via a StructuredSearchAdapter. MCP -- Model Context Protocol -- enables dynamic tool discovery from external servers. It uses Fernet symmetric encryption for secrets, HTTPS enforcement to prevent SSRF attacks, and a tool deferral system where all MCP tools require explicit approval before execution. The Worker System provides multi-agent coordination with 14 orchestration tools. Workers run on separate threads with their own QueryLoop instances, communicate through a team mailbox pattern, and support durable jobs that survive server restarts. The coordinator agent manages up to 9 different worker agent types.</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926661747"/>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7.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11.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13.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6.xml.rels><?xml version="1.0" encoding="UTF-8"?><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7.xml.rels><?xml version="1.0" encoding="UTF-8"?><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8.xml.rels><?xml version="1.0" encoding="UTF-8"?><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9.xml.rels><?xml version="1.0" encoding="UTF-8"?><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0.xml.rels><?xml version="1.0" encoding="UTF-8"?><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1.xml.rels><?xml version="1.0" encoding="UTF-8"?><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2.xml.rels><?xml version="1.0" encoding="UTF-8"?><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3.xml.rels><?xml version="1.0" encoding="UTF-8"?><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097280"/>
            <a:ext cx="813816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Agentic Chatbot v3</a:t>
            </a:r>
            <a:endParaRPr lang="en-US" sz="4000" dirty="0"/>
          </a:p>
        </p:txBody>
      </p:sp>
      <p:sp>
        <p:nvSpPr>
          <p:cNvPr id="3" name="Text 1"/>
          <p:cNvSpPr/>
          <p:nvPr/>
        </p:nvSpPr>
        <p:spPr>
          <a:xfrm>
            <a:off x="502920" y="1920240"/>
            <a:ext cx="8138160" cy="548640"/>
          </a:xfrm>
          <a:prstGeom prst="rect">
            <a:avLst/>
          </a:prstGeom>
          <a:noFill/>
          <a:ln/>
        </p:spPr>
        <p:txBody>
          <a:bodyPr wrap="square" lIns="0" tIns="0" rIns="0" bIns="0" rtlCol="0" anchor="ctr"/>
          <a:lstStyle/>
          <a:p>
            <a:pPr marL="0" indent="0">
              <a:buNone/>
            </a:pPr>
            <a:r>
              <a:rPr lang="en-US" sz="2400" dirty="0">
                <a:solidFill>
                  <a:srgbClr val="0097A7"/>
                </a:solidFill>
                <a:latin typeface="Arial" pitchFamily="34" charset="0"/>
                <a:ea typeface="Arial" pitchFamily="34" charset="-122"/>
                <a:cs typeface="Arial" pitchFamily="34" charset="-120"/>
              </a:rPr>
              <a:t>Complete System Deep-Dive</a:t>
            </a:r>
            <a:endParaRPr lang="en-US" sz="2400" dirty="0"/>
          </a:p>
        </p:txBody>
      </p:sp>
      <p:sp>
        <p:nvSpPr>
          <p:cNvPr id="4" name="Text 2"/>
          <p:cNvSpPr/>
          <p:nvPr/>
        </p:nvSpPr>
        <p:spPr>
          <a:xfrm>
            <a:off x="502920" y="2560320"/>
            <a:ext cx="8138160" cy="365760"/>
          </a:xfrm>
          <a:prstGeom prst="rect">
            <a:avLst/>
          </a:prstGeom>
          <a:noFill/>
          <a:ln/>
        </p:spPr>
        <p:txBody>
          <a:bodyPr wrap="square" lIns="0" tIns="0" rIns="0" bIns="0" rtlCol="0" anchor="ctr"/>
          <a:lstStyle/>
          <a:p>
            <a:pPr marL="0" indent="0">
              <a:buNone/>
            </a:pPr>
            <a:r>
              <a:rPr lang="en-US" sz="1400" dirty="0">
                <a:solidFill>
                  <a:srgbClr val="999999"/>
                </a:solidFill>
                <a:latin typeface="Arial" pitchFamily="34" charset="0"/>
                <a:ea typeface="Arial" pitchFamily="34" charset="-122"/>
                <a:cs typeface="Arial" pitchFamily="34" charset="-120"/>
              </a:rPr>
              <a:t>From HTTP request to grounded answer — every layer explained</a:t>
            </a:r>
            <a:endParaRPr lang="en-US" sz="1400" dirty="0"/>
          </a:p>
        </p:txBody>
      </p:sp>
      <p:sp>
        <p:nvSpPr>
          <p:cNvPr id="5" name="Text 3"/>
          <p:cNvSpPr/>
          <p:nvPr/>
        </p:nvSpPr>
        <p:spPr>
          <a:xfrm>
            <a:off x="502920" y="4594860"/>
            <a:ext cx="8138160" cy="274320"/>
          </a:xfrm>
          <a:prstGeom prst="rect">
            <a:avLst/>
          </a:prstGeom>
          <a:noFill/>
          <a:ln/>
        </p:spPr>
        <p:txBody>
          <a:bodyPr wrap="square" lIns="0" tIns="0" rIns="0" bIns="0" rtlCol="0" anchor="ctr"/>
          <a:lstStyle/>
          <a:p>
            <a:pPr marL="0" indent="0">
              <a:buNone/>
            </a:pPr>
            <a:r>
              <a:rPr lang="en-US" sz="1000" dirty="0">
                <a:solidFill>
                  <a:srgbClr val="999999"/>
                </a:solidFill>
                <a:latin typeface="Courier New" pitchFamily="34" charset="0"/>
                <a:ea typeface="Courier New" pitchFamily="34" charset="-122"/>
                <a:cs typeface="Courier New" pitchFamily="34" charset="-120"/>
              </a:rPr>
              <a:t>Repository: langchain_agentic_chatbot_v2-codex-next-task/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0"/>
            <a:ext cx="8229600" cy="914400"/>
          </a:xfrm>
          <a:prstGeom prst="rect">
            <a:avLst/>
          </a:prstGeom>
          <a:noFill/>
        </p:spPr>
        <p:txBody>
          <a:bodyPr wrap="square" anchor="t"/>
          <a:lstStyle/>
          <a:p>
            <a:pPr algn="l">
              <a:defRPr sz="3600" b="1">
                <a:solidFill>
                  <a:srgbClr val="FFFFFF"/>
                </a:solidFill>
                <a:latin typeface="Arial"/>
              </a:defRPr>
            </a:pPr>
            <a:r>
              <a:t>What Is an Agent Harness?</a:t>
            </a:r>
          </a:p>
        </p:txBody>
      </p:sp>
      <p:sp>
        <p:nvSpPr>
          <p:cNvPr id="4" name="TextBox 3"/>
          <p:cNvSpPr txBox="1"/>
          <p:nvPr/>
        </p:nvSpPr>
        <p:spPr>
          <a:xfrm>
            <a:off x="502920" y="2560320"/>
            <a:ext cx="7315200" cy="731520"/>
          </a:xfrm>
          <a:prstGeom prst="rect">
            <a:avLst/>
          </a:prstGeom>
          <a:noFill/>
        </p:spPr>
        <p:txBody>
          <a:bodyPr wrap="square" anchor="t"/>
          <a:lstStyle/>
          <a:p>
            <a:pPr algn="l">
              <a:defRPr sz="1600" b="0">
                <a:solidFill>
                  <a:srgbClr val="0097A7"/>
                </a:solidFill>
                <a:latin typeface="Arial"/>
              </a:defRPr>
            </a:pPr>
            <a:r>
              <a:t>Understanding the orchestration layer that turns LLMs into autonomous agents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Why LLMs Alone Aren't Enough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14400"/>
            <a:ext cx="3840480" cy="365760"/>
          </a:xfrm>
          <a:prstGeom prst="rect">
            <a:avLst/>
          </a:prstGeom>
          <a:noFill/>
        </p:spPr>
        <p:txBody>
          <a:bodyPr wrap="square" anchor="t"/>
          <a:lstStyle/>
          <a:p>
            <a:pPr algn="l">
              <a:defRPr sz="1400" b="1">
                <a:solidFill>
                  <a:srgbClr val="0097A7"/>
                </a:solidFill>
                <a:latin typeface="Arial"/>
              </a:defRPr>
            </a:pPr>
            <a:r>
              <a:t>THE PROBLEM</a:t>
            </a:r>
          </a:p>
        </p:txBody>
      </p:sp>
      <p:sp>
        <p:nvSpPr>
          <p:cNvPr id="6" name="Rectangle 5"/>
          <p:cNvSpPr/>
          <p:nvPr/>
        </p:nvSpPr>
        <p:spPr>
          <a:xfrm>
            <a:off x="502920" y="1325880"/>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25880"/>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17320"/>
            <a:ext cx="3566160" cy="365760"/>
          </a:xfrm>
          <a:prstGeom prst="rect">
            <a:avLst/>
          </a:prstGeom>
          <a:noFill/>
        </p:spPr>
        <p:txBody>
          <a:bodyPr wrap="square" anchor="t"/>
          <a:lstStyle/>
          <a:p>
            <a:pPr algn="l">
              <a:defRPr sz="1300" b="1">
                <a:solidFill>
                  <a:srgbClr val="FFFFFF"/>
                </a:solidFill>
                <a:latin typeface="Arial"/>
              </a:defRPr>
            </a:pPr>
            <a:r>
              <a:t>Single-Turn Only</a:t>
            </a:r>
          </a:p>
        </p:txBody>
      </p:sp>
      <p:sp>
        <p:nvSpPr>
          <p:cNvPr id="9" name="TextBox 8"/>
          <p:cNvSpPr txBox="1"/>
          <p:nvPr/>
        </p:nvSpPr>
        <p:spPr>
          <a:xfrm>
            <a:off x="685800" y="1783080"/>
            <a:ext cx="3566160" cy="228600"/>
          </a:xfrm>
          <a:prstGeom prst="rect">
            <a:avLst/>
          </a:prstGeom>
          <a:noFill/>
        </p:spPr>
        <p:txBody>
          <a:bodyPr wrap="square" anchor="t"/>
          <a:lstStyle/>
          <a:p>
            <a:pPr algn="l">
              <a:defRPr sz="1000" b="0">
                <a:solidFill>
                  <a:srgbClr val="CCCCCC"/>
                </a:solidFill>
                <a:latin typeface="Arial"/>
              </a:defRPr>
            </a:pPr>
            <a:r>
              <a:t>Raw LLMs answer one question at a time — no actions, retrieval, or state.</a:t>
            </a:r>
          </a:p>
        </p:txBody>
      </p:sp>
      <p:sp>
        <p:nvSpPr>
          <p:cNvPr id="10" name="Rectangle 9"/>
          <p:cNvSpPr/>
          <p:nvPr/>
        </p:nvSpPr>
        <p:spPr>
          <a:xfrm>
            <a:off x="502920" y="2167128"/>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167128"/>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258568"/>
            <a:ext cx="3566160" cy="365760"/>
          </a:xfrm>
          <a:prstGeom prst="rect">
            <a:avLst/>
          </a:prstGeom>
          <a:noFill/>
        </p:spPr>
        <p:txBody>
          <a:bodyPr wrap="square" anchor="t"/>
          <a:lstStyle/>
          <a:p>
            <a:pPr algn="l">
              <a:defRPr sz="1300" b="1">
                <a:solidFill>
                  <a:srgbClr val="FFFFFF"/>
                </a:solidFill>
                <a:latin typeface="Arial"/>
              </a:defRPr>
            </a:pPr>
            <a:r>
              <a:t>No Tool Access</a:t>
            </a:r>
          </a:p>
        </p:txBody>
      </p:sp>
      <p:sp>
        <p:nvSpPr>
          <p:cNvPr id="13" name="TextBox 12"/>
          <p:cNvSpPr txBox="1"/>
          <p:nvPr/>
        </p:nvSpPr>
        <p:spPr>
          <a:xfrm>
            <a:off x="685800" y="2624328"/>
            <a:ext cx="3566160" cy="228600"/>
          </a:xfrm>
          <a:prstGeom prst="rect">
            <a:avLst/>
          </a:prstGeom>
          <a:noFill/>
        </p:spPr>
        <p:txBody>
          <a:bodyPr wrap="square" anchor="t"/>
          <a:lstStyle/>
          <a:p>
            <a:pPr algn="l">
              <a:defRPr sz="1000" b="0">
                <a:solidFill>
                  <a:srgbClr val="CCCCCC"/>
                </a:solidFill>
                <a:latin typeface="Arial"/>
              </a:defRPr>
            </a:pPr>
            <a:r>
              <a:t>LLMs cannot search databases, execute code, or call APIs on their own.</a:t>
            </a:r>
          </a:p>
        </p:txBody>
      </p:sp>
      <p:sp>
        <p:nvSpPr>
          <p:cNvPr id="14" name="Rectangle 13"/>
          <p:cNvSpPr/>
          <p:nvPr/>
        </p:nvSpPr>
        <p:spPr>
          <a:xfrm>
            <a:off x="502920" y="3008376"/>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3008376"/>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099816"/>
            <a:ext cx="3566160" cy="365760"/>
          </a:xfrm>
          <a:prstGeom prst="rect">
            <a:avLst/>
          </a:prstGeom>
          <a:noFill/>
        </p:spPr>
        <p:txBody>
          <a:bodyPr wrap="square" anchor="t"/>
          <a:lstStyle/>
          <a:p>
            <a:pPr algn="l">
              <a:defRPr sz="1300" b="1">
                <a:solidFill>
                  <a:srgbClr val="FFFFFF"/>
                </a:solidFill>
                <a:latin typeface="Arial"/>
              </a:defRPr>
            </a:pPr>
            <a:r>
              <a:t>No Memory</a:t>
            </a:r>
          </a:p>
        </p:txBody>
      </p:sp>
      <p:sp>
        <p:nvSpPr>
          <p:cNvPr id="17" name="TextBox 16"/>
          <p:cNvSpPr txBox="1"/>
          <p:nvPr/>
        </p:nvSpPr>
        <p:spPr>
          <a:xfrm>
            <a:off x="685800" y="3465576"/>
            <a:ext cx="3566160" cy="228600"/>
          </a:xfrm>
          <a:prstGeom prst="rect">
            <a:avLst/>
          </a:prstGeom>
          <a:noFill/>
        </p:spPr>
        <p:txBody>
          <a:bodyPr wrap="square" anchor="t"/>
          <a:lstStyle/>
          <a:p>
            <a:pPr algn="l">
              <a:defRPr sz="1000" b="0">
                <a:solidFill>
                  <a:srgbClr val="CCCCCC"/>
                </a:solidFill>
                <a:latin typeface="Arial"/>
              </a:defRPr>
            </a:pPr>
            <a:r>
              <a:t>Each request is stateless — the model forgets everything between calls.</a:t>
            </a:r>
          </a:p>
        </p:txBody>
      </p:sp>
      <p:sp>
        <p:nvSpPr>
          <p:cNvPr id="18" name="Rectangle 17"/>
          <p:cNvSpPr/>
          <p:nvPr/>
        </p:nvSpPr>
        <p:spPr>
          <a:xfrm>
            <a:off x="502920" y="3849624"/>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3849624"/>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3941064"/>
            <a:ext cx="3566160" cy="365760"/>
          </a:xfrm>
          <a:prstGeom prst="rect">
            <a:avLst/>
          </a:prstGeom>
          <a:noFill/>
        </p:spPr>
        <p:txBody>
          <a:bodyPr wrap="square" anchor="t"/>
          <a:lstStyle/>
          <a:p>
            <a:pPr algn="l">
              <a:defRPr sz="1300" b="1">
                <a:solidFill>
                  <a:srgbClr val="FFFFFF"/>
                </a:solidFill>
                <a:latin typeface="Arial"/>
              </a:defRPr>
            </a:pPr>
            <a:r>
              <a:t>No Planning</a:t>
            </a:r>
          </a:p>
        </p:txBody>
      </p:sp>
      <p:sp>
        <p:nvSpPr>
          <p:cNvPr id="21" name="TextBox 20"/>
          <p:cNvSpPr txBox="1"/>
          <p:nvPr/>
        </p:nvSpPr>
        <p:spPr>
          <a:xfrm>
            <a:off x="685800" y="4306824"/>
            <a:ext cx="3566160" cy="228600"/>
          </a:xfrm>
          <a:prstGeom prst="rect">
            <a:avLst/>
          </a:prstGeom>
          <a:noFill/>
        </p:spPr>
        <p:txBody>
          <a:bodyPr wrap="square" anchor="t"/>
          <a:lstStyle/>
          <a:p>
            <a:pPr algn="l">
              <a:defRPr sz="1000" b="0">
                <a:solidFill>
                  <a:srgbClr val="CCCCCC"/>
                </a:solidFill>
                <a:latin typeface="Arial"/>
              </a:defRPr>
            </a:pPr>
            <a:r>
              <a:t>Complex multi-step tasks with parallel work or verification are impossible.</a:t>
            </a:r>
          </a:p>
        </p:txBody>
      </p:sp>
      <p:sp>
        <p:nvSpPr>
          <p:cNvPr id="22" name="TextBox 21"/>
          <p:cNvSpPr txBox="1"/>
          <p:nvPr/>
        </p:nvSpPr>
        <p:spPr>
          <a:xfrm>
            <a:off x="4754880" y="914400"/>
            <a:ext cx="3931920" cy="365760"/>
          </a:xfrm>
          <a:prstGeom prst="rect">
            <a:avLst/>
          </a:prstGeom>
          <a:noFill/>
        </p:spPr>
        <p:txBody>
          <a:bodyPr wrap="square" anchor="t"/>
          <a:lstStyle/>
          <a:p>
            <a:pPr algn="l">
              <a:defRPr sz="1400" b="1">
                <a:solidFill>
                  <a:srgbClr val="4CAF50"/>
                </a:solidFill>
                <a:latin typeface="Arial"/>
              </a:defRPr>
            </a:pPr>
            <a:r>
              <a:t>THE SOLUTION: AGENT HARNESS</a:t>
            </a:r>
          </a:p>
        </p:txBody>
      </p:sp>
      <p:sp>
        <p:nvSpPr>
          <p:cNvPr id="23" name="TextBox 22"/>
          <p:cNvSpPr txBox="1"/>
          <p:nvPr/>
        </p:nvSpPr>
        <p:spPr>
          <a:xfrm>
            <a:off x="4754880" y="1371600"/>
            <a:ext cx="3931920" cy="3291840"/>
          </a:xfrm>
          <a:prstGeom prst="rect">
            <a:avLst/>
          </a:prstGeom>
          <a:noFill/>
        </p:spPr>
        <p:txBody>
          <a:bodyPr wrap="square" anchor="t"/>
          <a:lstStyle/>
          <a:p>
            <a:pPr algn="l">
              <a:defRPr sz="1200" b="0">
                <a:solidFill>
                  <a:srgbClr val="CCCCCC"/>
                </a:solidFill>
                <a:latin typeface="Arial"/>
              </a:defRPr>
            </a:pPr>
            <a:endParaRPr/>
          </a:p>
        </p:txBody>
      </p:sp>
      <p:sp>
        <p:nvSpPr>
          <p:cNvPr id="24" name="Rectangle 23"/>
          <p:cNvSpPr/>
          <p:nvPr/>
        </p:nvSpPr>
        <p:spPr>
          <a:xfrm>
            <a:off x="4754880" y="1325880"/>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754880" y="132588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37760" y="1417320"/>
            <a:ext cx="3657600" cy="365760"/>
          </a:xfrm>
          <a:prstGeom prst="rect">
            <a:avLst/>
          </a:prstGeom>
          <a:noFill/>
        </p:spPr>
        <p:txBody>
          <a:bodyPr wrap="square" anchor="t"/>
          <a:lstStyle/>
          <a:p>
            <a:pPr algn="l">
              <a:defRPr sz="1300" b="1">
                <a:solidFill>
                  <a:srgbClr val="FFFFFF"/>
                </a:solidFill>
                <a:latin typeface="Arial"/>
              </a:defRPr>
            </a:pPr>
            <a:r>
              <a:t>Multi-Turn Loops</a:t>
            </a:r>
          </a:p>
        </p:txBody>
      </p:sp>
      <p:sp>
        <p:nvSpPr>
          <p:cNvPr id="27" name="TextBox 26"/>
          <p:cNvSpPr txBox="1"/>
          <p:nvPr/>
        </p:nvSpPr>
        <p:spPr>
          <a:xfrm>
            <a:off x="4937760" y="1783080"/>
            <a:ext cx="3657600" cy="228600"/>
          </a:xfrm>
          <a:prstGeom prst="rect">
            <a:avLst/>
          </a:prstGeom>
          <a:noFill/>
        </p:spPr>
        <p:txBody>
          <a:bodyPr wrap="square" anchor="t"/>
          <a:lstStyle/>
          <a:p>
            <a:pPr algn="l">
              <a:defRPr sz="1000" b="0">
                <a:solidFill>
                  <a:srgbClr val="CCCCCC"/>
                </a:solidFill>
                <a:latin typeface="Arial"/>
              </a:defRPr>
            </a:pPr>
            <a:r>
              <a:t>The harness wraps the LLM in a reasoning loop — observe, think, act, repeat.</a:t>
            </a:r>
          </a:p>
        </p:txBody>
      </p:sp>
      <p:sp>
        <p:nvSpPr>
          <p:cNvPr id="28" name="Rectangle 27"/>
          <p:cNvSpPr/>
          <p:nvPr/>
        </p:nvSpPr>
        <p:spPr>
          <a:xfrm>
            <a:off x="4754880" y="2167128"/>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54880" y="2167128"/>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37760" y="2258568"/>
            <a:ext cx="3657600" cy="365760"/>
          </a:xfrm>
          <a:prstGeom prst="rect">
            <a:avLst/>
          </a:prstGeom>
          <a:noFill/>
        </p:spPr>
        <p:txBody>
          <a:bodyPr wrap="square" anchor="t"/>
          <a:lstStyle/>
          <a:p>
            <a:pPr algn="l">
              <a:defRPr sz="1300" b="1">
                <a:solidFill>
                  <a:srgbClr val="FFFFFF"/>
                </a:solidFill>
                <a:latin typeface="Arial"/>
              </a:defRPr>
            </a:pPr>
            <a:r>
              <a:t>Tool Integration</a:t>
            </a:r>
          </a:p>
        </p:txBody>
      </p:sp>
      <p:sp>
        <p:nvSpPr>
          <p:cNvPr id="31" name="TextBox 30"/>
          <p:cNvSpPr txBox="1"/>
          <p:nvPr/>
        </p:nvSpPr>
        <p:spPr>
          <a:xfrm>
            <a:off x="4937760" y="2624328"/>
            <a:ext cx="3657600" cy="228600"/>
          </a:xfrm>
          <a:prstGeom prst="rect">
            <a:avLst/>
          </a:prstGeom>
          <a:noFill/>
        </p:spPr>
        <p:txBody>
          <a:bodyPr wrap="square" anchor="t"/>
          <a:lstStyle/>
          <a:p>
            <a:pPr algn="l">
              <a:defRPr sz="1000" b="0">
                <a:solidFill>
                  <a:srgbClr val="CCCCCC"/>
                </a:solidFill>
                <a:latin typeface="Arial"/>
              </a:defRPr>
            </a:pPr>
            <a:r>
              <a:t>A registry of callable tools (search, code exec, APIs) invoked by name.</a:t>
            </a:r>
          </a:p>
        </p:txBody>
      </p:sp>
      <p:sp>
        <p:nvSpPr>
          <p:cNvPr id="32" name="Rectangle 31"/>
          <p:cNvSpPr/>
          <p:nvPr/>
        </p:nvSpPr>
        <p:spPr>
          <a:xfrm>
            <a:off x="4754880" y="3008376"/>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754880" y="3008376"/>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37760" y="3099816"/>
            <a:ext cx="3657600" cy="365760"/>
          </a:xfrm>
          <a:prstGeom prst="rect">
            <a:avLst/>
          </a:prstGeom>
          <a:noFill/>
        </p:spPr>
        <p:txBody>
          <a:bodyPr wrap="square" anchor="t"/>
          <a:lstStyle/>
          <a:p>
            <a:pPr algn="l">
              <a:defRPr sz="1300" b="1">
                <a:solidFill>
                  <a:srgbClr val="FFFFFF"/>
                </a:solidFill>
                <a:latin typeface="Arial"/>
              </a:defRPr>
            </a:pPr>
            <a:r>
              <a:t>Session &amp; Memory</a:t>
            </a:r>
          </a:p>
        </p:txBody>
      </p:sp>
      <p:sp>
        <p:nvSpPr>
          <p:cNvPr id="35" name="TextBox 34"/>
          <p:cNvSpPr txBox="1"/>
          <p:nvPr/>
        </p:nvSpPr>
        <p:spPr>
          <a:xfrm>
            <a:off x="4937760" y="3465576"/>
            <a:ext cx="3657600" cy="228600"/>
          </a:xfrm>
          <a:prstGeom prst="rect">
            <a:avLst/>
          </a:prstGeom>
          <a:noFill/>
        </p:spPr>
        <p:txBody>
          <a:bodyPr wrap="square" anchor="t"/>
          <a:lstStyle/>
          <a:p>
            <a:pPr algn="l">
              <a:defRPr sz="1000" b="0">
                <a:solidFill>
                  <a:srgbClr val="CCCCCC"/>
                </a:solidFill>
                <a:latin typeface="Arial"/>
              </a:defRPr>
            </a:pPr>
            <a:r>
              <a:t>Persistent state across turns with long-term memory extraction and injection.</a:t>
            </a:r>
          </a:p>
        </p:txBody>
      </p:sp>
      <p:sp>
        <p:nvSpPr>
          <p:cNvPr id="36" name="Rectangle 35"/>
          <p:cNvSpPr/>
          <p:nvPr/>
        </p:nvSpPr>
        <p:spPr>
          <a:xfrm>
            <a:off x="4754880" y="3849624"/>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54880" y="3849624"/>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937760" y="3941064"/>
            <a:ext cx="3657600" cy="365760"/>
          </a:xfrm>
          <a:prstGeom prst="rect">
            <a:avLst/>
          </a:prstGeom>
          <a:noFill/>
        </p:spPr>
        <p:txBody>
          <a:bodyPr wrap="square" anchor="t"/>
          <a:lstStyle/>
          <a:p>
            <a:pPr algn="l">
              <a:defRPr sz="1300" b="1">
                <a:solidFill>
                  <a:srgbClr val="FFFFFF"/>
                </a:solidFill>
                <a:latin typeface="Arial"/>
              </a:defRPr>
            </a:pPr>
            <a:r>
              <a:t>Task Orchestration</a:t>
            </a:r>
          </a:p>
        </p:txBody>
      </p:sp>
      <p:sp>
        <p:nvSpPr>
          <p:cNvPr id="39" name="TextBox 38"/>
          <p:cNvSpPr txBox="1"/>
          <p:nvPr/>
        </p:nvSpPr>
        <p:spPr>
          <a:xfrm>
            <a:off x="4937760" y="4306824"/>
            <a:ext cx="3657600" cy="228600"/>
          </a:xfrm>
          <a:prstGeom prst="rect">
            <a:avLst/>
          </a:prstGeom>
          <a:noFill/>
        </p:spPr>
        <p:txBody>
          <a:bodyPr wrap="square" anchor="t"/>
          <a:lstStyle/>
          <a:p>
            <a:pPr algn="l">
              <a:defRPr sz="1000" b="0">
                <a:solidFill>
                  <a:srgbClr val="CCCCCC"/>
                </a:solidFill>
                <a:latin typeface="Arial"/>
              </a:defRPr>
            </a:pPr>
            <a:r>
              <a:t>Planners decompose complex work into subtasks dispatched in parallel.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Anatomy of an Agent Harness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ctr">
              <a:defRPr sz="1600" b="1">
                <a:solidFill>
                  <a:srgbClr val="1B2A4A"/>
                </a:solidFill>
                <a:latin typeface="Arial"/>
              </a:defRPr>
            </a:pPr>
            <a:r>
              <a:t>THE CORE LOOP: Observe → Think → Act → Repeat</a:t>
            </a:r>
          </a:p>
        </p:txBody>
      </p:sp>
      <p:sp>
        <p:nvSpPr>
          <p:cNvPr id="6" name="Rounded Rectangle 5"/>
          <p:cNvSpPr/>
          <p:nvPr/>
        </p:nvSpPr>
        <p:spPr>
          <a:xfrm>
            <a:off x="320040" y="1371600"/>
            <a:ext cx="1417320" cy="640080"/>
          </a:xfrm>
          <a:prstGeom prst="round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User</a:t>
            </a:r>
            <a:br/>
            <a:r>
              <a:t>Input</a:t>
            </a:r>
          </a:p>
        </p:txBody>
      </p:sp>
      <p:sp>
        <p:nvSpPr>
          <p:cNvPr id="7" name="TextBox 6"/>
          <p:cNvSpPr txBox="1"/>
          <p:nvPr/>
        </p:nvSpPr>
        <p:spPr>
          <a:xfrm>
            <a:off x="175564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8" name="Rounded Rectangle 7"/>
          <p:cNvSpPr/>
          <p:nvPr/>
        </p:nvSpPr>
        <p:spPr>
          <a:xfrm>
            <a:off x="201168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Router /</a:t>
            </a:r>
            <a:br/>
            <a:r>
              <a:t>Classifier</a:t>
            </a:r>
          </a:p>
        </p:txBody>
      </p:sp>
      <p:sp>
        <p:nvSpPr>
          <p:cNvPr id="9" name="TextBox 8"/>
          <p:cNvSpPr txBox="1"/>
          <p:nvPr/>
        </p:nvSpPr>
        <p:spPr>
          <a:xfrm>
            <a:off x="344728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0" name="Rounded Rectangle 9"/>
          <p:cNvSpPr/>
          <p:nvPr/>
        </p:nvSpPr>
        <p:spPr>
          <a:xfrm>
            <a:off x="370332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Agent</a:t>
            </a:r>
            <a:br/>
            <a:r>
              <a:t>(ReAct Loop)</a:t>
            </a:r>
          </a:p>
        </p:txBody>
      </p:sp>
      <p:sp>
        <p:nvSpPr>
          <p:cNvPr id="11" name="TextBox 10"/>
          <p:cNvSpPr txBox="1"/>
          <p:nvPr/>
        </p:nvSpPr>
        <p:spPr>
          <a:xfrm>
            <a:off x="513892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2" name="Rounded Rectangle 11"/>
          <p:cNvSpPr/>
          <p:nvPr/>
        </p:nvSpPr>
        <p:spPr>
          <a:xfrm>
            <a:off x="5394960" y="1371600"/>
            <a:ext cx="1417320" cy="64008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Tool</a:t>
            </a:r>
            <a:br/>
            <a:r>
              <a:t>Execution</a:t>
            </a:r>
          </a:p>
        </p:txBody>
      </p:sp>
      <p:sp>
        <p:nvSpPr>
          <p:cNvPr id="13" name="TextBox 12"/>
          <p:cNvSpPr txBox="1"/>
          <p:nvPr/>
        </p:nvSpPr>
        <p:spPr>
          <a:xfrm>
            <a:off x="683056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4" name="Rounded Rectangle 13"/>
          <p:cNvSpPr/>
          <p:nvPr/>
        </p:nvSpPr>
        <p:spPr>
          <a:xfrm>
            <a:off x="7086600" y="1371600"/>
            <a:ext cx="1417320" cy="6400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Response</a:t>
            </a:r>
            <a:br/>
            <a:r>
              <a:t>Stream</a:t>
            </a:r>
          </a:p>
        </p:txBody>
      </p:sp>
      <p:sp>
        <p:nvSpPr>
          <p:cNvPr id="15" name="TextBox 14"/>
          <p:cNvSpPr txBox="1"/>
          <p:nvPr/>
        </p:nvSpPr>
        <p:spPr>
          <a:xfrm>
            <a:off x="502920" y="2286000"/>
            <a:ext cx="8229600" cy="320040"/>
          </a:xfrm>
          <a:prstGeom prst="rect">
            <a:avLst/>
          </a:prstGeom>
          <a:noFill/>
        </p:spPr>
        <p:txBody>
          <a:bodyPr wrap="square" anchor="t"/>
          <a:lstStyle/>
          <a:p>
            <a:pPr algn="l">
              <a:defRPr sz="1400" b="1">
                <a:solidFill>
                  <a:srgbClr val="1B2A4A"/>
                </a:solidFill>
                <a:latin typeface="Arial"/>
              </a:defRPr>
            </a:pPr>
            <a:r>
              <a:t>KEY LAYERS OF THE HARNESS</a:t>
            </a:r>
          </a:p>
        </p:txBody>
      </p:sp>
      <p:sp>
        <p:nvSpPr>
          <p:cNvPr id="16" name="Oval 15"/>
          <p:cNvSpPr/>
          <p:nvPr/>
        </p:nvSpPr>
        <p:spPr>
          <a:xfrm>
            <a:off x="502920" y="2724912"/>
            <a:ext cx="164592" cy="164592"/>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2651760"/>
            <a:ext cx="2011680" cy="320040"/>
          </a:xfrm>
          <a:prstGeom prst="rect">
            <a:avLst/>
          </a:prstGeom>
          <a:noFill/>
        </p:spPr>
        <p:txBody>
          <a:bodyPr wrap="square" anchor="t"/>
          <a:lstStyle/>
          <a:p>
            <a:pPr algn="l">
              <a:defRPr sz="1200" b="1">
                <a:solidFill>
                  <a:srgbClr val="333333"/>
                </a:solidFill>
                <a:latin typeface="Arial"/>
              </a:defRPr>
            </a:pPr>
            <a:r>
              <a:t>1. Routing Layer</a:t>
            </a:r>
          </a:p>
        </p:txBody>
      </p:sp>
      <p:sp>
        <p:nvSpPr>
          <p:cNvPr id="18" name="TextBox 17"/>
          <p:cNvSpPr txBox="1"/>
          <p:nvPr/>
        </p:nvSpPr>
        <p:spPr>
          <a:xfrm>
            <a:off x="2743200" y="2651760"/>
            <a:ext cx="5943600" cy="320040"/>
          </a:xfrm>
          <a:prstGeom prst="rect">
            <a:avLst/>
          </a:prstGeom>
          <a:noFill/>
        </p:spPr>
        <p:txBody>
          <a:bodyPr wrap="square" anchor="t"/>
          <a:lstStyle/>
          <a:p>
            <a:pPr algn="l">
              <a:defRPr sz="1100" b="0">
                <a:solidFill>
                  <a:srgbClr val="666666"/>
                </a:solidFill>
                <a:latin typeface="Arial"/>
              </a:defRPr>
            </a:pPr>
            <a:r>
              <a:t>Classifies intent, selects the right agent</a:t>
            </a:r>
          </a:p>
        </p:txBody>
      </p:sp>
      <p:sp>
        <p:nvSpPr>
          <p:cNvPr id="19" name="Oval 18"/>
          <p:cNvSpPr/>
          <p:nvPr/>
        </p:nvSpPr>
        <p:spPr>
          <a:xfrm>
            <a:off x="502920" y="3108960"/>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035808"/>
            <a:ext cx="2011680" cy="320040"/>
          </a:xfrm>
          <a:prstGeom prst="rect">
            <a:avLst/>
          </a:prstGeom>
          <a:noFill/>
        </p:spPr>
        <p:txBody>
          <a:bodyPr wrap="square" anchor="t"/>
          <a:lstStyle/>
          <a:p>
            <a:pPr algn="l">
              <a:defRPr sz="1200" b="1">
                <a:solidFill>
                  <a:srgbClr val="333333"/>
                </a:solidFill>
                <a:latin typeface="Arial"/>
              </a:defRPr>
            </a:pPr>
            <a:r>
              <a:t>2. Agent Registry</a:t>
            </a:r>
          </a:p>
        </p:txBody>
      </p:sp>
      <p:sp>
        <p:nvSpPr>
          <p:cNvPr id="21" name="TextBox 20"/>
          <p:cNvSpPr txBox="1"/>
          <p:nvPr/>
        </p:nvSpPr>
        <p:spPr>
          <a:xfrm>
            <a:off x="2743200" y="3035808"/>
            <a:ext cx="5943600" cy="320040"/>
          </a:xfrm>
          <a:prstGeom prst="rect">
            <a:avLst/>
          </a:prstGeom>
          <a:noFill/>
        </p:spPr>
        <p:txBody>
          <a:bodyPr wrap="square" anchor="t"/>
          <a:lstStyle/>
          <a:p>
            <a:pPr algn="l">
              <a:defRPr sz="1100" b="0">
                <a:solidFill>
                  <a:srgbClr val="666666"/>
                </a:solidFill>
                <a:latin typeface="Arial"/>
              </a:defRPr>
            </a:pPr>
            <a:r>
              <a:t>Declarative agent definitions (mode, tools, prompt)</a:t>
            </a:r>
          </a:p>
        </p:txBody>
      </p:sp>
      <p:sp>
        <p:nvSpPr>
          <p:cNvPr id="22" name="Oval 21"/>
          <p:cNvSpPr/>
          <p:nvPr/>
        </p:nvSpPr>
        <p:spPr>
          <a:xfrm>
            <a:off x="502920" y="3493008"/>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419856"/>
            <a:ext cx="2011680" cy="320040"/>
          </a:xfrm>
          <a:prstGeom prst="rect">
            <a:avLst/>
          </a:prstGeom>
          <a:noFill/>
        </p:spPr>
        <p:txBody>
          <a:bodyPr wrap="square" anchor="t"/>
          <a:lstStyle/>
          <a:p>
            <a:pPr algn="l">
              <a:defRPr sz="1200" b="1">
                <a:solidFill>
                  <a:srgbClr val="333333"/>
                </a:solidFill>
                <a:latin typeface="Arial"/>
              </a:defRPr>
            </a:pPr>
            <a:r>
              <a:t>3. Execution Engine</a:t>
            </a:r>
          </a:p>
        </p:txBody>
      </p:sp>
      <p:sp>
        <p:nvSpPr>
          <p:cNvPr id="24" name="TextBox 23"/>
          <p:cNvSpPr txBox="1"/>
          <p:nvPr/>
        </p:nvSpPr>
        <p:spPr>
          <a:xfrm>
            <a:off x="2743200" y="3419856"/>
            <a:ext cx="5943600" cy="320040"/>
          </a:xfrm>
          <a:prstGeom prst="rect">
            <a:avLst/>
          </a:prstGeom>
          <a:noFill/>
        </p:spPr>
        <p:txBody>
          <a:bodyPr wrap="square" anchor="t"/>
          <a:lstStyle/>
          <a:p>
            <a:pPr algn="l">
              <a:defRPr sz="1100" b="0">
                <a:solidFill>
                  <a:srgbClr val="666666"/>
                </a:solidFill>
                <a:latin typeface="Arial"/>
              </a:defRPr>
            </a:pPr>
            <a:r>
              <a:t>ReAct loop, RAG pipeline, coordinator pattern</a:t>
            </a:r>
          </a:p>
        </p:txBody>
      </p:sp>
      <p:sp>
        <p:nvSpPr>
          <p:cNvPr id="25" name="Oval 24"/>
          <p:cNvSpPr/>
          <p:nvPr/>
        </p:nvSpPr>
        <p:spPr>
          <a:xfrm>
            <a:off x="502920" y="3877056"/>
            <a:ext cx="164592" cy="164592"/>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3803904"/>
            <a:ext cx="2011680" cy="320040"/>
          </a:xfrm>
          <a:prstGeom prst="rect">
            <a:avLst/>
          </a:prstGeom>
          <a:noFill/>
        </p:spPr>
        <p:txBody>
          <a:bodyPr wrap="square" anchor="t"/>
          <a:lstStyle/>
          <a:p>
            <a:pPr algn="l">
              <a:defRPr sz="1200" b="1">
                <a:solidFill>
                  <a:srgbClr val="333333"/>
                </a:solidFill>
                <a:latin typeface="Arial"/>
              </a:defRPr>
            </a:pPr>
            <a:r>
              <a:t>4. Tool System</a:t>
            </a:r>
          </a:p>
        </p:txBody>
      </p:sp>
      <p:sp>
        <p:nvSpPr>
          <p:cNvPr id="27" name="TextBox 26"/>
          <p:cNvSpPr txBox="1"/>
          <p:nvPr/>
        </p:nvSpPr>
        <p:spPr>
          <a:xfrm>
            <a:off x="2743200" y="3803904"/>
            <a:ext cx="5943600" cy="320040"/>
          </a:xfrm>
          <a:prstGeom prst="rect">
            <a:avLst/>
          </a:prstGeom>
          <a:noFill/>
        </p:spPr>
        <p:txBody>
          <a:bodyPr wrap="square" anchor="t"/>
          <a:lstStyle/>
          <a:p>
            <a:pPr algn="l">
              <a:defRPr sz="1100" b="0">
                <a:solidFill>
                  <a:srgbClr val="666666"/>
                </a:solidFill>
                <a:latin typeface="Arial"/>
              </a:defRPr>
            </a:pPr>
            <a:r>
              <a:t>Registry of callable functions with policy enforcement</a:t>
            </a:r>
          </a:p>
        </p:txBody>
      </p:sp>
      <p:sp>
        <p:nvSpPr>
          <p:cNvPr id="28" name="Oval 27"/>
          <p:cNvSpPr/>
          <p:nvPr/>
        </p:nvSpPr>
        <p:spPr>
          <a:xfrm>
            <a:off x="502920" y="4261104"/>
            <a:ext cx="164592" cy="164592"/>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187952"/>
            <a:ext cx="2011680" cy="320040"/>
          </a:xfrm>
          <a:prstGeom prst="rect">
            <a:avLst/>
          </a:prstGeom>
          <a:noFill/>
        </p:spPr>
        <p:txBody>
          <a:bodyPr wrap="square" anchor="t"/>
          <a:lstStyle/>
          <a:p>
            <a:pPr algn="l">
              <a:defRPr sz="1200" b="1">
                <a:solidFill>
                  <a:srgbClr val="333333"/>
                </a:solidFill>
                <a:latin typeface="Arial"/>
              </a:defRPr>
            </a:pPr>
            <a:r>
              <a:t>5. Memory &amp; State</a:t>
            </a:r>
          </a:p>
        </p:txBody>
      </p:sp>
      <p:sp>
        <p:nvSpPr>
          <p:cNvPr id="30" name="TextBox 29"/>
          <p:cNvSpPr txBox="1"/>
          <p:nvPr/>
        </p:nvSpPr>
        <p:spPr>
          <a:xfrm>
            <a:off x="2743200" y="4187952"/>
            <a:ext cx="5943600" cy="320040"/>
          </a:xfrm>
          <a:prstGeom prst="rect">
            <a:avLst/>
          </a:prstGeom>
          <a:noFill/>
        </p:spPr>
        <p:txBody>
          <a:bodyPr wrap="square" anchor="t"/>
          <a:lstStyle/>
          <a:p>
            <a:pPr algn="l">
              <a:defRPr sz="1100" b="0">
                <a:solidFill>
                  <a:srgbClr val="666666"/>
                </a:solidFill>
                <a:latin typeface="Arial"/>
              </a:defRPr>
            </a:pPr>
            <a:r>
              <a:t>Session persistence, long-term memory, context budgets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The ReAct Pattern — How Agents Reason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4114800" cy="320040"/>
          </a:xfrm>
          <a:prstGeom prst="rect">
            <a:avLst/>
          </a:prstGeom>
          <a:noFill/>
        </p:spPr>
        <p:txBody>
          <a:bodyPr wrap="square" anchor="t"/>
          <a:lstStyle/>
          <a:p>
            <a:pPr algn="l">
              <a:defRPr sz="1400" b="1">
                <a:solidFill>
                  <a:srgbClr val="1B2A4A"/>
                </a:solidFill>
                <a:latin typeface="Arial"/>
              </a:defRPr>
            </a:pPr>
            <a:r>
              <a:t>THE REACT LOOP (Reasoning + Acting)</a:t>
            </a:r>
          </a:p>
        </p:txBody>
      </p:sp>
      <p:sp>
        <p:nvSpPr>
          <p:cNvPr id="6" name="Rectangle 5"/>
          <p:cNvSpPr/>
          <p:nvPr/>
        </p:nvSpPr>
        <p:spPr>
          <a:xfrm>
            <a:off x="502920" y="1280160"/>
            <a:ext cx="73152" cy="685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280160"/>
            <a:ext cx="3657600" cy="274320"/>
          </a:xfrm>
          <a:prstGeom prst="rect">
            <a:avLst/>
          </a:prstGeom>
          <a:noFill/>
        </p:spPr>
        <p:txBody>
          <a:bodyPr wrap="square" anchor="t"/>
          <a:lstStyle/>
          <a:p>
            <a:pPr algn="l">
              <a:defRPr sz="1300" b="1">
                <a:solidFill>
                  <a:srgbClr val="0097A7"/>
                </a:solidFill>
                <a:latin typeface="Arial"/>
              </a:defRPr>
            </a:pPr>
            <a:r>
              <a:t>1. OBSERVE</a:t>
            </a:r>
          </a:p>
        </p:txBody>
      </p:sp>
      <p:sp>
        <p:nvSpPr>
          <p:cNvPr id="8" name="TextBox 7"/>
          <p:cNvSpPr txBox="1"/>
          <p:nvPr/>
        </p:nvSpPr>
        <p:spPr>
          <a:xfrm>
            <a:off x="685800" y="1554480"/>
            <a:ext cx="3657600" cy="411480"/>
          </a:xfrm>
          <a:prstGeom prst="rect">
            <a:avLst/>
          </a:prstGeom>
          <a:noFill/>
        </p:spPr>
        <p:txBody>
          <a:bodyPr wrap="square" anchor="t"/>
          <a:lstStyle/>
          <a:p>
            <a:pPr algn="l">
              <a:defRPr sz="1000" b="0">
                <a:solidFill>
                  <a:srgbClr val="555555"/>
                </a:solidFill>
                <a:latin typeface="Arial"/>
              </a:defRPr>
            </a:pPr>
            <a:r>
              <a:t>Receive user query +</a:t>
            </a:r>
            <a:br/>
            <a:r>
              <a:t>conversation context</a:t>
            </a:r>
          </a:p>
        </p:txBody>
      </p:sp>
      <p:sp>
        <p:nvSpPr>
          <p:cNvPr id="9" name="Rectangle 8"/>
          <p:cNvSpPr/>
          <p:nvPr/>
        </p:nvSpPr>
        <p:spPr>
          <a:xfrm>
            <a:off x="502920" y="2057400"/>
            <a:ext cx="73152" cy="6858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057400"/>
            <a:ext cx="3657600" cy="274320"/>
          </a:xfrm>
          <a:prstGeom prst="rect">
            <a:avLst/>
          </a:prstGeom>
          <a:noFill/>
        </p:spPr>
        <p:txBody>
          <a:bodyPr wrap="square" anchor="t"/>
          <a:lstStyle/>
          <a:p>
            <a:pPr algn="l">
              <a:defRPr sz="1300" b="1">
                <a:solidFill>
                  <a:srgbClr val="5C6BC0"/>
                </a:solidFill>
                <a:latin typeface="Arial"/>
              </a:defRPr>
            </a:pPr>
            <a:r>
              <a:t>2. THINK</a:t>
            </a:r>
          </a:p>
        </p:txBody>
      </p:sp>
      <p:sp>
        <p:nvSpPr>
          <p:cNvPr id="11" name="TextBox 10"/>
          <p:cNvSpPr txBox="1"/>
          <p:nvPr/>
        </p:nvSpPr>
        <p:spPr>
          <a:xfrm>
            <a:off x="685800" y="2331720"/>
            <a:ext cx="3657600" cy="411480"/>
          </a:xfrm>
          <a:prstGeom prst="rect">
            <a:avLst/>
          </a:prstGeom>
          <a:noFill/>
        </p:spPr>
        <p:txBody>
          <a:bodyPr wrap="square" anchor="t"/>
          <a:lstStyle/>
          <a:p>
            <a:pPr algn="l">
              <a:defRPr sz="1000" b="0">
                <a:solidFill>
                  <a:srgbClr val="555555"/>
                </a:solidFill>
                <a:latin typeface="Arial"/>
              </a:defRPr>
            </a:pPr>
            <a:r>
              <a:t>LLM reasons about what</a:t>
            </a:r>
            <a:br/>
            <a:r>
              <a:t>to do next (chain-of-thought)</a:t>
            </a:r>
          </a:p>
        </p:txBody>
      </p:sp>
      <p:sp>
        <p:nvSpPr>
          <p:cNvPr id="12" name="Rectangle 11"/>
          <p:cNvSpPr/>
          <p:nvPr/>
        </p:nvSpPr>
        <p:spPr>
          <a:xfrm>
            <a:off x="502920" y="2834640"/>
            <a:ext cx="73152" cy="6858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834640"/>
            <a:ext cx="3657600" cy="274320"/>
          </a:xfrm>
          <a:prstGeom prst="rect">
            <a:avLst/>
          </a:prstGeom>
          <a:noFill/>
        </p:spPr>
        <p:txBody>
          <a:bodyPr wrap="square" anchor="t"/>
          <a:lstStyle/>
          <a:p>
            <a:pPr algn="l">
              <a:defRPr sz="1300" b="1">
                <a:solidFill>
                  <a:srgbClr val="FF9800"/>
                </a:solidFill>
                <a:latin typeface="Arial"/>
              </a:defRPr>
            </a:pPr>
            <a:r>
              <a:t>3. ACT</a:t>
            </a:r>
          </a:p>
        </p:txBody>
      </p:sp>
      <p:sp>
        <p:nvSpPr>
          <p:cNvPr id="14" name="TextBox 13"/>
          <p:cNvSpPr txBox="1"/>
          <p:nvPr/>
        </p:nvSpPr>
        <p:spPr>
          <a:xfrm>
            <a:off x="685800" y="3108960"/>
            <a:ext cx="3657600" cy="411480"/>
          </a:xfrm>
          <a:prstGeom prst="rect">
            <a:avLst/>
          </a:prstGeom>
          <a:noFill/>
        </p:spPr>
        <p:txBody>
          <a:bodyPr wrap="square" anchor="t"/>
          <a:lstStyle/>
          <a:p>
            <a:pPr algn="l">
              <a:defRPr sz="1000" b="0">
                <a:solidFill>
                  <a:srgbClr val="555555"/>
                </a:solidFill>
                <a:latin typeface="Arial"/>
              </a:defRPr>
            </a:pPr>
            <a:r>
              <a:t>Call a tool (search, code exec,</a:t>
            </a:r>
            <a:br/>
            <a:r>
              <a:t>API call) or respond</a:t>
            </a:r>
          </a:p>
        </p:txBody>
      </p:sp>
      <p:sp>
        <p:nvSpPr>
          <p:cNvPr id="15" name="Rectangle 14"/>
          <p:cNvSpPr/>
          <p:nvPr/>
        </p:nvSpPr>
        <p:spPr>
          <a:xfrm>
            <a:off x="502920" y="3611880"/>
            <a:ext cx="73152"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611880"/>
            <a:ext cx="3657600" cy="274320"/>
          </a:xfrm>
          <a:prstGeom prst="rect">
            <a:avLst/>
          </a:prstGeom>
          <a:noFill/>
        </p:spPr>
        <p:txBody>
          <a:bodyPr wrap="square" anchor="t"/>
          <a:lstStyle/>
          <a:p>
            <a:pPr algn="l">
              <a:defRPr sz="1300" b="1">
                <a:solidFill>
                  <a:srgbClr val="4CAF50"/>
                </a:solidFill>
                <a:latin typeface="Arial"/>
              </a:defRPr>
            </a:pPr>
            <a:r>
              <a:t>4. EVALUATE</a:t>
            </a:r>
          </a:p>
        </p:txBody>
      </p:sp>
      <p:sp>
        <p:nvSpPr>
          <p:cNvPr id="17" name="TextBox 16"/>
          <p:cNvSpPr txBox="1"/>
          <p:nvPr/>
        </p:nvSpPr>
        <p:spPr>
          <a:xfrm>
            <a:off x="685800" y="3886200"/>
            <a:ext cx="3657600" cy="411480"/>
          </a:xfrm>
          <a:prstGeom prst="rect">
            <a:avLst/>
          </a:prstGeom>
          <a:noFill/>
        </p:spPr>
        <p:txBody>
          <a:bodyPr wrap="square" anchor="t"/>
          <a:lstStyle/>
          <a:p>
            <a:pPr algn="l">
              <a:defRPr sz="1000" b="0">
                <a:solidFill>
                  <a:srgbClr val="555555"/>
                </a:solidFill>
                <a:latin typeface="Arial"/>
              </a:defRPr>
            </a:pPr>
            <a:r>
              <a:t>Check result — is the task</a:t>
            </a:r>
            <a:br/>
            <a:r>
              <a:t>complete? Loop or finish.</a:t>
            </a:r>
          </a:p>
        </p:txBody>
      </p:sp>
      <p:sp>
        <p:nvSpPr>
          <p:cNvPr id="18" name="TextBox 17"/>
          <p:cNvSpPr txBox="1"/>
          <p:nvPr/>
        </p:nvSpPr>
        <p:spPr>
          <a:xfrm>
            <a:off x="4846320" y="822960"/>
            <a:ext cx="3840480" cy="320040"/>
          </a:xfrm>
          <a:prstGeom prst="rect">
            <a:avLst/>
          </a:prstGeom>
          <a:noFill/>
        </p:spPr>
        <p:txBody>
          <a:bodyPr wrap="square" anchor="t"/>
          <a:lstStyle/>
          <a:p>
            <a:pPr algn="l">
              <a:defRPr sz="1200" b="1">
                <a:solidFill>
                  <a:srgbClr val="1B2A4A"/>
                </a:solidFill>
                <a:latin typeface="Arial"/>
              </a:defRPr>
            </a:pPr>
            <a:r>
              <a:t>EXAMPLE: "What does the policy say about remote work?"</a:t>
            </a:r>
          </a:p>
        </p:txBody>
      </p:sp>
      <p:sp>
        <p:nvSpPr>
          <p:cNvPr id="19" name="Rectangle 18"/>
          <p:cNvSpPr/>
          <p:nvPr/>
        </p:nvSpPr>
        <p:spPr>
          <a:xfrm>
            <a:off x="4846320" y="1234440"/>
            <a:ext cx="3840480" cy="3474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0" y="1371600"/>
            <a:ext cx="3474720" cy="228600"/>
          </a:xfrm>
          <a:prstGeom prst="rect">
            <a:avLst/>
          </a:prstGeom>
          <a:noFill/>
        </p:spPr>
        <p:txBody>
          <a:bodyPr wrap="square">
            <a:spAutoFit/>
          </a:bodyPr>
          <a:lstStyle/>
          <a:p>
            <a:r>
              <a:rPr sz="1000" b="1">
                <a:solidFill>
                  <a:srgbClr val="0097A7"/>
                </a:solidFill>
                <a:latin typeface="Arial"/>
              </a:rPr>
              <a:t>▶ Router:</a:t>
            </a:r>
            <a:r>
              <a:rPr sz="1000" b="0">
                <a:solidFill>
                  <a:srgbClr val="FFFFFF"/>
                </a:solidFill>
                <a:latin typeface="Arial"/>
              </a:rPr>
              <a:t xml:space="preserve"> RAG intent detected (0.92 confidence)</a:t>
            </a:r>
          </a:p>
        </p:txBody>
      </p:sp>
      <p:sp>
        <p:nvSpPr>
          <p:cNvPr id="21" name="TextBox 20"/>
          <p:cNvSpPr txBox="1"/>
          <p:nvPr/>
        </p:nvSpPr>
        <p:spPr>
          <a:xfrm>
            <a:off x="5029200" y="1627632"/>
            <a:ext cx="3474720" cy="228600"/>
          </a:xfrm>
          <a:prstGeom prst="rect">
            <a:avLst/>
          </a:prstGeom>
          <a:noFill/>
        </p:spPr>
        <p:txBody>
          <a:bodyPr wrap="square">
            <a:spAutoFit/>
          </a:bodyPr>
          <a:lstStyle/>
          <a:p>
            <a:r>
              <a:rPr sz="1000" b="1">
                <a:solidFill>
                  <a:srgbClr val="0097A7"/>
                </a:solidFill>
                <a:latin typeface="Arial"/>
              </a:rPr>
              <a:t>▶ Agent:</a:t>
            </a:r>
            <a:r>
              <a:rPr sz="1000" b="0">
                <a:solidFill>
                  <a:srgbClr val="FFFFFF"/>
                </a:solidFill>
                <a:latin typeface="Arial"/>
              </a:rPr>
              <a:t xml:space="preserve"> rag_worker selected</a:t>
            </a:r>
          </a:p>
        </p:txBody>
      </p:sp>
      <p:sp>
        <p:nvSpPr>
          <p:cNvPr id="22" name="TextBox 21"/>
          <p:cNvSpPr txBox="1"/>
          <p:nvPr/>
        </p:nvSpPr>
        <p:spPr>
          <a:xfrm>
            <a:off x="5029200" y="2020824"/>
            <a:ext cx="3474720" cy="228600"/>
          </a:xfrm>
          <a:prstGeom prst="rect">
            <a:avLst/>
          </a:prstGeom>
          <a:noFill/>
        </p:spPr>
        <p:txBody>
          <a:bodyPr wrap="square">
            <a:spAutoFit/>
          </a:bodyPr>
          <a:lstStyle/>
          <a:p>
            <a:r>
              <a:rPr sz="1000" b="1">
                <a:solidFill>
                  <a:srgbClr val="FF9800"/>
                </a:solidFill>
                <a:latin typeface="Arial"/>
              </a:rPr>
              <a:t>Step 1 — Observe:</a:t>
            </a:r>
            <a:r>
              <a:rPr sz="1000" b="0">
                <a:solidFill>
                  <a:srgbClr val="CCCCCC"/>
                </a:solidFill>
                <a:latin typeface="Arial"/>
              </a:rPr>
              <a:t xml:space="preserve"> Parse query for search terms</a:t>
            </a:r>
          </a:p>
        </p:txBody>
      </p:sp>
      <p:sp>
        <p:nvSpPr>
          <p:cNvPr id="23" name="TextBox 22"/>
          <p:cNvSpPr txBox="1"/>
          <p:nvPr/>
        </p:nvSpPr>
        <p:spPr>
          <a:xfrm>
            <a:off x="5029200" y="2276856"/>
            <a:ext cx="3474720" cy="228600"/>
          </a:xfrm>
          <a:prstGeom prst="rect">
            <a:avLst/>
          </a:prstGeom>
          <a:noFill/>
        </p:spPr>
        <p:txBody>
          <a:bodyPr wrap="square">
            <a:spAutoFit/>
          </a:bodyPr>
          <a:lstStyle/>
          <a:p>
            <a:r>
              <a:rPr sz="1000" b="1">
                <a:solidFill>
                  <a:srgbClr val="FF9800"/>
                </a:solidFill>
                <a:latin typeface="Arial"/>
              </a:rPr>
              <a:t>Step 2 — Act:</a:t>
            </a:r>
            <a:r>
              <a:rPr sz="1000" b="0">
                <a:solidFill>
                  <a:srgbClr val="CCCCCC"/>
                </a:solidFill>
                <a:latin typeface="Arial"/>
              </a:rPr>
              <a:t xml:space="preserve"> Hybrid search (vector + keyword)</a:t>
            </a:r>
          </a:p>
        </p:txBody>
      </p:sp>
      <p:sp>
        <p:nvSpPr>
          <p:cNvPr id="24" name="TextBox 23"/>
          <p:cNvSpPr txBox="1"/>
          <p:nvPr/>
        </p:nvSpPr>
        <p:spPr>
          <a:xfrm>
            <a:off x="5029200" y="2532888"/>
            <a:ext cx="3474720" cy="228600"/>
          </a:xfrm>
          <a:prstGeom prst="rect">
            <a:avLst/>
          </a:prstGeom>
          <a:noFill/>
        </p:spPr>
        <p:txBody>
          <a:bodyPr wrap="square">
            <a:spAutoFit/>
          </a:bodyPr>
          <a:lstStyle/>
          <a:p>
            <a:r>
              <a:rPr sz="1000" b="0">
                <a:solidFill>
                  <a:srgbClr val="999999"/>
                </a:solidFill>
                <a:latin typeface="Arial"/>
              </a:rPr>
              <a:t xml:space="preserve">  → Found 12 chunks from HR_Policy.pdf</a:t>
            </a:r>
          </a:p>
        </p:txBody>
      </p:sp>
      <p:sp>
        <p:nvSpPr>
          <p:cNvPr id="25" name="TextBox 24"/>
          <p:cNvSpPr txBox="1"/>
          <p:nvPr/>
        </p:nvSpPr>
        <p:spPr>
          <a:xfrm>
            <a:off x="5029200" y="2788920"/>
            <a:ext cx="3474720" cy="228600"/>
          </a:xfrm>
          <a:prstGeom prst="rect">
            <a:avLst/>
          </a:prstGeom>
          <a:noFill/>
        </p:spPr>
        <p:txBody>
          <a:bodyPr wrap="square">
            <a:spAutoFit/>
          </a:bodyPr>
          <a:lstStyle/>
          <a:p>
            <a:r>
              <a:rPr sz="1000" b="1">
                <a:solidFill>
                  <a:srgbClr val="FF9800"/>
                </a:solidFill>
                <a:latin typeface="Arial"/>
              </a:rPr>
              <a:t>Step 3 — Think:</a:t>
            </a:r>
            <a:r>
              <a:rPr sz="1000" b="0">
                <a:solidFill>
                  <a:srgbClr val="CCCCCC"/>
                </a:solidFill>
                <a:latin typeface="Arial"/>
              </a:rPr>
              <a:t xml:space="preserve"> Grade relevance of chunks</a:t>
            </a:r>
          </a:p>
        </p:txBody>
      </p:sp>
      <p:sp>
        <p:nvSpPr>
          <p:cNvPr id="26" name="TextBox 25"/>
          <p:cNvSpPr txBox="1"/>
          <p:nvPr/>
        </p:nvSpPr>
        <p:spPr>
          <a:xfrm>
            <a:off x="5029200" y="3044952"/>
            <a:ext cx="3474720" cy="228600"/>
          </a:xfrm>
          <a:prstGeom prst="rect">
            <a:avLst/>
          </a:prstGeom>
          <a:noFill/>
        </p:spPr>
        <p:txBody>
          <a:bodyPr wrap="square">
            <a:spAutoFit/>
          </a:bodyPr>
          <a:lstStyle/>
          <a:p>
            <a:r>
              <a:rPr sz="1000" b="0">
                <a:solidFill>
                  <a:srgbClr val="999999"/>
                </a:solidFill>
                <a:latin typeface="Arial"/>
              </a:rPr>
              <a:t xml:space="preserve">  → 5 chunks scored 2+ (relevant)</a:t>
            </a:r>
          </a:p>
        </p:txBody>
      </p:sp>
      <p:sp>
        <p:nvSpPr>
          <p:cNvPr id="27" name="TextBox 26"/>
          <p:cNvSpPr txBox="1"/>
          <p:nvPr/>
        </p:nvSpPr>
        <p:spPr>
          <a:xfrm>
            <a:off x="5029200" y="3300984"/>
            <a:ext cx="3474720" cy="228600"/>
          </a:xfrm>
          <a:prstGeom prst="rect">
            <a:avLst/>
          </a:prstGeom>
          <a:noFill/>
        </p:spPr>
        <p:txBody>
          <a:bodyPr wrap="square">
            <a:spAutoFit/>
          </a:bodyPr>
          <a:lstStyle/>
          <a:p>
            <a:r>
              <a:rPr sz="1000" b="1">
                <a:solidFill>
                  <a:srgbClr val="FF9800"/>
                </a:solidFill>
                <a:latin typeface="Arial"/>
              </a:rPr>
              <a:t>Step 4 — Act:</a:t>
            </a:r>
            <a:r>
              <a:rPr sz="1000" b="0">
                <a:solidFill>
                  <a:srgbClr val="CCCCCC"/>
                </a:solidFill>
                <a:latin typeface="Arial"/>
              </a:rPr>
              <a:t xml:space="preserve"> Synthesize grounded answer</a:t>
            </a:r>
          </a:p>
        </p:txBody>
      </p:sp>
      <p:sp>
        <p:nvSpPr>
          <p:cNvPr id="28" name="TextBox 27"/>
          <p:cNvSpPr txBox="1"/>
          <p:nvPr/>
        </p:nvSpPr>
        <p:spPr>
          <a:xfrm>
            <a:off x="5029200" y="3557016"/>
            <a:ext cx="3474720" cy="228600"/>
          </a:xfrm>
          <a:prstGeom prst="rect">
            <a:avLst/>
          </a:prstGeom>
          <a:noFill/>
        </p:spPr>
        <p:txBody>
          <a:bodyPr wrap="square">
            <a:spAutoFit/>
          </a:bodyPr>
          <a:lstStyle/>
          <a:p>
            <a:r>
              <a:rPr sz="1000" b="0">
                <a:solidFill>
                  <a:srgbClr val="999999"/>
                </a:solidFill>
                <a:latin typeface="Arial"/>
              </a:rPr>
              <a:t xml:space="preserve">  → Answer with 3 citations</a:t>
            </a:r>
          </a:p>
        </p:txBody>
      </p:sp>
      <p:sp>
        <p:nvSpPr>
          <p:cNvPr id="29" name="TextBox 28"/>
          <p:cNvSpPr txBox="1"/>
          <p:nvPr/>
        </p:nvSpPr>
        <p:spPr>
          <a:xfrm>
            <a:off x="5029200" y="3950208"/>
            <a:ext cx="3474720" cy="228600"/>
          </a:xfrm>
          <a:prstGeom prst="rect">
            <a:avLst/>
          </a:prstGeom>
          <a:noFill/>
        </p:spPr>
        <p:txBody>
          <a:bodyPr wrap="square">
            <a:spAutoFit/>
          </a:bodyPr>
          <a:lstStyle/>
          <a:p>
            <a:r>
              <a:rPr sz="1000" b="1">
                <a:solidFill>
                  <a:srgbClr val="4CAF50"/>
                </a:solidFill>
                <a:latin typeface="Arial"/>
              </a:rPr>
              <a:t>✓ Response:</a:t>
            </a:r>
            <a:r>
              <a:rPr sz="1000" b="0">
                <a:solidFill>
                  <a:srgbClr val="FFFFFF"/>
                </a:solidFill>
                <a:latin typeface="Arial"/>
              </a:rPr>
              <a:t xml:space="preserve"> Streamed via SSE with citations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Agent Modes — One Harness, Many Strategies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20040"/>
          </a:xfrm>
          <a:prstGeom prst="rect">
            <a:avLst/>
          </a:prstGeom>
          <a:noFill/>
        </p:spPr>
        <p:txBody>
          <a:bodyPr wrap="square" anchor="t"/>
          <a:lstStyle/>
          <a:p>
            <a:pPr algn="l">
              <a:defRPr sz="1300" b="0">
                <a:solidFill>
                  <a:srgbClr val="555555"/>
                </a:solidFill>
                <a:latin typeface="Arial"/>
              </a:defRPr>
            </a:pPr>
            <a:r>
              <a:t>Different tasks need different execution strategies. The harness routes to specialized agent modes.</a:t>
            </a:r>
          </a:p>
        </p:txBody>
      </p:sp>
      <p:sp>
        <p:nvSpPr>
          <p:cNvPr id="6" name="Rectangle 5"/>
          <p:cNvSpPr/>
          <p:nvPr/>
        </p:nvSpPr>
        <p:spPr>
          <a:xfrm>
            <a:off x="27432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371600"/>
            <a:ext cx="196596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554480"/>
            <a:ext cx="1965960" cy="457200"/>
          </a:xfrm>
          <a:prstGeom prst="rect">
            <a:avLst/>
          </a:prstGeom>
          <a:noFill/>
        </p:spPr>
        <p:txBody>
          <a:bodyPr wrap="square" anchor="t"/>
          <a:lstStyle/>
          <a:p>
            <a:pPr algn="ctr">
              <a:defRPr sz="2800" b="0">
                <a:solidFill>
                  <a:srgbClr val="0097A7"/>
                </a:solidFill>
                <a:latin typeface="Arial"/>
              </a:defRPr>
            </a:pPr>
            <a:r>
              <a:t>//</a:t>
            </a:r>
          </a:p>
        </p:txBody>
      </p:sp>
      <p:sp>
        <p:nvSpPr>
          <p:cNvPr id="9" name="TextBox 8"/>
          <p:cNvSpPr txBox="1"/>
          <p:nvPr/>
        </p:nvSpPr>
        <p:spPr>
          <a:xfrm>
            <a:off x="411480" y="2057400"/>
            <a:ext cx="1691640" cy="320040"/>
          </a:xfrm>
          <a:prstGeom prst="rect">
            <a:avLst/>
          </a:prstGeom>
          <a:noFill/>
        </p:spPr>
        <p:txBody>
          <a:bodyPr wrap="square" anchor="t"/>
          <a:lstStyle/>
          <a:p>
            <a:pPr algn="ctr">
              <a:defRPr sz="1800" b="1">
                <a:solidFill>
                  <a:srgbClr val="FFFFFF"/>
                </a:solidFill>
                <a:latin typeface="Arial"/>
              </a:defRPr>
            </a:pPr>
            <a:r>
              <a:t>BASIC</a:t>
            </a:r>
          </a:p>
        </p:txBody>
      </p:sp>
      <p:sp>
        <p:nvSpPr>
          <p:cNvPr id="10" name="TextBox 9"/>
          <p:cNvSpPr txBox="1"/>
          <p:nvPr/>
        </p:nvSpPr>
        <p:spPr>
          <a:xfrm>
            <a:off x="411480" y="2468880"/>
            <a:ext cx="1691640" cy="548640"/>
          </a:xfrm>
          <a:prstGeom prst="rect">
            <a:avLst/>
          </a:prstGeom>
          <a:noFill/>
        </p:spPr>
        <p:txBody>
          <a:bodyPr wrap="square" anchor="t"/>
          <a:lstStyle/>
          <a:p>
            <a:pPr algn="ctr">
              <a:defRPr sz="1100" b="0">
                <a:solidFill>
                  <a:srgbClr val="CCCCCC"/>
                </a:solidFill>
                <a:latin typeface="Arial"/>
              </a:defRPr>
            </a:pPr>
            <a:r>
              <a:t>Single LLM call, no tools</a:t>
            </a:r>
          </a:p>
        </p:txBody>
      </p:sp>
      <p:sp>
        <p:nvSpPr>
          <p:cNvPr id="11" name="Rectangle 10"/>
          <p:cNvSpPr/>
          <p:nvPr/>
        </p:nvSpPr>
        <p:spPr>
          <a:xfrm>
            <a:off x="548640" y="3108960"/>
            <a:ext cx="14173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3246119"/>
            <a:ext cx="1691640" cy="914400"/>
          </a:xfrm>
          <a:prstGeom prst="rect">
            <a:avLst/>
          </a:prstGeom>
          <a:noFill/>
        </p:spPr>
        <p:txBody>
          <a:bodyPr wrap="square" anchor="t"/>
          <a:lstStyle/>
          <a:p>
            <a:pPr algn="ctr">
              <a:defRPr sz="1000" b="0">
                <a:solidFill>
                  <a:srgbClr val="999999"/>
                </a:solidFill>
                <a:latin typeface="Arial"/>
              </a:defRPr>
            </a:pPr>
            <a:r>
              <a:t>Fast Q&amp;A, greetings, simple tasks</a:t>
            </a:r>
          </a:p>
        </p:txBody>
      </p:sp>
      <p:sp>
        <p:nvSpPr>
          <p:cNvPr id="13" name="Rectangle 12"/>
          <p:cNvSpPr/>
          <p:nvPr/>
        </p:nvSpPr>
        <p:spPr>
          <a:xfrm>
            <a:off x="237744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377440" y="1371600"/>
            <a:ext cx="1965960" cy="54864"/>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77440" y="1554480"/>
            <a:ext cx="1965960" cy="457200"/>
          </a:xfrm>
          <a:prstGeom prst="rect">
            <a:avLst/>
          </a:prstGeom>
          <a:noFill/>
        </p:spPr>
        <p:txBody>
          <a:bodyPr wrap="square" anchor="t"/>
          <a:lstStyle/>
          <a:p>
            <a:pPr algn="ctr">
              <a:defRPr sz="2800" b="0">
                <a:solidFill>
                  <a:srgbClr val="5C6BC0"/>
                </a:solidFill>
                <a:latin typeface="Arial"/>
              </a:defRPr>
            </a:pPr>
            <a:r>
              <a:t>&lt;&gt;</a:t>
            </a:r>
          </a:p>
        </p:txBody>
      </p:sp>
      <p:sp>
        <p:nvSpPr>
          <p:cNvPr id="16" name="TextBox 15"/>
          <p:cNvSpPr txBox="1"/>
          <p:nvPr/>
        </p:nvSpPr>
        <p:spPr>
          <a:xfrm>
            <a:off x="2514600" y="2057400"/>
            <a:ext cx="1691640" cy="320040"/>
          </a:xfrm>
          <a:prstGeom prst="rect">
            <a:avLst/>
          </a:prstGeom>
          <a:noFill/>
        </p:spPr>
        <p:txBody>
          <a:bodyPr wrap="square" anchor="t"/>
          <a:lstStyle/>
          <a:p>
            <a:pPr algn="ctr">
              <a:defRPr sz="1800" b="1">
                <a:solidFill>
                  <a:srgbClr val="FFFFFF"/>
                </a:solidFill>
                <a:latin typeface="Arial"/>
              </a:defRPr>
            </a:pPr>
            <a:r>
              <a:t>REACT</a:t>
            </a:r>
          </a:p>
        </p:txBody>
      </p:sp>
      <p:sp>
        <p:nvSpPr>
          <p:cNvPr id="17" name="TextBox 16"/>
          <p:cNvSpPr txBox="1"/>
          <p:nvPr/>
        </p:nvSpPr>
        <p:spPr>
          <a:xfrm>
            <a:off x="2514600" y="2468880"/>
            <a:ext cx="1691640" cy="548640"/>
          </a:xfrm>
          <a:prstGeom prst="rect">
            <a:avLst/>
          </a:prstGeom>
          <a:noFill/>
        </p:spPr>
        <p:txBody>
          <a:bodyPr wrap="square" anchor="t"/>
          <a:lstStyle/>
          <a:p>
            <a:pPr algn="ctr">
              <a:defRPr sz="1100" b="0">
                <a:solidFill>
                  <a:srgbClr val="CCCCCC"/>
                </a:solidFill>
                <a:latin typeface="Arial"/>
              </a:defRPr>
            </a:pPr>
            <a:r>
              <a:t>ReAct loop with tool calling</a:t>
            </a:r>
          </a:p>
        </p:txBody>
      </p:sp>
      <p:sp>
        <p:nvSpPr>
          <p:cNvPr id="18" name="Rectangle 17"/>
          <p:cNvSpPr/>
          <p:nvPr/>
        </p:nvSpPr>
        <p:spPr>
          <a:xfrm>
            <a:off x="2651760" y="3108960"/>
            <a:ext cx="1417320" cy="1828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4600" y="3246119"/>
            <a:ext cx="1691640" cy="914400"/>
          </a:xfrm>
          <a:prstGeom prst="rect">
            <a:avLst/>
          </a:prstGeom>
          <a:noFill/>
        </p:spPr>
        <p:txBody>
          <a:bodyPr wrap="square" anchor="t"/>
          <a:lstStyle/>
          <a:p>
            <a:pPr algn="ctr">
              <a:defRPr sz="1000" b="0">
                <a:solidFill>
                  <a:srgbClr val="999999"/>
                </a:solidFill>
                <a:latin typeface="Arial"/>
              </a:defRPr>
            </a:pPr>
            <a:r>
              <a:t>General tasks, data analysis, file ops</a:t>
            </a:r>
          </a:p>
        </p:txBody>
      </p:sp>
      <p:sp>
        <p:nvSpPr>
          <p:cNvPr id="20" name="Rectangle 19"/>
          <p:cNvSpPr/>
          <p:nvPr/>
        </p:nvSpPr>
        <p:spPr>
          <a:xfrm>
            <a:off x="448056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80560" y="1371600"/>
            <a:ext cx="196596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80560" y="1554480"/>
            <a:ext cx="1965960" cy="457200"/>
          </a:xfrm>
          <a:prstGeom prst="rect">
            <a:avLst/>
          </a:prstGeom>
          <a:noFill/>
        </p:spPr>
        <p:txBody>
          <a:bodyPr wrap="square" anchor="t"/>
          <a:lstStyle/>
          <a:p>
            <a:pPr algn="ctr">
              <a:defRPr sz="2800" b="0">
                <a:solidFill>
                  <a:srgbClr val="FF9800"/>
                </a:solidFill>
                <a:latin typeface="Arial"/>
              </a:defRPr>
            </a:pPr>
            <a:r>
              <a:t>{}</a:t>
            </a:r>
          </a:p>
        </p:txBody>
      </p:sp>
      <p:sp>
        <p:nvSpPr>
          <p:cNvPr id="23" name="TextBox 22"/>
          <p:cNvSpPr txBox="1"/>
          <p:nvPr/>
        </p:nvSpPr>
        <p:spPr>
          <a:xfrm>
            <a:off x="4617720" y="2057400"/>
            <a:ext cx="1691640" cy="320040"/>
          </a:xfrm>
          <a:prstGeom prst="rect">
            <a:avLst/>
          </a:prstGeom>
          <a:noFill/>
        </p:spPr>
        <p:txBody>
          <a:bodyPr wrap="square" anchor="t"/>
          <a:lstStyle/>
          <a:p>
            <a:pPr algn="ctr">
              <a:defRPr sz="1800" b="1">
                <a:solidFill>
                  <a:srgbClr val="FFFFFF"/>
                </a:solidFill>
                <a:latin typeface="Arial"/>
              </a:defRPr>
            </a:pPr>
            <a:r>
              <a:t>RAG</a:t>
            </a:r>
          </a:p>
        </p:txBody>
      </p:sp>
      <p:sp>
        <p:nvSpPr>
          <p:cNvPr id="24" name="TextBox 23"/>
          <p:cNvSpPr txBox="1"/>
          <p:nvPr/>
        </p:nvSpPr>
        <p:spPr>
          <a:xfrm>
            <a:off x="4617720" y="2468880"/>
            <a:ext cx="1691640" cy="548640"/>
          </a:xfrm>
          <a:prstGeom prst="rect">
            <a:avLst/>
          </a:prstGeom>
          <a:noFill/>
        </p:spPr>
        <p:txBody>
          <a:bodyPr wrap="square" anchor="t"/>
          <a:lstStyle/>
          <a:p>
            <a:pPr algn="ctr">
              <a:defRPr sz="1100" b="0">
                <a:solidFill>
                  <a:srgbClr val="CCCCCC"/>
                </a:solidFill>
                <a:latin typeface="Arial"/>
              </a:defRPr>
            </a:pPr>
            <a:r>
              <a:t>Retrieve &gt; Grade &gt; Synthesize</a:t>
            </a:r>
          </a:p>
        </p:txBody>
      </p:sp>
      <p:sp>
        <p:nvSpPr>
          <p:cNvPr id="25" name="Rectangle 24"/>
          <p:cNvSpPr/>
          <p:nvPr/>
        </p:nvSpPr>
        <p:spPr>
          <a:xfrm>
            <a:off x="4754880" y="3108960"/>
            <a:ext cx="1417320" cy="1828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17720" y="3246119"/>
            <a:ext cx="1691640" cy="914400"/>
          </a:xfrm>
          <a:prstGeom prst="rect">
            <a:avLst/>
          </a:prstGeom>
          <a:noFill/>
        </p:spPr>
        <p:txBody>
          <a:bodyPr wrap="square" anchor="t"/>
          <a:lstStyle/>
          <a:p>
            <a:pPr algn="ctr">
              <a:defRPr sz="1000" b="0">
                <a:solidFill>
                  <a:srgbClr val="999999"/>
                </a:solidFill>
                <a:latin typeface="Arial"/>
              </a:defRPr>
            </a:pPr>
            <a:r>
              <a:t>Document search, policy questions</a:t>
            </a:r>
          </a:p>
        </p:txBody>
      </p:sp>
      <p:sp>
        <p:nvSpPr>
          <p:cNvPr id="27" name="Rectangle 26"/>
          <p:cNvSpPr/>
          <p:nvPr/>
        </p:nvSpPr>
        <p:spPr>
          <a:xfrm>
            <a:off x="658368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583680" y="1371600"/>
            <a:ext cx="196596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0" y="1554480"/>
            <a:ext cx="1965960" cy="457200"/>
          </a:xfrm>
          <a:prstGeom prst="rect">
            <a:avLst/>
          </a:prstGeom>
          <a:noFill/>
        </p:spPr>
        <p:txBody>
          <a:bodyPr wrap="square" anchor="t"/>
          <a:lstStyle/>
          <a:p>
            <a:pPr algn="ctr">
              <a:defRPr sz="2800" b="0">
                <a:solidFill>
                  <a:srgbClr val="7C4DFF"/>
                </a:solidFill>
                <a:latin typeface="Arial"/>
              </a:defRPr>
            </a:pPr>
            <a:r>
              <a:t>&gt;&gt;</a:t>
            </a:r>
          </a:p>
        </p:txBody>
      </p:sp>
      <p:sp>
        <p:nvSpPr>
          <p:cNvPr id="30" name="TextBox 29"/>
          <p:cNvSpPr txBox="1"/>
          <p:nvPr/>
        </p:nvSpPr>
        <p:spPr>
          <a:xfrm>
            <a:off x="6720840" y="2057400"/>
            <a:ext cx="1691640" cy="320040"/>
          </a:xfrm>
          <a:prstGeom prst="rect">
            <a:avLst/>
          </a:prstGeom>
          <a:noFill/>
        </p:spPr>
        <p:txBody>
          <a:bodyPr wrap="square" anchor="t"/>
          <a:lstStyle/>
          <a:p>
            <a:pPr algn="ctr">
              <a:defRPr sz="1800" b="1">
                <a:solidFill>
                  <a:srgbClr val="FFFFFF"/>
                </a:solidFill>
                <a:latin typeface="Arial"/>
              </a:defRPr>
            </a:pPr>
            <a:r>
              <a:t>COORD</a:t>
            </a:r>
          </a:p>
        </p:txBody>
      </p:sp>
      <p:sp>
        <p:nvSpPr>
          <p:cNvPr id="31" name="TextBox 30"/>
          <p:cNvSpPr txBox="1"/>
          <p:nvPr/>
        </p:nvSpPr>
        <p:spPr>
          <a:xfrm>
            <a:off x="6720840" y="2468880"/>
            <a:ext cx="1691640" cy="548640"/>
          </a:xfrm>
          <a:prstGeom prst="rect">
            <a:avLst/>
          </a:prstGeom>
          <a:noFill/>
        </p:spPr>
        <p:txBody>
          <a:bodyPr wrap="square" anchor="t"/>
          <a:lstStyle/>
          <a:p>
            <a:pPr algn="ctr">
              <a:defRPr sz="1100" b="0">
                <a:solidFill>
                  <a:srgbClr val="CCCCCC"/>
                </a:solidFill>
                <a:latin typeface="Arial"/>
              </a:defRPr>
            </a:pPr>
            <a:r>
              <a:t>Planner &gt; Workers &gt; Finalizer</a:t>
            </a:r>
          </a:p>
        </p:txBody>
      </p:sp>
      <p:sp>
        <p:nvSpPr>
          <p:cNvPr id="32" name="Rectangle 31"/>
          <p:cNvSpPr/>
          <p:nvPr/>
        </p:nvSpPr>
        <p:spPr>
          <a:xfrm>
            <a:off x="6858000" y="3108960"/>
            <a:ext cx="1417320" cy="18288"/>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20840" y="3246119"/>
            <a:ext cx="1691640" cy="914400"/>
          </a:xfrm>
          <a:prstGeom prst="rect">
            <a:avLst/>
          </a:prstGeom>
          <a:noFill/>
        </p:spPr>
        <p:txBody>
          <a:bodyPr wrap="square" anchor="t"/>
          <a:lstStyle/>
          <a:p>
            <a:pPr algn="ctr">
              <a:defRPr sz="1000" b="0">
                <a:solidFill>
                  <a:srgbClr val="999999"/>
                </a:solidFill>
                <a:latin typeface="Arial"/>
              </a:defRPr>
            </a:pPr>
            <a:r>
              <a:t>Complex multi-step research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What Does This System Do?</a:t>
            </a:r>
            <a:endParaRPr lang="en-US" sz="2600" dirty="0"/>
          </a:p>
        </p:txBody>
      </p:sp>
      <p:sp>
        <p:nvSpPr>
          <p:cNvPr id="3" name="Shape 1"/>
          <p:cNvSpPr/>
          <p:nvPr/>
        </p:nvSpPr>
        <p:spPr>
          <a:xfrm>
            <a:off x="5486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48640" y="1051560"/>
            <a:ext cx="2560320" cy="320040"/>
          </a:xfrm>
          <a:prstGeom prst="rect">
            <a:avLst/>
          </a:prstGeom>
          <a:solidFill>
            <a:srgbClr val="1B2A4A"/>
          </a:solidFill>
          <a:ln/>
        </p:spPr>
        <p:txBody>
          <a:bodyPr/>
          <a:lstStyle/>
          <a:p>
            <a:endParaRPr lang="en-US"/>
          </a:p>
        </p:txBody>
      </p:sp>
      <p:sp>
        <p:nvSpPr>
          <p:cNvPr id="5" name="Text 3"/>
          <p:cNvSpPr/>
          <p:nvPr/>
        </p:nvSpPr>
        <p:spPr>
          <a:xfrm>
            <a:off x="6583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Enterprise Chat API</a:t>
            </a:r>
            <a:endParaRPr lang="en-US" sz="1200" dirty="0"/>
          </a:p>
        </p:txBody>
      </p:sp>
      <p:sp>
        <p:nvSpPr>
          <p:cNvPr id="6" name="Text 4"/>
          <p:cNvSpPr/>
          <p:nvPr/>
        </p:nvSpPr>
        <p:spPr>
          <a:xfrm>
            <a:off x="6583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OpenAI-compatible /v1/chat/completions endpoint. Any client that speaks OpenAI protocol can call it.</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api/main.py</a:t>
            </a:r>
            <a:endParaRPr lang="en-US" sz="1000" dirty="0"/>
          </a:p>
        </p:txBody>
      </p:sp>
      <p:sp>
        <p:nvSpPr>
          <p:cNvPr id="7" name="Shape 5"/>
          <p:cNvSpPr/>
          <p:nvPr/>
        </p:nvSpPr>
        <p:spPr>
          <a:xfrm>
            <a:off x="32918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91840" y="1051560"/>
            <a:ext cx="2560320" cy="320040"/>
          </a:xfrm>
          <a:prstGeom prst="rect">
            <a:avLst/>
          </a:prstGeom>
          <a:solidFill>
            <a:srgbClr val="1B2A4A"/>
          </a:solidFill>
          <a:ln/>
        </p:spPr>
        <p:txBody>
          <a:bodyPr/>
          <a:lstStyle/>
          <a:p>
            <a:endParaRPr lang="en-US"/>
          </a:p>
        </p:txBody>
      </p:sp>
      <p:sp>
        <p:nvSpPr>
          <p:cNvPr id="9" name="Text 7"/>
          <p:cNvSpPr/>
          <p:nvPr/>
        </p:nvSpPr>
        <p:spPr>
          <a:xfrm>
            <a:off x="34015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Multi-Agent Runtime</a:t>
            </a:r>
            <a:endParaRPr lang="en-US" sz="1200" dirty="0"/>
          </a:p>
        </p:txBody>
      </p:sp>
      <p:sp>
        <p:nvSpPr>
          <p:cNvPr id="10" name="Text 8"/>
          <p:cNvSpPr/>
          <p:nvPr/>
        </p:nvSpPr>
        <p:spPr>
          <a:xfrm>
            <a:off x="34015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Routes questions to specialized agents (data analyst, RAG worker, coordinator) based on intent. Not a single monolith LLM call.</a:t>
            </a:r>
            <a:endParaRPr lang="en-US" sz="1000" dirty="0"/>
          </a:p>
        </p:txBody>
      </p:sp>
      <p:sp>
        <p:nvSpPr>
          <p:cNvPr id="11" name="Shape 9"/>
          <p:cNvSpPr/>
          <p:nvPr/>
        </p:nvSpPr>
        <p:spPr>
          <a:xfrm>
            <a:off x="60350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6035040" y="1051560"/>
            <a:ext cx="2560320" cy="320040"/>
          </a:xfrm>
          <a:prstGeom prst="rect">
            <a:avLst/>
          </a:prstGeom>
          <a:solidFill>
            <a:srgbClr val="1B2A4A"/>
          </a:solidFill>
          <a:ln/>
        </p:spPr>
        <p:txBody>
          <a:bodyPr/>
          <a:lstStyle/>
          <a:p>
            <a:endParaRPr lang="en-US"/>
          </a:p>
        </p:txBody>
      </p:sp>
      <p:sp>
        <p:nvSpPr>
          <p:cNvPr id="13" name="Text 11"/>
          <p:cNvSpPr/>
          <p:nvPr/>
        </p:nvSpPr>
        <p:spPr>
          <a:xfrm>
            <a:off x="61447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Grounded Answers</a:t>
            </a:r>
            <a:endParaRPr lang="en-US" sz="1200" dirty="0"/>
          </a:p>
        </p:txBody>
      </p:sp>
      <p:sp>
        <p:nvSpPr>
          <p:cNvPr id="14" name="Text 12"/>
          <p:cNvSpPr/>
          <p:nvPr/>
        </p:nvSpPr>
        <p:spPr>
          <a:xfrm>
            <a:off x="61447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pipeline retrieves evidence from indexed documents, cites sources inline, and returns confidence scores.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30-Second Mental Model</a:t>
            </a:r>
            <a:endParaRPr lang="en-US" sz="2600" dirty="0"/>
          </a:p>
        </p:txBody>
      </p:sp>
      <p:sp>
        <p:nvSpPr>
          <p:cNvPr id="3" name="Shape 1"/>
          <p:cNvSpPr/>
          <p:nvPr/>
        </p:nvSpPr>
        <p:spPr>
          <a:xfrm>
            <a:off x="2286000" y="1005840"/>
            <a:ext cx="45720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286000" y="100584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HTTP Request arrives</a:t>
            </a:r>
            <a:endParaRPr lang="en-US" sz="1000" dirty="0"/>
          </a:p>
        </p:txBody>
      </p:sp>
      <p:sp>
        <p:nvSpPr>
          <p:cNvPr id="5" name="Shape 3"/>
          <p:cNvSpPr/>
          <p:nvPr/>
        </p:nvSpPr>
        <p:spPr>
          <a:xfrm>
            <a:off x="4572000" y="146304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618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286000" y="1737360"/>
            <a:ext cx="45720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86000" y="173736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RuntimeService.process_turn()</a:t>
            </a:r>
            <a:endParaRPr lang="en-US" sz="1000" dirty="0"/>
          </a:p>
        </p:txBody>
      </p:sp>
      <p:sp>
        <p:nvSpPr>
          <p:cNvPr id="9" name="Shape 7"/>
          <p:cNvSpPr/>
          <p:nvPr/>
        </p:nvSpPr>
        <p:spPr>
          <a:xfrm>
            <a:off x="4572000" y="2194560"/>
            <a:ext cx="0" cy="22860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350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3383280" y="2468880"/>
            <a:ext cx="2377440" cy="457200"/>
          </a:xfrm>
          <a:prstGeom prst="rect">
            <a:avLst/>
          </a:prstGeom>
          <a:solidFill>
            <a:srgbClr val="F9A825"/>
          </a:solidFill>
          <a:ln/>
        </p:spPr>
        <p:txBody>
          <a:bodyPr/>
          <a:lstStyle/>
          <a:p>
            <a:endParaRPr lang="en-US"/>
          </a:p>
        </p:txBody>
      </p:sp>
      <p:sp>
        <p:nvSpPr>
          <p:cNvPr id="12" name="Text 10"/>
          <p:cNvSpPr/>
          <p:nvPr/>
        </p:nvSpPr>
        <p:spPr>
          <a:xfrm>
            <a:off x="3383280" y="2468880"/>
            <a:ext cx="237744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Router Decision</a:t>
            </a:r>
            <a:endParaRPr lang="en-US" sz="1100" dirty="0"/>
          </a:p>
        </p:txBody>
      </p:sp>
      <p:sp>
        <p:nvSpPr>
          <p:cNvPr id="13" name="Shape 11"/>
          <p:cNvSpPr/>
          <p:nvPr/>
        </p:nvSpPr>
        <p:spPr>
          <a:xfrm>
            <a:off x="3383280" y="2697480"/>
            <a:ext cx="0" cy="0"/>
          </a:xfrm>
          <a:prstGeom prst="line">
            <a:avLst/>
          </a:prstGeom>
          <a:noFill/>
          <a:ln w="19050">
            <a:solidFill>
              <a:srgbClr val="999999"/>
            </a:solidFill>
            <a:prstDash val="solid"/>
          </a:ln>
        </p:spPr>
        <p:txBody>
          <a:bodyPr/>
          <a:lstStyle/>
          <a:p>
            <a:endParaRPr lang="en-US"/>
          </a:p>
        </p:txBody>
      </p:sp>
      <p:sp>
        <p:nvSpPr>
          <p:cNvPr id="14" name="Text 12"/>
          <p:cNvSpPr/>
          <p:nvPr/>
        </p:nvSpPr>
        <p:spPr>
          <a:xfrm>
            <a:off x="182880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BASIC</a:t>
            </a:r>
            <a:endParaRPr lang="en-US" sz="800" dirty="0"/>
          </a:p>
        </p:txBody>
      </p:sp>
      <p:sp>
        <p:nvSpPr>
          <p:cNvPr id="15" name="Shape 13"/>
          <p:cNvSpPr/>
          <p:nvPr/>
        </p:nvSpPr>
        <p:spPr>
          <a:xfrm>
            <a:off x="274320" y="2468880"/>
            <a:ext cx="1645920" cy="457200"/>
          </a:xfrm>
          <a:prstGeom prst="rect">
            <a:avLst/>
          </a:prstGeom>
          <a:solidFill>
            <a:srgbClr val="F0F0F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468880"/>
            <a:ext cx="164592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Direct LLM reply</a:t>
            </a:r>
            <a:endParaRPr lang="en-US" sz="1000" dirty="0"/>
          </a:p>
          <a:p>
            <a:pPr marL="0" indent="0" algn="ctr">
              <a:buNone/>
            </a:pPr>
            <a:r>
              <a:rPr lang="en-US" sz="1000" dirty="0">
                <a:solidFill>
                  <a:srgbClr val="1B2A4A"/>
                </a:solidFill>
                <a:latin typeface="Arial" pitchFamily="34" charset="0"/>
                <a:ea typeface="Arial" pitchFamily="34" charset="-122"/>
                <a:cs typeface="Arial" pitchFamily="34" charset="-120"/>
              </a:rPr>
              <a:t>(no tools)</a:t>
            </a:r>
            <a:endParaRPr lang="en-US" sz="1000" dirty="0"/>
          </a:p>
        </p:txBody>
      </p:sp>
      <p:sp>
        <p:nvSpPr>
          <p:cNvPr id="17" name="Shape 15"/>
          <p:cNvSpPr/>
          <p:nvPr/>
        </p:nvSpPr>
        <p:spPr>
          <a:xfrm>
            <a:off x="5760720" y="2697480"/>
            <a:ext cx="1371600" cy="0"/>
          </a:xfrm>
          <a:prstGeom prst="line">
            <a:avLst/>
          </a:prstGeom>
          <a:noFill/>
          <a:ln w="19050">
            <a:solidFill>
              <a:srgbClr val="999999"/>
            </a:solidFill>
            <a:prstDash val="solid"/>
          </a:ln>
        </p:spPr>
        <p:txBody>
          <a:bodyPr/>
          <a:lstStyle/>
          <a:p>
            <a:endParaRPr lang="en-US"/>
          </a:p>
        </p:txBody>
      </p:sp>
      <p:sp>
        <p:nvSpPr>
          <p:cNvPr id="18" name="Text 16"/>
          <p:cNvSpPr/>
          <p:nvPr/>
        </p:nvSpPr>
        <p:spPr>
          <a:xfrm>
            <a:off x="576072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AGENT</a:t>
            </a:r>
            <a:endParaRPr lang="en-US" sz="800" dirty="0"/>
          </a:p>
        </p:txBody>
      </p:sp>
      <p:sp>
        <p:nvSpPr>
          <p:cNvPr id="19" name="Shape 17"/>
          <p:cNvSpPr/>
          <p:nvPr/>
        </p:nvSpPr>
        <p:spPr>
          <a:xfrm>
            <a:off x="7132320" y="2468880"/>
            <a:ext cx="201168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32320" y="2468880"/>
            <a:ext cx="20116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&gt; 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Agent execution</a:t>
            </a:r>
            <a:endParaRPr lang="en-US" sz="1000" dirty="0"/>
          </a:p>
        </p:txBody>
      </p:sp>
      <p:sp>
        <p:nvSpPr>
          <p:cNvPr id="21" name="Shape 19"/>
          <p:cNvSpPr/>
          <p:nvPr/>
        </p:nvSpPr>
        <p:spPr>
          <a:xfrm>
            <a:off x="4572000" y="3200400"/>
            <a:ext cx="0" cy="228600"/>
          </a:xfrm>
          <a:prstGeom prst="line">
            <a:avLst/>
          </a:prstGeom>
          <a:noFill/>
          <a:ln w="25400">
            <a:solidFill>
              <a:srgbClr val="0097A7"/>
            </a:solidFill>
            <a:prstDash val="solid"/>
          </a:ln>
        </p:spPr>
        <p:txBody>
          <a:bodyPr/>
          <a:lstStyle/>
          <a:p>
            <a:endParaRPr lang="en-US"/>
          </a:p>
        </p:txBody>
      </p:sp>
      <p:sp>
        <p:nvSpPr>
          <p:cNvPr id="22" name="Text 20"/>
          <p:cNvSpPr/>
          <p:nvPr/>
        </p:nvSpPr>
        <p:spPr>
          <a:xfrm>
            <a:off x="4480560" y="3355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3" name="Shape 21"/>
          <p:cNvSpPr/>
          <p:nvPr/>
        </p:nvSpPr>
        <p:spPr>
          <a:xfrm>
            <a:off x="2286000" y="3474720"/>
            <a:ext cx="45720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2286000" y="347472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returned via SSE stream</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&gt; app/service.py &gt; router/router.py &gt; runtime/kernel.py &gt; runtime/query_loop.py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Our Agent Harness at a Glance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300" b="0">
                <a:solidFill>
                  <a:srgbClr val="555555"/>
                </a:solidFill>
                <a:latin typeface="Arial"/>
              </a:defRPr>
            </a:pPr>
            <a:r>
              <a:t>This deck deep-dives into our production agent harness. Here's what makes it distinctive:</a:t>
            </a:r>
          </a:p>
        </p:txBody>
      </p:sp>
      <p:sp>
        <p:nvSpPr>
          <p:cNvPr id="6" name="TextBox 5"/>
          <p:cNvSpPr txBox="1"/>
          <p:nvPr/>
        </p:nvSpPr>
        <p:spPr>
          <a:xfrm>
            <a:off x="640080" y="1371600"/>
            <a:ext cx="1645920" cy="640080"/>
          </a:xfrm>
          <a:prstGeom prst="rect">
            <a:avLst/>
          </a:prstGeom>
          <a:noFill/>
        </p:spPr>
        <p:txBody>
          <a:bodyPr wrap="square" anchor="t"/>
          <a:lstStyle/>
          <a:p>
            <a:pPr algn="ctr">
              <a:defRPr sz="4400" b="1">
                <a:solidFill>
                  <a:srgbClr val="0097A7"/>
                </a:solidFill>
                <a:latin typeface="Arial"/>
              </a:defRPr>
            </a:pPr>
            <a:r>
              <a:t>12</a:t>
            </a:r>
          </a:p>
        </p:txBody>
      </p:sp>
      <p:sp>
        <p:nvSpPr>
          <p:cNvPr id="7" name="TextBox 6"/>
          <p:cNvSpPr txBox="1"/>
          <p:nvPr/>
        </p:nvSpPr>
        <p:spPr>
          <a:xfrm>
            <a:off x="640080" y="2011680"/>
            <a:ext cx="1645920" cy="457200"/>
          </a:xfrm>
          <a:prstGeom prst="rect">
            <a:avLst/>
          </a:prstGeom>
          <a:noFill/>
        </p:spPr>
        <p:txBody>
          <a:bodyPr wrap="square" anchor="t"/>
          <a:lstStyle/>
          <a:p>
            <a:pPr algn="ctr">
              <a:defRPr sz="1200" b="0">
                <a:solidFill>
                  <a:srgbClr val="666666"/>
                </a:solidFill>
                <a:latin typeface="Arial"/>
              </a:defRPr>
            </a:pPr>
            <a:r>
              <a:t>Specialized</a:t>
            </a:r>
            <a:br/>
            <a:r>
              <a:t>Agents</a:t>
            </a:r>
          </a:p>
        </p:txBody>
      </p:sp>
      <p:sp>
        <p:nvSpPr>
          <p:cNvPr id="8" name="TextBox 7"/>
          <p:cNvSpPr txBox="1"/>
          <p:nvPr/>
        </p:nvSpPr>
        <p:spPr>
          <a:xfrm>
            <a:off x="2697480" y="1371600"/>
            <a:ext cx="1645920" cy="640080"/>
          </a:xfrm>
          <a:prstGeom prst="rect">
            <a:avLst/>
          </a:prstGeom>
          <a:noFill/>
        </p:spPr>
        <p:txBody>
          <a:bodyPr wrap="square" anchor="t"/>
          <a:lstStyle/>
          <a:p>
            <a:pPr algn="ctr">
              <a:defRPr sz="4400" b="1">
                <a:solidFill>
                  <a:srgbClr val="FF9800"/>
                </a:solidFill>
                <a:latin typeface="Arial"/>
              </a:defRPr>
            </a:pPr>
            <a:r>
              <a:t>55</a:t>
            </a:r>
          </a:p>
        </p:txBody>
      </p:sp>
      <p:sp>
        <p:nvSpPr>
          <p:cNvPr id="9" name="TextBox 8"/>
          <p:cNvSpPr txBox="1"/>
          <p:nvPr/>
        </p:nvSpPr>
        <p:spPr>
          <a:xfrm>
            <a:off x="2697480" y="2011680"/>
            <a:ext cx="1645920" cy="457200"/>
          </a:xfrm>
          <a:prstGeom prst="rect">
            <a:avLst/>
          </a:prstGeom>
          <a:noFill/>
        </p:spPr>
        <p:txBody>
          <a:bodyPr wrap="square" anchor="t"/>
          <a:lstStyle/>
          <a:p>
            <a:pPr algn="ctr">
              <a:defRPr sz="1200" b="0">
                <a:solidFill>
                  <a:srgbClr val="666666"/>
                </a:solidFill>
                <a:latin typeface="Arial"/>
              </a:defRPr>
            </a:pPr>
            <a:r>
              <a:t>Registered</a:t>
            </a:r>
            <a:br/>
            <a:r>
              <a:t>Tools</a:t>
            </a:r>
          </a:p>
        </p:txBody>
      </p:sp>
      <p:sp>
        <p:nvSpPr>
          <p:cNvPr id="10" name="TextBox 9"/>
          <p:cNvSpPr txBox="1"/>
          <p:nvPr/>
        </p:nvSpPr>
        <p:spPr>
          <a:xfrm>
            <a:off x="4754880" y="1371600"/>
            <a:ext cx="1645920" cy="640080"/>
          </a:xfrm>
          <a:prstGeom prst="rect">
            <a:avLst/>
          </a:prstGeom>
          <a:noFill/>
        </p:spPr>
        <p:txBody>
          <a:bodyPr wrap="square" anchor="t"/>
          <a:lstStyle/>
          <a:p>
            <a:pPr algn="ctr">
              <a:defRPr sz="4400" b="1">
                <a:solidFill>
                  <a:srgbClr val="7C4DFF"/>
                </a:solidFill>
                <a:latin typeface="Arial"/>
              </a:defRPr>
            </a:pPr>
            <a:r>
              <a:t>7</a:t>
            </a:r>
          </a:p>
        </p:txBody>
      </p:sp>
      <p:sp>
        <p:nvSpPr>
          <p:cNvPr id="11" name="TextBox 10"/>
          <p:cNvSpPr txBox="1"/>
          <p:nvPr/>
        </p:nvSpPr>
        <p:spPr>
          <a:xfrm>
            <a:off x="4754880" y="2011680"/>
            <a:ext cx="1645920" cy="457200"/>
          </a:xfrm>
          <a:prstGeom prst="rect">
            <a:avLst/>
          </a:prstGeom>
          <a:noFill/>
        </p:spPr>
        <p:txBody>
          <a:bodyPr wrap="square" anchor="t"/>
          <a:lstStyle/>
          <a:p>
            <a:pPr algn="ctr">
              <a:defRPr sz="1200" b="0">
                <a:solidFill>
                  <a:srgbClr val="666666"/>
                </a:solidFill>
                <a:latin typeface="Arial"/>
              </a:defRPr>
            </a:pPr>
            <a:r>
              <a:t>Execution</a:t>
            </a:r>
            <a:br/>
            <a:r>
              <a:t>Modes</a:t>
            </a:r>
          </a:p>
        </p:txBody>
      </p:sp>
      <p:sp>
        <p:nvSpPr>
          <p:cNvPr id="12" name="TextBox 11"/>
          <p:cNvSpPr txBox="1"/>
          <p:nvPr/>
        </p:nvSpPr>
        <p:spPr>
          <a:xfrm>
            <a:off x="6812280" y="1371600"/>
            <a:ext cx="1645920" cy="640080"/>
          </a:xfrm>
          <a:prstGeom prst="rect">
            <a:avLst/>
          </a:prstGeom>
          <a:noFill/>
        </p:spPr>
        <p:txBody>
          <a:bodyPr wrap="square" anchor="t"/>
          <a:lstStyle/>
          <a:p>
            <a:pPr algn="ctr">
              <a:defRPr sz="4400" b="1">
                <a:solidFill>
                  <a:srgbClr val="4CAF50"/>
                </a:solidFill>
                <a:latin typeface="Arial"/>
              </a:defRPr>
            </a:pPr>
            <a:r>
              <a:t>8</a:t>
            </a:r>
          </a:p>
        </p:txBody>
      </p:sp>
      <p:sp>
        <p:nvSpPr>
          <p:cNvPr id="13" name="TextBox 12"/>
          <p:cNvSpPr txBox="1"/>
          <p:nvPr/>
        </p:nvSpPr>
        <p:spPr>
          <a:xfrm>
            <a:off x="6812280" y="2011680"/>
            <a:ext cx="1645920" cy="457200"/>
          </a:xfrm>
          <a:prstGeom prst="rect">
            <a:avLst/>
          </a:prstGeom>
          <a:noFill/>
        </p:spPr>
        <p:txBody>
          <a:bodyPr wrap="square" anchor="t"/>
          <a:lstStyle/>
          <a:p>
            <a:pPr algn="ctr">
              <a:defRPr sz="1200" b="0">
                <a:solidFill>
                  <a:srgbClr val="666666"/>
                </a:solidFill>
                <a:latin typeface="Arial"/>
              </a:defRPr>
            </a:pPr>
            <a:r>
              <a:t>Tool</a:t>
            </a:r>
            <a:br/>
            <a:r>
              <a:t>Groups</a:t>
            </a:r>
          </a:p>
        </p:txBody>
      </p:sp>
      <p:sp>
        <p:nvSpPr>
          <p:cNvPr id="14" name="Rectangle 13"/>
          <p:cNvSpPr/>
          <p:nvPr/>
        </p:nvSpPr>
        <p:spPr>
          <a:xfrm>
            <a:off x="0" y="2743200"/>
            <a:ext cx="9144000"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2999232"/>
            <a:ext cx="3931920" cy="274320"/>
          </a:xfrm>
          <a:prstGeom prst="rect">
            <a:avLst/>
          </a:prstGeom>
          <a:noFill/>
        </p:spPr>
        <p:txBody>
          <a:bodyPr wrap="square" anchor="t"/>
          <a:lstStyle/>
          <a:p>
            <a:pPr algn="l">
              <a:defRPr sz="1300" b="1">
                <a:solidFill>
                  <a:srgbClr val="333333"/>
                </a:solidFill>
                <a:latin typeface="Arial"/>
              </a:defRPr>
            </a:pPr>
            <a:r>
              <a:t>Agents as Data</a:t>
            </a:r>
          </a:p>
        </p:txBody>
      </p:sp>
      <p:sp>
        <p:nvSpPr>
          <p:cNvPr id="17" name="TextBox 16"/>
          <p:cNvSpPr txBox="1"/>
          <p:nvPr/>
        </p:nvSpPr>
        <p:spPr>
          <a:xfrm>
            <a:off x="502920" y="3246120"/>
            <a:ext cx="3931920" cy="457200"/>
          </a:xfrm>
          <a:prstGeom prst="rect">
            <a:avLst/>
          </a:prstGeom>
          <a:noFill/>
        </p:spPr>
        <p:txBody>
          <a:bodyPr wrap="square" anchor="t"/>
          <a:lstStyle/>
          <a:p>
            <a:pPr algn="l">
              <a:defRPr sz="1000" b="0">
                <a:solidFill>
                  <a:srgbClr val="666666"/>
                </a:solidFill>
                <a:latin typeface="Arial"/>
              </a:defRPr>
            </a:pPr>
            <a:r>
              <a:t>Markdown definitions, not hard-coded classes — hot-reloadable via 70-endpoint admin API</a:t>
            </a:r>
          </a:p>
        </p:txBody>
      </p:sp>
      <p:sp>
        <p:nvSpPr>
          <p:cNvPr id="18" name="Rectangle 17"/>
          <p:cNvSpPr/>
          <p:nvPr/>
        </p:nvSpPr>
        <p:spPr>
          <a:xfrm>
            <a:off x="475488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0" y="2999232"/>
            <a:ext cx="3931920" cy="274320"/>
          </a:xfrm>
          <a:prstGeom prst="rect">
            <a:avLst/>
          </a:prstGeom>
          <a:noFill/>
        </p:spPr>
        <p:txBody>
          <a:bodyPr wrap="square" anchor="t"/>
          <a:lstStyle/>
          <a:p>
            <a:pPr algn="l">
              <a:defRPr sz="1300" b="1">
                <a:solidFill>
                  <a:srgbClr val="333333"/>
                </a:solidFill>
                <a:latin typeface="Arial"/>
              </a:defRPr>
            </a:pPr>
            <a:r>
              <a:t>Three-Layer Runtime</a:t>
            </a:r>
          </a:p>
        </p:txBody>
      </p:sp>
      <p:sp>
        <p:nvSpPr>
          <p:cNvPr id="20" name="TextBox 19"/>
          <p:cNvSpPr txBox="1"/>
          <p:nvPr/>
        </p:nvSpPr>
        <p:spPr>
          <a:xfrm>
            <a:off x="4754880" y="3246120"/>
            <a:ext cx="3931920" cy="457200"/>
          </a:xfrm>
          <a:prstGeom prst="rect">
            <a:avLst/>
          </a:prstGeom>
          <a:noFill/>
        </p:spPr>
        <p:txBody>
          <a:bodyPr wrap="square" anchor="t"/>
          <a:lstStyle/>
          <a:p>
            <a:pPr algn="l">
              <a:defRPr sz="1000" b="0">
                <a:solidFill>
                  <a:srgbClr val="666666"/>
                </a:solidFill>
                <a:latin typeface="Arial"/>
              </a:defRPr>
            </a:pPr>
            <a:r>
              <a:t>RuntimeService → RuntimeKernel → QueryLoop separation keeps orchestration clean</a:t>
            </a:r>
          </a:p>
        </p:txBody>
      </p:sp>
      <p:sp>
        <p:nvSpPr>
          <p:cNvPr id="21" name="Rectangle 20"/>
          <p:cNvSpPr/>
          <p:nvPr/>
        </p:nvSpPr>
        <p:spPr>
          <a:xfrm>
            <a:off x="50292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3776472"/>
            <a:ext cx="3931920" cy="274320"/>
          </a:xfrm>
          <a:prstGeom prst="rect">
            <a:avLst/>
          </a:prstGeom>
          <a:noFill/>
        </p:spPr>
        <p:txBody>
          <a:bodyPr wrap="square" anchor="t"/>
          <a:lstStyle/>
          <a:p>
            <a:pPr algn="l">
              <a:defRPr sz="1300" b="1">
                <a:solidFill>
                  <a:srgbClr val="333333"/>
                </a:solidFill>
                <a:latin typeface="Arial"/>
              </a:defRPr>
            </a:pPr>
            <a:r>
              <a:t>GraphRAG + MCP</a:t>
            </a:r>
          </a:p>
        </p:txBody>
      </p:sp>
      <p:sp>
        <p:nvSpPr>
          <p:cNvPr id="23" name="TextBox 22"/>
          <p:cNvSpPr txBox="1"/>
          <p:nvPr/>
        </p:nvSpPr>
        <p:spPr>
          <a:xfrm>
            <a:off x="502920" y="4023360"/>
            <a:ext cx="3931920" cy="457200"/>
          </a:xfrm>
          <a:prstGeom prst="rect">
            <a:avLst/>
          </a:prstGeom>
          <a:noFill/>
        </p:spPr>
        <p:txBody>
          <a:bodyPr wrap="square" anchor="t"/>
          <a:lstStyle/>
          <a:p>
            <a:pPr algn="l">
              <a:defRPr sz="1000" b="0">
                <a:solidFill>
                  <a:srgbClr val="666666"/>
                </a:solidFill>
                <a:latin typeface="Arial"/>
              </a:defRPr>
            </a:pPr>
            <a:r>
              <a:t>Knowledge graph integration (8 tools) and Model Context Protocol for dynamic tool discovery</a:t>
            </a:r>
          </a:p>
        </p:txBody>
      </p:sp>
      <p:sp>
        <p:nvSpPr>
          <p:cNvPr id="24" name="Rectangle 23"/>
          <p:cNvSpPr/>
          <p:nvPr/>
        </p:nvSpPr>
        <p:spPr>
          <a:xfrm>
            <a:off x="475488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0" y="3776472"/>
            <a:ext cx="3931920" cy="274320"/>
          </a:xfrm>
          <a:prstGeom prst="rect">
            <a:avLst/>
          </a:prstGeom>
          <a:noFill/>
        </p:spPr>
        <p:txBody>
          <a:bodyPr wrap="square" anchor="t"/>
          <a:lstStyle/>
          <a:p>
            <a:pPr algn="l">
              <a:defRPr sz="1300" b="1">
                <a:solidFill>
                  <a:srgbClr val="333333"/>
                </a:solidFill>
                <a:latin typeface="Arial"/>
              </a:defRPr>
            </a:pPr>
            <a:r>
              <a:t>Worker Orchestration</a:t>
            </a:r>
          </a:p>
        </p:txBody>
      </p:sp>
      <p:sp>
        <p:nvSpPr>
          <p:cNvPr id="26" name="TextBox 25"/>
          <p:cNvSpPr txBox="1"/>
          <p:nvPr/>
        </p:nvSpPr>
        <p:spPr>
          <a:xfrm>
            <a:off x="4754880" y="4023360"/>
            <a:ext cx="3931920" cy="457200"/>
          </a:xfrm>
          <a:prstGeom prst="rect">
            <a:avLst/>
          </a:prstGeom>
          <a:noFill/>
        </p:spPr>
        <p:txBody>
          <a:bodyPr wrap="square" anchor="t"/>
          <a:lstStyle/>
          <a:p>
            <a:pPr algn="l">
              <a:defRPr sz="1000" b="0">
                <a:solidFill>
                  <a:srgbClr val="666666"/>
                </a:solidFill>
                <a:latin typeface="Arial"/>
              </a:defRPr>
            </a:pPr>
            <a:r>
              <a:t>14 orchestration tools: spawn workers, team mailbox, multi-agent coordination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Tools &amp; RAG — The Agent's Capabilities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TOOL SYSTEM</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55 tools in 8 groups, registered with the harness. Each agent gets a curated subset via its allowed_tools whitelist.</a:t>
            </a:r>
          </a:p>
        </p:txBody>
      </p:sp>
      <p:sp>
        <p:nvSpPr>
          <p:cNvPr id="7" name="Oval 6"/>
          <p:cNvSpPr/>
          <p:nvPr/>
        </p:nvSpPr>
        <p:spPr>
          <a:xfrm>
            <a:off x="502920" y="1719072"/>
            <a:ext cx="128016" cy="128016"/>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691640"/>
            <a:ext cx="1554480" cy="201168"/>
          </a:xfrm>
          <a:prstGeom prst="rect">
            <a:avLst/>
          </a:prstGeom>
          <a:noFill/>
        </p:spPr>
        <p:txBody>
          <a:bodyPr wrap="square" anchor="t"/>
          <a:lstStyle/>
          <a:p>
            <a:pPr algn="l">
              <a:defRPr sz="1000" b="1">
                <a:solidFill>
                  <a:srgbClr val="333333"/>
                </a:solidFill>
                <a:latin typeface="Arial"/>
              </a:defRPr>
            </a:pPr>
            <a:r>
              <a:t>Orchestration (14)</a:t>
            </a:r>
          </a:p>
        </p:txBody>
      </p:sp>
      <p:sp>
        <p:nvSpPr>
          <p:cNvPr id="9" name="TextBox 8"/>
          <p:cNvSpPr txBox="1"/>
          <p:nvPr/>
        </p:nvSpPr>
        <p:spPr>
          <a:xfrm>
            <a:off x="704088" y="1865376"/>
            <a:ext cx="3657600" cy="274320"/>
          </a:xfrm>
          <a:prstGeom prst="rect">
            <a:avLst/>
          </a:prstGeom>
          <a:noFill/>
        </p:spPr>
        <p:txBody>
          <a:bodyPr wrap="square" anchor="t"/>
          <a:lstStyle/>
          <a:p>
            <a:pPr algn="l">
              <a:defRPr sz="800" b="0">
                <a:solidFill>
                  <a:srgbClr val="777777"/>
                </a:solidFill>
                <a:latin typeface="Arial"/>
              </a:defRPr>
            </a:pPr>
            <a:r>
              <a:t>spawn/message workers, team mailbox, invoke agent, job control</a:t>
            </a:r>
          </a:p>
        </p:txBody>
      </p:sp>
      <p:sp>
        <p:nvSpPr>
          <p:cNvPr id="10" name="Oval 9"/>
          <p:cNvSpPr/>
          <p:nvPr/>
        </p:nvSpPr>
        <p:spPr>
          <a:xfrm>
            <a:off x="502920" y="214884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121408"/>
            <a:ext cx="1554480" cy="201168"/>
          </a:xfrm>
          <a:prstGeom prst="rect">
            <a:avLst/>
          </a:prstGeom>
          <a:noFill/>
        </p:spPr>
        <p:txBody>
          <a:bodyPr wrap="square" anchor="t"/>
          <a:lstStyle/>
          <a:p>
            <a:pPr algn="l">
              <a:defRPr sz="1000" b="1">
                <a:solidFill>
                  <a:srgbClr val="333333"/>
                </a:solidFill>
                <a:latin typeface="Arial"/>
              </a:defRPr>
            </a:pPr>
            <a:r>
              <a:t>RAG Gateway (12)</a:t>
            </a:r>
          </a:p>
        </p:txBody>
      </p:sp>
      <p:sp>
        <p:nvSpPr>
          <p:cNvPr id="12" name="TextBox 11"/>
          <p:cNvSpPr txBox="1"/>
          <p:nvPr/>
        </p:nvSpPr>
        <p:spPr>
          <a:xfrm>
            <a:off x="704088" y="2295144"/>
            <a:ext cx="3657600" cy="274320"/>
          </a:xfrm>
          <a:prstGeom prst="rect">
            <a:avLst/>
          </a:prstGeom>
          <a:noFill/>
        </p:spPr>
        <p:txBody>
          <a:bodyPr wrap="square" anchor="t"/>
          <a:lstStyle/>
          <a:p>
            <a:pPr algn="l">
              <a:defRPr sz="800" b="0">
                <a:solidFill>
                  <a:srgbClr val="777777"/>
                </a:solidFill>
                <a:latin typeface="Arial"/>
              </a:defRPr>
            </a:pPr>
            <a:r>
              <a:t>search, read, compare docs, extract, consolidate, evidence binder</a:t>
            </a:r>
          </a:p>
        </p:txBody>
      </p:sp>
      <p:sp>
        <p:nvSpPr>
          <p:cNvPr id="13" name="Oval 12"/>
          <p:cNvSpPr/>
          <p:nvPr/>
        </p:nvSpPr>
        <p:spPr>
          <a:xfrm>
            <a:off x="502920" y="2578608"/>
            <a:ext cx="128016" cy="128016"/>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2551176"/>
            <a:ext cx="1554480" cy="201168"/>
          </a:xfrm>
          <a:prstGeom prst="rect">
            <a:avLst/>
          </a:prstGeom>
          <a:noFill/>
        </p:spPr>
        <p:txBody>
          <a:bodyPr wrap="square" anchor="t"/>
          <a:lstStyle/>
          <a:p>
            <a:pPr algn="l">
              <a:defRPr sz="1000" b="1">
                <a:solidFill>
                  <a:srgbClr val="333333"/>
                </a:solidFill>
                <a:latin typeface="Arial"/>
              </a:defRPr>
            </a:pPr>
            <a:r>
              <a:t>Analyst (12)</a:t>
            </a:r>
          </a:p>
        </p:txBody>
      </p:sp>
      <p:sp>
        <p:nvSpPr>
          <p:cNvPr id="15" name="TextBox 14"/>
          <p:cNvSpPr txBox="1"/>
          <p:nvPr/>
        </p:nvSpPr>
        <p:spPr>
          <a:xfrm>
            <a:off x="704088" y="2724912"/>
            <a:ext cx="3657600" cy="274320"/>
          </a:xfrm>
          <a:prstGeom prst="rect">
            <a:avLst/>
          </a:prstGeom>
          <a:noFill/>
        </p:spPr>
        <p:txBody>
          <a:bodyPr wrap="square" anchor="t"/>
          <a:lstStyle/>
          <a:p>
            <a:pPr algn="l">
              <a:defRPr sz="800" b="0">
                <a:solidFill>
                  <a:srgbClr val="777777"/>
                </a:solidFill>
                <a:latin typeface="Arial"/>
              </a:defRPr>
            </a:pPr>
            <a:r>
              <a:t>load_dataset, execute_code (Docker), scratchpad, workspace ops</a:t>
            </a:r>
          </a:p>
        </p:txBody>
      </p:sp>
      <p:sp>
        <p:nvSpPr>
          <p:cNvPr id="16" name="Oval 15"/>
          <p:cNvSpPr/>
          <p:nvPr/>
        </p:nvSpPr>
        <p:spPr>
          <a:xfrm>
            <a:off x="502920" y="3008376"/>
            <a:ext cx="128016" cy="128016"/>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 y="2980944"/>
            <a:ext cx="1554480" cy="201168"/>
          </a:xfrm>
          <a:prstGeom prst="rect">
            <a:avLst/>
          </a:prstGeom>
          <a:noFill/>
        </p:spPr>
        <p:txBody>
          <a:bodyPr wrap="square" anchor="t"/>
          <a:lstStyle/>
          <a:p>
            <a:pPr algn="l">
              <a:defRPr sz="1000" b="1">
                <a:solidFill>
                  <a:srgbClr val="333333"/>
                </a:solidFill>
                <a:latin typeface="Arial"/>
              </a:defRPr>
            </a:pPr>
            <a:r>
              <a:t>Graph Gateway (8)</a:t>
            </a:r>
          </a:p>
        </p:txBody>
      </p:sp>
      <p:sp>
        <p:nvSpPr>
          <p:cNvPr id="18" name="TextBox 17"/>
          <p:cNvSpPr txBox="1"/>
          <p:nvPr/>
        </p:nvSpPr>
        <p:spPr>
          <a:xfrm>
            <a:off x="704088" y="3154680"/>
            <a:ext cx="3657600" cy="274320"/>
          </a:xfrm>
          <a:prstGeom prst="rect">
            <a:avLst/>
          </a:prstGeom>
          <a:noFill/>
        </p:spPr>
        <p:txBody>
          <a:bodyPr wrap="square" anchor="t"/>
          <a:lstStyle/>
          <a:p>
            <a:pPr algn="l">
              <a:defRPr sz="800" b="0">
                <a:solidFill>
                  <a:srgbClr val="777777"/>
                </a:solidFill>
                <a:latin typeface="Arial"/>
              </a:defRPr>
            </a:pPr>
            <a:r>
              <a:t>index/search/import graphs, explain source plan</a:t>
            </a:r>
          </a:p>
        </p:txBody>
      </p:sp>
      <p:sp>
        <p:nvSpPr>
          <p:cNvPr id="19" name="Oval 18"/>
          <p:cNvSpPr/>
          <p:nvPr/>
        </p:nvSpPr>
        <p:spPr>
          <a:xfrm>
            <a:off x="502920" y="3438144"/>
            <a:ext cx="128016" cy="128016"/>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3410712"/>
            <a:ext cx="1554480" cy="201168"/>
          </a:xfrm>
          <a:prstGeom prst="rect">
            <a:avLst/>
          </a:prstGeom>
          <a:noFill/>
        </p:spPr>
        <p:txBody>
          <a:bodyPr wrap="square" anchor="t"/>
          <a:lstStyle/>
          <a:p>
            <a:pPr algn="l">
              <a:defRPr sz="1000" b="1">
                <a:solidFill>
                  <a:srgbClr val="333333"/>
                </a:solidFill>
                <a:latin typeface="Arial"/>
              </a:defRPr>
            </a:pPr>
            <a:r>
              <a:t>Memory (3)</a:t>
            </a:r>
          </a:p>
        </p:txBody>
      </p:sp>
      <p:sp>
        <p:nvSpPr>
          <p:cNvPr id="21" name="TextBox 20"/>
          <p:cNvSpPr txBox="1"/>
          <p:nvPr/>
        </p:nvSpPr>
        <p:spPr>
          <a:xfrm>
            <a:off x="704088" y="3584448"/>
            <a:ext cx="3657600" cy="274320"/>
          </a:xfrm>
          <a:prstGeom prst="rect">
            <a:avLst/>
          </a:prstGeom>
          <a:noFill/>
        </p:spPr>
        <p:txBody>
          <a:bodyPr wrap="square" anchor="t"/>
          <a:lstStyle/>
          <a:p>
            <a:pPr algn="l">
              <a:defRPr sz="800" b="0">
                <a:solidFill>
                  <a:srgbClr val="777777"/>
                </a:solidFill>
                <a:latin typeface="Arial"/>
              </a:defRPr>
            </a:pPr>
            <a:r>
              <a:t>memory_save, memory_load, memory_list</a:t>
            </a:r>
          </a:p>
        </p:txBody>
      </p:sp>
      <p:sp>
        <p:nvSpPr>
          <p:cNvPr id="22" name="Oval 21"/>
          <p:cNvSpPr/>
          <p:nvPr/>
        </p:nvSpPr>
        <p:spPr>
          <a:xfrm>
            <a:off x="502920" y="3867912"/>
            <a:ext cx="128016" cy="128016"/>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3840480"/>
            <a:ext cx="1554480" cy="201168"/>
          </a:xfrm>
          <a:prstGeom prst="rect">
            <a:avLst/>
          </a:prstGeom>
          <a:noFill/>
        </p:spPr>
        <p:txBody>
          <a:bodyPr wrap="square" anchor="t"/>
          <a:lstStyle/>
          <a:p>
            <a:pPr algn="l">
              <a:defRPr sz="1000" b="1">
                <a:solidFill>
                  <a:srgbClr val="333333"/>
                </a:solidFill>
                <a:latin typeface="Arial"/>
              </a:defRPr>
            </a:pPr>
            <a:r>
              <a:t>Utility (3)</a:t>
            </a:r>
          </a:p>
        </p:txBody>
      </p:sp>
      <p:sp>
        <p:nvSpPr>
          <p:cNvPr id="24" name="TextBox 23"/>
          <p:cNvSpPr txBox="1"/>
          <p:nvPr/>
        </p:nvSpPr>
        <p:spPr>
          <a:xfrm>
            <a:off x="704088" y="4014216"/>
            <a:ext cx="3657600" cy="274320"/>
          </a:xfrm>
          <a:prstGeom prst="rect">
            <a:avLst/>
          </a:prstGeom>
          <a:noFill/>
        </p:spPr>
        <p:txBody>
          <a:bodyPr wrap="square" anchor="t"/>
          <a:lstStyle/>
          <a:p>
            <a:pPr algn="l">
              <a:defRPr sz="800" b="0">
                <a:solidFill>
                  <a:srgbClr val="777777"/>
                </a:solidFill>
                <a:latin typeface="Arial"/>
              </a:defRPr>
            </a:pPr>
            <a:r>
              <a:t>calculator, list_indexed_docs, search_skills</a:t>
            </a:r>
          </a:p>
        </p:txBody>
      </p:sp>
      <p:sp>
        <p:nvSpPr>
          <p:cNvPr id="25" name="Oval 24"/>
          <p:cNvSpPr/>
          <p:nvPr/>
        </p:nvSpPr>
        <p:spPr>
          <a:xfrm>
            <a:off x="502920" y="4297680"/>
            <a:ext cx="128016" cy="128016"/>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 y="4270248"/>
            <a:ext cx="1554480" cy="201168"/>
          </a:xfrm>
          <a:prstGeom prst="rect">
            <a:avLst/>
          </a:prstGeom>
          <a:noFill/>
        </p:spPr>
        <p:txBody>
          <a:bodyPr wrap="square" anchor="t"/>
          <a:lstStyle/>
          <a:p>
            <a:pPr algn="l">
              <a:defRPr sz="1000" b="1">
                <a:solidFill>
                  <a:srgbClr val="333333"/>
                </a:solidFill>
                <a:latin typeface="Arial"/>
              </a:defRPr>
            </a:pPr>
            <a:r>
              <a:t>Discovery (2)</a:t>
            </a:r>
          </a:p>
        </p:txBody>
      </p:sp>
      <p:sp>
        <p:nvSpPr>
          <p:cNvPr id="27" name="TextBox 26"/>
          <p:cNvSpPr txBox="1"/>
          <p:nvPr/>
        </p:nvSpPr>
        <p:spPr>
          <a:xfrm>
            <a:off x="704088" y="4443984"/>
            <a:ext cx="3657600" cy="274320"/>
          </a:xfrm>
          <a:prstGeom prst="rect">
            <a:avLst/>
          </a:prstGeom>
          <a:noFill/>
        </p:spPr>
        <p:txBody>
          <a:bodyPr wrap="square" anchor="t"/>
          <a:lstStyle/>
          <a:p>
            <a:pPr algn="l">
              <a:defRPr sz="800" b="0">
                <a:solidFill>
                  <a:srgbClr val="777777"/>
                </a:solidFill>
                <a:latin typeface="Arial"/>
              </a:defRPr>
            </a:pPr>
            <a:r>
              <a:t>discover_tools, call_deferred_tool</a:t>
            </a:r>
          </a:p>
        </p:txBody>
      </p:sp>
      <p:sp>
        <p:nvSpPr>
          <p:cNvPr id="28" name="Oval 27"/>
          <p:cNvSpPr/>
          <p:nvPr/>
        </p:nvSpPr>
        <p:spPr>
          <a:xfrm>
            <a:off x="502920" y="4727448"/>
            <a:ext cx="128016" cy="128016"/>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 y="4700016"/>
            <a:ext cx="1554480" cy="201168"/>
          </a:xfrm>
          <a:prstGeom prst="rect">
            <a:avLst/>
          </a:prstGeom>
          <a:noFill/>
        </p:spPr>
        <p:txBody>
          <a:bodyPr wrap="square" anchor="t"/>
          <a:lstStyle/>
          <a:p>
            <a:pPr algn="l">
              <a:defRPr sz="1000" b="1">
                <a:solidFill>
                  <a:srgbClr val="333333"/>
                </a:solidFill>
                <a:latin typeface="Arial"/>
              </a:defRPr>
            </a:pPr>
            <a:r>
              <a:t>Skills (1)</a:t>
            </a:r>
          </a:p>
        </p:txBody>
      </p:sp>
      <p:sp>
        <p:nvSpPr>
          <p:cNvPr id="30" name="TextBox 29"/>
          <p:cNvSpPr txBox="1"/>
          <p:nvPr/>
        </p:nvSpPr>
        <p:spPr>
          <a:xfrm>
            <a:off x="704088" y="4873752"/>
            <a:ext cx="3657600" cy="274320"/>
          </a:xfrm>
          <a:prstGeom prst="rect">
            <a:avLst/>
          </a:prstGeom>
          <a:noFill/>
        </p:spPr>
        <p:txBody>
          <a:bodyPr wrap="square" anchor="t"/>
          <a:lstStyle/>
          <a:p>
            <a:pPr algn="l">
              <a:defRPr sz="800" b="0">
                <a:solidFill>
                  <a:srgbClr val="777777"/>
                </a:solidFill>
                <a:latin typeface="Arial"/>
              </a:defRPr>
            </a:pPr>
            <a:r>
              <a:t>execute_skill (dynamic skill execution)</a:t>
            </a:r>
          </a:p>
        </p:txBody>
      </p:sp>
      <p:sp>
        <p:nvSpPr>
          <p:cNvPr id="31" name="TextBox 30"/>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RAG PIPELINE</a:t>
            </a:r>
          </a:p>
        </p:txBody>
      </p:sp>
      <p:sp>
        <p:nvSpPr>
          <p:cNvPr id="32" name="TextBox 31"/>
          <p:cNvSpPr txBox="1"/>
          <p:nvPr/>
        </p:nvSpPr>
        <p:spPr>
          <a:xfrm>
            <a:off x="4754880" y="1143000"/>
            <a:ext cx="3931920" cy="457200"/>
          </a:xfrm>
          <a:prstGeom prst="rect">
            <a:avLst/>
          </a:prstGeom>
          <a:noFill/>
        </p:spPr>
        <p:txBody>
          <a:bodyPr wrap="square" anchor="t"/>
          <a:lstStyle/>
          <a:p>
            <a:pPr algn="l">
              <a:defRPr sz="1100" b="0">
                <a:solidFill>
                  <a:srgbClr val="666666"/>
                </a:solidFill>
                <a:latin typeface="Arial"/>
              </a:defRPr>
            </a:pPr>
            <a:r>
              <a:t>Retrieval-Augmented Generation grounds answers in your actual documents with citations.</a:t>
            </a:r>
          </a:p>
        </p:txBody>
      </p:sp>
      <p:sp>
        <p:nvSpPr>
          <p:cNvPr id="33" name="Oval 32"/>
          <p:cNvSpPr/>
          <p:nvPr/>
        </p:nvSpPr>
        <p:spPr>
          <a:xfrm>
            <a:off x="4754880" y="1691640"/>
            <a:ext cx="274320" cy="274320"/>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34" name="TextBox 33"/>
          <p:cNvSpPr txBox="1"/>
          <p:nvPr/>
        </p:nvSpPr>
        <p:spPr>
          <a:xfrm>
            <a:off x="5120640" y="1691640"/>
            <a:ext cx="1645920" cy="274320"/>
          </a:xfrm>
          <a:prstGeom prst="rect">
            <a:avLst/>
          </a:prstGeom>
          <a:noFill/>
        </p:spPr>
        <p:txBody>
          <a:bodyPr wrap="square" anchor="t"/>
          <a:lstStyle/>
          <a:p>
            <a:pPr algn="l">
              <a:defRPr sz="1100" b="1">
                <a:solidFill>
                  <a:srgbClr val="333333"/>
                </a:solidFill>
                <a:latin typeface="Arial"/>
              </a:defRPr>
            </a:pPr>
            <a:r>
              <a:t>Query Analysis</a:t>
            </a:r>
          </a:p>
        </p:txBody>
      </p:sp>
      <p:sp>
        <p:nvSpPr>
          <p:cNvPr id="35" name="TextBox 34"/>
          <p:cNvSpPr txBox="1"/>
          <p:nvPr/>
        </p:nvSpPr>
        <p:spPr>
          <a:xfrm>
            <a:off x="6675120" y="1691640"/>
            <a:ext cx="2103120" cy="274320"/>
          </a:xfrm>
          <a:prstGeom prst="rect">
            <a:avLst/>
          </a:prstGeom>
          <a:noFill/>
        </p:spPr>
        <p:txBody>
          <a:bodyPr wrap="square" anchor="t"/>
          <a:lstStyle/>
          <a:p>
            <a:pPr algn="l">
              <a:defRPr sz="1000" b="0">
                <a:solidFill>
                  <a:srgbClr val="666666"/>
                </a:solidFill>
                <a:latin typeface="Arial"/>
              </a:defRPr>
            </a:pPr>
            <a:r>
              <a:t>Parse intent, extract entities</a:t>
            </a:r>
          </a:p>
        </p:txBody>
      </p:sp>
      <p:sp>
        <p:nvSpPr>
          <p:cNvPr id="36" name="Rectangle 35"/>
          <p:cNvSpPr/>
          <p:nvPr/>
        </p:nvSpPr>
        <p:spPr>
          <a:xfrm>
            <a:off x="4882896" y="198424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754880" y="2194560"/>
            <a:ext cx="274320" cy="27432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38" name="TextBox 37"/>
          <p:cNvSpPr txBox="1"/>
          <p:nvPr/>
        </p:nvSpPr>
        <p:spPr>
          <a:xfrm>
            <a:off x="5120640" y="2194560"/>
            <a:ext cx="1645920" cy="274320"/>
          </a:xfrm>
          <a:prstGeom prst="rect">
            <a:avLst/>
          </a:prstGeom>
          <a:noFill/>
        </p:spPr>
        <p:txBody>
          <a:bodyPr wrap="square" anchor="t"/>
          <a:lstStyle/>
          <a:p>
            <a:pPr algn="l">
              <a:defRPr sz="1100" b="1">
                <a:solidFill>
                  <a:srgbClr val="333333"/>
                </a:solidFill>
                <a:latin typeface="Arial"/>
              </a:defRPr>
            </a:pPr>
            <a:r>
              <a:t>Hybrid Retrieval</a:t>
            </a:r>
          </a:p>
        </p:txBody>
      </p:sp>
      <p:sp>
        <p:nvSpPr>
          <p:cNvPr id="39" name="TextBox 38"/>
          <p:cNvSpPr txBox="1"/>
          <p:nvPr/>
        </p:nvSpPr>
        <p:spPr>
          <a:xfrm>
            <a:off x="6675120" y="2194560"/>
            <a:ext cx="2103120" cy="274320"/>
          </a:xfrm>
          <a:prstGeom prst="rect">
            <a:avLst/>
          </a:prstGeom>
          <a:noFill/>
        </p:spPr>
        <p:txBody>
          <a:bodyPr wrap="square" anchor="t"/>
          <a:lstStyle/>
          <a:p>
            <a:pPr algn="l">
              <a:defRPr sz="1000" b="0">
                <a:solidFill>
                  <a:srgbClr val="666666"/>
                </a:solidFill>
                <a:latin typeface="Arial"/>
              </a:defRPr>
            </a:pPr>
            <a:r>
              <a:t>Vector + keyword search in parallel</a:t>
            </a:r>
          </a:p>
        </p:txBody>
      </p:sp>
      <p:sp>
        <p:nvSpPr>
          <p:cNvPr id="40" name="Rectangle 39"/>
          <p:cNvSpPr/>
          <p:nvPr/>
        </p:nvSpPr>
        <p:spPr>
          <a:xfrm>
            <a:off x="4882896" y="248716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754880" y="2697480"/>
            <a:ext cx="274320" cy="274320"/>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42" name="TextBox 41"/>
          <p:cNvSpPr txBox="1"/>
          <p:nvPr/>
        </p:nvSpPr>
        <p:spPr>
          <a:xfrm>
            <a:off x="5120640" y="2697480"/>
            <a:ext cx="1645920" cy="274320"/>
          </a:xfrm>
          <a:prstGeom prst="rect">
            <a:avLst/>
          </a:prstGeom>
          <a:noFill/>
        </p:spPr>
        <p:txBody>
          <a:bodyPr wrap="square" anchor="t"/>
          <a:lstStyle/>
          <a:p>
            <a:pPr algn="l">
              <a:defRPr sz="1100" b="1">
                <a:solidFill>
                  <a:srgbClr val="333333"/>
                </a:solidFill>
                <a:latin typeface="Arial"/>
              </a:defRPr>
            </a:pPr>
            <a:r>
              <a:t>Judge Grading</a:t>
            </a:r>
          </a:p>
        </p:txBody>
      </p:sp>
      <p:sp>
        <p:nvSpPr>
          <p:cNvPr id="43" name="TextBox 42"/>
          <p:cNvSpPr txBox="1"/>
          <p:nvPr/>
        </p:nvSpPr>
        <p:spPr>
          <a:xfrm>
            <a:off x="6675120" y="2697480"/>
            <a:ext cx="2103120" cy="274320"/>
          </a:xfrm>
          <a:prstGeom prst="rect">
            <a:avLst/>
          </a:prstGeom>
          <a:noFill/>
        </p:spPr>
        <p:txBody>
          <a:bodyPr wrap="square" anchor="t"/>
          <a:lstStyle/>
          <a:p>
            <a:pPr algn="l">
              <a:defRPr sz="1000" b="0">
                <a:solidFill>
                  <a:srgbClr val="666666"/>
                </a:solidFill>
                <a:latin typeface="Arial"/>
              </a:defRPr>
            </a:pPr>
            <a:r>
              <a:t>LLM scores each chunk 0-3 for relevance</a:t>
            </a:r>
          </a:p>
        </p:txBody>
      </p:sp>
      <p:sp>
        <p:nvSpPr>
          <p:cNvPr id="44" name="Rectangle 43"/>
          <p:cNvSpPr/>
          <p:nvPr/>
        </p:nvSpPr>
        <p:spPr>
          <a:xfrm>
            <a:off x="4882896" y="299008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4754880" y="3200400"/>
            <a:ext cx="274320" cy="274320"/>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46" name="TextBox 45"/>
          <p:cNvSpPr txBox="1"/>
          <p:nvPr/>
        </p:nvSpPr>
        <p:spPr>
          <a:xfrm>
            <a:off x="5120640" y="3200400"/>
            <a:ext cx="1645920" cy="274320"/>
          </a:xfrm>
          <a:prstGeom prst="rect">
            <a:avLst/>
          </a:prstGeom>
          <a:noFill/>
        </p:spPr>
        <p:txBody>
          <a:bodyPr wrap="square" anchor="t"/>
          <a:lstStyle/>
          <a:p>
            <a:pPr algn="l">
              <a:defRPr sz="1100" b="1">
                <a:solidFill>
                  <a:srgbClr val="333333"/>
                </a:solidFill>
                <a:latin typeface="Arial"/>
              </a:defRPr>
            </a:pPr>
            <a:r>
              <a:t>Evidence Assembly</a:t>
            </a:r>
          </a:p>
        </p:txBody>
      </p:sp>
      <p:sp>
        <p:nvSpPr>
          <p:cNvPr id="47" name="TextBox 46"/>
          <p:cNvSpPr txBox="1"/>
          <p:nvPr/>
        </p:nvSpPr>
        <p:spPr>
          <a:xfrm>
            <a:off x="6675120" y="3200400"/>
            <a:ext cx="2103120" cy="274320"/>
          </a:xfrm>
          <a:prstGeom prst="rect">
            <a:avLst/>
          </a:prstGeom>
          <a:noFill/>
        </p:spPr>
        <p:txBody>
          <a:bodyPr wrap="square" anchor="t"/>
          <a:lstStyle/>
          <a:p>
            <a:pPr algn="l">
              <a:defRPr sz="1000" b="0">
                <a:solidFill>
                  <a:srgbClr val="666666"/>
                </a:solidFill>
                <a:latin typeface="Arial"/>
              </a:defRPr>
            </a:pPr>
            <a:r>
              <a:t>Deduplicate, rank, budget context</a:t>
            </a:r>
          </a:p>
        </p:txBody>
      </p:sp>
      <p:sp>
        <p:nvSpPr>
          <p:cNvPr id="48" name="Rectangle 47"/>
          <p:cNvSpPr/>
          <p:nvPr/>
        </p:nvSpPr>
        <p:spPr>
          <a:xfrm>
            <a:off x="4882896" y="349300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4754880" y="3703320"/>
            <a:ext cx="274320" cy="27432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50" name="TextBox 49"/>
          <p:cNvSpPr txBox="1"/>
          <p:nvPr/>
        </p:nvSpPr>
        <p:spPr>
          <a:xfrm>
            <a:off x="5120640" y="3703320"/>
            <a:ext cx="1645920" cy="274320"/>
          </a:xfrm>
          <a:prstGeom prst="rect">
            <a:avLst/>
          </a:prstGeom>
          <a:noFill/>
        </p:spPr>
        <p:txBody>
          <a:bodyPr wrap="square" anchor="t"/>
          <a:lstStyle/>
          <a:p>
            <a:pPr algn="l">
              <a:defRPr sz="1100" b="1">
                <a:solidFill>
                  <a:srgbClr val="333333"/>
                </a:solidFill>
                <a:latin typeface="Arial"/>
              </a:defRPr>
            </a:pPr>
            <a:r>
              <a:t>Synthesis</a:t>
            </a:r>
          </a:p>
        </p:txBody>
      </p:sp>
      <p:sp>
        <p:nvSpPr>
          <p:cNvPr id="51" name="TextBox 50"/>
          <p:cNvSpPr txBox="1"/>
          <p:nvPr/>
        </p:nvSpPr>
        <p:spPr>
          <a:xfrm>
            <a:off x="6675120" y="3703320"/>
            <a:ext cx="2103120" cy="274320"/>
          </a:xfrm>
          <a:prstGeom prst="rect">
            <a:avLst/>
          </a:prstGeom>
          <a:noFill/>
        </p:spPr>
        <p:txBody>
          <a:bodyPr wrap="square" anchor="t"/>
          <a:lstStyle/>
          <a:p>
            <a:pPr algn="l">
              <a:defRPr sz="1000" b="0">
                <a:solidFill>
                  <a:srgbClr val="666666"/>
                </a:solidFill>
                <a:latin typeface="Arial"/>
              </a:defRPr>
            </a:pPr>
            <a:r>
              <a:t>Generate grounded answer with citations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API Surface — 118 Endpoints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20040"/>
          </a:xfrm>
          <a:prstGeom prst="rect">
            <a:avLst/>
          </a:prstGeom>
          <a:noFill/>
        </p:spPr>
        <p:txBody>
          <a:bodyPr wrap="square" anchor="t"/>
          <a:lstStyle/>
          <a:p>
            <a:pPr algn="l">
              <a:defRPr sz="1300" b="1">
                <a:solidFill>
                  <a:srgbClr val="444444"/>
                </a:solidFill>
                <a:latin typeface="Arial"/>
              </a:defRPr>
            </a:pPr>
            <a:r>
              <a:t>48 public endpoints + 70 admin endpoints = 118 total API surface</a:t>
            </a:r>
          </a:p>
        </p:txBody>
      </p:sp>
      <p:sp>
        <p:nvSpPr>
          <p:cNvPr id="6" name="TextBox 5"/>
          <p:cNvSpPr txBox="1"/>
          <p:nvPr/>
        </p:nvSpPr>
        <p:spPr>
          <a:xfrm>
            <a:off x="502920" y="1280160"/>
            <a:ext cx="3931920" cy="320040"/>
          </a:xfrm>
          <a:prstGeom prst="rect">
            <a:avLst/>
          </a:prstGeom>
          <a:noFill/>
        </p:spPr>
        <p:txBody>
          <a:bodyPr wrap="square" anchor="t"/>
          <a:lstStyle/>
          <a:p>
            <a:pPr algn="l">
              <a:defRPr sz="1400" b="1">
                <a:solidFill>
                  <a:srgbClr val="0097A7"/>
                </a:solidFill>
                <a:latin typeface="Arial"/>
              </a:defRPr>
            </a:pPr>
            <a:r>
              <a:t>PUBLIC API (48 endpoints)</a:t>
            </a:r>
          </a:p>
        </p:txBody>
      </p:sp>
      <p:sp>
        <p:nvSpPr>
          <p:cNvPr id="7" name="Rectangle 6"/>
          <p:cNvSpPr/>
          <p:nvPr/>
        </p:nvSpPr>
        <p:spPr>
          <a:xfrm>
            <a:off x="502920" y="164592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645920"/>
            <a:ext cx="1188720" cy="201168"/>
          </a:xfrm>
          <a:prstGeom prst="rect">
            <a:avLst/>
          </a:prstGeom>
          <a:noFill/>
        </p:spPr>
        <p:txBody>
          <a:bodyPr wrap="square" anchor="t"/>
          <a:lstStyle/>
          <a:p>
            <a:pPr algn="l">
              <a:defRPr sz="1000" b="1">
                <a:solidFill>
                  <a:srgbClr val="333333"/>
                </a:solidFill>
                <a:latin typeface="Arial"/>
              </a:defRPr>
            </a:pPr>
            <a:r>
              <a:t>Chat</a:t>
            </a:r>
          </a:p>
        </p:txBody>
      </p:sp>
      <p:sp>
        <p:nvSpPr>
          <p:cNvPr id="9" name="TextBox 8"/>
          <p:cNvSpPr txBox="1"/>
          <p:nvPr/>
        </p:nvSpPr>
        <p:spPr>
          <a:xfrm>
            <a:off x="640080" y="1828800"/>
            <a:ext cx="3200400" cy="182880"/>
          </a:xfrm>
          <a:prstGeom prst="rect">
            <a:avLst/>
          </a:prstGeom>
          <a:noFill/>
        </p:spPr>
        <p:txBody>
          <a:bodyPr wrap="square" anchor="t"/>
          <a:lstStyle/>
          <a:p>
            <a:pPr algn="l">
              <a:defRPr sz="800" b="0">
                <a:solidFill>
                  <a:srgbClr val="777777"/>
                </a:solidFill>
                <a:latin typeface="Arial"/>
              </a:defRPr>
            </a:pPr>
            <a:r>
              <a:t>/v1/chat/completions, /v1/connector/chat</a:t>
            </a:r>
          </a:p>
        </p:txBody>
      </p:sp>
      <p:sp>
        <p:nvSpPr>
          <p:cNvPr id="10" name="TextBox 9"/>
          <p:cNvSpPr txBox="1"/>
          <p:nvPr/>
        </p:nvSpPr>
        <p:spPr>
          <a:xfrm>
            <a:off x="3931920" y="1645920"/>
            <a:ext cx="457200" cy="201168"/>
          </a:xfrm>
          <a:prstGeom prst="rect">
            <a:avLst/>
          </a:prstGeom>
          <a:noFill/>
        </p:spPr>
        <p:txBody>
          <a:bodyPr wrap="square" anchor="t"/>
          <a:lstStyle/>
          <a:p>
            <a:pPr algn="r">
              <a:defRPr sz="1000" b="1">
                <a:solidFill>
                  <a:srgbClr val="0097A7"/>
                </a:solidFill>
                <a:latin typeface="Arial"/>
              </a:defRPr>
            </a:pPr>
            <a:r>
              <a:t>2</a:t>
            </a:r>
          </a:p>
        </p:txBody>
      </p:sp>
      <p:sp>
        <p:nvSpPr>
          <p:cNvPr id="11" name="Rectangle 10"/>
          <p:cNvSpPr/>
          <p:nvPr/>
        </p:nvSpPr>
        <p:spPr>
          <a:xfrm>
            <a:off x="502920" y="202996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29968"/>
            <a:ext cx="1188720" cy="201168"/>
          </a:xfrm>
          <a:prstGeom prst="rect">
            <a:avLst/>
          </a:prstGeom>
          <a:noFill/>
        </p:spPr>
        <p:txBody>
          <a:bodyPr wrap="square" anchor="t"/>
          <a:lstStyle/>
          <a:p>
            <a:pPr algn="l">
              <a:defRPr sz="1000" b="1">
                <a:solidFill>
                  <a:srgbClr val="333333"/>
                </a:solidFill>
                <a:latin typeface="Arial"/>
              </a:defRPr>
            </a:pPr>
            <a:r>
              <a:t>Documents</a:t>
            </a:r>
          </a:p>
        </p:txBody>
      </p:sp>
      <p:sp>
        <p:nvSpPr>
          <p:cNvPr id="13" name="TextBox 12"/>
          <p:cNvSpPr txBox="1"/>
          <p:nvPr/>
        </p:nvSpPr>
        <p:spPr>
          <a:xfrm>
            <a:off x="640080" y="2212848"/>
            <a:ext cx="3200400" cy="182880"/>
          </a:xfrm>
          <a:prstGeom prst="rect">
            <a:avLst/>
          </a:prstGeom>
          <a:noFill/>
        </p:spPr>
        <p:txBody>
          <a:bodyPr wrap="square" anchor="t"/>
          <a:lstStyle/>
          <a:p>
            <a:pPr algn="l">
              <a:defRPr sz="800" b="0">
                <a:solidFill>
                  <a:srgbClr val="777777"/>
                </a:solidFill>
                <a:latin typeface="Arial"/>
              </a:defRPr>
            </a:pPr>
            <a:r>
              <a:t>upload, ingest, source download</a:t>
            </a:r>
          </a:p>
        </p:txBody>
      </p:sp>
      <p:sp>
        <p:nvSpPr>
          <p:cNvPr id="14" name="TextBox 13"/>
          <p:cNvSpPr txBox="1"/>
          <p:nvPr/>
        </p:nvSpPr>
        <p:spPr>
          <a:xfrm>
            <a:off x="3931920" y="2029968"/>
            <a:ext cx="457200" cy="201168"/>
          </a:xfrm>
          <a:prstGeom prst="rect">
            <a:avLst/>
          </a:prstGeom>
          <a:noFill/>
        </p:spPr>
        <p:txBody>
          <a:bodyPr wrap="square" anchor="t"/>
          <a:lstStyle/>
          <a:p>
            <a:pPr algn="r">
              <a:defRPr sz="1000" b="1">
                <a:solidFill>
                  <a:srgbClr val="0097A7"/>
                </a:solidFill>
                <a:latin typeface="Arial"/>
              </a:defRPr>
            </a:pPr>
            <a:r>
              <a:t>4</a:t>
            </a:r>
          </a:p>
        </p:txBody>
      </p:sp>
      <p:sp>
        <p:nvSpPr>
          <p:cNvPr id="15" name="Rectangle 14"/>
          <p:cNvSpPr/>
          <p:nvPr/>
        </p:nvSpPr>
        <p:spPr>
          <a:xfrm>
            <a:off x="502920" y="241401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414016"/>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17" name="TextBox 16"/>
          <p:cNvSpPr txBox="1"/>
          <p:nvPr/>
        </p:nvSpPr>
        <p:spPr>
          <a:xfrm>
            <a:off x="640080" y="2596896"/>
            <a:ext cx="3200400" cy="182880"/>
          </a:xfrm>
          <a:prstGeom prst="rect">
            <a:avLst/>
          </a:prstGeom>
          <a:noFill/>
        </p:spPr>
        <p:txBody>
          <a:bodyPr wrap="square" anchor="t"/>
          <a:lstStyle/>
          <a:p>
            <a:pPr algn="l">
              <a:defRPr sz="800" b="0">
                <a:solidFill>
                  <a:srgbClr val="777777"/>
                </a:solidFill>
                <a:latin typeface="Arial"/>
              </a:defRPr>
            </a:pPr>
            <a:r>
              <a:t>list, get, index, import, query</a:t>
            </a:r>
          </a:p>
        </p:txBody>
      </p:sp>
      <p:sp>
        <p:nvSpPr>
          <p:cNvPr id="18" name="TextBox 17"/>
          <p:cNvSpPr txBox="1"/>
          <p:nvPr/>
        </p:nvSpPr>
        <p:spPr>
          <a:xfrm>
            <a:off x="3931920" y="2414016"/>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19" name="Rectangle 18"/>
          <p:cNvSpPr/>
          <p:nvPr/>
        </p:nvSpPr>
        <p:spPr>
          <a:xfrm>
            <a:off x="502920" y="2798064"/>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798064"/>
            <a:ext cx="1188720" cy="201168"/>
          </a:xfrm>
          <a:prstGeom prst="rect">
            <a:avLst/>
          </a:prstGeom>
          <a:noFill/>
        </p:spPr>
        <p:txBody>
          <a:bodyPr wrap="square" anchor="t"/>
          <a:lstStyle/>
          <a:p>
            <a:pPr algn="l">
              <a:defRPr sz="1000" b="1">
                <a:solidFill>
                  <a:srgbClr val="333333"/>
                </a:solidFill>
                <a:latin typeface="Arial"/>
              </a:defRPr>
            </a:pPr>
            <a:r>
              <a:t>Skills</a:t>
            </a:r>
          </a:p>
        </p:txBody>
      </p:sp>
      <p:sp>
        <p:nvSpPr>
          <p:cNvPr id="21" name="TextBox 20"/>
          <p:cNvSpPr txBox="1"/>
          <p:nvPr/>
        </p:nvSpPr>
        <p:spPr>
          <a:xfrm>
            <a:off x="640080" y="2980944"/>
            <a:ext cx="3200400" cy="182880"/>
          </a:xfrm>
          <a:prstGeom prst="rect">
            <a:avLst/>
          </a:prstGeom>
          <a:noFill/>
        </p:spPr>
        <p:txBody>
          <a:bodyPr wrap="square" anchor="t"/>
          <a:lstStyle/>
          <a:p>
            <a:pPr algn="l">
              <a:defRPr sz="800" b="0">
                <a:solidFill>
                  <a:srgbClr val="777777"/>
                </a:solidFill>
                <a:latin typeface="Arial"/>
              </a:defRPr>
            </a:pPr>
            <a:r>
              <a:t>CRUD, activate, deactivate, preview, rollback</a:t>
            </a:r>
          </a:p>
        </p:txBody>
      </p:sp>
      <p:sp>
        <p:nvSpPr>
          <p:cNvPr id="22" name="TextBox 21"/>
          <p:cNvSpPr txBox="1"/>
          <p:nvPr/>
        </p:nvSpPr>
        <p:spPr>
          <a:xfrm>
            <a:off x="3931920" y="2798064"/>
            <a:ext cx="457200" cy="201168"/>
          </a:xfrm>
          <a:prstGeom prst="rect">
            <a:avLst/>
          </a:prstGeom>
          <a:noFill/>
        </p:spPr>
        <p:txBody>
          <a:bodyPr wrap="square" anchor="t"/>
          <a:lstStyle/>
          <a:p>
            <a:pPr algn="r">
              <a:defRPr sz="1000" b="1">
                <a:solidFill>
                  <a:srgbClr val="0097A7"/>
                </a:solidFill>
                <a:latin typeface="Arial"/>
              </a:defRPr>
            </a:pPr>
            <a:r>
              <a:t>9</a:t>
            </a:r>
          </a:p>
        </p:txBody>
      </p:sp>
      <p:sp>
        <p:nvSpPr>
          <p:cNvPr id="23" name="Rectangle 22"/>
          <p:cNvSpPr/>
          <p:nvPr/>
        </p:nvSpPr>
        <p:spPr>
          <a:xfrm>
            <a:off x="502920" y="3182112"/>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3182112"/>
            <a:ext cx="1188720" cy="201168"/>
          </a:xfrm>
          <a:prstGeom prst="rect">
            <a:avLst/>
          </a:prstGeom>
          <a:noFill/>
        </p:spPr>
        <p:txBody>
          <a:bodyPr wrap="square" anchor="t"/>
          <a:lstStyle/>
          <a:p>
            <a:pPr algn="l">
              <a:defRPr sz="1000" b="1">
                <a:solidFill>
                  <a:srgbClr val="333333"/>
                </a:solidFill>
                <a:latin typeface="Arial"/>
              </a:defRPr>
            </a:pPr>
            <a:r>
              <a:t>MCP</a:t>
            </a:r>
          </a:p>
        </p:txBody>
      </p:sp>
      <p:sp>
        <p:nvSpPr>
          <p:cNvPr id="25" name="TextBox 24"/>
          <p:cNvSpPr txBox="1"/>
          <p:nvPr/>
        </p:nvSpPr>
        <p:spPr>
          <a:xfrm>
            <a:off x="640080" y="3364992"/>
            <a:ext cx="3200400" cy="182880"/>
          </a:xfrm>
          <a:prstGeom prst="rect">
            <a:avLst/>
          </a:prstGeom>
          <a:noFill/>
        </p:spPr>
        <p:txBody>
          <a:bodyPr wrap="square" anchor="t"/>
          <a:lstStyle/>
          <a:p>
            <a:pPr algn="l">
              <a:defRPr sz="800" b="0">
                <a:solidFill>
                  <a:srgbClr val="777777"/>
                </a:solidFill>
                <a:latin typeface="Arial"/>
              </a:defRPr>
            </a:pPr>
            <a:r>
              <a:t>connections CRUD, tools, test, refresh</a:t>
            </a:r>
          </a:p>
        </p:txBody>
      </p:sp>
      <p:sp>
        <p:nvSpPr>
          <p:cNvPr id="26" name="TextBox 25"/>
          <p:cNvSpPr txBox="1"/>
          <p:nvPr/>
        </p:nvSpPr>
        <p:spPr>
          <a:xfrm>
            <a:off x="3931920" y="3182112"/>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27" name="Rectangle 26"/>
          <p:cNvSpPr/>
          <p:nvPr/>
        </p:nvSpPr>
        <p:spPr>
          <a:xfrm>
            <a:off x="502920" y="356616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3566160"/>
            <a:ext cx="1188720" cy="201168"/>
          </a:xfrm>
          <a:prstGeom prst="rect">
            <a:avLst/>
          </a:prstGeom>
          <a:noFill/>
        </p:spPr>
        <p:txBody>
          <a:bodyPr wrap="square" anchor="t"/>
          <a:lstStyle/>
          <a:p>
            <a:pPr algn="l">
              <a:defRPr sz="1000" b="1">
                <a:solidFill>
                  <a:srgbClr val="333333"/>
                </a:solidFill>
                <a:latin typeface="Arial"/>
              </a:defRPr>
            </a:pPr>
            <a:r>
              <a:t>Jobs/Tasks</a:t>
            </a:r>
          </a:p>
        </p:txBody>
      </p:sp>
      <p:sp>
        <p:nvSpPr>
          <p:cNvPr id="29" name="TextBox 28"/>
          <p:cNvSpPr txBox="1"/>
          <p:nvPr/>
        </p:nvSpPr>
        <p:spPr>
          <a:xfrm>
            <a:off x="640080" y="3749040"/>
            <a:ext cx="3200400" cy="182880"/>
          </a:xfrm>
          <a:prstGeom prst="rect">
            <a:avLst/>
          </a:prstGeom>
          <a:noFill/>
        </p:spPr>
        <p:txBody>
          <a:bodyPr wrap="square" anchor="t"/>
          <a:lstStyle/>
          <a:p>
            <a:pPr algn="l">
              <a:defRPr sz="800" b="0">
                <a:solidFill>
                  <a:srgbClr val="777777"/>
                </a:solidFill>
                <a:latin typeface="Arial"/>
              </a:defRPr>
            </a:pPr>
            <a:r>
              <a:t>get, mailbox, respond, list, stop</a:t>
            </a:r>
          </a:p>
        </p:txBody>
      </p:sp>
      <p:sp>
        <p:nvSpPr>
          <p:cNvPr id="30" name="TextBox 29"/>
          <p:cNvSpPr txBox="1"/>
          <p:nvPr/>
        </p:nvSpPr>
        <p:spPr>
          <a:xfrm>
            <a:off x="3931920" y="3566160"/>
            <a:ext cx="457200" cy="201168"/>
          </a:xfrm>
          <a:prstGeom prst="rect">
            <a:avLst/>
          </a:prstGeom>
          <a:noFill/>
        </p:spPr>
        <p:txBody>
          <a:bodyPr wrap="square" anchor="t"/>
          <a:lstStyle/>
          <a:p>
            <a:pPr algn="r">
              <a:defRPr sz="1000" b="1">
                <a:solidFill>
                  <a:srgbClr val="0097A7"/>
                </a:solidFill>
                <a:latin typeface="Arial"/>
              </a:defRPr>
            </a:pPr>
            <a:r>
              <a:t>6</a:t>
            </a:r>
          </a:p>
        </p:txBody>
      </p:sp>
      <p:sp>
        <p:nvSpPr>
          <p:cNvPr id="31" name="Rectangle 30"/>
          <p:cNvSpPr/>
          <p:nvPr/>
        </p:nvSpPr>
        <p:spPr>
          <a:xfrm>
            <a:off x="502920" y="395020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950208"/>
            <a:ext cx="1188720" cy="201168"/>
          </a:xfrm>
          <a:prstGeom prst="rect">
            <a:avLst/>
          </a:prstGeom>
          <a:noFill/>
        </p:spPr>
        <p:txBody>
          <a:bodyPr wrap="square" anchor="t"/>
          <a:lstStyle/>
          <a:p>
            <a:pPr algn="l">
              <a:defRPr sz="1000" b="1">
                <a:solidFill>
                  <a:srgbClr val="333333"/>
                </a:solidFill>
                <a:latin typeface="Arial"/>
              </a:defRPr>
            </a:pPr>
            <a:r>
              <a:t>Team Mailbox</a:t>
            </a:r>
          </a:p>
        </p:txBody>
      </p:sp>
      <p:sp>
        <p:nvSpPr>
          <p:cNvPr id="33" name="TextBox 32"/>
          <p:cNvSpPr txBox="1"/>
          <p:nvPr/>
        </p:nvSpPr>
        <p:spPr>
          <a:xfrm>
            <a:off x="640080" y="4133088"/>
            <a:ext cx="3200400" cy="182880"/>
          </a:xfrm>
          <a:prstGeom prst="rect">
            <a:avLst/>
          </a:prstGeom>
          <a:noFill/>
        </p:spPr>
        <p:txBody>
          <a:bodyPr wrap="square" anchor="t"/>
          <a:lstStyle/>
          <a:p>
            <a:pPr algn="l">
              <a:defRPr sz="800" b="0">
                <a:solidFill>
                  <a:srgbClr val="777777"/>
                </a:solidFill>
                <a:latin typeface="Arial"/>
              </a:defRPr>
            </a:pPr>
            <a:r>
              <a:t>channels, messages, respond</a:t>
            </a:r>
          </a:p>
        </p:txBody>
      </p:sp>
      <p:sp>
        <p:nvSpPr>
          <p:cNvPr id="34" name="TextBox 33"/>
          <p:cNvSpPr txBox="1"/>
          <p:nvPr/>
        </p:nvSpPr>
        <p:spPr>
          <a:xfrm>
            <a:off x="3931920" y="3950208"/>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35" name="Rectangle 34"/>
          <p:cNvSpPr/>
          <p:nvPr/>
        </p:nvSpPr>
        <p:spPr>
          <a:xfrm>
            <a:off x="502920" y="433425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4334256"/>
            <a:ext cx="1188720" cy="201168"/>
          </a:xfrm>
          <a:prstGeom prst="rect">
            <a:avLst/>
          </a:prstGeom>
          <a:noFill/>
        </p:spPr>
        <p:txBody>
          <a:bodyPr wrap="square" anchor="t"/>
          <a:lstStyle/>
          <a:p>
            <a:pPr algn="l">
              <a:defRPr sz="1000" b="1">
                <a:solidFill>
                  <a:srgbClr val="333333"/>
                </a:solidFill>
                <a:latin typeface="Arial"/>
              </a:defRPr>
            </a:pPr>
            <a:r>
              <a:t>System</a:t>
            </a:r>
          </a:p>
        </p:txBody>
      </p:sp>
      <p:sp>
        <p:nvSpPr>
          <p:cNvPr id="37" name="TextBox 36"/>
          <p:cNvSpPr txBox="1"/>
          <p:nvPr/>
        </p:nvSpPr>
        <p:spPr>
          <a:xfrm>
            <a:off x="640080" y="4517136"/>
            <a:ext cx="3200400" cy="182880"/>
          </a:xfrm>
          <a:prstGeom prst="rect">
            <a:avLst/>
          </a:prstGeom>
          <a:noFill/>
        </p:spPr>
        <p:txBody>
          <a:bodyPr wrap="square" anchor="t"/>
          <a:lstStyle/>
          <a:p>
            <a:pPr algn="l">
              <a:defRPr sz="800" b="0">
                <a:solidFill>
                  <a:srgbClr val="777777"/>
                </a:solidFill>
                <a:latin typeface="Arial"/>
              </a:defRPr>
            </a:pPr>
            <a:r>
              <a:t>health, models, agents, diagnostics, capabilities</a:t>
            </a:r>
          </a:p>
        </p:txBody>
      </p:sp>
      <p:sp>
        <p:nvSpPr>
          <p:cNvPr id="38" name="TextBox 37"/>
          <p:cNvSpPr txBox="1"/>
          <p:nvPr/>
        </p:nvSpPr>
        <p:spPr>
          <a:xfrm>
            <a:off x="3931920" y="4334256"/>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39" name="TextBox 38"/>
          <p:cNvSpPr txBox="1"/>
          <p:nvPr/>
        </p:nvSpPr>
        <p:spPr>
          <a:xfrm>
            <a:off x="4754880" y="1280160"/>
            <a:ext cx="3931920" cy="320040"/>
          </a:xfrm>
          <a:prstGeom prst="rect">
            <a:avLst/>
          </a:prstGeom>
          <a:noFill/>
        </p:spPr>
        <p:txBody>
          <a:bodyPr wrap="square" anchor="t"/>
          <a:lstStyle/>
          <a:p>
            <a:pPr algn="l">
              <a:defRPr sz="1400" b="1">
                <a:solidFill>
                  <a:srgbClr val="FF9800"/>
                </a:solidFill>
                <a:latin typeface="Arial"/>
              </a:defRPr>
            </a:pPr>
            <a:r>
              <a:t>ADMIN API (70 endpoints)</a:t>
            </a:r>
          </a:p>
        </p:txBody>
      </p:sp>
      <p:sp>
        <p:nvSpPr>
          <p:cNvPr id="40" name="Rectangle 39"/>
          <p:cNvSpPr/>
          <p:nvPr/>
        </p:nvSpPr>
        <p:spPr>
          <a:xfrm>
            <a:off x="4754880" y="164592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92040" y="1645920"/>
            <a:ext cx="1188720" cy="201168"/>
          </a:xfrm>
          <a:prstGeom prst="rect">
            <a:avLst/>
          </a:prstGeom>
          <a:noFill/>
        </p:spPr>
        <p:txBody>
          <a:bodyPr wrap="square" anchor="t"/>
          <a:lstStyle/>
          <a:p>
            <a:pPr algn="l">
              <a:defRPr sz="1000" b="1">
                <a:solidFill>
                  <a:srgbClr val="333333"/>
                </a:solidFill>
                <a:latin typeface="Arial"/>
              </a:defRPr>
            </a:pPr>
            <a:r>
              <a:t>Agents</a:t>
            </a:r>
          </a:p>
        </p:txBody>
      </p:sp>
      <p:sp>
        <p:nvSpPr>
          <p:cNvPr id="42" name="TextBox 41"/>
          <p:cNvSpPr txBox="1"/>
          <p:nvPr/>
        </p:nvSpPr>
        <p:spPr>
          <a:xfrm>
            <a:off x="4892040" y="1828800"/>
            <a:ext cx="3200400" cy="182880"/>
          </a:xfrm>
          <a:prstGeom prst="rect">
            <a:avLst/>
          </a:prstGeom>
          <a:noFill/>
        </p:spPr>
        <p:txBody>
          <a:bodyPr wrap="square" anchor="t"/>
          <a:lstStyle/>
          <a:p>
            <a:pPr algn="l">
              <a:defRPr sz="800" b="0">
                <a:solidFill>
                  <a:srgbClr val="777777"/>
                </a:solidFill>
                <a:latin typeface="Arial"/>
              </a:defRPr>
            </a:pPr>
            <a:r>
              <a:t>list, get, update, delete, reload</a:t>
            </a:r>
          </a:p>
        </p:txBody>
      </p:sp>
      <p:sp>
        <p:nvSpPr>
          <p:cNvPr id="43" name="TextBox 42"/>
          <p:cNvSpPr txBox="1"/>
          <p:nvPr/>
        </p:nvSpPr>
        <p:spPr>
          <a:xfrm>
            <a:off x="8229600" y="1645920"/>
            <a:ext cx="457200" cy="201168"/>
          </a:xfrm>
          <a:prstGeom prst="rect">
            <a:avLst/>
          </a:prstGeom>
          <a:noFill/>
        </p:spPr>
        <p:txBody>
          <a:bodyPr wrap="square" anchor="t"/>
          <a:lstStyle/>
          <a:p>
            <a:pPr algn="r">
              <a:defRPr sz="1000" b="1">
                <a:solidFill>
                  <a:srgbClr val="FF9800"/>
                </a:solidFill>
                <a:latin typeface="Arial"/>
              </a:defRPr>
            </a:pPr>
            <a:r>
              <a:t>5</a:t>
            </a:r>
          </a:p>
        </p:txBody>
      </p:sp>
      <p:sp>
        <p:nvSpPr>
          <p:cNvPr id="44" name="Rectangle 43"/>
          <p:cNvSpPr/>
          <p:nvPr/>
        </p:nvSpPr>
        <p:spPr>
          <a:xfrm>
            <a:off x="4754880" y="202996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92040" y="2029968"/>
            <a:ext cx="1188720" cy="201168"/>
          </a:xfrm>
          <a:prstGeom prst="rect">
            <a:avLst/>
          </a:prstGeom>
          <a:noFill/>
        </p:spPr>
        <p:txBody>
          <a:bodyPr wrap="square" anchor="t"/>
          <a:lstStyle/>
          <a:p>
            <a:pPr algn="l">
              <a:defRPr sz="1000" b="1">
                <a:solidFill>
                  <a:srgbClr val="333333"/>
                </a:solidFill>
                <a:latin typeface="Arial"/>
              </a:defRPr>
            </a:pPr>
            <a:r>
              <a:t>Collections</a:t>
            </a:r>
          </a:p>
        </p:txBody>
      </p:sp>
      <p:sp>
        <p:nvSpPr>
          <p:cNvPr id="46" name="TextBox 45"/>
          <p:cNvSpPr txBox="1"/>
          <p:nvPr/>
        </p:nvSpPr>
        <p:spPr>
          <a:xfrm>
            <a:off x="4892040" y="2212848"/>
            <a:ext cx="3200400" cy="182880"/>
          </a:xfrm>
          <a:prstGeom prst="rect">
            <a:avLst/>
          </a:prstGeom>
          <a:noFill/>
        </p:spPr>
        <p:txBody>
          <a:bodyPr wrap="square" anchor="t"/>
          <a:lstStyle/>
          <a:p>
            <a:pPr algn="l">
              <a:defRPr sz="800" b="0">
                <a:solidFill>
                  <a:srgbClr val="777777"/>
                </a:solidFill>
                <a:latin typeface="Arial"/>
              </a:defRPr>
            </a:pPr>
            <a:r>
              <a:t>CRUD, documents, upload, sync, repair, health</a:t>
            </a:r>
          </a:p>
        </p:txBody>
      </p:sp>
      <p:sp>
        <p:nvSpPr>
          <p:cNvPr id="47" name="TextBox 46"/>
          <p:cNvSpPr txBox="1"/>
          <p:nvPr/>
        </p:nvSpPr>
        <p:spPr>
          <a:xfrm>
            <a:off x="8229600" y="2029968"/>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48" name="Rectangle 47"/>
          <p:cNvSpPr/>
          <p:nvPr/>
        </p:nvSpPr>
        <p:spPr>
          <a:xfrm>
            <a:off x="4754880" y="241401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892040" y="2414016"/>
            <a:ext cx="1188720" cy="201168"/>
          </a:xfrm>
          <a:prstGeom prst="rect">
            <a:avLst/>
          </a:prstGeom>
          <a:noFill/>
        </p:spPr>
        <p:txBody>
          <a:bodyPr wrap="square" anchor="t"/>
          <a:lstStyle/>
          <a:p>
            <a:pPr algn="l">
              <a:defRPr sz="1000" b="1">
                <a:solidFill>
                  <a:srgbClr val="333333"/>
                </a:solidFill>
                <a:latin typeface="Arial"/>
              </a:defRPr>
            </a:pPr>
            <a:r>
              <a:t>Prompts</a:t>
            </a:r>
          </a:p>
        </p:txBody>
      </p:sp>
      <p:sp>
        <p:nvSpPr>
          <p:cNvPr id="50" name="TextBox 49"/>
          <p:cNvSpPr txBox="1"/>
          <p:nvPr/>
        </p:nvSpPr>
        <p:spPr>
          <a:xfrm>
            <a:off x="4892040" y="2596896"/>
            <a:ext cx="3200400" cy="182880"/>
          </a:xfrm>
          <a:prstGeom prst="rect">
            <a:avLst/>
          </a:prstGeom>
          <a:noFill/>
        </p:spPr>
        <p:txBody>
          <a:bodyPr wrap="square" anchor="t"/>
          <a:lstStyle/>
          <a:p>
            <a:pPr algn="l">
              <a:defRPr sz="800" b="0">
                <a:solidFill>
                  <a:srgbClr val="777777"/>
                </a:solidFill>
                <a:latin typeface="Arial"/>
              </a:defRPr>
            </a:pPr>
            <a:r>
              <a:t>list, get, update, delete</a:t>
            </a:r>
          </a:p>
        </p:txBody>
      </p:sp>
      <p:sp>
        <p:nvSpPr>
          <p:cNvPr id="51" name="TextBox 50"/>
          <p:cNvSpPr txBox="1"/>
          <p:nvPr/>
        </p:nvSpPr>
        <p:spPr>
          <a:xfrm>
            <a:off x="8229600" y="2414016"/>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52" name="Rectangle 51"/>
          <p:cNvSpPr/>
          <p:nvPr/>
        </p:nvSpPr>
        <p:spPr>
          <a:xfrm>
            <a:off x="4754880" y="2798064"/>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892040" y="2798064"/>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54" name="TextBox 53"/>
          <p:cNvSpPr txBox="1"/>
          <p:nvPr/>
        </p:nvSpPr>
        <p:spPr>
          <a:xfrm>
            <a:off x="4892040" y="2980944"/>
            <a:ext cx="3200400" cy="182880"/>
          </a:xfrm>
          <a:prstGeom prst="rect">
            <a:avLst/>
          </a:prstGeom>
          <a:noFill/>
        </p:spPr>
        <p:txBody>
          <a:bodyPr wrap="square" anchor="t"/>
          <a:lstStyle/>
          <a:p>
            <a:pPr algn="l">
              <a:defRPr sz="800" b="0">
                <a:solidFill>
                  <a:srgbClr val="777777"/>
                </a:solidFill>
                <a:latin typeface="Arial"/>
              </a:defRPr>
            </a:pPr>
            <a:r>
              <a:t>CRUD, build, refresh, validate, prompts, skills, tune</a:t>
            </a:r>
          </a:p>
        </p:txBody>
      </p:sp>
      <p:sp>
        <p:nvSpPr>
          <p:cNvPr id="55" name="TextBox 54"/>
          <p:cNvSpPr txBox="1"/>
          <p:nvPr/>
        </p:nvSpPr>
        <p:spPr>
          <a:xfrm>
            <a:off x="8229600" y="2798064"/>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56" name="Rectangle 55"/>
          <p:cNvSpPr/>
          <p:nvPr/>
        </p:nvSpPr>
        <p:spPr>
          <a:xfrm>
            <a:off x="4754880" y="3182112"/>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892040" y="3182112"/>
            <a:ext cx="1188720" cy="201168"/>
          </a:xfrm>
          <a:prstGeom prst="rect">
            <a:avLst/>
          </a:prstGeom>
          <a:noFill/>
        </p:spPr>
        <p:txBody>
          <a:bodyPr wrap="square" anchor="t"/>
          <a:lstStyle/>
          <a:p>
            <a:pPr algn="l">
              <a:defRPr sz="1000" b="1">
                <a:solidFill>
                  <a:srgbClr val="333333"/>
                </a:solidFill>
                <a:latin typeface="Arial"/>
              </a:defRPr>
            </a:pPr>
            <a:r>
              <a:t>Access Control</a:t>
            </a:r>
          </a:p>
        </p:txBody>
      </p:sp>
      <p:sp>
        <p:nvSpPr>
          <p:cNvPr id="58" name="TextBox 57"/>
          <p:cNvSpPr txBox="1"/>
          <p:nvPr/>
        </p:nvSpPr>
        <p:spPr>
          <a:xfrm>
            <a:off x="4892040" y="3364992"/>
            <a:ext cx="3200400" cy="182880"/>
          </a:xfrm>
          <a:prstGeom prst="rect">
            <a:avLst/>
          </a:prstGeom>
          <a:noFill/>
        </p:spPr>
        <p:txBody>
          <a:bodyPr wrap="square" anchor="t"/>
          <a:lstStyle/>
          <a:p>
            <a:pPr algn="l">
              <a:defRPr sz="800" b="0">
                <a:solidFill>
                  <a:srgbClr val="777777"/>
                </a:solidFill>
                <a:latin typeface="Arial"/>
              </a:defRPr>
            </a:pPr>
            <a:r>
              <a:t>roles, permissions, bindings, memberships, principals</a:t>
            </a:r>
          </a:p>
        </p:txBody>
      </p:sp>
      <p:sp>
        <p:nvSpPr>
          <p:cNvPr id="59" name="TextBox 58"/>
          <p:cNvSpPr txBox="1"/>
          <p:nvPr/>
        </p:nvSpPr>
        <p:spPr>
          <a:xfrm>
            <a:off x="8229600" y="3182112"/>
            <a:ext cx="457200" cy="201168"/>
          </a:xfrm>
          <a:prstGeom prst="rect">
            <a:avLst/>
          </a:prstGeom>
          <a:noFill/>
        </p:spPr>
        <p:txBody>
          <a:bodyPr wrap="square" anchor="t"/>
          <a:lstStyle/>
          <a:p>
            <a:pPr algn="r">
              <a:defRPr sz="1000" b="1">
                <a:solidFill>
                  <a:srgbClr val="FF9800"/>
                </a:solidFill>
                <a:latin typeface="Arial"/>
              </a:defRPr>
            </a:pPr>
            <a:r>
              <a:t>14</a:t>
            </a:r>
          </a:p>
        </p:txBody>
      </p:sp>
      <p:sp>
        <p:nvSpPr>
          <p:cNvPr id="60" name="Rectangle 59"/>
          <p:cNvSpPr/>
          <p:nvPr/>
        </p:nvSpPr>
        <p:spPr>
          <a:xfrm>
            <a:off x="4754880" y="356616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892040" y="3566160"/>
            <a:ext cx="1188720" cy="201168"/>
          </a:xfrm>
          <a:prstGeom prst="rect">
            <a:avLst/>
          </a:prstGeom>
          <a:noFill/>
        </p:spPr>
        <p:txBody>
          <a:bodyPr wrap="square" anchor="t"/>
          <a:lstStyle/>
          <a:p>
            <a:pPr algn="l">
              <a:defRPr sz="1000" b="1">
                <a:solidFill>
                  <a:srgbClr val="333333"/>
                </a:solidFill>
                <a:latin typeface="Arial"/>
              </a:defRPr>
            </a:pPr>
            <a:r>
              <a:t>Config</a:t>
            </a:r>
          </a:p>
        </p:txBody>
      </p:sp>
      <p:sp>
        <p:nvSpPr>
          <p:cNvPr id="62" name="TextBox 61"/>
          <p:cNvSpPr txBox="1"/>
          <p:nvPr/>
        </p:nvSpPr>
        <p:spPr>
          <a:xfrm>
            <a:off x="4892040" y="3749040"/>
            <a:ext cx="3200400" cy="182880"/>
          </a:xfrm>
          <a:prstGeom prst="rect">
            <a:avLst/>
          </a:prstGeom>
          <a:noFill/>
        </p:spPr>
        <p:txBody>
          <a:bodyPr wrap="square" anchor="t"/>
          <a:lstStyle/>
          <a:p>
            <a:pPr algn="l">
              <a:defRPr sz="800" b="0">
                <a:solidFill>
                  <a:srgbClr val="777777"/>
                </a:solidFill>
                <a:latin typeface="Arial"/>
              </a:defRPr>
            </a:pPr>
            <a:r>
              <a:t>schema, effective, validate, apply</a:t>
            </a:r>
          </a:p>
        </p:txBody>
      </p:sp>
      <p:sp>
        <p:nvSpPr>
          <p:cNvPr id="63" name="TextBox 62"/>
          <p:cNvSpPr txBox="1"/>
          <p:nvPr/>
        </p:nvSpPr>
        <p:spPr>
          <a:xfrm>
            <a:off x="8229600" y="3566160"/>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4" name="Rectangle 63"/>
          <p:cNvSpPr/>
          <p:nvPr/>
        </p:nvSpPr>
        <p:spPr>
          <a:xfrm>
            <a:off x="4754880" y="395020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892040" y="3950208"/>
            <a:ext cx="1188720" cy="201168"/>
          </a:xfrm>
          <a:prstGeom prst="rect">
            <a:avLst/>
          </a:prstGeom>
          <a:noFill/>
        </p:spPr>
        <p:txBody>
          <a:bodyPr wrap="square" anchor="t"/>
          <a:lstStyle/>
          <a:p>
            <a:pPr algn="l">
              <a:defRPr sz="1000" b="1">
                <a:solidFill>
                  <a:srgbClr val="333333"/>
                </a:solidFill>
                <a:latin typeface="Arial"/>
              </a:defRPr>
            </a:pPr>
            <a:r>
              <a:t>Uploads</a:t>
            </a:r>
          </a:p>
        </p:txBody>
      </p:sp>
      <p:sp>
        <p:nvSpPr>
          <p:cNvPr id="66" name="TextBox 65"/>
          <p:cNvSpPr txBox="1"/>
          <p:nvPr/>
        </p:nvSpPr>
        <p:spPr>
          <a:xfrm>
            <a:off x="4892040" y="4133088"/>
            <a:ext cx="3200400" cy="182880"/>
          </a:xfrm>
          <a:prstGeom prst="rect">
            <a:avLst/>
          </a:prstGeom>
          <a:noFill/>
        </p:spPr>
        <p:txBody>
          <a:bodyPr wrap="square" anchor="t"/>
          <a:lstStyle/>
          <a:p>
            <a:pPr algn="l">
              <a:defRPr sz="800" b="0">
                <a:solidFill>
                  <a:srgbClr val="777777"/>
                </a:solidFill>
                <a:latin typeface="Arial"/>
              </a:defRPr>
            </a:pPr>
            <a:r>
              <a:t>list, get, delete, reindex</a:t>
            </a:r>
          </a:p>
        </p:txBody>
      </p:sp>
      <p:sp>
        <p:nvSpPr>
          <p:cNvPr id="67" name="TextBox 66"/>
          <p:cNvSpPr txBox="1"/>
          <p:nvPr/>
        </p:nvSpPr>
        <p:spPr>
          <a:xfrm>
            <a:off x="8229600" y="3950208"/>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8" name="Rectangle 67"/>
          <p:cNvSpPr/>
          <p:nvPr/>
        </p:nvSpPr>
        <p:spPr>
          <a:xfrm>
            <a:off x="4754880" y="433425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892040" y="4334256"/>
            <a:ext cx="1188720" cy="201168"/>
          </a:xfrm>
          <a:prstGeom prst="rect">
            <a:avLst/>
          </a:prstGeom>
          <a:noFill/>
        </p:spPr>
        <p:txBody>
          <a:bodyPr wrap="square" anchor="t"/>
          <a:lstStyle/>
          <a:p>
            <a:pPr algn="l">
              <a:defRPr sz="1000" b="1">
                <a:solidFill>
                  <a:srgbClr val="333333"/>
                </a:solidFill>
                <a:latin typeface="Arial"/>
              </a:defRPr>
            </a:pPr>
            <a:r>
              <a:t>MCP/System</a:t>
            </a:r>
          </a:p>
        </p:txBody>
      </p:sp>
      <p:sp>
        <p:nvSpPr>
          <p:cNvPr id="70" name="TextBox 69"/>
          <p:cNvSpPr txBox="1"/>
          <p:nvPr/>
        </p:nvSpPr>
        <p:spPr>
          <a:xfrm>
            <a:off x="4892040" y="4517136"/>
            <a:ext cx="3200400" cy="182880"/>
          </a:xfrm>
          <a:prstGeom prst="rect">
            <a:avLst/>
          </a:prstGeom>
          <a:noFill/>
        </p:spPr>
        <p:txBody>
          <a:bodyPr wrap="square" anchor="t"/>
          <a:lstStyle/>
          <a:p>
            <a:pPr algn="l">
              <a:defRPr sz="800" b="0">
                <a:solidFill>
                  <a:srgbClr val="777777"/>
                </a:solidFill>
                <a:latin typeface="Arial"/>
              </a:defRPr>
            </a:pPr>
            <a:r>
              <a:t>connections, operations, overview, architecture</a:t>
            </a:r>
          </a:p>
        </p:txBody>
      </p:sp>
      <p:sp>
        <p:nvSpPr>
          <p:cNvPr id="71" name="TextBox 70"/>
          <p:cNvSpPr txBox="1"/>
          <p:nvPr/>
        </p:nvSpPr>
        <p:spPr>
          <a:xfrm>
            <a:off x="8229600" y="4334256"/>
            <a:ext cx="457200" cy="201168"/>
          </a:xfrm>
          <a:prstGeom prst="rect">
            <a:avLst/>
          </a:prstGeom>
          <a:noFill/>
        </p:spPr>
        <p:txBody>
          <a:bodyPr wrap="square" anchor="t"/>
          <a:lstStyle/>
          <a:p>
            <a:pPr algn="r">
              <a:defRPr sz="1000" b="1">
                <a:solidFill>
                  <a:srgbClr val="FF9800"/>
                </a:solidFill>
                <a:latin typeface="Arial"/>
              </a:defRPr>
            </a:pPr>
            <a:r>
              <a:t>15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Key Subsystems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20040"/>
          </a:xfrm>
          <a:prstGeom prst="rect">
            <a:avLst/>
          </a:prstGeom>
          <a:noFill/>
        </p:spPr>
        <p:txBody>
          <a:bodyPr wrap="square" anchor="t"/>
          <a:lstStyle/>
          <a:p>
            <a:pPr algn="l">
              <a:defRPr sz="1200" b="0">
                <a:solidFill>
                  <a:srgbClr val="555555"/>
                </a:solidFill>
                <a:latin typeface="Arial"/>
              </a:defRPr>
            </a:pPr>
            <a:r>
              <a:t>Three major subsystems added since v2 that expand the harness well beyond simple tool calling.</a:t>
            </a:r>
          </a:p>
        </p:txBody>
      </p:sp>
      <p:sp>
        <p:nvSpPr>
          <p:cNvPr id="6" name="Rectangle 5"/>
          <p:cNvSpPr/>
          <p:nvPr/>
        </p:nvSpPr>
        <p:spPr>
          <a:xfrm>
            <a:off x="5029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25880"/>
            <a:ext cx="260604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463040"/>
            <a:ext cx="2331720" cy="320040"/>
          </a:xfrm>
          <a:prstGeom prst="rect">
            <a:avLst/>
          </a:prstGeom>
          <a:noFill/>
        </p:spPr>
        <p:txBody>
          <a:bodyPr wrap="square" anchor="t"/>
          <a:lstStyle/>
          <a:p>
            <a:pPr algn="ctr">
              <a:defRPr sz="1600" b="1">
                <a:solidFill>
                  <a:srgbClr val="FFFFFF"/>
                </a:solidFill>
                <a:latin typeface="Arial"/>
              </a:defRPr>
            </a:pPr>
            <a:r>
              <a:t>GRAPHRAG</a:t>
            </a:r>
          </a:p>
        </p:txBody>
      </p:sp>
      <p:sp>
        <p:nvSpPr>
          <p:cNvPr id="9" name="TextBox 8"/>
          <p:cNvSpPr txBox="1"/>
          <p:nvPr/>
        </p:nvSpPr>
        <p:spPr>
          <a:xfrm>
            <a:off x="640080" y="1828800"/>
            <a:ext cx="2331720" cy="274320"/>
          </a:xfrm>
          <a:prstGeom prst="rect">
            <a:avLst/>
          </a:prstGeom>
          <a:noFill/>
        </p:spPr>
        <p:txBody>
          <a:bodyPr wrap="square" anchor="t"/>
          <a:lstStyle/>
          <a:p>
            <a:pPr algn="ctr">
              <a:defRPr sz="1100" b="0">
                <a:solidFill>
                  <a:srgbClr val="0097A7"/>
                </a:solidFill>
                <a:latin typeface="Arial"/>
              </a:defRPr>
            </a:pPr>
            <a:r>
              <a:t>Knowledge Graph Integration</a:t>
            </a:r>
          </a:p>
        </p:txBody>
      </p:sp>
      <p:sp>
        <p:nvSpPr>
          <p:cNvPr id="10" name="Rectangle 9"/>
          <p:cNvSpPr/>
          <p:nvPr/>
        </p:nvSpPr>
        <p:spPr>
          <a:xfrm>
            <a:off x="868680" y="2194560"/>
            <a:ext cx="1874520" cy="18288"/>
          </a:xfrm>
          <a:prstGeom prst="rect">
            <a:avLst/>
          </a:prstGeom>
          <a:solidFill>
            <a:srgbClr val="33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331720"/>
            <a:ext cx="2331720" cy="2286000"/>
          </a:xfrm>
          <a:prstGeom prst="rect">
            <a:avLst/>
          </a:prstGeom>
          <a:noFill/>
        </p:spPr>
        <p:txBody>
          <a:bodyPr wrap="square" anchor="t"/>
          <a:lstStyle/>
          <a:p>
            <a:pPr algn="l">
              <a:defRPr sz="900" b="0">
                <a:solidFill>
                  <a:srgbClr val="CCCCCC"/>
                </a:solidFill>
                <a:latin typeface="Arial"/>
              </a:defRPr>
            </a:pPr>
            <a:r>
              <a:t>graph/ module with 10 files</a:t>
            </a:r>
            <a:br/>
            <a:r>
              <a:t>graph_manager agent</a:t>
            </a:r>
            <a:br/>
            <a:r>
              <a:t>8 dedicated tools</a:t>
            </a:r>
            <a:br/>
            <a:r>
              <a:t>Phased corpus indexing</a:t>
            </a:r>
            <a:br/>
            <a:r>
              <a:t>Community report recovery</a:t>
            </a:r>
            <a:br/>
            <a:r>
              <a:t>Structured search + planning</a:t>
            </a:r>
            <a:br/>
            <a:r>
              <a:t>Prompt tuning per graph</a:t>
            </a:r>
          </a:p>
        </p:txBody>
      </p:sp>
      <p:sp>
        <p:nvSpPr>
          <p:cNvPr id="12" name="Rectangle 11"/>
          <p:cNvSpPr/>
          <p:nvPr/>
        </p:nvSpPr>
        <p:spPr>
          <a:xfrm>
            <a:off x="32461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46120" y="1325880"/>
            <a:ext cx="260604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83280" y="1463040"/>
            <a:ext cx="2331720" cy="320040"/>
          </a:xfrm>
          <a:prstGeom prst="rect">
            <a:avLst/>
          </a:prstGeom>
          <a:noFill/>
        </p:spPr>
        <p:txBody>
          <a:bodyPr wrap="square" anchor="t"/>
          <a:lstStyle/>
          <a:p>
            <a:pPr algn="ctr">
              <a:defRPr sz="1600" b="1">
                <a:solidFill>
                  <a:srgbClr val="FFFFFF"/>
                </a:solidFill>
                <a:latin typeface="Arial"/>
              </a:defRPr>
            </a:pPr>
            <a:r>
              <a:t>MCP</a:t>
            </a:r>
          </a:p>
        </p:txBody>
      </p:sp>
      <p:sp>
        <p:nvSpPr>
          <p:cNvPr id="15" name="TextBox 14"/>
          <p:cNvSpPr txBox="1"/>
          <p:nvPr/>
        </p:nvSpPr>
        <p:spPr>
          <a:xfrm>
            <a:off x="3383280" y="1828800"/>
            <a:ext cx="2331720" cy="274320"/>
          </a:xfrm>
          <a:prstGeom prst="rect">
            <a:avLst/>
          </a:prstGeom>
          <a:noFill/>
        </p:spPr>
        <p:txBody>
          <a:bodyPr wrap="square" anchor="t"/>
          <a:lstStyle/>
          <a:p>
            <a:pPr algn="ctr">
              <a:defRPr sz="1100" b="0">
                <a:solidFill>
                  <a:srgbClr val="FF9800"/>
                </a:solidFill>
                <a:latin typeface="Arial"/>
              </a:defRPr>
            </a:pPr>
            <a:r>
              <a:t>Model Context Protocol</a:t>
            </a:r>
          </a:p>
        </p:txBody>
      </p:sp>
      <p:sp>
        <p:nvSpPr>
          <p:cNvPr id="16" name="Rectangle 15"/>
          <p:cNvSpPr/>
          <p:nvPr/>
        </p:nvSpPr>
        <p:spPr>
          <a:xfrm>
            <a:off x="3611880" y="2194560"/>
            <a:ext cx="1874520" cy="18288"/>
          </a:xfrm>
          <a:prstGeom prst="rect">
            <a:avLst/>
          </a:prstGeom>
          <a:solidFill>
            <a:srgbClr val="554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2331720"/>
            <a:ext cx="2331720" cy="2286000"/>
          </a:xfrm>
          <a:prstGeom prst="rect">
            <a:avLst/>
          </a:prstGeom>
          <a:noFill/>
        </p:spPr>
        <p:txBody>
          <a:bodyPr wrap="square" anchor="t"/>
          <a:lstStyle/>
          <a:p>
            <a:pPr algn="l">
              <a:defRPr sz="900" b="0">
                <a:solidFill>
                  <a:srgbClr val="CCCCCC"/>
                </a:solidFill>
                <a:latin typeface="Arial"/>
              </a:defRPr>
            </a:pPr>
            <a:r>
              <a:t>mcp/ service + client modules</a:t>
            </a:r>
            <a:br/>
            <a:r>
              <a:t>Dynamic tool registration</a:t>
            </a:r>
            <a:br/>
            <a:r>
              <a:t>8 API endpoints for connections</a:t>
            </a:r>
            <a:br/>
            <a:r>
              <a:t>Security-scoped tool access</a:t>
            </a:r>
            <a:br/>
            <a:r>
              <a:t>Connection test + refresh</a:t>
            </a:r>
            <a:br/>
            <a:r>
              <a:t>Per-tool enable/disable</a:t>
            </a:r>
            <a:br/>
            <a:r>
              <a:t>External server integration</a:t>
            </a:r>
          </a:p>
        </p:txBody>
      </p:sp>
      <p:sp>
        <p:nvSpPr>
          <p:cNvPr id="18" name="Rectangle 17"/>
          <p:cNvSpPr/>
          <p:nvPr/>
        </p:nvSpPr>
        <p:spPr>
          <a:xfrm>
            <a:off x="603504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35040" y="1325880"/>
            <a:ext cx="260604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72200" y="1463040"/>
            <a:ext cx="2331720" cy="320040"/>
          </a:xfrm>
          <a:prstGeom prst="rect">
            <a:avLst/>
          </a:prstGeom>
          <a:noFill/>
        </p:spPr>
        <p:txBody>
          <a:bodyPr wrap="square" anchor="t"/>
          <a:lstStyle/>
          <a:p>
            <a:pPr algn="ctr">
              <a:defRPr sz="1600" b="1">
                <a:solidFill>
                  <a:srgbClr val="FFFFFF"/>
                </a:solidFill>
                <a:latin typeface="Arial"/>
              </a:defRPr>
            </a:pPr>
            <a:r>
              <a:t>WORKER SYSTEM</a:t>
            </a:r>
          </a:p>
        </p:txBody>
      </p:sp>
      <p:sp>
        <p:nvSpPr>
          <p:cNvPr id="21" name="TextBox 20"/>
          <p:cNvSpPr txBox="1"/>
          <p:nvPr/>
        </p:nvSpPr>
        <p:spPr>
          <a:xfrm>
            <a:off x="6172200" y="1828800"/>
            <a:ext cx="2331720" cy="274320"/>
          </a:xfrm>
          <a:prstGeom prst="rect">
            <a:avLst/>
          </a:prstGeom>
          <a:noFill/>
        </p:spPr>
        <p:txBody>
          <a:bodyPr wrap="square" anchor="t"/>
          <a:lstStyle/>
          <a:p>
            <a:pPr algn="ctr">
              <a:defRPr sz="1100" b="0">
                <a:solidFill>
                  <a:srgbClr val="7C4DFF"/>
                </a:solidFill>
                <a:latin typeface="Arial"/>
              </a:defRPr>
            </a:pPr>
            <a:r>
              <a:t>Multi-Agent Coordination</a:t>
            </a:r>
          </a:p>
        </p:txBody>
      </p:sp>
      <p:sp>
        <p:nvSpPr>
          <p:cNvPr id="22" name="Rectangle 21"/>
          <p:cNvSpPr/>
          <p:nvPr/>
        </p:nvSpPr>
        <p:spPr>
          <a:xfrm>
            <a:off x="6400800" y="2194560"/>
            <a:ext cx="1874520" cy="18288"/>
          </a:xfrm>
          <a:prstGeom prst="rect">
            <a:avLst/>
          </a:prstGeom>
          <a:solidFill>
            <a:srgbClr val="44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72200" y="2331720"/>
            <a:ext cx="2331720" cy="2286000"/>
          </a:xfrm>
          <a:prstGeom prst="rect">
            <a:avLst/>
          </a:prstGeom>
          <a:noFill/>
        </p:spPr>
        <p:txBody>
          <a:bodyPr wrap="square" anchor="t"/>
          <a:lstStyle/>
          <a:p>
            <a:pPr algn="l">
              <a:defRPr sz="900" b="0">
                <a:solidFill>
                  <a:srgbClr val="CCCCCC"/>
                </a:solidFill>
                <a:latin typeface="Arial"/>
              </a:defRPr>
            </a:pPr>
            <a:r>
              <a:t>14 orchestration tools</a:t>
            </a:r>
            <a:br/>
            <a:r>
              <a:t>spawn_worker / message_worker</a:t>
            </a:r>
            <a:br/>
            <a:r>
              <a:t>Team mailbox channels</a:t>
            </a:r>
            <a:br/>
            <a:r>
              <a:t>Parent question/approval flow</a:t>
            </a:r>
            <a:br/>
            <a:r>
              <a:t>Worker request/response cycle</a:t>
            </a:r>
            <a:br/>
            <a:r>
              <a:t>Job listing and control</a:t>
            </a:r>
            <a:br/>
            <a:r>
              <a:t>Cross-agent artifact handoff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Three-Layer Runtime Architecture</a:t>
            </a:r>
            <a:endParaRPr lang="en-US" sz="2600" dirty="0"/>
          </a:p>
        </p:txBody>
      </p:sp>
      <p:sp>
        <p:nvSpPr>
          <p:cNvPr id="3" name="Shape 1"/>
          <p:cNvSpPr/>
          <p:nvPr/>
        </p:nvSpPr>
        <p:spPr>
          <a:xfrm>
            <a:off x="1828800" y="1051560"/>
            <a:ext cx="5486400" cy="9144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828800" y="1051560"/>
            <a:ext cx="5486400" cy="9144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965960" y="112471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RuntimeService</a:t>
            </a:r>
            <a:endParaRPr lang="en-US" sz="1600" dirty="0"/>
          </a:p>
        </p:txBody>
      </p:sp>
      <p:sp>
        <p:nvSpPr>
          <p:cNvPr id="6" name="Text 4"/>
          <p:cNvSpPr/>
          <p:nvPr/>
        </p:nvSpPr>
        <p:spPr>
          <a:xfrm>
            <a:off x="1965960" y="141732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Orchestration entry point. Owns routing, workspace setup, KB readiness.</a:t>
            </a:r>
            <a:endParaRPr lang="en-US" sz="1000" dirty="0"/>
          </a:p>
        </p:txBody>
      </p:sp>
      <p:sp>
        <p:nvSpPr>
          <p:cNvPr id="7" name="Text 5"/>
          <p:cNvSpPr/>
          <p:nvPr/>
        </p:nvSpPr>
        <p:spPr>
          <a:xfrm>
            <a:off x="5532120" y="141732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app/service.py</a:t>
            </a:r>
            <a:endParaRPr lang="en-US" sz="900" dirty="0"/>
          </a:p>
        </p:txBody>
      </p:sp>
      <p:sp>
        <p:nvSpPr>
          <p:cNvPr id="8" name="Shape 6"/>
          <p:cNvSpPr/>
          <p:nvPr/>
        </p:nvSpPr>
        <p:spPr>
          <a:xfrm>
            <a:off x="4572000" y="1965960"/>
            <a:ext cx="0" cy="22860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828800" y="2240280"/>
            <a:ext cx="5486400" cy="9144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828800" y="224028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965960" y="231343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RuntimeKernel</a:t>
            </a:r>
            <a:endParaRPr lang="en-US" sz="1600" dirty="0"/>
          </a:p>
        </p:txBody>
      </p:sp>
      <p:sp>
        <p:nvSpPr>
          <p:cNvPr id="13" name="Text 11"/>
          <p:cNvSpPr/>
          <p:nvPr/>
        </p:nvSpPr>
        <p:spPr>
          <a:xfrm>
            <a:off x="1965960" y="260604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Session state, persistence, event emission, job management. Delegates to 3 controller classes.</a:t>
            </a:r>
            <a:endParaRPr lang="en-US" sz="1000" dirty="0"/>
          </a:p>
        </p:txBody>
      </p:sp>
      <p:sp>
        <p:nvSpPr>
          <p:cNvPr id="14" name="Text 12"/>
          <p:cNvSpPr/>
          <p:nvPr/>
        </p:nvSpPr>
        <p:spPr>
          <a:xfrm>
            <a:off x="5532120" y="260604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runtime/kernel.py (~1780 lines)</a:t>
            </a:r>
            <a:endParaRPr lang="en-US" sz="900" dirty="0"/>
          </a:p>
        </p:txBody>
      </p:sp>
      <p:sp>
        <p:nvSpPr>
          <p:cNvPr id="15" name="Shape 13"/>
          <p:cNvSpPr/>
          <p:nvPr/>
        </p:nvSpPr>
        <p:spPr>
          <a:xfrm>
            <a:off x="4572000" y="3154680"/>
            <a:ext cx="0" cy="22860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33101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828800" y="3429000"/>
            <a:ext cx="5486400" cy="9144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828800" y="342900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965960" y="350215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QueryLoop</a:t>
            </a:r>
            <a:endParaRPr lang="en-US" sz="1600" dirty="0"/>
          </a:p>
        </p:txBody>
      </p:sp>
      <p:sp>
        <p:nvSpPr>
          <p:cNvPr id="20" name="Text 18"/>
          <p:cNvSpPr/>
          <p:nvPr/>
        </p:nvSpPr>
        <p:spPr>
          <a:xfrm>
            <a:off x="1965960" y="379476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Mode dispatcher. Runs LLM calls in the correct mode.</a:t>
            </a:r>
            <a:endParaRPr lang="en-US" sz="1000" dirty="0"/>
          </a:p>
        </p:txBody>
      </p:sp>
      <p:sp>
        <p:nvSpPr>
          <p:cNvPr id="21" name="Text 19"/>
          <p:cNvSpPr/>
          <p:nvPr/>
        </p:nvSpPr>
        <p:spPr>
          <a:xfrm>
            <a:off x="5532120" y="379476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runtime/query_loop.py</a:t>
            </a:r>
            <a:endParaRPr lang="en-US" sz="900" dirty="0"/>
          </a:p>
        </p:txBody>
      </p:sp>
      <p:sp>
        <p:nvSpPr>
          <p:cNvPr id="22" name="Shape 20"/>
          <p:cNvSpPr/>
          <p:nvPr/>
        </p:nvSpPr>
        <p:spPr>
          <a:xfrm>
            <a:off x="502920" y="457200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5720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Service = receptionist (what does the user need?)   |   Kernel = operations manager (setup, track, persist)   |   QueryLoop = specialist (do the work)</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1: RuntimeService — The Orchestrator</a:t>
            </a:r>
            <a:endParaRPr lang="en-US" sz="2600" dirty="0"/>
          </a:p>
        </p:txBody>
      </p:sp>
      <p:sp>
        <p:nvSpPr>
          <p:cNvPr id="3" name="Text 1"/>
          <p:cNvSpPr/>
          <p:nvPr/>
        </p:nvSpPr>
        <p:spPr>
          <a:xfrm>
            <a:off x="502920" y="1005840"/>
            <a:ext cx="3840480" cy="2377440"/>
          </a:xfrm>
          <a:prstGeom prst="rect">
            <a:avLst/>
          </a:prstGeom>
          <a:noFill/>
          <a:ln/>
        </p:spPr>
        <p:txBody>
          <a:bodyPr wrap="square" lIns="0" tIns="0" rIns="0" bIns="0" rtlCol="0" anchor="t"/>
          <a:lstStyle/>
          <a:p>
            <a:pPr marL="0" indent="0">
              <a:lnSpc>
                <a:spcPct val="135000"/>
              </a:lnSpc>
              <a:buNone/>
            </a:pPr>
            <a:r>
              <a:rPr lang="en-US" sz="1000" dirty="0">
                <a:solidFill>
                  <a:srgbClr val="333333"/>
                </a:solidFill>
                <a:latin typeface="Arial" pitchFamily="34" charset="0"/>
                <a:ea typeface="Arial" pitchFamily="34" charset="-122"/>
                <a:cs typeface="Arial" pitchFamily="34" charset="-120"/>
              </a:rPr>
              <a:t>1. Opens/ensures SessionWorkspace for each session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2. Checks KB readiness via ensure_kb_indexed()</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3. Ingests uploaded files via ingest_and_summarize_uploads()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4. Calls router -&gt; gets RouterDecision(route, confidence, reasons, suggested_agent)</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5. If BASIC -&gt; delegates to kernel.process_basic_turn()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6. If AGENT -&gt; choose_agent_name() -&gt; kernel.process_agent_turn()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7. Handles requested_agent_override for manual agent selection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8. Circuit breaker: degrades to basic mode if agent LLM fails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9. Registers/unregisters progress sinks in try/finally</a:t>
            </a:r>
            <a:endParaRPr lang="en-US" sz="1000" dirty="0"/>
          </a:p>
        </p:txBody>
      </p:sp>
      <p:sp>
        <p:nvSpPr>
          <p:cNvPr id="4" name="Shape 2"/>
          <p:cNvSpPr/>
          <p:nvPr/>
        </p:nvSpPr>
        <p:spPr>
          <a:xfrm>
            <a:off x="4572000" y="1005840"/>
            <a:ext cx="4114800" cy="2377440"/>
          </a:xfrm>
          <a:prstGeom prst="rect">
            <a:avLst/>
          </a:prstGeom>
          <a:solidFill>
            <a:srgbClr val="2D2D2D"/>
          </a:solidFill>
          <a:ln/>
        </p:spPr>
        <p:txBody>
          <a:bodyPr/>
          <a:lstStyle/>
          <a:p>
            <a:endParaRPr lang="en-US"/>
          </a:p>
        </p:txBody>
      </p:sp>
      <p:sp>
        <p:nvSpPr>
          <p:cNvPr id="5" name="Text 3"/>
          <p:cNvSpPr/>
          <p:nvPr/>
        </p:nvSpPr>
        <p:spPr>
          <a:xfrm>
            <a:off x="4681728" y="1060704"/>
            <a:ext cx="389534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process_turn(session, user_text,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upload_paths,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self._ensure_workspace(session)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self._ensure_kb_ready(tenant_id)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if upload_paths: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self.ingest_and_summarize_uploads(...)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decision = route_turn(...)  # Router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if decision.route == "BASIC":</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return kernel.process_basic_turn(...)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agent = choose_agent_name(decision)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return kernel.process_agent_turn(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agent_name=agent, ...)</a:t>
            </a:r>
            <a:endParaRPr lang="en-US" sz="900" dirty="0"/>
          </a:p>
        </p:txBody>
      </p:sp>
      <p:sp>
        <p:nvSpPr>
          <p:cNvPr id="6" name="Text 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app/service.py — process_turn() at line ~298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Router — How the System Decides What to Do</a:t>
            </a:r>
            <a:endParaRPr lang="en-US" sz="2600" dirty="0"/>
          </a:p>
        </p:txBody>
      </p:sp>
      <p:sp>
        <p:nvSpPr>
          <p:cNvPr id="3" name="Shape 1"/>
          <p:cNvSpPr/>
          <p:nvPr/>
        </p:nvSpPr>
        <p:spPr>
          <a:xfrm>
            <a:off x="502920" y="1005840"/>
            <a:ext cx="384048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1: Deterministic Router</a:t>
            </a:r>
            <a:endParaRPr lang="en-US" sz="1200" dirty="0"/>
          </a:p>
        </p:txBody>
      </p:sp>
      <p:sp>
        <p:nvSpPr>
          <p:cNvPr id="6" name="Text 4"/>
          <p:cNvSpPr/>
          <p:nvPr/>
        </p:nvSpPr>
        <p:spPr>
          <a:xfrm>
            <a:off x="612648" y="1389888"/>
            <a:ext cx="362102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Regex pattern matching on user text.
Fast, predictable, zero LLM cost.
Always runs first.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router/router.py</a:t>
            </a:r>
            <a:endParaRPr lang="en-US" sz="1000" dirty="0"/>
          </a:p>
        </p:txBody>
      </p:sp>
      <p:sp>
        <p:nvSpPr>
          <p:cNvPr id="7" name="Shape 5"/>
          <p:cNvSpPr/>
          <p:nvPr/>
        </p:nvSpPr>
        <p:spPr>
          <a:xfrm>
            <a:off x="4114800" y="1554480"/>
            <a:ext cx="914400" cy="457200"/>
          </a:xfrm>
          <a:prstGeom prst="rect">
            <a:avLst/>
          </a:prstGeom>
          <a:solidFill>
            <a:srgbClr val="F9A825"/>
          </a:solidFill>
          <a:ln/>
        </p:spPr>
        <p:txBody>
          <a:bodyPr/>
          <a:lstStyle/>
          <a:p>
            <a:endParaRPr lang="en-US"/>
          </a:p>
        </p:txBody>
      </p:sp>
      <p:sp>
        <p:nvSpPr>
          <p:cNvPr id="8" name="Text 6"/>
          <p:cNvSpPr/>
          <p:nvPr/>
        </p:nvSpPr>
        <p:spPr>
          <a:xfrm>
            <a:off x="4114800" y="1554480"/>
            <a:ext cx="914400" cy="457200"/>
          </a:xfrm>
          <a:prstGeom prst="rect">
            <a:avLst/>
          </a:prstGeom>
          <a:noFill/>
          <a:ln/>
        </p:spPr>
        <p:txBody>
          <a:bodyPr wrap="square" lIns="0" tIns="0" rIns="0" bIns="0" rtlCol="0" anchor="ctr"/>
          <a:lstStyle/>
          <a:p>
            <a:pPr marL="0" indent="0" algn="ctr">
              <a:buNone/>
            </a:pPr>
            <a:r>
              <a:rPr lang="en-US" sz="1000" b="1" dirty="0">
                <a:solidFill>
                  <a:srgbClr val="1B2A4A"/>
                </a:solidFill>
                <a:latin typeface="Arial" pitchFamily="34" charset="0"/>
                <a:ea typeface="Arial" pitchFamily="34" charset="-122"/>
                <a:cs typeface="Arial" pitchFamily="34" charset="-120"/>
              </a:rPr>
              <a:t>&lt; 0.70?</a:t>
            </a:r>
            <a:endParaRPr lang="en-US" sz="1000" dirty="0"/>
          </a:p>
        </p:txBody>
      </p:sp>
      <p:sp>
        <p:nvSpPr>
          <p:cNvPr id="9" name="Shape 7"/>
          <p:cNvSpPr/>
          <p:nvPr/>
        </p:nvSpPr>
        <p:spPr>
          <a:xfrm>
            <a:off x="3977640" y="178308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0507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029200" y="1783080"/>
            <a:ext cx="137160" cy="0"/>
          </a:xfrm>
          <a:prstGeom prst="line">
            <a:avLst/>
          </a:prstGeom>
          <a:noFill/>
          <a:ln w="25400">
            <a:solidFill>
              <a:srgbClr val="0097A7"/>
            </a:solidFill>
            <a:prstDash val="solid"/>
          </a:ln>
        </p:spPr>
        <p:txBody>
          <a:bodyPr/>
          <a:lstStyle/>
          <a:p>
            <a:endParaRPr lang="en-US"/>
          </a:p>
        </p:txBody>
      </p:sp>
      <p:sp>
        <p:nvSpPr>
          <p:cNvPr id="12" name="Text 10"/>
          <p:cNvSpPr/>
          <p:nvPr/>
        </p:nvSpPr>
        <p:spPr>
          <a:xfrm>
            <a:off x="505663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3" name="Shape 11"/>
          <p:cNvSpPr/>
          <p:nvPr/>
        </p:nvSpPr>
        <p:spPr>
          <a:xfrm>
            <a:off x="5212080" y="1005840"/>
            <a:ext cx="347472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212080" y="1005840"/>
            <a:ext cx="3474720" cy="320040"/>
          </a:xfrm>
          <a:prstGeom prst="rect">
            <a:avLst/>
          </a:prstGeom>
          <a:solidFill>
            <a:srgbClr val="1B2A4A"/>
          </a:solidFill>
          <a:ln/>
        </p:spPr>
        <p:txBody>
          <a:bodyPr/>
          <a:lstStyle/>
          <a:p>
            <a:endParaRPr lang="en-US"/>
          </a:p>
        </p:txBody>
      </p:sp>
      <p:sp>
        <p:nvSpPr>
          <p:cNvPr id="15" name="Text 13"/>
          <p:cNvSpPr/>
          <p:nvPr/>
        </p:nvSpPr>
        <p:spPr>
          <a:xfrm>
            <a:off x="5321808" y="1033272"/>
            <a:ext cx="32552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2: LLM Judge (Conditional)</a:t>
            </a:r>
            <a:endParaRPr lang="en-US" sz="1200" dirty="0"/>
          </a:p>
        </p:txBody>
      </p:sp>
      <p:sp>
        <p:nvSpPr>
          <p:cNvPr id="16" name="Text 14"/>
          <p:cNvSpPr/>
          <p:nvPr/>
        </p:nvSpPr>
        <p:spPr>
          <a:xfrm>
            <a:off x="5321808" y="1389888"/>
            <a:ext cx="325526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Only fires when deterministic confidence &lt; 0.70.
Uses small fast LLM to re-evaluate.
Sees full agent list.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router/llm_router.py</a:t>
            </a:r>
            <a:endParaRPr lang="en-US" sz="1000" dirty="0"/>
          </a:p>
        </p:txBody>
      </p:sp>
      <p:sp>
        <p:nvSpPr>
          <p:cNvPr id="17" name="Shape 15"/>
          <p:cNvSpPr/>
          <p:nvPr/>
        </p:nvSpPr>
        <p:spPr>
          <a:xfrm>
            <a:off x="502920" y="2926080"/>
            <a:ext cx="8138160" cy="502920"/>
          </a:xfrm>
          <a:prstGeom prst="rect">
            <a:avLst/>
          </a:prstGeom>
          <a:solidFill>
            <a:srgbClr val="F5F5F5"/>
          </a:solidFill>
          <a:ln w="12700">
            <a:solidFill>
              <a:srgbClr val="0097A7"/>
            </a:solidFill>
            <a:prstDash val="solid"/>
          </a:ln>
        </p:spPr>
        <p:txBody>
          <a:bodyPr/>
          <a:lstStyle/>
          <a:p>
            <a:endParaRPr lang="en-US"/>
          </a:p>
        </p:txBody>
      </p:sp>
      <p:sp>
        <p:nvSpPr>
          <p:cNvPr id="18" name="Text 16"/>
          <p:cNvSpPr/>
          <p:nvPr/>
        </p:nvSpPr>
        <p:spPr>
          <a:xfrm>
            <a:off x="640080" y="2926080"/>
            <a:ext cx="7863840" cy="5029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 xml:space="preserve">Output: </a:t>
            </a:r>
            <a:r>
              <a:rPr lang="en-US" sz="1000" dirty="0">
                <a:solidFill>
                  <a:srgbClr val="1B2A4A"/>
                </a:solidFill>
                <a:latin typeface="Courier New" pitchFamily="34" charset="0"/>
                <a:ea typeface="Courier New" pitchFamily="34" charset="-122"/>
                <a:cs typeface="Courier New" pitchFamily="34" charset="-120"/>
              </a:rPr>
              <a:t>RouterDecision(route="BASIC"|"AGENT", confidence=0.0-1.0, reasons=[...], suggested_agent="...")</a:t>
            </a:r>
            <a:endParaRPr lang="en-US" sz="1100" dirty="0"/>
          </a:p>
        </p:txBody>
      </p:sp>
      <p:sp>
        <p:nvSpPr>
          <p:cNvPr id="19" name="Shape 17"/>
          <p:cNvSpPr/>
          <p:nvPr/>
        </p:nvSpPr>
        <p:spPr>
          <a:xfrm>
            <a:off x="502920" y="3657600"/>
            <a:ext cx="8138160" cy="3657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6576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Three modes via llm_router_mode: 'hybrid' (default), 'llm_only', or disabled. build_router_targets() dynamically discovers agents from registry.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All 12 Agent Roles at a Glance</a:t>
            </a:r>
            <a:endParaRPr lang="en-US" sz="2600" dirty="0"/>
          </a:p>
        </p:txBody>
      </p:sp>
      <p:sp>
        <p:nvSpPr>
          <p:cNvPr id="3" name="Shape 1"/>
          <p:cNvSpPr/>
          <p:nvPr/>
        </p:nvSpPr>
        <p:spPr>
          <a:xfrm>
            <a:off x="59436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65836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basic</a:t>
            </a:r>
            <a:endParaRPr lang="en-US" sz="1000" dirty="0"/>
          </a:p>
        </p:txBody>
      </p:sp>
      <p:sp>
        <p:nvSpPr>
          <p:cNvPr id="5" name="Text 3"/>
          <p:cNvSpPr/>
          <p:nvPr/>
        </p:nvSpPr>
        <p:spPr>
          <a:xfrm>
            <a:off x="65836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mode:basic</a:t>
            </a:r>
            <a:endParaRPr lang="en-US" sz="750" dirty="0"/>
          </a:p>
        </p:txBody>
      </p:sp>
      <p:sp>
        <p:nvSpPr>
          <p:cNvPr id="6" name="Text 4"/>
          <p:cNvSpPr/>
          <p:nvPr/>
        </p:nvSpPr>
        <p:spPr>
          <a:xfrm>
            <a:off x="65836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7" name="Text 5"/>
          <p:cNvSpPr/>
          <p:nvPr/>
        </p:nvSpPr>
        <p:spPr>
          <a:xfrm>
            <a:off x="65836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LLM, no tools</a:t>
            </a:r>
            <a:endParaRPr lang="en-US" sz="850" dirty="0"/>
          </a:p>
        </p:txBody>
      </p:sp>
      <p:sp>
        <p:nvSpPr>
          <p:cNvPr id="8" name="Text 6"/>
          <p:cNvSpPr/>
          <p:nvPr/>
        </p:nvSpPr>
        <p:spPr>
          <a:xfrm>
            <a:off x="65836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9" name="Shape 7"/>
          <p:cNvSpPr/>
          <p:nvPr/>
        </p:nvSpPr>
        <p:spPr>
          <a:xfrm>
            <a:off x="260604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67004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general</a:t>
            </a:r>
            <a:endParaRPr lang="en-US" sz="1000" dirty="0"/>
          </a:p>
        </p:txBody>
      </p:sp>
      <p:sp>
        <p:nvSpPr>
          <p:cNvPr id="11" name="Text 9"/>
          <p:cNvSpPr/>
          <p:nvPr/>
        </p:nvSpPr>
        <p:spPr>
          <a:xfrm>
            <a:off x="267004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12" name="Text 10"/>
          <p:cNvSpPr/>
          <p:nvPr/>
        </p:nvSpPr>
        <p:spPr>
          <a:xfrm>
            <a:off x="267004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33 tools</a:t>
            </a:r>
            <a:endParaRPr lang="en-US" sz="750" dirty="0"/>
          </a:p>
        </p:txBody>
      </p:sp>
      <p:sp>
        <p:nvSpPr>
          <p:cNvPr id="13" name="Text 11"/>
          <p:cNvSpPr/>
          <p:nvPr/>
        </p:nvSpPr>
        <p:spPr>
          <a:xfrm>
            <a:off x="267004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Swiss army knife + graph</a:t>
            </a:r>
            <a:endParaRPr lang="en-US" sz="850" dirty="0"/>
          </a:p>
        </p:txBody>
      </p:sp>
      <p:sp>
        <p:nvSpPr>
          <p:cNvPr id="14" name="Text 12"/>
          <p:cNvSpPr/>
          <p:nvPr/>
        </p:nvSpPr>
        <p:spPr>
          <a:xfrm>
            <a:off x="267004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15" name="Shape 13"/>
          <p:cNvSpPr/>
          <p:nvPr/>
        </p:nvSpPr>
        <p:spPr>
          <a:xfrm>
            <a:off x="4617720" y="91440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81728" y="95097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coordinator</a:t>
            </a:r>
            <a:endParaRPr lang="en-US" sz="1000" dirty="0"/>
          </a:p>
        </p:txBody>
      </p:sp>
      <p:sp>
        <p:nvSpPr>
          <p:cNvPr id="17" name="Text 15"/>
          <p:cNvSpPr/>
          <p:nvPr/>
        </p:nvSpPr>
        <p:spPr>
          <a:xfrm>
            <a:off x="468172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mode:coordinator</a:t>
            </a:r>
            <a:endParaRPr lang="en-US" sz="750" dirty="0"/>
          </a:p>
        </p:txBody>
      </p:sp>
      <p:sp>
        <p:nvSpPr>
          <p:cNvPr id="18" name="Text 16"/>
          <p:cNvSpPr/>
          <p:nvPr/>
        </p:nvSpPr>
        <p:spPr>
          <a:xfrm>
            <a:off x="468172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11 tools</a:t>
            </a:r>
            <a:endParaRPr lang="en-US" sz="750" dirty="0"/>
          </a:p>
        </p:txBody>
      </p:sp>
      <p:sp>
        <p:nvSpPr>
          <p:cNvPr id="19" name="Text 17"/>
          <p:cNvSpPr/>
          <p:nvPr/>
        </p:nvSpPr>
        <p:spPr>
          <a:xfrm>
            <a:off x="468172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Project manager</a:t>
            </a:r>
            <a:endParaRPr lang="en-US" sz="850" dirty="0"/>
          </a:p>
        </p:txBody>
      </p:sp>
      <p:sp>
        <p:nvSpPr>
          <p:cNvPr id="20" name="Text 18"/>
          <p:cNvSpPr/>
          <p:nvPr/>
        </p:nvSpPr>
        <p:spPr>
          <a:xfrm>
            <a:off x="468172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manager</a:t>
            </a:r>
            <a:endParaRPr lang="en-US" sz="700" dirty="0"/>
          </a:p>
        </p:txBody>
      </p:sp>
      <p:sp>
        <p:nvSpPr>
          <p:cNvPr id="21" name="Shape 19"/>
          <p:cNvSpPr/>
          <p:nvPr/>
        </p:nvSpPr>
        <p:spPr>
          <a:xfrm>
            <a:off x="662940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69340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data_analyst</a:t>
            </a:r>
            <a:endParaRPr lang="en-US" sz="1000" dirty="0"/>
          </a:p>
        </p:txBody>
      </p:sp>
      <p:sp>
        <p:nvSpPr>
          <p:cNvPr id="23" name="Text 21"/>
          <p:cNvSpPr/>
          <p:nvPr/>
        </p:nvSpPr>
        <p:spPr>
          <a:xfrm>
            <a:off x="669340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24" name="Text 22"/>
          <p:cNvSpPr/>
          <p:nvPr/>
        </p:nvSpPr>
        <p:spPr>
          <a:xfrm>
            <a:off x="669340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20 tools</a:t>
            </a:r>
            <a:endParaRPr lang="en-US" sz="750" dirty="0"/>
          </a:p>
        </p:txBody>
      </p:sp>
      <p:sp>
        <p:nvSpPr>
          <p:cNvPr id="25" name="Text 23"/>
          <p:cNvSpPr/>
          <p:nvPr/>
        </p:nvSpPr>
        <p:spPr>
          <a:xfrm>
            <a:off x="669340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Sandbox specialist</a:t>
            </a:r>
            <a:endParaRPr lang="en-US" sz="850" dirty="0"/>
          </a:p>
        </p:txBody>
      </p:sp>
      <p:sp>
        <p:nvSpPr>
          <p:cNvPr id="26" name="Text 24"/>
          <p:cNvSpPr/>
          <p:nvPr/>
        </p:nvSpPr>
        <p:spPr>
          <a:xfrm>
            <a:off x="669340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27" name="Shape 25"/>
          <p:cNvSpPr/>
          <p:nvPr/>
        </p:nvSpPr>
        <p:spPr>
          <a:xfrm>
            <a:off x="594360" y="192024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658368" y="195681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rag_worker</a:t>
            </a:r>
            <a:endParaRPr lang="en-US" sz="1000" dirty="0"/>
          </a:p>
        </p:txBody>
      </p:sp>
      <p:sp>
        <p:nvSpPr>
          <p:cNvPr id="29" name="Text 27"/>
          <p:cNvSpPr/>
          <p:nvPr/>
        </p:nvSpPr>
        <p:spPr>
          <a:xfrm>
            <a:off x="65836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mode:rag</a:t>
            </a:r>
            <a:endParaRPr lang="en-US" sz="750" dirty="0"/>
          </a:p>
        </p:txBody>
      </p:sp>
      <p:sp>
        <p:nvSpPr>
          <p:cNvPr id="30" name="Text 28"/>
          <p:cNvSpPr/>
          <p:nvPr/>
        </p:nvSpPr>
        <p:spPr>
          <a:xfrm>
            <a:off x="65836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31" name="Text 29"/>
          <p:cNvSpPr/>
          <p:nvPr/>
        </p:nvSpPr>
        <p:spPr>
          <a:xfrm>
            <a:off x="65836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Evidence machine</a:t>
            </a:r>
            <a:endParaRPr lang="en-US" sz="850" dirty="0"/>
          </a:p>
        </p:txBody>
      </p:sp>
      <p:sp>
        <p:nvSpPr>
          <p:cNvPr id="32" name="Text 30"/>
          <p:cNvSpPr/>
          <p:nvPr/>
        </p:nvSpPr>
        <p:spPr>
          <a:xfrm>
            <a:off x="65836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33" name="Shape 31"/>
          <p:cNvSpPr/>
          <p:nvPr/>
        </p:nvSpPr>
        <p:spPr>
          <a:xfrm>
            <a:off x="2606040" y="192024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34" name="Text 32"/>
          <p:cNvSpPr/>
          <p:nvPr/>
        </p:nvSpPr>
        <p:spPr>
          <a:xfrm>
            <a:off x="2670048" y="195681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utility</a:t>
            </a:r>
            <a:endParaRPr lang="en-US" sz="1000" dirty="0"/>
          </a:p>
        </p:txBody>
      </p:sp>
      <p:sp>
        <p:nvSpPr>
          <p:cNvPr id="35" name="Text 33"/>
          <p:cNvSpPr/>
          <p:nvPr/>
        </p:nvSpPr>
        <p:spPr>
          <a:xfrm>
            <a:off x="267004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36" name="Text 34"/>
          <p:cNvSpPr/>
          <p:nvPr/>
        </p:nvSpPr>
        <p:spPr>
          <a:xfrm>
            <a:off x="267004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37" name="Text 35"/>
          <p:cNvSpPr/>
          <p:nvPr/>
        </p:nvSpPr>
        <p:spPr>
          <a:xfrm>
            <a:off x="267004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Lightweight worker</a:t>
            </a:r>
            <a:endParaRPr lang="en-US" sz="850" dirty="0"/>
          </a:p>
        </p:txBody>
      </p:sp>
      <p:sp>
        <p:nvSpPr>
          <p:cNvPr id="38" name="Text 36"/>
          <p:cNvSpPr/>
          <p:nvPr/>
        </p:nvSpPr>
        <p:spPr>
          <a:xfrm>
            <a:off x="267004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39" name="Shape 37"/>
          <p:cNvSpPr/>
          <p:nvPr/>
        </p:nvSpPr>
        <p:spPr>
          <a:xfrm>
            <a:off x="461772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0" name="Text 38"/>
          <p:cNvSpPr/>
          <p:nvPr/>
        </p:nvSpPr>
        <p:spPr>
          <a:xfrm>
            <a:off x="468172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planner</a:t>
            </a:r>
            <a:endParaRPr lang="en-US" sz="1000" dirty="0"/>
          </a:p>
        </p:txBody>
      </p:sp>
      <p:sp>
        <p:nvSpPr>
          <p:cNvPr id="41" name="Text 39"/>
          <p:cNvSpPr/>
          <p:nvPr/>
        </p:nvSpPr>
        <p:spPr>
          <a:xfrm>
            <a:off x="468172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mode:planner</a:t>
            </a:r>
            <a:endParaRPr lang="en-US" sz="750" dirty="0"/>
          </a:p>
        </p:txBody>
      </p:sp>
      <p:sp>
        <p:nvSpPr>
          <p:cNvPr id="42" name="Text 40"/>
          <p:cNvSpPr/>
          <p:nvPr/>
        </p:nvSpPr>
        <p:spPr>
          <a:xfrm>
            <a:off x="468172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3" name="Text 41"/>
          <p:cNvSpPr/>
          <p:nvPr/>
        </p:nvSpPr>
        <p:spPr>
          <a:xfrm>
            <a:off x="468172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Task planner</a:t>
            </a:r>
            <a:endParaRPr lang="en-US" sz="850" dirty="0"/>
          </a:p>
        </p:txBody>
      </p:sp>
      <p:sp>
        <p:nvSpPr>
          <p:cNvPr id="44" name="Text 42"/>
          <p:cNvSpPr/>
          <p:nvPr/>
        </p:nvSpPr>
        <p:spPr>
          <a:xfrm>
            <a:off x="468172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45" name="Shape 43"/>
          <p:cNvSpPr/>
          <p:nvPr/>
        </p:nvSpPr>
        <p:spPr>
          <a:xfrm>
            <a:off x="662940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6" name="Text 44"/>
          <p:cNvSpPr/>
          <p:nvPr/>
        </p:nvSpPr>
        <p:spPr>
          <a:xfrm>
            <a:off x="669340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finalizer</a:t>
            </a:r>
            <a:endParaRPr lang="en-US" sz="1000" dirty="0"/>
          </a:p>
        </p:txBody>
      </p:sp>
      <p:sp>
        <p:nvSpPr>
          <p:cNvPr id="47" name="Text 45"/>
          <p:cNvSpPr/>
          <p:nvPr/>
        </p:nvSpPr>
        <p:spPr>
          <a:xfrm>
            <a:off x="669340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mode:finalizer</a:t>
            </a:r>
            <a:endParaRPr lang="en-US" sz="750" dirty="0"/>
          </a:p>
        </p:txBody>
      </p:sp>
      <p:sp>
        <p:nvSpPr>
          <p:cNvPr id="48" name="Text 46"/>
          <p:cNvSpPr/>
          <p:nvPr/>
        </p:nvSpPr>
        <p:spPr>
          <a:xfrm>
            <a:off x="669340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9" name="Text 47"/>
          <p:cNvSpPr/>
          <p:nvPr/>
        </p:nvSpPr>
        <p:spPr>
          <a:xfrm>
            <a:off x="669340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Output synthesizer</a:t>
            </a:r>
            <a:endParaRPr lang="en-US" sz="850" dirty="0"/>
          </a:p>
        </p:txBody>
      </p:sp>
      <p:sp>
        <p:nvSpPr>
          <p:cNvPr id="50" name="Text 48"/>
          <p:cNvSpPr/>
          <p:nvPr/>
        </p:nvSpPr>
        <p:spPr>
          <a:xfrm>
            <a:off x="669340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51" name="Shape 49"/>
          <p:cNvSpPr/>
          <p:nvPr/>
        </p:nvSpPr>
        <p:spPr>
          <a:xfrm>
            <a:off x="160020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2" name="Text 50"/>
          <p:cNvSpPr/>
          <p:nvPr/>
        </p:nvSpPr>
        <p:spPr>
          <a:xfrm>
            <a:off x="166420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verifier</a:t>
            </a:r>
            <a:endParaRPr lang="en-US" sz="1000" dirty="0"/>
          </a:p>
        </p:txBody>
      </p:sp>
      <p:sp>
        <p:nvSpPr>
          <p:cNvPr id="53" name="Text 51"/>
          <p:cNvSpPr/>
          <p:nvPr/>
        </p:nvSpPr>
        <p:spPr>
          <a:xfrm>
            <a:off x="166420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mode:verifier</a:t>
            </a:r>
            <a:endParaRPr lang="en-US" sz="750" dirty="0"/>
          </a:p>
        </p:txBody>
      </p:sp>
      <p:sp>
        <p:nvSpPr>
          <p:cNvPr id="54" name="Text 52"/>
          <p:cNvSpPr/>
          <p:nvPr/>
        </p:nvSpPr>
        <p:spPr>
          <a:xfrm>
            <a:off x="166420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55" name="Text 53"/>
          <p:cNvSpPr/>
          <p:nvPr/>
        </p:nvSpPr>
        <p:spPr>
          <a:xfrm>
            <a:off x="166420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Fact checker</a:t>
            </a:r>
            <a:endParaRPr lang="en-US" sz="850" dirty="0"/>
          </a:p>
        </p:txBody>
      </p:sp>
      <p:sp>
        <p:nvSpPr>
          <p:cNvPr id="56" name="Text 54"/>
          <p:cNvSpPr/>
          <p:nvPr/>
        </p:nvSpPr>
        <p:spPr>
          <a:xfrm>
            <a:off x="166420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57" name="Shape 55"/>
          <p:cNvSpPr/>
          <p:nvPr/>
        </p:nvSpPr>
        <p:spPr>
          <a:xfrm>
            <a:off x="361188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8" name="Text 56"/>
          <p:cNvSpPr/>
          <p:nvPr/>
        </p:nvSpPr>
        <p:spPr>
          <a:xfrm>
            <a:off x="367588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memory_maint.</a:t>
            </a:r>
            <a:endParaRPr lang="en-US" sz="1000" dirty="0"/>
          </a:p>
        </p:txBody>
      </p:sp>
      <p:sp>
        <p:nvSpPr>
          <p:cNvPr id="59" name="Text 57"/>
          <p:cNvSpPr/>
          <p:nvPr/>
        </p:nvSpPr>
        <p:spPr>
          <a:xfrm>
            <a:off x="367588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mode:memory_maint.</a:t>
            </a:r>
            <a:endParaRPr lang="en-US" sz="750" dirty="0"/>
          </a:p>
        </p:txBody>
      </p:sp>
      <p:sp>
        <p:nvSpPr>
          <p:cNvPr id="60" name="Text 58"/>
          <p:cNvSpPr/>
          <p:nvPr/>
        </p:nvSpPr>
        <p:spPr>
          <a:xfrm>
            <a:off x="367588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 tools</a:t>
            </a:r>
            <a:endParaRPr lang="en-US" sz="750" dirty="0"/>
          </a:p>
        </p:txBody>
      </p:sp>
      <p:sp>
        <p:nvSpPr>
          <p:cNvPr id="61" name="Text 59"/>
          <p:cNvSpPr/>
          <p:nvPr/>
        </p:nvSpPr>
        <p:spPr>
          <a:xfrm>
            <a:off x="367588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Memory extractor</a:t>
            </a:r>
            <a:endParaRPr lang="en-US" sz="850" dirty="0"/>
          </a:p>
        </p:txBody>
      </p:sp>
      <p:sp>
        <p:nvSpPr>
          <p:cNvPr id="62" name="Text 60"/>
          <p:cNvSpPr/>
          <p:nvPr/>
        </p:nvSpPr>
        <p:spPr>
          <a:xfrm>
            <a:off x="367588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maintenance</a:t>
            </a:r>
            <a:endParaRPr lang="en-US" sz="700" dirty="0"/>
          </a:p>
        </p:txBody>
      </p:sp>
      <p:sp>
        <p:nvSpPr>
          <p:cNvPr id="63" name="Shape 61"/>
          <p:cNvSpPr/>
          <p:nvPr/>
        </p:nvSpPr>
        <p:spPr>
          <a:xfrm>
            <a:off x="5623560" y="2926080"/>
            <a:ext cx="1920240" cy="914400"/>
          </a:xfrm>
          <a:prstGeom prst="rect">
            <a:avLst/>
          </a:prstGeom>
          <a:solidFill>
            <a:srgbClr val="FFFFFF"/>
          </a:solidFill>
          <a:ln w="19050">
            <a:solidFill>
              <a:srgbClr val="F9A825"/>
            </a:solidFill>
            <a:prstDash val="solid"/>
          </a:ln>
          <a:effectLst>
            <a:outerShdw blurRad="50800" dist="25400" dir="8100000" algn="bl" rotWithShape="0">
              <a:srgbClr val="000000">
                <a:alpha val="12000"/>
              </a:srgbClr>
            </a:outerShdw>
          </a:effectLst>
        </p:spPr>
        <p:txBody>
          <a:bodyPr/>
          <a:lstStyle/>
          <a:p>
            <a:endParaRPr lang="en-US"/>
          </a:p>
        </p:txBody>
      </p:sp>
      <p:sp>
        <p:nvSpPr>
          <p:cNvPr id="64" name="Text 62"/>
          <p:cNvSpPr/>
          <p:nvPr/>
        </p:nvSpPr>
        <p:spPr>
          <a:xfrm>
            <a:off x="5687568" y="2962656"/>
            <a:ext cx="1792224" cy="201168"/>
          </a:xfrm>
          <a:prstGeom prst="rect">
            <a:avLst/>
          </a:prstGeom>
          <a:noFill/>
          <a:ln/>
        </p:spPr>
        <p:txBody>
          <a:bodyPr wrap="square" lIns="0" tIns="0" rIns="0" bIns="0" rtlCol="0" anchor="ctr"/>
          <a:lstStyle/>
          <a:p>
            <a:pPr marL="0" indent="0">
              <a:buNone/>
            </a:pPr>
            <a:r>
              <a:rPr lang="en-US" sz="1000" b="1" dirty="0">
                <a:solidFill>
                  <a:srgbClr val="F9A825"/>
                </a:solidFill>
                <a:latin typeface="Courier New" pitchFamily="34" charset="0"/>
                <a:ea typeface="Courier New" pitchFamily="34" charset="-122"/>
                <a:cs typeface="Courier New" pitchFamily="34" charset="-120"/>
              </a:rPr>
              <a:t>graph_manager</a:t>
            </a:r>
            <a:endParaRPr lang="en-US" sz="1000" dirty="0"/>
          </a:p>
        </p:txBody>
      </p:sp>
      <p:sp>
        <p:nvSpPr>
          <p:cNvPr id="65" name="Text 63"/>
          <p:cNvSpPr/>
          <p:nvPr/>
        </p:nvSpPr>
        <p:spPr>
          <a:xfrm>
            <a:off x="568756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66" name="Text 64"/>
          <p:cNvSpPr/>
          <p:nvPr/>
        </p:nvSpPr>
        <p:spPr>
          <a:xfrm>
            <a:off x="568756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12 tools</a:t>
            </a:r>
            <a:endParaRPr lang="en-US" sz="750" dirty="0"/>
          </a:p>
        </p:txBody>
      </p:sp>
      <p:sp>
        <p:nvSpPr>
          <p:cNvPr id="67" name="Text 65"/>
          <p:cNvSpPr/>
          <p:nvPr/>
        </p:nvSpPr>
        <p:spPr>
          <a:xfrm>
            <a:off x="568756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retrieval worker</a:t>
            </a:r>
            <a:endParaRPr lang="en-US" sz="850" dirty="0"/>
          </a:p>
        </p:txBody>
      </p:sp>
      <p:sp>
        <p:nvSpPr>
          <p:cNvPr id="68" name="Text 66"/>
          <p:cNvSpPr/>
          <p:nvPr/>
        </p:nvSpPr>
        <p:spPr>
          <a:xfrm>
            <a:off x="5687568" y="3666744"/>
            <a:ext cx="1792224" cy="146304"/>
          </a:xfrm>
          <a:prstGeom prst="rect">
            <a:avLst/>
          </a:prstGeom>
          <a:noFill/>
          <a:ln/>
        </p:spPr>
        <p:txBody>
          <a:bodyPr wrap="square" lIns="0" tIns="0" rIns="0" bIns="0" rtlCol="0" anchor="ctr"/>
          <a:lstStyle/>
          <a:p>
            <a:pPr marL="0" indent="0">
              <a:buNone/>
            </a:pPr>
            <a:r>
              <a:rPr lang="en-US" sz="700" b="1" dirty="0">
                <a:solidFill>
                  <a:srgbClr val="F9A825"/>
                </a:solidFill>
                <a:latin typeface="Arial" pitchFamily="34" charset="0"/>
                <a:ea typeface="Arial" pitchFamily="34" charset="-122"/>
                <a:cs typeface="Arial" pitchFamily="34" charset="-120"/>
              </a:rPr>
              <a:t>top_level_or_worker</a:t>
            </a:r>
            <a:endParaRPr lang="en-US" sz="700" dirty="0"/>
          </a:p>
        </p:txBody>
      </p:sp>
      <p:sp>
        <p:nvSpPr>
          <p:cNvPr id="69" name="Text 67"/>
          <p:cNvSpPr/>
          <p:nvPr/>
        </p:nvSpPr>
        <p:spPr>
          <a:xfrm>
            <a:off x="502920" y="3858768"/>
            <a:ext cx="8138160" cy="201168"/>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Teal = top-level   |   Navy = worker/manager   |   Gray = coordinator-only/maintenance   |   Amber = new</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Agent Mode Maps to Execution</a:t>
            </a:r>
            <a:endParaRPr lang="en-US" sz="2600" dirty="0"/>
          </a:p>
        </p:txBody>
      </p:sp>
      <p:sp>
        <p:nvSpPr>
          <p:cNvPr id="3" name="Shape 1"/>
          <p:cNvSpPr/>
          <p:nvPr/>
        </p:nvSpPr>
        <p:spPr>
          <a:xfrm>
            <a:off x="502920" y="960120"/>
            <a:ext cx="16459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960120"/>
            <a:ext cx="15361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Mode</a:t>
            </a:r>
            <a:endParaRPr lang="en-US" sz="900" dirty="0"/>
          </a:p>
        </p:txBody>
      </p:sp>
      <p:sp>
        <p:nvSpPr>
          <p:cNvPr id="5" name="Shape 3"/>
          <p:cNvSpPr/>
          <p:nvPr/>
        </p:nvSpPr>
        <p:spPr>
          <a:xfrm>
            <a:off x="2148840" y="960120"/>
            <a:ext cx="201168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203704" y="960120"/>
            <a:ext cx="19019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QueryLoop Method</a:t>
            </a:r>
            <a:endParaRPr lang="en-US" sz="900" dirty="0"/>
          </a:p>
        </p:txBody>
      </p:sp>
      <p:sp>
        <p:nvSpPr>
          <p:cNvPr id="7" name="Shape 5"/>
          <p:cNvSpPr/>
          <p:nvPr/>
        </p:nvSpPr>
        <p:spPr>
          <a:xfrm>
            <a:off x="4160520" y="960120"/>
            <a:ext cx="448056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215384" y="960120"/>
            <a:ext cx="437083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9" name="Shape 7"/>
          <p:cNvSpPr/>
          <p:nvPr/>
        </p:nvSpPr>
        <p:spPr>
          <a:xfrm>
            <a:off x="502920" y="1234440"/>
            <a:ext cx="1645920" cy="2743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12344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basic</a:t>
            </a:r>
            <a:endParaRPr lang="en-US" sz="900" dirty="0"/>
          </a:p>
        </p:txBody>
      </p:sp>
      <p:sp>
        <p:nvSpPr>
          <p:cNvPr id="11" name="Shape 9"/>
          <p:cNvSpPr/>
          <p:nvPr/>
        </p:nvSpPr>
        <p:spPr>
          <a:xfrm>
            <a:off x="2148840" y="1234440"/>
            <a:ext cx="201168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203704" y="12344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_run_basic()</a:t>
            </a:r>
            <a:endParaRPr lang="en-US" sz="900" dirty="0"/>
          </a:p>
        </p:txBody>
      </p:sp>
      <p:sp>
        <p:nvSpPr>
          <p:cNvPr id="13" name="Shape 11"/>
          <p:cNvSpPr/>
          <p:nvPr/>
        </p:nvSpPr>
        <p:spPr>
          <a:xfrm>
            <a:off x="4160520" y="1234440"/>
            <a:ext cx="448056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4215384" y="12344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Single LLM call, no tool loop</a:t>
            </a:r>
            <a:endParaRPr lang="en-US" sz="900" dirty="0"/>
          </a:p>
        </p:txBody>
      </p:sp>
      <p:sp>
        <p:nvSpPr>
          <p:cNvPr id="15" name="Shape 13"/>
          <p:cNvSpPr/>
          <p:nvPr/>
        </p:nvSpPr>
        <p:spPr>
          <a:xfrm>
            <a:off x="502920" y="1508760"/>
            <a:ext cx="1645920" cy="274320"/>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57784" y="15087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react</a:t>
            </a:r>
            <a:endParaRPr lang="en-US" sz="900" dirty="0"/>
          </a:p>
        </p:txBody>
      </p:sp>
      <p:sp>
        <p:nvSpPr>
          <p:cNvPr id="17" name="Shape 15"/>
          <p:cNvSpPr/>
          <p:nvPr/>
        </p:nvSpPr>
        <p:spPr>
          <a:xfrm>
            <a:off x="2148840" y="1508760"/>
            <a:ext cx="2011680" cy="27432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2203704" y="15087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_run_react()</a:t>
            </a:r>
            <a:endParaRPr lang="en-US" sz="900" dirty="0"/>
          </a:p>
        </p:txBody>
      </p:sp>
      <p:sp>
        <p:nvSpPr>
          <p:cNvPr id="19" name="Shape 17"/>
          <p:cNvSpPr/>
          <p:nvPr/>
        </p:nvSpPr>
        <p:spPr>
          <a:xfrm>
            <a:off x="4160520" y="1508760"/>
            <a:ext cx="448056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4215384" y="15087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LangGraph ReAct with tool calling, up to max_steps</a:t>
            </a:r>
            <a:endParaRPr lang="en-US" sz="900" dirty="0"/>
          </a:p>
        </p:txBody>
      </p:sp>
      <p:sp>
        <p:nvSpPr>
          <p:cNvPr id="21" name="Shape 19"/>
          <p:cNvSpPr/>
          <p:nvPr/>
        </p:nvSpPr>
        <p:spPr>
          <a:xfrm>
            <a:off x="502920" y="1783080"/>
            <a:ext cx="164592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7830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rag</a:t>
            </a:r>
            <a:endParaRPr lang="en-US" sz="900" dirty="0"/>
          </a:p>
        </p:txBody>
      </p:sp>
      <p:sp>
        <p:nvSpPr>
          <p:cNvPr id="23" name="Shape 21"/>
          <p:cNvSpPr/>
          <p:nvPr/>
        </p:nvSpPr>
        <p:spPr>
          <a:xfrm>
            <a:off x="2148840" y="1783080"/>
            <a:ext cx="201168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203704" y="17830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_run_rag()</a:t>
            </a:r>
            <a:endParaRPr lang="en-US" sz="900" dirty="0"/>
          </a:p>
        </p:txBody>
      </p:sp>
      <p:sp>
        <p:nvSpPr>
          <p:cNvPr id="25" name="Shape 23"/>
          <p:cNvSpPr/>
          <p:nvPr/>
        </p:nvSpPr>
        <p:spPr>
          <a:xfrm>
            <a:off x="4160520" y="1783080"/>
            <a:ext cx="44805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4215384" y="17830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 contract: retrieve &gt; synthesize &gt; cite</a:t>
            </a:r>
            <a:endParaRPr lang="en-US" sz="900" dirty="0"/>
          </a:p>
        </p:txBody>
      </p:sp>
      <p:sp>
        <p:nvSpPr>
          <p:cNvPr id="27" name="Shape 25"/>
          <p:cNvSpPr/>
          <p:nvPr/>
        </p:nvSpPr>
        <p:spPr>
          <a:xfrm>
            <a:off x="502920" y="2057400"/>
            <a:ext cx="1645920" cy="274320"/>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205740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planner</a:t>
            </a:r>
            <a:endParaRPr lang="en-US" sz="900" dirty="0"/>
          </a:p>
        </p:txBody>
      </p:sp>
      <p:sp>
        <p:nvSpPr>
          <p:cNvPr id="29" name="Shape 27"/>
          <p:cNvSpPr/>
          <p:nvPr/>
        </p:nvSpPr>
        <p:spPr>
          <a:xfrm>
            <a:off x="2148840" y="2057400"/>
            <a:ext cx="2011680" cy="27432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203704" y="205740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_run_planner()</a:t>
            </a:r>
            <a:endParaRPr lang="en-US" sz="900" dirty="0"/>
          </a:p>
        </p:txBody>
      </p:sp>
      <p:sp>
        <p:nvSpPr>
          <p:cNvPr id="31" name="Shape 29"/>
          <p:cNvSpPr/>
          <p:nvPr/>
        </p:nvSpPr>
        <p:spPr>
          <a:xfrm>
            <a:off x="4160520" y="2057400"/>
            <a:ext cx="4480560" cy="274320"/>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4215384" y="205740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Outputs structured JSON plan for coordinator</a:t>
            </a:r>
            <a:endParaRPr lang="en-US" sz="900" dirty="0"/>
          </a:p>
        </p:txBody>
      </p:sp>
      <p:sp>
        <p:nvSpPr>
          <p:cNvPr id="33" name="Shape 31"/>
          <p:cNvSpPr/>
          <p:nvPr/>
        </p:nvSpPr>
        <p:spPr>
          <a:xfrm>
            <a:off x="502920" y="2331720"/>
            <a:ext cx="164592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233172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finalizer</a:t>
            </a:r>
            <a:endParaRPr lang="en-US" sz="900" dirty="0"/>
          </a:p>
        </p:txBody>
      </p:sp>
      <p:sp>
        <p:nvSpPr>
          <p:cNvPr id="35" name="Shape 33"/>
          <p:cNvSpPr/>
          <p:nvPr/>
        </p:nvSpPr>
        <p:spPr>
          <a:xfrm>
            <a:off x="2148840" y="2331720"/>
            <a:ext cx="2011680" cy="274320"/>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203704" y="233172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_run_finalizer()</a:t>
            </a:r>
            <a:endParaRPr lang="en-US" sz="900" dirty="0"/>
          </a:p>
        </p:txBody>
      </p:sp>
      <p:sp>
        <p:nvSpPr>
          <p:cNvPr id="37" name="Shape 35"/>
          <p:cNvSpPr/>
          <p:nvPr/>
        </p:nvSpPr>
        <p:spPr>
          <a:xfrm>
            <a:off x="4160520" y="2331720"/>
            <a:ext cx="4480560" cy="274320"/>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4215384" y="233172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Synthesizes worker outputs into unified answer</a:t>
            </a:r>
            <a:endParaRPr lang="en-US" sz="900" dirty="0"/>
          </a:p>
        </p:txBody>
      </p:sp>
      <p:sp>
        <p:nvSpPr>
          <p:cNvPr id="39" name="Shape 37"/>
          <p:cNvSpPr/>
          <p:nvPr/>
        </p:nvSpPr>
        <p:spPr>
          <a:xfrm>
            <a:off x="502920" y="2606040"/>
            <a:ext cx="1645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26060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verifier</a:t>
            </a:r>
            <a:endParaRPr lang="en-US" sz="900" dirty="0"/>
          </a:p>
        </p:txBody>
      </p:sp>
      <p:sp>
        <p:nvSpPr>
          <p:cNvPr id="41" name="Shape 39"/>
          <p:cNvSpPr/>
          <p:nvPr/>
        </p:nvSpPr>
        <p:spPr>
          <a:xfrm>
            <a:off x="2148840" y="2606040"/>
            <a:ext cx="201168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203704" y="26060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_run_verifier()</a:t>
            </a:r>
            <a:endParaRPr lang="en-US" sz="900" dirty="0"/>
          </a:p>
        </p:txBody>
      </p:sp>
      <p:sp>
        <p:nvSpPr>
          <p:cNvPr id="43" name="Shape 41"/>
          <p:cNvSpPr/>
          <p:nvPr/>
        </p:nvSpPr>
        <p:spPr>
          <a:xfrm>
            <a:off x="4160520" y="2606040"/>
            <a:ext cx="44805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4215384" y="26060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Cross-checks claims against KB evidence</a:t>
            </a:r>
            <a:endParaRPr lang="en-US" sz="900" dirty="0"/>
          </a:p>
        </p:txBody>
      </p:sp>
      <p:sp>
        <p:nvSpPr>
          <p:cNvPr id="45" name="Shape 43"/>
          <p:cNvSpPr/>
          <p:nvPr/>
        </p:nvSpPr>
        <p:spPr>
          <a:xfrm>
            <a:off x="502920" y="2880360"/>
            <a:ext cx="16459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28803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memory_maint.</a:t>
            </a:r>
            <a:endParaRPr lang="en-US" sz="900" dirty="0"/>
          </a:p>
        </p:txBody>
      </p:sp>
      <p:sp>
        <p:nvSpPr>
          <p:cNvPr id="47" name="Shape 45"/>
          <p:cNvSpPr/>
          <p:nvPr/>
        </p:nvSpPr>
        <p:spPr>
          <a:xfrm>
            <a:off x="2148840" y="2880360"/>
            <a:ext cx="20116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203704" y="28803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_run_memory_maintainer()</a:t>
            </a:r>
            <a:endParaRPr lang="en-US" sz="900" dirty="0"/>
          </a:p>
        </p:txBody>
      </p:sp>
      <p:sp>
        <p:nvSpPr>
          <p:cNvPr id="49" name="Shape 47"/>
          <p:cNvSpPr/>
          <p:nvPr/>
        </p:nvSpPr>
        <p:spPr>
          <a:xfrm>
            <a:off x="4160520" y="2880360"/>
            <a:ext cx="448056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4215384" y="28803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Extracts + persists memory entries</a:t>
            </a:r>
            <a:endParaRPr lang="en-US" sz="900" dirty="0"/>
          </a:p>
        </p:txBody>
      </p:sp>
      <p:sp>
        <p:nvSpPr>
          <p:cNvPr id="51" name="Shape 49"/>
          <p:cNvSpPr/>
          <p:nvPr/>
        </p:nvSpPr>
        <p:spPr>
          <a:xfrm>
            <a:off x="502920" y="3154680"/>
            <a:ext cx="16459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31546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coordinator</a:t>
            </a:r>
            <a:endParaRPr lang="en-US" sz="900" dirty="0"/>
          </a:p>
        </p:txBody>
      </p:sp>
      <p:sp>
        <p:nvSpPr>
          <p:cNvPr id="53" name="Shape 51"/>
          <p:cNvSpPr/>
          <p:nvPr/>
        </p:nvSpPr>
        <p:spPr>
          <a:xfrm>
            <a:off x="2148840" y="3154680"/>
            <a:ext cx="201168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2203704" y="31546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Handled by Kernel</a:t>
            </a:r>
            <a:endParaRPr lang="en-US" sz="900" dirty="0"/>
          </a:p>
        </p:txBody>
      </p:sp>
      <p:sp>
        <p:nvSpPr>
          <p:cNvPr id="55" name="Shape 53"/>
          <p:cNvSpPr/>
          <p:nvPr/>
        </p:nvSpPr>
        <p:spPr>
          <a:xfrm>
            <a:off x="4160520" y="3154680"/>
            <a:ext cx="448056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215384" y="31546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Planner&gt;Workers&gt;Finalizer&gt;Verifier pipeline</a:t>
            </a:r>
            <a:endParaRPr lang="en-US" sz="900" dirty="0"/>
          </a:p>
        </p:txBody>
      </p:sp>
      <p:sp>
        <p:nvSpPr>
          <p:cNvPr id="57" name="Shape 55"/>
          <p:cNvSpPr/>
          <p:nvPr/>
        </p:nvSpPr>
        <p:spPr>
          <a:xfrm>
            <a:off x="502920" y="3520440"/>
            <a:ext cx="8138160" cy="365760"/>
          </a:xfrm>
          <a:prstGeom prst="rect">
            <a:avLst/>
          </a:prstGeom>
          <a:solidFill>
            <a:srgbClr val="E0F7FA"/>
          </a:solidFill>
          <a:ln w="12700">
            <a:solidFill>
              <a:srgbClr val="0097A7"/>
            </a:solidFill>
            <a:prstDash val="solid"/>
          </a:ln>
        </p:spPr>
        <p:txBody>
          <a:bodyPr/>
          <a:lstStyle/>
          <a:p>
            <a:endParaRPr lang="en-US"/>
          </a:p>
        </p:txBody>
      </p:sp>
      <p:sp>
        <p:nvSpPr>
          <p:cNvPr id="58" name="Text 56"/>
          <p:cNvSpPr/>
          <p:nvPr/>
        </p:nvSpPr>
        <p:spPr>
          <a:xfrm>
            <a:off x="594360" y="352044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mode field is the single most important property. Coordinator is special — handled by Kernel, not QueryLoop, because it manages multiple sub-agents.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Capabilities Matrix — Complete Reference</a:t>
            </a:r>
            <a:endParaRPr lang="en-US" sz="2600" dirty="0"/>
          </a:p>
        </p:txBody>
      </p:sp>
      <p:sp>
        <p:nvSpPr>
          <p:cNvPr id="3" name="Shape 1"/>
          <p:cNvSpPr/>
          <p:nvPr/>
        </p:nvSpPr>
        <p:spPr>
          <a:xfrm>
            <a:off x="502920" y="868680"/>
            <a:ext cx="114300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39496" y="868680"/>
            <a:ext cx="10698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Agent</a:t>
            </a:r>
            <a:endParaRPr lang="en-US" sz="800" dirty="0"/>
          </a:p>
        </p:txBody>
      </p:sp>
      <p:sp>
        <p:nvSpPr>
          <p:cNvPr id="5" name="Shape 3"/>
          <p:cNvSpPr/>
          <p:nvPr/>
        </p:nvSpPr>
        <p:spPr>
          <a:xfrm>
            <a:off x="1645920" y="868680"/>
            <a:ext cx="82296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682496" y="868680"/>
            <a:ext cx="7498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Mode</a:t>
            </a:r>
            <a:endParaRPr lang="en-US" sz="800" dirty="0"/>
          </a:p>
        </p:txBody>
      </p:sp>
      <p:sp>
        <p:nvSpPr>
          <p:cNvPr id="7" name="Shape 5"/>
          <p:cNvSpPr/>
          <p:nvPr/>
        </p:nvSpPr>
        <p:spPr>
          <a:xfrm>
            <a:off x="2468880" y="868680"/>
            <a:ext cx="50292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2505456" y="868680"/>
            <a:ext cx="42976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Tools</a:t>
            </a:r>
            <a:endParaRPr lang="en-US" sz="800" dirty="0"/>
          </a:p>
        </p:txBody>
      </p:sp>
      <p:sp>
        <p:nvSpPr>
          <p:cNvPr id="9" name="Shape 7"/>
          <p:cNvSpPr/>
          <p:nvPr/>
        </p:nvSpPr>
        <p:spPr>
          <a:xfrm>
            <a:off x="29718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30083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Steps</a:t>
            </a:r>
            <a:endParaRPr lang="en-US" sz="800" dirty="0"/>
          </a:p>
        </p:txBody>
      </p:sp>
      <p:sp>
        <p:nvSpPr>
          <p:cNvPr id="11" name="Shape 9"/>
          <p:cNvSpPr/>
          <p:nvPr/>
        </p:nvSpPr>
        <p:spPr>
          <a:xfrm>
            <a:off x="3566160" y="868680"/>
            <a:ext cx="1280160" cy="274320"/>
          </a:xfrm>
          <a:prstGeom prst="rect">
            <a:avLst/>
          </a:prstGeom>
          <a:solidFill>
            <a:srgbClr val="1B2A4A"/>
          </a:solidFill>
          <a:ln w="3810">
            <a:solidFill>
              <a:srgbClr val="F0F0F0"/>
            </a:solidFill>
            <a:prstDash val="solid"/>
          </a:ln>
        </p:spPr>
        <p:txBody>
          <a:bodyPr/>
          <a:lstStyle/>
          <a:p>
            <a:endParaRPr lang="en-US"/>
          </a:p>
        </p:txBody>
      </p:sp>
      <p:sp>
        <p:nvSpPr>
          <p:cNvPr id="12" name="Text 10"/>
          <p:cNvSpPr/>
          <p:nvPr/>
        </p:nvSpPr>
        <p:spPr>
          <a:xfrm>
            <a:off x="3602736" y="868680"/>
            <a:ext cx="12070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Role Kind</a:t>
            </a:r>
            <a:endParaRPr lang="en-US" sz="800" dirty="0"/>
          </a:p>
        </p:txBody>
      </p:sp>
      <p:sp>
        <p:nvSpPr>
          <p:cNvPr id="13" name="Shape 11"/>
          <p:cNvSpPr/>
          <p:nvPr/>
        </p:nvSpPr>
        <p:spPr>
          <a:xfrm>
            <a:off x="4846320" y="868680"/>
            <a:ext cx="868680" cy="274320"/>
          </a:xfrm>
          <a:prstGeom prst="rect">
            <a:avLst/>
          </a:prstGeom>
          <a:solidFill>
            <a:srgbClr val="1B2A4A"/>
          </a:solidFill>
          <a:ln w="3810">
            <a:solidFill>
              <a:srgbClr val="F0F0F0"/>
            </a:solidFill>
            <a:prstDash val="solid"/>
          </a:ln>
        </p:spPr>
        <p:txBody>
          <a:bodyPr/>
          <a:lstStyle/>
          <a:p>
            <a:endParaRPr lang="en-US"/>
          </a:p>
        </p:txBody>
      </p:sp>
      <p:sp>
        <p:nvSpPr>
          <p:cNvPr id="14" name="Text 12"/>
          <p:cNvSpPr/>
          <p:nvPr/>
        </p:nvSpPr>
        <p:spPr>
          <a:xfrm>
            <a:off x="4882896" y="868680"/>
            <a:ext cx="79552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Workers?</a:t>
            </a:r>
            <a:endParaRPr lang="en-US" sz="800" dirty="0"/>
          </a:p>
        </p:txBody>
      </p:sp>
      <p:sp>
        <p:nvSpPr>
          <p:cNvPr id="15" name="Shape 13"/>
          <p:cNvSpPr/>
          <p:nvPr/>
        </p:nvSpPr>
        <p:spPr>
          <a:xfrm>
            <a:off x="57150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6" name="Text 14"/>
          <p:cNvSpPr/>
          <p:nvPr/>
        </p:nvSpPr>
        <p:spPr>
          <a:xfrm>
            <a:off x="57515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RAG?</a:t>
            </a:r>
            <a:endParaRPr lang="en-US" sz="800" dirty="0"/>
          </a:p>
        </p:txBody>
      </p:sp>
      <p:sp>
        <p:nvSpPr>
          <p:cNvPr id="17" name="Shape 15"/>
          <p:cNvSpPr/>
          <p:nvPr/>
        </p:nvSpPr>
        <p:spPr>
          <a:xfrm>
            <a:off x="6309360" y="868680"/>
            <a:ext cx="685800" cy="274320"/>
          </a:xfrm>
          <a:prstGeom prst="rect">
            <a:avLst/>
          </a:prstGeom>
          <a:solidFill>
            <a:srgbClr val="1B2A4A"/>
          </a:solidFill>
          <a:ln w="3810">
            <a:solidFill>
              <a:srgbClr val="F0F0F0"/>
            </a:solidFill>
            <a:prstDash val="solid"/>
          </a:ln>
        </p:spPr>
        <p:txBody>
          <a:bodyPr/>
          <a:lstStyle/>
          <a:p>
            <a:endParaRPr lang="en-US"/>
          </a:p>
        </p:txBody>
      </p:sp>
      <p:sp>
        <p:nvSpPr>
          <p:cNvPr id="18" name="Text 16"/>
          <p:cNvSpPr/>
          <p:nvPr/>
        </p:nvSpPr>
        <p:spPr>
          <a:xfrm>
            <a:off x="6345936" y="868680"/>
            <a:ext cx="6126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Code?</a:t>
            </a:r>
            <a:endParaRPr lang="en-US" sz="800" dirty="0"/>
          </a:p>
        </p:txBody>
      </p:sp>
      <p:sp>
        <p:nvSpPr>
          <p:cNvPr id="19" name="Shape 17"/>
          <p:cNvSpPr/>
          <p:nvPr/>
        </p:nvSpPr>
        <p:spPr>
          <a:xfrm>
            <a:off x="502920" y="1143000"/>
            <a:ext cx="1143000" cy="274320"/>
          </a:xfrm>
          <a:prstGeom prst="rect">
            <a:avLst/>
          </a:prstGeom>
          <a:solidFill>
            <a:srgbClr val="F5F5F5"/>
          </a:solidFill>
          <a:ln w="3810">
            <a:solidFill>
              <a:srgbClr val="F0F0F0"/>
            </a:solidFill>
            <a:prstDash val="solid"/>
          </a:ln>
        </p:spPr>
        <p:txBody>
          <a:bodyPr/>
          <a:lstStyle/>
          <a:p>
            <a:endParaRPr lang="en-US"/>
          </a:p>
        </p:txBody>
      </p:sp>
      <p:sp>
        <p:nvSpPr>
          <p:cNvPr id="20" name="Text 18"/>
          <p:cNvSpPr/>
          <p:nvPr/>
        </p:nvSpPr>
        <p:spPr>
          <a:xfrm>
            <a:off x="539496" y="11430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1" name="Shape 19"/>
          <p:cNvSpPr/>
          <p:nvPr/>
        </p:nvSpPr>
        <p:spPr>
          <a:xfrm>
            <a:off x="1645920" y="1143000"/>
            <a:ext cx="82296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1682496" y="11430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3" name="Shape 21"/>
          <p:cNvSpPr/>
          <p:nvPr/>
        </p:nvSpPr>
        <p:spPr>
          <a:xfrm>
            <a:off x="2468880" y="1143000"/>
            <a:ext cx="50292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505456" y="11430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25" name="Shape 23"/>
          <p:cNvSpPr/>
          <p:nvPr/>
        </p:nvSpPr>
        <p:spPr>
          <a:xfrm>
            <a:off x="29718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0083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3566160" y="1143000"/>
            <a:ext cx="128016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3602736" y="11430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29" name="Shape 27"/>
          <p:cNvSpPr/>
          <p:nvPr/>
        </p:nvSpPr>
        <p:spPr>
          <a:xfrm>
            <a:off x="4846320" y="1143000"/>
            <a:ext cx="86868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4882896" y="11430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1" name="Shape 29"/>
          <p:cNvSpPr/>
          <p:nvPr/>
        </p:nvSpPr>
        <p:spPr>
          <a:xfrm>
            <a:off x="57150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57515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3" name="Shape 31"/>
          <p:cNvSpPr/>
          <p:nvPr/>
        </p:nvSpPr>
        <p:spPr>
          <a:xfrm>
            <a:off x="6309360" y="1143000"/>
            <a:ext cx="68580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345936" y="11430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5" name="Shape 33"/>
          <p:cNvSpPr/>
          <p:nvPr/>
        </p:nvSpPr>
        <p:spPr>
          <a:xfrm>
            <a:off x="502920" y="1417320"/>
            <a:ext cx="114300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39496" y="14173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general</a:t>
            </a:r>
            <a:endParaRPr lang="en-US" sz="750" dirty="0"/>
          </a:p>
        </p:txBody>
      </p:sp>
      <p:sp>
        <p:nvSpPr>
          <p:cNvPr id="37" name="Shape 35"/>
          <p:cNvSpPr/>
          <p:nvPr/>
        </p:nvSpPr>
        <p:spPr>
          <a:xfrm>
            <a:off x="1645920" y="1417320"/>
            <a:ext cx="82296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682496" y="14173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39" name="Shape 37"/>
          <p:cNvSpPr/>
          <p:nvPr/>
        </p:nvSpPr>
        <p:spPr>
          <a:xfrm>
            <a:off x="2468880" y="1417320"/>
            <a:ext cx="502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2505456" y="14173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33</a:t>
            </a:r>
            <a:endParaRPr lang="en-US" sz="750" dirty="0"/>
          </a:p>
        </p:txBody>
      </p:sp>
      <p:sp>
        <p:nvSpPr>
          <p:cNvPr id="41" name="Shape 39"/>
          <p:cNvSpPr/>
          <p:nvPr/>
        </p:nvSpPr>
        <p:spPr>
          <a:xfrm>
            <a:off x="29718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30083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43" name="Shape 41"/>
          <p:cNvSpPr/>
          <p:nvPr/>
        </p:nvSpPr>
        <p:spPr>
          <a:xfrm>
            <a:off x="3566160" y="1417320"/>
            <a:ext cx="12801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602736" y="14173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45" name="Shape 43"/>
          <p:cNvSpPr/>
          <p:nvPr/>
        </p:nvSpPr>
        <p:spPr>
          <a:xfrm>
            <a:off x="4846320" y="1417320"/>
            <a:ext cx="868680" cy="274320"/>
          </a:xfrm>
          <a:prstGeom prst="rect">
            <a:avLst/>
          </a:prstGeom>
          <a:solidFill>
            <a:srgbClr val="FFFFFF"/>
          </a:solidFill>
          <a:ln w="3810">
            <a:solidFill>
              <a:srgbClr val="F0F0F0"/>
            </a:solidFill>
            <a:prstDash val="solid"/>
          </a:ln>
        </p:spPr>
        <p:txBody>
          <a:bodyPr/>
          <a:lstStyle/>
          <a:p>
            <a:endParaRPr lang="en-US"/>
          </a:p>
        </p:txBody>
      </p:sp>
      <p:sp>
        <p:nvSpPr>
          <p:cNvPr id="46" name="Text 44"/>
          <p:cNvSpPr/>
          <p:nvPr/>
        </p:nvSpPr>
        <p:spPr>
          <a:xfrm>
            <a:off x="4882896" y="14173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7" name="Shape 45"/>
          <p:cNvSpPr/>
          <p:nvPr/>
        </p:nvSpPr>
        <p:spPr>
          <a:xfrm>
            <a:off x="57150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8" name="Text 46"/>
          <p:cNvSpPr/>
          <p:nvPr/>
        </p:nvSpPr>
        <p:spPr>
          <a:xfrm>
            <a:off x="57515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9" name="Shape 47"/>
          <p:cNvSpPr/>
          <p:nvPr/>
        </p:nvSpPr>
        <p:spPr>
          <a:xfrm>
            <a:off x="6309360" y="1417320"/>
            <a:ext cx="685800" cy="274320"/>
          </a:xfrm>
          <a:prstGeom prst="rect">
            <a:avLst/>
          </a:prstGeom>
          <a:solidFill>
            <a:srgbClr val="FFFFFF"/>
          </a:solidFill>
          <a:ln w="3810">
            <a:solidFill>
              <a:srgbClr val="F0F0F0"/>
            </a:solidFill>
            <a:prstDash val="solid"/>
          </a:ln>
        </p:spPr>
        <p:txBody>
          <a:bodyPr/>
          <a:lstStyle/>
          <a:p>
            <a:endParaRPr lang="en-US"/>
          </a:p>
        </p:txBody>
      </p:sp>
      <p:sp>
        <p:nvSpPr>
          <p:cNvPr id="50" name="Text 48"/>
          <p:cNvSpPr/>
          <p:nvPr/>
        </p:nvSpPr>
        <p:spPr>
          <a:xfrm>
            <a:off x="6345936" y="14173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51" name="Shape 49"/>
          <p:cNvSpPr/>
          <p:nvPr/>
        </p:nvSpPr>
        <p:spPr>
          <a:xfrm>
            <a:off x="502920" y="1691640"/>
            <a:ext cx="1143000" cy="274320"/>
          </a:xfrm>
          <a:prstGeom prst="rect">
            <a:avLst/>
          </a:prstGeom>
          <a:solidFill>
            <a:srgbClr val="F5F5F5"/>
          </a:solidFill>
          <a:ln w="3810">
            <a:solidFill>
              <a:srgbClr val="F0F0F0"/>
            </a:solidFill>
            <a:prstDash val="solid"/>
          </a:ln>
        </p:spPr>
        <p:txBody>
          <a:bodyPr/>
          <a:lstStyle/>
          <a:p>
            <a:endParaRPr lang="en-US"/>
          </a:p>
        </p:txBody>
      </p:sp>
      <p:sp>
        <p:nvSpPr>
          <p:cNvPr id="52" name="Text 50"/>
          <p:cNvSpPr/>
          <p:nvPr/>
        </p:nvSpPr>
        <p:spPr>
          <a:xfrm>
            <a:off x="539496" y="16916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coordinator</a:t>
            </a:r>
            <a:endParaRPr lang="en-US" sz="750" dirty="0"/>
          </a:p>
        </p:txBody>
      </p:sp>
      <p:sp>
        <p:nvSpPr>
          <p:cNvPr id="53" name="Shape 51"/>
          <p:cNvSpPr/>
          <p:nvPr/>
        </p:nvSpPr>
        <p:spPr>
          <a:xfrm>
            <a:off x="1645920" y="1691640"/>
            <a:ext cx="822960" cy="274320"/>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1682496" y="16916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a:t>
            </a:r>
            <a:endParaRPr lang="en-US" sz="750" dirty="0"/>
          </a:p>
        </p:txBody>
      </p:sp>
      <p:sp>
        <p:nvSpPr>
          <p:cNvPr id="55" name="Shape 53"/>
          <p:cNvSpPr/>
          <p:nvPr/>
        </p:nvSpPr>
        <p:spPr>
          <a:xfrm>
            <a:off x="2468880" y="1691640"/>
            <a:ext cx="502920" cy="274320"/>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2505456" y="16916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11</a:t>
            </a:r>
            <a:endParaRPr lang="en-US" sz="750" dirty="0"/>
          </a:p>
        </p:txBody>
      </p:sp>
      <p:sp>
        <p:nvSpPr>
          <p:cNvPr id="57" name="Shape 55"/>
          <p:cNvSpPr/>
          <p:nvPr/>
        </p:nvSpPr>
        <p:spPr>
          <a:xfrm>
            <a:off x="29718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30083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12</a:t>
            </a:r>
            <a:endParaRPr lang="en-US" sz="750" dirty="0"/>
          </a:p>
        </p:txBody>
      </p:sp>
      <p:sp>
        <p:nvSpPr>
          <p:cNvPr id="59" name="Shape 57"/>
          <p:cNvSpPr/>
          <p:nvPr/>
        </p:nvSpPr>
        <p:spPr>
          <a:xfrm>
            <a:off x="3566160" y="1691640"/>
            <a:ext cx="128016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3602736" y="16916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coordinator</a:t>
            </a:r>
            <a:endParaRPr lang="en-US" sz="750" dirty="0"/>
          </a:p>
        </p:txBody>
      </p:sp>
      <p:sp>
        <p:nvSpPr>
          <p:cNvPr id="61" name="Shape 59"/>
          <p:cNvSpPr/>
          <p:nvPr/>
        </p:nvSpPr>
        <p:spPr>
          <a:xfrm>
            <a:off x="4846320" y="1691640"/>
            <a:ext cx="86868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4882896" y="16916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63" name="Shape 61"/>
          <p:cNvSpPr/>
          <p:nvPr/>
        </p:nvSpPr>
        <p:spPr>
          <a:xfrm>
            <a:off x="57150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57515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5" name="Shape 63"/>
          <p:cNvSpPr/>
          <p:nvPr/>
        </p:nvSpPr>
        <p:spPr>
          <a:xfrm>
            <a:off x="6309360" y="1691640"/>
            <a:ext cx="68580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345936" y="16916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7" name="Shape 65"/>
          <p:cNvSpPr/>
          <p:nvPr/>
        </p:nvSpPr>
        <p:spPr>
          <a:xfrm>
            <a:off x="502920" y="1965960"/>
            <a:ext cx="1143000" cy="274320"/>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539496" y="19659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utility</a:t>
            </a:r>
            <a:endParaRPr lang="en-US" sz="750" dirty="0"/>
          </a:p>
        </p:txBody>
      </p:sp>
      <p:sp>
        <p:nvSpPr>
          <p:cNvPr id="69" name="Shape 67"/>
          <p:cNvSpPr/>
          <p:nvPr/>
        </p:nvSpPr>
        <p:spPr>
          <a:xfrm>
            <a:off x="1645920" y="1965960"/>
            <a:ext cx="822960" cy="274320"/>
          </a:xfrm>
          <a:prstGeom prst="rect">
            <a:avLst/>
          </a:prstGeom>
          <a:solidFill>
            <a:srgbClr val="FFFFFF"/>
          </a:solidFill>
          <a:ln w="3810">
            <a:solidFill>
              <a:srgbClr val="F0F0F0"/>
            </a:solidFill>
            <a:prstDash val="solid"/>
          </a:ln>
        </p:spPr>
        <p:txBody>
          <a:bodyPr/>
          <a:lstStyle/>
          <a:p>
            <a:endParaRPr lang="en-US"/>
          </a:p>
        </p:txBody>
      </p:sp>
      <p:sp>
        <p:nvSpPr>
          <p:cNvPr id="70" name="Text 68"/>
          <p:cNvSpPr/>
          <p:nvPr/>
        </p:nvSpPr>
        <p:spPr>
          <a:xfrm>
            <a:off x="1682496" y="19659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71" name="Shape 69"/>
          <p:cNvSpPr/>
          <p:nvPr/>
        </p:nvSpPr>
        <p:spPr>
          <a:xfrm>
            <a:off x="2468880" y="1965960"/>
            <a:ext cx="502920" cy="274320"/>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2505456" y="19659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13</a:t>
            </a:r>
            <a:endParaRPr lang="en-US" sz="750" dirty="0"/>
          </a:p>
        </p:txBody>
      </p:sp>
      <p:sp>
        <p:nvSpPr>
          <p:cNvPr id="73" name="Shape 71"/>
          <p:cNvSpPr/>
          <p:nvPr/>
        </p:nvSpPr>
        <p:spPr>
          <a:xfrm>
            <a:off x="29718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30083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20</a:t>
            </a:r>
            <a:endParaRPr lang="en-US" sz="750" dirty="0"/>
          </a:p>
        </p:txBody>
      </p:sp>
      <p:sp>
        <p:nvSpPr>
          <p:cNvPr id="75" name="Shape 73"/>
          <p:cNvSpPr/>
          <p:nvPr/>
        </p:nvSpPr>
        <p:spPr>
          <a:xfrm>
            <a:off x="3566160" y="1965960"/>
            <a:ext cx="1280160" cy="274320"/>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3602736" y="19659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77" name="Shape 75"/>
          <p:cNvSpPr/>
          <p:nvPr/>
        </p:nvSpPr>
        <p:spPr>
          <a:xfrm>
            <a:off x="4846320" y="1965960"/>
            <a:ext cx="868680" cy="274320"/>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882896" y="19659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79" name="Shape 77"/>
          <p:cNvSpPr/>
          <p:nvPr/>
        </p:nvSpPr>
        <p:spPr>
          <a:xfrm>
            <a:off x="57150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57515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1" name="Shape 79"/>
          <p:cNvSpPr/>
          <p:nvPr/>
        </p:nvSpPr>
        <p:spPr>
          <a:xfrm>
            <a:off x="6309360" y="1965960"/>
            <a:ext cx="685800" cy="274320"/>
          </a:xfrm>
          <a:prstGeom prst="rect">
            <a:avLst/>
          </a:prstGeom>
          <a:solidFill>
            <a:srgbClr val="FFFFFF"/>
          </a:solidFill>
          <a:ln w="3810">
            <a:solidFill>
              <a:srgbClr val="F0F0F0"/>
            </a:solidFill>
            <a:prstDash val="solid"/>
          </a:ln>
        </p:spPr>
        <p:txBody>
          <a:bodyPr/>
          <a:lstStyle/>
          <a:p>
            <a:endParaRPr lang="en-US"/>
          </a:p>
        </p:txBody>
      </p:sp>
      <p:sp>
        <p:nvSpPr>
          <p:cNvPr id="82" name="Text 80"/>
          <p:cNvSpPr/>
          <p:nvPr/>
        </p:nvSpPr>
        <p:spPr>
          <a:xfrm>
            <a:off x="6345936" y="19659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3" name="Shape 81"/>
          <p:cNvSpPr/>
          <p:nvPr/>
        </p:nvSpPr>
        <p:spPr>
          <a:xfrm>
            <a:off x="502920" y="2240280"/>
            <a:ext cx="1143000" cy="274320"/>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539496" y="22402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data_analyst</a:t>
            </a:r>
            <a:endParaRPr lang="en-US" sz="750" dirty="0"/>
          </a:p>
        </p:txBody>
      </p:sp>
      <p:sp>
        <p:nvSpPr>
          <p:cNvPr id="85" name="Shape 83"/>
          <p:cNvSpPr/>
          <p:nvPr/>
        </p:nvSpPr>
        <p:spPr>
          <a:xfrm>
            <a:off x="1645920" y="2240280"/>
            <a:ext cx="822960" cy="274320"/>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1682496" y="22402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87" name="Shape 85"/>
          <p:cNvSpPr/>
          <p:nvPr/>
        </p:nvSpPr>
        <p:spPr>
          <a:xfrm>
            <a:off x="2468880" y="2240280"/>
            <a:ext cx="502920" cy="274320"/>
          </a:xfrm>
          <a:prstGeom prst="rect">
            <a:avLst/>
          </a:prstGeom>
          <a:solidFill>
            <a:srgbClr val="F5F5F5"/>
          </a:solidFill>
          <a:ln w="3810">
            <a:solidFill>
              <a:srgbClr val="F0F0F0"/>
            </a:solidFill>
            <a:prstDash val="solid"/>
          </a:ln>
        </p:spPr>
        <p:txBody>
          <a:bodyPr/>
          <a:lstStyle/>
          <a:p>
            <a:endParaRPr lang="en-US"/>
          </a:p>
        </p:txBody>
      </p:sp>
      <p:sp>
        <p:nvSpPr>
          <p:cNvPr id="88" name="Text 86"/>
          <p:cNvSpPr/>
          <p:nvPr/>
        </p:nvSpPr>
        <p:spPr>
          <a:xfrm>
            <a:off x="2505456" y="22402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20</a:t>
            </a:r>
            <a:endParaRPr lang="en-US" sz="750" dirty="0"/>
          </a:p>
        </p:txBody>
      </p:sp>
      <p:sp>
        <p:nvSpPr>
          <p:cNvPr id="89" name="Shape 87"/>
          <p:cNvSpPr/>
          <p:nvPr/>
        </p:nvSpPr>
        <p:spPr>
          <a:xfrm>
            <a:off x="29718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0" name="Text 88"/>
          <p:cNvSpPr/>
          <p:nvPr/>
        </p:nvSpPr>
        <p:spPr>
          <a:xfrm>
            <a:off x="30083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28</a:t>
            </a:r>
            <a:endParaRPr lang="en-US" sz="750" dirty="0"/>
          </a:p>
        </p:txBody>
      </p:sp>
      <p:sp>
        <p:nvSpPr>
          <p:cNvPr id="91" name="Shape 89"/>
          <p:cNvSpPr/>
          <p:nvPr/>
        </p:nvSpPr>
        <p:spPr>
          <a:xfrm>
            <a:off x="3566160" y="2240280"/>
            <a:ext cx="1280160" cy="274320"/>
          </a:xfrm>
          <a:prstGeom prst="rect">
            <a:avLst/>
          </a:prstGeom>
          <a:solidFill>
            <a:srgbClr val="F5F5F5"/>
          </a:solidFill>
          <a:ln w="3810">
            <a:solidFill>
              <a:srgbClr val="F0F0F0"/>
            </a:solidFill>
            <a:prstDash val="solid"/>
          </a:ln>
        </p:spPr>
        <p:txBody>
          <a:bodyPr/>
          <a:lstStyle/>
          <a:p>
            <a:endParaRPr lang="en-US"/>
          </a:p>
        </p:txBody>
      </p:sp>
      <p:sp>
        <p:nvSpPr>
          <p:cNvPr id="92" name="Text 90"/>
          <p:cNvSpPr/>
          <p:nvPr/>
        </p:nvSpPr>
        <p:spPr>
          <a:xfrm>
            <a:off x="3602736" y="22402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93" name="Shape 91"/>
          <p:cNvSpPr/>
          <p:nvPr/>
        </p:nvSpPr>
        <p:spPr>
          <a:xfrm>
            <a:off x="4846320" y="2240280"/>
            <a:ext cx="868680" cy="274320"/>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4882896" y="22402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95" name="Shape 93"/>
          <p:cNvSpPr/>
          <p:nvPr/>
        </p:nvSpPr>
        <p:spPr>
          <a:xfrm>
            <a:off x="57150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57515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7" name="Shape 95"/>
          <p:cNvSpPr/>
          <p:nvPr/>
        </p:nvSpPr>
        <p:spPr>
          <a:xfrm>
            <a:off x="6309360" y="2240280"/>
            <a:ext cx="685800" cy="274320"/>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345936" y="22402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9" name="Shape 97"/>
          <p:cNvSpPr/>
          <p:nvPr/>
        </p:nvSpPr>
        <p:spPr>
          <a:xfrm>
            <a:off x="502920" y="2514600"/>
            <a:ext cx="1143000" cy="274320"/>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39496" y="25146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rag_worker</a:t>
            </a:r>
            <a:endParaRPr lang="en-US" sz="750" dirty="0"/>
          </a:p>
        </p:txBody>
      </p:sp>
      <p:sp>
        <p:nvSpPr>
          <p:cNvPr id="101" name="Shape 99"/>
          <p:cNvSpPr/>
          <p:nvPr/>
        </p:nvSpPr>
        <p:spPr>
          <a:xfrm>
            <a:off x="1645920" y="2514600"/>
            <a:ext cx="822960" cy="274320"/>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1682496" y="25146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a:t>
            </a:r>
            <a:endParaRPr lang="en-US" sz="750" dirty="0"/>
          </a:p>
        </p:txBody>
      </p:sp>
      <p:sp>
        <p:nvSpPr>
          <p:cNvPr id="103" name="Shape 101"/>
          <p:cNvSpPr/>
          <p:nvPr/>
        </p:nvSpPr>
        <p:spPr>
          <a:xfrm>
            <a:off x="2468880" y="2514600"/>
            <a:ext cx="502920" cy="274320"/>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2505456" y="25146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05" name="Shape 103"/>
          <p:cNvSpPr/>
          <p:nvPr/>
        </p:nvSpPr>
        <p:spPr>
          <a:xfrm>
            <a:off x="29718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06" name="Text 104"/>
          <p:cNvSpPr/>
          <p:nvPr/>
        </p:nvSpPr>
        <p:spPr>
          <a:xfrm>
            <a:off x="30083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07" name="Shape 105"/>
          <p:cNvSpPr/>
          <p:nvPr/>
        </p:nvSpPr>
        <p:spPr>
          <a:xfrm>
            <a:off x="3566160" y="2514600"/>
            <a:ext cx="1280160" cy="274320"/>
          </a:xfrm>
          <a:prstGeom prst="rect">
            <a:avLst/>
          </a:prstGeom>
          <a:solidFill>
            <a:srgbClr val="FFFFFF"/>
          </a:solidFill>
          <a:ln w="3810">
            <a:solidFill>
              <a:srgbClr val="F0F0F0"/>
            </a:solidFill>
            <a:prstDash val="solid"/>
          </a:ln>
        </p:spPr>
        <p:txBody>
          <a:bodyPr/>
          <a:lstStyle/>
          <a:p>
            <a:endParaRPr lang="en-US"/>
          </a:p>
        </p:txBody>
      </p:sp>
      <p:sp>
        <p:nvSpPr>
          <p:cNvPr id="108" name="Text 106"/>
          <p:cNvSpPr/>
          <p:nvPr/>
        </p:nvSpPr>
        <p:spPr>
          <a:xfrm>
            <a:off x="3602736" y="25146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109" name="Shape 107"/>
          <p:cNvSpPr/>
          <p:nvPr/>
        </p:nvSpPr>
        <p:spPr>
          <a:xfrm>
            <a:off x="4846320" y="2514600"/>
            <a:ext cx="868680" cy="274320"/>
          </a:xfrm>
          <a:prstGeom prst="rect">
            <a:avLst/>
          </a:prstGeom>
          <a:solidFill>
            <a:srgbClr val="FFFFFF"/>
          </a:solidFill>
          <a:ln w="3810">
            <a:solidFill>
              <a:srgbClr val="F0F0F0"/>
            </a:solidFill>
            <a:prstDash val="solid"/>
          </a:ln>
        </p:spPr>
        <p:txBody>
          <a:bodyPr/>
          <a:lstStyle/>
          <a:p>
            <a:endParaRPr lang="en-US"/>
          </a:p>
        </p:txBody>
      </p:sp>
      <p:sp>
        <p:nvSpPr>
          <p:cNvPr id="110" name="Text 108"/>
          <p:cNvSpPr/>
          <p:nvPr/>
        </p:nvSpPr>
        <p:spPr>
          <a:xfrm>
            <a:off x="4882896" y="25146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1" name="Shape 109"/>
          <p:cNvSpPr/>
          <p:nvPr/>
        </p:nvSpPr>
        <p:spPr>
          <a:xfrm>
            <a:off x="57150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12" name="Text 110"/>
          <p:cNvSpPr/>
          <p:nvPr/>
        </p:nvSpPr>
        <p:spPr>
          <a:xfrm>
            <a:off x="57515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13" name="Shape 111"/>
          <p:cNvSpPr/>
          <p:nvPr/>
        </p:nvSpPr>
        <p:spPr>
          <a:xfrm>
            <a:off x="6309360" y="2514600"/>
            <a:ext cx="685800" cy="274320"/>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6345936" y="25146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5" name="Shape 113"/>
          <p:cNvSpPr/>
          <p:nvPr/>
        </p:nvSpPr>
        <p:spPr>
          <a:xfrm>
            <a:off x="502920" y="2788920"/>
            <a:ext cx="1143000" cy="274320"/>
          </a:xfrm>
          <a:prstGeom prst="rect">
            <a:avLst/>
          </a:prstGeom>
          <a:solidFill>
            <a:srgbClr val="F5F5F5"/>
          </a:solidFill>
          <a:ln w="3810">
            <a:solidFill>
              <a:srgbClr val="F0F0F0"/>
            </a:solidFill>
            <a:prstDash val="solid"/>
          </a:ln>
        </p:spPr>
        <p:txBody>
          <a:bodyPr/>
          <a:lstStyle/>
          <a:p>
            <a:endParaRPr lang="en-US"/>
          </a:p>
        </p:txBody>
      </p:sp>
      <p:sp>
        <p:nvSpPr>
          <p:cNvPr id="116" name="Text 114"/>
          <p:cNvSpPr/>
          <p:nvPr/>
        </p:nvSpPr>
        <p:spPr>
          <a:xfrm>
            <a:off x="539496" y="27889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7" name="Shape 115"/>
          <p:cNvSpPr/>
          <p:nvPr/>
        </p:nvSpPr>
        <p:spPr>
          <a:xfrm>
            <a:off x="1645920" y="2788920"/>
            <a:ext cx="822960" cy="274320"/>
          </a:xfrm>
          <a:prstGeom prst="rect">
            <a:avLst/>
          </a:prstGeom>
          <a:solidFill>
            <a:srgbClr val="F5F5F5"/>
          </a:solidFill>
          <a:ln w="3810">
            <a:solidFill>
              <a:srgbClr val="F0F0F0"/>
            </a:solidFill>
            <a:prstDash val="solid"/>
          </a:ln>
        </p:spPr>
        <p:txBody>
          <a:bodyPr/>
          <a:lstStyle/>
          <a:p>
            <a:endParaRPr lang="en-US"/>
          </a:p>
        </p:txBody>
      </p:sp>
      <p:sp>
        <p:nvSpPr>
          <p:cNvPr id="118" name="Text 116"/>
          <p:cNvSpPr/>
          <p:nvPr/>
        </p:nvSpPr>
        <p:spPr>
          <a:xfrm>
            <a:off x="1682496" y="27889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9" name="Shape 117"/>
          <p:cNvSpPr/>
          <p:nvPr/>
        </p:nvSpPr>
        <p:spPr>
          <a:xfrm>
            <a:off x="2468880" y="2788920"/>
            <a:ext cx="502920" cy="274320"/>
          </a:xfrm>
          <a:prstGeom prst="rect">
            <a:avLst/>
          </a:prstGeom>
          <a:solidFill>
            <a:srgbClr val="F5F5F5"/>
          </a:solidFill>
          <a:ln w="3810">
            <a:solidFill>
              <a:srgbClr val="F0F0F0"/>
            </a:solidFill>
            <a:prstDash val="solid"/>
          </a:ln>
        </p:spPr>
        <p:txBody>
          <a:bodyPr/>
          <a:lstStyle/>
          <a:p>
            <a:endParaRPr lang="en-US"/>
          </a:p>
        </p:txBody>
      </p:sp>
      <p:sp>
        <p:nvSpPr>
          <p:cNvPr id="120" name="Text 118"/>
          <p:cNvSpPr/>
          <p:nvPr/>
        </p:nvSpPr>
        <p:spPr>
          <a:xfrm>
            <a:off x="2505456" y="27889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21" name="Shape 119"/>
          <p:cNvSpPr/>
          <p:nvPr/>
        </p:nvSpPr>
        <p:spPr>
          <a:xfrm>
            <a:off x="29718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2" name="Text 120"/>
          <p:cNvSpPr/>
          <p:nvPr/>
        </p:nvSpPr>
        <p:spPr>
          <a:xfrm>
            <a:off x="30083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23" name="Shape 121"/>
          <p:cNvSpPr/>
          <p:nvPr/>
        </p:nvSpPr>
        <p:spPr>
          <a:xfrm>
            <a:off x="3566160" y="2788920"/>
            <a:ext cx="1280160" cy="274320"/>
          </a:xfrm>
          <a:prstGeom prst="rect">
            <a:avLst/>
          </a:prstGeom>
          <a:solidFill>
            <a:srgbClr val="F5F5F5"/>
          </a:solidFill>
          <a:ln w="3810">
            <a:solidFill>
              <a:srgbClr val="F0F0F0"/>
            </a:solidFill>
            <a:prstDash val="solid"/>
          </a:ln>
        </p:spPr>
        <p:txBody>
          <a:bodyPr/>
          <a:lstStyle/>
          <a:p>
            <a:endParaRPr lang="en-US"/>
          </a:p>
        </p:txBody>
      </p:sp>
      <p:sp>
        <p:nvSpPr>
          <p:cNvPr id="124" name="Text 122"/>
          <p:cNvSpPr/>
          <p:nvPr/>
        </p:nvSpPr>
        <p:spPr>
          <a:xfrm>
            <a:off x="3602736" y="27889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125" name="Shape 123"/>
          <p:cNvSpPr/>
          <p:nvPr/>
        </p:nvSpPr>
        <p:spPr>
          <a:xfrm>
            <a:off x="4846320" y="2788920"/>
            <a:ext cx="868680" cy="274320"/>
          </a:xfrm>
          <a:prstGeom prst="rect">
            <a:avLst/>
          </a:prstGeom>
          <a:solidFill>
            <a:srgbClr val="F5F5F5"/>
          </a:solidFill>
          <a:ln w="3810">
            <a:solidFill>
              <a:srgbClr val="F0F0F0"/>
            </a:solidFill>
            <a:prstDash val="solid"/>
          </a:ln>
        </p:spPr>
        <p:txBody>
          <a:bodyPr/>
          <a:lstStyle/>
          <a:p>
            <a:endParaRPr lang="en-US"/>
          </a:p>
        </p:txBody>
      </p:sp>
      <p:sp>
        <p:nvSpPr>
          <p:cNvPr id="126" name="Text 124"/>
          <p:cNvSpPr/>
          <p:nvPr/>
        </p:nvSpPr>
        <p:spPr>
          <a:xfrm>
            <a:off x="4882896" y="27889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7" name="Shape 125"/>
          <p:cNvSpPr/>
          <p:nvPr/>
        </p:nvSpPr>
        <p:spPr>
          <a:xfrm>
            <a:off x="57150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8" name="Text 126"/>
          <p:cNvSpPr/>
          <p:nvPr/>
        </p:nvSpPr>
        <p:spPr>
          <a:xfrm>
            <a:off x="57515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9" name="Shape 127"/>
          <p:cNvSpPr/>
          <p:nvPr/>
        </p:nvSpPr>
        <p:spPr>
          <a:xfrm>
            <a:off x="6309360" y="2788920"/>
            <a:ext cx="685800" cy="274320"/>
          </a:xfrm>
          <a:prstGeom prst="rect">
            <a:avLst/>
          </a:prstGeom>
          <a:solidFill>
            <a:srgbClr val="F5F5F5"/>
          </a:solidFill>
          <a:ln w="3810">
            <a:solidFill>
              <a:srgbClr val="F0F0F0"/>
            </a:solidFill>
            <a:prstDash val="solid"/>
          </a:ln>
        </p:spPr>
        <p:txBody>
          <a:bodyPr/>
          <a:lstStyle/>
          <a:p>
            <a:endParaRPr lang="en-US"/>
          </a:p>
        </p:txBody>
      </p:sp>
      <p:sp>
        <p:nvSpPr>
          <p:cNvPr id="130" name="Text 128"/>
          <p:cNvSpPr/>
          <p:nvPr/>
        </p:nvSpPr>
        <p:spPr>
          <a:xfrm>
            <a:off x="6345936" y="27889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31" name="Shape 129"/>
          <p:cNvSpPr/>
          <p:nvPr/>
        </p:nvSpPr>
        <p:spPr>
          <a:xfrm>
            <a:off x="502920" y="3063240"/>
            <a:ext cx="1143000" cy="274320"/>
          </a:xfrm>
          <a:prstGeom prst="rect">
            <a:avLst/>
          </a:prstGeom>
          <a:solidFill>
            <a:srgbClr val="FFFFFF"/>
          </a:solidFill>
          <a:ln w="3810">
            <a:solidFill>
              <a:srgbClr val="F0F0F0"/>
            </a:solidFill>
            <a:prstDash val="solid"/>
          </a:ln>
        </p:spPr>
        <p:txBody>
          <a:bodyPr/>
          <a:lstStyle/>
          <a:p>
            <a:endParaRPr lang="en-US"/>
          </a:p>
        </p:txBody>
      </p:sp>
      <p:sp>
        <p:nvSpPr>
          <p:cNvPr id="132" name="Text 130"/>
          <p:cNvSpPr/>
          <p:nvPr/>
        </p:nvSpPr>
        <p:spPr>
          <a:xfrm>
            <a:off x="539496" y="30632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finalizer</a:t>
            </a:r>
            <a:endParaRPr lang="en-US" sz="750" dirty="0"/>
          </a:p>
        </p:txBody>
      </p:sp>
      <p:sp>
        <p:nvSpPr>
          <p:cNvPr id="133" name="Shape 131"/>
          <p:cNvSpPr/>
          <p:nvPr/>
        </p:nvSpPr>
        <p:spPr>
          <a:xfrm>
            <a:off x="1645920" y="3063240"/>
            <a:ext cx="822960" cy="274320"/>
          </a:xfrm>
          <a:prstGeom prst="rect">
            <a:avLst/>
          </a:prstGeom>
          <a:solidFill>
            <a:srgbClr val="FFFFFF"/>
          </a:solidFill>
          <a:ln w="3810">
            <a:solidFill>
              <a:srgbClr val="F0F0F0"/>
            </a:solidFill>
            <a:prstDash val="solid"/>
          </a:ln>
        </p:spPr>
        <p:txBody>
          <a:bodyPr/>
          <a:lstStyle/>
          <a:p>
            <a:endParaRPr lang="en-US"/>
          </a:p>
        </p:txBody>
      </p:sp>
      <p:sp>
        <p:nvSpPr>
          <p:cNvPr id="134" name="Text 132"/>
          <p:cNvSpPr/>
          <p:nvPr/>
        </p:nvSpPr>
        <p:spPr>
          <a:xfrm>
            <a:off x="1682496" y="30632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a:t>
            </a:r>
            <a:endParaRPr lang="en-US" sz="750" dirty="0"/>
          </a:p>
        </p:txBody>
      </p:sp>
      <p:sp>
        <p:nvSpPr>
          <p:cNvPr id="135" name="Shape 133"/>
          <p:cNvSpPr/>
          <p:nvPr/>
        </p:nvSpPr>
        <p:spPr>
          <a:xfrm>
            <a:off x="2468880" y="3063240"/>
            <a:ext cx="502920" cy="274320"/>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2505456" y="30632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37" name="Shape 135"/>
          <p:cNvSpPr/>
          <p:nvPr/>
        </p:nvSpPr>
        <p:spPr>
          <a:xfrm>
            <a:off x="29718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30083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39" name="Shape 137"/>
          <p:cNvSpPr/>
          <p:nvPr/>
        </p:nvSpPr>
        <p:spPr>
          <a:xfrm>
            <a:off x="3566160" y="3063240"/>
            <a:ext cx="1280160" cy="274320"/>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602736" y="30632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141" name="Shape 139"/>
          <p:cNvSpPr/>
          <p:nvPr/>
        </p:nvSpPr>
        <p:spPr>
          <a:xfrm>
            <a:off x="4846320" y="3063240"/>
            <a:ext cx="868680" cy="274320"/>
          </a:xfrm>
          <a:prstGeom prst="rect">
            <a:avLst/>
          </a:prstGeom>
          <a:solidFill>
            <a:srgbClr val="FFFFFF"/>
          </a:solidFill>
          <a:ln w="3810">
            <a:solidFill>
              <a:srgbClr val="F0F0F0"/>
            </a:solidFill>
            <a:prstDash val="solid"/>
          </a:ln>
        </p:spPr>
        <p:txBody>
          <a:bodyPr/>
          <a:lstStyle/>
          <a:p>
            <a:endParaRPr lang="en-US"/>
          </a:p>
        </p:txBody>
      </p:sp>
      <p:sp>
        <p:nvSpPr>
          <p:cNvPr id="142" name="Text 140"/>
          <p:cNvSpPr/>
          <p:nvPr/>
        </p:nvSpPr>
        <p:spPr>
          <a:xfrm>
            <a:off x="4882896" y="30632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3" name="Shape 141"/>
          <p:cNvSpPr/>
          <p:nvPr/>
        </p:nvSpPr>
        <p:spPr>
          <a:xfrm>
            <a:off x="57150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44" name="Text 142"/>
          <p:cNvSpPr/>
          <p:nvPr/>
        </p:nvSpPr>
        <p:spPr>
          <a:xfrm>
            <a:off x="57515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5" name="Shape 143"/>
          <p:cNvSpPr/>
          <p:nvPr/>
        </p:nvSpPr>
        <p:spPr>
          <a:xfrm>
            <a:off x="6309360" y="3063240"/>
            <a:ext cx="685800" cy="274320"/>
          </a:xfrm>
          <a:prstGeom prst="rect">
            <a:avLst/>
          </a:prstGeom>
          <a:solidFill>
            <a:srgbClr val="FFFFFF"/>
          </a:solidFill>
          <a:ln w="3810">
            <a:solidFill>
              <a:srgbClr val="F0F0F0"/>
            </a:solidFill>
            <a:prstDash val="solid"/>
          </a:ln>
        </p:spPr>
        <p:txBody>
          <a:bodyPr/>
          <a:lstStyle/>
          <a:p>
            <a:endParaRPr lang="en-US"/>
          </a:p>
        </p:txBody>
      </p:sp>
      <p:sp>
        <p:nvSpPr>
          <p:cNvPr id="146" name="Text 144"/>
          <p:cNvSpPr/>
          <p:nvPr/>
        </p:nvSpPr>
        <p:spPr>
          <a:xfrm>
            <a:off x="6345936" y="30632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7" name="Shape 145"/>
          <p:cNvSpPr/>
          <p:nvPr/>
        </p:nvSpPr>
        <p:spPr>
          <a:xfrm>
            <a:off x="502920" y="3337560"/>
            <a:ext cx="1143000" cy="274320"/>
          </a:xfrm>
          <a:prstGeom prst="rect">
            <a:avLst/>
          </a:prstGeom>
          <a:solidFill>
            <a:srgbClr val="F5F5F5"/>
          </a:solidFill>
          <a:ln w="3810">
            <a:solidFill>
              <a:srgbClr val="F0F0F0"/>
            </a:solidFill>
            <a:prstDash val="solid"/>
          </a:ln>
        </p:spPr>
        <p:txBody>
          <a:bodyPr/>
          <a:lstStyle/>
          <a:p>
            <a:endParaRPr lang="en-US"/>
          </a:p>
        </p:txBody>
      </p:sp>
      <p:sp>
        <p:nvSpPr>
          <p:cNvPr id="148" name="Text 146"/>
          <p:cNvSpPr/>
          <p:nvPr/>
        </p:nvSpPr>
        <p:spPr>
          <a:xfrm>
            <a:off x="539496" y="33375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49" name="Shape 147"/>
          <p:cNvSpPr/>
          <p:nvPr/>
        </p:nvSpPr>
        <p:spPr>
          <a:xfrm>
            <a:off x="1645920" y="3337560"/>
            <a:ext cx="822960" cy="274320"/>
          </a:xfrm>
          <a:prstGeom prst="rect">
            <a:avLst/>
          </a:prstGeom>
          <a:solidFill>
            <a:srgbClr val="F5F5F5"/>
          </a:solidFill>
          <a:ln w="3810">
            <a:solidFill>
              <a:srgbClr val="F0F0F0"/>
            </a:solidFill>
            <a:prstDash val="solid"/>
          </a:ln>
        </p:spPr>
        <p:txBody>
          <a:bodyPr/>
          <a:lstStyle/>
          <a:p>
            <a:endParaRPr lang="en-US"/>
          </a:p>
        </p:txBody>
      </p:sp>
      <p:sp>
        <p:nvSpPr>
          <p:cNvPr id="150" name="Text 148"/>
          <p:cNvSpPr/>
          <p:nvPr/>
        </p:nvSpPr>
        <p:spPr>
          <a:xfrm>
            <a:off x="1682496" y="33375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51" name="Shape 149"/>
          <p:cNvSpPr/>
          <p:nvPr/>
        </p:nvSpPr>
        <p:spPr>
          <a:xfrm>
            <a:off x="2468880" y="3337560"/>
            <a:ext cx="502920" cy="274320"/>
          </a:xfrm>
          <a:prstGeom prst="rect">
            <a:avLst/>
          </a:prstGeom>
          <a:solidFill>
            <a:srgbClr val="F5F5F5"/>
          </a:solidFill>
          <a:ln w="3810">
            <a:solidFill>
              <a:srgbClr val="F0F0F0"/>
            </a:solidFill>
            <a:prstDash val="solid"/>
          </a:ln>
        </p:spPr>
        <p:txBody>
          <a:bodyPr/>
          <a:lstStyle/>
          <a:p>
            <a:endParaRPr lang="en-US"/>
          </a:p>
        </p:txBody>
      </p:sp>
      <p:sp>
        <p:nvSpPr>
          <p:cNvPr id="152" name="Text 150"/>
          <p:cNvSpPr/>
          <p:nvPr/>
        </p:nvSpPr>
        <p:spPr>
          <a:xfrm>
            <a:off x="2505456" y="33375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13</a:t>
            </a:r>
            <a:endParaRPr lang="en-US" sz="750" dirty="0"/>
          </a:p>
        </p:txBody>
      </p:sp>
      <p:sp>
        <p:nvSpPr>
          <p:cNvPr id="153" name="Shape 151"/>
          <p:cNvSpPr/>
          <p:nvPr/>
        </p:nvSpPr>
        <p:spPr>
          <a:xfrm>
            <a:off x="29718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54" name="Text 152"/>
          <p:cNvSpPr/>
          <p:nvPr/>
        </p:nvSpPr>
        <p:spPr>
          <a:xfrm>
            <a:off x="30083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55" name="Shape 153"/>
          <p:cNvSpPr/>
          <p:nvPr/>
        </p:nvSpPr>
        <p:spPr>
          <a:xfrm>
            <a:off x="3566160" y="3337560"/>
            <a:ext cx="1280160" cy="274320"/>
          </a:xfrm>
          <a:prstGeom prst="rect">
            <a:avLst/>
          </a:prstGeom>
          <a:solidFill>
            <a:srgbClr val="F5F5F5"/>
          </a:solidFill>
          <a:ln w="3810">
            <a:solidFill>
              <a:srgbClr val="F0F0F0"/>
            </a:solidFill>
            <a:prstDash val="solid"/>
          </a:ln>
        </p:spPr>
        <p:txBody>
          <a:bodyPr/>
          <a:lstStyle/>
          <a:p>
            <a:endParaRPr lang="en-US"/>
          </a:p>
        </p:txBody>
      </p:sp>
      <p:sp>
        <p:nvSpPr>
          <p:cNvPr id="156" name="Text 154"/>
          <p:cNvSpPr/>
          <p:nvPr/>
        </p:nvSpPr>
        <p:spPr>
          <a:xfrm>
            <a:off x="3602736" y="33375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157" name="Shape 155"/>
          <p:cNvSpPr/>
          <p:nvPr/>
        </p:nvSpPr>
        <p:spPr>
          <a:xfrm>
            <a:off x="4846320" y="3337560"/>
            <a:ext cx="868680" cy="274320"/>
          </a:xfrm>
          <a:prstGeom prst="rect">
            <a:avLst/>
          </a:prstGeom>
          <a:solidFill>
            <a:srgbClr val="F5F5F5"/>
          </a:solidFill>
          <a:ln w="3810">
            <a:solidFill>
              <a:srgbClr val="F0F0F0"/>
            </a:solidFill>
            <a:prstDash val="solid"/>
          </a:ln>
        </p:spPr>
        <p:txBody>
          <a:bodyPr/>
          <a:lstStyle/>
          <a:p>
            <a:endParaRPr lang="en-US"/>
          </a:p>
        </p:txBody>
      </p:sp>
      <p:sp>
        <p:nvSpPr>
          <p:cNvPr id="158" name="Text 156"/>
          <p:cNvSpPr/>
          <p:nvPr/>
        </p:nvSpPr>
        <p:spPr>
          <a:xfrm>
            <a:off x="4882896" y="33375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59" name="Shape 157"/>
          <p:cNvSpPr/>
          <p:nvPr/>
        </p:nvSpPr>
        <p:spPr>
          <a:xfrm>
            <a:off x="57150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60" name="Text 158"/>
          <p:cNvSpPr/>
          <p:nvPr/>
        </p:nvSpPr>
        <p:spPr>
          <a:xfrm>
            <a:off x="57515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61" name="Shape 159"/>
          <p:cNvSpPr/>
          <p:nvPr/>
        </p:nvSpPr>
        <p:spPr>
          <a:xfrm>
            <a:off x="6309360" y="3337560"/>
            <a:ext cx="685800" cy="274320"/>
          </a:xfrm>
          <a:prstGeom prst="rect">
            <a:avLst/>
          </a:prstGeom>
          <a:solidFill>
            <a:srgbClr val="F5F5F5"/>
          </a:solidFill>
          <a:ln w="3810">
            <a:solidFill>
              <a:srgbClr val="F0F0F0"/>
            </a:solidFill>
            <a:prstDash val="solid"/>
          </a:ln>
        </p:spPr>
        <p:txBody>
          <a:bodyPr/>
          <a:lstStyle/>
          <a:p>
            <a:endParaRPr lang="en-US"/>
          </a:p>
        </p:txBody>
      </p:sp>
      <p:sp>
        <p:nvSpPr>
          <p:cNvPr id="162" name="Text 160"/>
          <p:cNvSpPr/>
          <p:nvPr/>
        </p:nvSpPr>
        <p:spPr>
          <a:xfrm>
            <a:off x="6345936" y="33375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63" name="Shape 161"/>
          <p:cNvSpPr/>
          <p:nvPr/>
        </p:nvSpPr>
        <p:spPr>
          <a:xfrm>
            <a:off x="502920" y="3611880"/>
            <a:ext cx="1143000" cy="274320"/>
          </a:xfrm>
          <a:prstGeom prst="rect">
            <a:avLst/>
          </a:prstGeom>
          <a:solidFill>
            <a:srgbClr val="FFFFFF"/>
          </a:solidFill>
          <a:ln w="3810">
            <a:solidFill>
              <a:srgbClr val="F0F0F0"/>
            </a:solidFill>
            <a:prstDash val="solid"/>
          </a:ln>
        </p:spPr>
        <p:txBody>
          <a:bodyPr/>
          <a:lstStyle/>
          <a:p>
            <a:endParaRPr lang="en-US"/>
          </a:p>
        </p:txBody>
      </p:sp>
      <p:sp>
        <p:nvSpPr>
          <p:cNvPr id="164" name="Text 162"/>
          <p:cNvSpPr/>
          <p:nvPr/>
        </p:nvSpPr>
        <p:spPr>
          <a:xfrm>
            <a:off x="539496" y="36118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memory_m.</a:t>
            </a:r>
            <a:endParaRPr lang="en-US" sz="750" dirty="0"/>
          </a:p>
        </p:txBody>
      </p:sp>
      <p:sp>
        <p:nvSpPr>
          <p:cNvPr id="165" name="Shape 163"/>
          <p:cNvSpPr/>
          <p:nvPr/>
        </p:nvSpPr>
        <p:spPr>
          <a:xfrm>
            <a:off x="1645920" y="3611880"/>
            <a:ext cx="822960" cy="274320"/>
          </a:xfrm>
          <a:prstGeom prst="rect">
            <a:avLst/>
          </a:prstGeom>
          <a:solidFill>
            <a:srgbClr val="FFFFFF"/>
          </a:solidFill>
          <a:ln w="3810">
            <a:solidFill>
              <a:srgbClr val="F0F0F0"/>
            </a:solidFill>
            <a:prstDash val="solid"/>
          </a:ln>
        </p:spPr>
        <p:txBody>
          <a:bodyPr/>
          <a:lstStyle/>
          <a:p>
            <a:endParaRPr lang="en-US"/>
          </a:p>
        </p:txBody>
      </p:sp>
      <p:sp>
        <p:nvSpPr>
          <p:cNvPr id="166" name="Text 164"/>
          <p:cNvSpPr/>
          <p:nvPr/>
        </p:nvSpPr>
        <p:spPr>
          <a:xfrm>
            <a:off x="1682496" y="36118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a:t>
            </a:r>
            <a:endParaRPr lang="en-US" sz="750" dirty="0"/>
          </a:p>
        </p:txBody>
      </p:sp>
      <p:sp>
        <p:nvSpPr>
          <p:cNvPr id="167" name="Shape 165"/>
          <p:cNvSpPr/>
          <p:nvPr/>
        </p:nvSpPr>
        <p:spPr>
          <a:xfrm>
            <a:off x="2468880" y="3611880"/>
            <a:ext cx="502920" cy="274320"/>
          </a:xfrm>
          <a:prstGeom prst="rect">
            <a:avLst/>
          </a:prstGeom>
          <a:solidFill>
            <a:srgbClr val="FFFFFF"/>
          </a:solidFill>
          <a:ln w="3810">
            <a:solidFill>
              <a:srgbClr val="F0F0F0"/>
            </a:solidFill>
            <a:prstDash val="solid"/>
          </a:ln>
        </p:spPr>
        <p:txBody>
          <a:bodyPr/>
          <a:lstStyle/>
          <a:p>
            <a:endParaRPr lang="en-US"/>
          </a:p>
        </p:txBody>
      </p:sp>
      <p:sp>
        <p:nvSpPr>
          <p:cNvPr id="168" name="Text 166"/>
          <p:cNvSpPr/>
          <p:nvPr/>
        </p:nvSpPr>
        <p:spPr>
          <a:xfrm>
            <a:off x="2505456" y="36118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69" name="Shape 167"/>
          <p:cNvSpPr/>
          <p:nvPr/>
        </p:nvSpPr>
        <p:spPr>
          <a:xfrm>
            <a:off x="29718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0" name="Text 168"/>
          <p:cNvSpPr/>
          <p:nvPr/>
        </p:nvSpPr>
        <p:spPr>
          <a:xfrm>
            <a:off x="30083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71" name="Shape 169"/>
          <p:cNvSpPr/>
          <p:nvPr/>
        </p:nvSpPr>
        <p:spPr>
          <a:xfrm>
            <a:off x="3566160" y="3611880"/>
            <a:ext cx="1280160" cy="274320"/>
          </a:xfrm>
          <a:prstGeom prst="rect">
            <a:avLst/>
          </a:prstGeom>
          <a:solidFill>
            <a:srgbClr val="FFFFFF"/>
          </a:solidFill>
          <a:ln w="3810">
            <a:solidFill>
              <a:srgbClr val="F0F0F0"/>
            </a:solidFill>
            <a:prstDash val="solid"/>
          </a:ln>
        </p:spPr>
        <p:txBody>
          <a:bodyPr/>
          <a:lstStyle/>
          <a:p>
            <a:endParaRPr lang="en-US"/>
          </a:p>
        </p:txBody>
      </p:sp>
      <p:sp>
        <p:nvSpPr>
          <p:cNvPr id="172" name="Text 170"/>
          <p:cNvSpPr/>
          <p:nvPr/>
        </p:nvSpPr>
        <p:spPr>
          <a:xfrm>
            <a:off x="3602736" y="36118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background</a:t>
            </a:r>
            <a:endParaRPr lang="en-US" sz="750" dirty="0"/>
          </a:p>
        </p:txBody>
      </p:sp>
      <p:sp>
        <p:nvSpPr>
          <p:cNvPr id="173" name="Shape 171"/>
          <p:cNvSpPr/>
          <p:nvPr/>
        </p:nvSpPr>
        <p:spPr>
          <a:xfrm>
            <a:off x="4846320" y="3611880"/>
            <a:ext cx="868680" cy="274320"/>
          </a:xfrm>
          <a:prstGeom prst="rect">
            <a:avLst/>
          </a:prstGeom>
          <a:solidFill>
            <a:srgbClr val="FFFFFF"/>
          </a:solidFill>
          <a:ln w="3810">
            <a:solidFill>
              <a:srgbClr val="F0F0F0"/>
            </a:solidFill>
            <a:prstDash val="solid"/>
          </a:ln>
        </p:spPr>
        <p:txBody>
          <a:bodyPr/>
          <a:lstStyle/>
          <a:p>
            <a:endParaRPr lang="en-US"/>
          </a:p>
        </p:txBody>
      </p:sp>
      <p:sp>
        <p:nvSpPr>
          <p:cNvPr id="174" name="Text 172"/>
          <p:cNvSpPr/>
          <p:nvPr/>
        </p:nvSpPr>
        <p:spPr>
          <a:xfrm>
            <a:off x="4882896" y="36118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5" name="Shape 173"/>
          <p:cNvSpPr/>
          <p:nvPr/>
        </p:nvSpPr>
        <p:spPr>
          <a:xfrm>
            <a:off x="57150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6" name="Text 174"/>
          <p:cNvSpPr/>
          <p:nvPr/>
        </p:nvSpPr>
        <p:spPr>
          <a:xfrm>
            <a:off x="57515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7" name="Shape 175"/>
          <p:cNvSpPr/>
          <p:nvPr/>
        </p:nvSpPr>
        <p:spPr>
          <a:xfrm>
            <a:off x="6309360" y="3611880"/>
            <a:ext cx="685800" cy="274320"/>
          </a:xfrm>
          <a:prstGeom prst="rect">
            <a:avLst/>
          </a:prstGeom>
          <a:solidFill>
            <a:srgbClr val="FFFFFF"/>
          </a:solidFill>
          <a:ln w="3810">
            <a:solidFill>
              <a:srgbClr val="F0F0F0"/>
            </a:solidFill>
            <a:prstDash val="solid"/>
          </a:ln>
        </p:spPr>
        <p:txBody>
          <a:bodyPr/>
          <a:lstStyle/>
          <a:p>
            <a:endParaRPr lang="en-US"/>
          </a:p>
        </p:txBody>
      </p:sp>
      <p:sp>
        <p:nvSpPr>
          <p:cNvPr id="178" name="Text 176"/>
          <p:cNvSpPr/>
          <p:nvPr/>
        </p:nvSpPr>
        <p:spPr>
          <a:xfrm>
            <a:off x="6345936" y="36118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9" name="Text 177"/>
          <p:cNvSpPr/>
          <p:nvPr/>
        </p:nvSpPr>
        <p:spPr>
          <a:xfrm>
            <a:off x="502920" y="3977640"/>
            <a:ext cx="8138160" cy="228600"/>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 = via rag_agent_tool (not native pipeline). Pin this matrix — it's the complete reference.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Execution Flow Examples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Five real scenarios traced end-to-end</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1: "What is machine learning?"</a:t>
            </a:r>
            <a:endParaRPr lang="en-US" sz="2600" dirty="0"/>
          </a:p>
        </p:txBody>
      </p:sp>
      <p:sp>
        <p:nvSpPr>
          <p:cNvPr id="3" name="Shape 1"/>
          <p:cNvSpPr/>
          <p:nvPr/>
        </p:nvSpPr>
        <p:spPr>
          <a:xfrm>
            <a:off x="594360"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9436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sends: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"What is ML?"</a:t>
            </a:r>
            <a:endParaRPr lang="en-US" sz="1000" dirty="0"/>
          </a:p>
        </p:txBody>
      </p:sp>
      <p:sp>
        <p:nvSpPr>
          <p:cNvPr id="5" name="Shape 3"/>
          <p:cNvSpPr/>
          <p:nvPr/>
        </p:nvSpPr>
        <p:spPr>
          <a:xfrm>
            <a:off x="1828800" y="15773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828800"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38528" y="1188720"/>
            <a:ext cx="123444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938528"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route_message()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 regex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&lt; 600 chars</a:t>
            </a:r>
            <a:endParaRPr lang="en-US" sz="1000" dirty="0"/>
          </a:p>
        </p:txBody>
      </p:sp>
      <p:sp>
        <p:nvSpPr>
          <p:cNvPr id="9" name="Shape 7"/>
          <p:cNvSpPr/>
          <p:nvPr/>
        </p:nvSpPr>
        <p:spPr>
          <a:xfrm>
            <a:off x="3172968" y="15773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3172968"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282696" y="1188720"/>
            <a:ext cx="123444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282696"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route=BASIC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conf=0.85</a:t>
            </a:r>
            <a:endParaRPr lang="en-US" sz="1000" dirty="0"/>
          </a:p>
        </p:txBody>
      </p:sp>
      <p:sp>
        <p:nvSpPr>
          <p:cNvPr id="13" name="Shape 11"/>
          <p:cNvSpPr/>
          <p:nvPr/>
        </p:nvSpPr>
        <p:spPr>
          <a:xfrm>
            <a:off x="4517136" y="15773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4517136"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626864"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26864"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.process_basic_turn()</a:t>
            </a:r>
            <a:endParaRPr lang="en-US" sz="1000" dirty="0"/>
          </a:p>
        </p:txBody>
      </p:sp>
      <p:sp>
        <p:nvSpPr>
          <p:cNvPr id="17" name="Shape 15"/>
          <p:cNvSpPr/>
          <p:nvPr/>
        </p:nvSpPr>
        <p:spPr>
          <a:xfrm>
            <a:off x="5861304" y="15773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861304"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971032" y="1188720"/>
            <a:ext cx="123444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971032"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._run_basic()</a:t>
            </a:r>
            <a:endParaRPr lang="en-US" sz="1000" dirty="0"/>
          </a:p>
        </p:txBody>
      </p:sp>
      <p:sp>
        <p:nvSpPr>
          <p:cNvPr id="21" name="Shape 19"/>
          <p:cNvSpPr/>
          <p:nvPr/>
        </p:nvSpPr>
        <p:spPr>
          <a:xfrm>
            <a:off x="7205472" y="15773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7205472"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7315200" y="1188720"/>
            <a:ext cx="123444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731520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Single LLM call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text response</a:t>
            </a:r>
            <a:endParaRPr lang="en-US" sz="1000" dirty="0"/>
          </a:p>
        </p:txBody>
      </p:sp>
      <p:sp>
        <p:nvSpPr>
          <p:cNvPr id="25" name="Shape 23"/>
          <p:cNvSpPr/>
          <p:nvPr/>
        </p:nvSpPr>
        <p:spPr>
          <a:xfrm>
            <a:off x="502920" y="2286000"/>
            <a:ext cx="8138160" cy="36576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2860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BASIC route = fastest path. ~200ms latency. Zero tool overhead. No RAG, no persistence beyond message history.</a:t>
            </a:r>
            <a:endParaRPr lang="en-US" sz="1000" dirty="0"/>
          </a:p>
        </p:txBody>
      </p:sp>
      <p:sp>
        <p:nvSpPr>
          <p:cNvPr id="27" name="Text 25"/>
          <p:cNvSpPr/>
          <p:nvPr/>
        </p:nvSpPr>
        <p:spPr>
          <a:xfrm>
            <a:off x="502920" y="2880360"/>
            <a:ext cx="8138160" cy="548640"/>
          </a:xfrm>
          <a:prstGeom prst="rect">
            <a:avLst/>
          </a:prstGeom>
          <a:noFill/>
          <a:ln/>
        </p:spPr>
        <p:txBody>
          <a:bodyPr wrap="square" lIns="0" tIns="0" rIns="0" bIns="0" rtlCol="0" anchor="ctr"/>
          <a:lstStyle/>
          <a:p>
            <a:pPr marL="0" indent="0">
              <a:buNone/>
            </a:pPr>
            <a:r>
              <a:rPr lang="en-US" sz="1100" dirty="0">
                <a:solidFill>
                  <a:srgbClr val="333333"/>
                </a:solidFill>
                <a:latin typeface="Arial" pitchFamily="34" charset="0"/>
                <a:ea typeface="Arial" pitchFamily="34" charset="-122"/>
                <a:cs typeface="Arial" pitchFamily="34" charset="-120"/>
              </a:rPr>
              <a:t>This is the simplest flow. General knowledge questions that don't need documents or tools take the fast path. The system prompt for basic mode comes from skill files loaded at startup.</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2: "Analyze sales.csv — top 10 products"</a:t>
            </a:r>
            <a:endParaRPr lang="en-US" sz="2600" dirty="0"/>
          </a:p>
        </p:txBody>
      </p:sp>
      <p:sp>
        <p:nvSpPr>
          <p:cNvPr id="3" name="Shape 1"/>
          <p:cNvSpPr/>
          <p:nvPr/>
        </p:nvSpPr>
        <p:spPr>
          <a:xfrm>
            <a:off x="274320" y="914400"/>
            <a:ext cx="246888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Upload -&gt; has_attachments=True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route=AGENT, conf=1.0</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suggested=data_analyst</a:t>
            </a:r>
            <a:endParaRPr lang="en-US" sz="1000" dirty="0"/>
          </a:p>
        </p:txBody>
      </p:sp>
      <p:sp>
        <p:nvSpPr>
          <p:cNvPr id="5" name="Shape 3"/>
          <p:cNvSpPr/>
          <p:nvPr/>
        </p:nvSpPr>
        <p:spPr>
          <a:xfrm>
            <a:off x="2743200" y="13030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907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30175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30175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load_dataset('sales.csv')</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sees shape, dtypes</a:t>
            </a:r>
            <a:endParaRPr lang="en-US" sz="1000" dirty="0"/>
          </a:p>
        </p:txBody>
      </p:sp>
      <p:sp>
        <p:nvSpPr>
          <p:cNvPr id="9" name="Shape 7"/>
          <p:cNvSpPr/>
          <p:nvPr/>
        </p:nvSpPr>
        <p:spPr>
          <a:xfrm>
            <a:off x="5486400" y="13030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56509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7607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57607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inspect_columns()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understands data</a:t>
            </a:r>
            <a:endParaRPr lang="en-US" sz="1000" dirty="0"/>
          </a:p>
        </p:txBody>
      </p:sp>
      <p:sp>
        <p:nvSpPr>
          <p:cNvPr id="13" name="Shape 11"/>
          <p:cNvSpPr/>
          <p:nvPr/>
        </p:nvSpPr>
        <p:spPr>
          <a:xfrm>
            <a:off x="6995160" y="1691640"/>
            <a:ext cx="0" cy="365760"/>
          </a:xfrm>
          <a:prstGeom prst="line">
            <a:avLst/>
          </a:prstGeom>
          <a:noFill/>
          <a:ln w="25400">
            <a:solidFill>
              <a:srgbClr val="0097A7"/>
            </a:solidFill>
            <a:prstDash val="solid"/>
          </a:ln>
        </p:spPr>
        <p:txBody>
          <a:bodyPr/>
          <a:lstStyle/>
          <a:p>
            <a:endParaRPr lang="en-US"/>
          </a:p>
        </p:txBody>
      </p:sp>
      <p:sp>
        <p:nvSpPr>
          <p:cNvPr id="14" name="Text 12"/>
          <p:cNvSpPr/>
          <p:nvPr/>
        </p:nvSpPr>
        <p:spPr>
          <a:xfrm>
            <a:off x="6903720" y="19842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74320" y="2103120"/>
            <a:ext cx="246888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scratchpad_write()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writes analysis plan</a:t>
            </a:r>
            <a:endParaRPr lang="en-US" sz="1000" dirty="0"/>
          </a:p>
        </p:txBody>
      </p:sp>
      <p:sp>
        <p:nvSpPr>
          <p:cNvPr id="17" name="Shape 15"/>
          <p:cNvSpPr/>
          <p:nvPr/>
        </p:nvSpPr>
        <p:spPr>
          <a:xfrm>
            <a:off x="3017520" y="2103120"/>
            <a:ext cx="246888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30175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execute_code(pandas...)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runs in Docker sandbox</a:t>
            </a:r>
            <a:endParaRPr lang="en-US" sz="1000" dirty="0"/>
          </a:p>
        </p:txBody>
      </p:sp>
      <p:sp>
        <p:nvSpPr>
          <p:cNvPr id="19" name="Shape 17"/>
          <p:cNvSpPr/>
          <p:nvPr/>
        </p:nvSpPr>
        <p:spPr>
          <a:xfrm>
            <a:off x="5486400" y="2491740"/>
            <a:ext cx="274320" cy="0"/>
          </a:xfrm>
          <a:prstGeom prst="line">
            <a:avLst/>
          </a:prstGeom>
          <a:noFill/>
          <a:ln w="25400">
            <a:solidFill>
              <a:srgbClr val="0097A7"/>
            </a:solidFill>
            <a:prstDash val="solid"/>
          </a:ln>
        </p:spPr>
        <p:txBody>
          <a:bodyPr/>
          <a:lstStyle/>
          <a:p>
            <a:endParaRPr lang="en-US"/>
          </a:p>
        </p:txBody>
      </p:sp>
      <p:sp>
        <p:nvSpPr>
          <p:cNvPr id="20" name="Text 18"/>
          <p:cNvSpPr/>
          <p:nvPr/>
        </p:nvSpPr>
        <p:spPr>
          <a:xfrm>
            <a:off x="56509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5760720" y="2103120"/>
            <a:ext cx="246888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7607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return_file('chart.png')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artifact registered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download link returned</a:t>
            </a:r>
            <a:endParaRPr lang="en-US" sz="1000" dirty="0"/>
          </a:p>
        </p:txBody>
      </p:sp>
      <p:sp>
        <p:nvSpPr>
          <p:cNvPr id="23" name="Shape 21"/>
          <p:cNvSpPr/>
          <p:nvPr/>
        </p:nvSpPr>
        <p:spPr>
          <a:xfrm>
            <a:off x="1508760" y="2880360"/>
            <a:ext cx="0" cy="0"/>
          </a:xfrm>
          <a:prstGeom prst="line">
            <a:avLst/>
          </a:prstGeom>
          <a:noFill/>
          <a:ln w="12700">
            <a:solidFill>
              <a:srgbClr val="999999"/>
            </a:solidFill>
            <a:prstDash val="solid"/>
          </a:ln>
        </p:spPr>
        <p:txBody>
          <a:bodyPr/>
          <a:lstStyle/>
          <a:p>
            <a:endParaRPr lang="en-US"/>
          </a:p>
        </p:txBody>
      </p:sp>
      <p:sp>
        <p:nvSpPr>
          <p:cNvPr id="24" name="Shape 22"/>
          <p:cNvSpPr/>
          <p:nvPr/>
        </p:nvSpPr>
        <p:spPr>
          <a:xfrm>
            <a:off x="2743200" y="2491740"/>
            <a:ext cx="274320" cy="0"/>
          </a:xfrm>
          <a:prstGeom prst="line">
            <a:avLst/>
          </a:prstGeom>
          <a:noFill/>
          <a:ln w="25400">
            <a:solidFill>
              <a:srgbClr val="0097A7"/>
            </a:solidFill>
            <a:prstDash val="solid"/>
          </a:ln>
        </p:spPr>
        <p:txBody>
          <a:bodyPr/>
          <a:lstStyle/>
          <a:p>
            <a:endParaRPr lang="en-US"/>
          </a:p>
        </p:txBody>
      </p:sp>
      <p:sp>
        <p:nvSpPr>
          <p:cNvPr id="25" name="Text 23"/>
          <p:cNvSpPr/>
          <p:nvPr/>
        </p:nvSpPr>
        <p:spPr>
          <a:xfrm>
            <a:off x="29077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6" name="Shape 24"/>
          <p:cNvSpPr/>
          <p:nvPr/>
        </p:nvSpPr>
        <p:spPr>
          <a:xfrm>
            <a:off x="502920" y="3200400"/>
            <a:ext cx="8138160" cy="45720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004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Docker sandbox: python:3.12-slim, no network, 512MB RAM, 60s timeout, 50KB output. The plan_execute strategy means the agent plans before executing.</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3: "What does the policy say about remote work?"</a:t>
            </a:r>
            <a:endParaRPr lang="en-US" sz="2600" dirty="0"/>
          </a:p>
        </p:txBody>
      </p:sp>
      <p:sp>
        <p:nvSpPr>
          <p:cNvPr id="3" name="Shape 1"/>
          <p:cNvSpPr/>
          <p:nvPr/>
        </p:nvSpPr>
        <p:spPr>
          <a:xfrm>
            <a:off x="411480" y="1097280"/>
            <a:ext cx="1554480" cy="8229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41148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RAG_HINTS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-&gt; rag_worker</a:t>
            </a:r>
            <a:endParaRPr lang="en-US" sz="1000" dirty="0"/>
          </a:p>
        </p:txBody>
      </p:sp>
      <p:sp>
        <p:nvSpPr>
          <p:cNvPr id="5" name="Shape 3"/>
          <p:cNvSpPr/>
          <p:nvPr/>
        </p:nvSpPr>
        <p:spPr>
          <a:xfrm>
            <a:off x="1965960" y="1508760"/>
            <a:ext cx="137160" cy="0"/>
          </a:xfrm>
          <a:prstGeom prst="line">
            <a:avLst/>
          </a:prstGeom>
          <a:noFill/>
          <a:ln w="25400">
            <a:solidFill>
              <a:srgbClr val="0097A7"/>
            </a:solidFill>
            <a:prstDash val="solid"/>
          </a:ln>
        </p:spPr>
        <p:txBody>
          <a:bodyPr/>
          <a:lstStyle/>
          <a:p>
            <a:endParaRPr lang="en-US"/>
          </a:p>
        </p:txBody>
      </p:sp>
      <p:sp>
        <p:nvSpPr>
          <p:cNvPr id="6" name="Text 4"/>
          <p:cNvSpPr/>
          <p:nvPr/>
        </p:nvSpPr>
        <p:spPr>
          <a:xfrm>
            <a:off x="199339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10312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10312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 Retrieval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vector + BM25</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top_k candidates</a:t>
            </a:r>
            <a:endParaRPr lang="en-US" sz="1000" dirty="0"/>
          </a:p>
        </p:txBody>
      </p:sp>
      <p:sp>
        <p:nvSpPr>
          <p:cNvPr id="9" name="Shape 7"/>
          <p:cNvSpPr/>
          <p:nvPr/>
        </p:nvSpPr>
        <p:spPr>
          <a:xfrm>
            <a:off x="3657600" y="150876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368503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794760" y="1097280"/>
            <a:ext cx="1554480" cy="8229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79476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 Grading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small LLM scores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each chunk 0-1</a:t>
            </a:r>
            <a:endParaRPr lang="en-US" sz="1000" dirty="0"/>
          </a:p>
        </p:txBody>
      </p:sp>
      <p:sp>
        <p:nvSpPr>
          <p:cNvPr id="13" name="Shape 11"/>
          <p:cNvSpPr/>
          <p:nvPr/>
        </p:nvSpPr>
        <p:spPr>
          <a:xfrm>
            <a:off x="5349240" y="1508760"/>
            <a:ext cx="137160" cy="0"/>
          </a:xfrm>
          <a:prstGeom prst="line">
            <a:avLst/>
          </a:prstGeom>
          <a:noFill/>
          <a:ln w="25400">
            <a:solidFill>
              <a:srgbClr val="0097A7"/>
            </a:solidFill>
            <a:prstDash val="solid"/>
          </a:ln>
        </p:spPr>
        <p:txBody>
          <a:bodyPr/>
          <a:lstStyle/>
          <a:p>
            <a:endParaRPr lang="en-US"/>
          </a:p>
        </p:txBody>
      </p:sp>
      <p:sp>
        <p:nvSpPr>
          <p:cNvPr id="14" name="Text 12"/>
          <p:cNvSpPr/>
          <p:nvPr/>
        </p:nvSpPr>
        <p:spPr>
          <a:xfrm>
            <a:off x="537667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5486400" y="1097280"/>
            <a:ext cx="1554480" cy="8229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generate_grounded_answer()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cite evidence inline</a:t>
            </a:r>
            <a:endParaRPr lang="en-US" sz="1000" dirty="0"/>
          </a:p>
        </p:txBody>
      </p:sp>
      <p:sp>
        <p:nvSpPr>
          <p:cNvPr id="17" name="Shape 15"/>
          <p:cNvSpPr/>
          <p:nvPr/>
        </p:nvSpPr>
        <p:spPr>
          <a:xfrm>
            <a:off x="7040880" y="1508760"/>
            <a:ext cx="137160" cy="0"/>
          </a:xfrm>
          <a:prstGeom prst="line">
            <a:avLst/>
          </a:prstGeom>
          <a:noFill/>
          <a:ln w="25400">
            <a:solidFill>
              <a:srgbClr val="0097A7"/>
            </a:solidFill>
            <a:prstDash val="solid"/>
          </a:ln>
        </p:spPr>
        <p:txBody>
          <a:bodyPr/>
          <a:lstStyle/>
          <a:p>
            <a:endParaRPr lang="en-US"/>
          </a:p>
        </p:txBody>
      </p:sp>
      <p:sp>
        <p:nvSpPr>
          <p:cNvPr id="18" name="Text 16"/>
          <p:cNvSpPr/>
          <p:nvPr/>
        </p:nvSpPr>
        <p:spPr>
          <a:xfrm>
            <a:off x="706831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717804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7804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 Building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build_citations()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320-char snippets</a:t>
            </a:r>
            <a:endParaRPr lang="en-US" sz="1000" dirty="0"/>
          </a:p>
        </p:txBody>
      </p:sp>
      <p:sp>
        <p:nvSpPr>
          <p:cNvPr id="21" name="Shape 19"/>
          <p:cNvSpPr/>
          <p:nvPr/>
        </p:nvSpPr>
        <p:spPr>
          <a:xfrm>
            <a:off x="502920" y="2285999"/>
            <a:ext cx="8138160" cy="1888757"/>
          </a:xfrm>
          <a:prstGeom prst="rect">
            <a:avLst/>
          </a:prstGeom>
          <a:solidFill>
            <a:srgbClr val="2D2D2D"/>
          </a:solidFill>
          <a:ln/>
        </p:spPr>
        <p:txBody>
          <a:bodyPr/>
          <a:lstStyle/>
          <a:p>
            <a:endParaRPr lang="en-US"/>
          </a:p>
        </p:txBody>
      </p:sp>
      <p:sp>
        <p:nvSpPr>
          <p:cNvPr id="22" name="Text 20"/>
          <p:cNvSpPr/>
          <p:nvPr/>
        </p:nvSpPr>
        <p:spPr>
          <a:xfrm>
            <a:off x="612648" y="2340864"/>
            <a:ext cx="7918704" cy="9875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RAG Contract 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answer: "The policy states that employees may work remotely up to 3 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citations: [{citation_id: 1, source: "HR-Policy-2024.pdf", snippet: "...", score: 0.92}],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used_citation_ids: [1, 3],</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confidence: "high",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retrieval_summary: {chunks_retrieved: 12, chunks_graded: 12, chunks_used: 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followups: ["What are the exceptions to the remote work 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warnings: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3" name="Shape 21"/>
          <p:cNvSpPr/>
          <p:nvPr/>
        </p:nvSpPr>
        <p:spPr>
          <a:xfrm>
            <a:off x="502920" y="4154675"/>
            <a:ext cx="8138160" cy="365760"/>
          </a:xfrm>
          <a:prstGeom prst="rect">
            <a:avLst/>
          </a:prstGeom>
          <a:solidFill>
            <a:srgbClr val="E0F7FA"/>
          </a:solidFill>
          <a:ln w="12700">
            <a:solidFill>
              <a:srgbClr val="0097A7"/>
            </a:solidFill>
            <a:prstDash val="solid"/>
          </a:ln>
        </p:spPr>
        <p:txBody>
          <a:bodyPr/>
          <a:lstStyle/>
          <a:p>
            <a:endParaRPr lang="en-US"/>
          </a:p>
        </p:txBody>
      </p:sp>
      <p:sp>
        <p:nvSpPr>
          <p:cNvPr id="24" name="Text 22"/>
          <p:cNvSpPr/>
          <p:nvPr/>
        </p:nvSpPr>
        <p:spPr>
          <a:xfrm>
            <a:off x="612648" y="4119353"/>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RAG worker doesn't use ReAct. It has its own pipeline guaranteeing structured, citable output. New: evidence_only mode returns raw evidence without synthesis.</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4: "Compare Q1/Q2 sales, research trends, write report"</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Planner</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Parallel Workers (max 4 concurrent)</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data_analyst: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Compare Q1 vs Q2</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Research trends</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utility: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 guidance</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Finalizer</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Verifier</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{"id":1, "worker":"data_analyst",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"instruction":"Compare Q1 vs Q2 metrics"},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{"id":2, "worker":"rag_worker",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"instruction":"Research market trends"},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{"id":3, "worker":"utility",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"instruction":"Search for skill guidance"}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 xml:space="preserve">Key Design: </a:t>
            </a:r>
            <a:r>
              <a:rPr lang="en-US" sz="1000" dirty="0">
                <a:solidFill>
                  <a:srgbClr val="333333"/>
                </a:solidFill>
                <a:latin typeface="Arial" pitchFamily="34" charset="0"/>
                <a:ea typeface="Arial" pitchFamily="34" charset="-122"/>
                <a:cs typeface="Arial" pitchFamily="34" charset="-120"/>
              </a:rPr>
              <a:t>Coordinator NEVER does work itself. It plans, delegates, and quality-checks. Workers run on separate threads with their own QueryLoop instances. Durable jobs survive server restarts.</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verifier flags issues -&gt; revision loop back to planner. Optional Step 5 ensures factual accuracy.</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runtime/job_manager.py, data/agents/coordinator.md</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5: Memory in Action</a:t>
            </a:r>
            <a:endParaRPr lang="en-US" sz="2600" dirty="0"/>
          </a:p>
        </p:txBody>
      </p:sp>
      <p:sp>
        <p:nvSpPr>
          <p:cNvPr id="3" name="Shape 1"/>
          <p:cNvSpPr/>
          <p:nvPr/>
        </p:nvSpPr>
        <p:spPr>
          <a:xfrm>
            <a:off x="502920" y="96012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A: Memory Injection (Every Turn)</a:t>
            </a:r>
            <a:endParaRPr lang="en-US" sz="1200" dirty="0"/>
          </a:p>
        </p:txBody>
      </p:sp>
      <p:sp>
        <p:nvSpPr>
          <p:cNvPr id="6" name="Text 4"/>
          <p:cNvSpPr/>
          <p:nvPr/>
        </p:nvSpPr>
        <p:spPr>
          <a:xfrm>
            <a:off x="612648" y="134416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MemoryContextBuilder injects relevant memories into the system prompt before each agent run.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Scoped to user + conversation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Max 2000 characters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Retrieved by relevance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Refreshed every turn</a:t>
            </a:r>
            <a:endParaRPr lang="en-US" sz="1000" dirty="0"/>
          </a:p>
        </p:txBody>
      </p:sp>
      <p:sp>
        <p:nvSpPr>
          <p:cNvPr id="7" name="Shape 5"/>
          <p:cNvSpPr/>
          <p:nvPr/>
        </p:nvSpPr>
        <p:spPr>
          <a:xfrm>
            <a:off x="4754880" y="96012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B: Memory Extraction (Post-Turn)</a:t>
            </a:r>
            <a:endParaRPr lang="en-US" sz="1200" dirty="0"/>
          </a:p>
        </p:txBody>
      </p:sp>
      <p:sp>
        <p:nvSpPr>
          <p:cNvPr id="10" name="Text 8"/>
          <p:cNvSpPr/>
          <p:nvPr/>
        </p:nvSpPr>
        <p:spPr>
          <a:xfrm>
            <a:off x="4864608" y="134416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memory_maintainer agent extracts new memories from conversation.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Pattern detection: 'remember that...', 'note that...'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Saves to: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Updates: index.json (auth) -&gt; MEMORY.md + topics/*.md</a:t>
            </a:r>
            <a:endParaRPr lang="en-US" sz="1000" dirty="0"/>
          </a:p>
        </p:txBody>
      </p:sp>
      <p:sp>
        <p:nvSpPr>
          <p:cNvPr id="11" name="Text 9"/>
          <p:cNvSpPr/>
          <p:nvPr/>
        </p:nvSpPr>
        <p:spPr>
          <a:xfrm>
            <a:off x="502920" y="3017520"/>
            <a:ext cx="8138160" cy="548640"/>
          </a:xfrm>
          <a:prstGeom prst="rect">
            <a:avLst/>
          </a:prstGeom>
          <a:noFill/>
          <a:ln/>
        </p:spPr>
        <p:txBody>
          <a:bodyPr wrap="square" lIns="0" tIns="0" rIns="0" bIns="0" rtlCol="0" anchor="t"/>
          <a:lstStyle/>
          <a:p>
            <a:pPr marL="0" indent="0">
              <a:buNone/>
            </a:pPr>
            <a:r>
              <a:rPr lang="en-US" sz="1100" b="1" dirty="0">
                <a:solidFill>
                  <a:srgbClr val="333333"/>
                </a:solidFill>
                <a:latin typeface="Arial" pitchFamily="34" charset="0"/>
                <a:ea typeface="Arial" pitchFamily="34" charset="-122"/>
                <a:cs typeface="Arial" pitchFamily="34" charset="-120"/>
              </a:rPr>
              <a:t xml:space="preserve">Example: </a:t>
            </a:r>
            <a:r>
              <a:rPr lang="en-US" sz="1100" dirty="0">
                <a:solidFill>
                  <a:srgbClr val="333333"/>
                </a:solidFill>
                <a:latin typeface="Arial" pitchFamily="34" charset="0"/>
                <a:ea typeface="Arial" pitchFamily="34" charset="-122"/>
                <a:cs typeface="Arial" pitchFamily="34" charset="-120"/>
              </a:rPr>
              <a:t>User says 'I prefer charts in dark mode' -&gt; extracted and stored. Next data analysis request, this memory is injected into data_analyst prompt -&gt; dark-mode chart generated automatically.</a:t>
            </a:r>
            <a:endParaRPr lang="en-US" sz="1100" dirty="0"/>
          </a:p>
        </p:txBody>
      </p:sp>
      <p:sp>
        <p:nvSpPr>
          <p:cNvPr id="12" name="Shape 10"/>
          <p:cNvSpPr/>
          <p:nvPr/>
        </p:nvSpPr>
        <p:spPr>
          <a:xfrm>
            <a:off x="502920" y="3703320"/>
            <a:ext cx="8138160" cy="32004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70332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Memory extraction still uses heuristic pattern detection. Storage is backed by the PostgreSQL persistence layer via KnowledgeStores.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memory/context_builder.py, memory/file_store.py, memory/extractor.py</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Routing Decision Tree</a:t>
            </a:r>
            <a:endParaRPr lang="en-US" sz="2600" dirty="0"/>
          </a:p>
        </p:txBody>
      </p:sp>
      <p:sp>
        <p:nvSpPr>
          <p:cNvPr id="3" name="Shape 1"/>
          <p:cNvSpPr/>
          <p:nvPr/>
        </p:nvSpPr>
        <p:spPr>
          <a:xfrm>
            <a:off x="731520" y="914400"/>
            <a:ext cx="7680960" cy="3200400"/>
          </a:xfrm>
          <a:prstGeom prst="rect">
            <a:avLst/>
          </a:prstGeom>
          <a:solidFill>
            <a:srgbClr val="2D2D2D"/>
          </a:solidFill>
          <a:ln/>
        </p:spPr>
        <p:txBody>
          <a:bodyPr/>
          <a:lstStyle/>
          <a:p>
            <a:endParaRPr lang="en-US"/>
          </a:p>
        </p:txBody>
      </p:sp>
      <p:sp>
        <p:nvSpPr>
          <p:cNvPr id="4" name="Text 2"/>
          <p:cNvSpPr/>
          <p:nvPr/>
        </p:nvSpPr>
        <p:spPr>
          <a:xfrm>
            <a:off x="841248" y="969264"/>
            <a:ext cx="7461504" cy="3090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User Message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has_attachments?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data analysis hints? --&gt;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coordinator hints?   --&gt; coordinator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RAG hints?           --&gt; 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else                 --&gt;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tool verbs / citation / high-stakes hints? --&gt; 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 (suggested agent based on pattern)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text &gt; 600 chars? --&gt; AGENT (accumulated reasons)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deterministic confidence &lt; 0.70? --&gt; LLM judge escalation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xml:space="preserve"> '-- none of the above --&gt; BASIC (confidence=0.85)</a:t>
            </a:r>
            <a:endParaRPr lang="en-US" sz="900" dirty="0"/>
          </a:p>
        </p:txBody>
      </p:sp>
      <p:sp>
        <p:nvSpPr>
          <p:cNvPr id="5" name="Text 3"/>
          <p:cNvSpPr/>
          <p:nvPr/>
        </p:nvSpPr>
        <p:spPr>
          <a:xfrm>
            <a:off x="502920" y="4297680"/>
            <a:ext cx="8138160" cy="27432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This is the complete routing logic in one view — the roadmap for understanding every request flow.</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Pipeline — Retrieval to Grounded Answer</a:t>
            </a:r>
            <a:endParaRPr lang="en-US" sz="2600" dirty="0"/>
          </a:p>
        </p:txBody>
      </p:sp>
      <p:sp>
        <p:nvSpPr>
          <p:cNvPr id="3" name="Shape 1"/>
          <p:cNvSpPr/>
          <p:nvPr/>
        </p:nvSpPr>
        <p:spPr>
          <a:xfrm>
            <a:off x="562356" y="1051560"/>
            <a:ext cx="1051560" cy="5943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6235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Analysis</a:t>
            </a:r>
            <a:endParaRPr lang="en-US" sz="1000" dirty="0"/>
          </a:p>
        </p:txBody>
      </p:sp>
      <p:sp>
        <p:nvSpPr>
          <p:cNvPr id="5" name="Shape 3"/>
          <p:cNvSpPr/>
          <p:nvPr/>
        </p:nvSpPr>
        <p:spPr>
          <a:xfrm>
            <a:off x="1613916" y="13487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61391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723644"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72364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Retrieval</a:t>
            </a:r>
            <a:endParaRPr lang="en-US" sz="1000" dirty="0"/>
          </a:p>
        </p:txBody>
      </p:sp>
      <p:sp>
        <p:nvSpPr>
          <p:cNvPr id="9" name="Shape 7"/>
          <p:cNvSpPr/>
          <p:nvPr/>
        </p:nvSpPr>
        <p:spPr>
          <a:xfrm>
            <a:off x="2775204" y="13487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2775204"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2884932"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884932"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Grading</a:t>
            </a:r>
            <a:endParaRPr lang="en-US" sz="1000" dirty="0"/>
          </a:p>
        </p:txBody>
      </p:sp>
      <p:sp>
        <p:nvSpPr>
          <p:cNvPr id="13" name="Shape 11"/>
          <p:cNvSpPr/>
          <p:nvPr/>
        </p:nvSpPr>
        <p:spPr>
          <a:xfrm>
            <a:off x="3936492" y="13487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3936492"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046220"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046220"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Evidence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Assembly</a:t>
            </a:r>
            <a:endParaRPr lang="en-US" sz="1000" dirty="0"/>
          </a:p>
        </p:txBody>
      </p:sp>
      <p:sp>
        <p:nvSpPr>
          <p:cNvPr id="17" name="Shape 15"/>
          <p:cNvSpPr/>
          <p:nvPr/>
        </p:nvSpPr>
        <p:spPr>
          <a:xfrm>
            <a:off x="5097780" y="13487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097780"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207508"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207508"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p:txBody>
      </p:sp>
      <p:sp>
        <p:nvSpPr>
          <p:cNvPr id="21" name="Shape 19"/>
          <p:cNvSpPr/>
          <p:nvPr/>
        </p:nvSpPr>
        <p:spPr>
          <a:xfrm>
            <a:off x="6259068" y="13487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6259068"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6368796"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636879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Building</a:t>
            </a:r>
            <a:endParaRPr lang="en-US" sz="1000" dirty="0"/>
          </a:p>
        </p:txBody>
      </p:sp>
      <p:sp>
        <p:nvSpPr>
          <p:cNvPr id="25" name="Shape 23"/>
          <p:cNvSpPr/>
          <p:nvPr/>
        </p:nvSpPr>
        <p:spPr>
          <a:xfrm>
            <a:off x="7420356" y="1348740"/>
            <a:ext cx="109728" cy="0"/>
          </a:xfrm>
          <a:prstGeom prst="line">
            <a:avLst/>
          </a:prstGeom>
          <a:noFill/>
          <a:ln w="25400">
            <a:solidFill>
              <a:srgbClr val="0097A7"/>
            </a:solidFill>
            <a:prstDash val="solid"/>
          </a:ln>
        </p:spPr>
        <p:txBody>
          <a:bodyPr/>
          <a:lstStyle/>
          <a:p>
            <a:endParaRPr lang="en-US"/>
          </a:p>
        </p:txBody>
      </p:sp>
      <p:sp>
        <p:nvSpPr>
          <p:cNvPr id="26" name="Text 24"/>
          <p:cNvSpPr/>
          <p:nvPr/>
        </p:nvSpPr>
        <p:spPr>
          <a:xfrm>
            <a:off x="742035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7" name="Shape 25"/>
          <p:cNvSpPr/>
          <p:nvPr/>
        </p:nvSpPr>
        <p:spPr>
          <a:xfrm>
            <a:off x="7530084"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753008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Confidence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Extraction</a:t>
            </a:r>
            <a:endParaRPr lang="en-US" sz="1000" dirty="0"/>
          </a:p>
        </p:txBody>
      </p:sp>
      <p:sp>
        <p:nvSpPr>
          <p:cNvPr id="29" name="Shape 27"/>
          <p:cNvSpPr/>
          <p:nvPr/>
        </p:nvSpPr>
        <p:spPr>
          <a:xfrm>
            <a:off x="502920" y="1920240"/>
            <a:ext cx="8138160" cy="292608"/>
          </a:xfrm>
          <a:prstGeom prst="rect">
            <a:avLst/>
          </a:prstGeom>
          <a:solidFill>
            <a:srgbClr val="F5F5F5"/>
          </a:solidFill>
          <a:ln/>
        </p:spPr>
        <p:txBody>
          <a:bodyPr/>
          <a:lstStyle/>
          <a:p>
            <a:endParaRPr lang="en-US"/>
          </a:p>
        </p:txBody>
      </p:sp>
      <p:sp>
        <p:nvSpPr>
          <p:cNvPr id="30" name="Text 28"/>
          <p:cNvSpPr/>
          <p:nvPr/>
        </p:nvSpPr>
        <p:spPr>
          <a:xfrm>
            <a:off x="594360" y="192024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 Analysis</a:t>
            </a:r>
            <a:endParaRPr lang="en-US" sz="1000" dirty="0"/>
          </a:p>
        </p:txBody>
      </p:sp>
      <p:sp>
        <p:nvSpPr>
          <p:cNvPr id="31" name="Text 29"/>
          <p:cNvSpPr/>
          <p:nvPr/>
        </p:nvSpPr>
        <p:spPr>
          <a:xfrm>
            <a:off x="2514600" y="192024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User query + context -&gt; reformulated search query</a:t>
            </a:r>
            <a:endParaRPr lang="en-US" sz="1000" dirty="0"/>
          </a:p>
        </p:txBody>
      </p:sp>
      <p:sp>
        <p:nvSpPr>
          <p:cNvPr id="32" name="Shape 30"/>
          <p:cNvSpPr/>
          <p:nvPr/>
        </p:nvSpPr>
        <p:spPr>
          <a:xfrm>
            <a:off x="502920" y="2221992"/>
            <a:ext cx="8138160" cy="292608"/>
          </a:xfrm>
          <a:prstGeom prst="rect">
            <a:avLst/>
          </a:prstGeom>
          <a:solidFill>
            <a:srgbClr val="FFFFFF"/>
          </a:solidFill>
          <a:ln/>
        </p:spPr>
        <p:txBody>
          <a:bodyPr/>
          <a:lstStyle/>
          <a:p>
            <a:endParaRPr lang="en-US"/>
          </a:p>
        </p:txBody>
      </p:sp>
      <p:sp>
        <p:nvSpPr>
          <p:cNvPr id="33" name="Text 31"/>
          <p:cNvSpPr/>
          <p:nvPr/>
        </p:nvSpPr>
        <p:spPr>
          <a:xfrm>
            <a:off x="594360" y="2221992"/>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Hybrid Retrieval</a:t>
            </a:r>
            <a:endParaRPr lang="en-US" sz="1000" dirty="0"/>
          </a:p>
        </p:txBody>
      </p:sp>
      <p:sp>
        <p:nvSpPr>
          <p:cNvPr id="34" name="Text 32"/>
          <p:cNvSpPr/>
          <p:nvPr/>
        </p:nvSpPr>
        <p:spPr>
          <a:xfrm>
            <a:off x="2514600" y="2221992"/>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Vector (embedding) + keyword (BM25) -&gt; merged, deduplicated</a:t>
            </a:r>
            <a:endParaRPr lang="en-US" sz="1000" dirty="0"/>
          </a:p>
        </p:txBody>
      </p:sp>
      <p:sp>
        <p:nvSpPr>
          <p:cNvPr id="35" name="Shape 33"/>
          <p:cNvSpPr/>
          <p:nvPr/>
        </p:nvSpPr>
        <p:spPr>
          <a:xfrm>
            <a:off x="502920" y="2523744"/>
            <a:ext cx="8138160" cy="292608"/>
          </a:xfrm>
          <a:prstGeom prst="rect">
            <a:avLst/>
          </a:prstGeom>
          <a:solidFill>
            <a:srgbClr val="F5F5F5"/>
          </a:solidFill>
          <a:ln/>
        </p:spPr>
        <p:txBody>
          <a:bodyPr/>
          <a:lstStyle/>
          <a:p>
            <a:endParaRPr lang="en-US"/>
          </a:p>
        </p:txBody>
      </p:sp>
      <p:sp>
        <p:nvSpPr>
          <p:cNvPr id="36" name="Text 34"/>
          <p:cNvSpPr/>
          <p:nvPr/>
        </p:nvSpPr>
        <p:spPr>
          <a:xfrm>
            <a:off x="594360" y="2523744"/>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Judge Grading</a:t>
            </a:r>
            <a:endParaRPr lang="en-US" sz="1000" dirty="0"/>
          </a:p>
        </p:txBody>
      </p:sp>
      <p:sp>
        <p:nvSpPr>
          <p:cNvPr id="37" name="Text 35"/>
          <p:cNvSpPr/>
          <p:nvPr/>
        </p:nvSpPr>
        <p:spPr>
          <a:xfrm>
            <a:off x="2514600" y="2523744"/>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Small fast LLM scores each chunk 0-1 for relevance</a:t>
            </a:r>
            <a:endParaRPr lang="en-US" sz="1000" dirty="0"/>
          </a:p>
        </p:txBody>
      </p:sp>
      <p:sp>
        <p:nvSpPr>
          <p:cNvPr id="38" name="Shape 36"/>
          <p:cNvSpPr/>
          <p:nvPr/>
        </p:nvSpPr>
        <p:spPr>
          <a:xfrm>
            <a:off x="502920" y="2825496"/>
            <a:ext cx="8138160" cy="292608"/>
          </a:xfrm>
          <a:prstGeom prst="rect">
            <a:avLst/>
          </a:prstGeom>
          <a:solidFill>
            <a:srgbClr val="FFFFFF"/>
          </a:solidFill>
          <a:ln/>
        </p:spPr>
        <p:txBody>
          <a:bodyPr/>
          <a:lstStyle/>
          <a:p>
            <a:endParaRPr lang="en-US"/>
          </a:p>
        </p:txBody>
      </p:sp>
      <p:sp>
        <p:nvSpPr>
          <p:cNvPr id="39" name="Text 37"/>
          <p:cNvSpPr/>
          <p:nvPr/>
        </p:nvSpPr>
        <p:spPr>
          <a:xfrm>
            <a:off x="594360" y="2825496"/>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Synthesis</a:t>
            </a:r>
            <a:endParaRPr lang="en-US" sz="1000" dirty="0"/>
          </a:p>
        </p:txBody>
      </p:sp>
      <p:sp>
        <p:nvSpPr>
          <p:cNvPr id="40" name="Text 38"/>
          <p:cNvSpPr/>
          <p:nvPr/>
        </p:nvSpPr>
        <p:spPr>
          <a:xfrm>
            <a:off x="2514600" y="2825496"/>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Main LLM generates answer citing evidence with (citation_id) format</a:t>
            </a:r>
            <a:endParaRPr lang="en-US" sz="1000" dirty="0"/>
          </a:p>
        </p:txBody>
      </p:sp>
      <p:sp>
        <p:nvSpPr>
          <p:cNvPr id="41" name="Shape 39"/>
          <p:cNvSpPr/>
          <p:nvPr/>
        </p:nvSpPr>
        <p:spPr>
          <a:xfrm>
            <a:off x="502920" y="3127248"/>
            <a:ext cx="8138160" cy="292608"/>
          </a:xfrm>
          <a:prstGeom prst="rect">
            <a:avLst/>
          </a:prstGeom>
          <a:solidFill>
            <a:srgbClr val="F5F5F5"/>
          </a:solidFill>
          <a:ln/>
        </p:spPr>
        <p:txBody>
          <a:bodyPr/>
          <a:lstStyle/>
          <a:p>
            <a:endParaRPr lang="en-US"/>
          </a:p>
        </p:txBody>
      </p:sp>
      <p:sp>
        <p:nvSpPr>
          <p:cNvPr id="42" name="Text 40"/>
          <p:cNvSpPr/>
          <p:nvPr/>
        </p:nvSpPr>
        <p:spPr>
          <a:xfrm>
            <a:off x="594360" y="3127248"/>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Citation Building</a:t>
            </a:r>
            <a:endParaRPr lang="en-US" sz="1000" dirty="0"/>
          </a:p>
        </p:txBody>
      </p:sp>
      <p:sp>
        <p:nvSpPr>
          <p:cNvPr id="43" name="Text 41"/>
          <p:cNvSpPr/>
          <p:nvPr/>
        </p:nvSpPr>
        <p:spPr>
          <a:xfrm>
            <a:off x="2514600" y="3127248"/>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build_citations() maps IDs to sources, 320-char snippets</a:t>
            </a:r>
            <a:endParaRPr lang="en-US" sz="1000" dirty="0"/>
          </a:p>
        </p:txBody>
      </p:sp>
      <p:sp>
        <p:nvSpPr>
          <p:cNvPr id="44" name="Shape 42"/>
          <p:cNvSpPr/>
          <p:nvPr/>
        </p:nvSpPr>
        <p:spPr>
          <a:xfrm>
            <a:off x="502920" y="3429000"/>
            <a:ext cx="8138160" cy="292608"/>
          </a:xfrm>
          <a:prstGeom prst="rect">
            <a:avLst/>
          </a:prstGeom>
          <a:solidFill>
            <a:srgbClr val="FFFFFF"/>
          </a:solidFill>
          <a:ln/>
        </p:spPr>
        <p:txBody>
          <a:bodyPr/>
          <a:lstStyle/>
          <a:p>
            <a:endParaRPr lang="en-US"/>
          </a:p>
        </p:txBody>
      </p:sp>
      <p:sp>
        <p:nvSpPr>
          <p:cNvPr id="45" name="Text 43"/>
          <p:cNvSpPr/>
          <p:nvPr/>
        </p:nvSpPr>
        <p:spPr>
          <a:xfrm>
            <a:off x="594360" y="342900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Multi-round</a:t>
            </a:r>
            <a:endParaRPr lang="en-US" sz="1000" dirty="0"/>
          </a:p>
        </p:txBody>
      </p:sp>
      <p:sp>
        <p:nvSpPr>
          <p:cNvPr id="46" name="Text 44"/>
          <p:cNvSpPr/>
          <p:nvPr/>
        </p:nvSpPr>
        <p:spPr>
          <a:xfrm>
            <a:off x="2514600" y="342900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Up to max_search_rounds if initial retrieval insufficient</a:t>
            </a:r>
            <a:endParaRPr lang="en-US" sz="1000" dirty="0"/>
          </a:p>
        </p:txBody>
      </p:sp>
      <p:sp>
        <p:nvSpPr>
          <p:cNvPr id="47" name="Text 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Authorization Subsystem (authz/)</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457200"/>
          </a:xfrm>
          <a:prstGeom prst="rect">
            <a:avLst/>
          </a:prstGeom>
          <a:noFill/>
        </p:spPr>
        <p:txBody>
          <a:bodyPr wrap="square" anchor="t"/>
          <a:lstStyle/>
          <a:p>
            <a:pPr algn="l">
              <a:defRPr sz="1300" b="0">
                <a:solidFill>
                  <a:srgbClr val="666666"/>
                </a:solidFill>
                <a:latin typeface="Arial"/>
              </a:defRPr>
            </a:pPr>
            <a:r>
              <a:t>Fine-grained access control with principals, roles, bindings, and permissions</a:t>
            </a:r>
          </a:p>
        </p:txBody>
      </p:sp>
      <p:sp>
        <p:nvSpPr>
          <p:cNvPr id="6" name="TextBox 5"/>
          <p:cNvSpPr txBox="1"/>
          <p:nvPr/>
        </p:nvSpPr>
        <p:spPr>
          <a:xfrm>
            <a:off x="502920" y="1371600"/>
            <a:ext cx="3840480" cy="320040"/>
          </a:xfrm>
          <a:prstGeom prst="rect">
            <a:avLst/>
          </a:prstGeom>
          <a:noFill/>
        </p:spPr>
        <p:txBody>
          <a:bodyPr wrap="square" anchor="t"/>
          <a:lstStyle/>
          <a:p>
            <a:pPr algn="l">
              <a:defRPr sz="1300" b="1">
                <a:solidFill>
                  <a:srgbClr val="0097A7"/>
                </a:solidFill>
                <a:latin typeface="Arial"/>
              </a:defRPr>
            </a:pPr>
            <a:r>
              <a:t>RBAC MODEL</a:t>
            </a:r>
          </a:p>
        </p:txBody>
      </p:sp>
      <p:sp>
        <p:nvSpPr>
          <p:cNvPr id="7" name="Oval 6"/>
          <p:cNvSpPr/>
          <p:nvPr/>
        </p:nvSpPr>
        <p:spPr>
          <a:xfrm>
            <a:off x="502920" y="178308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737360"/>
            <a:ext cx="1280160" cy="256032"/>
          </a:xfrm>
          <a:prstGeom prst="rect">
            <a:avLst/>
          </a:prstGeom>
          <a:noFill/>
        </p:spPr>
        <p:txBody>
          <a:bodyPr wrap="square" anchor="t"/>
          <a:lstStyle/>
          <a:p>
            <a:pPr algn="l">
              <a:defRPr sz="1100" b="1">
                <a:solidFill>
                  <a:srgbClr val="333333"/>
                </a:solidFill>
                <a:latin typeface="Arial"/>
              </a:defRPr>
            </a:pPr>
            <a:r>
              <a:t>Principals</a:t>
            </a:r>
          </a:p>
        </p:txBody>
      </p:sp>
      <p:sp>
        <p:nvSpPr>
          <p:cNvPr id="9" name="TextBox 8"/>
          <p:cNvSpPr txBox="1"/>
          <p:nvPr/>
        </p:nvSpPr>
        <p:spPr>
          <a:xfrm>
            <a:off x="2011680" y="1737360"/>
            <a:ext cx="2286000" cy="256032"/>
          </a:xfrm>
          <a:prstGeom prst="rect">
            <a:avLst/>
          </a:prstGeom>
          <a:noFill/>
        </p:spPr>
        <p:txBody>
          <a:bodyPr wrap="square" anchor="t"/>
          <a:lstStyle/>
          <a:p>
            <a:pPr algn="l">
              <a:defRPr sz="1000" b="0">
                <a:solidFill>
                  <a:srgbClr val="666666"/>
                </a:solidFill>
                <a:latin typeface="Arial"/>
              </a:defRPr>
            </a:pPr>
            <a:r>
              <a:t>Users and service accounts with unique IDs</a:t>
            </a:r>
          </a:p>
        </p:txBody>
      </p:sp>
      <p:sp>
        <p:nvSpPr>
          <p:cNvPr id="10" name="Oval 9"/>
          <p:cNvSpPr/>
          <p:nvPr/>
        </p:nvSpPr>
        <p:spPr>
          <a:xfrm>
            <a:off x="502920" y="2130552"/>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084832"/>
            <a:ext cx="1280160" cy="256032"/>
          </a:xfrm>
          <a:prstGeom prst="rect">
            <a:avLst/>
          </a:prstGeom>
          <a:noFill/>
        </p:spPr>
        <p:txBody>
          <a:bodyPr wrap="square" anchor="t"/>
          <a:lstStyle/>
          <a:p>
            <a:pPr algn="l">
              <a:defRPr sz="1100" b="1">
                <a:solidFill>
                  <a:srgbClr val="333333"/>
                </a:solidFill>
                <a:latin typeface="Arial"/>
              </a:defRPr>
            </a:pPr>
            <a:r>
              <a:t>Roles</a:t>
            </a:r>
          </a:p>
        </p:txBody>
      </p:sp>
      <p:sp>
        <p:nvSpPr>
          <p:cNvPr id="12" name="TextBox 11"/>
          <p:cNvSpPr txBox="1"/>
          <p:nvPr/>
        </p:nvSpPr>
        <p:spPr>
          <a:xfrm>
            <a:off x="2011680" y="2084832"/>
            <a:ext cx="2286000" cy="256032"/>
          </a:xfrm>
          <a:prstGeom prst="rect">
            <a:avLst/>
          </a:prstGeom>
          <a:noFill/>
        </p:spPr>
        <p:txBody>
          <a:bodyPr wrap="square" anchor="t"/>
          <a:lstStyle/>
          <a:p>
            <a:pPr algn="l">
              <a:defRPr sz="1000" b="0">
                <a:solidFill>
                  <a:srgbClr val="666666"/>
                </a:solidFill>
                <a:latin typeface="Arial"/>
              </a:defRPr>
            </a:pPr>
            <a:r>
              <a:t>Named permission bundles (admin, editor, viewer)</a:t>
            </a:r>
          </a:p>
        </p:txBody>
      </p:sp>
      <p:sp>
        <p:nvSpPr>
          <p:cNvPr id="13" name="Oval 12"/>
          <p:cNvSpPr/>
          <p:nvPr/>
        </p:nvSpPr>
        <p:spPr>
          <a:xfrm>
            <a:off x="502920" y="2478024"/>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2432304"/>
            <a:ext cx="1280160" cy="256032"/>
          </a:xfrm>
          <a:prstGeom prst="rect">
            <a:avLst/>
          </a:prstGeom>
          <a:noFill/>
        </p:spPr>
        <p:txBody>
          <a:bodyPr wrap="square" anchor="t"/>
          <a:lstStyle/>
          <a:p>
            <a:pPr algn="l">
              <a:defRPr sz="1100" b="1">
                <a:solidFill>
                  <a:srgbClr val="333333"/>
                </a:solidFill>
                <a:latin typeface="Arial"/>
              </a:defRPr>
            </a:pPr>
            <a:r>
              <a:t>Bindings</a:t>
            </a:r>
          </a:p>
        </p:txBody>
      </p:sp>
      <p:sp>
        <p:nvSpPr>
          <p:cNvPr id="15" name="TextBox 14"/>
          <p:cNvSpPr txBox="1"/>
          <p:nvPr/>
        </p:nvSpPr>
        <p:spPr>
          <a:xfrm>
            <a:off x="2011680" y="2432304"/>
            <a:ext cx="2286000" cy="256032"/>
          </a:xfrm>
          <a:prstGeom prst="rect">
            <a:avLst/>
          </a:prstGeom>
          <a:noFill/>
        </p:spPr>
        <p:txBody>
          <a:bodyPr wrap="square" anchor="t"/>
          <a:lstStyle/>
          <a:p>
            <a:pPr algn="l">
              <a:defRPr sz="1000" b="0">
                <a:solidFill>
                  <a:srgbClr val="666666"/>
                </a:solidFill>
                <a:latin typeface="Arial"/>
              </a:defRPr>
            </a:pPr>
            <a:r>
              <a:t>Map principals to roles on specific resources</a:t>
            </a:r>
          </a:p>
        </p:txBody>
      </p:sp>
      <p:sp>
        <p:nvSpPr>
          <p:cNvPr id="16" name="Oval 15"/>
          <p:cNvSpPr/>
          <p:nvPr/>
        </p:nvSpPr>
        <p:spPr>
          <a:xfrm>
            <a:off x="502920" y="2825496"/>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 y="2779776"/>
            <a:ext cx="1280160" cy="256032"/>
          </a:xfrm>
          <a:prstGeom prst="rect">
            <a:avLst/>
          </a:prstGeom>
          <a:noFill/>
        </p:spPr>
        <p:txBody>
          <a:bodyPr wrap="square" anchor="t"/>
          <a:lstStyle/>
          <a:p>
            <a:pPr algn="l">
              <a:defRPr sz="1100" b="1">
                <a:solidFill>
                  <a:srgbClr val="333333"/>
                </a:solidFill>
                <a:latin typeface="Arial"/>
              </a:defRPr>
            </a:pPr>
            <a:r>
              <a:t>Memberships</a:t>
            </a:r>
          </a:p>
        </p:txBody>
      </p:sp>
      <p:sp>
        <p:nvSpPr>
          <p:cNvPr id="18" name="TextBox 17"/>
          <p:cNvSpPr txBox="1"/>
          <p:nvPr/>
        </p:nvSpPr>
        <p:spPr>
          <a:xfrm>
            <a:off x="2011680" y="2779776"/>
            <a:ext cx="2286000" cy="256032"/>
          </a:xfrm>
          <a:prstGeom prst="rect">
            <a:avLst/>
          </a:prstGeom>
          <a:noFill/>
        </p:spPr>
        <p:txBody>
          <a:bodyPr wrap="square" anchor="t"/>
          <a:lstStyle/>
          <a:p>
            <a:pPr algn="l">
              <a:defRPr sz="1000" b="0">
                <a:solidFill>
                  <a:srgbClr val="666666"/>
                </a:solidFill>
                <a:latin typeface="Arial"/>
              </a:defRPr>
            </a:pPr>
            <a:r>
              <a:t>Group-level role inheritance</a:t>
            </a:r>
          </a:p>
        </p:txBody>
      </p:sp>
      <p:sp>
        <p:nvSpPr>
          <p:cNvPr id="19" name="Oval 18"/>
          <p:cNvSpPr/>
          <p:nvPr/>
        </p:nvSpPr>
        <p:spPr>
          <a:xfrm>
            <a:off x="502920" y="3172968"/>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3127248"/>
            <a:ext cx="1280160" cy="256032"/>
          </a:xfrm>
          <a:prstGeom prst="rect">
            <a:avLst/>
          </a:prstGeom>
          <a:noFill/>
        </p:spPr>
        <p:txBody>
          <a:bodyPr wrap="square" anchor="t"/>
          <a:lstStyle/>
          <a:p>
            <a:pPr algn="l">
              <a:defRPr sz="1100" b="1">
                <a:solidFill>
                  <a:srgbClr val="333333"/>
                </a:solidFill>
                <a:latin typeface="Arial"/>
              </a:defRPr>
            </a:pPr>
            <a:r>
              <a:t>Permissions</a:t>
            </a:r>
          </a:p>
        </p:txBody>
      </p:sp>
      <p:sp>
        <p:nvSpPr>
          <p:cNvPr id="21" name="TextBox 20"/>
          <p:cNvSpPr txBox="1"/>
          <p:nvPr/>
        </p:nvSpPr>
        <p:spPr>
          <a:xfrm>
            <a:off x="2011680" y="3127248"/>
            <a:ext cx="2286000" cy="256032"/>
          </a:xfrm>
          <a:prstGeom prst="rect">
            <a:avLst/>
          </a:prstGeom>
          <a:noFill/>
        </p:spPr>
        <p:txBody>
          <a:bodyPr wrap="square" anchor="t"/>
          <a:lstStyle/>
          <a:p>
            <a:pPr algn="l">
              <a:defRPr sz="1000" b="0">
                <a:solidFill>
                  <a:srgbClr val="666666"/>
                </a:solidFill>
                <a:latin typeface="Arial"/>
              </a:defRPr>
            </a:pPr>
            <a:r>
              <a:t>Granular resource:action pairs</a:t>
            </a:r>
          </a:p>
        </p:txBody>
      </p:sp>
      <p:sp>
        <p:nvSpPr>
          <p:cNvPr id="22" name="TextBox 21"/>
          <p:cNvSpPr txBox="1"/>
          <p:nvPr/>
        </p:nvSpPr>
        <p:spPr>
          <a:xfrm>
            <a:off x="4846320" y="1371600"/>
            <a:ext cx="3840480" cy="320040"/>
          </a:xfrm>
          <a:prstGeom prst="rect">
            <a:avLst/>
          </a:prstGeom>
          <a:noFill/>
        </p:spPr>
        <p:txBody>
          <a:bodyPr wrap="square" anchor="t"/>
          <a:lstStyle/>
          <a:p>
            <a:pPr algn="l">
              <a:defRPr sz="1300" b="1">
                <a:solidFill>
                  <a:srgbClr val="FF9800"/>
                </a:solidFill>
                <a:latin typeface="Arial"/>
              </a:defRPr>
            </a:pPr>
            <a:r>
              <a:t>10 ADMIN ENDPOINTS</a:t>
            </a:r>
          </a:p>
        </p:txBody>
      </p:sp>
      <p:sp>
        <p:nvSpPr>
          <p:cNvPr id="23" name="TextBox 22"/>
          <p:cNvSpPr txBox="1"/>
          <p:nvPr/>
        </p:nvSpPr>
        <p:spPr>
          <a:xfrm>
            <a:off x="4846320" y="1783080"/>
            <a:ext cx="3840480" cy="228600"/>
          </a:xfrm>
          <a:prstGeom prst="rect">
            <a:avLst/>
          </a:prstGeom>
          <a:noFill/>
        </p:spPr>
        <p:txBody>
          <a:bodyPr wrap="square" anchor="t"/>
          <a:lstStyle/>
          <a:p>
            <a:pPr algn="l">
              <a:defRPr sz="1000" b="0">
                <a:solidFill>
                  <a:srgbClr val="444444"/>
                </a:solidFill>
                <a:latin typeface="Consolas"/>
              </a:defRPr>
            </a:pPr>
            <a:r>
              <a:t>GET/POST  /admin/access/principals</a:t>
            </a:r>
          </a:p>
        </p:txBody>
      </p:sp>
      <p:sp>
        <p:nvSpPr>
          <p:cNvPr id="24" name="TextBox 23"/>
          <p:cNvSpPr txBox="1"/>
          <p:nvPr/>
        </p:nvSpPr>
        <p:spPr>
          <a:xfrm>
            <a:off x="4846320" y="2057400"/>
            <a:ext cx="3840480" cy="228600"/>
          </a:xfrm>
          <a:prstGeom prst="rect">
            <a:avLst/>
          </a:prstGeom>
          <a:noFill/>
        </p:spPr>
        <p:txBody>
          <a:bodyPr wrap="square" anchor="t"/>
          <a:lstStyle/>
          <a:p>
            <a:pPr algn="l">
              <a:defRPr sz="1000" b="0">
                <a:solidFill>
                  <a:srgbClr val="444444"/>
                </a:solidFill>
                <a:latin typeface="Consolas"/>
              </a:defRPr>
            </a:pPr>
            <a:r>
              <a:t>GET/POST  /admin/access/roles</a:t>
            </a:r>
          </a:p>
        </p:txBody>
      </p:sp>
      <p:sp>
        <p:nvSpPr>
          <p:cNvPr id="25" name="TextBox 24"/>
          <p:cNvSpPr txBox="1"/>
          <p:nvPr/>
        </p:nvSpPr>
        <p:spPr>
          <a:xfrm>
            <a:off x="4846320" y="2331720"/>
            <a:ext cx="3840480" cy="228600"/>
          </a:xfrm>
          <a:prstGeom prst="rect">
            <a:avLst/>
          </a:prstGeom>
          <a:noFill/>
        </p:spPr>
        <p:txBody>
          <a:bodyPr wrap="square" anchor="t"/>
          <a:lstStyle/>
          <a:p>
            <a:pPr algn="l">
              <a:defRPr sz="1000" b="0">
                <a:solidFill>
                  <a:srgbClr val="444444"/>
                </a:solidFill>
                <a:latin typeface="Consolas"/>
              </a:defRPr>
            </a:pPr>
            <a:r>
              <a:t>GET/POST  /admin/access/bindings</a:t>
            </a:r>
          </a:p>
        </p:txBody>
      </p:sp>
      <p:sp>
        <p:nvSpPr>
          <p:cNvPr id="26" name="TextBox 25"/>
          <p:cNvSpPr txBox="1"/>
          <p:nvPr/>
        </p:nvSpPr>
        <p:spPr>
          <a:xfrm>
            <a:off x="4846320" y="2606040"/>
            <a:ext cx="3840480" cy="228600"/>
          </a:xfrm>
          <a:prstGeom prst="rect">
            <a:avLst/>
          </a:prstGeom>
          <a:noFill/>
        </p:spPr>
        <p:txBody>
          <a:bodyPr wrap="square" anchor="t"/>
          <a:lstStyle/>
          <a:p>
            <a:pPr algn="l">
              <a:defRPr sz="1000" b="0">
                <a:solidFill>
                  <a:srgbClr val="444444"/>
                </a:solidFill>
                <a:latin typeface="Consolas"/>
              </a:defRPr>
            </a:pPr>
            <a:r>
              <a:t>GET/POST  /admin/access/memberships</a:t>
            </a:r>
          </a:p>
        </p:txBody>
      </p:sp>
      <p:sp>
        <p:nvSpPr>
          <p:cNvPr id="27" name="TextBox 26"/>
          <p:cNvSpPr txBox="1"/>
          <p:nvPr/>
        </p:nvSpPr>
        <p:spPr>
          <a:xfrm>
            <a:off x="4846320" y="2880360"/>
            <a:ext cx="3840480" cy="228600"/>
          </a:xfrm>
          <a:prstGeom prst="rect">
            <a:avLst/>
          </a:prstGeom>
          <a:noFill/>
        </p:spPr>
        <p:txBody>
          <a:bodyPr wrap="square" anchor="t"/>
          <a:lstStyle/>
          <a:p>
            <a:pPr algn="l">
              <a:defRPr sz="1000" b="0">
                <a:solidFill>
                  <a:srgbClr val="444444"/>
                </a:solidFill>
                <a:latin typeface="Consolas"/>
              </a:defRPr>
            </a:pPr>
            <a:r>
              <a:t>GET       /admin/access/permissions</a:t>
            </a:r>
          </a:p>
        </p:txBody>
      </p:sp>
      <p:sp>
        <p:nvSpPr>
          <p:cNvPr id="28" name="TextBox 27"/>
          <p:cNvSpPr txBox="1"/>
          <p:nvPr/>
        </p:nvSpPr>
        <p:spPr>
          <a:xfrm>
            <a:off x="4846320" y="3154680"/>
            <a:ext cx="3840480" cy="228600"/>
          </a:xfrm>
          <a:prstGeom prst="rect">
            <a:avLst/>
          </a:prstGeom>
          <a:noFill/>
        </p:spPr>
        <p:txBody>
          <a:bodyPr wrap="square" anchor="t"/>
          <a:lstStyle/>
          <a:p>
            <a:pPr algn="l">
              <a:defRPr sz="1000" b="0">
                <a:solidFill>
                  <a:srgbClr val="444444"/>
                </a:solidFill>
                <a:latin typeface="Consolas"/>
              </a:defRPr>
            </a:pPr>
            <a:r>
              <a:t>GET       /admin/access/effective-access</a:t>
            </a:r>
          </a:p>
        </p:txBody>
      </p:sp>
      <p:sp>
        <p:nvSpPr>
          <p:cNvPr id="29" name="Rectangle 28"/>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3977639"/>
            <a:ext cx="7680960" cy="731520"/>
          </a:xfrm>
          <a:prstGeom prst="rect">
            <a:avLst/>
          </a:prstGeom>
          <a:noFill/>
        </p:spPr>
        <p:txBody>
          <a:bodyPr wrap="square" anchor="t"/>
          <a:lstStyle/>
          <a:p>
            <a:pPr algn="l">
              <a:defRPr sz="1100" b="0">
                <a:solidFill>
                  <a:srgbClr val="CCCCCC"/>
                </a:solidFill>
                <a:latin typeface="Arial"/>
              </a:defRPr>
            </a:pPr>
            <a:r>
              <a:t>authz/service.py provides tenant-scoped resource access. Integrated with API gateway (gateway_security.py) and connector endpoints (connector_security.py). Per-skill access filtering in SkillRuntime. Tool policy enforcement in tools/policy.py.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Documents Subsystem Deep Dive (documents/)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16 files across extractors, compare, consolidation, similarity, evidence, templates, and serializers</a:t>
            </a:r>
          </a:p>
        </p:txBody>
      </p:sp>
      <p:sp>
        <p:nvSpPr>
          <p:cNvPr id="6" name="Rectangle 5"/>
          <p:cNvSpPr/>
          <p:nvPr/>
        </p:nvSpPr>
        <p:spPr>
          <a:xfrm>
            <a:off x="50292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71600"/>
            <a:ext cx="54864" cy="15544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2286000" cy="365760"/>
          </a:xfrm>
          <a:prstGeom prst="rect">
            <a:avLst/>
          </a:prstGeom>
          <a:noFill/>
        </p:spPr>
        <p:txBody>
          <a:bodyPr wrap="square" anchor="t"/>
          <a:lstStyle/>
          <a:p>
            <a:pPr algn="l">
              <a:defRPr sz="1300" b="1">
                <a:solidFill>
                  <a:srgbClr val="FFFFFF"/>
                </a:solidFill>
                <a:latin typeface="Arial"/>
              </a:defRPr>
            </a:pPr>
            <a:r>
              <a:t>Document Extraction</a:t>
            </a:r>
          </a:p>
        </p:txBody>
      </p:sp>
      <p:sp>
        <p:nvSpPr>
          <p:cNvPr id="9" name="TextBox 8"/>
          <p:cNvSpPr txBox="1"/>
          <p:nvPr/>
        </p:nvSpPr>
        <p:spPr>
          <a:xfrm>
            <a:off x="685800" y="1828800"/>
            <a:ext cx="2286000" cy="1005840"/>
          </a:xfrm>
          <a:prstGeom prst="rect">
            <a:avLst/>
          </a:prstGeom>
          <a:noFill/>
        </p:spPr>
        <p:txBody>
          <a:bodyPr wrap="square" anchor="t"/>
          <a:lstStyle/>
          <a:p>
            <a:pPr algn="l">
              <a:defRPr sz="1000" b="0">
                <a:solidFill>
                  <a:srgbClr val="CCCCCC"/>
                </a:solidFill>
                <a:latin typeface="Arial"/>
              </a:defRPr>
            </a:pPr>
            <a:r>
              <a:t>9 formats: PDF, DOCX, PPTX, XLSX, XLS, TXT, MD, CSV, TSV. Docling parser for PDFs. Max 200 elements per extraction.</a:t>
            </a:r>
          </a:p>
        </p:txBody>
      </p:sp>
      <p:sp>
        <p:nvSpPr>
          <p:cNvPr id="10" name="Rectangle 9"/>
          <p:cNvSpPr/>
          <p:nvPr/>
        </p:nvSpPr>
        <p:spPr>
          <a:xfrm>
            <a:off x="320040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0" y="1371600"/>
            <a:ext cx="54864" cy="155448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83280" y="1463040"/>
            <a:ext cx="2286000" cy="365760"/>
          </a:xfrm>
          <a:prstGeom prst="rect">
            <a:avLst/>
          </a:prstGeom>
          <a:noFill/>
        </p:spPr>
        <p:txBody>
          <a:bodyPr wrap="square" anchor="t"/>
          <a:lstStyle/>
          <a:p>
            <a:pPr algn="l">
              <a:defRPr sz="1300" b="1">
                <a:solidFill>
                  <a:srgbClr val="FFFFFF"/>
                </a:solidFill>
                <a:latin typeface="Arial"/>
              </a:defRPr>
            </a:pPr>
            <a:r>
              <a:t>Document Comparison</a:t>
            </a:r>
          </a:p>
        </p:txBody>
      </p:sp>
      <p:sp>
        <p:nvSpPr>
          <p:cNvPr id="13" name="TextBox 12"/>
          <p:cNvSpPr txBox="1"/>
          <p:nvPr/>
        </p:nvSpPr>
        <p:spPr>
          <a:xfrm>
            <a:off x="3383280" y="1828800"/>
            <a:ext cx="2286000" cy="1005840"/>
          </a:xfrm>
          <a:prstGeom prst="rect">
            <a:avLst/>
          </a:prstGeom>
          <a:noFill/>
        </p:spPr>
        <p:txBody>
          <a:bodyPr wrap="square" anchor="t"/>
          <a:lstStyle/>
          <a:p>
            <a:pPr algn="l">
              <a:defRPr sz="1000" b="0">
                <a:solidFill>
                  <a:srgbClr val="CCCCCC"/>
                </a:solidFill>
                <a:latin typeface="Arial"/>
              </a:defRPr>
            </a:pPr>
            <a:r>
              <a:t>Key-based + fuzzy matching (0.72 threshold). 12 obligation modalities. Binding strength ranking. Severity escalation for changed obligations.</a:t>
            </a:r>
          </a:p>
        </p:txBody>
      </p:sp>
      <p:sp>
        <p:nvSpPr>
          <p:cNvPr id="14" name="Rectangle 13"/>
          <p:cNvSpPr/>
          <p:nvPr/>
        </p:nvSpPr>
        <p:spPr>
          <a:xfrm>
            <a:off x="589788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897880" y="1371600"/>
            <a:ext cx="54864" cy="155448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80760" y="1463040"/>
            <a:ext cx="2286000" cy="365760"/>
          </a:xfrm>
          <a:prstGeom prst="rect">
            <a:avLst/>
          </a:prstGeom>
          <a:noFill/>
        </p:spPr>
        <p:txBody>
          <a:bodyPr wrap="square" anchor="t"/>
          <a:lstStyle/>
          <a:p>
            <a:pPr algn="l">
              <a:defRPr sz="1300" b="1">
                <a:solidFill>
                  <a:srgbClr val="FFFFFF"/>
                </a:solidFill>
                <a:latin typeface="Arial"/>
              </a:defRPr>
            </a:pPr>
            <a:r>
              <a:t>Consolidation Campaigns</a:t>
            </a:r>
          </a:p>
        </p:txBody>
      </p:sp>
      <p:sp>
        <p:nvSpPr>
          <p:cNvPr id="17" name="TextBox 16"/>
          <p:cNvSpPr txBox="1"/>
          <p:nvPr/>
        </p:nvSpPr>
        <p:spPr>
          <a:xfrm>
            <a:off x="6080760" y="1828800"/>
            <a:ext cx="2286000" cy="1005840"/>
          </a:xfrm>
          <a:prstGeom prst="rect">
            <a:avLst/>
          </a:prstGeom>
          <a:noFill/>
        </p:spPr>
        <p:txBody>
          <a:bodyPr wrap="square" anchor="t"/>
          <a:lstStyle/>
          <a:p>
            <a:pPr algn="l">
              <a:defRPr sz="1000" b="0">
                <a:solidFill>
                  <a:srgbClr val="CCCCCC"/>
                </a:solidFill>
                <a:latin typeface="Arial"/>
              </a:defRPr>
            </a:pPr>
            <a:r>
              <a:t>Multi-doc corpus analysis with IDF weighting. 6 focus modes. Union-find clustering. Weighted Jaccard scoring.</a:t>
            </a:r>
          </a:p>
        </p:txBody>
      </p:sp>
      <p:sp>
        <p:nvSpPr>
          <p:cNvPr id="18" name="Rectangle 17"/>
          <p:cNvSpPr/>
          <p:nvPr/>
        </p:nvSpPr>
        <p:spPr>
          <a:xfrm>
            <a:off x="50292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3108960"/>
            <a:ext cx="54864"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3200400"/>
            <a:ext cx="3703319" cy="365760"/>
          </a:xfrm>
          <a:prstGeom prst="rect">
            <a:avLst/>
          </a:prstGeom>
          <a:noFill/>
        </p:spPr>
        <p:txBody>
          <a:bodyPr wrap="square" anchor="t"/>
          <a:lstStyle/>
          <a:p>
            <a:pPr algn="l">
              <a:defRPr sz="1300" b="1">
                <a:solidFill>
                  <a:srgbClr val="FFFFFF"/>
                </a:solidFill>
                <a:latin typeface="Arial"/>
              </a:defRPr>
            </a:pPr>
            <a:r>
              <a:t>Evidence Binder</a:t>
            </a:r>
          </a:p>
        </p:txBody>
      </p:sp>
      <p:sp>
        <p:nvSpPr>
          <p:cNvPr id="21" name="TextBox 20"/>
          <p:cNvSpPr txBox="1"/>
          <p:nvPr/>
        </p:nvSpPr>
        <p:spPr>
          <a:xfrm>
            <a:off x="685800" y="3566160"/>
            <a:ext cx="3703319" cy="548640"/>
          </a:xfrm>
          <a:prstGeom prst="rect">
            <a:avLst/>
          </a:prstGeom>
          <a:noFill/>
        </p:spPr>
        <p:txBody>
          <a:bodyPr wrap="square" anchor="t"/>
          <a:lstStyle/>
          <a:p>
            <a:pPr algn="l">
              <a:defRPr sz="1000" b="0">
                <a:solidFill>
                  <a:srgbClr val="CCCCCC"/>
                </a:solidFill>
                <a:latin typeface="Arial"/>
              </a:defRPr>
            </a:pPr>
            <a:r>
              <a:t>Compile graded evidence into formatted reference packets with inline citations.</a:t>
            </a:r>
          </a:p>
        </p:txBody>
      </p:sp>
      <p:sp>
        <p:nvSpPr>
          <p:cNvPr id="22" name="Rectangle 21"/>
          <p:cNvSpPr/>
          <p:nvPr/>
        </p:nvSpPr>
        <p:spPr>
          <a:xfrm>
            <a:off x="470916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709160" y="3108960"/>
            <a:ext cx="54864" cy="10972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3200400"/>
            <a:ext cx="3703319" cy="365760"/>
          </a:xfrm>
          <a:prstGeom prst="rect">
            <a:avLst/>
          </a:prstGeom>
          <a:noFill/>
        </p:spPr>
        <p:txBody>
          <a:bodyPr wrap="square" anchor="t"/>
          <a:lstStyle/>
          <a:p>
            <a:pPr algn="l">
              <a:defRPr sz="1300" b="1">
                <a:solidFill>
                  <a:srgbClr val="FFFFFF"/>
                </a:solidFill>
                <a:latin typeface="Arial"/>
              </a:defRPr>
            </a:pPr>
            <a:r>
              <a:t>Similarity Analysis</a:t>
            </a:r>
          </a:p>
        </p:txBody>
      </p:sp>
      <p:sp>
        <p:nvSpPr>
          <p:cNvPr id="25" name="TextBox 24"/>
          <p:cNvSpPr txBox="1"/>
          <p:nvPr/>
        </p:nvSpPr>
        <p:spPr>
          <a:xfrm>
            <a:off x="4892040" y="3566160"/>
            <a:ext cx="3703319" cy="548640"/>
          </a:xfrm>
          <a:prstGeom prst="rect">
            <a:avLst/>
          </a:prstGeom>
          <a:noFill/>
        </p:spPr>
        <p:txBody>
          <a:bodyPr wrap="square" anchor="t"/>
          <a:lstStyle/>
          <a:p>
            <a:pPr algn="l">
              <a:defRPr sz="1000" b="0">
                <a:solidFill>
                  <a:srgbClr val="CCCCCC"/>
                </a:solidFill>
                <a:latin typeface="Arial"/>
              </a:defRPr>
            </a:pPr>
            <a:r>
              <a:t>TF-IDF fingerprinting. Process keyword matching (28 patterns). N-gram comparison.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Skills Architecture Deep Dive (skills/)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10 files: pack_loader, resolver, runtime, indexer, telemetry, dependency_graph, execution, query_builder</a:t>
            </a:r>
          </a:p>
        </p:txBody>
      </p:sp>
      <p:sp>
        <p:nvSpPr>
          <p:cNvPr id="6" name="Rectangle 5"/>
          <p:cNvSpPr/>
          <p:nvPr/>
        </p:nvSpPr>
        <p:spPr>
          <a:xfrm>
            <a:off x="502920" y="1280160"/>
            <a:ext cx="2560320" cy="10058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53312"/>
            <a:ext cx="2286000" cy="274320"/>
          </a:xfrm>
          <a:prstGeom prst="rect">
            <a:avLst/>
          </a:prstGeom>
          <a:noFill/>
        </p:spPr>
        <p:txBody>
          <a:bodyPr wrap="square" anchor="t"/>
          <a:lstStyle/>
          <a:p>
            <a:pPr algn="l">
              <a:defRPr sz="1400" b="1">
                <a:solidFill>
                  <a:srgbClr val="FFFFFF"/>
                </a:solidFill>
                <a:latin typeface="Arial"/>
              </a:defRPr>
            </a:pPr>
            <a:r>
              <a:t>3 Skill Kinds</a:t>
            </a:r>
          </a:p>
        </p:txBody>
      </p:sp>
      <p:sp>
        <p:nvSpPr>
          <p:cNvPr id="8" name="TextBox 7"/>
          <p:cNvSpPr txBox="1"/>
          <p:nvPr/>
        </p:nvSpPr>
        <p:spPr>
          <a:xfrm>
            <a:off x="640080" y="1645920"/>
            <a:ext cx="2286000" cy="548640"/>
          </a:xfrm>
          <a:prstGeom prst="rect">
            <a:avLst/>
          </a:prstGeom>
          <a:noFill/>
        </p:spPr>
        <p:txBody>
          <a:bodyPr wrap="square" anchor="t"/>
          <a:lstStyle/>
          <a:p>
            <a:pPr algn="l">
              <a:defRPr sz="1100" b="0">
                <a:solidFill>
                  <a:srgbClr val="EEEEEE"/>
                </a:solidFill>
                <a:latin typeface="Arial"/>
              </a:defRPr>
            </a:pPr>
            <a:r>
              <a:t>retrievable</a:t>
            </a:r>
            <a:br/>
            <a:r>
              <a:t>executable</a:t>
            </a:r>
            <a:br/>
            <a:r>
              <a:t>hybrid</a:t>
            </a:r>
          </a:p>
        </p:txBody>
      </p:sp>
      <p:sp>
        <p:nvSpPr>
          <p:cNvPr id="9" name="Rectangle 8"/>
          <p:cNvSpPr/>
          <p:nvPr/>
        </p:nvSpPr>
        <p:spPr>
          <a:xfrm>
            <a:off x="3291840" y="1280160"/>
            <a:ext cx="2560320" cy="100584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353312"/>
            <a:ext cx="2286000" cy="274320"/>
          </a:xfrm>
          <a:prstGeom prst="rect">
            <a:avLst/>
          </a:prstGeom>
          <a:noFill/>
        </p:spPr>
        <p:txBody>
          <a:bodyPr wrap="square" anchor="t"/>
          <a:lstStyle/>
          <a:p>
            <a:pPr algn="l">
              <a:defRPr sz="1400" b="1">
                <a:solidFill>
                  <a:srgbClr val="FFFFFF"/>
                </a:solidFill>
                <a:latin typeface="Arial"/>
              </a:defRPr>
            </a:pPr>
            <a:r>
              <a:t>2 Exec Contexts</a:t>
            </a:r>
          </a:p>
        </p:txBody>
      </p:sp>
      <p:sp>
        <p:nvSpPr>
          <p:cNvPr id="11" name="TextBox 10"/>
          <p:cNvSpPr txBox="1"/>
          <p:nvPr/>
        </p:nvSpPr>
        <p:spPr>
          <a:xfrm>
            <a:off x="3429000" y="1645920"/>
            <a:ext cx="2286000" cy="548640"/>
          </a:xfrm>
          <a:prstGeom prst="rect">
            <a:avLst/>
          </a:prstGeom>
          <a:noFill/>
        </p:spPr>
        <p:txBody>
          <a:bodyPr wrap="square" anchor="t"/>
          <a:lstStyle/>
          <a:p>
            <a:pPr algn="l">
              <a:defRPr sz="1100" b="0">
                <a:solidFill>
                  <a:srgbClr val="EEEEEE"/>
                </a:solidFill>
                <a:latin typeface="Arial"/>
              </a:defRPr>
            </a:pPr>
            <a:r>
              <a:t>inline (default)</a:t>
            </a:r>
            <a:br/>
            <a:r>
              <a:t>fork (isolated)</a:t>
            </a:r>
          </a:p>
        </p:txBody>
      </p:sp>
      <p:sp>
        <p:nvSpPr>
          <p:cNvPr id="12" name="Rectangle 11"/>
          <p:cNvSpPr/>
          <p:nvPr/>
        </p:nvSpPr>
        <p:spPr>
          <a:xfrm>
            <a:off x="6080760" y="1280160"/>
            <a:ext cx="2560320" cy="10058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1353312"/>
            <a:ext cx="2286000" cy="274320"/>
          </a:xfrm>
          <a:prstGeom prst="rect">
            <a:avLst/>
          </a:prstGeom>
          <a:noFill/>
        </p:spPr>
        <p:txBody>
          <a:bodyPr wrap="square" anchor="t"/>
          <a:lstStyle/>
          <a:p>
            <a:pPr algn="l">
              <a:defRPr sz="1400" b="1">
                <a:solidFill>
                  <a:srgbClr val="FFFFFF"/>
                </a:solidFill>
                <a:latin typeface="Arial"/>
              </a:defRPr>
            </a:pPr>
            <a:r>
              <a:t>5 Effort Levels</a:t>
            </a:r>
          </a:p>
        </p:txBody>
      </p:sp>
      <p:sp>
        <p:nvSpPr>
          <p:cNvPr id="14" name="TextBox 13"/>
          <p:cNvSpPr txBox="1"/>
          <p:nvPr/>
        </p:nvSpPr>
        <p:spPr>
          <a:xfrm>
            <a:off x="6217920" y="1645920"/>
            <a:ext cx="2286000" cy="548640"/>
          </a:xfrm>
          <a:prstGeom prst="rect">
            <a:avLst/>
          </a:prstGeom>
          <a:noFill/>
        </p:spPr>
        <p:txBody>
          <a:bodyPr wrap="square" anchor="t"/>
          <a:lstStyle/>
          <a:p>
            <a:pPr algn="l">
              <a:defRPr sz="1100" b="0">
                <a:solidFill>
                  <a:srgbClr val="EEEEEE"/>
                </a:solidFill>
                <a:latin typeface="Arial"/>
              </a:defRPr>
            </a:pPr>
            <a:r>
              <a:t>(empty), low</a:t>
            </a:r>
            <a:br/>
            <a:r>
              <a:t>medium, high, xhigh</a:t>
            </a:r>
          </a:p>
        </p:txBody>
      </p:sp>
      <p:sp>
        <p:nvSpPr>
          <p:cNvPr id="15" name="TextBox 14"/>
          <p:cNvSpPr txBox="1"/>
          <p:nvPr/>
        </p:nvSpPr>
        <p:spPr>
          <a:xfrm>
            <a:off x="502920" y="2468880"/>
            <a:ext cx="3657600" cy="320040"/>
          </a:xfrm>
          <a:prstGeom prst="rect">
            <a:avLst/>
          </a:prstGeom>
          <a:noFill/>
        </p:spPr>
        <p:txBody>
          <a:bodyPr wrap="square" anchor="t"/>
          <a:lstStyle/>
          <a:p>
            <a:pPr algn="l">
              <a:defRPr sz="1300" b="1">
                <a:solidFill>
                  <a:srgbClr val="1B2A4A"/>
                </a:solidFill>
                <a:latin typeface="Arial"/>
              </a:defRPr>
            </a:pPr>
            <a:r>
              <a:t>SKILL LIFECYCLE</a:t>
            </a:r>
          </a:p>
        </p:txBody>
      </p:sp>
      <p:sp>
        <p:nvSpPr>
          <p:cNvPr id="16" name="Oval 15"/>
          <p:cNvSpPr/>
          <p:nvPr/>
        </p:nvSpPr>
        <p:spPr>
          <a:xfrm>
            <a:off x="502920" y="286207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1208" y="2862072"/>
            <a:ext cx="201168" cy="201168"/>
          </a:xfrm>
          <a:prstGeom prst="rect">
            <a:avLst/>
          </a:prstGeom>
          <a:noFill/>
        </p:spPr>
        <p:txBody>
          <a:bodyPr wrap="square" anchor="t"/>
          <a:lstStyle/>
          <a:p>
            <a:pPr algn="ctr">
              <a:defRPr sz="1000" b="1">
                <a:solidFill>
                  <a:srgbClr val="FFFFFF"/>
                </a:solidFill>
                <a:latin typeface="Arial"/>
              </a:defRPr>
            </a:pPr>
            <a:r>
              <a:t>1</a:t>
            </a:r>
          </a:p>
        </p:txBody>
      </p:sp>
      <p:sp>
        <p:nvSpPr>
          <p:cNvPr id="18" name="TextBox 17"/>
          <p:cNvSpPr txBox="1"/>
          <p:nvPr/>
        </p:nvSpPr>
        <p:spPr>
          <a:xfrm>
            <a:off x="777240" y="2834640"/>
            <a:ext cx="1463040" cy="228600"/>
          </a:xfrm>
          <a:prstGeom prst="rect">
            <a:avLst/>
          </a:prstGeom>
          <a:noFill/>
        </p:spPr>
        <p:txBody>
          <a:bodyPr wrap="square" anchor="t"/>
          <a:lstStyle/>
          <a:p>
            <a:pPr algn="l">
              <a:defRPr sz="1100" b="1">
                <a:solidFill>
                  <a:srgbClr val="333333"/>
                </a:solidFill>
                <a:latin typeface="Arial"/>
              </a:defRPr>
            </a:pPr>
            <a:r>
              <a:t>SkillPackFile</a:t>
            </a:r>
          </a:p>
        </p:txBody>
      </p:sp>
      <p:sp>
        <p:nvSpPr>
          <p:cNvPr id="19" name="TextBox 18"/>
          <p:cNvSpPr txBox="1"/>
          <p:nvPr/>
        </p:nvSpPr>
        <p:spPr>
          <a:xfrm>
            <a:off x="2286000" y="2834640"/>
            <a:ext cx="6400800" cy="228600"/>
          </a:xfrm>
          <a:prstGeom prst="rect">
            <a:avLst/>
          </a:prstGeom>
          <a:noFill/>
        </p:spPr>
        <p:txBody>
          <a:bodyPr wrap="square" anchor="t"/>
          <a:lstStyle/>
          <a:p>
            <a:pPr algn="l">
              <a:defRPr sz="1000" b="0">
                <a:solidFill>
                  <a:srgbClr val="555555"/>
                </a:solidFill>
                <a:latin typeface="Arial"/>
              </a:defRPr>
            </a:pPr>
            <a:r>
              <a:t>YAML frontmatter + markdown body. SHA256 checksum. Tags: tool_tags, task_tags.</a:t>
            </a:r>
          </a:p>
        </p:txBody>
      </p:sp>
      <p:sp>
        <p:nvSpPr>
          <p:cNvPr id="20" name="Oval 19"/>
          <p:cNvSpPr/>
          <p:nvPr/>
        </p:nvSpPr>
        <p:spPr>
          <a:xfrm>
            <a:off x="502920" y="318211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 y="3182112"/>
            <a:ext cx="201168" cy="201168"/>
          </a:xfrm>
          <a:prstGeom prst="rect">
            <a:avLst/>
          </a:prstGeom>
          <a:noFill/>
        </p:spPr>
        <p:txBody>
          <a:bodyPr wrap="square" anchor="t"/>
          <a:lstStyle/>
          <a:p>
            <a:pPr algn="ctr">
              <a:defRPr sz="1000" b="1">
                <a:solidFill>
                  <a:srgbClr val="FFFFFF"/>
                </a:solidFill>
                <a:latin typeface="Arial"/>
              </a:defRPr>
            </a:pPr>
            <a:r>
              <a:t>2</a:t>
            </a:r>
          </a:p>
        </p:txBody>
      </p:sp>
      <p:sp>
        <p:nvSpPr>
          <p:cNvPr id="22" name="TextBox 21"/>
          <p:cNvSpPr txBox="1"/>
          <p:nvPr/>
        </p:nvSpPr>
        <p:spPr>
          <a:xfrm>
            <a:off x="777240" y="3154680"/>
            <a:ext cx="1463040" cy="228600"/>
          </a:xfrm>
          <a:prstGeom prst="rect">
            <a:avLst/>
          </a:prstGeom>
          <a:noFill/>
        </p:spPr>
        <p:txBody>
          <a:bodyPr wrap="square" anchor="t"/>
          <a:lstStyle/>
          <a:p>
            <a:pPr algn="l">
              <a:defRPr sz="1100" b="1">
                <a:solidFill>
                  <a:srgbClr val="333333"/>
                </a:solidFill>
                <a:latin typeface="Arial"/>
              </a:defRPr>
            </a:pPr>
            <a:r>
              <a:t>SkillIndexSync</a:t>
            </a:r>
          </a:p>
        </p:txBody>
      </p:sp>
      <p:sp>
        <p:nvSpPr>
          <p:cNvPr id="23" name="TextBox 22"/>
          <p:cNvSpPr txBox="1"/>
          <p:nvPr/>
        </p:nvSpPr>
        <p:spPr>
          <a:xfrm>
            <a:off x="2286000" y="3154680"/>
            <a:ext cx="6400800" cy="228600"/>
          </a:xfrm>
          <a:prstGeom prst="rect">
            <a:avLst/>
          </a:prstGeom>
          <a:noFill/>
        </p:spPr>
        <p:txBody>
          <a:bodyPr wrap="square" anchor="t"/>
          <a:lstStyle/>
          <a:p>
            <a:pPr algn="l">
              <a:defRPr sz="1000" b="0">
                <a:solidFill>
                  <a:srgbClr val="555555"/>
                </a:solidFill>
                <a:latin typeface="Arial"/>
              </a:defRPr>
            </a:pPr>
            <a:r>
              <a:t>Discovers .md files, chunks for RAG, builds inverted index. Incremental sync by checksum.</a:t>
            </a:r>
          </a:p>
        </p:txBody>
      </p:sp>
      <p:sp>
        <p:nvSpPr>
          <p:cNvPr id="24" name="Oval 23"/>
          <p:cNvSpPr/>
          <p:nvPr/>
        </p:nvSpPr>
        <p:spPr>
          <a:xfrm>
            <a:off x="502920" y="350215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1208" y="3502152"/>
            <a:ext cx="201168" cy="201168"/>
          </a:xfrm>
          <a:prstGeom prst="rect">
            <a:avLst/>
          </a:prstGeom>
          <a:noFill/>
        </p:spPr>
        <p:txBody>
          <a:bodyPr wrap="square" anchor="t"/>
          <a:lstStyle/>
          <a:p>
            <a:pPr algn="ctr">
              <a:defRPr sz="1000" b="1">
                <a:solidFill>
                  <a:srgbClr val="FFFFFF"/>
                </a:solidFill>
                <a:latin typeface="Arial"/>
              </a:defRPr>
            </a:pPr>
            <a:r>
              <a:t>3</a:t>
            </a:r>
          </a:p>
        </p:txBody>
      </p:sp>
      <p:sp>
        <p:nvSpPr>
          <p:cNvPr id="26" name="TextBox 25"/>
          <p:cNvSpPr txBox="1"/>
          <p:nvPr/>
        </p:nvSpPr>
        <p:spPr>
          <a:xfrm>
            <a:off x="777240" y="3474720"/>
            <a:ext cx="1463040" cy="228600"/>
          </a:xfrm>
          <a:prstGeom prst="rect">
            <a:avLst/>
          </a:prstGeom>
          <a:noFill/>
        </p:spPr>
        <p:txBody>
          <a:bodyPr wrap="square" anchor="t"/>
          <a:lstStyle/>
          <a:p>
            <a:pPr algn="l">
              <a:defRPr sz="1100" b="1">
                <a:solidFill>
                  <a:srgbClr val="333333"/>
                </a:solidFill>
                <a:latin typeface="Arial"/>
              </a:defRPr>
            </a:pPr>
            <a:r>
              <a:t>SkillResolver</a:t>
            </a:r>
          </a:p>
        </p:txBody>
      </p:sp>
      <p:sp>
        <p:nvSpPr>
          <p:cNvPr id="27" name="TextBox 26"/>
          <p:cNvSpPr txBox="1"/>
          <p:nvPr/>
        </p:nvSpPr>
        <p:spPr>
          <a:xfrm>
            <a:off x="2286000" y="3474720"/>
            <a:ext cx="6400800" cy="228600"/>
          </a:xfrm>
          <a:prstGeom prst="rect">
            <a:avLst/>
          </a:prstGeom>
          <a:noFill/>
        </p:spPr>
        <p:txBody>
          <a:bodyPr wrap="square" anchor="t"/>
          <a:lstStyle/>
          <a:p>
            <a:pPr algn="l">
              <a:defRPr sz="1000" b="0">
                <a:solidFill>
                  <a:srgbClr val="555555"/>
                </a:solidFill>
                <a:latin typeface="Arial"/>
              </a:defRPr>
            </a:pPr>
            <a:r>
              <a:t>Semantic retrieval with BM25/embedding. Filters by agent_scope, tags. Pinned skill priority.</a:t>
            </a:r>
          </a:p>
        </p:txBody>
      </p:sp>
      <p:sp>
        <p:nvSpPr>
          <p:cNvPr id="28" name="Oval 27"/>
          <p:cNvSpPr/>
          <p:nvPr/>
        </p:nvSpPr>
        <p:spPr>
          <a:xfrm>
            <a:off x="502920" y="382219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1208" y="3822192"/>
            <a:ext cx="201168" cy="201168"/>
          </a:xfrm>
          <a:prstGeom prst="rect">
            <a:avLst/>
          </a:prstGeom>
          <a:noFill/>
        </p:spPr>
        <p:txBody>
          <a:bodyPr wrap="square" anchor="t"/>
          <a:lstStyle/>
          <a:p>
            <a:pPr algn="ctr">
              <a:defRPr sz="1000" b="1">
                <a:solidFill>
                  <a:srgbClr val="FFFFFF"/>
                </a:solidFill>
                <a:latin typeface="Arial"/>
              </a:defRPr>
            </a:pPr>
            <a:r>
              <a:t>4</a:t>
            </a:r>
          </a:p>
        </p:txBody>
      </p:sp>
      <p:sp>
        <p:nvSpPr>
          <p:cNvPr id="30" name="TextBox 29"/>
          <p:cNvSpPr txBox="1"/>
          <p:nvPr/>
        </p:nvSpPr>
        <p:spPr>
          <a:xfrm>
            <a:off x="777240" y="3794760"/>
            <a:ext cx="1463040" cy="228600"/>
          </a:xfrm>
          <a:prstGeom prst="rect">
            <a:avLst/>
          </a:prstGeom>
          <a:noFill/>
        </p:spPr>
        <p:txBody>
          <a:bodyPr wrap="square" anchor="t"/>
          <a:lstStyle/>
          <a:p>
            <a:pPr algn="l">
              <a:defRPr sz="1100" b="1">
                <a:solidFill>
                  <a:srgbClr val="333333"/>
                </a:solidFill>
                <a:latin typeface="Arial"/>
              </a:defRPr>
            </a:pPr>
            <a:r>
              <a:t>SkillRuntime</a:t>
            </a:r>
          </a:p>
        </p:txBody>
      </p:sp>
      <p:sp>
        <p:nvSpPr>
          <p:cNvPr id="31" name="TextBox 30"/>
          <p:cNvSpPr txBox="1"/>
          <p:nvPr/>
        </p:nvSpPr>
        <p:spPr>
          <a:xfrm>
            <a:off x="2286000" y="3794760"/>
            <a:ext cx="6400800" cy="228600"/>
          </a:xfrm>
          <a:prstGeom prst="rect">
            <a:avLst/>
          </a:prstGeom>
          <a:noFill/>
        </p:spPr>
        <p:txBody>
          <a:bodyPr wrap="square" anchor="t"/>
          <a:lstStyle/>
          <a:p>
            <a:pPr algn="l">
              <a:defRPr sz="1000" b="0">
                <a:solidFill>
                  <a:srgbClr val="555555"/>
                </a:solidFill>
                <a:latin typeface="Arial"/>
              </a:defRPr>
            </a:pPr>
            <a:r>
              <a:t>Merges query + skills + session context. Access control filtering. Max 4000 chars budget.</a:t>
            </a:r>
          </a:p>
        </p:txBody>
      </p:sp>
      <p:sp>
        <p:nvSpPr>
          <p:cNvPr id="32" name="Rectangle 31"/>
          <p:cNvSpPr/>
          <p:nvPr/>
        </p:nvSpPr>
        <p:spPr>
          <a:xfrm>
            <a:off x="4846320" y="4160520"/>
            <a:ext cx="384048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846320" y="416052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0" y="4251960"/>
            <a:ext cx="3566160" cy="365760"/>
          </a:xfrm>
          <a:prstGeom prst="rect">
            <a:avLst/>
          </a:prstGeom>
          <a:noFill/>
        </p:spPr>
        <p:txBody>
          <a:bodyPr wrap="square" anchor="t"/>
          <a:lstStyle/>
          <a:p>
            <a:pPr algn="l">
              <a:defRPr sz="1200" b="1">
                <a:solidFill>
                  <a:srgbClr val="FFFFFF"/>
                </a:solidFill>
                <a:latin typeface="Arial"/>
              </a:defRPr>
            </a:pPr>
            <a:r>
              <a:t>Telemetry + Dependencies</a:t>
            </a:r>
          </a:p>
        </p:txBody>
      </p:sp>
      <p:sp>
        <p:nvSpPr>
          <p:cNvPr id="35" name="TextBox 34"/>
          <p:cNvSpPr txBox="1"/>
          <p:nvPr/>
        </p:nvSpPr>
        <p:spPr>
          <a:xfrm>
            <a:off x="5029200" y="4617720"/>
            <a:ext cx="3566160" cy="228600"/>
          </a:xfrm>
          <a:prstGeom prst="rect">
            <a:avLst/>
          </a:prstGeom>
          <a:noFill/>
        </p:spPr>
        <p:txBody>
          <a:bodyPr wrap="square" anchor="t"/>
          <a:lstStyle/>
          <a:p>
            <a:pPr algn="l">
              <a:defRPr sz="1000" b="0">
                <a:solidFill>
                  <a:srgbClr val="CCCCCC"/>
                </a:solidFill>
                <a:latin typeface="Arial"/>
              </a:defRPr>
            </a:pPr>
            <a:r>
              <a:t>80% success SLO, 20-use review window. DFS cycle detection. States: healthy/unstable/broken.</a:t>
            </a:r>
          </a:p>
        </p:txBody>
      </p:sp>
      <p:sp>
        <p:nvSpPr>
          <p:cNvPr id="36" name="Rectangle 35"/>
          <p:cNvSpPr/>
          <p:nvPr/>
        </p:nvSpPr>
        <p:spPr>
          <a:xfrm>
            <a:off x="502920" y="4160520"/>
            <a:ext cx="411480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02920" y="4160520"/>
            <a:ext cx="54864" cy="77724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4251960"/>
            <a:ext cx="3840480" cy="365760"/>
          </a:xfrm>
          <a:prstGeom prst="rect">
            <a:avLst/>
          </a:prstGeom>
          <a:noFill/>
        </p:spPr>
        <p:txBody>
          <a:bodyPr wrap="square" anchor="t"/>
          <a:lstStyle/>
          <a:p>
            <a:pPr algn="l">
              <a:defRPr sz="1200" b="1">
                <a:solidFill>
                  <a:srgbClr val="FFFFFF"/>
                </a:solidFill>
                <a:latin typeface="Arial"/>
              </a:defRPr>
            </a:pPr>
            <a:r>
              <a:t>Legacy Aliases + Visibility</a:t>
            </a:r>
          </a:p>
        </p:txBody>
      </p:sp>
      <p:sp>
        <p:nvSpPr>
          <p:cNvPr id="39" name="TextBox 38"/>
          <p:cNvSpPr txBox="1"/>
          <p:nvPr/>
        </p:nvSpPr>
        <p:spPr>
          <a:xfrm>
            <a:off x="685800" y="4617720"/>
            <a:ext cx="3840480" cy="228600"/>
          </a:xfrm>
          <a:prstGeom prst="rect">
            <a:avLst/>
          </a:prstGeom>
          <a:noFill/>
        </p:spPr>
        <p:txBody>
          <a:bodyPr wrap="square" anchor="t"/>
          <a:lstStyle/>
          <a:p>
            <a:pPr algn="l">
              <a:defRPr sz="1000" b="0">
                <a:solidFill>
                  <a:srgbClr val="CCCCCC"/>
                </a:solidFill>
                <a:latin typeface="Arial"/>
              </a:defRPr>
            </a:pPr>
            <a:r>
              <a:t>9 tool tag aliases mapped. Visibility: global / private / tenant scoped.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Provider System &amp; Circuit Breaker (providers/)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6 files: factory, llm_factory, circuit_breaker, output_limits, dependency_checks</a:t>
            </a:r>
          </a:p>
        </p:txBody>
      </p:sp>
      <p:sp>
        <p:nvSpPr>
          <p:cNvPr id="6" name="TextBox 5"/>
          <p:cNvSpPr txBox="1"/>
          <p:nvPr/>
        </p:nvSpPr>
        <p:spPr>
          <a:xfrm>
            <a:off x="502920" y="1371600"/>
            <a:ext cx="3931920" cy="320040"/>
          </a:xfrm>
          <a:prstGeom prst="rect">
            <a:avLst/>
          </a:prstGeom>
          <a:noFill/>
        </p:spPr>
        <p:txBody>
          <a:bodyPr wrap="square" anchor="t"/>
          <a:lstStyle/>
          <a:p>
            <a:pPr algn="l">
              <a:defRPr sz="1300" b="1">
                <a:solidFill>
                  <a:srgbClr val="0097A7"/>
                </a:solidFill>
                <a:latin typeface="Arial"/>
              </a:defRPr>
            </a:pPr>
            <a:r>
              <a:t>PROVIDER RESOLUTION</a:t>
            </a:r>
          </a:p>
        </p:txBody>
      </p:sp>
      <p:sp>
        <p:nvSpPr>
          <p:cNvPr id="7" name="Rectangle 6"/>
          <p:cNvSpPr/>
          <p:nvPr/>
        </p:nvSpPr>
        <p:spPr>
          <a:xfrm>
            <a:off x="502920" y="1737360"/>
            <a:ext cx="3931920" cy="12801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37360"/>
            <a:ext cx="54864" cy="12801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828800"/>
            <a:ext cx="3657600" cy="365760"/>
          </a:xfrm>
          <a:prstGeom prst="rect">
            <a:avLst/>
          </a:prstGeom>
          <a:noFill/>
        </p:spPr>
        <p:txBody>
          <a:bodyPr wrap="square" anchor="t"/>
          <a:lstStyle/>
          <a:p>
            <a:pPr algn="l">
              <a:defRPr sz="1200" b="1">
                <a:solidFill>
                  <a:srgbClr val="FFFFFF"/>
                </a:solidFill>
                <a:latin typeface="Arial"/>
              </a:defRPr>
            </a:pPr>
            <a:r>
              <a:t>AgentProviderResolver</a:t>
            </a:r>
          </a:p>
        </p:txBody>
      </p:sp>
      <p:sp>
        <p:nvSpPr>
          <p:cNvPr id="10" name="TextBox 9"/>
          <p:cNvSpPr txBox="1"/>
          <p:nvPr/>
        </p:nvSpPr>
        <p:spPr>
          <a:xfrm>
            <a:off x="685800" y="2194560"/>
            <a:ext cx="3657600" cy="731520"/>
          </a:xfrm>
          <a:prstGeom prst="rect">
            <a:avLst/>
          </a:prstGeom>
          <a:noFill/>
        </p:spPr>
        <p:txBody>
          <a:bodyPr wrap="square" anchor="t"/>
          <a:lstStyle/>
          <a:p>
            <a:pPr algn="l">
              <a:defRPr sz="1000" b="0">
                <a:solidFill>
                  <a:srgbClr val="CCCCCC"/>
                </a:solidFill>
                <a:latin typeface="Arial"/>
              </a:defRPr>
            </a:pPr>
            <a:r>
              <a:t>Caches bundles by 6-tuple (provider, model, cap). Per-agent overrides: AGENT_{NAME}_CHAT_MODEL. Token cap chain: request &gt; agent &gt; global &gt; ollama.</a:t>
            </a:r>
          </a:p>
        </p:txBody>
      </p:sp>
      <p:sp>
        <p:nvSpPr>
          <p:cNvPr id="11" name="Rectangle 10"/>
          <p:cNvSpPr/>
          <p:nvPr/>
        </p:nvSpPr>
        <p:spPr>
          <a:xfrm>
            <a:off x="502920" y="3154680"/>
            <a:ext cx="3931920" cy="8686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3154680"/>
            <a:ext cx="54864" cy="8686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246120"/>
            <a:ext cx="3657600" cy="365760"/>
          </a:xfrm>
          <a:prstGeom prst="rect">
            <a:avLst/>
          </a:prstGeom>
          <a:noFill/>
        </p:spPr>
        <p:txBody>
          <a:bodyPr wrap="square" anchor="t"/>
          <a:lstStyle/>
          <a:p>
            <a:pPr algn="l">
              <a:defRPr sz="1200" b="1">
                <a:solidFill>
                  <a:srgbClr val="FFFFFF"/>
                </a:solidFill>
                <a:latin typeface="Arial"/>
              </a:defRPr>
            </a:pPr>
            <a:r>
              <a:t>ProviderBundle</a:t>
            </a:r>
          </a:p>
        </p:txBody>
      </p:sp>
      <p:sp>
        <p:nvSpPr>
          <p:cNvPr id="14" name="TextBox 13"/>
          <p:cNvSpPr txBox="1"/>
          <p:nvPr/>
        </p:nvSpPr>
        <p:spPr>
          <a:xfrm>
            <a:off x="685800" y="3611880"/>
            <a:ext cx="3657600" cy="320040"/>
          </a:xfrm>
          <a:prstGeom prst="rect">
            <a:avLst/>
          </a:prstGeom>
          <a:noFill/>
        </p:spPr>
        <p:txBody>
          <a:bodyPr wrap="square" anchor="t"/>
          <a:lstStyle/>
          <a:p>
            <a:pPr algn="l">
              <a:defRPr sz="1000" b="0">
                <a:solidFill>
                  <a:srgbClr val="CCCCCC"/>
                </a:solidFill>
                <a:latin typeface="Arial"/>
              </a:defRPr>
            </a:pPr>
            <a:r>
              <a:t>Chat + judge + embeddings. Dims: 768 (Nomic) / 1536 (Ada-002). Timeouts: 120s HTTP, 20s connect.</a:t>
            </a:r>
          </a:p>
        </p:txBody>
      </p:sp>
      <p:sp>
        <p:nvSpPr>
          <p:cNvPr id="15" name="TextBox 14"/>
          <p:cNvSpPr txBox="1"/>
          <p:nvPr/>
        </p:nvSpPr>
        <p:spPr>
          <a:xfrm>
            <a:off x="4846320" y="1371600"/>
            <a:ext cx="3840480" cy="320040"/>
          </a:xfrm>
          <a:prstGeom prst="rect">
            <a:avLst/>
          </a:prstGeom>
          <a:noFill/>
        </p:spPr>
        <p:txBody>
          <a:bodyPr wrap="square" anchor="t"/>
          <a:lstStyle/>
          <a:p>
            <a:pPr algn="l">
              <a:defRPr sz="1300" b="1">
                <a:solidFill>
                  <a:srgbClr val="EF5350"/>
                </a:solidFill>
                <a:latin typeface="Arial"/>
              </a:defRPr>
            </a:pPr>
            <a:r>
              <a:t>CIRCUIT BREAKER</a:t>
            </a:r>
          </a:p>
        </p:txBody>
      </p:sp>
      <p:sp>
        <p:nvSpPr>
          <p:cNvPr id="16" name="Rectangle 15"/>
          <p:cNvSpPr/>
          <p:nvPr/>
        </p:nvSpPr>
        <p:spPr>
          <a:xfrm>
            <a:off x="4846320" y="1737360"/>
            <a:ext cx="3840480" cy="2240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846320" y="1737360"/>
            <a:ext cx="54864" cy="224028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74920" y="1874519"/>
            <a:ext cx="1645920" cy="228600"/>
          </a:xfrm>
          <a:prstGeom prst="rect">
            <a:avLst/>
          </a:prstGeom>
          <a:noFill/>
        </p:spPr>
        <p:txBody>
          <a:bodyPr wrap="square" anchor="t"/>
          <a:lstStyle/>
          <a:p>
            <a:pPr algn="l">
              <a:defRPr sz="1100" b="1">
                <a:solidFill>
                  <a:srgbClr val="FFFFFF"/>
                </a:solidFill>
                <a:latin typeface="Arial"/>
              </a:defRPr>
            </a:pPr>
            <a:r>
              <a:t>Window Size:</a:t>
            </a:r>
          </a:p>
        </p:txBody>
      </p:sp>
      <p:sp>
        <p:nvSpPr>
          <p:cNvPr id="19" name="TextBox 18"/>
          <p:cNvSpPr txBox="1"/>
          <p:nvPr/>
        </p:nvSpPr>
        <p:spPr>
          <a:xfrm>
            <a:off x="6766560" y="1874519"/>
            <a:ext cx="1828800" cy="228600"/>
          </a:xfrm>
          <a:prstGeom prst="rect">
            <a:avLst/>
          </a:prstGeom>
          <a:noFill/>
        </p:spPr>
        <p:txBody>
          <a:bodyPr wrap="square" anchor="t"/>
          <a:lstStyle/>
          <a:p>
            <a:pPr algn="l">
              <a:defRPr sz="1100" b="0">
                <a:solidFill>
                  <a:srgbClr val="CCCCCC"/>
                </a:solidFill>
                <a:latin typeface="Arial"/>
              </a:defRPr>
            </a:pPr>
            <a:r>
              <a:t>20 samples</a:t>
            </a:r>
          </a:p>
        </p:txBody>
      </p:sp>
      <p:sp>
        <p:nvSpPr>
          <p:cNvPr id="20" name="TextBox 19"/>
          <p:cNvSpPr txBox="1"/>
          <p:nvPr/>
        </p:nvSpPr>
        <p:spPr>
          <a:xfrm>
            <a:off x="5074920" y="2194559"/>
            <a:ext cx="1645920" cy="228600"/>
          </a:xfrm>
          <a:prstGeom prst="rect">
            <a:avLst/>
          </a:prstGeom>
          <a:noFill/>
        </p:spPr>
        <p:txBody>
          <a:bodyPr wrap="square" anchor="t"/>
          <a:lstStyle/>
          <a:p>
            <a:pPr algn="l">
              <a:defRPr sz="1100" b="1">
                <a:solidFill>
                  <a:srgbClr val="FFFFFF"/>
                </a:solidFill>
                <a:latin typeface="Arial"/>
              </a:defRPr>
            </a:pPr>
            <a:r>
              <a:t>Min Samples:</a:t>
            </a:r>
          </a:p>
        </p:txBody>
      </p:sp>
      <p:sp>
        <p:nvSpPr>
          <p:cNvPr id="21" name="TextBox 20"/>
          <p:cNvSpPr txBox="1"/>
          <p:nvPr/>
        </p:nvSpPr>
        <p:spPr>
          <a:xfrm>
            <a:off x="6766560" y="2194559"/>
            <a:ext cx="1828800" cy="228600"/>
          </a:xfrm>
          <a:prstGeom prst="rect">
            <a:avLst/>
          </a:prstGeom>
          <a:noFill/>
        </p:spPr>
        <p:txBody>
          <a:bodyPr wrap="square" anchor="t"/>
          <a:lstStyle/>
          <a:p>
            <a:pPr algn="l">
              <a:defRPr sz="1100" b="0">
                <a:solidFill>
                  <a:srgbClr val="CCCCCC"/>
                </a:solidFill>
                <a:latin typeface="Arial"/>
              </a:defRPr>
            </a:pPr>
            <a:r>
              <a:t>6 before tripping</a:t>
            </a:r>
          </a:p>
        </p:txBody>
      </p:sp>
      <p:sp>
        <p:nvSpPr>
          <p:cNvPr id="22" name="TextBox 21"/>
          <p:cNvSpPr txBox="1"/>
          <p:nvPr/>
        </p:nvSpPr>
        <p:spPr>
          <a:xfrm>
            <a:off x="5074920" y="2514599"/>
            <a:ext cx="1645920" cy="228600"/>
          </a:xfrm>
          <a:prstGeom prst="rect">
            <a:avLst/>
          </a:prstGeom>
          <a:noFill/>
        </p:spPr>
        <p:txBody>
          <a:bodyPr wrap="square" anchor="t"/>
          <a:lstStyle/>
          <a:p>
            <a:pPr algn="l">
              <a:defRPr sz="1100" b="1">
                <a:solidFill>
                  <a:srgbClr val="FFFFFF"/>
                </a:solidFill>
                <a:latin typeface="Arial"/>
              </a:defRPr>
            </a:pPr>
            <a:r>
              <a:t>Error Threshold:</a:t>
            </a:r>
          </a:p>
        </p:txBody>
      </p:sp>
      <p:sp>
        <p:nvSpPr>
          <p:cNvPr id="23" name="TextBox 22"/>
          <p:cNvSpPr txBox="1"/>
          <p:nvPr/>
        </p:nvSpPr>
        <p:spPr>
          <a:xfrm>
            <a:off x="6766560" y="2514599"/>
            <a:ext cx="1828800" cy="228600"/>
          </a:xfrm>
          <a:prstGeom prst="rect">
            <a:avLst/>
          </a:prstGeom>
          <a:noFill/>
        </p:spPr>
        <p:txBody>
          <a:bodyPr wrap="square" anchor="t"/>
          <a:lstStyle/>
          <a:p>
            <a:pPr algn="l">
              <a:defRPr sz="1100" b="0">
                <a:solidFill>
                  <a:srgbClr val="CCCCCC"/>
                </a:solidFill>
                <a:latin typeface="Arial"/>
              </a:defRPr>
            </a:pPr>
            <a:r>
              <a:t>50% error rate</a:t>
            </a:r>
          </a:p>
        </p:txBody>
      </p:sp>
      <p:sp>
        <p:nvSpPr>
          <p:cNvPr id="24" name="TextBox 23"/>
          <p:cNvSpPr txBox="1"/>
          <p:nvPr/>
        </p:nvSpPr>
        <p:spPr>
          <a:xfrm>
            <a:off x="5074920" y="2834639"/>
            <a:ext cx="1645920" cy="228600"/>
          </a:xfrm>
          <a:prstGeom prst="rect">
            <a:avLst/>
          </a:prstGeom>
          <a:noFill/>
        </p:spPr>
        <p:txBody>
          <a:bodyPr wrap="square" anchor="t"/>
          <a:lstStyle/>
          <a:p>
            <a:pPr algn="l">
              <a:defRPr sz="1100" b="1">
                <a:solidFill>
                  <a:srgbClr val="FFFFFF"/>
                </a:solidFill>
                <a:latin typeface="Arial"/>
              </a:defRPr>
            </a:pPr>
            <a:r>
              <a:t>Consecutive Fails:</a:t>
            </a:r>
          </a:p>
        </p:txBody>
      </p:sp>
      <p:sp>
        <p:nvSpPr>
          <p:cNvPr id="25" name="TextBox 24"/>
          <p:cNvSpPr txBox="1"/>
          <p:nvPr/>
        </p:nvSpPr>
        <p:spPr>
          <a:xfrm>
            <a:off x="6766560" y="2834639"/>
            <a:ext cx="1828800" cy="228600"/>
          </a:xfrm>
          <a:prstGeom prst="rect">
            <a:avLst/>
          </a:prstGeom>
          <a:noFill/>
        </p:spPr>
        <p:txBody>
          <a:bodyPr wrap="square" anchor="t"/>
          <a:lstStyle/>
          <a:p>
            <a:pPr algn="l">
              <a:defRPr sz="1100" b="0">
                <a:solidFill>
                  <a:srgbClr val="CCCCCC"/>
                </a:solidFill>
                <a:latin typeface="Arial"/>
              </a:defRPr>
            </a:pPr>
            <a:r>
              <a:t>3 triggers open</a:t>
            </a:r>
          </a:p>
        </p:txBody>
      </p:sp>
      <p:sp>
        <p:nvSpPr>
          <p:cNvPr id="26" name="TextBox 25"/>
          <p:cNvSpPr txBox="1"/>
          <p:nvPr/>
        </p:nvSpPr>
        <p:spPr>
          <a:xfrm>
            <a:off x="5074920" y="3154679"/>
            <a:ext cx="1645920" cy="228600"/>
          </a:xfrm>
          <a:prstGeom prst="rect">
            <a:avLst/>
          </a:prstGeom>
          <a:noFill/>
        </p:spPr>
        <p:txBody>
          <a:bodyPr wrap="square" anchor="t"/>
          <a:lstStyle/>
          <a:p>
            <a:pPr algn="l">
              <a:defRPr sz="1100" b="1">
                <a:solidFill>
                  <a:srgbClr val="FFFFFF"/>
                </a:solidFill>
                <a:latin typeface="Arial"/>
              </a:defRPr>
            </a:pPr>
            <a:r>
              <a:t>Open Duration:</a:t>
            </a:r>
          </a:p>
        </p:txBody>
      </p:sp>
      <p:sp>
        <p:nvSpPr>
          <p:cNvPr id="27" name="TextBox 26"/>
          <p:cNvSpPr txBox="1"/>
          <p:nvPr/>
        </p:nvSpPr>
        <p:spPr>
          <a:xfrm>
            <a:off x="6766560" y="3154679"/>
            <a:ext cx="1828800" cy="228600"/>
          </a:xfrm>
          <a:prstGeom prst="rect">
            <a:avLst/>
          </a:prstGeom>
          <a:noFill/>
        </p:spPr>
        <p:txBody>
          <a:bodyPr wrap="square" anchor="t"/>
          <a:lstStyle/>
          <a:p>
            <a:pPr algn="l">
              <a:defRPr sz="1100" b="0">
                <a:solidFill>
                  <a:srgbClr val="CCCCCC"/>
                </a:solidFill>
                <a:latin typeface="Arial"/>
              </a:defRPr>
            </a:pPr>
            <a:r>
              <a:t>30 seconds cooldown</a:t>
            </a:r>
          </a:p>
        </p:txBody>
      </p:sp>
      <p:sp>
        <p:nvSpPr>
          <p:cNvPr id="28" name="TextBox 27"/>
          <p:cNvSpPr txBox="1"/>
          <p:nvPr/>
        </p:nvSpPr>
        <p:spPr>
          <a:xfrm>
            <a:off x="5074920" y="3474719"/>
            <a:ext cx="1645920" cy="228600"/>
          </a:xfrm>
          <a:prstGeom prst="rect">
            <a:avLst/>
          </a:prstGeom>
          <a:noFill/>
        </p:spPr>
        <p:txBody>
          <a:bodyPr wrap="square" anchor="t"/>
          <a:lstStyle/>
          <a:p>
            <a:pPr algn="l">
              <a:defRPr sz="1100" b="1">
                <a:solidFill>
                  <a:srgbClr val="FFFFFF"/>
                </a:solidFill>
                <a:latin typeface="Arial"/>
              </a:defRPr>
            </a:pPr>
            <a:r>
              <a:t>Fallback:</a:t>
            </a:r>
          </a:p>
        </p:txBody>
      </p:sp>
      <p:sp>
        <p:nvSpPr>
          <p:cNvPr id="29" name="TextBox 28"/>
          <p:cNvSpPr txBox="1"/>
          <p:nvPr/>
        </p:nvSpPr>
        <p:spPr>
          <a:xfrm>
            <a:off x="6766560" y="3474719"/>
            <a:ext cx="1828800" cy="228600"/>
          </a:xfrm>
          <a:prstGeom prst="rect">
            <a:avLst/>
          </a:prstGeom>
          <a:noFill/>
        </p:spPr>
        <p:txBody>
          <a:bodyPr wrap="square" anchor="t"/>
          <a:lstStyle/>
          <a:p>
            <a:pPr algn="l">
              <a:defRPr sz="1100" b="0">
                <a:solidFill>
                  <a:srgbClr val="CCCCCC"/>
                </a:solidFill>
                <a:latin typeface="Arial"/>
              </a:defRPr>
            </a:pPr>
            <a:r>
              <a:t>Degrades to basic mode</a:t>
            </a:r>
          </a:p>
        </p:txBody>
      </p:sp>
      <p:sp>
        <p:nvSpPr>
          <p:cNvPr id="30" name="Rectangle 29"/>
          <p:cNvSpPr/>
          <p:nvPr/>
        </p:nvSpPr>
        <p:spPr>
          <a:xfrm>
            <a:off x="502920" y="4206240"/>
            <a:ext cx="8138160" cy="7315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4297680"/>
            <a:ext cx="7680960" cy="548640"/>
          </a:xfrm>
          <a:prstGeom prst="rect">
            <a:avLst/>
          </a:prstGeom>
          <a:noFill/>
        </p:spPr>
        <p:txBody>
          <a:bodyPr wrap="square" anchor="t"/>
          <a:lstStyle/>
          <a:p>
            <a:pPr algn="l">
              <a:defRPr sz="1100" b="0">
                <a:solidFill>
                  <a:srgbClr val="CCCCCC"/>
                </a:solidFill>
                <a:latin typeface="Arial"/>
              </a:defRPr>
            </a:pPr>
            <a:r>
              <a:t>If an agent's LLM provider trips the circuit breaker, RuntimeService degrades to basic mode with a different provider. If even that fails, returns a graceful degraded message to the user.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MCP Security Model (mcp/)</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Cryptographic isolation, URL validation, tool deferral, and connection lifecycle management</a:t>
            </a:r>
          </a:p>
        </p:txBody>
      </p:sp>
      <p:sp>
        <p:nvSpPr>
          <p:cNvPr id="6" name="Rectangle 5"/>
          <p:cNvSpPr/>
          <p:nvPr/>
        </p:nvSpPr>
        <p:spPr>
          <a:xfrm>
            <a:off x="50292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71600"/>
            <a:ext cx="54864" cy="13716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Secret Encryption</a:t>
            </a:r>
          </a:p>
        </p:txBody>
      </p:sp>
      <p:sp>
        <p:nvSpPr>
          <p:cNvPr id="9" name="TextBox 8"/>
          <p:cNvSpPr txBox="1"/>
          <p:nvPr/>
        </p:nvSpPr>
        <p:spPr>
          <a:xfrm>
            <a:off x="685800" y="1828800"/>
            <a:ext cx="3703319" cy="822960"/>
          </a:xfrm>
          <a:prstGeom prst="rect">
            <a:avLst/>
          </a:prstGeom>
          <a:noFill/>
        </p:spPr>
        <p:txBody>
          <a:bodyPr wrap="square" anchor="t"/>
          <a:lstStyle/>
          <a:p>
            <a:pPr algn="l">
              <a:defRPr sz="1000" b="0">
                <a:solidFill>
                  <a:srgbClr val="CCCCCC"/>
                </a:solidFill>
                <a:latin typeface="Arial"/>
              </a:defRPr>
            </a:pPr>
            <a:r>
              <a:t>Fernet symmetric encryption with SHA256 key derivation. Prefix: 'fernet:v1:' identifies encrypted values. Secrets never stored in plaintext. Decrypted only at call time.</a:t>
            </a:r>
          </a:p>
        </p:txBody>
      </p:sp>
      <p:sp>
        <p:nvSpPr>
          <p:cNvPr id="10" name="Rectangle 9"/>
          <p:cNvSpPr/>
          <p:nvPr/>
        </p:nvSpPr>
        <p:spPr>
          <a:xfrm>
            <a:off x="470916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09160" y="1371600"/>
            <a:ext cx="54864" cy="13716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URL Validation</a:t>
            </a:r>
          </a:p>
        </p:txBody>
      </p:sp>
      <p:sp>
        <p:nvSpPr>
          <p:cNvPr id="13" name="TextBox 12"/>
          <p:cNvSpPr txBox="1"/>
          <p:nvPr/>
        </p:nvSpPr>
        <p:spPr>
          <a:xfrm>
            <a:off x="4892040" y="1828800"/>
            <a:ext cx="3703319" cy="822960"/>
          </a:xfrm>
          <a:prstGeom prst="rect">
            <a:avLst/>
          </a:prstGeom>
          <a:noFill/>
        </p:spPr>
        <p:txBody>
          <a:bodyPr wrap="square" anchor="t"/>
          <a:lstStyle/>
          <a:p>
            <a:pPr algn="l">
              <a:defRPr sz="1000" b="0">
                <a:solidFill>
                  <a:srgbClr val="CCCCCC"/>
                </a:solidFill>
                <a:latin typeface="Arial"/>
              </a:defRPr>
            </a:pPr>
            <a:r>
              <a:t>HTTPS enforced by default (configurable). Private network blocking prevents SSRF attacks. Connection names slugified: max 80 chars, [a-z0-9_] only.</a:t>
            </a:r>
          </a:p>
        </p:txBody>
      </p:sp>
      <p:sp>
        <p:nvSpPr>
          <p:cNvPr id="14" name="Rectangle 13"/>
          <p:cNvSpPr/>
          <p:nvPr/>
        </p:nvSpPr>
        <p:spPr>
          <a:xfrm>
            <a:off x="50292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926080"/>
            <a:ext cx="54864" cy="13716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017520"/>
            <a:ext cx="3703319" cy="365760"/>
          </a:xfrm>
          <a:prstGeom prst="rect">
            <a:avLst/>
          </a:prstGeom>
          <a:noFill/>
        </p:spPr>
        <p:txBody>
          <a:bodyPr wrap="square" anchor="t"/>
          <a:lstStyle/>
          <a:p>
            <a:pPr algn="l">
              <a:defRPr sz="1300" b="1">
                <a:solidFill>
                  <a:srgbClr val="FFFFFF"/>
                </a:solidFill>
                <a:latin typeface="Arial"/>
              </a:defRPr>
            </a:pPr>
            <a:r>
              <a:t>Tool Deferral System</a:t>
            </a:r>
          </a:p>
        </p:txBody>
      </p:sp>
      <p:sp>
        <p:nvSpPr>
          <p:cNvPr id="17" name="TextBox 16"/>
          <p:cNvSpPr txBox="1"/>
          <p:nvPr/>
        </p:nvSpPr>
        <p:spPr>
          <a:xfrm>
            <a:off x="685800" y="3383280"/>
            <a:ext cx="3703319" cy="822960"/>
          </a:xfrm>
          <a:prstGeom prst="rect">
            <a:avLst/>
          </a:prstGeom>
          <a:noFill/>
        </p:spPr>
        <p:txBody>
          <a:bodyPr wrap="square" anchor="t"/>
          <a:lstStyle/>
          <a:p>
            <a:pPr algn="l">
              <a:defRPr sz="1000" b="0">
                <a:solidFill>
                  <a:srgbClr val="CCCCCC"/>
                </a:solidFill>
                <a:latin typeface="Arial"/>
              </a:defRPr>
            </a:pPr>
            <a:r>
              <a:t>All MCP tools: defer=True, destructive=True, defer_priority=50. Tools only execute after explicit user/agent approval. Schema sanitization: enforces type='object', additionalProperties=True.</a:t>
            </a:r>
          </a:p>
        </p:txBody>
      </p:sp>
      <p:sp>
        <p:nvSpPr>
          <p:cNvPr id="18" name="Rectangle 17"/>
          <p:cNvSpPr/>
          <p:nvPr/>
        </p:nvSpPr>
        <p:spPr>
          <a:xfrm>
            <a:off x="470916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09160" y="2926080"/>
            <a:ext cx="54864" cy="13716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2040" y="3017520"/>
            <a:ext cx="3703319" cy="365760"/>
          </a:xfrm>
          <a:prstGeom prst="rect">
            <a:avLst/>
          </a:prstGeom>
          <a:noFill/>
        </p:spPr>
        <p:txBody>
          <a:bodyPr wrap="square" anchor="t"/>
          <a:lstStyle/>
          <a:p>
            <a:pPr algn="l">
              <a:defRPr sz="1300" b="1">
                <a:solidFill>
                  <a:srgbClr val="FFFFFF"/>
                </a:solidFill>
                <a:latin typeface="Arial"/>
              </a:defRPr>
            </a:pPr>
            <a:r>
              <a:t>Connection Lifecycle</a:t>
            </a:r>
          </a:p>
        </p:txBody>
      </p:sp>
      <p:sp>
        <p:nvSpPr>
          <p:cNvPr id="21" name="TextBox 20"/>
          <p:cNvSpPr txBox="1"/>
          <p:nvPr/>
        </p:nvSpPr>
        <p:spPr>
          <a:xfrm>
            <a:off x="4892040" y="3383280"/>
            <a:ext cx="3703319" cy="822960"/>
          </a:xfrm>
          <a:prstGeom prst="rect">
            <a:avLst/>
          </a:prstGeom>
          <a:noFill/>
        </p:spPr>
        <p:txBody>
          <a:bodyPr wrap="square" anchor="t"/>
          <a:lstStyle/>
          <a:p>
            <a:pPr algn="l">
              <a:defRPr sz="1000" b="0">
                <a:solidFill>
                  <a:srgbClr val="CCCCCC"/>
                </a:solidFill>
                <a:latin typeface="Arial"/>
              </a:defRPr>
            </a:pPr>
            <a:r>
              <a:t>Timeouts: 15s for listing tools, 60s for execution. Tool name pattern: mcp__{connection}__{tool}. Per-tool enable/disable. Status/enabled flags gate execution.</a:t>
            </a:r>
          </a:p>
        </p:txBody>
      </p:sp>
      <p:sp>
        <p:nvSpPr>
          <p:cNvPr id="22" name="TextBox 21"/>
          <p:cNvSpPr txBox="1"/>
          <p:nvPr/>
        </p:nvSpPr>
        <p:spPr>
          <a:xfrm>
            <a:off x="502920" y="4480560"/>
            <a:ext cx="8138160" cy="457200"/>
          </a:xfrm>
          <a:prstGeom prst="rect">
            <a:avLst/>
          </a:prstGeom>
          <a:noFill/>
        </p:spPr>
        <p:txBody>
          <a:bodyPr wrap="square" anchor="t"/>
          <a:lstStyle/>
          <a:p>
            <a:pPr algn="l">
              <a:defRPr sz="1000" b="0">
                <a:solidFill>
                  <a:srgbClr val="888888"/>
                </a:solidFill>
                <a:latin typeface="Arial"/>
              </a:defRPr>
            </a:pPr>
            <a:r>
              <a:t>McpStreamableHttpClient wraps the official MCP Streamable HTTP client with sync/async support. McpCatalogService manages the full connection CRUD + tool discovery + execution pipeline.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Task Plan &amp; Artifact Handoff System</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Structured task decomposition with typed artifact handoffs between worker agents</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TASK SPECIFICATION</a:t>
            </a:r>
          </a:p>
        </p:txBody>
      </p:sp>
      <p:sp>
        <p:nvSpPr>
          <p:cNvPr id="7" name="TextBox 6"/>
          <p:cNvSpPr txBox="1"/>
          <p:nvPr/>
        </p:nvSpPr>
        <p:spPr>
          <a:xfrm>
            <a:off x="502920" y="1691640"/>
            <a:ext cx="1371600" cy="228600"/>
          </a:xfrm>
          <a:prstGeom prst="rect">
            <a:avLst/>
          </a:prstGeom>
          <a:noFill/>
        </p:spPr>
        <p:txBody>
          <a:bodyPr wrap="square" anchor="t"/>
          <a:lstStyle/>
          <a:p>
            <a:pPr algn="l">
              <a:defRPr sz="1100" b="1">
                <a:solidFill>
                  <a:srgbClr val="333333"/>
                </a:solidFill>
                <a:latin typeface="Arial"/>
              </a:defRPr>
            </a:pPr>
            <a:r>
              <a:t>Executors:</a:t>
            </a:r>
          </a:p>
        </p:txBody>
      </p:sp>
      <p:sp>
        <p:nvSpPr>
          <p:cNvPr id="8" name="TextBox 7"/>
          <p:cNvSpPr txBox="1"/>
          <p:nvPr/>
        </p:nvSpPr>
        <p:spPr>
          <a:xfrm>
            <a:off x="1828800" y="1691640"/>
            <a:ext cx="2560320" cy="228600"/>
          </a:xfrm>
          <a:prstGeom prst="rect">
            <a:avLst/>
          </a:prstGeom>
          <a:noFill/>
        </p:spPr>
        <p:txBody>
          <a:bodyPr wrap="square" anchor="t"/>
          <a:lstStyle/>
          <a:p>
            <a:pPr algn="l">
              <a:defRPr sz="1000" b="0">
                <a:solidFill>
                  <a:srgbClr val="555555"/>
                </a:solidFill>
                <a:latin typeface="Arial"/>
              </a:defRPr>
            </a:pPr>
            <a:r>
              <a:t>rag_worker, utility, data_analyst, general, graph_manager, verifier</a:t>
            </a:r>
          </a:p>
        </p:txBody>
      </p:sp>
      <p:sp>
        <p:nvSpPr>
          <p:cNvPr id="9" name="TextBox 8"/>
          <p:cNvSpPr txBox="1"/>
          <p:nvPr/>
        </p:nvSpPr>
        <p:spPr>
          <a:xfrm>
            <a:off x="502920" y="2011680"/>
            <a:ext cx="1371600" cy="228600"/>
          </a:xfrm>
          <a:prstGeom prst="rect">
            <a:avLst/>
          </a:prstGeom>
          <a:noFill/>
        </p:spPr>
        <p:txBody>
          <a:bodyPr wrap="square" anchor="t"/>
          <a:lstStyle/>
          <a:p>
            <a:pPr algn="l">
              <a:defRPr sz="1100" b="1">
                <a:solidFill>
                  <a:srgbClr val="333333"/>
                </a:solidFill>
                <a:latin typeface="Arial"/>
              </a:defRPr>
            </a:pPr>
            <a:r>
              <a:t>Modes:</a:t>
            </a:r>
          </a:p>
        </p:txBody>
      </p:sp>
      <p:sp>
        <p:nvSpPr>
          <p:cNvPr id="10" name="TextBox 9"/>
          <p:cNvSpPr txBox="1"/>
          <p:nvPr/>
        </p:nvSpPr>
        <p:spPr>
          <a:xfrm>
            <a:off x="1828800" y="2011680"/>
            <a:ext cx="2560320" cy="228600"/>
          </a:xfrm>
          <a:prstGeom prst="rect">
            <a:avLst/>
          </a:prstGeom>
          <a:noFill/>
        </p:spPr>
        <p:txBody>
          <a:bodyPr wrap="square" anchor="t"/>
          <a:lstStyle/>
          <a:p>
            <a:pPr algn="l">
              <a:defRPr sz="1000" b="0">
                <a:solidFill>
                  <a:srgbClr val="555555"/>
                </a:solidFill>
                <a:latin typeface="Arial"/>
              </a:defRPr>
            </a:pPr>
            <a:r>
              <a:t>sequential or parallel execution</a:t>
            </a:r>
          </a:p>
        </p:txBody>
      </p:sp>
      <p:sp>
        <p:nvSpPr>
          <p:cNvPr id="11" name="TextBox 10"/>
          <p:cNvSpPr txBox="1"/>
          <p:nvPr/>
        </p:nvSpPr>
        <p:spPr>
          <a:xfrm>
            <a:off x="502920" y="2331720"/>
            <a:ext cx="1371600" cy="228600"/>
          </a:xfrm>
          <a:prstGeom prst="rect">
            <a:avLst/>
          </a:prstGeom>
          <a:noFill/>
        </p:spPr>
        <p:txBody>
          <a:bodyPr wrap="square" anchor="t"/>
          <a:lstStyle/>
          <a:p>
            <a:pPr algn="l">
              <a:defRPr sz="1100" b="1">
                <a:solidFill>
                  <a:srgbClr val="333333"/>
                </a:solidFill>
                <a:latin typeface="Arial"/>
              </a:defRPr>
            </a:pPr>
            <a:r>
              <a:t>Terminal States:</a:t>
            </a:r>
          </a:p>
        </p:txBody>
      </p:sp>
      <p:sp>
        <p:nvSpPr>
          <p:cNvPr id="12" name="TextBox 11"/>
          <p:cNvSpPr txBox="1"/>
          <p:nvPr/>
        </p:nvSpPr>
        <p:spPr>
          <a:xfrm>
            <a:off x="1828800" y="2331720"/>
            <a:ext cx="2560320" cy="228600"/>
          </a:xfrm>
          <a:prstGeom prst="rect">
            <a:avLst/>
          </a:prstGeom>
          <a:noFill/>
        </p:spPr>
        <p:txBody>
          <a:bodyPr wrap="square" anchor="t"/>
          <a:lstStyle/>
          <a:p>
            <a:pPr algn="l">
              <a:defRPr sz="1000" b="0">
                <a:solidFill>
                  <a:srgbClr val="555555"/>
                </a:solidFill>
                <a:latin typeface="Arial"/>
              </a:defRPr>
            </a:pPr>
            <a:r>
              <a:t>completed, failed, stopped, waiting_message</a:t>
            </a:r>
          </a:p>
        </p:txBody>
      </p:sp>
      <p:sp>
        <p:nvSpPr>
          <p:cNvPr id="13" name="TextBox 12"/>
          <p:cNvSpPr txBox="1"/>
          <p:nvPr/>
        </p:nvSpPr>
        <p:spPr>
          <a:xfrm>
            <a:off x="502920" y="2651760"/>
            <a:ext cx="1371600" cy="228600"/>
          </a:xfrm>
          <a:prstGeom prst="rect">
            <a:avLst/>
          </a:prstGeom>
          <a:noFill/>
        </p:spPr>
        <p:txBody>
          <a:bodyPr wrap="square" anchor="t"/>
          <a:lstStyle/>
          <a:p>
            <a:pPr algn="l">
              <a:defRPr sz="1100" b="1">
                <a:solidFill>
                  <a:srgbClr val="333333"/>
                </a:solidFill>
                <a:latin typeface="Arial"/>
              </a:defRPr>
            </a:pPr>
            <a:r>
              <a:t>Hints:</a:t>
            </a:r>
          </a:p>
        </p:txBody>
      </p:sp>
      <p:sp>
        <p:nvSpPr>
          <p:cNvPr id="14" name="TextBox 13"/>
          <p:cNvSpPr txBox="1"/>
          <p:nvPr/>
        </p:nvSpPr>
        <p:spPr>
          <a:xfrm>
            <a:off x="1828800" y="2651760"/>
            <a:ext cx="2560320" cy="228600"/>
          </a:xfrm>
          <a:prstGeom prst="rect">
            <a:avLst/>
          </a:prstGeom>
          <a:noFill/>
        </p:spPr>
        <p:txBody>
          <a:bodyPr wrap="square" anchor="t"/>
          <a:lstStyle/>
          <a:p>
            <a:pPr algn="l">
              <a:defRPr sz="1000" b="0">
                <a:solidFill>
                  <a:srgbClr val="555555"/>
                </a:solidFill>
                <a:latin typeface="Arial"/>
              </a:defRPr>
            </a:pPr>
            <a:r>
              <a:t>research_profile, coverage_goal, result_mode, answer_mode</a:t>
            </a:r>
          </a:p>
        </p:txBody>
      </p:sp>
      <p:sp>
        <p:nvSpPr>
          <p:cNvPr id="15" name="TextBox 14"/>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8 ARTIFACT HANDOFF TYPES</a:t>
            </a:r>
          </a:p>
        </p:txBody>
      </p:sp>
      <p:sp>
        <p:nvSpPr>
          <p:cNvPr id="16" name="Rectangle 15"/>
          <p:cNvSpPr/>
          <p:nvPr/>
        </p:nvSpPr>
        <p:spPr>
          <a:xfrm>
            <a:off x="4846320" y="169164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74920" y="1691640"/>
            <a:ext cx="3566160" cy="201168"/>
          </a:xfrm>
          <a:prstGeom prst="rect">
            <a:avLst/>
          </a:prstGeom>
          <a:noFill/>
        </p:spPr>
        <p:txBody>
          <a:bodyPr wrap="square" anchor="t"/>
          <a:lstStyle/>
          <a:p>
            <a:pPr algn="l">
              <a:defRPr sz="1100" b="0">
                <a:solidFill>
                  <a:srgbClr val="333333"/>
                </a:solidFill>
                <a:latin typeface="Consolas"/>
              </a:defRPr>
            </a:pPr>
            <a:r>
              <a:t>title_candidates</a:t>
            </a:r>
          </a:p>
        </p:txBody>
      </p:sp>
      <p:sp>
        <p:nvSpPr>
          <p:cNvPr id="18" name="Rectangle 17"/>
          <p:cNvSpPr/>
          <p:nvPr/>
        </p:nvSpPr>
        <p:spPr>
          <a:xfrm>
            <a:off x="4846320" y="194767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74920" y="1947672"/>
            <a:ext cx="3566160" cy="201168"/>
          </a:xfrm>
          <a:prstGeom prst="rect">
            <a:avLst/>
          </a:prstGeom>
          <a:noFill/>
        </p:spPr>
        <p:txBody>
          <a:bodyPr wrap="square" anchor="t"/>
          <a:lstStyle/>
          <a:p>
            <a:pPr algn="l">
              <a:defRPr sz="1100" b="0">
                <a:solidFill>
                  <a:srgbClr val="333333"/>
                </a:solidFill>
                <a:latin typeface="Consolas"/>
              </a:defRPr>
            </a:pPr>
            <a:r>
              <a:t>doc_focus</a:t>
            </a:r>
          </a:p>
        </p:txBody>
      </p:sp>
      <p:sp>
        <p:nvSpPr>
          <p:cNvPr id="20" name="Rectangle 19"/>
          <p:cNvSpPr/>
          <p:nvPr/>
        </p:nvSpPr>
        <p:spPr>
          <a:xfrm>
            <a:off x="4846320" y="220370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2203704"/>
            <a:ext cx="3566160" cy="201168"/>
          </a:xfrm>
          <a:prstGeom prst="rect">
            <a:avLst/>
          </a:prstGeom>
          <a:noFill/>
        </p:spPr>
        <p:txBody>
          <a:bodyPr wrap="square" anchor="t"/>
          <a:lstStyle/>
          <a:p>
            <a:pPr algn="l">
              <a:defRPr sz="1100" b="0">
                <a:solidFill>
                  <a:srgbClr val="333333"/>
                </a:solidFill>
                <a:latin typeface="Consolas"/>
              </a:defRPr>
            </a:pPr>
            <a:r>
              <a:t>research_facets</a:t>
            </a:r>
          </a:p>
        </p:txBody>
      </p:sp>
      <p:sp>
        <p:nvSpPr>
          <p:cNvPr id="22" name="Rectangle 21"/>
          <p:cNvSpPr/>
          <p:nvPr/>
        </p:nvSpPr>
        <p:spPr>
          <a:xfrm>
            <a:off x="4846320" y="2459736"/>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74920" y="2459736"/>
            <a:ext cx="3566160" cy="201168"/>
          </a:xfrm>
          <a:prstGeom prst="rect">
            <a:avLst/>
          </a:prstGeom>
          <a:noFill/>
        </p:spPr>
        <p:txBody>
          <a:bodyPr wrap="square" anchor="t"/>
          <a:lstStyle/>
          <a:p>
            <a:pPr algn="l">
              <a:defRPr sz="1100" b="0">
                <a:solidFill>
                  <a:srgbClr val="333333"/>
                </a:solidFill>
                <a:latin typeface="Consolas"/>
              </a:defRPr>
            </a:pPr>
            <a:r>
              <a:t>facet_matches</a:t>
            </a:r>
          </a:p>
        </p:txBody>
      </p:sp>
      <p:sp>
        <p:nvSpPr>
          <p:cNvPr id="24" name="Rectangle 23"/>
          <p:cNvSpPr/>
          <p:nvPr/>
        </p:nvSpPr>
        <p:spPr>
          <a:xfrm>
            <a:off x="4846320" y="2715768"/>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74920" y="2715768"/>
            <a:ext cx="3566160" cy="201168"/>
          </a:xfrm>
          <a:prstGeom prst="rect">
            <a:avLst/>
          </a:prstGeom>
          <a:noFill/>
        </p:spPr>
        <p:txBody>
          <a:bodyPr wrap="square" anchor="t"/>
          <a:lstStyle/>
          <a:p>
            <a:pPr algn="l">
              <a:defRPr sz="1100" b="0">
                <a:solidFill>
                  <a:srgbClr val="333333"/>
                </a:solidFill>
                <a:latin typeface="Consolas"/>
              </a:defRPr>
            </a:pPr>
            <a:r>
              <a:t>doc_digest</a:t>
            </a:r>
          </a:p>
        </p:txBody>
      </p:sp>
      <p:sp>
        <p:nvSpPr>
          <p:cNvPr id="26" name="Rectangle 25"/>
          <p:cNvSpPr/>
          <p:nvPr/>
        </p:nvSpPr>
        <p:spPr>
          <a:xfrm>
            <a:off x="4846320" y="297180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74920" y="2971800"/>
            <a:ext cx="3566160" cy="201168"/>
          </a:xfrm>
          <a:prstGeom prst="rect">
            <a:avLst/>
          </a:prstGeom>
          <a:noFill/>
        </p:spPr>
        <p:txBody>
          <a:bodyPr wrap="square" anchor="t"/>
          <a:lstStyle/>
          <a:p>
            <a:pPr algn="l">
              <a:defRPr sz="1100" b="0">
                <a:solidFill>
                  <a:srgbClr val="333333"/>
                </a:solidFill>
                <a:latin typeface="Consolas"/>
              </a:defRPr>
            </a:pPr>
            <a:r>
              <a:t>subsystem_inventory</a:t>
            </a:r>
          </a:p>
        </p:txBody>
      </p:sp>
      <p:sp>
        <p:nvSpPr>
          <p:cNvPr id="28" name="Rectangle 27"/>
          <p:cNvSpPr/>
          <p:nvPr/>
        </p:nvSpPr>
        <p:spPr>
          <a:xfrm>
            <a:off x="4846320" y="322783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74920" y="3227832"/>
            <a:ext cx="3566160" cy="201168"/>
          </a:xfrm>
          <a:prstGeom prst="rect">
            <a:avLst/>
          </a:prstGeom>
          <a:noFill/>
        </p:spPr>
        <p:txBody>
          <a:bodyPr wrap="square" anchor="t"/>
          <a:lstStyle/>
          <a:p>
            <a:pPr algn="l">
              <a:defRPr sz="1100" b="0">
                <a:solidFill>
                  <a:srgbClr val="333333"/>
                </a:solidFill>
                <a:latin typeface="Consolas"/>
              </a:defRPr>
            </a:pPr>
            <a:r>
              <a:t>policy_guidance_matches</a:t>
            </a:r>
          </a:p>
        </p:txBody>
      </p:sp>
      <p:sp>
        <p:nvSpPr>
          <p:cNvPr id="30" name="Rectangle 29"/>
          <p:cNvSpPr/>
          <p:nvPr/>
        </p:nvSpPr>
        <p:spPr>
          <a:xfrm>
            <a:off x="4846320" y="348386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74920" y="3483864"/>
            <a:ext cx="3566160" cy="201168"/>
          </a:xfrm>
          <a:prstGeom prst="rect">
            <a:avLst/>
          </a:prstGeom>
          <a:noFill/>
        </p:spPr>
        <p:txBody>
          <a:bodyPr wrap="square" anchor="t"/>
          <a:lstStyle/>
          <a:p>
            <a:pPr algn="l">
              <a:defRPr sz="1100" b="0">
                <a:solidFill>
                  <a:srgbClr val="333333"/>
                </a:solidFill>
                <a:latin typeface="Consolas"/>
              </a:defRPr>
            </a:pPr>
            <a:r>
              <a:t>buyer_recommendation_table</a:t>
            </a:r>
          </a:p>
        </p:txBody>
      </p:sp>
      <p:sp>
        <p:nvSpPr>
          <p:cNvPr id="32" name="Rectangle 31"/>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3931920"/>
            <a:ext cx="7680960" cy="320040"/>
          </a:xfrm>
          <a:prstGeom prst="rect">
            <a:avLst/>
          </a:prstGeom>
          <a:noFill/>
        </p:spPr>
        <p:txBody>
          <a:bodyPr wrap="square" anchor="t"/>
          <a:lstStyle/>
          <a:p>
            <a:pPr algn="l">
              <a:defRPr sz="1200" b="1">
                <a:solidFill>
                  <a:srgbClr val="0097A7"/>
                </a:solidFill>
                <a:latin typeface="Arial"/>
              </a:defRPr>
            </a:pPr>
            <a:r>
              <a:t>DOCUMENT RANKING KEYS</a:t>
            </a:r>
          </a:p>
        </p:txBody>
      </p:sp>
      <p:sp>
        <p:nvSpPr>
          <p:cNvPr id="34" name="TextBox 33"/>
          <p:cNvSpPr txBox="1"/>
          <p:nvPr/>
        </p:nvSpPr>
        <p:spPr>
          <a:xfrm>
            <a:off x="731520" y="4251960"/>
            <a:ext cx="7680960" cy="457200"/>
          </a:xfrm>
          <a:prstGeom prst="rect">
            <a:avLst/>
          </a:prstGeom>
          <a:noFill/>
        </p:spPr>
        <p:txBody>
          <a:bodyPr wrap="square" anchor="t"/>
          <a:lstStyle/>
          <a:p>
            <a:pPr algn="l">
              <a:defRPr sz="1100" b="0">
                <a:solidFill>
                  <a:srgbClr val="CCCCCC"/>
                </a:solidFill>
                <a:latin typeface="Consolas"/>
              </a:defRPr>
            </a:pPr>
            <a:r>
              <a:t>is_meta_document  |  reviewed_relevance  |  matched_facets  |  strong_evidence_count  |  title_path_score  |  seed_hits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Storage &amp; Blob Store (storage/)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Multi-backend blob storage abstraction for documents, artifacts, and signed downloads</a:t>
            </a:r>
          </a:p>
        </p:txBody>
      </p:sp>
      <p:sp>
        <p:nvSpPr>
          <p:cNvPr id="6" name="Rectangle 5"/>
          <p:cNvSpPr/>
          <p:nvPr/>
        </p:nvSpPr>
        <p:spPr>
          <a:xfrm>
            <a:off x="1371600" y="1371600"/>
            <a:ext cx="6400800" cy="18288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71600" y="1371600"/>
            <a:ext cx="54864" cy="1828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463040"/>
            <a:ext cx="5943600" cy="320040"/>
          </a:xfrm>
          <a:prstGeom prst="rect">
            <a:avLst/>
          </a:prstGeom>
          <a:noFill/>
        </p:spPr>
        <p:txBody>
          <a:bodyPr wrap="square" anchor="t"/>
          <a:lstStyle/>
          <a:p>
            <a:pPr algn="l">
              <a:defRPr sz="1600" b="1">
                <a:solidFill>
                  <a:srgbClr val="FFFFFF"/>
                </a:solidFill>
                <a:latin typeface="Arial"/>
              </a:defRPr>
            </a:pPr>
            <a:r>
              <a:t>BlobRef Dataclass</a:t>
            </a:r>
          </a:p>
        </p:txBody>
      </p:sp>
      <p:sp>
        <p:nvSpPr>
          <p:cNvPr id="9" name="TextBox 8"/>
          <p:cNvSpPr txBox="1"/>
          <p:nvPr/>
        </p:nvSpPr>
        <p:spPr>
          <a:xfrm>
            <a:off x="1737360" y="1874519"/>
            <a:ext cx="2011680" cy="228600"/>
          </a:xfrm>
          <a:prstGeom prst="rect">
            <a:avLst/>
          </a:prstGeom>
          <a:noFill/>
        </p:spPr>
        <p:txBody>
          <a:bodyPr wrap="square" anchor="t"/>
          <a:lstStyle/>
          <a:p>
            <a:pPr algn="l">
              <a:defRPr sz="1200" b="1">
                <a:solidFill>
                  <a:srgbClr val="0097A7"/>
                </a:solidFill>
                <a:latin typeface="Consolas"/>
              </a:defRPr>
            </a:pPr>
            <a:r>
              <a:t>backend</a:t>
            </a:r>
          </a:p>
        </p:txBody>
      </p:sp>
      <p:sp>
        <p:nvSpPr>
          <p:cNvPr id="10" name="TextBox 9"/>
          <p:cNvSpPr txBox="1"/>
          <p:nvPr/>
        </p:nvSpPr>
        <p:spPr>
          <a:xfrm>
            <a:off x="3840480" y="1874519"/>
            <a:ext cx="3657600" cy="228600"/>
          </a:xfrm>
          <a:prstGeom prst="rect">
            <a:avLst/>
          </a:prstGeom>
          <a:noFill/>
        </p:spPr>
        <p:txBody>
          <a:bodyPr wrap="square" anchor="t"/>
          <a:lstStyle/>
          <a:p>
            <a:pPr algn="l">
              <a:defRPr sz="1100" b="0">
                <a:solidFill>
                  <a:srgbClr val="CCCCCC"/>
                </a:solidFill>
                <a:latin typeface="Arial"/>
              </a:defRPr>
            </a:pPr>
            <a:r>
              <a:t>Storage provider (S3, Azure, local)</a:t>
            </a:r>
          </a:p>
        </p:txBody>
      </p:sp>
      <p:sp>
        <p:nvSpPr>
          <p:cNvPr id="11" name="TextBox 10"/>
          <p:cNvSpPr txBox="1"/>
          <p:nvPr/>
        </p:nvSpPr>
        <p:spPr>
          <a:xfrm>
            <a:off x="1737360" y="2148839"/>
            <a:ext cx="2011680" cy="228600"/>
          </a:xfrm>
          <a:prstGeom prst="rect">
            <a:avLst/>
          </a:prstGeom>
          <a:noFill/>
        </p:spPr>
        <p:txBody>
          <a:bodyPr wrap="square" anchor="t"/>
          <a:lstStyle/>
          <a:p>
            <a:pPr algn="l">
              <a:defRPr sz="1200" b="1">
                <a:solidFill>
                  <a:srgbClr val="0097A7"/>
                </a:solidFill>
                <a:latin typeface="Consolas"/>
              </a:defRPr>
            </a:pPr>
            <a:r>
              <a:t>uri</a:t>
            </a:r>
          </a:p>
        </p:txBody>
      </p:sp>
      <p:sp>
        <p:nvSpPr>
          <p:cNvPr id="12" name="TextBox 11"/>
          <p:cNvSpPr txBox="1"/>
          <p:nvPr/>
        </p:nvSpPr>
        <p:spPr>
          <a:xfrm>
            <a:off x="3840480" y="2148839"/>
            <a:ext cx="3657600" cy="228600"/>
          </a:xfrm>
          <a:prstGeom prst="rect">
            <a:avLst/>
          </a:prstGeom>
          <a:noFill/>
        </p:spPr>
        <p:txBody>
          <a:bodyPr wrap="square" anchor="t"/>
          <a:lstStyle/>
          <a:p>
            <a:pPr algn="l">
              <a:defRPr sz="1100" b="0">
                <a:solidFill>
                  <a:srgbClr val="CCCCCC"/>
                </a:solidFill>
                <a:latin typeface="Arial"/>
              </a:defRPr>
            </a:pPr>
            <a:r>
              <a:t>Full resource URI</a:t>
            </a:r>
          </a:p>
        </p:txBody>
      </p:sp>
      <p:sp>
        <p:nvSpPr>
          <p:cNvPr id="13" name="TextBox 12"/>
          <p:cNvSpPr txBox="1"/>
          <p:nvPr/>
        </p:nvSpPr>
        <p:spPr>
          <a:xfrm>
            <a:off x="1737360" y="2423159"/>
            <a:ext cx="2011680" cy="228600"/>
          </a:xfrm>
          <a:prstGeom prst="rect">
            <a:avLst/>
          </a:prstGeom>
          <a:noFill/>
        </p:spPr>
        <p:txBody>
          <a:bodyPr wrap="square" anchor="t"/>
          <a:lstStyle/>
          <a:p>
            <a:pPr algn="l">
              <a:defRPr sz="1200" b="1">
                <a:solidFill>
                  <a:srgbClr val="0097A7"/>
                </a:solidFill>
                <a:latin typeface="Consolas"/>
              </a:defRPr>
            </a:pPr>
            <a:r>
              <a:t>bucket / key</a:t>
            </a:r>
          </a:p>
        </p:txBody>
      </p:sp>
      <p:sp>
        <p:nvSpPr>
          <p:cNvPr id="14" name="TextBox 13"/>
          <p:cNvSpPr txBox="1"/>
          <p:nvPr/>
        </p:nvSpPr>
        <p:spPr>
          <a:xfrm>
            <a:off x="3840480" y="2423159"/>
            <a:ext cx="3657600" cy="228600"/>
          </a:xfrm>
          <a:prstGeom prst="rect">
            <a:avLst/>
          </a:prstGeom>
          <a:noFill/>
        </p:spPr>
        <p:txBody>
          <a:bodyPr wrap="square" anchor="t"/>
          <a:lstStyle/>
          <a:p>
            <a:pPr algn="l">
              <a:defRPr sz="1100" b="0">
                <a:solidFill>
                  <a:srgbClr val="CCCCCC"/>
                </a:solidFill>
                <a:latin typeface="Arial"/>
              </a:defRPr>
            </a:pPr>
            <a:r>
              <a:t>Bucket name + object key</a:t>
            </a:r>
          </a:p>
        </p:txBody>
      </p:sp>
      <p:sp>
        <p:nvSpPr>
          <p:cNvPr id="15" name="TextBox 14"/>
          <p:cNvSpPr txBox="1"/>
          <p:nvPr/>
        </p:nvSpPr>
        <p:spPr>
          <a:xfrm>
            <a:off x="1737360" y="2697479"/>
            <a:ext cx="2011680" cy="228600"/>
          </a:xfrm>
          <a:prstGeom prst="rect">
            <a:avLst/>
          </a:prstGeom>
          <a:noFill/>
        </p:spPr>
        <p:txBody>
          <a:bodyPr wrap="square" anchor="t"/>
          <a:lstStyle/>
          <a:p>
            <a:pPr algn="l">
              <a:defRPr sz="1200" b="1">
                <a:solidFill>
                  <a:srgbClr val="0097A7"/>
                </a:solidFill>
                <a:latin typeface="Consolas"/>
              </a:defRPr>
            </a:pPr>
            <a:r>
              <a:t>etag / sha1</a:t>
            </a:r>
          </a:p>
        </p:txBody>
      </p:sp>
      <p:sp>
        <p:nvSpPr>
          <p:cNvPr id="16" name="TextBox 15"/>
          <p:cNvSpPr txBox="1"/>
          <p:nvPr/>
        </p:nvSpPr>
        <p:spPr>
          <a:xfrm>
            <a:off x="3840480" y="2697479"/>
            <a:ext cx="3657600" cy="228600"/>
          </a:xfrm>
          <a:prstGeom prst="rect">
            <a:avLst/>
          </a:prstGeom>
          <a:noFill/>
        </p:spPr>
        <p:txBody>
          <a:bodyPr wrap="square" anchor="t"/>
          <a:lstStyle/>
          <a:p>
            <a:pPr algn="l">
              <a:defRPr sz="1100" b="0">
                <a:solidFill>
                  <a:srgbClr val="CCCCCC"/>
                </a:solidFill>
                <a:latin typeface="Arial"/>
              </a:defRPr>
            </a:pPr>
            <a:r>
              <a:t>Content integrity hashes</a:t>
            </a:r>
          </a:p>
        </p:txBody>
      </p:sp>
      <p:sp>
        <p:nvSpPr>
          <p:cNvPr id="17" name="TextBox 16"/>
          <p:cNvSpPr txBox="1"/>
          <p:nvPr/>
        </p:nvSpPr>
        <p:spPr>
          <a:xfrm>
            <a:off x="1737360" y="2971799"/>
            <a:ext cx="2011680" cy="228600"/>
          </a:xfrm>
          <a:prstGeom prst="rect">
            <a:avLst/>
          </a:prstGeom>
          <a:noFill/>
        </p:spPr>
        <p:txBody>
          <a:bodyPr wrap="square" anchor="t"/>
          <a:lstStyle/>
          <a:p>
            <a:pPr algn="l">
              <a:defRPr sz="1200" b="1">
                <a:solidFill>
                  <a:srgbClr val="0097A7"/>
                </a:solidFill>
                <a:latin typeface="Consolas"/>
              </a:defRPr>
            </a:pPr>
            <a:r>
              <a:t>size / content_type</a:t>
            </a:r>
          </a:p>
        </p:txBody>
      </p:sp>
      <p:sp>
        <p:nvSpPr>
          <p:cNvPr id="18" name="TextBox 17"/>
          <p:cNvSpPr txBox="1"/>
          <p:nvPr/>
        </p:nvSpPr>
        <p:spPr>
          <a:xfrm>
            <a:off x="3840480" y="2971799"/>
            <a:ext cx="3657600" cy="228600"/>
          </a:xfrm>
          <a:prstGeom prst="rect">
            <a:avLst/>
          </a:prstGeom>
          <a:noFill/>
        </p:spPr>
        <p:txBody>
          <a:bodyPr wrap="square" anchor="t"/>
          <a:lstStyle/>
          <a:p>
            <a:pPr algn="l">
              <a:defRPr sz="1100" b="0">
                <a:solidFill>
                  <a:srgbClr val="CCCCCC"/>
                </a:solidFill>
                <a:latin typeface="Arial"/>
              </a:defRPr>
            </a:pPr>
            <a:r>
              <a:t>Byte size + MIME type</a:t>
            </a:r>
          </a:p>
        </p:txBody>
      </p:sp>
      <p:sp>
        <p:nvSpPr>
          <p:cNvPr id="19" name="Rectangle 18"/>
          <p:cNvSpPr/>
          <p:nvPr/>
        </p:nvSpPr>
        <p:spPr>
          <a:xfrm>
            <a:off x="1371600" y="3520440"/>
            <a:ext cx="2011680" cy="6400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08760" y="3566160"/>
            <a:ext cx="1737360" cy="228600"/>
          </a:xfrm>
          <a:prstGeom prst="rect">
            <a:avLst/>
          </a:prstGeom>
          <a:noFill/>
        </p:spPr>
        <p:txBody>
          <a:bodyPr wrap="square" anchor="t"/>
          <a:lstStyle/>
          <a:p>
            <a:pPr algn="ctr">
              <a:defRPr sz="1300" b="1">
                <a:solidFill>
                  <a:srgbClr val="FFFFFF"/>
                </a:solidFill>
                <a:latin typeface="Arial"/>
              </a:defRPr>
            </a:pPr>
            <a:r>
              <a:t>S3</a:t>
            </a:r>
          </a:p>
        </p:txBody>
      </p:sp>
      <p:sp>
        <p:nvSpPr>
          <p:cNvPr id="21" name="TextBox 20"/>
          <p:cNvSpPr txBox="1"/>
          <p:nvPr/>
        </p:nvSpPr>
        <p:spPr>
          <a:xfrm>
            <a:off x="1508760" y="3822191"/>
            <a:ext cx="1737360" cy="228600"/>
          </a:xfrm>
          <a:prstGeom prst="rect">
            <a:avLst/>
          </a:prstGeom>
          <a:noFill/>
        </p:spPr>
        <p:txBody>
          <a:bodyPr wrap="square" anchor="t"/>
          <a:lstStyle/>
          <a:p>
            <a:pPr algn="ctr">
              <a:defRPr sz="1000" b="0">
                <a:solidFill>
                  <a:srgbClr val="EEEEEE"/>
                </a:solidFill>
                <a:latin typeface="Arial"/>
              </a:defRPr>
            </a:pPr>
            <a:r>
              <a:t>Amazon S3 compatible</a:t>
            </a:r>
          </a:p>
        </p:txBody>
      </p:sp>
      <p:sp>
        <p:nvSpPr>
          <p:cNvPr id="22" name="Rectangle 21"/>
          <p:cNvSpPr/>
          <p:nvPr/>
        </p:nvSpPr>
        <p:spPr>
          <a:xfrm>
            <a:off x="3566160" y="3520440"/>
            <a:ext cx="2011680" cy="640080"/>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03320" y="3566160"/>
            <a:ext cx="1737360" cy="228600"/>
          </a:xfrm>
          <a:prstGeom prst="rect">
            <a:avLst/>
          </a:prstGeom>
          <a:noFill/>
        </p:spPr>
        <p:txBody>
          <a:bodyPr wrap="square" anchor="t"/>
          <a:lstStyle/>
          <a:p>
            <a:pPr algn="ctr">
              <a:defRPr sz="1300" b="1">
                <a:solidFill>
                  <a:srgbClr val="FFFFFF"/>
                </a:solidFill>
                <a:latin typeface="Arial"/>
              </a:defRPr>
            </a:pPr>
            <a:r>
              <a:t>Azure Blob</a:t>
            </a:r>
          </a:p>
        </p:txBody>
      </p:sp>
      <p:sp>
        <p:nvSpPr>
          <p:cNvPr id="24" name="TextBox 23"/>
          <p:cNvSpPr txBox="1"/>
          <p:nvPr/>
        </p:nvSpPr>
        <p:spPr>
          <a:xfrm>
            <a:off x="3703320" y="3822191"/>
            <a:ext cx="1737360" cy="228600"/>
          </a:xfrm>
          <a:prstGeom prst="rect">
            <a:avLst/>
          </a:prstGeom>
          <a:noFill/>
        </p:spPr>
        <p:txBody>
          <a:bodyPr wrap="square" anchor="t"/>
          <a:lstStyle/>
          <a:p>
            <a:pPr algn="ctr">
              <a:defRPr sz="1000" b="0">
                <a:solidFill>
                  <a:srgbClr val="EEEEEE"/>
                </a:solidFill>
                <a:latin typeface="Arial"/>
              </a:defRPr>
            </a:pPr>
            <a:r>
              <a:t>Azure storage accounts</a:t>
            </a:r>
          </a:p>
        </p:txBody>
      </p:sp>
      <p:sp>
        <p:nvSpPr>
          <p:cNvPr id="25" name="Rectangle 24"/>
          <p:cNvSpPr/>
          <p:nvPr/>
        </p:nvSpPr>
        <p:spPr>
          <a:xfrm>
            <a:off x="5760720" y="3520440"/>
            <a:ext cx="2011680" cy="6400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897880" y="3566160"/>
            <a:ext cx="1737360" cy="228600"/>
          </a:xfrm>
          <a:prstGeom prst="rect">
            <a:avLst/>
          </a:prstGeom>
          <a:noFill/>
        </p:spPr>
        <p:txBody>
          <a:bodyPr wrap="square" anchor="t"/>
          <a:lstStyle/>
          <a:p>
            <a:pPr algn="ctr">
              <a:defRPr sz="1300" b="1">
                <a:solidFill>
                  <a:srgbClr val="FFFFFF"/>
                </a:solidFill>
                <a:latin typeface="Arial"/>
              </a:defRPr>
            </a:pPr>
            <a:r>
              <a:t>Local FS</a:t>
            </a:r>
          </a:p>
        </p:txBody>
      </p:sp>
      <p:sp>
        <p:nvSpPr>
          <p:cNvPr id="27" name="TextBox 26"/>
          <p:cNvSpPr txBox="1"/>
          <p:nvPr/>
        </p:nvSpPr>
        <p:spPr>
          <a:xfrm>
            <a:off x="5897880" y="3822191"/>
            <a:ext cx="1737360" cy="228600"/>
          </a:xfrm>
          <a:prstGeom prst="rect">
            <a:avLst/>
          </a:prstGeom>
          <a:noFill/>
        </p:spPr>
        <p:txBody>
          <a:bodyPr wrap="square" anchor="t"/>
          <a:lstStyle/>
          <a:p>
            <a:pPr algn="ctr">
              <a:defRPr sz="1000" b="0">
                <a:solidFill>
                  <a:srgbClr val="EEEEEE"/>
                </a:solidFill>
                <a:latin typeface="Arial"/>
              </a:defRPr>
            </a:pPr>
            <a:r>
              <a:t>File-based development</a:t>
            </a:r>
          </a:p>
        </p:txBody>
      </p:sp>
      <p:sp>
        <p:nvSpPr>
          <p:cNvPr id="28" name="TextBox 27"/>
          <p:cNvSpPr txBox="1"/>
          <p:nvPr/>
        </p:nvSpPr>
        <p:spPr>
          <a:xfrm>
            <a:off x="502920" y="4389120"/>
            <a:ext cx="8138160" cy="457200"/>
          </a:xfrm>
          <a:prstGeom prst="rect">
            <a:avLst/>
          </a:prstGeom>
          <a:noFill/>
        </p:spPr>
        <p:txBody>
          <a:bodyPr wrap="square" anchor="t"/>
          <a:lstStyle/>
          <a:p>
            <a:pPr algn="l">
              <a:defRPr sz="1000" b="0">
                <a:solidFill>
                  <a:srgbClr val="888888"/>
                </a:solidFill>
                <a:latin typeface="Arial"/>
              </a:defRPr>
            </a:pPr>
            <a:r>
              <a:t>Used across API for uploaded documents, agent artifacts, and signed downloads (/v1/files/{download_id}). Key sanitization + SHA1 hashing ensure safe, deduplicated storage.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Graph Query Methods &amp; Build Pipeline (graph/)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4 query methods, phased build pipeline, and 2 backend options</a:t>
            </a:r>
          </a:p>
        </p:txBody>
      </p:sp>
      <p:sp>
        <p:nvSpPr>
          <p:cNvPr id="6" name="Rectangle 5"/>
          <p:cNvSpPr/>
          <p:nvPr/>
        </p:nvSpPr>
        <p:spPr>
          <a:xfrm>
            <a:off x="50292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71600"/>
            <a:ext cx="54864" cy="10515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LOCAL</a:t>
            </a:r>
          </a:p>
        </p:txBody>
      </p:sp>
      <p:sp>
        <p:nvSpPr>
          <p:cNvPr id="9" name="TextBox 8"/>
          <p:cNvSpPr txBox="1"/>
          <p:nvPr/>
        </p:nvSpPr>
        <p:spPr>
          <a:xfrm>
            <a:off x="685800" y="1828800"/>
            <a:ext cx="3703319" cy="502920"/>
          </a:xfrm>
          <a:prstGeom prst="rect">
            <a:avLst/>
          </a:prstGeom>
          <a:noFill/>
        </p:spPr>
        <p:txBody>
          <a:bodyPr wrap="square" anchor="t"/>
          <a:lstStyle/>
          <a:p>
            <a:pPr algn="l">
              <a:defRPr sz="1000" b="0">
                <a:solidFill>
                  <a:srgbClr val="CCCCCC"/>
                </a:solidFill>
                <a:latin typeface="Arial"/>
              </a:defRPr>
            </a:pPr>
            <a:r>
              <a:t>Entity &amp; relationship queries. Multihop within document clusters. Requires 5 artifacts.</a:t>
            </a:r>
          </a:p>
        </p:txBody>
      </p:sp>
      <p:sp>
        <p:nvSpPr>
          <p:cNvPr id="10" name="Rectangle 9"/>
          <p:cNvSpPr/>
          <p:nvPr/>
        </p:nvSpPr>
        <p:spPr>
          <a:xfrm>
            <a:off x="470916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09160" y="1371600"/>
            <a:ext cx="54864" cy="10515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GLOBAL</a:t>
            </a:r>
          </a:p>
        </p:txBody>
      </p:sp>
      <p:sp>
        <p:nvSpPr>
          <p:cNvPr id="13" name="TextBox 12"/>
          <p:cNvSpPr txBox="1"/>
          <p:nvPr/>
        </p:nvSpPr>
        <p:spPr>
          <a:xfrm>
            <a:off x="4892040" y="1828800"/>
            <a:ext cx="3703319" cy="502920"/>
          </a:xfrm>
          <a:prstGeom prst="rect">
            <a:avLst/>
          </a:prstGeom>
          <a:noFill/>
        </p:spPr>
        <p:txBody>
          <a:bodyPr wrap="square" anchor="t"/>
          <a:lstStyle/>
          <a:p>
            <a:pPr algn="l">
              <a:defRPr sz="1000" b="0">
                <a:solidFill>
                  <a:srgbClr val="CCCCCC"/>
                </a:solidFill>
                <a:latin typeface="Arial"/>
              </a:defRPr>
            </a:pPr>
            <a:r>
              <a:t>Corpus-wide summaries and cross-document themes. Requires 3 artifacts.</a:t>
            </a:r>
          </a:p>
        </p:txBody>
      </p:sp>
      <p:sp>
        <p:nvSpPr>
          <p:cNvPr id="14" name="Rectangle 13"/>
          <p:cNvSpPr/>
          <p:nvPr/>
        </p:nvSpPr>
        <p:spPr>
          <a:xfrm>
            <a:off x="50292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606040"/>
            <a:ext cx="54864" cy="105156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2697480"/>
            <a:ext cx="3703319" cy="365760"/>
          </a:xfrm>
          <a:prstGeom prst="rect">
            <a:avLst/>
          </a:prstGeom>
          <a:noFill/>
        </p:spPr>
        <p:txBody>
          <a:bodyPr wrap="square" anchor="t"/>
          <a:lstStyle/>
          <a:p>
            <a:pPr algn="l">
              <a:defRPr sz="1300" b="1">
                <a:solidFill>
                  <a:srgbClr val="FFFFFF"/>
                </a:solidFill>
                <a:latin typeface="Arial"/>
              </a:defRPr>
            </a:pPr>
            <a:r>
              <a:t>DRIFT</a:t>
            </a:r>
          </a:p>
        </p:txBody>
      </p:sp>
      <p:sp>
        <p:nvSpPr>
          <p:cNvPr id="17" name="TextBox 16"/>
          <p:cNvSpPr txBox="1"/>
          <p:nvPr/>
        </p:nvSpPr>
        <p:spPr>
          <a:xfrm>
            <a:off x="685800" y="3063240"/>
            <a:ext cx="3703319" cy="502920"/>
          </a:xfrm>
          <a:prstGeom prst="rect">
            <a:avLst/>
          </a:prstGeom>
          <a:noFill/>
        </p:spPr>
        <p:txBody>
          <a:bodyPr wrap="square" anchor="t"/>
          <a:lstStyle/>
          <a:p>
            <a:pPr algn="l">
              <a:defRPr sz="1000" b="0">
                <a:solidFill>
                  <a:srgbClr val="CCCCCC"/>
                </a:solidFill>
                <a:latin typeface="Arial"/>
              </a:defRPr>
            </a:pPr>
            <a:r>
              <a:t>Temporal change detection and evolution tracking across rebuilds. 5 artifacts.</a:t>
            </a:r>
          </a:p>
        </p:txBody>
      </p:sp>
      <p:sp>
        <p:nvSpPr>
          <p:cNvPr id="18" name="Rectangle 17"/>
          <p:cNvSpPr/>
          <p:nvPr/>
        </p:nvSpPr>
        <p:spPr>
          <a:xfrm>
            <a:off x="470916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09160" y="2606040"/>
            <a:ext cx="54864" cy="105156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2040" y="2697480"/>
            <a:ext cx="3703319" cy="365760"/>
          </a:xfrm>
          <a:prstGeom prst="rect">
            <a:avLst/>
          </a:prstGeom>
          <a:noFill/>
        </p:spPr>
        <p:txBody>
          <a:bodyPr wrap="square" anchor="t"/>
          <a:lstStyle/>
          <a:p>
            <a:pPr algn="l">
              <a:defRPr sz="1300" b="1">
                <a:solidFill>
                  <a:srgbClr val="FFFFFF"/>
                </a:solidFill>
                <a:latin typeface="Arial"/>
              </a:defRPr>
            </a:pPr>
            <a:r>
              <a:t>SQL</a:t>
            </a:r>
          </a:p>
        </p:txBody>
      </p:sp>
      <p:sp>
        <p:nvSpPr>
          <p:cNvPr id="21" name="TextBox 20"/>
          <p:cNvSpPr txBox="1"/>
          <p:nvPr/>
        </p:nvSpPr>
        <p:spPr>
          <a:xfrm>
            <a:off x="4892040" y="3063240"/>
            <a:ext cx="3703319" cy="502920"/>
          </a:xfrm>
          <a:prstGeom prst="rect">
            <a:avLst/>
          </a:prstGeom>
          <a:noFill/>
        </p:spPr>
        <p:txBody>
          <a:bodyPr wrap="square" anchor="t"/>
          <a:lstStyle/>
          <a:p>
            <a:pPr algn="l">
              <a:defRPr sz="1000" b="0">
                <a:solidFill>
                  <a:srgbClr val="CCCCCC"/>
                </a:solidFill>
                <a:latin typeface="Arial"/>
              </a:defRPr>
            </a:pPr>
            <a:r>
              <a:t>Structured queries, exact matches, metadata filtering via StructuredSearchAdapter.</a:t>
            </a:r>
          </a:p>
        </p:txBody>
      </p:sp>
      <p:sp>
        <p:nvSpPr>
          <p:cNvPr id="22" name="TextBox 21"/>
          <p:cNvSpPr txBox="1"/>
          <p:nvPr/>
        </p:nvSpPr>
        <p:spPr>
          <a:xfrm>
            <a:off x="502920" y="3931920"/>
            <a:ext cx="8229600" cy="320040"/>
          </a:xfrm>
          <a:prstGeom prst="rect">
            <a:avLst/>
          </a:prstGeom>
          <a:noFill/>
        </p:spPr>
        <p:txBody>
          <a:bodyPr wrap="square" anchor="t"/>
          <a:lstStyle/>
          <a:p>
            <a:pPr algn="l">
              <a:defRPr sz="1200" b="1">
                <a:solidFill>
                  <a:srgbClr val="1B2A4A"/>
                </a:solidFill>
                <a:latin typeface="Arial"/>
              </a:defRPr>
            </a:pPr>
            <a:r>
              <a:t>PHASED BUILD PIPELINE</a:t>
            </a:r>
          </a:p>
        </p:txBody>
      </p:sp>
      <p:sp>
        <p:nvSpPr>
          <p:cNvPr id="23" name="Rectangle 22"/>
          <p:cNvSpPr/>
          <p:nvPr/>
        </p:nvSpPr>
        <p:spPr>
          <a:xfrm>
            <a:off x="50292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343400"/>
            <a:ext cx="2286000" cy="201168"/>
          </a:xfrm>
          <a:prstGeom prst="rect">
            <a:avLst/>
          </a:prstGeom>
          <a:noFill/>
        </p:spPr>
        <p:txBody>
          <a:bodyPr wrap="square" anchor="t"/>
          <a:lstStyle/>
          <a:p>
            <a:pPr algn="l">
              <a:defRPr sz="1100" b="1">
                <a:solidFill>
                  <a:srgbClr val="0097A7"/>
                </a:solidFill>
                <a:latin typeface="Arial"/>
              </a:defRPr>
            </a:pPr>
            <a:r>
              <a:t>Phase 1</a:t>
            </a:r>
          </a:p>
        </p:txBody>
      </p:sp>
      <p:sp>
        <p:nvSpPr>
          <p:cNvPr id="25" name="TextBox 24"/>
          <p:cNvSpPr txBox="1"/>
          <p:nvPr/>
        </p:nvSpPr>
        <p:spPr>
          <a:xfrm>
            <a:off x="640080" y="4572000"/>
            <a:ext cx="2286000" cy="274320"/>
          </a:xfrm>
          <a:prstGeom prst="rect">
            <a:avLst/>
          </a:prstGeom>
          <a:noFill/>
        </p:spPr>
        <p:txBody>
          <a:bodyPr wrap="square" anchor="t"/>
          <a:lstStyle/>
          <a:p>
            <a:pPr algn="l">
              <a:defRPr sz="1000" b="0">
                <a:solidFill>
                  <a:srgbClr val="CCCCCC"/>
                </a:solidFill>
                <a:latin typeface="Arial"/>
              </a:defRPr>
            </a:pPr>
            <a:r>
              <a:t>Entity/Relationship Extraction via LLM</a:t>
            </a:r>
          </a:p>
        </p:txBody>
      </p:sp>
      <p:sp>
        <p:nvSpPr>
          <p:cNvPr id="26" name="Rectangle 25"/>
          <p:cNvSpPr/>
          <p:nvPr/>
        </p:nvSpPr>
        <p:spPr>
          <a:xfrm>
            <a:off x="329184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29000" y="4343400"/>
            <a:ext cx="2286000" cy="201168"/>
          </a:xfrm>
          <a:prstGeom prst="rect">
            <a:avLst/>
          </a:prstGeom>
          <a:noFill/>
        </p:spPr>
        <p:txBody>
          <a:bodyPr wrap="square" anchor="t"/>
          <a:lstStyle/>
          <a:p>
            <a:pPr algn="l">
              <a:defRPr sz="1100" b="1">
                <a:solidFill>
                  <a:srgbClr val="0097A7"/>
                </a:solidFill>
                <a:latin typeface="Arial"/>
              </a:defRPr>
            </a:pPr>
            <a:r>
              <a:t>Phase 2</a:t>
            </a:r>
          </a:p>
        </p:txBody>
      </p:sp>
      <p:sp>
        <p:nvSpPr>
          <p:cNvPr id="28" name="TextBox 27"/>
          <p:cNvSpPr txBox="1"/>
          <p:nvPr/>
        </p:nvSpPr>
        <p:spPr>
          <a:xfrm>
            <a:off x="3429000" y="4572000"/>
            <a:ext cx="2286000" cy="274320"/>
          </a:xfrm>
          <a:prstGeom prst="rect">
            <a:avLst/>
          </a:prstGeom>
          <a:noFill/>
        </p:spPr>
        <p:txBody>
          <a:bodyPr wrap="square" anchor="t"/>
          <a:lstStyle/>
          <a:p>
            <a:pPr algn="l">
              <a:defRPr sz="1000" b="0">
                <a:solidFill>
                  <a:srgbClr val="CCCCCC"/>
                </a:solidFill>
                <a:latin typeface="Arial"/>
              </a:defRPr>
            </a:pPr>
            <a:r>
              <a:t>Community Detection (native or text-based fallback)</a:t>
            </a:r>
          </a:p>
        </p:txBody>
      </p:sp>
      <p:sp>
        <p:nvSpPr>
          <p:cNvPr id="29" name="Rectangle 28"/>
          <p:cNvSpPr/>
          <p:nvPr/>
        </p:nvSpPr>
        <p:spPr>
          <a:xfrm>
            <a:off x="608076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17920" y="4343400"/>
            <a:ext cx="2286000" cy="201168"/>
          </a:xfrm>
          <a:prstGeom prst="rect">
            <a:avLst/>
          </a:prstGeom>
          <a:noFill/>
        </p:spPr>
        <p:txBody>
          <a:bodyPr wrap="square" anchor="t"/>
          <a:lstStyle/>
          <a:p>
            <a:pPr algn="l">
              <a:defRPr sz="1100" b="1">
                <a:solidFill>
                  <a:srgbClr val="0097A7"/>
                </a:solidFill>
                <a:latin typeface="Arial"/>
              </a:defRPr>
            </a:pPr>
            <a:r>
              <a:t>Phase 3</a:t>
            </a:r>
          </a:p>
        </p:txBody>
      </p:sp>
      <p:sp>
        <p:nvSpPr>
          <p:cNvPr id="31" name="TextBox 30"/>
          <p:cNvSpPr txBox="1"/>
          <p:nvPr/>
        </p:nvSpPr>
        <p:spPr>
          <a:xfrm>
            <a:off x="6217920" y="4572000"/>
            <a:ext cx="2286000" cy="274320"/>
          </a:xfrm>
          <a:prstGeom prst="rect">
            <a:avLst/>
          </a:prstGeom>
          <a:noFill/>
        </p:spPr>
        <p:txBody>
          <a:bodyPr wrap="square" anchor="t"/>
          <a:lstStyle/>
          <a:p>
            <a:pPr algn="l">
              <a:defRPr sz="1000" b="0">
                <a:solidFill>
                  <a:srgbClr val="CCCCCC"/>
                </a:solidFill>
                <a:latin typeface="Arial"/>
              </a:defRPr>
            </a:pPr>
            <a:r>
              <a:t>Embedding &amp; Indexing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Configuration &amp; Tuning Defaults (config.py)</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300+ configuration variables in config.py with fine-grained subsystem tuning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CONTEXT BUDGET</a:t>
            </a:r>
          </a:p>
        </p:txBody>
      </p:sp>
      <p:sp>
        <p:nvSpPr>
          <p:cNvPr id="7" name="TextBox 6"/>
          <p:cNvSpPr txBox="1"/>
          <p:nvPr/>
        </p:nvSpPr>
        <p:spPr>
          <a:xfrm>
            <a:off x="502920" y="1691640"/>
            <a:ext cx="2377440" cy="201168"/>
          </a:xfrm>
          <a:prstGeom prst="rect">
            <a:avLst/>
          </a:prstGeom>
          <a:noFill/>
        </p:spPr>
        <p:txBody>
          <a:bodyPr wrap="square" anchor="t"/>
          <a:lstStyle/>
          <a:p>
            <a:pPr algn="l">
              <a:defRPr sz="1000" b="0">
                <a:solidFill>
                  <a:srgbClr val="444444"/>
                </a:solidFill>
                <a:latin typeface="Consolas"/>
              </a:defRPr>
            </a:pPr>
            <a:r>
              <a:t>context_window_tokens</a:t>
            </a:r>
          </a:p>
        </p:txBody>
      </p:sp>
      <p:sp>
        <p:nvSpPr>
          <p:cNvPr id="8" name="TextBox 7"/>
          <p:cNvSpPr txBox="1"/>
          <p:nvPr/>
        </p:nvSpPr>
        <p:spPr>
          <a:xfrm>
            <a:off x="2926080" y="1691640"/>
            <a:ext cx="1188720" cy="201168"/>
          </a:xfrm>
          <a:prstGeom prst="rect">
            <a:avLst/>
          </a:prstGeom>
          <a:noFill/>
        </p:spPr>
        <p:txBody>
          <a:bodyPr wrap="square" anchor="t"/>
          <a:lstStyle/>
          <a:p>
            <a:pPr algn="l">
              <a:defRPr sz="1000" b="1">
                <a:solidFill>
                  <a:srgbClr val="0097A7"/>
                </a:solidFill>
                <a:latin typeface="Consolas"/>
              </a:defRPr>
            </a:pPr>
            <a:r>
              <a:t>32,768</a:t>
            </a:r>
          </a:p>
        </p:txBody>
      </p:sp>
      <p:sp>
        <p:nvSpPr>
          <p:cNvPr id="9" name="TextBox 8"/>
          <p:cNvSpPr txBox="1"/>
          <p:nvPr/>
        </p:nvSpPr>
        <p:spPr>
          <a:xfrm>
            <a:off x="502920" y="1947672"/>
            <a:ext cx="2377440" cy="201168"/>
          </a:xfrm>
          <a:prstGeom prst="rect">
            <a:avLst/>
          </a:prstGeom>
          <a:noFill/>
        </p:spPr>
        <p:txBody>
          <a:bodyPr wrap="square" anchor="t"/>
          <a:lstStyle/>
          <a:p>
            <a:pPr algn="l">
              <a:defRPr sz="1000" b="0">
                <a:solidFill>
                  <a:srgbClr val="444444"/>
                </a:solidFill>
                <a:latin typeface="Consolas"/>
              </a:defRPr>
            </a:pPr>
            <a:r>
              <a:t>context_target_ratio</a:t>
            </a:r>
          </a:p>
        </p:txBody>
      </p:sp>
      <p:sp>
        <p:nvSpPr>
          <p:cNvPr id="10" name="TextBox 9"/>
          <p:cNvSpPr txBox="1"/>
          <p:nvPr/>
        </p:nvSpPr>
        <p:spPr>
          <a:xfrm>
            <a:off x="2926080" y="1947672"/>
            <a:ext cx="1188720" cy="201168"/>
          </a:xfrm>
          <a:prstGeom prst="rect">
            <a:avLst/>
          </a:prstGeom>
          <a:noFill/>
        </p:spPr>
        <p:txBody>
          <a:bodyPr wrap="square" anchor="t"/>
          <a:lstStyle/>
          <a:p>
            <a:pPr algn="l">
              <a:defRPr sz="1000" b="1">
                <a:solidFill>
                  <a:srgbClr val="0097A7"/>
                </a:solidFill>
                <a:latin typeface="Consolas"/>
              </a:defRPr>
            </a:pPr>
            <a:r>
              <a:t>0.72</a:t>
            </a:r>
          </a:p>
        </p:txBody>
      </p:sp>
      <p:sp>
        <p:nvSpPr>
          <p:cNvPr id="11" name="TextBox 10"/>
          <p:cNvSpPr txBox="1"/>
          <p:nvPr/>
        </p:nvSpPr>
        <p:spPr>
          <a:xfrm>
            <a:off x="502920" y="2203704"/>
            <a:ext cx="2377440" cy="201168"/>
          </a:xfrm>
          <a:prstGeom prst="rect">
            <a:avLst/>
          </a:prstGeom>
          <a:noFill/>
        </p:spPr>
        <p:txBody>
          <a:bodyPr wrap="square" anchor="t"/>
          <a:lstStyle/>
          <a:p>
            <a:pPr algn="l">
              <a:defRPr sz="1000" b="0">
                <a:solidFill>
                  <a:srgbClr val="444444"/>
                </a:solidFill>
                <a:latin typeface="Consolas"/>
              </a:defRPr>
            </a:pPr>
            <a:r>
              <a:t>autocompact_threshold</a:t>
            </a:r>
          </a:p>
        </p:txBody>
      </p:sp>
      <p:sp>
        <p:nvSpPr>
          <p:cNvPr id="12" name="TextBox 11"/>
          <p:cNvSpPr txBox="1"/>
          <p:nvPr/>
        </p:nvSpPr>
        <p:spPr>
          <a:xfrm>
            <a:off x="2926080" y="2203704"/>
            <a:ext cx="1188720" cy="201168"/>
          </a:xfrm>
          <a:prstGeom prst="rect">
            <a:avLst/>
          </a:prstGeom>
          <a:noFill/>
        </p:spPr>
        <p:txBody>
          <a:bodyPr wrap="square" anchor="t"/>
          <a:lstStyle/>
          <a:p>
            <a:pPr algn="l">
              <a:defRPr sz="1000" b="1">
                <a:solidFill>
                  <a:srgbClr val="0097A7"/>
                </a:solidFill>
                <a:latin typeface="Consolas"/>
              </a:defRPr>
            </a:pPr>
            <a:r>
              <a:t>0.85</a:t>
            </a:r>
          </a:p>
        </p:txBody>
      </p:sp>
      <p:sp>
        <p:nvSpPr>
          <p:cNvPr id="13" name="TextBox 12"/>
          <p:cNvSpPr txBox="1"/>
          <p:nvPr/>
        </p:nvSpPr>
        <p:spPr>
          <a:xfrm>
            <a:off x="502920" y="2459736"/>
            <a:ext cx="2377440" cy="201168"/>
          </a:xfrm>
          <a:prstGeom prst="rect">
            <a:avLst/>
          </a:prstGeom>
          <a:noFill/>
        </p:spPr>
        <p:txBody>
          <a:bodyPr wrap="square" anchor="t"/>
          <a:lstStyle/>
          <a:p>
            <a:pPr algn="l">
              <a:defRPr sz="1000" b="0">
                <a:solidFill>
                  <a:srgbClr val="444444"/>
                </a:solidFill>
                <a:latin typeface="Consolas"/>
              </a:defRPr>
            </a:pPr>
            <a:r>
              <a:t>tool_result_max_tokens</a:t>
            </a:r>
          </a:p>
        </p:txBody>
      </p:sp>
      <p:sp>
        <p:nvSpPr>
          <p:cNvPr id="14" name="TextBox 13"/>
          <p:cNvSpPr txBox="1"/>
          <p:nvPr/>
        </p:nvSpPr>
        <p:spPr>
          <a:xfrm>
            <a:off x="2926080" y="2459736"/>
            <a:ext cx="1188720" cy="201168"/>
          </a:xfrm>
          <a:prstGeom prst="rect">
            <a:avLst/>
          </a:prstGeom>
          <a:noFill/>
        </p:spPr>
        <p:txBody>
          <a:bodyPr wrap="square" anchor="t"/>
          <a:lstStyle/>
          <a:p>
            <a:pPr algn="l">
              <a:defRPr sz="1000" b="1">
                <a:solidFill>
                  <a:srgbClr val="0097A7"/>
                </a:solidFill>
                <a:latin typeface="Consolas"/>
              </a:defRPr>
            </a:pPr>
            <a:r>
              <a:t>2,000</a:t>
            </a:r>
          </a:p>
        </p:txBody>
      </p:sp>
      <p:sp>
        <p:nvSpPr>
          <p:cNvPr id="15" name="TextBox 14"/>
          <p:cNvSpPr txBox="1"/>
          <p:nvPr/>
        </p:nvSpPr>
        <p:spPr>
          <a:xfrm>
            <a:off x="502920" y="2715768"/>
            <a:ext cx="2377440" cy="201168"/>
          </a:xfrm>
          <a:prstGeom prst="rect">
            <a:avLst/>
          </a:prstGeom>
          <a:noFill/>
        </p:spPr>
        <p:txBody>
          <a:bodyPr wrap="square" anchor="t"/>
          <a:lstStyle/>
          <a:p>
            <a:pPr algn="l">
              <a:defRPr sz="1000" b="0">
                <a:solidFill>
                  <a:srgbClr val="444444"/>
                </a:solidFill>
                <a:latin typeface="Consolas"/>
              </a:defRPr>
            </a:pPr>
            <a:r>
              <a:t>tool_results_total</a:t>
            </a:r>
          </a:p>
        </p:txBody>
      </p:sp>
      <p:sp>
        <p:nvSpPr>
          <p:cNvPr id="16" name="TextBox 15"/>
          <p:cNvSpPr txBox="1"/>
          <p:nvPr/>
        </p:nvSpPr>
        <p:spPr>
          <a:xfrm>
            <a:off x="2926080" y="2715768"/>
            <a:ext cx="1188720" cy="201168"/>
          </a:xfrm>
          <a:prstGeom prst="rect">
            <a:avLst/>
          </a:prstGeom>
          <a:noFill/>
        </p:spPr>
        <p:txBody>
          <a:bodyPr wrap="square" anchor="t"/>
          <a:lstStyle/>
          <a:p>
            <a:pPr algn="l">
              <a:defRPr sz="1000" b="1">
                <a:solidFill>
                  <a:srgbClr val="0097A7"/>
                </a:solidFill>
                <a:latin typeface="Consolas"/>
              </a:defRPr>
            </a:pPr>
            <a:r>
              <a:t>8,000</a:t>
            </a:r>
          </a:p>
        </p:txBody>
      </p:sp>
      <p:sp>
        <p:nvSpPr>
          <p:cNvPr id="17" name="TextBox 16"/>
          <p:cNvSpPr txBox="1"/>
          <p:nvPr/>
        </p:nvSpPr>
        <p:spPr>
          <a:xfrm>
            <a:off x="502920" y="2971800"/>
            <a:ext cx="2377440" cy="201168"/>
          </a:xfrm>
          <a:prstGeom prst="rect">
            <a:avLst/>
          </a:prstGeom>
          <a:noFill/>
        </p:spPr>
        <p:txBody>
          <a:bodyPr wrap="square" anchor="t"/>
          <a:lstStyle/>
          <a:p>
            <a:pPr algn="l">
              <a:defRPr sz="1000" b="0">
                <a:solidFill>
                  <a:srgbClr val="444444"/>
                </a:solidFill>
                <a:latin typeface="Consolas"/>
              </a:defRPr>
            </a:pPr>
            <a:r>
              <a:t>microcompact_target</a:t>
            </a:r>
          </a:p>
        </p:txBody>
      </p:sp>
      <p:sp>
        <p:nvSpPr>
          <p:cNvPr id="18" name="TextBox 17"/>
          <p:cNvSpPr txBox="1"/>
          <p:nvPr/>
        </p:nvSpPr>
        <p:spPr>
          <a:xfrm>
            <a:off x="2926080" y="2971800"/>
            <a:ext cx="1188720" cy="201168"/>
          </a:xfrm>
          <a:prstGeom prst="rect">
            <a:avLst/>
          </a:prstGeom>
          <a:noFill/>
        </p:spPr>
        <p:txBody>
          <a:bodyPr wrap="square" anchor="t"/>
          <a:lstStyle/>
          <a:p>
            <a:pPr algn="l">
              <a:defRPr sz="1000" b="1">
                <a:solidFill>
                  <a:srgbClr val="0097A7"/>
                </a:solidFill>
                <a:latin typeface="Consolas"/>
              </a:defRPr>
            </a:pPr>
            <a:r>
              <a:t>2,400</a:t>
            </a:r>
          </a:p>
        </p:txBody>
      </p:sp>
      <p:sp>
        <p:nvSpPr>
          <p:cNvPr id="19" name="TextBox 18"/>
          <p:cNvSpPr txBox="1"/>
          <p:nvPr/>
        </p:nvSpPr>
        <p:spPr>
          <a:xfrm>
            <a:off x="502920" y="3227832"/>
            <a:ext cx="2377440" cy="201168"/>
          </a:xfrm>
          <a:prstGeom prst="rect">
            <a:avLst/>
          </a:prstGeom>
          <a:noFill/>
        </p:spPr>
        <p:txBody>
          <a:bodyPr wrap="square" anchor="t"/>
          <a:lstStyle/>
          <a:p>
            <a:pPr algn="l">
              <a:defRPr sz="1000" b="0">
                <a:solidFill>
                  <a:srgbClr val="444444"/>
                </a:solidFill>
                <a:latin typeface="Consolas"/>
              </a:defRPr>
            </a:pPr>
            <a:r>
              <a:t>compact_recent_msgs</a:t>
            </a:r>
          </a:p>
        </p:txBody>
      </p:sp>
      <p:sp>
        <p:nvSpPr>
          <p:cNvPr id="20" name="TextBox 19"/>
          <p:cNvSpPr txBox="1"/>
          <p:nvPr/>
        </p:nvSpPr>
        <p:spPr>
          <a:xfrm>
            <a:off x="2926080" y="3227832"/>
            <a:ext cx="1188720" cy="201168"/>
          </a:xfrm>
          <a:prstGeom prst="rect">
            <a:avLst/>
          </a:prstGeom>
          <a:noFill/>
        </p:spPr>
        <p:txBody>
          <a:bodyPr wrap="square" anchor="t"/>
          <a:lstStyle/>
          <a:p>
            <a:pPr algn="l">
              <a:defRPr sz="1000" b="1">
                <a:solidFill>
                  <a:srgbClr val="0097A7"/>
                </a:solidFill>
                <a:latin typeface="Consolas"/>
              </a:defRPr>
            </a:pPr>
            <a:r>
              <a:t>12</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WORKER SCHEDULER</a:t>
            </a:r>
          </a:p>
        </p:txBody>
      </p:sp>
      <p:sp>
        <p:nvSpPr>
          <p:cNvPr id="22" name="TextBox 21"/>
          <p:cNvSpPr txBox="1"/>
          <p:nvPr/>
        </p:nvSpPr>
        <p:spPr>
          <a:xfrm>
            <a:off x="4846320" y="1691640"/>
            <a:ext cx="2377440" cy="201168"/>
          </a:xfrm>
          <a:prstGeom prst="rect">
            <a:avLst/>
          </a:prstGeom>
          <a:noFill/>
        </p:spPr>
        <p:txBody>
          <a:bodyPr wrap="square" anchor="t"/>
          <a:lstStyle/>
          <a:p>
            <a:pPr algn="l">
              <a:defRPr sz="1000" b="0">
                <a:solidFill>
                  <a:srgbClr val="444444"/>
                </a:solidFill>
                <a:latin typeface="Consolas"/>
              </a:defRPr>
            </a:pPr>
            <a:r>
              <a:t>max_concurrency</a:t>
            </a:r>
          </a:p>
        </p:txBody>
      </p:sp>
      <p:sp>
        <p:nvSpPr>
          <p:cNvPr id="23" name="TextBox 22"/>
          <p:cNvSpPr txBox="1"/>
          <p:nvPr/>
        </p:nvSpPr>
        <p:spPr>
          <a:xfrm>
            <a:off x="7315200" y="1691640"/>
            <a:ext cx="1188720" cy="201168"/>
          </a:xfrm>
          <a:prstGeom prst="rect">
            <a:avLst/>
          </a:prstGeom>
          <a:noFill/>
        </p:spPr>
        <p:txBody>
          <a:bodyPr wrap="square" anchor="t"/>
          <a:lstStyle/>
          <a:p>
            <a:pPr algn="l">
              <a:defRPr sz="1000" b="1">
                <a:solidFill>
                  <a:srgbClr val="FF9800"/>
                </a:solidFill>
                <a:latin typeface="Consolas"/>
              </a:defRPr>
            </a:pPr>
            <a:r>
              <a:t>6</a:t>
            </a:r>
          </a:p>
        </p:txBody>
      </p:sp>
      <p:sp>
        <p:nvSpPr>
          <p:cNvPr id="24" name="TextBox 23"/>
          <p:cNvSpPr txBox="1"/>
          <p:nvPr/>
        </p:nvSpPr>
        <p:spPr>
          <a:xfrm>
            <a:off x="4846320" y="1947672"/>
            <a:ext cx="2377440" cy="201168"/>
          </a:xfrm>
          <a:prstGeom prst="rect">
            <a:avLst/>
          </a:prstGeom>
          <a:noFill/>
        </p:spPr>
        <p:txBody>
          <a:bodyPr wrap="square" anchor="t"/>
          <a:lstStyle/>
          <a:p>
            <a:pPr algn="l">
              <a:defRPr sz="1000" b="0">
                <a:solidFill>
                  <a:srgbClr val="444444"/>
                </a:solidFill>
                <a:latin typeface="Consolas"/>
              </a:defRPr>
            </a:pPr>
            <a:r>
              <a:t>urgent weight</a:t>
            </a:r>
          </a:p>
        </p:txBody>
      </p:sp>
      <p:sp>
        <p:nvSpPr>
          <p:cNvPr id="25" name="TextBox 24"/>
          <p:cNvSpPr txBox="1"/>
          <p:nvPr/>
        </p:nvSpPr>
        <p:spPr>
          <a:xfrm>
            <a:off x="7315200" y="1947672"/>
            <a:ext cx="1188720" cy="201168"/>
          </a:xfrm>
          <a:prstGeom prst="rect">
            <a:avLst/>
          </a:prstGeom>
          <a:noFill/>
        </p:spPr>
        <p:txBody>
          <a:bodyPr wrap="square" anchor="t"/>
          <a:lstStyle/>
          <a:p>
            <a:pPr algn="l">
              <a:defRPr sz="1000" b="1">
                <a:solidFill>
                  <a:srgbClr val="FF9800"/>
                </a:solidFill>
                <a:latin typeface="Consolas"/>
              </a:defRPr>
            </a:pPr>
            <a:r>
              <a:t>8</a:t>
            </a:r>
          </a:p>
        </p:txBody>
      </p:sp>
      <p:sp>
        <p:nvSpPr>
          <p:cNvPr id="26" name="TextBox 25"/>
          <p:cNvSpPr txBox="1"/>
          <p:nvPr/>
        </p:nvSpPr>
        <p:spPr>
          <a:xfrm>
            <a:off x="4846320" y="2203704"/>
            <a:ext cx="2377440" cy="201168"/>
          </a:xfrm>
          <a:prstGeom prst="rect">
            <a:avLst/>
          </a:prstGeom>
          <a:noFill/>
        </p:spPr>
        <p:txBody>
          <a:bodyPr wrap="square" anchor="t"/>
          <a:lstStyle/>
          <a:p>
            <a:pPr algn="l">
              <a:defRPr sz="1000" b="0">
                <a:solidFill>
                  <a:srgbClr val="444444"/>
                </a:solidFill>
                <a:latin typeface="Consolas"/>
              </a:defRPr>
            </a:pPr>
            <a:r>
              <a:t>interactive weight</a:t>
            </a:r>
          </a:p>
        </p:txBody>
      </p:sp>
      <p:sp>
        <p:nvSpPr>
          <p:cNvPr id="27" name="TextBox 26"/>
          <p:cNvSpPr txBox="1"/>
          <p:nvPr/>
        </p:nvSpPr>
        <p:spPr>
          <a:xfrm>
            <a:off x="7315200" y="2203704"/>
            <a:ext cx="1188720" cy="201168"/>
          </a:xfrm>
          <a:prstGeom prst="rect">
            <a:avLst/>
          </a:prstGeom>
          <a:noFill/>
        </p:spPr>
        <p:txBody>
          <a:bodyPr wrap="square" anchor="t"/>
          <a:lstStyle/>
          <a:p>
            <a:pPr algn="l">
              <a:defRPr sz="1000" b="1">
                <a:solidFill>
                  <a:srgbClr val="FF9800"/>
                </a:solidFill>
                <a:latin typeface="Consolas"/>
              </a:defRPr>
            </a:pPr>
            <a:r>
              <a:t>3</a:t>
            </a:r>
          </a:p>
        </p:txBody>
      </p:sp>
      <p:sp>
        <p:nvSpPr>
          <p:cNvPr id="28" name="TextBox 27"/>
          <p:cNvSpPr txBox="1"/>
          <p:nvPr/>
        </p:nvSpPr>
        <p:spPr>
          <a:xfrm>
            <a:off x="4846320" y="2459736"/>
            <a:ext cx="2377440" cy="201168"/>
          </a:xfrm>
          <a:prstGeom prst="rect">
            <a:avLst/>
          </a:prstGeom>
          <a:noFill/>
        </p:spPr>
        <p:txBody>
          <a:bodyPr wrap="square" anchor="t"/>
          <a:lstStyle/>
          <a:p>
            <a:pPr algn="l">
              <a:defRPr sz="1000" b="0">
                <a:solidFill>
                  <a:srgbClr val="444444"/>
                </a:solidFill>
                <a:latin typeface="Consolas"/>
              </a:defRPr>
            </a:pPr>
            <a:r>
              <a:t>background weight</a:t>
            </a:r>
          </a:p>
        </p:txBody>
      </p:sp>
      <p:sp>
        <p:nvSpPr>
          <p:cNvPr id="29" name="TextBox 28"/>
          <p:cNvSpPr txBox="1"/>
          <p:nvPr/>
        </p:nvSpPr>
        <p:spPr>
          <a:xfrm>
            <a:off x="7315200" y="2459736"/>
            <a:ext cx="1188720" cy="201168"/>
          </a:xfrm>
          <a:prstGeom prst="rect">
            <a:avLst/>
          </a:prstGeom>
          <a:noFill/>
        </p:spPr>
        <p:txBody>
          <a:bodyPr wrap="square" anchor="t"/>
          <a:lstStyle/>
          <a:p>
            <a:pPr algn="l">
              <a:defRPr sz="1000" b="1">
                <a:solidFill>
                  <a:srgbClr val="FF9800"/>
                </a:solidFill>
                <a:latin typeface="Consolas"/>
              </a:defRPr>
            </a:pPr>
            <a:r>
              <a:t>1</a:t>
            </a:r>
          </a:p>
        </p:txBody>
      </p:sp>
      <p:sp>
        <p:nvSpPr>
          <p:cNvPr id="30" name="TextBox 29"/>
          <p:cNvSpPr txBox="1"/>
          <p:nvPr/>
        </p:nvSpPr>
        <p:spPr>
          <a:xfrm>
            <a:off x="4846320" y="2715768"/>
            <a:ext cx="2377440" cy="201168"/>
          </a:xfrm>
          <a:prstGeom prst="rect">
            <a:avLst/>
          </a:prstGeom>
          <a:noFill/>
        </p:spPr>
        <p:txBody>
          <a:bodyPr wrap="square" anchor="t"/>
          <a:lstStyle/>
          <a:p>
            <a:pPr algn="l">
              <a:defRPr sz="1000" b="0">
                <a:solidFill>
                  <a:srgbClr val="444444"/>
                </a:solidFill>
                <a:latin typeface="Consolas"/>
              </a:defRPr>
            </a:pPr>
            <a:r>
              <a:t>budget_tokens/min</a:t>
            </a:r>
          </a:p>
        </p:txBody>
      </p:sp>
      <p:sp>
        <p:nvSpPr>
          <p:cNvPr id="31" name="TextBox 30"/>
          <p:cNvSpPr txBox="1"/>
          <p:nvPr/>
        </p:nvSpPr>
        <p:spPr>
          <a:xfrm>
            <a:off x="7315200" y="2715768"/>
            <a:ext cx="1188720" cy="201168"/>
          </a:xfrm>
          <a:prstGeom prst="rect">
            <a:avLst/>
          </a:prstGeom>
          <a:noFill/>
        </p:spPr>
        <p:txBody>
          <a:bodyPr wrap="square" anchor="t"/>
          <a:lstStyle/>
          <a:p>
            <a:pPr algn="l">
              <a:defRPr sz="1000" b="1">
                <a:solidFill>
                  <a:srgbClr val="FF9800"/>
                </a:solidFill>
                <a:latin typeface="Consolas"/>
              </a:defRPr>
            </a:pPr>
            <a:r>
              <a:t>24,000</a:t>
            </a:r>
          </a:p>
        </p:txBody>
      </p:sp>
      <p:sp>
        <p:nvSpPr>
          <p:cNvPr id="32" name="TextBox 31"/>
          <p:cNvSpPr txBox="1"/>
          <p:nvPr/>
        </p:nvSpPr>
        <p:spPr>
          <a:xfrm>
            <a:off x="4846320" y="2971800"/>
            <a:ext cx="2377440" cy="201168"/>
          </a:xfrm>
          <a:prstGeom prst="rect">
            <a:avLst/>
          </a:prstGeom>
          <a:noFill/>
        </p:spPr>
        <p:txBody>
          <a:bodyPr wrap="square" anchor="t"/>
          <a:lstStyle/>
          <a:p>
            <a:pPr algn="l">
              <a:defRPr sz="1000" b="0">
                <a:solidFill>
                  <a:srgbClr val="444444"/>
                </a:solidFill>
                <a:latin typeface="Consolas"/>
              </a:defRPr>
            </a:pPr>
            <a:r>
              <a:t>burst_tokens</a:t>
            </a:r>
          </a:p>
        </p:txBody>
      </p:sp>
      <p:sp>
        <p:nvSpPr>
          <p:cNvPr id="33" name="TextBox 32"/>
          <p:cNvSpPr txBox="1"/>
          <p:nvPr/>
        </p:nvSpPr>
        <p:spPr>
          <a:xfrm>
            <a:off x="7315200" y="2971800"/>
            <a:ext cx="1188720" cy="201168"/>
          </a:xfrm>
          <a:prstGeom prst="rect">
            <a:avLst/>
          </a:prstGeom>
          <a:noFill/>
        </p:spPr>
        <p:txBody>
          <a:bodyPr wrap="square" anchor="t"/>
          <a:lstStyle/>
          <a:p>
            <a:pPr algn="l">
              <a:defRPr sz="1000" b="1">
                <a:solidFill>
                  <a:srgbClr val="FF9800"/>
                </a:solidFill>
                <a:latin typeface="Consolas"/>
              </a:defRPr>
            </a:pPr>
            <a:r>
              <a:t>48,000</a:t>
            </a:r>
          </a:p>
        </p:txBody>
      </p:sp>
      <p:sp>
        <p:nvSpPr>
          <p:cNvPr id="34" name="TextBox 33"/>
          <p:cNvSpPr txBox="1"/>
          <p:nvPr/>
        </p:nvSpPr>
        <p:spPr>
          <a:xfrm>
            <a:off x="4846320" y="3227832"/>
            <a:ext cx="2377440" cy="201168"/>
          </a:xfrm>
          <a:prstGeom prst="rect">
            <a:avLst/>
          </a:prstGeom>
          <a:noFill/>
        </p:spPr>
        <p:txBody>
          <a:bodyPr wrap="square" anchor="t"/>
          <a:lstStyle/>
          <a:p>
            <a:pPr algn="l">
              <a:defRPr sz="1000" b="0">
                <a:solidFill>
                  <a:srgbClr val="444444"/>
                </a:solidFill>
                <a:latin typeface="Consolas"/>
              </a:defRPr>
            </a:pPr>
            <a:r>
              <a:t>token_cost_factor</a:t>
            </a:r>
          </a:p>
        </p:txBody>
      </p:sp>
      <p:sp>
        <p:nvSpPr>
          <p:cNvPr id="35" name="TextBox 34"/>
          <p:cNvSpPr txBox="1"/>
          <p:nvPr/>
        </p:nvSpPr>
        <p:spPr>
          <a:xfrm>
            <a:off x="7315200" y="3227832"/>
            <a:ext cx="1188720" cy="201168"/>
          </a:xfrm>
          <a:prstGeom prst="rect">
            <a:avLst/>
          </a:prstGeom>
          <a:noFill/>
        </p:spPr>
        <p:txBody>
          <a:bodyPr wrap="square" anchor="t"/>
          <a:lstStyle/>
          <a:p>
            <a:pPr algn="l">
              <a:defRPr sz="1000" b="1">
                <a:solidFill>
                  <a:srgbClr val="FF9800"/>
                </a:solidFill>
                <a:latin typeface="Consolas"/>
              </a:defRPr>
            </a:pPr>
            <a:r>
              <a:t>1.35x</a:t>
            </a:r>
          </a:p>
        </p:txBody>
      </p:sp>
      <p:sp>
        <p:nvSpPr>
          <p:cNvPr id="36" name="Rectangle 35"/>
          <p:cNvSpPr/>
          <p:nvPr/>
        </p:nvSpPr>
        <p:spPr>
          <a:xfrm>
            <a:off x="502920" y="3657600"/>
            <a:ext cx="3931920"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02920" y="3657600"/>
            <a:ext cx="54864" cy="12344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3749040"/>
            <a:ext cx="3657600" cy="365760"/>
          </a:xfrm>
          <a:prstGeom prst="rect">
            <a:avLst/>
          </a:prstGeom>
          <a:noFill/>
        </p:spPr>
        <p:txBody>
          <a:bodyPr wrap="square" anchor="t"/>
          <a:lstStyle/>
          <a:p>
            <a:pPr algn="l">
              <a:defRPr sz="1200" b="1">
                <a:solidFill>
                  <a:srgbClr val="FFFFFF"/>
                </a:solidFill>
                <a:latin typeface="Arial"/>
              </a:defRPr>
            </a:pPr>
            <a:r>
              <a:t>RAG Defaults</a:t>
            </a:r>
          </a:p>
        </p:txBody>
      </p:sp>
      <p:sp>
        <p:nvSpPr>
          <p:cNvPr id="39" name="TextBox 38"/>
          <p:cNvSpPr txBox="1"/>
          <p:nvPr/>
        </p:nvSpPr>
        <p:spPr>
          <a:xfrm>
            <a:off x="685800" y="4114800"/>
            <a:ext cx="3657600" cy="685800"/>
          </a:xfrm>
          <a:prstGeom prst="rect">
            <a:avLst/>
          </a:prstGeom>
          <a:noFill/>
        </p:spPr>
        <p:txBody>
          <a:bodyPr wrap="square" anchor="t"/>
          <a:lstStyle/>
          <a:p>
            <a:pPr algn="l">
              <a:defRPr sz="1000" b="0">
                <a:solidFill>
                  <a:srgbClr val="CCCCCC"/>
                </a:solidFill>
                <a:latin typeface="Arial"/>
              </a:defRPr>
            </a:pPr>
            <a:r>
              <a:t>top_k: 15 (vector + keyword)  |  chunk: 900/150</a:t>
            </a:r>
            <a:br/>
            <a:r>
              <a:t>RRF k=60  |  retries: 2  |  min_evidence: 2</a:t>
            </a:r>
            <a:br/>
            <a:r>
              <a:t>parallel_collection_probes: 4</a:t>
            </a:r>
          </a:p>
        </p:txBody>
      </p:sp>
      <p:sp>
        <p:nvSpPr>
          <p:cNvPr id="40" name="Rectangle 39"/>
          <p:cNvSpPr/>
          <p:nvPr/>
        </p:nvSpPr>
        <p:spPr>
          <a:xfrm>
            <a:off x="4709160" y="3657600"/>
            <a:ext cx="3977639"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709160" y="3657600"/>
            <a:ext cx="54864" cy="12344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892040" y="3749040"/>
            <a:ext cx="3703319" cy="365760"/>
          </a:xfrm>
          <a:prstGeom prst="rect">
            <a:avLst/>
          </a:prstGeom>
          <a:noFill/>
        </p:spPr>
        <p:txBody>
          <a:bodyPr wrap="square" anchor="t"/>
          <a:lstStyle/>
          <a:p>
            <a:pPr algn="l">
              <a:defRPr sz="1200" b="1">
                <a:solidFill>
                  <a:srgbClr val="FFFFFF"/>
                </a:solidFill>
                <a:latin typeface="Arial"/>
              </a:defRPr>
            </a:pPr>
            <a:r>
              <a:t>Memory Defaults</a:t>
            </a:r>
          </a:p>
        </p:txBody>
      </p:sp>
      <p:sp>
        <p:nvSpPr>
          <p:cNvPr id="43" name="TextBox 42"/>
          <p:cNvSpPr txBox="1"/>
          <p:nvPr/>
        </p:nvSpPr>
        <p:spPr>
          <a:xfrm>
            <a:off x="4892040" y="4114800"/>
            <a:ext cx="3703319" cy="685800"/>
          </a:xfrm>
          <a:prstGeom prst="rect">
            <a:avLst/>
          </a:prstGeom>
          <a:noFill/>
        </p:spPr>
        <p:txBody>
          <a:bodyPr wrap="square" anchor="t"/>
          <a:lstStyle/>
          <a:p>
            <a:pPr algn="l">
              <a:defRPr sz="1000" b="0">
                <a:solidFill>
                  <a:srgbClr val="CCCCCC"/>
                </a:solidFill>
                <a:latin typeface="Arial"/>
              </a:defRPr>
            </a:pPr>
            <a:r>
              <a:t>top_k: 16  |  budget: 1,600 chars</a:t>
            </a:r>
            <a:br/>
            <a:r>
              <a:t>Modes: shadow / selector / live</a:t>
            </a:r>
            <a:br/>
            <a:r>
              <a:t>5 types: profile, task, decision, constraint, open_loop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Deep RAG &amp; Verification Pipeline (rag/)</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Multi-pass parallel retrieval with automated verification and citation checking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DEEP RAG MODE</a:t>
            </a:r>
          </a:p>
        </p:txBody>
      </p:sp>
      <p:sp>
        <p:nvSpPr>
          <p:cNvPr id="7" name="TextBox 6"/>
          <p:cNvSpPr txBox="1"/>
          <p:nvPr/>
        </p:nvSpPr>
        <p:spPr>
          <a:xfrm>
            <a:off x="502920" y="1691640"/>
            <a:ext cx="1737360" cy="201168"/>
          </a:xfrm>
          <a:prstGeom prst="rect">
            <a:avLst/>
          </a:prstGeom>
          <a:noFill/>
        </p:spPr>
        <p:txBody>
          <a:bodyPr wrap="square" anchor="t"/>
          <a:lstStyle/>
          <a:p>
            <a:pPr algn="l">
              <a:defRPr sz="1000" b="1">
                <a:solidFill>
                  <a:srgbClr val="333333"/>
                </a:solidFill>
                <a:latin typeface="Arial"/>
              </a:defRPr>
            </a:pPr>
            <a:r>
              <a:t>Parallel Lanes:</a:t>
            </a:r>
          </a:p>
        </p:txBody>
      </p:sp>
      <p:sp>
        <p:nvSpPr>
          <p:cNvPr id="8" name="TextBox 7"/>
          <p:cNvSpPr txBox="1"/>
          <p:nvPr/>
        </p:nvSpPr>
        <p:spPr>
          <a:xfrm>
            <a:off x="2286000" y="1691640"/>
            <a:ext cx="2103120" cy="201168"/>
          </a:xfrm>
          <a:prstGeom prst="rect">
            <a:avLst/>
          </a:prstGeom>
          <a:noFill/>
        </p:spPr>
        <p:txBody>
          <a:bodyPr wrap="square" anchor="t"/>
          <a:lstStyle/>
          <a:p>
            <a:pPr algn="l">
              <a:defRPr sz="1000" b="0">
                <a:solidFill>
                  <a:srgbClr val="555555"/>
                </a:solidFill>
                <a:latin typeface="Arial"/>
              </a:defRPr>
            </a:pPr>
            <a:r>
              <a:t>3 concurrent retrieval lanes</a:t>
            </a:r>
          </a:p>
        </p:txBody>
      </p:sp>
      <p:sp>
        <p:nvSpPr>
          <p:cNvPr id="9" name="TextBox 8"/>
          <p:cNvSpPr txBox="1"/>
          <p:nvPr/>
        </p:nvSpPr>
        <p:spPr>
          <a:xfrm>
            <a:off x="502920" y="1965960"/>
            <a:ext cx="1737360" cy="201168"/>
          </a:xfrm>
          <a:prstGeom prst="rect">
            <a:avLst/>
          </a:prstGeom>
          <a:noFill/>
        </p:spPr>
        <p:txBody>
          <a:bodyPr wrap="square" anchor="t"/>
          <a:lstStyle/>
          <a:p>
            <a:pPr algn="l">
              <a:defRPr sz="1000" b="1">
                <a:solidFill>
                  <a:srgbClr val="333333"/>
                </a:solidFill>
                <a:latin typeface="Arial"/>
              </a:defRPr>
            </a:pPr>
            <a:r>
              <a:t>Chunk Threshold:</a:t>
            </a:r>
          </a:p>
        </p:txBody>
      </p:sp>
      <p:sp>
        <p:nvSpPr>
          <p:cNvPr id="10" name="TextBox 9"/>
          <p:cNvSpPr txBox="1"/>
          <p:nvPr/>
        </p:nvSpPr>
        <p:spPr>
          <a:xfrm>
            <a:off x="2286000" y="1965960"/>
            <a:ext cx="2103120" cy="201168"/>
          </a:xfrm>
          <a:prstGeom prst="rect">
            <a:avLst/>
          </a:prstGeom>
          <a:noFill/>
        </p:spPr>
        <p:txBody>
          <a:bodyPr wrap="square" anchor="t"/>
          <a:lstStyle/>
          <a:p>
            <a:pPr algn="l">
              <a:defRPr sz="1000" b="0">
                <a:solidFill>
                  <a:srgbClr val="555555"/>
                </a:solidFill>
                <a:latin typeface="Arial"/>
              </a:defRPr>
            </a:pPr>
            <a:r>
              <a:t>24 chunks trigger full-read mode</a:t>
            </a:r>
          </a:p>
        </p:txBody>
      </p:sp>
      <p:sp>
        <p:nvSpPr>
          <p:cNvPr id="11" name="TextBox 10"/>
          <p:cNvSpPr txBox="1"/>
          <p:nvPr/>
        </p:nvSpPr>
        <p:spPr>
          <a:xfrm>
            <a:off x="502920" y="2240280"/>
            <a:ext cx="1737360" cy="201168"/>
          </a:xfrm>
          <a:prstGeom prst="rect">
            <a:avLst/>
          </a:prstGeom>
          <a:noFill/>
        </p:spPr>
        <p:txBody>
          <a:bodyPr wrap="square" anchor="t"/>
          <a:lstStyle/>
          <a:p>
            <a:pPr algn="l">
              <a:defRPr sz="1000" b="1">
                <a:solidFill>
                  <a:srgbClr val="333333"/>
                </a:solidFill>
                <a:latin typeface="Arial"/>
              </a:defRPr>
            </a:pPr>
            <a:r>
              <a:t>Reflection Rounds:</a:t>
            </a:r>
          </a:p>
        </p:txBody>
      </p:sp>
      <p:sp>
        <p:nvSpPr>
          <p:cNvPr id="12" name="TextBox 11"/>
          <p:cNvSpPr txBox="1"/>
          <p:nvPr/>
        </p:nvSpPr>
        <p:spPr>
          <a:xfrm>
            <a:off x="2286000" y="2240280"/>
            <a:ext cx="2103120" cy="201168"/>
          </a:xfrm>
          <a:prstGeom prst="rect">
            <a:avLst/>
          </a:prstGeom>
          <a:noFill/>
        </p:spPr>
        <p:txBody>
          <a:bodyPr wrap="square" anchor="t"/>
          <a:lstStyle/>
          <a:p>
            <a:pPr algn="l">
              <a:defRPr sz="1000" b="0">
                <a:solidFill>
                  <a:srgbClr val="555555"/>
                </a:solidFill>
                <a:latin typeface="Arial"/>
              </a:defRPr>
            </a:pPr>
            <a:r>
              <a:t>1 sync reflection per pass</a:t>
            </a:r>
          </a:p>
        </p:txBody>
      </p:sp>
      <p:sp>
        <p:nvSpPr>
          <p:cNvPr id="13" name="TextBox 12"/>
          <p:cNvSpPr txBox="1"/>
          <p:nvPr/>
        </p:nvSpPr>
        <p:spPr>
          <a:xfrm>
            <a:off x="502920" y="2514600"/>
            <a:ext cx="1737360" cy="201168"/>
          </a:xfrm>
          <a:prstGeom prst="rect">
            <a:avLst/>
          </a:prstGeom>
          <a:noFill/>
        </p:spPr>
        <p:txBody>
          <a:bodyPr wrap="square" anchor="t"/>
          <a:lstStyle/>
          <a:p>
            <a:pPr algn="l">
              <a:defRPr sz="1000" b="1">
                <a:solidFill>
                  <a:srgbClr val="333333"/>
                </a:solidFill>
                <a:latin typeface="Arial"/>
              </a:defRPr>
            </a:pPr>
            <a:r>
              <a:t>Background Threshold:</a:t>
            </a:r>
          </a:p>
        </p:txBody>
      </p:sp>
      <p:sp>
        <p:nvSpPr>
          <p:cNvPr id="14" name="TextBox 13"/>
          <p:cNvSpPr txBox="1"/>
          <p:nvPr/>
        </p:nvSpPr>
        <p:spPr>
          <a:xfrm>
            <a:off x="2286000" y="2514600"/>
            <a:ext cx="2103120" cy="201168"/>
          </a:xfrm>
          <a:prstGeom prst="rect">
            <a:avLst/>
          </a:prstGeom>
          <a:noFill/>
        </p:spPr>
        <p:txBody>
          <a:bodyPr wrap="square" anchor="t"/>
          <a:lstStyle/>
          <a:p>
            <a:pPr algn="l">
              <a:defRPr sz="1000" b="0">
                <a:solidFill>
                  <a:srgbClr val="555555"/>
                </a:solidFill>
                <a:latin typeface="Arial"/>
              </a:defRPr>
            </a:pPr>
            <a:r>
              <a:t>4+ tasks trigger background mode</a:t>
            </a:r>
          </a:p>
        </p:txBody>
      </p:sp>
      <p:sp>
        <p:nvSpPr>
          <p:cNvPr id="15" name="TextBox 14"/>
          <p:cNvSpPr txBox="1"/>
          <p:nvPr/>
        </p:nvSpPr>
        <p:spPr>
          <a:xfrm>
            <a:off x="502920" y="2788920"/>
            <a:ext cx="1737360" cy="201168"/>
          </a:xfrm>
          <a:prstGeom prst="rect">
            <a:avLst/>
          </a:prstGeom>
          <a:noFill/>
        </p:spPr>
        <p:txBody>
          <a:bodyPr wrap="square" anchor="t"/>
          <a:lstStyle/>
          <a:p>
            <a:pPr algn="l">
              <a:defRPr sz="1000" b="1">
                <a:solidFill>
                  <a:srgbClr val="333333"/>
                </a:solidFill>
                <a:latin typeface="Arial"/>
              </a:defRPr>
            </a:pPr>
            <a:r>
              <a:t>Coverage Goals:</a:t>
            </a:r>
          </a:p>
        </p:txBody>
      </p:sp>
      <p:sp>
        <p:nvSpPr>
          <p:cNvPr id="16" name="TextBox 15"/>
          <p:cNvSpPr txBox="1"/>
          <p:nvPr/>
        </p:nvSpPr>
        <p:spPr>
          <a:xfrm>
            <a:off x="2286000" y="2788920"/>
            <a:ext cx="2103120" cy="201168"/>
          </a:xfrm>
          <a:prstGeom prst="rect">
            <a:avLst/>
          </a:prstGeom>
          <a:noFill/>
        </p:spPr>
        <p:txBody>
          <a:bodyPr wrap="square" anchor="t"/>
          <a:lstStyle/>
          <a:p>
            <a:pPr algn="l">
              <a:defRPr sz="1000" b="0">
                <a:solidFill>
                  <a:srgbClr val="555555"/>
                </a:solidFill>
                <a:latin typeface="Arial"/>
              </a:defRPr>
            </a:pPr>
            <a:r>
              <a:t>corpus_wide, exhaustive, specific</a:t>
            </a:r>
          </a:p>
        </p:txBody>
      </p:sp>
      <p:sp>
        <p:nvSpPr>
          <p:cNvPr id="17" name="TextBox 16"/>
          <p:cNvSpPr txBox="1"/>
          <p:nvPr/>
        </p:nvSpPr>
        <p:spPr>
          <a:xfrm>
            <a:off x="502920" y="3063240"/>
            <a:ext cx="1737360" cy="201168"/>
          </a:xfrm>
          <a:prstGeom prst="rect">
            <a:avLst/>
          </a:prstGeom>
          <a:noFill/>
        </p:spPr>
        <p:txBody>
          <a:bodyPr wrap="square" anchor="t"/>
          <a:lstStyle/>
          <a:p>
            <a:pPr algn="l">
              <a:defRPr sz="1000" b="1">
                <a:solidFill>
                  <a:srgbClr val="333333"/>
                </a:solidFill>
                <a:latin typeface="Arial"/>
              </a:defRPr>
            </a:pPr>
            <a:r>
              <a:t>Result Modes:</a:t>
            </a:r>
          </a:p>
        </p:txBody>
      </p:sp>
      <p:sp>
        <p:nvSpPr>
          <p:cNvPr id="18" name="TextBox 17"/>
          <p:cNvSpPr txBox="1"/>
          <p:nvPr/>
        </p:nvSpPr>
        <p:spPr>
          <a:xfrm>
            <a:off x="2286000" y="3063240"/>
            <a:ext cx="2103120" cy="201168"/>
          </a:xfrm>
          <a:prstGeom prst="rect">
            <a:avLst/>
          </a:prstGeom>
          <a:noFill/>
        </p:spPr>
        <p:txBody>
          <a:bodyPr wrap="square" anchor="t"/>
          <a:lstStyle/>
          <a:p>
            <a:pPr algn="l">
              <a:defRPr sz="1000" b="0">
                <a:solidFill>
                  <a:srgbClr val="555555"/>
                </a:solidFill>
                <a:latin typeface="Arial"/>
              </a:defRPr>
            </a:pPr>
            <a:r>
              <a:t>answer, comparison, inventory</a:t>
            </a:r>
          </a:p>
        </p:txBody>
      </p:sp>
      <p:sp>
        <p:nvSpPr>
          <p:cNvPr id="19" name="TextBox 18"/>
          <p:cNvSpPr txBox="1"/>
          <p:nvPr/>
        </p:nvSpPr>
        <p:spPr>
          <a:xfrm>
            <a:off x="502920" y="3337560"/>
            <a:ext cx="1737360" cy="201168"/>
          </a:xfrm>
          <a:prstGeom prst="rect">
            <a:avLst/>
          </a:prstGeom>
          <a:noFill/>
        </p:spPr>
        <p:txBody>
          <a:bodyPr wrap="square" anchor="t"/>
          <a:lstStyle/>
          <a:p>
            <a:pPr algn="l">
              <a:defRPr sz="1000" b="1">
                <a:solidFill>
                  <a:srgbClr val="333333"/>
                </a:solidFill>
                <a:latin typeface="Arial"/>
              </a:defRPr>
            </a:pPr>
            <a:r>
              <a:t>Search Modes:</a:t>
            </a:r>
          </a:p>
        </p:txBody>
      </p:sp>
      <p:sp>
        <p:nvSpPr>
          <p:cNvPr id="20" name="TextBox 19"/>
          <p:cNvSpPr txBox="1"/>
          <p:nvPr/>
        </p:nvSpPr>
        <p:spPr>
          <a:xfrm>
            <a:off x="2286000" y="3337560"/>
            <a:ext cx="2103120" cy="201168"/>
          </a:xfrm>
          <a:prstGeom prst="rect">
            <a:avLst/>
          </a:prstGeom>
          <a:noFill/>
        </p:spPr>
        <p:txBody>
          <a:bodyPr wrap="square" anchor="t"/>
          <a:lstStyle/>
          <a:p>
            <a:pPr algn="l">
              <a:defRPr sz="1000" b="0">
                <a:solidFill>
                  <a:srgbClr val="555555"/>
                </a:solidFill>
                <a:latin typeface="Arial"/>
              </a:defRPr>
            </a:pPr>
            <a:r>
              <a:t>auto, vector_only, keyword_only, hybrid, none</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EF5350"/>
                </a:solidFill>
                <a:latin typeface="Arial"/>
              </a:defRPr>
            </a:pPr>
            <a:r>
              <a:t>VERIFICATION PIPELINE</a:t>
            </a:r>
          </a:p>
        </p:txBody>
      </p:sp>
      <p:sp>
        <p:nvSpPr>
          <p:cNvPr id="22" name="Oval 21"/>
          <p:cNvSpPr/>
          <p:nvPr/>
        </p:nvSpPr>
        <p:spPr>
          <a:xfrm>
            <a:off x="4846320" y="172821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74920" y="1691640"/>
            <a:ext cx="3566160" cy="201168"/>
          </a:xfrm>
          <a:prstGeom prst="rect">
            <a:avLst/>
          </a:prstGeom>
          <a:noFill/>
        </p:spPr>
        <p:txBody>
          <a:bodyPr wrap="square" anchor="t"/>
          <a:lstStyle/>
          <a:p>
            <a:pPr algn="l">
              <a:defRPr sz="1100" b="1">
                <a:solidFill>
                  <a:srgbClr val="333333"/>
                </a:solidFill>
                <a:latin typeface="Arial"/>
              </a:defRPr>
            </a:pPr>
            <a:r>
              <a:t>Missed Doc Detection</a:t>
            </a:r>
          </a:p>
        </p:txBody>
      </p:sp>
      <p:sp>
        <p:nvSpPr>
          <p:cNvPr id="24" name="TextBox 23"/>
          <p:cNvSpPr txBox="1"/>
          <p:nvPr/>
        </p:nvSpPr>
        <p:spPr>
          <a:xfrm>
            <a:off x="5074920" y="1892808"/>
            <a:ext cx="3566160" cy="274320"/>
          </a:xfrm>
          <a:prstGeom prst="rect">
            <a:avLst/>
          </a:prstGeom>
          <a:noFill/>
        </p:spPr>
        <p:txBody>
          <a:bodyPr wrap="square" anchor="t"/>
          <a:lstStyle/>
          <a:p>
            <a:pPr algn="l">
              <a:defRPr sz="900" b="0">
                <a:solidFill>
                  <a:srgbClr val="666666"/>
                </a:solidFill>
                <a:latin typeface="Arial"/>
              </a:defRPr>
            </a:pPr>
            <a:r>
              <a:t>Identifies documents that should have been retrieved but weren't</a:t>
            </a:r>
          </a:p>
        </p:txBody>
      </p:sp>
      <p:sp>
        <p:nvSpPr>
          <p:cNvPr id="25" name="Oval 24"/>
          <p:cNvSpPr/>
          <p:nvPr/>
        </p:nvSpPr>
        <p:spPr>
          <a:xfrm>
            <a:off x="4846320" y="223113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74920" y="2194560"/>
            <a:ext cx="3566160" cy="201168"/>
          </a:xfrm>
          <a:prstGeom prst="rect">
            <a:avLst/>
          </a:prstGeom>
          <a:noFill/>
        </p:spPr>
        <p:txBody>
          <a:bodyPr wrap="square" anchor="t"/>
          <a:lstStyle/>
          <a:p>
            <a:pPr algn="l">
              <a:defRPr sz="1100" b="1">
                <a:solidFill>
                  <a:srgbClr val="333333"/>
                </a:solidFill>
                <a:latin typeface="Arial"/>
              </a:defRPr>
            </a:pPr>
            <a:r>
              <a:t>Unsupported Hop Detection</a:t>
            </a:r>
          </a:p>
        </p:txBody>
      </p:sp>
      <p:sp>
        <p:nvSpPr>
          <p:cNvPr id="27" name="TextBox 26"/>
          <p:cNvSpPr txBox="1"/>
          <p:nvPr/>
        </p:nvSpPr>
        <p:spPr>
          <a:xfrm>
            <a:off x="5074920" y="2395728"/>
            <a:ext cx="3566160" cy="274320"/>
          </a:xfrm>
          <a:prstGeom prst="rect">
            <a:avLst/>
          </a:prstGeom>
          <a:noFill/>
        </p:spPr>
        <p:txBody>
          <a:bodyPr wrap="square" anchor="t"/>
          <a:lstStyle/>
          <a:p>
            <a:pPr algn="l">
              <a:defRPr sz="900" b="0">
                <a:solidFill>
                  <a:srgbClr val="666666"/>
                </a:solidFill>
                <a:latin typeface="Arial"/>
              </a:defRPr>
            </a:pPr>
            <a:r>
              <a:t>Flags claims requiring evidence hops the system can't make</a:t>
            </a:r>
          </a:p>
        </p:txBody>
      </p:sp>
      <p:sp>
        <p:nvSpPr>
          <p:cNvPr id="28" name="Oval 27"/>
          <p:cNvSpPr/>
          <p:nvPr/>
        </p:nvSpPr>
        <p:spPr>
          <a:xfrm>
            <a:off x="4846320" y="273405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74920" y="2697480"/>
            <a:ext cx="3566160" cy="201168"/>
          </a:xfrm>
          <a:prstGeom prst="rect">
            <a:avLst/>
          </a:prstGeom>
          <a:noFill/>
        </p:spPr>
        <p:txBody>
          <a:bodyPr wrap="square" anchor="t"/>
          <a:lstStyle/>
          <a:p>
            <a:pPr algn="l">
              <a:defRPr sz="1100" b="1">
                <a:solidFill>
                  <a:srgbClr val="333333"/>
                </a:solidFill>
                <a:latin typeface="Arial"/>
              </a:defRPr>
            </a:pPr>
            <a:r>
              <a:t>Citation Mismatch</a:t>
            </a:r>
          </a:p>
        </p:txBody>
      </p:sp>
      <p:sp>
        <p:nvSpPr>
          <p:cNvPr id="30" name="TextBox 29"/>
          <p:cNvSpPr txBox="1"/>
          <p:nvPr/>
        </p:nvSpPr>
        <p:spPr>
          <a:xfrm>
            <a:off x="5074920" y="2898648"/>
            <a:ext cx="3566160" cy="274320"/>
          </a:xfrm>
          <a:prstGeom prst="rect">
            <a:avLst/>
          </a:prstGeom>
          <a:noFill/>
        </p:spPr>
        <p:txBody>
          <a:bodyPr wrap="square" anchor="t"/>
          <a:lstStyle/>
          <a:p>
            <a:pPr algn="l">
              <a:defRPr sz="900" b="0">
                <a:solidFill>
                  <a:srgbClr val="666666"/>
                </a:solidFill>
                <a:latin typeface="Arial"/>
              </a:defRPr>
            </a:pPr>
            <a:r>
              <a:t>Checks citation topic/text alignment against source material</a:t>
            </a:r>
          </a:p>
        </p:txBody>
      </p:sp>
      <p:sp>
        <p:nvSpPr>
          <p:cNvPr id="31" name="Oval 30"/>
          <p:cNvSpPr/>
          <p:nvPr/>
        </p:nvSpPr>
        <p:spPr>
          <a:xfrm>
            <a:off x="4846320" y="323697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74920" y="3200400"/>
            <a:ext cx="3566160" cy="201168"/>
          </a:xfrm>
          <a:prstGeom prst="rect">
            <a:avLst/>
          </a:prstGeom>
          <a:noFill/>
        </p:spPr>
        <p:txBody>
          <a:bodyPr wrap="square" anchor="t"/>
          <a:lstStyle/>
          <a:p>
            <a:pPr algn="l">
              <a:defRPr sz="1100" b="1">
                <a:solidFill>
                  <a:srgbClr val="333333"/>
                </a:solidFill>
                <a:latin typeface="Arial"/>
              </a:defRPr>
            </a:pPr>
            <a:r>
              <a:t>Stale Graph Detection</a:t>
            </a:r>
          </a:p>
        </p:txBody>
      </p:sp>
      <p:sp>
        <p:nvSpPr>
          <p:cNvPr id="33" name="TextBox 32"/>
          <p:cNvSpPr txBox="1"/>
          <p:nvPr/>
        </p:nvSpPr>
        <p:spPr>
          <a:xfrm>
            <a:off x="5074920" y="3401568"/>
            <a:ext cx="3566160" cy="274320"/>
          </a:xfrm>
          <a:prstGeom prst="rect">
            <a:avLst/>
          </a:prstGeom>
          <a:noFill/>
        </p:spPr>
        <p:txBody>
          <a:bodyPr wrap="square" anchor="t"/>
          <a:lstStyle/>
          <a:p>
            <a:pPr algn="l">
              <a:defRPr sz="900" b="0">
                <a:solidFill>
                  <a:srgbClr val="666666"/>
                </a:solidFill>
                <a:latin typeface="Arial"/>
              </a:defRPr>
            </a:pPr>
            <a:r>
              <a:t>Compares graph index age vs. document ingest timestamps</a:t>
            </a:r>
          </a:p>
        </p:txBody>
      </p:sp>
      <p:sp>
        <p:nvSpPr>
          <p:cNvPr id="34" name="Rectangle 33"/>
          <p:cNvSpPr/>
          <p:nvPr/>
        </p:nvSpPr>
        <p:spPr>
          <a:xfrm>
            <a:off x="502920" y="3931920"/>
            <a:ext cx="8138160"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4005072"/>
            <a:ext cx="7680960" cy="274320"/>
          </a:xfrm>
          <a:prstGeom prst="rect">
            <a:avLst/>
          </a:prstGeom>
          <a:noFill/>
        </p:spPr>
        <p:txBody>
          <a:bodyPr wrap="square" anchor="t"/>
          <a:lstStyle/>
          <a:p>
            <a:pPr algn="l">
              <a:defRPr sz="1200" b="1">
                <a:solidFill>
                  <a:srgbClr val="0097A7"/>
                </a:solidFill>
                <a:latin typeface="Arial"/>
              </a:defRPr>
            </a:pPr>
            <a:r>
              <a:t>4-LEVEL RELEVANCE GRADING</a:t>
            </a:r>
          </a:p>
        </p:txBody>
      </p:sp>
      <p:sp>
        <p:nvSpPr>
          <p:cNvPr id="36" name="TextBox 35"/>
          <p:cNvSpPr txBox="1"/>
          <p:nvPr/>
        </p:nvSpPr>
        <p:spPr>
          <a:xfrm>
            <a:off x="731520" y="4297680"/>
            <a:ext cx="7680960" cy="228600"/>
          </a:xfrm>
          <a:prstGeom prst="rect">
            <a:avLst/>
          </a:prstGeom>
          <a:noFill/>
        </p:spPr>
        <p:txBody>
          <a:bodyPr wrap="square" anchor="t"/>
          <a:lstStyle/>
          <a:p>
            <a:pPr algn="ctr">
              <a:defRPr sz="1200" b="0">
                <a:solidFill>
                  <a:srgbClr val="FFFFFF"/>
                </a:solidFill>
                <a:latin typeface="Arial"/>
              </a:defRPr>
            </a:pPr>
            <a:r>
              <a:t>0 = Not Relevant    |    1 = Somewhat    |    2 = Relevant    |    3 = Highly Relevant</a:t>
            </a:r>
          </a:p>
        </p:txBody>
      </p:sp>
      <p:sp>
        <p:nvSpPr>
          <p:cNvPr id="37" name="TextBox 36"/>
          <p:cNvSpPr txBox="1"/>
          <p:nvPr/>
        </p:nvSpPr>
        <p:spPr>
          <a:xfrm>
            <a:off x="731520" y="4572000"/>
            <a:ext cx="7680960" cy="201168"/>
          </a:xfrm>
          <a:prstGeom prst="rect">
            <a:avLst/>
          </a:prstGeom>
          <a:noFill/>
        </p:spPr>
        <p:txBody>
          <a:bodyPr wrap="square" anchor="t"/>
          <a:lstStyle/>
          <a:p>
            <a:pPr algn="ctr">
              <a:defRPr sz="1000" b="0">
                <a:solidFill>
                  <a:srgbClr val="CCCCCC"/>
                </a:solidFill>
                <a:latin typeface="Arial"/>
              </a:defRPr>
            </a:pPr>
            <a:r>
              <a:t>LLM grading (max 12 chunks) with heuristic fallback (term overlap &gt;= 3 tokens = score 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Persistence, Observability &amp; Benchmarks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PostgreSQL persistence layer, dedicated observability directory, and benchmark suite</a:t>
            </a:r>
          </a:p>
        </p:txBody>
      </p:sp>
      <p:sp>
        <p:nvSpPr>
          <p:cNvPr id="6" name="Rectangle 5"/>
          <p:cNvSpPr/>
          <p:nvPr/>
        </p:nvSpPr>
        <p:spPr>
          <a:xfrm>
            <a:off x="50292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71600"/>
            <a:ext cx="54864" cy="301752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2286000" cy="274320"/>
          </a:xfrm>
          <a:prstGeom prst="rect">
            <a:avLst/>
          </a:prstGeom>
          <a:noFill/>
        </p:spPr>
        <p:txBody>
          <a:bodyPr wrap="square" anchor="t"/>
          <a:lstStyle/>
          <a:p>
            <a:pPr algn="l">
              <a:defRPr sz="1400" b="1">
                <a:solidFill>
                  <a:srgbClr val="FFFFFF"/>
                </a:solidFill>
                <a:latin typeface="Arial"/>
              </a:defRPr>
            </a:pPr>
            <a:r>
              <a:t>Persistence (persistence/)</a:t>
            </a:r>
          </a:p>
        </p:txBody>
      </p:sp>
      <p:sp>
        <p:nvSpPr>
          <p:cNvPr id="9" name="TextBox 8"/>
          <p:cNvSpPr txBox="1"/>
          <p:nvPr/>
        </p:nvSpPr>
        <p:spPr>
          <a:xfrm>
            <a:off x="731520" y="1828800"/>
            <a:ext cx="2194560" cy="228600"/>
          </a:xfrm>
          <a:prstGeom prst="rect">
            <a:avLst/>
          </a:prstGeom>
          <a:noFill/>
        </p:spPr>
        <p:txBody>
          <a:bodyPr wrap="square" anchor="t"/>
          <a:lstStyle/>
          <a:p>
            <a:pPr algn="l">
              <a:defRPr sz="1000" b="0">
                <a:solidFill>
                  <a:srgbClr val="CCCCCC"/>
                </a:solidFill>
                <a:latin typeface="Arial"/>
              </a:defRPr>
            </a:pPr>
            <a:r>
              <a:t>- PostgreSQL-backed data layer</a:t>
            </a:r>
          </a:p>
        </p:txBody>
      </p:sp>
      <p:sp>
        <p:nvSpPr>
          <p:cNvPr id="10" name="TextBox 9"/>
          <p:cNvSpPr txBox="1"/>
          <p:nvPr/>
        </p:nvSpPr>
        <p:spPr>
          <a:xfrm>
            <a:off x="731520" y="2103120"/>
            <a:ext cx="2194560" cy="228600"/>
          </a:xfrm>
          <a:prstGeom prst="rect">
            <a:avLst/>
          </a:prstGeom>
          <a:noFill/>
        </p:spPr>
        <p:txBody>
          <a:bodyPr wrap="square" anchor="t"/>
          <a:lstStyle/>
          <a:p>
            <a:pPr algn="l">
              <a:defRPr sz="1000" b="0">
                <a:solidFill>
                  <a:srgbClr val="CCCCCC"/>
                </a:solidFill>
                <a:latin typeface="Arial"/>
              </a:defRPr>
            </a:pPr>
            <a:r>
              <a:t>- pgvector for embeddings</a:t>
            </a:r>
          </a:p>
        </p:txBody>
      </p:sp>
      <p:sp>
        <p:nvSpPr>
          <p:cNvPr id="11" name="TextBox 10"/>
          <p:cNvSpPr txBox="1"/>
          <p:nvPr/>
        </p:nvSpPr>
        <p:spPr>
          <a:xfrm>
            <a:off x="731520" y="2377440"/>
            <a:ext cx="2194560" cy="228600"/>
          </a:xfrm>
          <a:prstGeom prst="rect">
            <a:avLst/>
          </a:prstGeom>
          <a:noFill/>
        </p:spPr>
        <p:txBody>
          <a:bodyPr wrap="square" anchor="t"/>
          <a:lstStyle/>
          <a:p>
            <a:pPr algn="l">
              <a:defRPr sz="1000" b="0">
                <a:solidFill>
                  <a:srgbClr val="CCCCCC"/>
                </a:solidFill>
                <a:latin typeface="Arial"/>
              </a:defRPr>
            </a:pPr>
            <a:r>
              <a:t>- Session transcript storage</a:t>
            </a:r>
          </a:p>
        </p:txBody>
      </p:sp>
      <p:sp>
        <p:nvSpPr>
          <p:cNvPr id="12" name="TextBox 11"/>
          <p:cNvSpPr txBox="1"/>
          <p:nvPr/>
        </p:nvSpPr>
        <p:spPr>
          <a:xfrm>
            <a:off x="731520" y="2651760"/>
            <a:ext cx="2194560" cy="228600"/>
          </a:xfrm>
          <a:prstGeom prst="rect">
            <a:avLst/>
          </a:prstGeom>
          <a:noFill/>
        </p:spPr>
        <p:txBody>
          <a:bodyPr wrap="square" anchor="t"/>
          <a:lstStyle/>
          <a:p>
            <a:pPr algn="l">
              <a:defRPr sz="1000" b="0">
                <a:solidFill>
                  <a:srgbClr val="CCCCCC"/>
                </a:solidFill>
                <a:latin typeface="Arial"/>
              </a:defRPr>
            </a:pPr>
            <a:r>
              <a:t>- Job records &amp; results</a:t>
            </a:r>
          </a:p>
        </p:txBody>
      </p:sp>
      <p:sp>
        <p:nvSpPr>
          <p:cNvPr id="13" name="TextBox 12"/>
          <p:cNvSpPr txBox="1"/>
          <p:nvPr/>
        </p:nvSpPr>
        <p:spPr>
          <a:xfrm>
            <a:off x="731520" y="2926080"/>
            <a:ext cx="2194560" cy="228600"/>
          </a:xfrm>
          <a:prstGeom prst="rect">
            <a:avLst/>
          </a:prstGeom>
          <a:noFill/>
        </p:spPr>
        <p:txBody>
          <a:bodyPr wrap="square" anchor="t"/>
          <a:lstStyle/>
          <a:p>
            <a:pPr algn="l">
              <a:defRPr sz="1000" b="0">
                <a:solidFill>
                  <a:srgbClr val="CCCCCC"/>
                </a:solidFill>
                <a:latin typeface="Arial"/>
              </a:defRPr>
            </a:pPr>
            <a:r>
              <a:t>- Tenant/user data isolation</a:t>
            </a:r>
          </a:p>
        </p:txBody>
      </p:sp>
      <p:sp>
        <p:nvSpPr>
          <p:cNvPr id="14" name="TextBox 13"/>
          <p:cNvSpPr txBox="1"/>
          <p:nvPr/>
        </p:nvSpPr>
        <p:spPr>
          <a:xfrm>
            <a:off x="731520" y="3200400"/>
            <a:ext cx="2194560" cy="228600"/>
          </a:xfrm>
          <a:prstGeom prst="rect">
            <a:avLst/>
          </a:prstGeom>
          <a:noFill/>
        </p:spPr>
        <p:txBody>
          <a:bodyPr wrap="square" anchor="t"/>
          <a:lstStyle/>
          <a:p>
            <a:pPr algn="l">
              <a:defRPr sz="1000" b="0">
                <a:solidFill>
                  <a:srgbClr val="CCCCCC"/>
                </a:solidFill>
                <a:latin typeface="Arial"/>
              </a:defRPr>
            </a:pPr>
            <a:r>
              <a:t>- Migration support</a:t>
            </a:r>
          </a:p>
        </p:txBody>
      </p:sp>
      <p:sp>
        <p:nvSpPr>
          <p:cNvPr id="15" name="Rectangle 14"/>
          <p:cNvSpPr/>
          <p:nvPr/>
        </p:nvSpPr>
        <p:spPr>
          <a:xfrm>
            <a:off x="320040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00400" y="1371600"/>
            <a:ext cx="54864" cy="30175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1463040"/>
            <a:ext cx="2286000" cy="274320"/>
          </a:xfrm>
          <a:prstGeom prst="rect">
            <a:avLst/>
          </a:prstGeom>
          <a:noFill/>
        </p:spPr>
        <p:txBody>
          <a:bodyPr wrap="square" anchor="t"/>
          <a:lstStyle/>
          <a:p>
            <a:pPr algn="l">
              <a:defRPr sz="1400" b="1">
                <a:solidFill>
                  <a:srgbClr val="FFFFFF"/>
                </a:solidFill>
                <a:latin typeface="Arial"/>
              </a:defRPr>
            </a:pPr>
            <a:r>
              <a:t>Observability (observability/)</a:t>
            </a:r>
          </a:p>
        </p:txBody>
      </p:sp>
      <p:sp>
        <p:nvSpPr>
          <p:cNvPr id="18" name="TextBox 17"/>
          <p:cNvSpPr txBox="1"/>
          <p:nvPr/>
        </p:nvSpPr>
        <p:spPr>
          <a:xfrm>
            <a:off x="3429000" y="1828800"/>
            <a:ext cx="2194560" cy="228600"/>
          </a:xfrm>
          <a:prstGeom prst="rect">
            <a:avLst/>
          </a:prstGeom>
          <a:noFill/>
        </p:spPr>
        <p:txBody>
          <a:bodyPr wrap="square" anchor="t"/>
          <a:lstStyle/>
          <a:p>
            <a:pPr algn="l">
              <a:defRPr sz="1000" b="0">
                <a:solidFill>
                  <a:srgbClr val="CCCCCC"/>
                </a:solidFill>
                <a:latin typeface="Arial"/>
              </a:defRPr>
            </a:pPr>
            <a:r>
              <a:t>- LangFuse integration for traces</a:t>
            </a:r>
          </a:p>
        </p:txBody>
      </p:sp>
      <p:sp>
        <p:nvSpPr>
          <p:cNvPr id="19" name="TextBox 18"/>
          <p:cNvSpPr txBox="1"/>
          <p:nvPr/>
        </p:nvSpPr>
        <p:spPr>
          <a:xfrm>
            <a:off x="3429000" y="2103120"/>
            <a:ext cx="2194560" cy="228600"/>
          </a:xfrm>
          <a:prstGeom prst="rect">
            <a:avLst/>
          </a:prstGeom>
          <a:noFill/>
        </p:spPr>
        <p:txBody>
          <a:bodyPr wrap="square" anchor="t"/>
          <a:lstStyle/>
          <a:p>
            <a:pPr algn="l">
              <a:defRPr sz="1000" b="0">
                <a:solidFill>
                  <a:srgbClr val="CCCCCC"/>
                </a:solidFill>
                <a:latin typeface="Arial"/>
              </a:defRPr>
            </a:pPr>
            <a:r>
              <a:t>- Event emission per tool call</a:t>
            </a:r>
          </a:p>
        </p:txBody>
      </p:sp>
      <p:sp>
        <p:nvSpPr>
          <p:cNvPr id="20" name="TextBox 19"/>
          <p:cNvSpPr txBox="1"/>
          <p:nvPr/>
        </p:nvSpPr>
        <p:spPr>
          <a:xfrm>
            <a:off x="3429000" y="2377440"/>
            <a:ext cx="2194560" cy="228600"/>
          </a:xfrm>
          <a:prstGeom prst="rect">
            <a:avLst/>
          </a:prstGeom>
          <a:noFill/>
        </p:spPr>
        <p:txBody>
          <a:bodyPr wrap="square" anchor="t"/>
          <a:lstStyle/>
          <a:p>
            <a:pPr algn="l">
              <a:defRPr sz="1000" b="0">
                <a:solidFill>
                  <a:srgbClr val="CCCCCC"/>
                </a:solidFill>
                <a:latin typeface="Arial"/>
              </a:defRPr>
            </a:pPr>
            <a:r>
              <a:t>- Router decision logging</a:t>
            </a:r>
          </a:p>
        </p:txBody>
      </p:sp>
      <p:sp>
        <p:nvSpPr>
          <p:cNvPr id="21" name="TextBox 20"/>
          <p:cNvSpPr txBox="1"/>
          <p:nvPr/>
        </p:nvSpPr>
        <p:spPr>
          <a:xfrm>
            <a:off x="3429000" y="2651760"/>
            <a:ext cx="2194560" cy="228600"/>
          </a:xfrm>
          <a:prstGeom prst="rect">
            <a:avLst/>
          </a:prstGeom>
          <a:noFill/>
        </p:spPr>
        <p:txBody>
          <a:bodyPr wrap="square" anchor="t"/>
          <a:lstStyle/>
          <a:p>
            <a:pPr algn="l">
              <a:defRPr sz="1000" b="0">
                <a:solidFill>
                  <a:srgbClr val="CCCCCC"/>
                </a:solidFill>
                <a:latin typeface="Arial"/>
              </a:defRPr>
            </a:pPr>
            <a:r>
              <a:t>- Turn-level status tracking</a:t>
            </a:r>
          </a:p>
        </p:txBody>
      </p:sp>
      <p:sp>
        <p:nvSpPr>
          <p:cNvPr id="22" name="TextBox 21"/>
          <p:cNvSpPr txBox="1"/>
          <p:nvPr/>
        </p:nvSpPr>
        <p:spPr>
          <a:xfrm>
            <a:off x="3429000" y="2926080"/>
            <a:ext cx="2194560" cy="228600"/>
          </a:xfrm>
          <a:prstGeom prst="rect">
            <a:avLst/>
          </a:prstGeom>
          <a:noFill/>
        </p:spPr>
        <p:txBody>
          <a:bodyPr wrap="square" anchor="t"/>
          <a:lstStyle/>
          <a:p>
            <a:pPr algn="l">
              <a:defRPr sz="1000" b="0">
                <a:solidFill>
                  <a:srgbClr val="CCCCCC"/>
                </a:solidFill>
                <a:latin typeface="Arial"/>
              </a:defRPr>
            </a:pPr>
            <a:r>
              <a:t>- SSE progress streaming</a:t>
            </a:r>
          </a:p>
        </p:txBody>
      </p:sp>
      <p:sp>
        <p:nvSpPr>
          <p:cNvPr id="23" name="TextBox 22"/>
          <p:cNvSpPr txBox="1"/>
          <p:nvPr/>
        </p:nvSpPr>
        <p:spPr>
          <a:xfrm>
            <a:off x="3429000" y="3200400"/>
            <a:ext cx="2194560" cy="228600"/>
          </a:xfrm>
          <a:prstGeom prst="rect">
            <a:avLst/>
          </a:prstGeom>
          <a:noFill/>
        </p:spPr>
        <p:txBody>
          <a:bodyPr wrap="square" anchor="t"/>
          <a:lstStyle/>
          <a:p>
            <a:pPr algn="l">
              <a:defRPr sz="1000" b="0">
                <a:solidFill>
                  <a:srgbClr val="CCCCCC"/>
                </a:solidFill>
                <a:latin typeface="Arial"/>
              </a:defRPr>
            </a:pPr>
            <a:r>
              <a:t>- events.jsonl audit trail</a:t>
            </a:r>
          </a:p>
        </p:txBody>
      </p:sp>
      <p:sp>
        <p:nvSpPr>
          <p:cNvPr id="24" name="Rectangle 23"/>
          <p:cNvSpPr/>
          <p:nvPr/>
        </p:nvSpPr>
        <p:spPr>
          <a:xfrm>
            <a:off x="589788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897880" y="1371600"/>
            <a:ext cx="54864" cy="301752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080760" y="1463040"/>
            <a:ext cx="2286000" cy="274320"/>
          </a:xfrm>
          <a:prstGeom prst="rect">
            <a:avLst/>
          </a:prstGeom>
          <a:noFill/>
        </p:spPr>
        <p:txBody>
          <a:bodyPr wrap="square" anchor="t"/>
          <a:lstStyle/>
          <a:p>
            <a:pPr algn="l">
              <a:defRPr sz="1400" b="1">
                <a:solidFill>
                  <a:srgbClr val="FFFFFF"/>
                </a:solidFill>
                <a:latin typeface="Arial"/>
              </a:defRPr>
            </a:pPr>
            <a:r>
              <a:t>Benchmark (benchmark/)</a:t>
            </a:r>
          </a:p>
        </p:txBody>
      </p:sp>
      <p:sp>
        <p:nvSpPr>
          <p:cNvPr id="27" name="TextBox 26"/>
          <p:cNvSpPr txBox="1"/>
          <p:nvPr/>
        </p:nvSpPr>
        <p:spPr>
          <a:xfrm>
            <a:off x="6126480" y="1828800"/>
            <a:ext cx="2194560" cy="228600"/>
          </a:xfrm>
          <a:prstGeom prst="rect">
            <a:avLst/>
          </a:prstGeom>
          <a:noFill/>
        </p:spPr>
        <p:txBody>
          <a:bodyPr wrap="square" anchor="t"/>
          <a:lstStyle/>
          <a:p>
            <a:pPr algn="l">
              <a:defRPr sz="1000" b="0">
                <a:solidFill>
                  <a:srgbClr val="CCCCCC"/>
                </a:solidFill>
                <a:latin typeface="Arial"/>
              </a:defRPr>
            </a:pPr>
            <a:r>
              <a:t>- Performance benchmarking suite</a:t>
            </a:r>
          </a:p>
        </p:txBody>
      </p:sp>
      <p:sp>
        <p:nvSpPr>
          <p:cNvPr id="28" name="TextBox 27"/>
          <p:cNvSpPr txBox="1"/>
          <p:nvPr/>
        </p:nvSpPr>
        <p:spPr>
          <a:xfrm>
            <a:off x="6126480" y="2103120"/>
            <a:ext cx="2194560" cy="228600"/>
          </a:xfrm>
          <a:prstGeom prst="rect">
            <a:avLst/>
          </a:prstGeom>
          <a:noFill/>
        </p:spPr>
        <p:txBody>
          <a:bodyPr wrap="square" anchor="t"/>
          <a:lstStyle/>
          <a:p>
            <a:pPr algn="l">
              <a:defRPr sz="1000" b="0">
                <a:solidFill>
                  <a:srgbClr val="CCCCCC"/>
                </a:solidFill>
                <a:latin typeface="Arial"/>
              </a:defRPr>
            </a:pPr>
            <a:r>
              <a:t>- Defense RAG test corpus</a:t>
            </a:r>
          </a:p>
        </p:txBody>
      </p:sp>
      <p:sp>
        <p:nvSpPr>
          <p:cNvPr id="29" name="TextBox 28"/>
          <p:cNvSpPr txBox="1"/>
          <p:nvPr/>
        </p:nvSpPr>
        <p:spPr>
          <a:xfrm>
            <a:off x="6126480" y="2377440"/>
            <a:ext cx="2194560" cy="228600"/>
          </a:xfrm>
          <a:prstGeom prst="rect">
            <a:avLst/>
          </a:prstGeom>
          <a:noFill/>
        </p:spPr>
        <p:txBody>
          <a:bodyPr wrap="square" anchor="t"/>
          <a:lstStyle/>
          <a:p>
            <a:pPr algn="l">
              <a:defRPr sz="1000" b="0">
                <a:solidFill>
                  <a:srgbClr val="CCCCCC"/>
                </a:solidFill>
                <a:latin typeface="Arial"/>
              </a:defRPr>
            </a:pPr>
            <a:r>
              <a:t>- Adversarial prompt testing</a:t>
            </a:r>
          </a:p>
        </p:txBody>
      </p:sp>
      <p:sp>
        <p:nvSpPr>
          <p:cNvPr id="30" name="TextBox 29"/>
          <p:cNvSpPr txBox="1"/>
          <p:nvPr/>
        </p:nvSpPr>
        <p:spPr>
          <a:xfrm>
            <a:off x="6126480" y="2651760"/>
            <a:ext cx="2194560" cy="228600"/>
          </a:xfrm>
          <a:prstGeom prst="rect">
            <a:avLst/>
          </a:prstGeom>
          <a:noFill/>
        </p:spPr>
        <p:txBody>
          <a:bodyPr wrap="square" anchor="t"/>
          <a:lstStyle/>
          <a:p>
            <a:pPr algn="l">
              <a:defRPr sz="1000" b="0">
                <a:solidFill>
                  <a:srgbClr val="CCCCCC"/>
                </a:solidFill>
                <a:latin typeface="Arial"/>
              </a:defRPr>
            </a:pPr>
            <a:r>
              <a:t>- Regression detection</a:t>
            </a:r>
          </a:p>
        </p:txBody>
      </p:sp>
      <p:sp>
        <p:nvSpPr>
          <p:cNvPr id="31" name="TextBox 30"/>
          <p:cNvSpPr txBox="1"/>
          <p:nvPr/>
        </p:nvSpPr>
        <p:spPr>
          <a:xfrm>
            <a:off x="6126480" y="2926080"/>
            <a:ext cx="2194560" cy="228600"/>
          </a:xfrm>
          <a:prstGeom prst="rect">
            <a:avLst/>
          </a:prstGeom>
          <a:noFill/>
        </p:spPr>
        <p:txBody>
          <a:bodyPr wrap="square" anchor="t"/>
          <a:lstStyle/>
          <a:p>
            <a:pPr algn="l">
              <a:defRPr sz="1000" b="0">
                <a:solidFill>
                  <a:srgbClr val="CCCCCC"/>
                </a:solidFill>
                <a:latin typeface="Arial"/>
              </a:defRPr>
            </a:pPr>
            <a:r>
              <a:t>- Latency profiling per tool</a:t>
            </a:r>
          </a:p>
        </p:txBody>
      </p:sp>
      <p:sp>
        <p:nvSpPr>
          <p:cNvPr id="32" name="TextBox 31"/>
          <p:cNvSpPr txBox="1"/>
          <p:nvPr/>
        </p:nvSpPr>
        <p:spPr>
          <a:xfrm>
            <a:off x="6126480" y="3200400"/>
            <a:ext cx="2194560" cy="228600"/>
          </a:xfrm>
          <a:prstGeom prst="rect">
            <a:avLst/>
          </a:prstGeom>
          <a:noFill/>
        </p:spPr>
        <p:txBody>
          <a:bodyPr wrap="square" anchor="t"/>
          <a:lstStyle/>
          <a:p>
            <a:pPr algn="l">
              <a:defRPr sz="1000" b="0">
                <a:solidFill>
                  <a:srgbClr val="CCCCCC"/>
                </a:solidFill>
                <a:latin typeface="Arial"/>
              </a:defRPr>
            </a:pPr>
            <a:r>
              <a:t>- Token cost analysis</a:t>
            </a:r>
          </a:p>
        </p:txBody>
      </p:sp>
      <p:sp>
        <p:nvSpPr>
          <p:cNvPr id="33" name="TextBox 32"/>
          <p:cNvSpPr txBox="1"/>
          <p:nvPr/>
        </p:nvSpPr>
        <p:spPr>
          <a:xfrm>
            <a:off x="502920" y="4572000"/>
            <a:ext cx="8138160" cy="365760"/>
          </a:xfrm>
          <a:prstGeom prst="rect">
            <a:avLst/>
          </a:prstGeom>
          <a:noFill/>
        </p:spPr>
        <p:txBody>
          <a:bodyPr wrap="square" anchor="t"/>
          <a:lstStyle/>
          <a:p>
            <a:pPr algn="l">
              <a:defRPr sz="1000" b="0">
                <a:solidFill>
                  <a:srgbClr val="888888"/>
                </a:solidFill>
                <a:latin typeface="Arial"/>
              </a:defRPr>
            </a:pPr>
            <a:r>
              <a:t>Sandbox: 180s timeout, isolated Docker containers. Control Panel Frontend: React/TypeScript (Vite) at /control_panel/.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Top-Level Repository Map</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repo is organized into 8 major top-level areas. Every feature you want to change lives in one of these directories.</a:t>
            </a:r>
            <a:endParaRPr lang="en-US" sz="1050" dirty="0"/>
          </a:p>
        </p:txBody>
      </p:sp>
      <p:sp>
        <p:nvSpPr>
          <p:cNvPr id="4" name="Shape 2"/>
          <p:cNvSpPr/>
          <p:nvPr/>
        </p:nvSpPr>
        <p:spPr>
          <a:xfrm>
            <a:off x="502920" y="1261872"/>
            <a:ext cx="2926080" cy="384048"/>
          </a:xfrm>
          <a:prstGeom prst="rect">
            <a:avLst/>
          </a:prstGeom>
          <a:solidFill>
            <a:srgbClr val="0097A7"/>
          </a:solidFill>
          <a:ln/>
        </p:spPr>
        <p:txBody>
          <a:bodyPr/>
          <a:lstStyle/>
          <a:p>
            <a:endParaRPr lang="en-US"/>
          </a:p>
        </p:txBody>
      </p:sp>
      <p:sp>
        <p:nvSpPr>
          <p:cNvPr id="5" name="Text 3"/>
          <p:cNvSpPr/>
          <p:nvPr/>
        </p:nvSpPr>
        <p:spPr>
          <a:xfrm>
            <a:off x="594360" y="12618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src/agentic_chatbot_next/</a:t>
            </a:r>
            <a:endParaRPr lang="en-US" sz="950" dirty="0"/>
          </a:p>
        </p:txBody>
      </p:sp>
      <p:sp>
        <p:nvSpPr>
          <p:cNvPr id="6" name="Shape 4"/>
          <p:cNvSpPr/>
          <p:nvPr/>
        </p:nvSpPr>
        <p:spPr>
          <a:xfrm>
            <a:off x="3429000" y="1261872"/>
            <a:ext cx="5212080" cy="38404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520440" y="12618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Python backend: agents, RAG, runtime, tools, skills, providers, control panel API. 133 files, 27 modules. THE main codebase.</a:t>
            </a:r>
            <a:endParaRPr lang="en-US" sz="900" dirty="0"/>
          </a:p>
        </p:txBody>
      </p:sp>
      <p:sp>
        <p:nvSpPr>
          <p:cNvPr id="8" name="Shape 6"/>
          <p:cNvSpPr/>
          <p:nvPr/>
        </p:nvSpPr>
        <p:spPr>
          <a:xfrm>
            <a:off x="502920" y="1673352"/>
            <a:ext cx="2926080" cy="384048"/>
          </a:xfrm>
          <a:prstGeom prst="rect">
            <a:avLst/>
          </a:prstGeom>
          <a:solidFill>
            <a:srgbClr val="1B2A4A"/>
          </a:solidFill>
          <a:ln/>
        </p:spPr>
        <p:txBody>
          <a:bodyPr/>
          <a:lstStyle/>
          <a:p>
            <a:endParaRPr lang="en-US"/>
          </a:p>
        </p:txBody>
      </p:sp>
      <p:sp>
        <p:nvSpPr>
          <p:cNvPr id="9" name="Text 7"/>
          <p:cNvSpPr/>
          <p:nvPr/>
        </p:nvSpPr>
        <p:spPr>
          <a:xfrm>
            <a:off x="594360" y="16733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frontend/</a:t>
            </a:r>
            <a:endParaRPr lang="en-US" sz="950" dirty="0"/>
          </a:p>
        </p:txBody>
      </p:sp>
      <p:sp>
        <p:nvSpPr>
          <p:cNvPr id="10" name="Shape 8"/>
          <p:cNvSpPr/>
          <p:nvPr/>
        </p:nvSpPr>
        <p:spPr>
          <a:xfrm>
            <a:off x="3429000" y="1673352"/>
            <a:ext cx="5212080" cy="384048"/>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3520440" y="16733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chat UI. Components: ChatWindow, MessageBubble, AgentStatusPanel, FileUpload, ChatInput. Vite build.</a:t>
            </a:r>
            <a:endParaRPr lang="en-US" sz="900" dirty="0"/>
          </a:p>
        </p:txBody>
      </p:sp>
      <p:sp>
        <p:nvSpPr>
          <p:cNvPr id="12" name="Shape 10"/>
          <p:cNvSpPr/>
          <p:nvPr/>
        </p:nvSpPr>
        <p:spPr>
          <a:xfrm>
            <a:off x="502920" y="2084832"/>
            <a:ext cx="2926080" cy="384048"/>
          </a:xfrm>
          <a:prstGeom prst="rect">
            <a:avLst/>
          </a:prstGeom>
          <a:solidFill>
            <a:srgbClr val="00796B"/>
          </a:solidFill>
          <a:ln/>
        </p:spPr>
        <p:txBody>
          <a:bodyPr/>
          <a:lstStyle/>
          <a:p>
            <a:endParaRPr lang="en-US"/>
          </a:p>
        </p:txBody>
      </p:sp>
      <p:sp>
        <p:nvSpPr>
          <p:cNvPr id="13" name="Text 11"/>
          <p:cNvSpPr/>
          <p:nvPr/>
        </p:nvSpPr>
        <p:spPr>
          <a:xfrm>
            <a:off x="594360" y="20848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control_panel/</a:t>
            </a:r>
            <a:endParaRPr lang="en-US" sz="950" dirty="0"/>
          </a:p>
        </p:txBody>
      </p:sp>
      <p:sp>
        <p:nvSpPr>
          <p:cNvPr id="14" name="Shape 12"/>
          <p:cNvSpPr/>
          <p:nvPr/>
        </p:nvSpPr>
        <p:spPr>
          <a:xfrm>
            <a:off x="3429000" y="2084832"/>
            <a:ext cx="521208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520440" y="20848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admin UI (109KB App.tsx). System overview, agent/prompt editor, KB management, job monitor, audit log.</a:t>
            </a:r>
            <a:endParaRPr lang="en-US" sz="900" dirty="0"/>
          </a:p>
        </p:txBody>
      </p:sp>
      <p:sp>
        <p:nvSpPr>
          <p:cNvPr id="16" name="Shape 14"/>
          <p:cNvSpPr/>
          <p:nvPr/>
        </p:nvSpPr>
        <p:spPr>
          <a:xfrm>
            <a:off x="502920" y="2496312"/>
            <a:ext cx="2926080" cy="384048"/>
          </a:xfrm>
          <a:prstGeom prst="rect">
            <a:avLst/>
          </a:prstGeom>
          <a:solidFill>
            <a:srgbClr val="F9A825"/>
          </a:solidFill>
          <a:ln/>
        </p:spPr>
        <p:txBody>
          <a:bodyPr/>
          <a:lstStyle/>
          <a:p>
            <a:endParaRPr lang="en-US"/>
          </a:p>
        </p:txBody>
      </p:sp>
      <p:sp>
        <p:nvSpPr>
          <p:cNvPr id="17" name="Text 15"/>
          <p:cNvSpPr/>
          <p:nvPr/>
        </p:nvSpPr>
        <p:spPr>
          <a:xfrm>
            <a:off x="594360" y="249631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data/</a:t>
            </a:r>
            <a:endParaRPr lang="en-US" sz="950" dirty="0"/>
          </a:p>
        </p:txBody>
      </p:sp>
      <p:sp>
        <p:nvSpPr>
          <p:cNvPr id="18" name="Shape 16"/>
          <p:cNvSpPr/>
          <p:nvPr/>
        </p:nvSpPr>
        <p:spPr>
          <a:xfrm>
            <a:off x="3429000" y="2496312"/>
            <a:ext cx="5212080" cy="384048"/>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3520440" y="249631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Runtime data: agents/*.md, skills/*.md, skill_packs/ (49 packs), prompts/, kb/ (18 collections), workspaces/, memory/, control_panel/overlays/.</a:t>
            </a:r>
            <a:endParaRPr lang="en-US" sz="900" dirty="0"/>
          </a:p>
        </p:txBody>
      </p:sp>
      <p:sp>
        <p:nvSpPr>
          <p:cNvPr id="20" name="Shape 18"/>
          <p:cNvSpPr/>
          <p:nvPr/>
        </p:nvSpPr>
        <p:spPr>
          <a:xfrm>
            <a:off x="502920" y="2907792"/>
            <a:ext cx="2926080" cy="384048"/>
          </a:xfrm>
          <a:prstGeom prst="rect">
            <a:avLst/>
          </a:prstGeom>
          <a:solidFill>
            <a:srgbClr val="1B2A4A"/>
          </a:solidFill>
          <a:ln/>
        </p:spPr>
        <p:txBody>
          <a:bodyPr/>
          <a:lstStyle/>
          <a:p>
            <a:endParaRPr lang="en-US"/>
          </a:p>
        </p:txBody>
      </p:sp>
      <p:sp>
        <p:nvSpPr>
          <p:cNvPr id="21" name="Text 19"/>
          <p:cNvSpPr/>
          <p:nvPr/>
        </p:nvSpPr>
        <p:spPr>
          <a:xfrm>
            <a:off x="594360" y="290779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new_demo_notebook/</a:t>
            </a:r>
            <a:endParaRPr lang="en-US" sz="950" dirty="0"/>
          </a:p>
        </p:txBody>
      </p:sp>
      <p:sp>
        <p:nvSpPr>
          <p:cNvPr id="22" name="Shape 20"/>
          <p:cNvSpPr/>
          <p:nvPr/>
        </p:nvSpPr>
        <p:spPr>
          <a:xfrm>
            <a:off x="3429000" y="2907792"/>
            <a:ext cx="521208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520440" y="290779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Jupyter notebook (agentic_system_showcase.ipynb) + lib/ helpers. Drives the live API — no private imports. Full scenario coverage.</a:t>
            </a:r>
            <a:endParaRPr lang="en-US" sz="900" dirty="0"/>
          </a:p>
        </p:txBody>
      </p:sp>
      <p:sp>
        <p:nvSpPr>
          <p:cNvPr id="24" name="Shape 22"/>
          <p:cNvSpPr/>
          <p:nvPr/>
        </p:nvSpPr>
        <p:spPr>
          <a:xfrm>
            <a:off x="502920" y="3319272"/>
            <a:ext cx="2926080" cy="384048"/>
          </a:xfrm>
          <a:prstGeom prst="rect">
            <a:avLst/>
          </a:prstGeom>
          <a:solidFill>
            <a:srgbClr val="00796B"/>
          </a:solidFill>
          <a:ln/>
        </p:spPr>
        <p:txBody>
          <a:bodyPr/>
          <a:lstStyle/>
          <a:p>
            <a:endParaRPr lang="en-US"/>
          </a:p>
        </p:txBody>
      </p:sp>
      <p:sp>
        <p:nvSpPr>
          <p:cNvPr id="25" name="Text 23"/>
          <p:cNvSpPr/>
          <p:nvPr/>
        </p:nvSpPr>
        <p:spPr>
          <a:xfrm>
            <a:off x="594360" y="33192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docs/</a:t>
            </a:r>
            <a:endParaRPr lang="en-US" sz="950" dirty="0"/>
          </a:p>
        </p:txBody>
      </p:sp>
      <p:sp>
        <p:nvSpPr>
          <p:cNvPr id="26" name="Shape 24"/>
          <p:cNvSpPr/>
          <p:nvPr/>
        </p:nvSpPr>
        <p:spPr>
          <a:xfrm>
            <a:off x="3429000" y="3319272"/>
            <a:ext cx="5212080" cy="384048"/>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3520440" y="33192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24 architecture docs: ARCHITECTURE.md, CONTROL_FLOW.md, RAG_AGENT_DESIGN.md, TOOLS_AND_TOOL_CALLING.md, PROVIDERS.md, and more.</a:t>
            </a:r>
            <a:endParaRPr lang="en-US" sz="900" dirty="0"/>
          </a:p>
        </p:txBody>
      </p:sp>
      <p:sp>
        <p:nvSpPr>
          <p:cNvPr id="28" name="Shape 26"/>
          <p:cNvSpPr/>
          <p:nvPr/>
        </p:nvSpPr>
        <p:spPr>
          <a:xfrm>
            <a:off x="502920" y="3730752"/>
            <a:ext cx="2926080" cy="384048"/>
          </a:xfrm>
          <a:prstGeom prst="rect">
            <a:avLst/>
          </a:prstGeom>
          <a:solidFill>
            <a:srgbClr val="999999"/>
          </a:solidFill>
          <a:ln/>
        </p:spPr>
        <p:txBody>
          <a:bodyPr/>
          <a:lstStyle/>
          <a:p>
            <a:endParaRPr lang="en-US"/>
          </a:p>
        </p:txBody>
      </p:sp>
      <p:sp>
        <p:nvSpPr>
          <p:cNvPr id="29" name="Text 27"/>
          <p:cNvSpPr/>
          <p:nvPr/>
        </p:nvSpPr>
        <p:spPr>
          <a:xfrm>
            <a:off x="594360" y="37307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docker/</a:t>
            </a:r>
            <a:endParaRPr lang="en-US" sz="950" dirty="0"/>
          </a:p>
        </p:txBody>
      </p:sp>
      <p:sp>
        <p:nvSpPr>
          <p:cNvPr id="30" name="Shape 28"/>
          <p:cNvSpPr/>
          <p:nvPr/>
        </p:nvSpPr>
        <p:spPr>
          <a:xfrm>
            <a:off x="3429000" y="3730752"/>
            <a:ext cx="5212080" cy="38404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3520440" y="37307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sandbox.Dockerfile (Python 3.12-slim for code execution). Main Dockerfile at repo root (multi-stage: Node.js → Python).</a:t>
            </a:r>
            <a:endParaRPr lang="en-US" sz="900" dirty="0"/>
          </a:p>
        </p:txBody>
      </p:sp>
      <p:sp>
        <p:nvSpPr>
          <p:cNvPr id="32" name="Shape 30"/>
          <p:cNvSpPr/>
          <p:nvPr/>
        </p:nvSpPr>
        <p:spPr>
          <a:xfrm>
            <a:off x="502920" y="4142232"/>
            <a:ext cx="2926080" cy="384048"/>
          </a:xfrm>
          <a:prstGeom prst="rect">
            <a:avLst/>
          </a:prstGeom>
          <a:solidFill>
            <a:srgbClr val="999999"/>
          </a:solidFill>
          <a:ln/>
        </p:spPr>
        <p:txBody>
          <a:bodyPr/>
          <a:lstStyle/>
          <a:p>
            <a:endParaRPr lang="en-US"/>
          </a:p>
        </p:txBody>
      </p:sp>
      <p:sp>
        <p:nvSpPr>
          <p:cNvPr id="33" name="Text 31"/>
          <p:cNvSpPr/>
          <p:nvPr/>
        </p:nvSpPr>
        <p:spPr>
          <a:xfrm>
            <a:off x="594360" y="41422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deployment/</a:t>
            </a:r>
            <a:endParaRPr lang="en-US" sz="950" dirty="0"/>
          </a:p>
        </p:txBody>
      </p:sp>
      <p:sp>
        <p:nvSpPr>
          <p:cNvPr id="34" name="Shape 32"/>
          <p:cNvSpPr/>
          <p:nvPr/>
        </p:nvSpPr>
        <p:spPr>
          <a:xfrm>
            <a:off x="3429000" y="4142232"/>
            <a:ext cx="5212080" cy="384048"/>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3520440" y="41422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OpenWebUI integration files. docker-compose.yml at repo root defines 6 services (postgres, ollama, app, openwebui, bootstrap).</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Repository root: Dockerfile, docker-compose.yml, requirements.txt, .env.example, run.py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Frontend — React Chat UI (frontend/)</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React 18 + TypeScript + Vite. The user-facing chat interface. Communicates with the backend via the OpenAI-compatible /v1/chat/completions SSE endpoint.</a:t>
            </a:r>
            <a:endParaRPr lang="en-US" sz="1050" dirty="0"/>
          </a:p>
        </p:txBody>
      </p:sp>
      <p:sp>
        <p:nvSpPr>
          <p:cNvPr id="4" name="Shape 2"/>
          <p:cNvSpPr/>
          <p:nvPr/>
        </p:nvSpPr>
        <p:spPr>
          <a:xfrm>
            <a:off x="502920" y="1261872"/>
            <a:ext cx="4023360" cy="23774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Key Source Files (frontend/src/)</a:t>
            </a:r>
            <a:endParaRPr lang="en-US" sz="1200" dirty="0"/>
          </a:p>
        </p:txBody>
      </p:sp>
      <p:sp>
        <p:nvSpPr>
          <p:cNvPr id="7" name="Text 5"/>
          <p:cNvSpPr/>
          <p:nvPr/>
        </p:nvSpPr>
        <p:spPr>
          <a:xfrm>
            <a:off x="612648" y="1645920"/>
            <a:ext cx="3803904" cy="19019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App.tsx — root component, routing, global state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types.ts — Message, Agent, FileRef, SessionInfo types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API client (chat, upload, skills endpoints)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hooks/ — custom React hooks (useChat, useSession...)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components/ChatWindow.tsx — message list + scroll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components/MessageBubble.tsx — renders markdown, citations, artifacts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components/AgentStatusPanel.tsx — real-time agent progress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components/FileUpload.tsx — drag-drop upload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components/ChatInput.tsx — input form, skill selection</a:t>
            </a:r>
            <a:endParaRPr lang="en-US" sz="1000" dirty="0"/>
          </a:p>
        </p:txBody>
      </p:sp>
      <p:sp>
        <p:nvSpPr>
          <p:cNvPr id="8" name="Shape 6"/>
          <p:cNvSpPr/>
          <p:nvPr/>
        </p:nvSpPr>
        <p:spPr>
          <a:xfrm>
            <a:off x="4709160" y="1261872"/>
            <a:ext cx="4434840" cy="12801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Tech Stack</a:t>
            </a:r>
            <a:endParaRPr lang="en-US" sz="1200" dirty="0"/>
          </a:p>
        </p:txBody>
      </p:sp>
      <p:sp>
        <p:nvSpPr>
          <p:cNvPr id="11" name="Text 9"/>
          <p:cNvSpPr/>
          <p:nvPr/>
        </p:nvSpPr>
        <p:spPr>
          <a:xfrm>
            <a:off x="4818888" y="1645920"/>
            <a:ext cx="4215384" cy="8046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 18.3 + TypeScript 5.5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 5.4 (build tool, HMR for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react-markdown (message rendering)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Vitest (unit tests)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npm run build → dist/ (served by FastAPI static files)</a:t>
            </a:r>
            <a:endParaRPr lang="en-US" sz="1000" dirty="0"/>
          </a:p>
        </p:txBody>
      </p:sp>
      <p:sp>
        <p:nvSpPr>
          <p:cNvPr id="12" name="Shape 10"/>
          <p:cNvSpPr/>
          <p:nvPr/>
        </p:nvSpPr>
        <p:spPr>
          <a:xfrm>
            <a:off x="4709160" y="2633472"/>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633472"/>
            <a:ext cx="4434840" cy="320040"/>
          </a:xfrm>
          <a:prstGeom prst="rect">
            <a:avLst/>
          </a:prstGeom>
          <a:solidFill>
            <a:srgbClr val="00796B"/>
          </a:solidFill>
          <a:ln/>
        </p:spPr>
        <p:txBody>
          <a:bodyPr/>
          <a:lstStyle/>
          <a:p>
            <a:endParaRPr lang="en-US"/>
          </a:p>
        </p:txBody>
      </p:sp>
      <p:sp>
        <p:nvSpPr>
          <p:cNvPr id="14" name="Text 12"/>
          <p:cNvSpPr/>
          <p:nvPr/>
        </p:nvSpPr>
        <p:spPr>
          <a:xfrm>
            <a:off x="4818888" y="26609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If You Need to Change the UI</a:t>
            </a:r>
            <a:endParaRPr lang="en-US" sz="1200" dirty="0"/>
          </a:p>
        </p:txBody>
      </p:sp>
      <p:sp>
        <p:nvSpPr>
          <p:cNvPr id="15" name="Text 13"/>
          <p:cNvSpPr/>
          <p:nvPr/>
        </p:nvSpPr>
        <p:spPr>
          <a:xfrm>
            <a:off x="4818888" y="3017520"/>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npm install → npm run dev for local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AgentStatusPanel.tsx — change progress display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MessageBubble.tsx — change how messages render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change API calls (model name, headers, etc.)</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frontend/src/ — App.tsx, types.ts, components/, api/, hooks/ | frontend/package.json — React 18, Vite 5, TypeScript 5</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UI — Admin React App (control_panel/)</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Separate React 18 + TypeScript admin application. Talks to the /v1/admin API with X-Admin-Token auth. Purpose: review system health and make controlled runtime changes without touching files or restarting.</a:t>
            </a:r>
            <a:endParaRPr lang="en-US" sz="1050" dirty="0"/>
          </a:p>
        </p:txBody>
      </p:sp>
      <p:sp>
        <p:nvSpPr>
          <p:cNvPr id="4" name="Shape 2"/>
          <p:cNvSpPr/>
          <p:nvPr/>
        </p:nvSpPr>
        <p:spPr>
          <a:xfrm>
            <a:off x="502920" y="1353312"/>
            <a:ext cx="2590800" cy="292608"/>
          </a:xfrm>
          <a:prstGeom prst="rect">
            <a:avLst/>
          </a:prstGeom>
          <a:solidFill>
            <a:srgbClr val="0097A7"/>
          </a:solidFill>
          <a:ln/>
        </p:spPr>
        <p:txBody>
          <a:bodyPr/>
          <a:lstStyle/>
          <a:p>
            <a:endParaRPr lang="en-US"/>
          </a:p>
        </p:txBody>
      </p:sp>
      <p:sp>
        <p:nvSpPr>
          <p:cNvPr id="5" name="Text 3"/>
          <p:cNvSpPr/>
          <p:nvPr/>
        </p:nvSpPr>
        <p:spPr>
          <a:xfrm>
            <a:off x="55778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System Overview</a:t>
            </a:r>
            <a:endParaRPr lang="en-US" sz="1000" dirty="0"/>
          </a:p>
        </p:txBody>
      </p:sp>
      <p:sp>
        <p:nvSpPr>
          <p:cNvPr id="6" name="Shape 4"/>
          <p:cNvSpPr/>
          <p:nvPr/>
        </p:nvSpPr>
        <p:spPr>
          <a:xfrm>
            <a:off x="50292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5778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Settings snapshot, provider status, operation history, architecture visualization (architectureLayout.ts renders component graph)</a:t>
            </a:r>
            <a:endParaRPr lang="en-US" sz="900" dirty="0"/>
          </a:p>
        </p:txBody>
      </p:sp>
      <p:sp>
        <p:nvSpPr>
          <p:cNvPr id="8" name="Shape 6"/>
          <p:cNvSpPr/>
          <p:nvPr/>
        </p:nvSpPr>
        <p:spPr>
          <a:xfrm>
            <a:off x="3276600" y="1353312"/>
            <a:ext cx="2590800" cy="292608"/>
          </a:xfrm>
          <a:prstGeom prst="rect">
            <a:avLst/>
          </a:prstGeom>
          <a:solidFill>
            <a:srgbClr val="1B2A4A"/>
          </a:solidFill>
          <a:ln/>
        </p:spPr>
        <p:txBody>
          <a:bodyPr/>
          <a:lstStyle/>
          <a:p>
            <a:endParaRPr lang="en-US"/>
          </a:p>
        </p:txBody>
      </p:sp>
      <p:sp>
        <p:nvSpPr>
          <p:cNvPr id="9" name="Text 7"/>
          <p:cNvSpPr/>
          <p:nvPr/>
        </p:nvSpPr>
        <p:spPr>
          <a:xfrm>
            <a:off x="333146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Agent Editor</a:t>
            </a:r>
            <a:endParaRPr lang="en-US" sz="1000" dirty="0"/>
          </a:p>
        </p:txBody>
      </p:sp>
      <p:sp>
        <p:nvSpPr>
          <p:cNvPr id="10" name="Shape 8"/>
          <p:cNvSpPr/>
          <p:nvPr/>
        </p:nvSpPr>
        <p:spPr>
          <a:xfrm>
            <a:off x="327660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146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View all agent definitions. Edit fields (mode, max_steps, allowed_tools) via PUT /agents/{name}. Changes persist via OverlayStore.</a:t>
            </a:r>
            <a:endParaRPr lang="en-US" sz="900" dirty="0"/>
          </a:p>
        </p:txBody>
      </p:sp>
      <p:sp>
        <p:nvSpPr>
          <p:cNvPr id="12" name="Shape 10"/>
          <p:cNvSpPr/>
          <p:nvPr/>
        </p:nvSpPr>
        <p:spPr>
          <a:xfrm>
            <a:off x="6050280" y="1353312"/>
            <a:ext cx="2590800" cy="292608"/>
          </a:xfrm>
          <a:prstGeom prst="rect">
            <a:avLst/>
          </a:prstGeom>
          <a:solidFill>
            <a:srgbClr val="00796B"/>
          </a:solidFill>
          <a:ln/>
        </p:spPr>
        <p:txBody>
          <a:bodyPr/>
          <a:lstStyle/>
          <a:p>
            <a:endParaRPr lang="en-US"/>
          </a:p>
        </p:txBody>
      </p:sp>
      <p:sp>
        <p:nvSpPr>
          <p:cNvPr id="13" name="Text 11"/>
          <p:cNvSpPr/>
          <p:nvPr/>
        </p:nvSpPr>
        <p:spPr>
          <a:xfrm>
            <a:off x="610514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Prompt Editor</a:t>
            </a:r>
            <a:endParaRPr lang="en-US" sz="1000" dirty="0"/>
          </a:p>
        </p:txBody>
      </p:sp>
      <p:sp>
        <p:nvSpPr>
          <p:cNvPr id="14" name="Shape 12"/>
          <p:cNvSpPr/>
          <p:nvPr/>
        </p:nvSpPr>
        <p:spPr>
          <a:xfrm>
            <a:off x="605028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10514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Read and edit system prompt files. PUT /prompts/{file} writes overlay. Reload button triggers agent re-init via POST /agents/reload.</a:t>
            </a:r>
            <a:endParaRPr lang="en-US" sz="900" dirty="0"/>
          </a:p>
        </p:txBody>
      </p:sp>
      <p:sp>
        <p:nvSpPr>
          <p:cNvPr id="16" name="Shape 14"/>
          <p:cNvSpPr/>
          <p:nvPr/>
        </p:nvSpPr>
        <p:spPr>
          <a:xfrm>
            <a:off x="502920" y="2633472"/>
            <a:ext cx="2590800" cy="292608"/>
          </a:xfrm>
          <a:prstGeom prst="rect">
            <a:avLst/>
          </a:prstGeom>
          <a:solidFill>
            <a:srgbClr val="F9A825"/>
          </a:solidFill>
          <a:ln/>
        </p:spPr>
        <p:txBody>
          <a:bodyPr/>
          <a:lstStyle/>
          <a:p>
            <a:endParaRPr lang="en-US"/>
          </a:p>
        </p:txBody>
      </p:sp>
      <p:sp>
        <p:nvSpPr>
          <p:cNvPr id="17" name="Text 15"/>
          <p:cNvSpPr/>
          <p:nvPr/>
        </p:nvSpPr>
        <p:spPr>
          <a:xfrm>
            <a:off x="55778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KB / Collections</a:t>
            </a:r>
            <a:endParaRPr lang="en-US" sz="1000" dirty="0"/>
          </a:p>
        </p:txBody>
      </p:sp>
      <p:sp>
        <p:nvSpPr>
          <p:cNvPr id="18" name="Shape 16"/>
          <p:cNvSpPr/>
          <p:nvPr/>
        </p:nvSpPr>
        <p:spPr>
          <a:xfrm>
            <a:off x="50292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5778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collections and documents. POST /{id}/sync, POST /{id}/ingest-paths, POST /{id}/upload. View/delete individual documents.</a:t>
            </a:r>
            <a:endParaRPr lang="en-US" sz="900" dirty="0"/>
          </a:p>
        </p:txBody>
      </p:sp>
      <p:sp>
        <p:nvSpPr>
          <p:cNvPr id="20" name="Shape 18"/>
          <p:cNvSpPr/>
          <p:nvPr/>
        </p:nvSpPr>
        <p:spPr>
          <a:xfrm>
            <a:off x="3276600" y="2633472"/>
            <a:ext cx="2590800" cy="292608"/>
          </a:xfrm>
          <a:prstGeom prst="rect">
            <a:avLst/>
          </a:prstGeom>
          <a:solidFill>
            <a:srgbClr val="0097A7"/>
          </a:solidFill>
          <a:ln/>
        </p:spPr>
        <p:txBody>
          <a:bodyPr/>
          <a:lstStyle/>
          <a:p>
            <a:endParaRPr lang="en-US"/>
          </a:p>
        </p:txBody>
      </p:sp>
      <p:sp>
        <p:nvSpPr>
          <p:cNvPr id="21" name="Text 19"/>
          <p:cNvSpPr/>
          <p:nvPr/>
        </p:nvSpPr>
        <p:spPr>
          <a:xfrm>
            <a:off x="333146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Job Monitor</a:t>
            </a:r>
            <a:endParaRPr lang="en-US" sz="1000" dirty="0"/>
          </a:p>
        </p:txBody>
      </p:sp>
      <p:sp>
        <p:nvSpPr>
          <p:cNvPr id="22" name="Shape 20"/>
          <p:cNvSpPr/>
          <p:nvPr/>
        </p:nvSpPr>
        <p:spPr>
          <a:xfrm>
            <a:off x="327660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33146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background jobs (GET /operations). View status, transcript, and result of each coordinator worker task.</a:t>
            </a:r>
            <a:endParaRPr lang="en-US" sz="900" dirty="0"/>
          </a:p>
        </p:txBody>
      </p:sp>
      <p:sp>
        <p:nvSpPr>
          <p:cNvPr id="24" name="Shape 22"/>
          <p:cNvSpPr/>
          <p:nvPr/>
        </p:nvSpPr>
        <p:spPr>
          <a:xfrm>
            <a:off x="6050280" y="2633472"/>
            <a:ext cx="2590800" cy="292608"/>
          </a:xfrm>
          <a:prstGeom prst="rect">
            <a:avLst/>
          </a:prstGeom>
          <a:solidFill>
            <a:srgbClr val="1B2A4A"/>
          </a:solidFill>
          <a:ln/>
        </p:spPr>
        <p:txBody>
          <a:bodyPr/>
          <a:lstStyle/>
          <a:p>
            <a:endParaRPr lang="en-US"/>
          </a:p>
        </p:txBody>
      </p:sp>
      <p:sp>
        <p:nvSpPr>
          <p:cNvPr id="25" name="Text 23"/>
          <p:cNvSpPr/>
          <p:nvPr/>
        </p:nvSpPr>
        <p:spPr>
          <a:xfrm>
            <a:off x="610514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Config / Audit</a:t>
            </a:r>
            <a:endParaRPr lang="en-US" sz="1000" dirty="0"/>
          </a:p>
        </p:txBody>
      </p:sp>
      <p:sp>
        <p:nvSpPr>
          <p:cNvPr id="26" name="Shape 24"/>
          <p:cNvSpPr/>
          <p:nvPr/>
        </p:nvSpPr>
        <p:spPr>
          <a:xfrm>
            <a:off x="605028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10514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GET /config/effective shows live settings. POST /config/apply applies env var overrides via RuntimeManager. GET audit log (events.jsonl).</a:t>
            </a:r>
            <a:endParaRPr lang="en-US" sz="9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control_panel/src/App.tsx (109KB), control_panel/src/api.ts, control_panel/src/types.ts, control_panel/src/architectureLayout.ts, control_panel/README.md</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data/ Directory — Configuration &amp; Runtime State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data/ holds both static configuration files (agents, skills, prompts) AND dynamic runtime state (sessions, workspaces, memory). Separating them from code enables hot-reload and operator customization.</a:t>
            </a:r>
            <a:endParaRPr lang="en-US" sz="1050" dirty="0"/>
          </a:p>
        </p:txBody>
      </p:sp>
      <p:sp>
        <p:nvSpPr>
          <p:cNvPr id="4" name="Shape 2"/>
          <p:cNvSpPr/>
          <p:nvPr/>
        </p:nvSpPr>
        <p:spPr>
          <a:xfrm>
            <a:off x="502920" y="1261872"/>
            <a:ext cx="2286000" cy="347472"/>
          </a:xfrm>
          <a:prstGeom prst="rect">
            <a:avLst/>
          </a:prstGeom>
          <a:solidFill>
            <a:srgbClr val="0097A7"/>
          </a:solidFill>
          <a:ln/>
        </p:spPr>
        <p:txBody>
          <a:bodyPr/>
          <a:lstStyle/>
          <a:p>
            <a:endParaRPr lang="en-US"/>
          </a:p>
        </p:txBody>
      </p:sp>
      <p:sp>
        <p:nvSpPr>
          <p:cNvPr id="5" name="Text 3"/>
          <p:cNvSpPr/>
          <p:nvPr/>
        </p:nvSpPr>
        <p:spPr>
          <a:xfrm>
            <a:off x="576072" y="12618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data/agents/</a:t>
            </a:r>
            <a:endParaRPr lang="en-US" sz="900" dirty="0"/>
          </a:p>
        </p:txBody>
      </p:sp>
      <p:sp>
        <p:nvSpPr>
          <p:cNvPr id="6" name="Shape 4"/>
          <p:cNvSpPr/>
          <p:nvPr/>
        </p:nvSpPr>
        <p:spPr>
          <a:xfrm>
            <a:off x="2788920" y="1261872"/>
            <a:ext cx="5852160" cy="34747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80360" y="12618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agent definition .md files. YAML frontmatter + role description. Includes new graph_manager agent. Edit here to change agent mode, tools, max_steps.</a:t>
            </a:r>
            <a:endParaRPr lang="en-US" sz="900" dirty="0"/>
          </a:p>
        </p:txBody>
      </p:sp>
      <p:sp>
        <p:nvSpPr>
          <p:cNvPr id="8" name="Shape 6"/>
          <p:cNvSpPr/>
          <p:nvPr/>
        </p:nvSpPr>
        <p:spPr>
          <a:xfrm>
            <a:off x="502920" y="1627632"/>
            <a:ext cx="2286000" cy="347472"/>
          </a:xfrm>
          <a:prstGeom prst="rect">
            <a:avLst/>
          </a:prstGeom>
          <a:solidFill>
            <a:srgbClr val="1B2A4A"/>
          </a:solidFill>
          <a:ln/>
        </p:spPr>
        <p:txBody>
          <a:bodyPr/>
          <a:lstStyle/>
          <a:p>
            <a:endParaRPr lang="en-US"/>
          </a:p>
        </p:txBody>
      </p:sp>
      <p:sp>
        <p:nvSpPr>
          <p:cNvPr id="9" name="Text 7"/>
          <p:cNvSpPr/>
          <p:nvPr/>
        </p:nvSpPr>
        <p:spPr>
          <a:xfrm>
            <a:off x="576072" y="16276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data/skills/</a:t>
            </a:r>
            <a:endParaRPr lang="en-US" sz="900" dirty="0"/>
          </a:p>
        </p:txBody>
      </p:sp>
      <p:sp>
        <p:nvSpPr>
          <p:cNvPr id="10" name="Shape 8"/>
          <p:cNvSpPr/>
          <p:nvPr/>
        </p:nvSpPr>
        <p:spPr>
          <a:xfrm>
            <a:off x="2788920" y="1627632"/>
            <a:ext cx="5852160" cy="347472"/>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2880360" y="16276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base agent prompt files (.md). These are the system prompts loaded by PromptBuilder. Customize via control_panel/overlays/prompts/ overlay.</a:t>
            </a:r>
            <a:endParaRPr lang="en-US" sz="900" dirty="0"/>
          </a:p>
        </p:txBody>
      </p:sp>
      <p:sp>
        <p:nvSpPr>
          <p:cNvPr id="12" name="Shape 10"/>
          <p:cNvSpPr/>
          <p:nvPr/>
        </p:nvSpPr>
        <p:spPr>
          <a:xfrm>
            <a:off x="502920" y="1993392"/>
            <a:ext cx="2286000" cy="347472"/>
          </a:xfrm>
          <a:prstGeom prst="rect">
            <a:avLst/>
          </a:prstGeom>
          <a:solidFill>
            <a:srgbClr val="00796B"/>
          </a:solidFill>
          <a:ln/>
        </p:spPr>
        <p:txBody>
          <a:bodyPr/>
          <a:lstStyle/>
          <a:p>
            <a:endParaRPr lang="en-US"/>
          </a:p>
        </p:txBody>
      </p:sp>
      <p:sp>
        <p:nvSpPr>
          <p:cNvPr id="13" name="Text 11"/>
          <p:cNvSpPr/>
          <p:nvPr/>
        </p:nvSpPr>
        <p:spPr>
          <a:xfrm>
            <a:off x="576072" y="19933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data/skill_packs/</a:t>
            </a:r>
            <a:endParaRPr lang="en-US" sz="900" dirty="0"/>
          </a:p>
        </p:txBody>
      </p:sp>
      <p:sp>
        <p:nvSpPr>
          <p:cNvPr id="14" name="Shape 12"/>
          <p:cNvSpPr/>
          <p:nvPr/>
        </p:nvSpPr>
        <p:spPr>
          <a:xfrm>
            <a:off x="2788920" y="1993392"/>
            <a:ext cx="585216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80360" y="19933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Skill documents organised in 7 subdirs (data_analyst/, rag/, general/, planner/, finalizer/, verifier/, utility/). Indexed in SkillStore for semantic retrieval.</a:t>
            </a:r>
            <a:endParaRPr lang="en-US" sz="900" dirty="0"/>
          </a:p>
        </p:txBody>
      </p:sp>
      <p:sp>
        <p:nvSpPr>
          <p:cNvPr id="16" name="Shape 14"/>
          <p:cNvSpPr/>
          <p:nvPr/>
        </p:nvSpPr>
        <p:spPr>
          <a:xfrm>
            <a:off x="502920" y="2359152"/>
            <a:ext cx="2286000" cy="347472"/>
          </a:xfrm>
          <a:prstGeom prst="rect">
            <a:avLst/>
          </a:prstGeom>
          <a:solidFill>
            <a:srgbClr val="F9A825"/>
          </a:solidFill>
          <a:ln/>
        </p:spPr>
        <p:txBody>
          <a:bodyPr/>
          <a:lstStyle/>
          <a:p>
            <a:endParaRPr lang="en-US"/>
          </a:p>
        </p:txBody>
      </p:sp>
      <p:sp>
        <p:nvSpPr>
          <p:cNvPr id="17" name="Text 15"/>
          <p:cNvSpPr/>
          <p:nvPr/>
        </p:nvSpPr>
        <p:spPr>
          <a:xfrm>
            <a:off x="576072" y="235915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data/prompts/</a:t>
            </a:r>
            <a:endParaRPr lang="en-US" sz="900" dirty="0"/>
          </a:p>
        </p:txBody>
      </p:sp>
      <p:sp>
        <p:nvSpPr>
          <p:cNvPr id="18" name="Shape 16"/>
          <p:cNvSpPr/>
          <p:nvPr/>
        </p:nvSpPr>
        <p:spPr>
          <a:xfrm>
            <a:off x="2788920" y="2359152"/>
            <a:ext cx="585216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880360" y="235915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Judge prompts (judge_grading.txt, judge_rewrite.txt), grounded_answer template, rag_synthesis template, planner/router/verifier templates.</a:t>
            </a:r>
            <a:endParaRPr lang="en-US" sz="900" dirty="0"/>
          </a:p>
        </p:txBody>
      </p:sp>
      <p:sp>
        <p:nvSpPr>
          <p:cNvPr id="20" name="Shape 18"/>
          <p:cNvSpPr/>
          <p:nvPr/>
        </p:nvSpPr>
        <p:spPr>
          <a:xfrm>
            <a:off x="502920" y="2724912"/>
            <a:ext cx="2286000" cy="347472"/>
          </a:xfrm>
          <a:prstGeom prst="rect">
            <a:avLst/>
          </a:prstGeom>
          <a:solidFill>
            <a:srgbClr val="0097A7"/>
          </a:solidFill>
          <a:ln/>
        </p:spPr>
        <p:txBody>
          <a:bodyPr/>
          <a:lstStyle/>
          <a:p>
            <a:endParaRPr lang="en-US"/>
          </a:p>
        </p:txBody>
      </p:sp>
      <p:sp>
        <p:nvSpPr>
          <p:cNvPr id="21" name="Text 19"/>
          <p:cNvSpPr/>
          <p:nvPr/>
        </p:nvSpPr>
        <p:spPr>
          <a:xfrm>
            <a:off x="576072" y="272491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data/kb/</a:t>
            </a:r>
            <a:endParaRPr lang="en-US" sz="900" dirty="0"/>
          </a:p>
        </p:txBody>
      </p:sp>
      <p:sp>
        <p:nvSpPr>
          <p:cNvPr id="22" name="Shape 20"/>
          <p:cNvSpPr/>
          <p:nvPr/>
        </p:nvSpPr>
        <p:spPr>
          <a:xfrm>
            <a:off x="2788920" y="2724912"/>
            <a:ext cx="585216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80360" y="272491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18 knowledge base collections. Each maps to a pgvector collection. Documents are indexed here by the /ingest and /sync endpoints.</a:t>
            </a:r>
            <a:endParaRPr lang="en-US" sz="900" dirty="0"/>
          </a:p>
        </p:txBody>
      </p:sp>
      <p:sp>
        <p:nvSpPr>
          <p:cNvPr id="24" name="Shape 22"/>
          <p:cNvSpPr/>
          <p:nvPr/>
        </p:nvSpPr>
        <p:spPr>
          <a:xfrm>
            <a:off x="502920" y="3090672"/>
            <a:ext cx="2286000" cy="347472"/>
          </a:xfrm>
          <a:prstGeom prst="rect">
            <a:avLst/>
          </a:prstGeom>
          <a:solidFill>
            <a:srgbClr val="1B2A4A"/>
          </a:solidFill>
          <a:ln/>
        </p:spPr>
        <p:txBody>
          <a:bodyPr/>
          <a:lstStyle/>
          <a:p>
            <a:endParaRPr lang="en-US"/>
          </a:p>
        </p:txBody>
      </p:sp>
      <p:sp>
        <p:nvSpPr>
          <p:cNvPr id="25" name="Text 23"/>
          <p:cNvSpPr/>
          <p:nvPr/>
        </p:nvSpPr>
        <p:spPr>
          <a:xfrm>
            <a:off x="576072" y="30906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data/runtime/</a:t>
            </a:r>
            <a:endParaRPr lang="en-US" sz="900" dirty="0"/>
          </a:p>
        </p:txBody>
      </p:sp>
      <p:sp>
        <p:nvSpPr>
          <p:cNvPr id="26" name="Shape 24"/>
          <p:cNvSpPr/>
          <p:nvPr/>
        </p:nvSpPr>
        <p:spPr>
          <a:xfrm>
            <a:off x="2788920" y="3090672"/>
            <a:ext cx="5852160" cy="347472"/>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2880360" y="30906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sessions/ (session transcripts by filesystem key), jobs/ (background job records and results). Auto-created at runtime.</a:t>
            </a:r>
            <a:endParaRPr lang="en-US" sz="900" dirty="0"/>
          </a:p>
        </p:txBody>
      </p:sp>
      <p:sp>
        <p:nvSpPr>
          <p:cNvPr id="28" name="Shape 26"/>
          <p:cNvSpPr/>
          <p:nvPr/>
        </p:nvSpPr>
        <p:spPr>
          <a:xfrm>
            <a:off x="502920" y="3456432"/>
            <a:ext cx="2286000" cy="347472"/>
          </a:xfrm>
          <a:prstGeom prst="rect">
            <a:avLst/>
          </a:prstGeom>
          <a:solidFill>
            <a:srgbClr val="00796B"/>
          </a:solidFill>
          <a:ln/>
        </p:spPr>
        <p:txBody>
          <a:bodyPr/>
          <a:lstStyle/>
          <a:p>
            <a:endParaRPr lang="en-US"/>
          </a:p>
        </p:txBody>
      </p:sp>
      <p:sp>
        <p:nvSpPr>
          <p:cNvPr id="29" name="Text 27"/>
          <p:cNvSpPr/>
          <p:nvPr/>
        </p:nvSpPr>
        <p:spPr>
          <a:xfrm>
            <a:off x="576072" y="34564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data/memory/</a:t>
            </a:r>
            <a:endParaRPr lang="en-US" sz="900" dirty="0"/>
          </a:p>
        </p:txBody>
      </p:sp>
      <p:sp>
        <p:nvSpPr>
          <p:cNvPr id="30" name="Shape 28"/>
          <p:cNvSpPr/>
          <p:nvPr/>
        </p:nvSpPr>
        <p:spPr>
          <a:xfrm>
            <a:off x="2788920" y="3456432"/>
            <a:ext cx="585216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880360" y="34564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tenants/{id}/users/{id}/ — per-user memory files. Written by memory_maintainer agent, read by MemoryContextBuilder.</a:t>
            </a:r>
            <a:endParaRPr lang="en-US" sz="900" dirty="0"/>
          </a:p>
        </p:txBody>
      </p:sp>
      <p:sp>
        <p:nvSpPr>
          <p:cNvPr id="32" name="Shape 30"/>
          <p:cNvSpPr/>
          <p:nvPr/>
        </p:nvSpPr>
        <p:spPr>
          <a:xfrm>
            <a:off x="502920" y="3822192"/>
            <a:ext cx="2286000" cy="347472"/>
          </a:xfrm>
          <a:prstGeom prst="rect">
            <a:avLst/>
          </a:prstGeom>
          <a:solidFill>
            <a:srgbClr val="999999"/>
          </a:solidFill>
          <a:ln/>
        </p:spPr>
        <p:txBody>
          <a:bodyPr/>
          <a:lstStyle/>
          <a:p>
            <a:endParaRPr lang="en-US"/>
          </a:p>
        </p:txBody>
      </p:sp>
      <p:sp>
        <p:nvSpPr>
          <p:cNvPr id="33" name="Text 31"/>
          <p:cNvSpPr/>
          <p:nvPr/>
        </p:nvSpPr>
        <p:spPr>
          <a:xfrm>
            <a:off x="576072" y="38221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data/control_panel/</a:t>
            </a:r>
            <a:endParaRPr lang="en-US" sz="900" dirty="0"/>
          </a:p>
        </p:txBody>
      </p:sp>
      <p:sp>
        <p:nvSpPr>
          <p:cNvPr id="34" name="Shape 32"/>
          <p:cNvSpPr/>
          <p:nvPr/>
        </p:nvSpPr>
        <p:spPr>
          <a:xfrm>
            <a:off x="2788920" y="3822192"/>
            <a:ext cx="5852160" cy="347472"/>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2880360" y="38221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overlays/ (agent + prompt overrides), audit/events.jsonl (admin action log). Written by Control Panel API.</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data/skills/*.md, data/skill_packs/**/*.md, data/prompts/*.txt, data/kb/, data/runtime/, data/memory/</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GraphRAG — Knowledge Graph Integration</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graph/ module provides Microsoft GraphRAG and Neo4j backends. A dedicated graph_manager agent uses 5 graph tools to query entity relationships, discover sources, and plan retrieval strategies.</a:t>
            </a:r>
            <a:endParaRPr lang="en-US" sz="1050" dirty="0"/>
          </a:p>
        </p:txBody>
      </p:sp>
      <p:sp>
        <p:nvSpPr>
          <p:cNvPr id="4" name="Shape 2"/>
          <p:cNvSpPr/>
          <p:nvPr/>
        </p:nvSpPr>
        <p:spPr>
          <a:xfrm>
            <a:off x="50292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 Module — What Was Built</a:t>
            </a:r>
            <a:endParaRPr lang="en-US" sz="1200" dirty="0"/>
          </a:p>
        </p:txBody>
      </p:sp>
      <p:sp>
        <p:nvSpPr>
          <p:cNvPr id="7" name="Text 5"/>
          <p:cNvSpPr/>
          <p:nvPr/>
        </p:nvSpPr>
        <p:spPr>
          <a:xfrm>
            <a:off x="61264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Arial" pitchFamily="34" charset="0"/>
                <a:ea typeface="Arial" pitchFamily="34" charset="-122"/>
                <a:cs typeface="Arial" pitchFamily="34" charset="-120"/>
              </a:rPr>
              <a:t>GraphService</a:t>
            </a:r>
            <a:r>
              <a:rPr lang="en-US" sz="950" dirty="0">
                <a:solidFill>
                  <a:srgbClr val="333333"/>
                </a:solidFill>
                <a:latin typeface="Arial" pitchFamily="34" charset="0"/>
                <a:ea typeface="Arial" pitchFamily="34" charset="-122"/>
                <a:cs typeface="Arial" pitchFamily="34" charset="-120"/>
              </a:rPr>
              <a:t xml:space="preserve"> — tenant-scoped service managing indexing, querying, and artifact storage
</a:t>
            </a:r>
            <a:r>
              <a:rPr lang="en-US" sz="950" b="1" dirty="0">
                <a:solidFill>
                  <a:srgbClr val="1B2A4A"/>
                </a:solidFill>
                <a:latin typeface="Arial" pitchFamily="34" charset="0"/>
                <a:ea typeface="Arial" pitchFamily="34" charset="-122"/>
                <a:cs typeface="Arial" pitchFamily="34" charset="-120"/>
              </a:rPr>
              <a:t>Backends</a:t>
            </a:r>
            <a:r>
              <a:rPr lang="en-US" sz="950" dirty="0">
                <a:solidFill>
                  <a:srgbClr val="333333"/>
                </a:solidFill>
                <a:latin typeface="Arial" pitchFamily="34" charset="0"/>
                <a:ea typeface="Arial" pitchFamily="34" charset="-122"/>
                <a:cs typeface="Arial" pitchFamily="34" charset="-120"/>
              </a:rPr>
              <a:t>: MicrosoftGraphRagBackend + Neo4jGraphImportBackend (switchable via settings.graph_backend)
</a:t>
            </a:r>
            <a:r>
              <a:rPr lang="en-US" sz="950" b="1" dirty="0">
                <a:solidFill>
                  <a:srgbClr val="0097A7"/>
                </a:solidFill>
                <a:latin typeface="Courier New" pitchFamily="34" charset="0"/>
                <a:ea typeface="Courier New" pitchFamily="34" charset="-122"/>
                <a:cs typeface="Courier New" pitchFamily="34" charset="-120"/>
              </a:rPr>
              <a:t>graph/planner.py</a:t>
            </a:r>
            <a:r>
              <a:rPr lang="en-US" sz="950" dirty="0">
                <a:solidFill>
                  <a:srgbClr val="333333"/>
                </a:solidFill>
                <a:latin typeface="Arial" pitchFamily="34" charset="0"/>
                <a:ea typeface="Arial" pitchFamily="34" charset="-122"/>
                <a:cs typeface="Arial" pitchFamily="34" charset="-120"/>
              </a:rPr>
              <a:t xml:space="preserve"> — plan_sources() selects which graph indexes to query for a given task
</a:t>
            </a:r>
            <a:r>
              <a:rPr lang="en-US" sz="950" b="1" dirty="0">
                <a:solidFill>
                  <a:srgbClr val="0097A7"/>
                </a:solidFill>
                <a:latin typeface="Courier New" pitchFamily="34" charset="0"/>
                <a:ea typeface="Courier New" pitchFamily="34" charset="-122"/>
                <a:cs typeface="Courier New" pitchFamily="34" charset="-120"/>
              </a:rPr>
              <a:t>graph/artifacts.py</a:t>
            </a:r>
            <a:r>
              <a:rPr lang="en-US" sz="950" dirty="0">
                <a:solidFill>
                  <a:srgbClr val="333333"/>
                </a:solidFill>
                <a:latin typeface="Arial" pitchFamily="34" charset="0"/>
                <a:ea typeface="Arial" pitchFamily="34" charset="-122"/>
                <a:cs typeface="Arial" pitchFamily="34" charset="-120"/>
              </a:rPr>
              <a:t xml:space="preserve"> — loads and serialises GraphRAG output bundles for downstream agents</a:t>
            </a:r>
            <a:endParaRPr lang="en-US" sz="1000" dirty="0"/>
          </a:p>
        </p:txBody>
      </p:sp>
      <p:sp>
        <p:nvSpPr>
          <p:cNvPr id="8" name="Shape 6"/>
          <p:cNvSpPr/>
          <p:nvPr/>
        </p:nvSpPr>
        <p:spPr>
          <a:xfrm>
            <a:off x="466344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F9A825"/>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graph_manager Agent — New Worker</a:t>
            </a:r>
            <a:endParaRPr lang="en-US" sz="1200" dirty="0"/>
          </a:p>
        </p:txBody>
      </p:sp>
      <p:sp>
        <p:nvSpPr>
          <p:cNvPr id="11" name="Text 9"/>
          <p:cNvSpPr/>
          <p:nvPr/>
        </p:nvSpPr>
        <p:spPr>
          <a:xfrm>
            <a:off x="477316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 xml:space="preserve">Role: </a:t>
            </a:r>
            <a:r>
              <a:rPr lang="en-US" sz="950" dirty="0">
                <a:solidFill>
                  <a:srgbClr val="333333"/>
                </a:solidFill>
                <a:latin typeface="Arial" pitchFamily="34" charset="0"/>
                <a:ea typeface="Arial" pitchFamily="34" charset="-122"/>
                <a:cs typeface="Arial" pitchFamily="34" charset="-120"/>
              </a:rPr>
              <a:t>worker-only (entry_path: delegated_only), dispatched by coordinator or general agent
</a:t>
            </a:r>
            <a:r>
              <a:rPr lang="en-US" sz="950" b="1" dirty="0">
                <a:solidFill>
                  <a:srgbClr val="1B2A4A"/>
                </a:solidFill>
                <a:latin typeface="Arial" pitchFamily="34" charset="0"/>
                <a:ea typeface="Arial" pitchFamily="34" charset="-122"/>
                <a:cs typeface="Arial" pitchFamily="34" charset="-120"/>
              </a:rPr>
              <a:t xml:space="preserve">5 tools: </a:t>
            </a:r>
            <a:r>
              <a:rPr lang="en-US" sz="950" dirty="0">
                <a:solidFill>
                  <a:srgbClr val="333333"/>
                </a:solidFill>
                <a:latin typeface="Courier New" pitchFamily="34" charset="0"/>
                <a:ea typeface="Courier New" pitchFamily="34" charset="-122"/>
                <a:cs typeface="Courier New" pitchFamily="34" charset="-120"/>
              </a:rPr>
              <a:t>list_graph_indexes, inspect_graph_index, search_graph_index, explain_source_plan, invoke_agent
</a:t>
            </a:r>
            <a:r>
              <a:rPr lang="en-US" sz="950" b="1" dirty="0">
                <a:solidFill>
                  <a:srgbClr val="1B2A4A"/>
                </a:solidFill>
                <a:latin typeface="Arial" pitchFamily="34" charset="0"/>
                <a:ea typeface="Arial" pitchFamily="34" charset="-122"/>
                <a:cs typeface="Arial" pitchFamily="34" charset="-120"/>
              </a:rPr>
              <a:t xml:space="preserve">Can delegate to: </a:t>
            </a:r>
            <a:r>
              <a:rPr lang="en-US" sz="950" dirty="0">
                <a:solidFill>
                  <a:srgbClr val="333333"/>
                </a:solidFill>
                <a:latin typeface="Arial" pitchFamily="34" charset="0"/>
                <a:ea typeface="Arial" pitchFamily="34" charset="-122"/>
                <a:cs typeface="Arial" pitchFamily="34" charset="-120"/>
              </a:rPr>
              <a:t>rag_worker or general agent for synthesis after graph retrieval
</a:t>
            </a:r>
            <a:r>
              <a:rPr lang="en-US" sz="950" b="1" dirty="0">
                <a:solidFill>
                  <a:srgbClr val="1B2A4A"/>
                </a:solidFill>
                <a:latin typeface="Arial" pitchFamily="34" charset="0"/>
                <a:ea typeface="Arial" pitchFamily="34" charset="-122"/>
                <a:cs typeface="Arial" pitchFamily="34" charset="-120"/>
              </a:rPr>
              <a:t xml:space="preserve">Use case: </a:t>
            </a:r>
            <a:r>
              <a:rPr lang="en-US" sz="950" dirty="0">
                <a:solidFill>
                  <a:srgbClr val="333333"/>
                </a:solidFill>
                <a:latin typeface="Arial" pitchFamily="34" charset="0"/>
                <a:ea typeface="Arial" pitchFamily="34" charset="-122"/>
                <a:cs typeface="Arial" pitchFamily="34" charset="-120"/>
              </a:rPr>
              <a:t>"What entities connect contract risk to vendor performance?" — traverses graph instead of vector search</a:t>
            </a:r>
            <a:endParaRPr lang="en-US" sz="1000" dirty="0"/>
          </a:p>
        </p:txBody>
      </p:sp>
      <p:sp>
        <p:nvSpPr>
          <p:cNvPr id="12" name="Text 10"/>
          <p:cNvSpPr/>
          <p:nvPr/>
        </p:nvSpPr>
        <p:spPr>
          <a:xfrm>
            <a:off x="502920" y="3639312"/>
            <a:ext cx="8138160" cy="219456"/>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New Graph API Endpoints (5)</a:t>
            </a:r>
            <a:endParaRPr lang="en-US" sz="1000" dirty="0"/>
          </a:p>
        </p:txBody>
      </p:sp>
      <p:sp>
        <p:nvSpPr>
          <p:cNvPr id="13" name="Shape 11"/>
          <p:cNvSpPr/>
          <p:nvPr/>
        </p:nvSpPr>
        <p:spPr>
          <a:xfrm>
            <a:off x="502920"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14" name="Text 12"/>
          <p:cNvSpPr/>
          <p:nvPr/>
        </p:nvSpPr>
        <p:spPr>
          <a:xfrm>
            <a:off x="548640"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a:t>
            </a:r>
            <a:endParaRPr lang="en-US" sz="800" dirty="0"/>
          </a:p>
        </p:txBody>
      </p:sp>
      <p:sp>
        <p:nvSpPr>
          <p:cNvPr id="15" name="Text 13"/>
          <p:cNvSpPr/>
          <p:nvPr/>
        </p:nvSpPr>
        <p:spPr>
          <a:xfrm>
            <a:off x="548640"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graph indexes</a:t>
            </a:r>
            <a:endParaRPr lang="en-US" sz="850" dirty="0"/>
          </a:p>
        </p:txBody>
      </p:sp>
      <p:sp>
        <p:nvSpPr>
          <p:cNvPr id="16" name="Shape 14"/>
          <p:cNvSpPr/>
          <p:nvPr/>
        </p:nvSpPr>
        <p:spPr>
          <a:xfrm>
            <a:off x="2130552"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17" name="Text 15"/>
          <p:cNvSpPr/>
          <p:nvPr/>
        </p:nvSpPr>
        <p:spPr>
          <a:xfrm>
            <a:off x="2176272"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/v1/graphs/{id}</a:t>
            </a:r>
            <a:endParaRPr lang="en-US" sz="800" dirty="0"/>
          </a:p>
        </p:txBody>
      </p:sp>
      <p:sp>
        <p:nvSpPr>
          <p:cNvPr id="18" name="Text 16"/>
          <p:cNvSpPr/>
          <p:nvPr/>
        </p:nvSpPr>
        <p:spPr>
          <a:xfrm>
            <a:off x="2176272"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metadata</a:t>
            </a:r>
            <a:endParaRPr lang="en-US" sz="850" dirty="0"/>
          </a:p>
        </p:txBody>
      </p:sp>
      <p:sp>
        <p:nvSpPr>
          <p:cNvPr id="19" name="Shape 17"/>
          <p:cNvSpPr/>
          <p:nvPr/>
        </p:nvSpPr>
        <p:spPr>
          <a:xfrm>
            <a:off x="3758184"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0" name="Text 18"/>
          <p:cNvSpPr/>
          <p:nvPr/>
        </p:nvSpPr>
        <p:spPr>
          <a:xfrm>
            <a:off x="3803904"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/v1/graphs/index</a:t>
            </a:r>
            <a:endParaRPr lang="en-US" sz="800" dirty="0"/>
          </a:p>
        </p:txBody>
      </p:sp>
      <p:sp>
        <p:nvSpPr>
          <p:cNvPr id="21" name="Text 19"/>
          <p:cNvSpPr/>
          <p:nvPr/>
        </p:nvSpPr>
        <p:spPr>
          <a:xfrm>
            <a:off x="3803904"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Run indexing</a:t>
            </a:r>
            <a:endParaRPr lang="en-US" sz="850" dirty="0"/>
          </a:p>
        </p:txBody>
      </p:sp>
      <p:sp>
        <p:nvSpPr>
          <p:cNvPr id="22" name="Shape 20"/>
          <p:cNvSpPr/>
          <p:nvPr/>
        </p:nvSpPr>
        <p:spPr>
          <a:xfrm>
            <a:off x="5385816"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23" name="Text 21"/>
          <p:cNvSpPr/>
          <p:nvPr/>
        </p:nvSpPr>
        <p:spPr>
          <a:xfrm>
            <a:off x="5431536"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/v1/graphs/import</a:t>
            </a:r>
            <a:endParaRPr lang="en-US" sz="800" dirty="0"/>
          </a:p>
        </p:txBody>
      </p:sp>
      <p:sp>
        <p:nvSpPr>
          <p:cNvPr id="24" name="Text 22"/>
          <p:cNvSpPr/>
          <p:nvPr/>
        </p:nvSpPr>
        <p:spPr>
          <a:xfrm>
            <a:off x="5431536"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Import Neo4j/GraphRAG</a:t>
            </a:r>
            <a:endParaRPr lang="en-US" sz="850" dirty="0"/>
          </a:p>
        </p:txBody>
      </p:sp>
      <p:sp>
        <p:nvSpPr>
          <p:cNvPr id="25" name="Shape 23"/>
          <p:cNvSpPr/>
          <p:nvPr/>
        </p:nvSpPr>
        <p:spPr>
          <a:xfrm>
            <a:off x="7013448"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6" name="Text 24"/>
          <p:cNvSpPr/>
          <p:nvPr/>
        </p:nvSpPr>
        <p:spPr>
          <a:xfrm>
            <a:off x="7059168"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/v1/graphs/query</a:t>
            </a:r>
            <a:endParaRPr lang="en-US" sz="800" dirty="0"/>
          </a:p>
        </p:txBody>
      </p:sp>
      <p:sp>
        <p:nvSpPr>
          <p:cNvPr id="27" name="Text 25"/>
          <p:cNvSpPr/>
          <p:nvPr/>
        </p:nvSpPr>
        <p:spPr>
          <a:xfrm>
            <a:off x="7059168"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graph query</a:t>
            </a:r>
            <a:endParaRPr lang="en-US" sz="8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graph/service.py, graph/planner.py, graph/backend.py — MicrosoftGraphRagBackend + Neo4jGraphImportBackend</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Deep RAG &amp; Adaptive Retrieval</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layers sit above the base RAG pipeline: DeepRagRequest controls search depth, and CorpusRetrievalAdapter orchestrates multi-step, entity-linked, and graph-augmented retrieval.</a:t>
            </a:r>
            <a:endParaRPr lang="en-US" sz="1050" dirty="0"/>
          </a:p>
        </p:txBody>
      </p:sp>
      <p:sp>
        <p:nvSpPr>
          <p:cNvPr id="4" name="Shape 2"/>
          <p:cNvSpPr/>
          <p:nvPr/>
        </p:nvSpPr>
        <p:spPr>
          <a:xfrm>
            <a:off x="50292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runtime/deep_rag.py — Search Modes</a:t>
            </a:r>
            <a:endParaRPr lang="en-US" sz="1200" dirty="0"/>
          </a:p>
        </p:txBody>
      </p:sp>
      <p:sp>
        <p:nvSpPr>
          <p:cNvPr id="7" name="Text 5"/>
          <p:cNvSpPr/>
          <p:nvPr/>
        </p:nvSpPr>
        <p:spPr>
          <a:xfrm>
            <a:off x="61264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Courier New" pitchFamily="34" charset="0"/>
                <a:ea typeface="Courier New" pitchFamily="34" charset="-122"/>
                <a:cs typeface="Courier New" pitchFamily="34" charset="-120"/>
              </a:rPr>
              <a:t xml:space="preserve">DeepRagRequest </a:t>
            </a:r>
            <a:r>
              <a:rPr lang="en-US" sz="950" dirty="0">
                <a:solidFill>
                  <a:srgbClr val="333333"/>
                </a:solidFill>
                <a:latin typeface="Arial" pitchFamily="34" charset="0"/>
                <a:ea typeface="Arial" pitchFamily="34" charset="-122"/>
                <a:cs typeface="Arial" pitchFamily="34" charset="-120"/>
              </a:rPr>
              <a:t>controls per-turn retrieval policy:
</a:t>
            </a:r>
            <a:r>
              <a:rPr lang="en-US" sz="950" b="1" dirty="0">
                <a:solidFill>
                  <a:srgbClr val="1B2A4A"/>
                </a:solidFill>
                <a:latin typeface="Arial" pitchFamily="34" charset="0"/>
                <a:ea typeface="Arial" pitchFamily="34" charset="-122"/>
                <a:cs typeface="Arial" pitchFamily="34" charset="-120"/>
              </a:rPr>
              <a:t xml:space="preserve">mode: </a:t>
            </a:r>
            <a:r>
              <a:rPr lang="en-US" sz="950" dirty="0">
                <a:solidFill>
                  <a:srgbClr val="333333"/>
                </a:solidFill>
                <a:latin typeface="Courier New" pitchFamily="34" charset="0"/>
                <a:ea typeface="Courier New" pitchFamily="34" charset="-122"/>
                <a:cs typeface="Courier New" pitchFamily="34" charset="-120"/>
              </a:rPr>
              <a:t>off | auto | force
</a:t>
            </a:r>
            <a:r>
              <a:rPr lang="en-US" sz="950" b="1" dirty="0">
                <a:solidFill>
                  <a:srgbClr val="1B2A4A"/>
                </a:solidFill>
                <a:latin typeface="Arial" pitchFamily="34" charset="0"/>
                <a:ea typeface="Arial" pitchFamily="34" charset="-122"/>
                <a:cs typeface="Arial" pitchFamily="34" charset="-120"/>
              </a:rPr>
              <a:t xml:space="preserve">search_mode: </a:t>
            </a:r>
            <a:r>
              <a:rPr lang="en-US" sz="950" dirty="0">
                <a:solidFill>
                  <a:srgbClr val="333333"/>
                </a:solidFill>
                <a:latin typeface="Courier New" pitchFamily="34" charset="0"/>
                <a:ea typeface="Courier New" pitchFamily="34" charset="-122"/>
                <a:cs typeface="Courier New" pitchFamily="34" charset="-120"/>
              </a:rPr>
              <a:t>fast | auto | deep
</a:t>
            </a:r>
            <a:r>
              <a:rPr lang="en-US" sz="950" b="1" dirty="0">
                <a:solidFill>
                  <a:srgbClr val="0097A7"/>
                </a:solidFill>
                <a:latin typeface="Courier New" pitchFamily="34" charset="0"/>
                <a:ea typeface="Courier New" pitchFamily="34" charset="-122"/>
                <a:cs typeface="Courier New" pitchFamily="34" charset="-120"/>
              </a:rPr>
              <a:t>auto</a:t>
            </a:r>
            <a:r>
              <a:rPr lang="en-US" sz="950" dirty="0">
                <a:solidFill>
                  <a:srgbClr val="333333"/>
                </a:solidFill>
                <a:latin typeface="Arial" pitchFamily="34" charset="0"/>
                <a:ea typeface="Arial" pitchFamily="34" charset="-122"/>
                <a:cs typeface="Arial" pitchFamily="34" charset="-120"/>
              </a:rPr>
              <a:t>: LLM policy planner decides based on query complexity
</a:t>
            </a:r>
            <a:r>
              <a:rPr lang="en-US" sz="950" b="1" dirty="0">
                <a:solidFill>
                  <a:srgbClr val="C62828"/>
                </a:solidFill>
                <a:latin typeface="Courier New" pitchFamily="34" charset="0"/>
                <a:ea typeface="Courier New" pitchFamily="34" charset="-122"/>
                <a:cs typeface="Courier New" pitchFamily="34" charset="-120"/>
              </a:rPr>
              <a:t>deep</a:t>
            </a:r>
            <a:r>
              <a:rPr lang="en-US" sz="950" dirty="0">
                <a:solidFill>
                  <a:srgbClr val="333333"/>
                </a:solidFill>
                <a:latin typeface="Arial" pitchFamily="34" charset="0"/>
                <a:ea typeface="Arial" pitchFamily="34" charset="-122"/>
                <a:cs typeface="Arial" pitchFamily="34" charset="-120"/>
              </a:rPr>
              <a:t>: Forces CorpusRetrievalAdapter for multi-stage, entity-linked, graph-augmented retrieval
</a:t>
            </a:r>
            <a:r>
              <a:rPr lang="en-US" sz="950" b="1" dirty="0">
                <a:solidFill>
                  <a:srgbClr val="2E7D32"/>
                </a:solidFill>
                <a:latin typeface="Courier New" pitchFamily="34" charset="0"/>
                <a:ea typeface="Courier New" pitchFamily="34" charset="-122"/>
                <a:cs typeface="Courier New" pitchFamily="34" charset="-120"/>
              </a:rPr>
              <a:t>fast</a:t>
            </a:r>
            <a:r>
              <a:rPr lang="en-US" sz="950" dirty="0">
                <a:solidFill>
                  <a:srgbClr val="333333"/>
                </a:solidFill>
                <a:latin typeface="Arial" pitchFamily="34" charset="0"/>
                <a:ea typeface="Arial" pitchFamily="34" charset="-122"/>
                <a:cs typeface="Arial" pitchFamily="34" charset="-120"/>
              </a:rPr>
              <a:t>: Single-pass vector + BM25 (same as before)</a:t>
            </a:r>
            <a:endParaRPr lang="en-US" sz="1000" dirty="0"/>
          </a:p>
        </p:txBody>
      </p:sp>
      <p:sp>
        <p:nvSpPr>
          <p:cNvPr id="8" name="Shape 6"/>
          <p:cNvSpPr/>
          <p:nvPr/>
        </p:nvSpPr>
        <p:spPr>
          <a:xfrm>
            <a:off x="466344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00796B"/>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rag/adaptive.py — CorpusRetrievalAdapter</a:t>
            </a:r>
            <a:endParaRPr lang="en-US" sz="1200" dirty="0"/>
          </a:p>
        </p:txBody>
      </p:sp>
      <p:sp>
        <p:nvSpPr>
          <p:cNvPr id="11" name="Text 9"/>
          <p:cNvSpPr/>
          <p:nvPr/>
        </p:nvSpPr>
        <p:spPr>
          <a:xfrm>
            <a:off x="477316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796B"/>
                </a:solidFill>
                <a:latin typeface="Courier New" pitchFamily="34" charset="0"/>
                <a:ea typeface="Courier New" pitchFamily="34" charset="-122"/>
                <a:cs typeface="Courier New" pitchFamily="34" charset="-120"/>
              </a:rPr>
              <a:t xml:space="preserve">CorpusRetrievalAdapter </a:t>
            </a:r>
            <a:r>
              <a:rPr lang="en-US" sz="950" dirty="0">
                <a:solidFill>
                  <a:srgbClr val="333333"/>
                </a:solidFill>
                <a:latin typeface="Arial" pitchFamily="34" charset="0"/>
                <a:ea typeface="Arial" pitchFamily="34" charset="-122"/>
                <a:cs typeface="Arial" pitchFamily="34" charset="-120"/>
              </a:rPr>
              <a:t>(113KB) — the full deep retrieval pipeline:
</a:t>
            </a:r>
            <a:r>
              <a:rPr lang="en-US" sz="950" b="1" dirty="0">
                <a:solidFill>
                  <a:srgbClr val="1B2A4A"/>
                </a:solidFill>
                <a:latin typeface="Arial" pitchFamily="34" charset="0"/>
                <a:ea typeface="Arial" pitchFamily="34" charset="-122"/>
                <a:cs typeface="Arial" pitchFamily="34" charset="-120"/>
              </a:rPr>
              <a:t xml:space="preserve">① Entity linking </a:t>
            </a:r>
            <a:r>
              <a:rPr lang="en-US" sz="950" dirty="0">
                <a:solidFill>
                  <a:srgbClr val="333333"/>
                </a:solidFill>
                <a:latin typeface="Arial" pitchFamily="34" charset="0"/>
                <a:ea typeface="Arial" pitchFamily="34" charset="-122"/>
                <a:cs typeface="Arial" pitchFamily="34" charset="-120"/>
              </a:rPr>
              <a:t>— rag/entity_linking.py resolves query entities against the KB before searching
</a:t>
            </a:r>
            <a:r>
              <a:rPr lang="en-US" sz="950" b="1" dirty="0">
                <a:solidFill>
                  <a:srgbClr val="1B2A4A"/>
                </a:solidFill>
                <a:latin typeface="Arial" pitchFamily="34" charset="0"/>
                <a:ea typeface="Arial" pitchFamily="34" charset="-122"/>
                <a:cs typeface="Arial" pitchFamily="34" charset="-120"/>
              </a:rPr>
              <a:t xml:space="preserve">② Discovery precision </a:t>
            </a:r>
            <a:r>
              <a:rPr lang="en-US" sz="950" dirty="0">
                <a:solidFill>
                  <a:srgbClr val="333333"/>
                </a:solidFill>
                <a:latin typeface="Arial" pitchFamily="34" charset="0"/>
                <a:ea typeface="Arial" pitchFamily="34" charset="-122"/>
                <a:cs typeface="Arial" pitchFamily="34" charset="-120"/>
              </a:rPr>
              <a:t>— filters candidate docs using topic seed terms
</a:t>
            </a:r>
            <a:r>
              <a:rPr lang="en-US" sz="950" b="1" dirty="0">
                <a:solidFill>
                  <a:srgbClr val="1B2A4A"/>
                </a:solidFill>
                <a:latin typeface="Arial" pitchFamily="34" charset="0"/>
                <a:ea typeface="Arial" pitchFamily="34" charset="-122"/>
                <a:cs typeface="Arial" pitchFamily="34" charset="-120"/>
              </a:rPr>
              <a:t xml:space="preserve">③ Retrieval verification </a:t>
            </a:r>
            <a:r>
              <a:rPr lang="en-US" sz="950" dirty="0">
                <a:solidFill>
                  <a:srgbClr val="333333"/>
                </a:solidFill>
                <a:latin typeface="Arial" pitchFamily="34" charset="0"/>
                <a:ea typeface="Arial" pitchFamily="34" charset="-122"/>
                <a:cs typeface="Arial" pitchFamily="34" charset="-120"/>
              </a:rPr>
              <a:t>— rag/verification.py validates quality before synthesis
</a:t>
            </a:r>
            <a:r>
              <a:rPr lang="en-US" sz="950" b="1" dirty="0">
                <a:solidFill>
                  <a:srgbClr val="1B2A4A"/>
                </a:solidFill>
                <a:latin typeface="Arial" pitchFamily="34" charset="0"/>
                <a:ea typeface="Arial" pitchFamily="34" charset="-122"/>
                <a:cs typeface="Arial" pitchFamily="34" charset="-120"/>
              </a:rPr>
              <a:t xml:space="preserve">④ Graph augmentation </a:t>
            </a:r>
            <a:r>
              <a:rPr lang="en-US" sz="950" dirty="0">
                <a:solidFill>
                  <a:srgbClr val="333333"/>
                </a:solidFill>
                <a:latin typeface="Arial" pitchFamily="34" charset="0"/>
                <a:ea typeface="Arial" pitchFamily="34" charset="-122"/>
                <a:cs typeface="Arial" pitchFamily="34" charset="-120"/>
              </a:rPr>
              <a:t>— integrates GraphService results when graph indexes exist</a:t>
            </a:r>
            <a:endParaRPr lang="en-US" sz="1000" dirty="0"/>
          </a:p>
        </p:txBody>
      </p:sp>
      <p:sp>
        <p:nvSpPr>
          <p:cNvPr id="12" name="Shape 10"/>
          <p:cNvSpPr/>
          <p:nvPr/>
        </p:nvSpPr>
        <p:spPr>
          <a:xfrm>
            <a:off x="502920" y="3904488"/>
            <a:ext cx="8138160" cy="402336"/>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90448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Deep RAG activates automatically for broad research queries ("comprehensive", "end-to-end", "identify all documents") or when search_mode=deep is forced in controller_hints.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runtime/deep_rag.py, rag/adaptive.py (113KB), rag/entity_linking.py, rag/verification.py, rag/discovery_precision.py</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Router Feedback Loop and Worker Scheduler</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Operational subsystems for routing quality and fair resource scheduling.</a:t>
            </a:r>
            <a:endParaRPr lang="en-US" sz="1100" dirty="0"/>
          </a:p>
        </p:txBody>
      </p:sp>
      <p:sp>
        <p:nvSpPr>
          <p:cNvPr id="4" name="Shape 2"/>
          <p:cNvSpPr/>
          <p:nvPr/>
        </p:nvSpPr>
        <p:spPr>
          <a:xfrm>
            <a:off x="50292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router/feedback_loop.py — Built</a:t>
            </a:r>
            <a:endParaRPr lang="en-US" sz="1200" dirty="0"/>
          </a:p>
        </p:txBody>
      </p:sp>
      <p:sp>
        <p:nvSpPr>
          <p:cNvPr id="7" name="Text 5"/>
          <p:cNvSpPr/>
          <p:nvPr/>
        </p:nvSpPr>
        <p:spPr>
          <a:xfrm>
            <a:off x="61264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Tracks outcome per RouterDecision:
</a:t>
            </a:r>
            <a:r>
              <a:rPr lang="en-US" sz="950" dirty="0">
                <a:solidFill>
                  <a:srgbClr val="333333"/>
                </a:solidFill>
                <a:latin typeface="Courier New" pitchFamily="34" charset="0"/>
                <a:ea typeface="Courier New" pitchFamily="34" charset="-122"/>
                <a:cs typeface="Courier New" pitchFamily="34" charset="-120"/>
              </a:rPr>
              <a:t>POSITIVE / NEUTRAL / NEGATIVE
</a:t>
            </a:r>
            <a:r>
              <a:rPr lang="en-US" sz="950" b="1" dirty="0">
                <a:solidFill>
                  <a:srgbClr val="C62828"/>
                </a:solidFill>
                <a:latin typeface="Arial" pitchFamily="34" charset="0"/>
                <a:ea typeface="Arial" pitchFamily="34" charset="-122"/>
                <a:cs typeface="Arial" pitchFamily="34" charset="-120"/>
              </a:rPr>
              <a:t xml:space="preserve">Dissatisfaction detector </a:t>
            </a:r>
            <a:r>
              <a:rPr lang="en-US" sz="950" dirty="0">
                <a:solidFill>
                  <a:srgbClr val="333333"/>
                </a:solidFill>
                <a:latin typeface="Arial" pitchFamily="34" charset="0"/>
                <a:ea typeface="Arial" pitchFamily="34" charset="-122"/>
                <a:cs typeface="Arial" pitchFamily="34" charset="-120"/>
              </a:rPr>
              <a:t>— regex matches "try again", "you missed", "wrong", "rephrase" in follow-up messages
</a:t>
            </a:r>
            <a:r>
              <a:rPr lang="en-US" sz="950" b="1" dirty="0">
                <a:solidFill>
                  <a:srgbClr val="1B2A4A"/>
                </a:solidFill>
                <a:latin typeface="Arial" pitchFamily="34" charset="0"/>
                <a:ea typeface="Arial" pitchFamily="34" charset="-122"/>
                <a:cs typeface="Arial" pitchFamily="34" charset="-120"/>
              </a:rPr>
              <a:t xml:space="preserve">Sampling </a:t>
            </a:r>
            <a:r>
              <a:rPr lang="en-US" sz="950" dirty="0">
                <a:solidFill>
                  <a:srgbClr val="333333"/>
                </a:solidFill>
                <a:latin typeface="Arial" pitchFamily="34" charset="0"/>
                <a:ea typeface="Arial" pitchFamily="34" charset="-122"/>
                <a:cs typeface="Arial" pitchFamily="34" charset="-120"/>
              </a:rPr>
              <a:t>— 10% neutral sample rate, 25 reviews/tenant/day cap prevents noise
</a:t>
            </a:r>
            <a:r>
              <a:rPr lang="en-US" sz="950" b="1" dirty="0">
                <a:solidFill>
                  <a:srgbClr val="1B2A4A"/>
                </a:solidFill>
                <a:latin typeface="Arial" pitchFamily="34" charset="0"/>
                <a:ea typeface="Arial" pitchFamily="34" charset="-122"/>
                <a:cs typeface="Arial" pitchFamily="34" charset="-120"/>
              </a:rPr>
              <a:t xml:space="preserve">Outputs </a:t>
            </a:r>
            <a:r>
              <a:rPr lang="en-US" sz="950" dirty="0">
                <a:solidFill>
                  <a:srgbClr val="333333"/>
                </a:solidFill>
                <a:latin typeface="Arial" pitchFamily="34" charset="0"/>
                <a:ea typeface="Arial" pitchFamily="34" charset="-122"/>
                <a:cs typeface="Arial" pitchFamily="34" charset="-120"/>
              </a:rPr>
              <a:t>JSONL review files — structured labeled pool for quarterly pattern retraining</a:t>
            </a:r>
            <a:endParaRPr lang="en-US" sz="1000" dirty="0"/>
          </a:p>
        </p:txBody>
      </p:sp>
      <p:sp>
        <p:nvSpPr>
          <p:cNvPr id="8" name="Shape 6"/>
          <p:cNvSpPr/>
          <p:nvPr/>
        </p:nvSpPr>
        <p:spPr>
          <a:xfrm>
            <a:off x="466344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runtime/worker_scheduler.py — Built</a:t>
            </a:r>
            <a:endParaRPr lang="en-US" sz="1200" dirty="0"/>
          </a:p>
        </p:txBody>
      </p:sp>
      <p:sp>
        <p:nvSpPr>
          <p:cNvPr id="11" name="Text 9"/>
          <p:cNvSpPr/>
          <p:nvPr/>
        </p:nvSpPr>
        <p:spPr>
          <a:xfrm>
            <a:off x="477316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3 queue classes with weighted fair queuing:
</a:t>
            </a:r>
            <a:r>
              <a:rPr lang="en-US" sz="950" dirty="0">
                <a:solidFill>
                  <a:srgbClr val="333333"/>
                </a:solidFill>
                <a:latin typeface="Courier New" pitchFamily="34" charset="0"/>
                <a:ea typeface="Courier New" pitchFamily="34" charset="-122"/>
                <a:cs typeface="Courier New" pitchFamily="34" charset="-120"/>
              </a:rPr>
              <a:t>urgent (weight 8) | interactive (3) | background (1)
</a:t>
            </a:r>
            <a:r>
              <a:rPr lang="en-US" sz="950" b="1" dirty="0">
                <a:solidFill>
                  <a:srgbClr val="00796B"/>
                </a:solidFill>
                <a:latin typeface="Arial" pitchFamily="34" charset="0"/>
                <a:ea typeface="Arial" pitchFamily="34" charset="-122"/>
                <a:cs typeface="Arial" pitchFamily="34" charset="-120"/>
              </a:rPr>
              <a:t xml:space="preserve">Per-tenant token budgets </a:t>
            </a:r>
            <a:r>
              <a:rPr lang="en-US" sz="950" dirty="0">
                <a:solidFill>
                  <a:srgbClr val="333333"/>
                </a:solidFill>
                <a:latin typeface="Arial" pitchFamily="34" charset="0"/>
                <a:ea typeface="Arial" pitchFamily="34" charset="-122"/>
                <a:cs typeface="Arial" pitchFamily="34" charset="-120"/>
              </a:rPr>
              <a:t>— prevents one noisy tenant from starving others
</a:t>
            </a:r>
            <a:r>
              <a:rPr lang="en-US" sz="950" b="1" dirty="0">
                <a:solidFill>
                  <a:srgbClr val="00796B"/>
                </a:solidFill>
                <a:latin typeface="Arial" pitchFamily="34" charset="0"/>
                <a:ea typeface="Arial" pitchFamily="34" charset="-122"/>
                <a:cs typeface="Arial" pitchFamily="34" charset="-120"/>
              </a:rPr>
              <a:t xml:space="preserve">Token estimation </a:t>
            </a:r>
            <a:r>
              <a:rPr lang="en-US" sz="950" dirty="0">
                <a:solidFill>
                  <a:srgbClr val="333333"/>
                </a:solidFill>
                <a:latin typeface="Arial" pitchFamily="34" charset="0"/>
                <a:ea typeface="Arial" pitchFamily="34" charset="-122"/>
                <a:cs typeface="Arial" pitchFamily="34" charset="-120"/>
              </a:rPr>
              <a:t>— _estimate_text_tokens() measures job weight for fair scheduling
</a:t>
            </a:r>
            <a:r>
              <a:rPr lang="en-US" sz="950" b="1" dirty="0">
                <a:solidFill>
                  <a:srgbClr val="00796B"/>
                </a:solidFill>
                <a:latin typeface="Arial" pitchFamily="34" charset="0"/>
                <a:ea typeface="Arial" pitchFamily="34" charset="-122"/>
                <a:cs typeface="Arial" pitchFamily="34" charset="-120"/>
              </a:rPr>
              <a:t xml:space="preserve">Preemption </a:t>
            </a:r>
            <a:r>
              <a:rPr lang="en-US" sz="950" dirty="0">
                <a:solidFill>
                  <a:srgbClr val="333333"/>
                </a:solidFill>
                <a:latin typeface="Arial" pitchFamily="34" charset="0"/>
                <a:ea typeface="Arial" pitchFamily="34" charset="-122"/>
                <a:cs typeface="Arial" pitchFamily="34" charset="-120"/>
              </a:rPr>
              <a:t>— urgent jobs (escalations, SLA-critical tasks) jump ahead of background batch work</a:t>
            </a:r>
            <a:endParaRPr lang="en-US" sz="1000" dirty="0"/>
          </a:p>
        </p:txBody>
      </p:sp>
      <p:sp>
        <p:nvSpPr>
          <p:cNvPr id="12" name="Shape 10"/>
          <p:cNvSpPr/>
          <p:nvPr/>
        </p:nvSpPr>
        <p:spPr>
          <a:xfrm>
            <a:off x="3566160" y="1207008"/>
            <a:ext cx="822960" cy="201168"/>
          </a:xfrm>
          <a:prstGeom prst="rect">
            <a:avLst/>
          </a:prstGeom>
          <a:solidFill>
            <a:srgbClr val="2E7D32"/>
          </a:solidFill>
          <a:ln/>
        </p:spPr>
        <p:txBody>
          <a:bodyPr/>
          <a:lstStyle/>
          <a:p>
            <a:endParaRPr lang="en-US"/>
          </a:p>
        </p:txBody>
      </p:sp>
      <p:sp>
        <p:nvSpPr>
          <p:cNvPr id="13" name="Text 11"/>
          <p:cNvSpPr/>
          <p:nvPr/>
        </p:nvSpPr>
        <p:spPr>
          <a:xfrm>
            <a:off x="356616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14" name="Shape 12"/>
          <p:cNvSpPr/>
          <p:nvPr/>
        </p:nvSpPr>
        <p:spPr>
          <a:xfrm>
            <a:off x="7726680" y="1207008"/>
            <a:ext cx="822960" cy="201168"/>
          </a:xfrm>
          <a:prstGeom prst="rect">
            <a:avLst/>
          </a:prstGeom>
          <a:solidFill>
            <a:srgbClr val="2E7D32"/>
          </a:solidFill>
          <a:ln/>
        </p:spPr>
        <p:txBody>
          <a:bodyPr/>
          <a:lstStyle/>
          <a:p>
            <a:endParaRPr lang="en-US"/>
          </a:p>
        </p:txBody>
      </p:sp>
      <p:sp>
        <p:nvSpPr>
          <p:cNvPr id="15" name="Text 13"/>
          <p:cNvSpPr/>
          <p:nvPr/>
        </p:nvSpPr>
        <p:spPr>
          <a:xfrm>
            <a:off x="772668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16" name="Shape 14"/>
          <p:cNvSpPr/>
          <p:nvPr/>
        </p:nvSpPr>
        <p:spPr>
          <a:xfrm>
            <a:off x="502920" y="4041648"/>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04164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Both modules are active in the live codebase. The feedback loop feeds labeled data for router pattern improvement. The scheduler ensures coordinator workers run fairly across tenants even under high load.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router/feedback_loop.py (31KB), runtime/worker_scheduler.py (21KB)</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Infrastructure and Resilience Modules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Seven infrastructure modules provide auth, memory, observability, parallelism, prompt resilience, and task routing.</a:t>
            </a:r>
            <a:endParaRPr lang="en-US" sz="1050" dirty="0"/>
          </a:p>
        </p:txBody>
      </p:sp>
      <p:sp>
        <p:nvSpPr>
          <p:cNvPr id="4" name="Shape 2"/>
          <p:cNvSpPr/>
          <p:nvPr/>
        </p:nvSpPr>
        <p:spPr>
          <a:xfrm>
            <a:off x="50292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3931920" cy="320040"/>
          </a:xfrm>
          <a:prstGeom prst="rect">
            <a:avLst/>
          </a:prstGeom>
          <a:solidFill>
            <a:srgbClr val="0097A7"/>
          </a:solidFill>
          <a:ln/>
        </p:spPr>
        <p:txBody>
          <a:bodyPr/>
          <a:lstStyle/>
          <a:p>
            <a:endParaRPr lang="en-US"/>
          </a:p>
        </p:txBody>
      </p:sp>
      <p:sp>
        <p:nvSpPr>
          <p:cNvPr id="6" name="Text 4"/>
          <p:cNvSpPr/>
          <p:nvPr/>
        </p:nvSpPr>
        <p:spPr>
          <a:xfrm>
            <a:off x="61264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authz/service.py — RBAC Service (267 lines)</a:t>
            </a:r>
            <a:endParaRPr lang="en-US" sz="1200" dirty="0"/>
          </a:p>
        </p:txBody>
      </p:sp>
      <p:sp>
        <p:nvSpPr>
          <p:cNvPr id="7" name="Text 5"/>
          <p:cNvSpPr/>
          <p:nvPr/>
        </p:nvSpPr>
        <p:spPr>
          <a:xfrm>
            <a:off x="61264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Principal &amp; role membership tracking
Tenant-scoped resource access control
Foundation for ABAC extension (dataset/column-level)
</a:t>
            </a:r>
            <a:r>
              <a:rPr lang="en-US" sz="950" dirty="0">
                <a:solidFill>
                  <a:srgbClr val="999999"/>
                </a:solidFill>
                <a:latin typeface="Courier New" pitchFamily="34" charset="0"/>
                <a:ea typeface="Courier New" pitchFamily="34" charset="-122"/>
                <a:cs typeface="Courier New" pitchFamily="34" charset="-120"/>
              </a:rPr>
              <a:t>persistence/postgres/access.py adds RBAC data layer</a:t>
            </a:r>
            <a:endParaRPr lang="en-US" sz="1000" dirty="0"/>
          </a:p>
        </p:txBody>
      </p:sp>
      <p:sp>
        <p:nvSpPr>
          <p:cNvPr id="8" name="Shape 6"/>
          <p:cNvSpPr/>
          <p:nvPr/>
        </p:nvSpPr>
        <p:spPr>
          <a:xfrm>
            <a:off x="470916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170432"/>
            <a:ext cx="3931920" cy="320040"/>
          </a:xfrm>
          <a:prstGeom prst="rect">
            <a:avLst/>
          </a:prstGeom>
          <a:solidFill>
            <a:srgbClr val="00796B"/>
          </a:solidFill>
          <a:ln/>
        </p:spPr>
        <p:txBody>
          <a:bodyPr/>
          <a:lstStyle/>
          <a:p>
            <a:endParaRPr lang="en-US"/>
          </a:p>
        </p:txBody>
      </p:sp>
      <p:sp>
        <p:nvSpPr>
          <p:cNvPr id="10" name="Text 8"/>
          <p:cNvSpPr/>
          <p:nvPr/>
        </p:nvSpPr>
        <p:spPr>
          <a:xfrm>
            <a:off x="481888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persistence/postgres/memory_v2.py (831 lines)</a:t>
            </a:r>
            <a:endParaRPr lang="en-US" sz="1200" dirty="0"/>
          </a:p>
        </p:txBody>
      </p:sp>
      <p:sp>
        <p:nvSpPr>
          <p:cNvPr id="11" name="Text 9"/>
          <p:cNvSpPr/>
          <p:nvPr/>
        </p:nvSpPr>
        <p:spPr>
          <a:xfrm>
            <a:off x="481888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MemoryEpisode + ManagedMemoryRecord types
Importance/confidence scoring per entry
TTL hints + supersession tracking + provenance
</a:t>
            </a:r>
            <a:r>
              <a:rPr lang="en-US" sz="950" dirty="0">
                <a:solidFill>
                  <a:srgbClr val="999999"/>
                </a:solidFill>
                <a:latin typeface="Arial" pitchFamily="34" charset="0"/>
                <a:ea typeface="Arial" pitchFamily="34" charset="-122"/>
                <a:cs typeface="Arial" pitchFamily="34" charset="-120"/>
              </a:rPr>
              <a:t>Multi-scope: conversation + user scopes</a:t>
            </a:r>
            <a:endParaRPr lang="en-US" sz="1000" dirty="0"/>
          </a:p>
        </p:txBody>
      </p:sp>
      <p:sp>
        <p:nvSpPr>
          <p:cNvPr id="12" name="Shape 10"/>
          <p:cNvSpPr/>
          <p:nvPr/>
        </p:nvSpPr>
        <p:spPr>
          <a:xfrm>
            <a:off x="50292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502920" y="2971800"/>
            <a:ext cx="1931670" cy="320040"/>
          </a:xfrm>
          <a:prstGeom prst="rect">
            <a:avLst/>
          </a:prstGeom>
          <a:solidFill>
            <a:srgbClr val="1B2A4A"/>
          </a:solidFill>
          <a:ln/>
        </p:spPr>
        <p:txBody>
          <a:bodyPr/>
          <a:lstStyle/>
          <a:p>
            <a:endParaRPr lang="en-US"/>
          </a:p>
        </p:txBody>
      </p:sp>
      <p:sp>
        <p:nvSpPr>
          <p:cNvPr id="14" name="Text 12"/>
          <p:cNvSpPr/>
          <p:nvPr/>
        </p:nvSpPr>
        <p:spPr>
          <a:xfrm>
            <a:off x="61264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live_progress + status_tracker</a:t>
            </a:r>
            <a:endParaRPr lang="en-US" sz="1200" dirty="0"/>
          </a:p>
        </p:txBody>
      </p:sp>
      <p:sp>
        <p:nvSpPr>
          <p:cNvPr id="15" name="Text 13"/>
          <p:cNvSpPr/>
          <p:nvPr/>
        </p:nvSpPr>
        <p:spPr>
          <a:xfrm>
            <a:off x="61264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SSE status events, job progress
</a:t>
            </a:r>
            <a:r>
              <a:rPr lang="en-US" sz="850" dirty="0">
                <a:solidFill>
                  <a:srgbClr val="2E7D32"/>
                </a:solidFill>
                <a:latin typeface="Arial" pitchFamily="34" charset="0"/>
                <a:ea typeface="Arial" pitchFamily="34" charset="-122"/>
                <a:cs typeface="Arial" pitchFamily="34" charset="-120"/>
              </a:rPr>
              <a:t>status_tracker.py 558→827L (+269)
</a:t>
            </a:r>
            <a:r>
              <a:rPr lang="en-US" sz="850" dirty="0">
                <a:solidFill>
                  <a:srgbClr val="333333"/>
                </a:solidFill>
                <a:latin typeface="Arial" pitchFamily="34" charset="0"/>
                <a:ea typeface="Arial" pitchFamily="34" charset="-122"/>
                <a:cs typeface="Arial" pitchFamily="34" charset="-120"/>
              </a:rPr>
              <a:t>Per-tool-call granularity ready</a:t>
            </a:r>
            <a:endParaRPr lang="en-US" sz="1000" dirty="0"/>
          </a:p>
        </p:txBody>
      </p:sp>
      <p:sp>
        <p:nvSpPr>
          <p:cNvPr id="16" name="Shape 14"/>
          <p:cNvSpPr/>
          <p:nvPr/>
        </p:nvSpPr>
        <p:spPr>
          <a:xfrm>
            <a:off x="257175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2571750" y="2971800"/>
            <a:ext cx="1931670" cy="320040"/>
          </a:xfrm>
          <a:prstGeom prst="rect">
            <a:avLst/>
          </a:prstGeom>
          <a:solidFill>
            <a:srgbClr val="2E7D32"/>
          </a:solidFill>
          <a:ln/>
        </p:spPr>
        <p:txBody>
          <a:bodyPr/>
          <a:lstStyle/>
          <a:p>
            <a:endParaRPr lang="en-US"/>
          </a:p>
        </p:txBody>
      </p:sp>
      <p:sp>
        <p:nvSpPr>
          <p:cNvPr id="18" name="Text 16"/>
          <p:cNvSpPr/>
          <p:nvPr/>
        </p:nvSpPr>
        <p:spPr>
          <a:xfrm>
            <a:off x="268147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tool_parallelism.py (181L)</a:t>
            </a:r>
            <a:endParaRPr lang="en-US" sz="1200" dirty="0"/>
          </a:p>
        </p:txBody>
      </p:sp>
      <p:sp>
        <p:nvSpPr>
          <p:cNvPr id="19" name="Text 17"/>
          <p:cNvSpPr/>
          <p:nvPr/>
        </p:nvSpPr>
        <p:spPr>
          <a:xfrm>
            <a:off x="268147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Wave-based parallel tool exec
Concurrency key conflict detect
</a:t>
            </a:r>
            <a:r>
              <a:rPr lang="en-US" sz="850" dirty="0">
                <a:solidFill>
                  <a:srgbClr val="2E7D32"/>
                </a:solidFill>
                <a:latin typeface="Arial" pitchFamily="34" charset="0"/>
                <a:ea typeface="Arial" pitchFamily="34" charset="-122"/>
                <a:cs typeface="Arial" pitchFamily="34" charset="-120"/>
              </a:rPr>
              <a:t>Budget: max 12 calls/turn</a:t>
            </a:r>
            <a:endParaRPr lang="en-US" sz="1000" dirty="0"/>
          </a:p>
        </p:txBody>
      </p:sp>
      <p:sp>
        <p:nvSpPr>
          <p:cNvPr id="20" name="Shape 18"/>
          <p:cNvSpPr/>
          <p:nvPr/>
        </p:nvSpPr>
        <p:spPr>
          <a:xfrm>
            <a:off x="464058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1" name="Shape 19"/>
          <p:cNvSpPr/>
          <p:nvPr/>
        </p:nvSpPr>
        <p:spPr>
          <a:xfrm>
            <a:off x="4640580" y="2971800"/>
            <a:ext cx="1931670" cy="320040"/>
          </a:xfrm>
          <a:prstGeom prst="rect">
            <a:avLst/>
          </a:prstGeom>
          <a:solidFill>
            <a:srgbClr val="F9A825"/>
          </a:solidFill>
          <a:ln/>
        </p:spPr>
        <p:txBody>
          <a:bodyPr/>
          <a:lstStyle/>
          <a:p>
            <a:endParaRPr lang="en-US"/>
          </a:p>
        </p:txBody>
      </p:sp>
      <p:sp>
        <p:nvSpPr>
          <p:cNvPr id="22" name="Text 20"/>
          <p:cNvSpPr/>
          <p:nvPr/>
        </p:nvSpPr>
        <p:spPr>
          <a:xfrm>
            <a:off x="475030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prompt_fallbacks.py (181L)</a:t>
            </a:r>
            <a:endParaRPr lang="en-US" sz="1200" dirty="0"/>
          </a:p>
        </p:txBody>
      </p:sp>
      <p:sp>
        <p:nvSpPr>
          <p:cNvPr id="23" name="Text 21"/>
          <p:cNvSpPr/>
          <p:nvPr/>
        </p:nvSpPr>
        <p:spPr>
          <a:xfrm>
            <a:off x="475030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Fallback prompts for 10 roles
Shared charter + per-role mission
</a:t>
            </a:r>
            <a:r>
              <a:rPr lang="en-US" sz="850" dirty="0">
                <a:solidFill>
                  <a:srgbClr val="2E7D32"/>
                </a:solidFill>
                <a:latin typeface="Arial" pitchFamily="34" charset="0"/>
                <a:ea typeface="Arial" pitchFamily="34" charset="-122"/>
                <a:cs typeface="Arial" pitchFamily="34" charset="-120"/>
              </a:rPr>
              <a:t>Resilience when files missing</a:t>
            </a:r>
            <a:endParaRPr lang="en-US" sz="1000" dirty="0"/>
          </a:p>
        </p:txBody>
      </p:sp>
      <p:sp>
        <p:nvSpPr>
          <p:cNvPr id="24" name="Shape 22"/>
          <p:cNvSpPr/>
          <p:nvPr/>
        </p:nvSpPr>
        <p:spPr>
          <a:xfrm>
            <a:off x="670941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6709410" y="2971800"/>
            <a:ext cx="1931670" cy="320040"/>
          </a:xfrm>
          <a:prstGeom prst="rect">
            <a:avLst/>
          </a:prstGeom>
          <a:solidFill>
            <a:srgbClr val="0097A7"/>
          </a:solidFill>
          <a:ln/>
        </p:spPr>
        <p:txBody>
          <a:bodyPr/>
          <a:lstStyle/>
          <a:p>
            <a:endParaRPr lang="en-US"/>
          </a:p>
        </p:txBody>
      </p:sp>
      <p:sp>
        <p:nvSpPr>
          <p:cNvPr id="26" name="Text 24"/>
          <p:cNvSpPr/>
          <p:nvPr/>
        </p:nvSpPr>
        <p:spPr>
          <a:xfrm>
            <a:off x="681913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task_decomposition.py (232L)</a:t>
            </a:r>
            <a:endParaRPr lang="en-US" sz="1200" dirty="0"/>
          </a:p>
        </p:txBody>
      </p:sp>
      <p:sp>
        <p:nvSpPr>
          <p:cNvPr id="27" name="Text 25"/>
          <p:cNvSpPr/>
          <p:nvPr/>
        </p:nvSpPr>
        <p:spPr>
          <a:xfrm>
            <a:off x="681913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Mixed-intent request detection
Routes to coordinator or direct
</a:t>
            </a:r>
            <a:r>
              <a:rPr lang="en-US" sz="850" dirty="0">
                <a:solidFill>
                  <a:srgbClr val="2E7D32"/>
                </a:solidFill>
                <a:latin typeface="Arial" pitchFamily="34" charset="0"/>
                <a:ea typeface="Arial" pitchFamily="34" charset="-122"/>
                <a:cs typeface="Arial" pitchFamily="34" charset="-120"/>
              </a:rPr>
              <a:t>Arithmetic + RAG + analysis slices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authz/service.py, memory_v2.py, live_progress.py, status_tracker.py, tool_parallelism.py, prompt_fallbacks.py, task_decomposition.py</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Agentic Harness — 6 Runtime Improvements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ReAct loop in query_loop.py and kernel.py is functional but lacks patterns that production agentic systems need for reliability and observability.</a:t>
            </a:r>
            <a:endParaRPr lang="en-US" sz="1050" dirty="0"/>
          </a:p>
        </p:txBody>
      </p:sp>
      <p:sp>
        <p:nvSpPr>
          <p:cNvPr id="4" name="Shape 2"/>
          <p:cNvSpPr/>
          <p:nvPr/>
        </p:nvSpPr>
        <p:spPr>
          <a:xfrm>
            <a:off x="502920" y="1170432"/>
            <a:ext cx="21488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170432"/>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Improvement</a:t>
            </a:r>
            <a:endParaRPr lang="en-US" sz="950" dirty="0"/>
          </a:p>
        </p:txBody>
      </p:sp>
      <p:sp>
        <p:nvSpPr>
          <p:cNvPr id="6" name="Shape 4"/>
          <p:cNvSpPr/>
          <p:nvPr/>
        </p:nvSpPr>
        <p:spPr>
          <a:xfrm>
            <a:off x="2651760" y="1170432"/>
            <a:ext cx="329184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24912" y="1170432"/>
            <a:ext cx="3145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943600" y="1170432"/>
            <a:ext cx="297180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6016752" y="1170432"/>
            <a:ext cx="282549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Implementation Path</a:t>
            </a:r>
            <a:endParaRPr lang="en-US" sz="950" dirty="0"/>
          </a:p>
        </p:txBody>
      </p:sp>
      <p:sp>
        <p:nvSpPr>
          <p:cNvPr id="10" name="Shape 8"/>
          <p:cNvSpPr/>
          <p:nvPr/>
        </p:nvSpPr>
        <p:spPr>
          <a:xfrm>
            <a:off x="502920" y="1426464"/>
            <a:ext cx="2148840" cy="548640"/>
          </a:xfrm>
          <a:prstGeom prst="rect">
            <a:avLst/>
          </a:prstGeom>
          <a:solidFill>
            <a:srgbClr val="E0F7FA"/>
          </a:solidFill>
          <a:ln w="3810">
            <a:solidFill>
              <a:srgbClr val="F0F0F0"/>
            </a:solidFill>
            <a:prstDash val="solid"/>
          </a:ln>
        </p:spPr>
        <p:txBody>
          <a:bodyPr/>
          <a:lstStyle/>
          <a:p>
            <a:endParaRPr lang="en-US"/>
          </a:p>
        </p:txBody>
      </p:sp>
      <p:sp>
        <p:nvSpPr>
          <p:cNvPr id="11" name="Text 9"/>
          <p:cNvSpPr/>
          <p:nvPr/>
        </p:nvSpPr>
        <p:spPr>
          <a:xfrm>
            <a:off x="576072" y="14538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Step-Level Retry Policy</a:t>
            </a:r>
            <a:endParaRPr lang="en-US" sz="900" dirty="0"/>
          </a:p>
        </p:txBody>
      </p:sp>
      <p:sp>
        <p:nvSpPr>
          <p:cNvPr id="12" name="Shape 10"/>
          <p:cNvSpPr/>
          <p:nvPr/>
        </p:nvSpPr>
        <p:spPr>
          <a:xfrm>
            <a:off x="2651760" y="1426464"/>
            <a:ext cx="3291840" cy="5486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724912" y="14538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Tool failures halt the entire turn. No exponential backoff, no retry budgets. Recovery only at _finalize_messages().</a:t>
            </a:r>
            <a:endParaRPr lang="en-US" sz="850" dirty="0"/>
          </a:p>
        </p:txBody>
      </p:sp>
      <p:sp>
        <p:nvSpPr>
          <p:cNvPr id="14" name="Shape 12"/>
          <p:cNvSpPr/>
          <p:nvPr/>
        </p:nvSpPr>
        <p:spPr>
          <a:xfrm>
            <a:off x="5943600" y="1426464"/>
            <a:ext cx="2971800" cy="5486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16752" y="14538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RetryPolicy per tool: max_retries, backoff, fallback_tool. Wrap tool calls in retry_with_policy() in general_agent.py.</a:t>
            </a:r>
            <a:endParaRPr lang="en-US" sz="850" dirty="0"/>
          </a:p>
        </p:txBody>
      </p:sp>
      <p:sp>
        <p:nvSpPr>
          <p:cNvPr id="16" name="Shape 14"/>
          <p:cNvSpPr/>
          <p:nvPr/>
        </p:nvSpPr>
        <p:spPr>
          <a:xfrm>
            <a:off x="502920" y="1975104"/>
            <a:ext cx="2148840" cy="548640"/>
          </a:xfrm>
          <a:prstGeom prst="rect">
            <a:avLst/>
          </a:prstGeom>
          <a:solidFill>
            <a:srgbClr val="E0F7FA"/>
          </a:solidFill>
          <a:ln w="3810">
            <a:solidFill>
              <a:srgbClr val="F0F0F0"/>
            </a:solidFill>
            <a:prstDash val="solid"/>
          </a:ln>
        </p:spPr>
        <p:txBody>
          <a:bodyPr/>
          <a:lstStyle/>
          <a:p>
            <a:endParaRPr lang="en-US"/>
          </a:p>
        </p:txBody>
      </p:sp>
      <p:sp>
        <p:nvSpPr>
          <p:cNvPr id="17" name="Text 15"/>
          <p:cNvSpPr/>
          <p:nvPr/>
        </p:nvSpPr>
        <p:spPr>
          <a:xfrm>
            <a:off x="576072" y="200253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Per-Step Observability</a:t>
            </a:r>
            <a:endParaRPr lang="en-US" sz="900" dirty="0"/>
          </a:p>
        </p:txBody>
      </p:sp>
      <p:sp>
        <p:nvSpPr>
          <p:cNvPr id="18" name="Shape 16"/>
          <p:cNvSpPr/>
          <p:nvPr/>
        </p:nvSpPr>
        <p:spPr>
          <a:xfrm>
            <a:off x="2651760" y="1975104"/>
            <a:ext cx="3291840" cy="548640"/>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724912" y="200253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Events emitted at turn level only. No tool timing, no failure categorization (timeout vs validation vs missing data).</a:t>
            </a:r>
            <a:endParaRPr lang="en-US" sz="850" dirty="0"/>
          </a:p>
        </p:txBody>
      </p:sp>
      <p:sp>
        <p:nvSpPr>
          <p:cNvPr id="20" name="Shape 18"/>
          <p:cNvSpPr/>
          <p:nvPr/>
        </p:nvSpPr>
        <p:spPr>
          <a:xfrm>
            <a:off x="5943600" y="1975104"/>
            <a:ext cx="2971800" cy="548640"/>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6016752" y="200253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Emit StepEvent(tool, latency_ms, tokens, status, error_type) per tool call. Feed to status_tracker for live SSE per-step events.</a:t>
            </a:r>
            <a:endParaRPr lang="en-US" sz="850" dirty="0"/>
          </a:p>
        </p:txBody>
      </p:sp>
      <p:sp>
        <p:nvSpPr>
          <p:cNvPr id="22" name="Shape 20"/>
          <p:cNvSpPr/>
          <p:nvPr/>
        </p:nvSpPr>
        <p:spPr>
          <a:xfrm>
            <a:off x="502920" y="2523744"/>
            <a:ext cx="2148840" cy="548640"/>
          </a:xfrm>
          <a:prstGeom prst="rect">
            <a:avLst/>
          </a:prstGeom>
          <a:solidFill>
            <a:srgbClr val="E0F7FA"/>
          </a:solidFill>
          <a:ln w="3810">
            <a:solidFill>
              <a:srgbClr val="F0F0F0"/>
            </a:solidFill>
            <a:prstDash val="solid"/>
          </a:ln>
        </p:spPr>
        <p:txBody>
          <a:bodyPr/>
          <a:lstStyle/>
          <a:p>
            <a:endParaRPr lang="en-US"/>
          </a:p>
        </p:txBody>
      </p:sp>
      <p:sp>
        <p:nvSpPr>
          <p:cNvPr id="23" name="Text 21"/>
          <p:cNvSpPr/>
          <p:nvPr/>
        </p:nvSpPr>
        <p:spPr>
          <a:xfrm>
            <a:off x="576072" y="255117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Dynamic Memory Refresh</a:t>
            </a:r>
            <a:endParaRPr lang="en-US" sz="900" dirty="0"/>
          </a:p>
        </p:txBody>
      </p:sp>
      <p:sp>
        <p:nvSpPr>
          <p:cNvPr id="24" name="Shape 22"/>
          <p:cNvSpPr/>
          <p:nvPr/>
        </p:nvSpPr>
        <p:spPr>
          <a:xfrm>
            <a:off x="2651760" y="2523744"/>
            <a:ext cx="3291840" cy="54864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24912" y="255117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Memory loads once at turn start (kernel.py:183). Long-running turns can't access facts saved mid-turn.</a:t>
            </a:r>
            <a:endParaRPr lang="en-US" sz="850" dirty="0"/>
          </a:p>
        </p:txBody>
      </p:sp>
      <p:sp>
        <p:nvSpPr>
          <p:cNvPr id="26" name="Shape 24"/>
          <p:cNvSpPr/>
          <p:nvPr/>
        </p:nvSpPr>
        <p:spPr>
          <a:xfrm>
            <a:off x="5943600" y="2523744"/>
            <a:ext cx="297180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016752" y="255117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memory_refresh_after_steps=N config. Re-inject memory context after high-impact tool calls (memory_save, workspace_write).</a:t>
            </a:r>
            <a:endParaRPr lang="en-US" sz="850" dirty="0"/>
          </a:p>
        </p:txBody>
      </p:sp>
      <p:sp>
        <p:nvSpPr>
          <p:cNvPr id="28" name="Shape 26"/>
          <p:cNvSpPr/>
          <p:nvPr/>
        </p:nvSpPr>
        <p:spPr>
          <a:xfrm>
            <a:off x="502920" y="3072384"/>
            <a:ext cx="2148840" cy="548640"/>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309981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Parallel Tool Execution ✓</a:t>
            </a:r>
            <a:endParaRPr lang="en-US" sz="900" dirty="0"/>
          </a:p>
        </p:txBody>
      </p:sp>
      <p:sp>
        <p:nvSpPr>
          <p:cNvPr id="30" name="Shape 28"/>
          <p:cNvSpPr/>
          <p:nvPr/>
        </p:nvSpPr>
        <p:spPr>
          <a:xfrm>
            <a:off x="2651760" y="3072384"/>
            <a:ext cx="3291840" cy="548640"/>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724912" y="309981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 BUILT — tool_parallelism.py (181L). Wave-based execution with concurrency key conflict detection and 12-call/turn budget.</a:t>
            </a:r>
            <a:endParaRPr lang="en-US" sz="850" dirty="0"/>
          </a:p>
        </p:txBody>
      </p:sp>
      <p:sp>
        <p:nvSpPr>
          <p:cNvPr id="32" name="Shape 30"/>
          <p:cNvSpPr/>
          <p:nvPr/>
        </p:nvSpPr>
        <p:spPr>
          <a:xfrm>
            <a:off x="5943600" y="3072384"/>
            <a:ext cx="2971800" cy="548640"/>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6016752" y="309981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Done. Extend: add per-wave timeout, retry integration, and step-event emission per parallel batch.</a:t>
            </a:r>
            <a:endParaRPr lang="en-US" sz="850" dirty="0"/>
          </a:p>
        </p:txBody>
      </p:sp>
      <p:sp>
        <p:nvSpPr>
          <p:cNvPr id="34" name="Shape 32"/>
          <p:cNvSpPr/>
          <p:nvPr/>
        </p:nvSpPr>
        <p:spPr>
          <a:xfrm>
            <a:off x="502920" y="3621024"/>
            <a:ext cx="2148840" cy="548640"/>
          </a:xfrm>
          <a:prstGeom prst="rect">
            <a:avLst/>
          </a:prstGeom>
          <a:solidFill>
            <a:srgbClr val="E0F7FA"/>
          </a:solidFill>
          <a:ln w="3810">
            <a:solidFill>
              <a:srgbClr val="F0F0F0"/>
            </a:solidFill>
            <a:prstDash val="solid"/>
          </a:ln>
        </p:spPr>
        <p:txBody>
          <a:bodyPr/>
          <a:lstStyle/>
          <a:p>
            <a:endParaRPr lang="en-US"/>
          </a:p>
        </p:txBody>
      </p:sp>
      <p:sp>
        <p:nvSpPr>
          <p:cNvPr id="35" name="Text 33"/>
          <p:cNvSpPr/>
          <p:nvPr/>
        </p:nvSpPr>
        <p:spPr>
          <a:xfrm>
            <a:off x="576072" y="364845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Chain-of-Thought Capture</a:t>
            </a:r>
            <a:endParaRPr lang="en-US" sz="900" dirty="0"/>
          </a:p>
        </p:txBody>
      </p:sp>
      <p:sp>
        <p:nvSpPr>
          <p:cNvPr id="36" name="Shape 34"/>
          <p:cNvSpPr/>
          <p:nvPr/>
        </p:nvSpPr>
        <p:spPr>
          <a:xfrm>
            <a:off x="2651760" y="3621024"/>
            <a:ext cx="3291840" cy="54864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724912" y="364845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CoT reasoning exists only in LLM tokens. Intermediate conclusions aren't stored for verification or replay.</a:t>
            </a:r>
            <a:endParaRPr lang="en-US" sz="850" dirty="0"/>
          </a:p>
        </p:txBody>
      </p:sp>
      <p:sp>
        <p:nvSpPr>
          <p:cNvPr id="38" name="Shape 36"/>
          <p:cNvSpPr/>
          <p:nvPr/>
        </p:nvSpPr>
        <p:spPr>
          <a:xfrm>
            <a:off x="5943600" y="3621024"/>
            <a:ext cx="2971800" cy="548640"/>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6016752" y="364845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Persist ReasoningArtifact per step: (step_num, thought, action, observation). Store in session for verifier access and debug replay.</a:t>
            </a:r>
            <a:endParaRPr lang="en-US" sz="850" dirty="0"/>
          </a:p>
        </p:txBody>
      </p:sp>
      <p:sp>
        <p:nvSpPr>
          <p:cNvPr id="40" name="Shape 38"/>
          <p:cNvSpPr/>
          <p:nvPr/>
        </p:nvSpPr>
        <p:spPr>
          <a:xfrm>
            <a:off x="502920" y="4169664"/>
            <a:ext cx="2148840" cy="548640"/>
          </a:xfrm>
          <a:prstGeom prst="rect">
            <a:avLst/>
          </a:prstGeom>
          <a:solidFill>
            <a:srgbClr val="E0F7FA"/>
          </a:solidFill>
          <a:ln w="3810">
            <a:solidFill>
              <a:srgbClr val="F0F0F0"/>
            </a:solidFill>
            <a:prstDash val="solid"/>
          </a:ln>
        </p:spPr>
        <p:txBody>
          <a:bodyPr/>
          <a:lstStyle/>
          <a:p>
            <a:endParaRPr lang="en-US"/>
          </a:p>
        </p:txBody>
      </p:sp>
      <p:sp>
        <p:nvSpPr>
          <p:cNvPr id="41" name="Text 39"/>
          <p:cNvSpPr/>
          <p:nvPr/>
        </p:nvSpPr>
        <p:spPr>
          <a:xfrm>
            <a:off x="576072" y="41970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Configurable Fallback Chains</a:t>
            </a:r>
            <a:endParaRPr lang="en-US" sz="900" dirty="0"/>
          </a:p>
        </p:txBody>
      </p:sp>
      <p:sp>
        <p:nvSpPr>
          <p:cNvPr id="42" name="Shape 40"/>
          <p:cNvSpPr/>
          <p:nvPr/>
        </p:nvSpPr>
        <p:spPr>
          <a:xfrm>
            <a:off x="2651760" y="4169664"/>
            <a:ext cx="3291840" cy="548640"/>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724912" y="41970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_finalize_messages() tries 4 hardcoded recovery strategies. No per-agent or per-tool customization.</a:t>
            </a:r>
            <a:endParaRPr lang="en-US" sz="850" dirty="0"/>
          </a:p>
        </p:txBody>
      </p:sp>
      <p:sp>
        <p:nvSpPr>
          <p:cNvPr id="44" name="Shape 42"/>
          <p:cNvSpPr/>
          <p:nvPr/>
        </p:nvSpPr>
        <p:spPr>
          <a:xfrm>
            <a:off x="5943600" y="4169664"/>
            <a:ext cx="2971800" cy="548640"/>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6016752" y="41970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FallbackChain config to AgentDefinition. Each chain: [strategy_1, strategy_2, ...]. Priority order configurable per agent mode.</a:t>
            </a:r>
            <a:endParaRPr lang="en-US" sz="850" dirty="0"/>
          </a:p>
        </p:txBody>
      </p:sp>
      <p:sp>
        <p:nvSpPr>
          <p:cNvPr id="46" name="Text 4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(1782 lines), runtime/query_loop.py (1350 lines), general_agent.py (1430 lines)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Feature Roadmap — All 13 Improvements</a:t>
            </a:r>
            <a:endParaRPr lang="en-US" sz="2600" dirty="0"/>
          </a:p>
        </p:txBody>
      </p:sp>
      <p:sp>
        <p:nvSpPr>
          <p:cNvPr id="3" name="Shape 1"/>
          <p:cNvSpPr/>
          <p:nvPr/>
        </p:nvSpPr>
        <p:spPr>
          <a:xfrm>
            <a:off x="502920" y="804672"/>
            <a:ext cx="3931920" cy="237744"/>
          </a:xfrm>
          <a:prstGeom prst="rect">
            <a:avLst/>
          </a:prstGeom>
          <a:solidFill>
            <a:srgbClr val="1B2A4A"/>
          </a:solidFill>
          <a:ln/>
        </p:spPr>
        <p:txBody>
          <a:bodyPr/>
          <a:lstStyle/>
          <a:p>
            <a:endParaRPr lang="en-US"/>
          </a:p>
        </p:txBody>
      </p:sp>
      <p:sp>
        <p:nvSpPr>
          <p:cNvPr id="4" name="Text 2"/>
          <p:cNvSpPr/>
          <p:nvPr/>
        </p:nvSpPr>
        <p:spPr>
          <a:xfrm>
            <a:off x="57607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5" name="Text 3"/>
          <p:cNvSpPr/>
          <p:nvPr/>
        </p:nvSpPr>
        <p:spPr>
          <a:xfrm>
            <a:off x="269748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6" name="Text 4"/>
          <p:cNvSpPr/>
          <p:nvPr/>
        </p:nvSpPr>
        <p:spPr>
          <a:xfrm>
            <a:off x="388620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7" name="Shape 5"/>
          <p:cNvSpPr/>
          <p:nvPr/>
        </p:nvSpPr>
        <p:spPr>
          <a:xfrm>
            <a:off x="4709160" y="804672"/>
            <a:ext cx="3931920" cy="237744"/>
          </a:xfrm>
          <a:prstGeom prst="rect">
            <a:avLst/>
          </a:prstGeom>
          <a:solidFill>
            <a:srgbClr val="1B2A4A"/>
          </a:solidFill>
          <a:ln/>
        </p:spPr>
        <p:txBody>
          <a:bodyPr/>
          <a:lstStyle/>
          <a:p>
            <a:endParaRPr lang="en-US"/>
          </a:p>
        </p:txBody>
      </p:sp>
      <p:sp>
        <p:nvSpPr>
          <p:cNvPr id="8" name="Text 6"/>
          <p:cNvSpPr/>
          <p:nvPr/>
        </p:nvSpPr>
        <p:spPr>
          <a:xfrm>
            <a:off x="478231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9" name="Text 7"/>
          <p:cNvSpPr/>
          <p:nvPr/>
        </p:nvSpPr>
        <p:spPr>
          <a:xfrm>
            <a:off x="690372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10" name="Text 8"/>
          <p:cNvSpPr/>
          <p:nvPr/>
        </p:nvSpPr>
        <p:spPr>
          <a:xfrm>
            <a:off x="809244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11" name="Shape 9"/>
          <p:cNvSpPr/>
          <p:nvPr/>
        </p:nvSpPr>
        <p:spPr>
          <a:xfrm>
            <a:off x="50292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Conversation Export</a:t>
            </a:r>
            <a:endParaRPr lang="en-US" sz="850" dirty="0"/>
          </a:p>
        </p:txBody>
      </p:sp>
      <p:sp>
        <p:nvSpPr>
          <p:cNvPr id="13" name="Shape 11"/>
          <p:cNvSpPr/>
          <p:nvPr/>
        </p:nvSpPr>
        <p:spPr>
          <a:xfrm>
            <a:off x="269748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74320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15" name="Shape 13"/>
          <p:cNvSpPr/>
          <p:nvPr/>
        </p:nvSpPr>
        <p:spPr>
          <a:xfrm>
            <a:off x="3886200" y="1078992"/>
            <a:ext cx="548640" cy="310896"/>
          </a:xfrm>
          <a:prstGeom prst="rect">
            <a:avLst/>
          </a:prstGeom>
          <a:solidFill>
            <a:srgbClr val="2E7D32"/>
          </a:solidFill>
          <a:ln/>
        </p:spPr>
        <p:txBody>
          <a:bodyPr/>
          <a:lstStyle/>
          <a:p>
            <a:endParaRPr lang="en-US"/>
          </a:p>
        </p:txBody>
      </p:sp>
      <p:sp>
        <p:nvSpPr>
          <p:cNvPr id="16" name="Text 14"/>
          <p:cNvSpPr/>
          <p:nvPr/>
        </p:nvSpPr>
        <p:spPr>
          <a:xfrm>
            <a:off x="391363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17" name="Shape 15"/>
          <p:cNvSpPr/>
          <p:nvPr/>
        </p:nvSpPr>
        <p:spPr>
          <a:xfrm>
            <a:off x="50292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55778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History Pagination</a:t>
            </a:r>
            <a:endParaRPr lang="en-US" sz="850" dirty="0"/>
          </a:p>
        </p:txBody>
      </p:sp>
      <p:sp>
        <p:nvSpPr>
          <p:cNvPr id="19" name="Shape 17"/>
          <p:cNvSpPr/>
          <p:nvPr/>
        </p:nvSpPr>
        <p:spPr>
          <a:xfrm>
            <a:off x="269748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274320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21" name="Shape 19"/>
          <p:cNvSpPr/>
          <p:nvPr/>
        </p:nvSpPr>
        <p:spPr>
          <a:xfrm>
            <a:off x="3886200" y="1389888"/>
            <a:ext cx="548640" cy="310896"/>
          </a:xfrm>
          <a:prstGeom prst="rect">
            <a:avLst/>
          </a:prstGeom>
          <a:solidFill>
            <a:srgbClr val="2E7D32"/>
          </a:solidFill>
          <a:ln/>
        </p:spPr>
        <p:txBody>
          <a:bodyPr/>
          <a:lstStyle/>
          <a:p>
            <a:endParaRPr lang="en-US"/>
          </a:p>
        </p:txBody>
      </p:sp>
      <p:sp>
        <p:nvSpPr>
          <p:cNvPr id="22" name="Text 20"/>
          <p:cNvSpPr/>
          <p:nvPr/>
        </p:nvSpPr>
        <p:spPr>
          <a:xfrm>
            <a:off x="391363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23" name="Shape 21"/>
          <p:cNvSpPr/>
          <p:nvPr/>
        </p:nvSpPr>
        <p:spPr>
          <a:xfrm>
            <a:off x="50292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55778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Skill Version Diff/Branch</a:t>
            </a:r>
            <a:endParaRPr lang="en-US" sz="850" dirty="0"/>
          </a:p>
        </p:txBody>
      </p:sp>
      <p:sp>
        <p:nvSpPr>
          <p:cNvPr id="25" name="Shape 23"/>
          <p:cNvSpPr/>
          <p:nvPr/>
        </p:nvSpPr>
        <p:spPr>
          <a:xfrm>
            <a:off x="269748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74320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skills API</a:t>
            </a:r>
            <a:endParaRPr lang="en-US" sz="800" dirty="0"/>
          </a:p>
        </p:txBody>
      </p:sp>
      <p:sp>
        <p:nvSpPr>
          <p:cNvPr id="27" name="Shape 25"/>
          <p:cNvSpPr/>
          <p:nvPr/>
        </p:nvSpPr>
        <p:spPr>
          <a:xfrm>
            <a:off x="3886200" y="1700784"/>
            <a:ext cx="548640" cy="310896"/>
          </a:xfrm>
          <a:prstGeom prst="rect">
            <a:avLst/>
          </a:prstGeom>
          <a:solidFill>
            <a:srgbClr val="2E7D32"/>
          </a:solidFill>
          <a:ln/>
        </p:spPr>
        <p:txBody>
          <a:bodyPr/>
          <a:lstStyle/>
          <a:p>
            <a:endParaRPr lang="en-US"/>
          </a:p>
        </p:txBody>
      </p:sp>
      <p:sp>
        <p:nvSpPr>
          <p:cNvPr id="28" name="Text 26"/>
          <p:cNvSpPr/>
          <p:nvPr/>
        </p:nvSpPr>
        <p:spPr>
          <a:xfrm>
            <a:off x="391363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29" name="Shape 27"/>
          <p:cNvSpPr/>
          <p:nvPr/>
        </p:nvSpPr>
        <p:spPr>
          <a:xfrm>
            <a:off x="50292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55778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Graph Query Cache</a:t>
            </a:r>
            <a:endParaRPr lang="en-US" sz="850" dirty="0"/>
          </a:p>
        </p:txBody>
      </p:sp>
      <p:sp>
        <p:nvSpPr>
          <p:cNvPr id="31" name="Shape 29"/>
          <p:cNvSpPr/>
          <p:nvPr/>
        </p:nvSpPr>
        <p:spPr>
          <a:xfrm>
            <a:off x="269748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274320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rag/graph_store.py</a:t>
            </a:r>
            <a:endParaRPr lang="en-US" sz="800" dirty="0"/>
          </a:p>
        </p:txBody>
      </p:sp>
      <p:sp>
        <p:nvSpPr>
          <p:cNvPr id="33" name="Shape 31"/>
          <p:cNvSpPr/>
          <p:nvPr/>
        </p:nvSpPr>
        <p:spPr>
          <a:xfrm>
            <a:off x="3886200" y="2011680"/>
            <a:ext cx="548640" cy="310896"/>
          </a:xfrm>
          <a:prstGeom prst="rect">
            <a:avLst/>
          </a:prstGeom>
          <a:solidFill>
            <a:srgbClr val="2E7D32"/>
          </a:solidFill>
          <a:ln/>
        </p:spPr>
        <p:txBody>
          <a:bodyPr/>
          <a:lstStyle/>
          <a:p>
            <a:endParaRPr lang="en-US"/>
          </a:p>
        </p:txBody>
      </p:sp>
      <p:sp>
        <p:nvSpPr>
          <p:cNvPr id="34" name="Text 32"/>
          <p:cNvSpPr/>
          <p:nvPr/>
        </p:nvSpPr>
        <p:spPr>
          <a:xfrm>
            <a:off x="391363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35" name="Shape 33"/>
          <p:cNvSpPr/>
          <p:nvPr/>
        </p:nvSpPr>
        <p:spPr>
          <a:xfrm>
            <a:off x="50292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55778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Doc Confidence Scoring</a:t>
            </a:r>
            <a:endParaRPr lang="en-US" sz="850" dirty="0"/>
          </a:p>
        </p:txBody>
      </p:sp>
      <p:sp>
        <p:nvSpPr>
          <p:cNvPr id="37" name="Shape 35"/>
          <p:cNvSpPr/>
          <p:nvPr/>
        </p:nvSpPr>
        <p:spPr>
          <a:xfrm>
            <a:off x="269748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274320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rag/synthesis.py</a:t>
            </a:r>
            <a:endParaRPr lang="en-US" sz="800" dirty="0"/>
          </a:p>
        </p:txBody>
      </p:sp>
      <p:sp>
        <p:nvSpPr>
          <p:cNvPr id="39" name="Shape 37"/>
          <p:cNvSpPr/>
          <p:nvPr/>
        </p:nvSpPr>
        <p:spPr>
          <a:xfrm>
            <a:off x="3886200" y="2322576"/>
            <a:ext cx="548640" cy="310896"/>
          </a:xfrm>
          <a:prstGeom prst="rect">
            <a:avLst/>
          </a:prstGeom>
          <a:solidFill>
            <a:srgbClr val="2E7D32"/>
          </a:solidFill>
          <a:ln/>
        </p:spPr>
        <p:txBody>
          <a:bodyPr/>
          <a:lstStyle/>
          <a:p>
            <a:endParaRPr lang="en-US"/>
          </a:p>
        </p:txBody>
      </p:sp>
      <p:sp>
        <p:nvSpPr>
          <p:cNvPr id="40" name="Text 38"/>
          <p:cNvSpPr/>
          <p:nvPr/>
        </p:nvSpPr>
        <p:spPr>
          <a:xfrm>
            <a:off x="391363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41" name="Shape 39"/>
          <p:cNvSpPr/>
          <p:nvPr/>
        </p:nvSpPr>
        <p:spPr>
          <a:xfrm>
            <a:off x="50292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55778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Streaming Reasoning (▲)</a:t>
            </a:r>
            <a:endParaRPr lang="en-US" sz="850" dirty="0"/>
          </a:p>
        </p:txBody>
      </p:sp>
      <p:sp>
        <p:nvSpPr>
          <p:cNvPr id="43" name="Shape 41"/>
          <p:cNvSpPr/>
          <p:nvPr/>
        </p:nvSpPr>
        <p:spPr>
          <a:xfrm>
            <a:off x="269748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274320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api/live_progress.py</a:t>
            </a:r>
            <a:endParaRPr lang="en-US" sz="800" dirty="0"/>
          </a:p>
        </p:txBody>
      </p:sp>
      <p:sp>
        <p:nvSpPr>
          <p:cNvPr id="45" name="Shape 43"/>
          <p:cNvSpPr/>
          <p:nvPr/>
        </p:nvSpPr>
        <p:spPr>
          <a:xfrm>
            <a:off x="3886200" y="2633472"/>
            <a:ext cx="548640" cy="310896"/>
          </a:xfrm>
          <a:prstGeom prst="rect">
            <a:avLst/>
          </a:prstGeom>
          <a:solidFill>
            <a:srgbClr val="0097A7"/>
          </a:solidFill>
          <a:ln/>
        </p:spPr>
        <p:txBody>
          <a:bodyPr/>
          <a:lstStyle/>
          <a:p>
            <a:endParaRPr lang="en-US"/>
          </a:p>
        </p:txBody>
      </p:sp>
      <p:sp>
        <p:nvSpPr>
          <p:cNvPr id="46" name="Text 44"/>
          <p:cNvSpPr/>
          <p:nvPr/>
        </p:nvSpPr>
        <p:spPr>
          <a:xfrm>
            <a:off x="391363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47" name="Shape 45"/>
          <p:cNvSpPr/>
          <p:nvPr/>
        </p:nvSpPr>
        <p:spPr>
          <a:xfrm>
            <a:off x="502920" y="2944368"/>
            <a:ext cx="2194560" cy="310896"/>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557784" y="294436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Lifecycle (▲)</a:t>
            </a:r>
            <a:endParaRPr lang="en-US" sz="850" dirty="0"/>
          </a:p>
        </p:txBody>
      </p:sp>
      <p:sp>
        <p:nvSpPr>
          <p:cNvPr id="49" name="Shape 47"/>
          <p:cNvSpPr/>
          <p:nvPr/>
        </p:nvSpPr>
        <p:spPr>
          <a:xfrm>
            <a:off x="2697480" y="2944368"/>
            <a:ext cx="1188720" cy="310896"/>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2743200" y="294436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persistence/memory_v2.py</a:t>
            </a:r>
            <a:endParaRPr lang="en-US" sz="800" dirty="0"/>
          </a:p>
        </p:txBody>
      </p:sp>
      <p:sp>
        <p:nvSpPr>
          <p:cNvPr id="51" name="Shape 49"/>
          <p:cNvSpPr/>
          <p:nvPr/>
        </p:nvSpPr>
        <p:spPr>
          <a:xfrm>
            <a:off x="3886200" y="2944368"/>
            <a:ext cx="548640" cy="310896"/>
          </a:xfrm>
          <a:prstGeom prst="rect">
            <a:avLst/>
          </a:prstGeom>
          <a:solidFill>
            <a:srgbClr val="0097A7"/>
          </a:solidFill>
          <a:ln/>
        </p:spPr>
        <p:txBody>
          <a:bodyPr/>
          <a:lstStyle/>
          <a:p>
            <a:endParaRPr lang="en-US"/>
          </a:p>
        </p:txBody>
      </p:sp>
      <p:sp>
        <p:nvSpPr>
          <p:cNvPr id="52" name="Text 50"/>
          <p:cNvSpPr/>
          <p:nvPr/>
        </p:nvSpPr>
        <p:spPr>
          <a:xfrm>
            <a:off x="3913632" y="294436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53" name="Shape 51"/>
          <p:cNvSpPr/>
          <p:nvPr/>
        </p:nvSpPr>
        <p:spPr>
          <a:xfrm>
            <a:off x="470916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476402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Rate Limiting (▲)</a:t>
            </a:r>
            <a:endParaRPr lang="en-US" sz="850" dirty="0"/>
          </a:p>
        </p:txBody>
      </p:sp>
      <p:sp>
        <p:nvSpPr>
          <p:cNvPr id="55" name="Shape 53"/>
          <p:cNvSpPr/>
          <p:nvPr/>
        </p:nvSpPr>
        <p:spPr>
          <a:xfrm>
            <a:off x="690372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694944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connector_security.py</a:t>
            </a:r>
            <a:endParaRPr lang="en-US" sz="800" dirty="0"/>
          </a:p>
        </p:txBody>
      </p:sp>
      <p:sp>
        <p:nvSpPr>
          <p:cNvPr id="57" name="Shape 55"/>
          <p:cNvSpPr/>
          <p:nvPr/>
        </p:nvSpPr>
        <p:spPr>
          <a:xfrm>
            <a:off x="8092440" y="1078992"/>
            <a:ext cx="548640" cy="310896"/>
          </a:xfrm>
          <a:prstGeom prst="rect">
            <a:avLst/>
          </a:prstGeom>
          <a:solidFill>
            <a:srgbClr val="2E7D32"/>
          </a:solidFill>
          <a:ln/>
        </p:spPr>
        <p:txBody>
          <a:bodyPr/>
          <a:lstStyle/>
          <a:p>
            <a:endParaRPr lang="en-US"/>
          </a:p>
        </p:txBody>
      </p:sp>
      <p:sp>
        <p:nvSpPr>
          <p:cNvPr id="58" name="Text 56"/>
          <p:cNvSpPr/>
          <p:nvPr/>
        </p:nvSpPr>
        <p:spPr>
          <a:xfrm>
            <a:off x="811987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59" name="Shape 57"/>
          <p:cNvSpPr/>
          <p:nvPr/>
        </p:nvSpPr>
        <p:spPr>
          <a:xfrm>
            <a:off x="470916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60" name="Text 58"/>
          <p:cNvSpPr/>
          <p:nvPr/>
        </p:nvSpPr>
        <p:spPr>
          <a:xfrm>
            <a:off x="476402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Audit Trail</a:t>
            </a:r>
            <a:endParaRPr lang="en-US" sz="850" dirty="0"/>
          </a:p>
        </p:txBody>
      </p:sp>
      <p:sp>
        <p:nvSpPr>
          <p:cNvPr id="61" name="Shape 59"/>
          <p:cNvSpPr/>
          <p:nvPr/>
        </p:nvSpPr>
        <p:spPr>
          <a:xfrm>
            <a:off x="690372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62" name="Text 60"/>
          <p:cNvSpPr/>
          <p:nvPr/>
        </p:nvSpPr>
        <p:spPr>
          <a:xfrm>
            <a:off x="694944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runtime/kernel.py</a:t>
            </a:r>
            <a:endParaRPr lang="en-US" sz="800" dirty="0"/>
          </a:p>
        </p:txBody>
      </p:sp>
      <p:sp>
        <p:nvSpPr>
          <p:cNvPr id="63" name="Shape 61"/>
          <p:cNvSpPr/>
          <p:nvPr/>
        </p:nvSpPr>
        <p:spPr>
          <a:xfrm>
            <a:off x="8092440" y="1389888"/>
            <a:ext cx="548640" cy="310896"/>
          </a:xfrm>
          <a:prstGeom prst="rect">
            <a:avLst/>
          </a:prstGeom>
          <a:solidFill>
            <a:srgbClr val="F9A825"/>
          </a:solidFill>
          <a:ln/>
        </p:spPr>
        <p:txBody>
          <a:bodyPr/>
          <a:lstStyle/>
          <a:p>
            <a:endParaRPr lang="en-US"/>
          </a:p>
        </p:txBody>
      </p:sp>
      <p:sp>
        <p:nvSpPr>
          <p:cNvPr id="64" name="Text 62"/>
          <p:cNvSpPr/>
          <p:nvPr/>
        </p:nvSpPr>
        <p:spPr>
          <a:xfrm>
            <a:off x="811987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65" name="Shape 63"/>
          <p:cNvSpPr/>
          <p:nvPr/>
        </p:nvSpPr>
        <p:spPr>
          <a:xfrm>
            <a:off x="470916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476402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Tenant Auth Middleware (▲)</a:t>
            </a:r>
            <a:endParaRPr lang="en-US" sz="850" dirty="0"/>
          </a:p>
        </p:txBody>
      </p:sp>
      <p:sp>
        <p:nvSpPr>
          <p:cNvPr id="67" name="Shape 65"/>
          <p:cNvSpPr/>
          <p:nvPr/>
        </p:nvSpPr>
        <p:spPr>
          <a:xfrm>
            <a:off x="690372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68" name="Text 66"/>
          <p:cNvSpPr/>
          <p:nvPr/>
        </p:nvSpPr>
        <p:spPr>
          <a:xfrm>
            <a:off x="694944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authz/service.py</a:t>
            </a:r>
            <a:endParaRPr lang="en-US" sz="800" dirty="0"/>
          </a:p>
        </p:txBody>
      </p:sp>
      <p:sp>
        <p:nvSpPr>
          <p:cNvPr id="69" name="Shape 67"/>
          <p:cNvSpPr/>
          <p:nvPr/>
        </p:nvSpPr>
        <p:spPr>
          <a:xfrm>
            <a:off x="8092440" y="1700784"/>
            <a:ext cx="548640" cy="310896"/>
          </a:xfrm>
          <a:prstGeom prst="rect">
            <a:avLst/>
          </a:prstGeom>
          <a:solidFill>
            <a:srgbClr val="2E7D32"/>
          </a:solidFill>
          <a:ln/>
        </p:spPr>
        <p:txBody>
          <a:bodyPr/>
          <a:lstStyle/>
          <a:p>
            <a:endParaRPr lang="en-US"/>
          </a:p>
        </p:txBody>
      </p:sp>
      <p:sp>
        <p:nvSpPr>
          <p:cNvPr id="70" name="Text 68"/>
          <p:cNvSpPr/>
          <p:nvPr/>
        </p:nvSpPr>
        <p:spPr>
          <a:xfrm>
            <a:off x="811987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71" name="Shape 69"/>
          <p:cNvSpPr/>
          <p:nvPr/>
        </p:nvSpPr>
        <p:spPr>
          <a:xfrm>
            <a:off x="470916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476402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Webhook Job Notifications</a:t>
            </a:r>
            <a:endParaRPr lang="en-US" sz="850" dirty="0"/>
          </a:p>
        </p:txBody>
      </p:sp>
      <p:sp>
        <p:nvSpPr>
          <p:cNvPr id="73" name="Shape 71"/>
          <p:cNvSpPr/>
          <p:nvPr/>
        </p:nvSpPr>
        <p:spPr>
          <a:xfrm>
            <a:off x="690372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694944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runtime/job_manager.py</a:t>
            </a:r>
            <a:endParaRPr lang="en-US" sz="800" dirty="0"/>
          </a:p>
        </p:txBody>
      </p:sp>
      <p:sp>
        <p:nvSpPr>
          <p:cNvPr id="75" name="Shape 73"/>
          <p:cNvSpPr/>
          <p:nvPr/>
        </p:nvSpPr>
        <p:spPr>
          <a:xfrm>
            <a:off x="8092440" y="2011680"/>
            <a:ext cx="548640" cy="310896"/>
          </a:xfrm>
          <a:prstGeom prst="rect">
            <a:avLst/>
          </a:prstGeom>
          <a:solidFill>
            <a:srgbClr val="F9A825"/>
          </a:solidFill>
          <a:ln/>
        </p:spPr>
        <p:txBody>
          <a:bodyPr/>
          <a:lstStyle/>
          <a:p>
            <a:endParaRPr lang="en-US"/>
          </a:p>
        </p:txBody>
      </p:sp>
      <p:sp>
        <p:nvSpPr>
          <p:cNvPr id="76" name="Text 74"/>
          <p:cNvSpPr/>
          <p:nvPr/>
        </p:nvSpPr>
        <p:spPr>
          <a:xfrm>
            <a:off x="811987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77" name="Shape 75"/>
          <p:cNvSpPr/>
          <p:nvPr/>
        </p:nvSpPr>
        <p:spPr>
          <a:xfrm>
            <a:off x="470916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78" name="Text 76"/>
          <p:cNvSpPr/>
          <p:nvPr/>
        </p:nvSpPr>
        <p:spPr>
          <a:xfrm>
            <a:off x="476402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Automated Eval Harness</a:t>
            </a:r>
            <a:endParaRPr lang="en-US" sz="850" dirty="0"/>
          </a:p>
        </p:txBody>
      </p:sp>
      <p:sp>
        <p:nvSpPr>
          <p:cNvPr id="79" name="Shape 77"/>
          <p:cNvSpPr/>
          <p:nvPr/>
        </p:nvSpPr>
        <p:spPr>
          <a:xfrm>
            <a:off x="690372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80" name="Text 78"/>
          <p:cNvSpPr/>
          <p:nvPr/>
        </p:nvSpPr>
        <p:spPr>
          <a:xfrm>
            <a:off x="694944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benchmark/eval_harness.py</a:t>
            </a:r>
            <a:endParaRPr lang="en-US" sz="800" dirty="0"/>
          </a:p>
        </p:txBody>
      </p:sp>
      <p:sp>
        <p:nvSpPr>
          <p:cNvPr id="81" name="Shape 79"/>
          <p:cNvSpPr/>
          <p:nvPr/>
        </p:nvSpPr>
        <p:spPr>
          <a:xfrm>
            <a:off x="8092440" y="2322576"/>
            <a:ext cx="548640" cy="310896"/>
          </a:xfrm>
          <a:prstGeom prst="rect">
            <a:avLst/>
          </a:prstGeom>
          <a:solidFill>
            <a:srgbClr val="C62828"/>
          </a:solidFill>
          <a:ln/>
        </p:spPr>
        <p:txBody>
          <a:bodyPr/>
          <a:lstStyle/>
          <a:p>
            <a:endParaRPr lang="en-US"/>
          </a:p>
        </p:txBody>
      </p:sp>
      <p:sp>
        <p:nvSpPr>
          <p:cNvPr id="82" name="Text 80"/>
          <p:cNvSpPr/>
          <p:nvPr/>
        </p:nvSpPr>
        <p:spPr>
          <a:xfrm>
            <a:off x="811987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3" name="Shape 81"/>
          <p:cNvSpPr/>
          <p:nvPr/>
        </p:nvSpPr>
        <p:spPr>
          <a:xfrm>
            <a:off x="470916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84" name="Text 82"/>
          <p:cNvSpPr/>
          <p:nvPr/>
        </p:nvSpPr>
        <p:spPr>
          <a:xfrm>
            <a:off x="476402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A/B Model Testing</a:t>
            </a:r>
            <a:endParaRPr lang="en-US" sz="850" dirty="0"/>
          </a:p>
        </p:txBody>
      </p:sp>
      <p:sp>
        <p:nvSpPr>
          <p:cNvPr id="85" name="Shape 83"/>
          <p:cNvSpPr/>
          <p:nvPr/>
        </p:nvSpPr>
        <p:spPr>
          <a:xfrm>
            <a:off x="690372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86" name="Text 84"/>
          <p:cNvSpPr/>
          <p:nvPr/>
        </p:nvSpPr>
        <p:spPr>
          <a:xfrm>
            <a:off x="694944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 + providers</a:t>
            </a:r>
            <a:endParaRPr lang="en-US" sz="800" dirty="0"/>
          </a:p>
        </p:txBody>
      </p:sp>
      <p:sp>
        <p:nvSpPr>
          <p:cNvPr id="87" name="Shape 85"/>
          <p:cNvSpPr/>
          <p:nvPr/>
        </p:nvSpPr>
        <p:spPr>
          <a:xfrm>
            <a:off x="8092440" y="2633472"/>
            <a:ext cx="548640" cy="310896"/>
          </a:xfrm>
          <a:prstGeom prst="rect">
            <a:avLst/>
          </a:prstGeom>
          <a:solidFill>
            <a:srgbClr val="C62828"/>
          </a:solidFill>
          <a:ln/>
        </p:spPr>
        <p:txBody>
          <a:bodyPr/>
          <a:lstStyle/>
          <a:p>
            <a:endParaRPr lang="en-US"/>
          </a:p>
        </p:txBody>
      </p:sp>
      <p:sp>
        <p:nvSpPr>
          <p:cNvPr id="88" name="Text 86"/>
          <p:cNvSpPr/>
          <p:nvPr/>
        </p:nvSpPr>
        <p:spPr>
          <a:xfrm>
            <a:off x="811987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9" name="Text 87"/>
          <p:cNvSpPr/>
          <p:nvPr/>
        </p:nvSpPr>
        <p:spPr>
          <a:xfrm>
            <a:off x="502920" y="3364992"/>
            <a:ext cx="822960" cy="237744"/>
          </a:xfrm>
          <a:prstGeom prst="rect">
            <a:avLst/>
          </a:prstGeom>
          <a:noFill/>
          <a:ln/>
        </p:spPr>
        <p:txBody>
          <a:bodyPr wrap="square" lIns="0" tIns="0" rIns="0" bIns="0" rtlCol="0" anchor="ctr"/>
          <a:lstStyle/>
          <a:p>
            <a:pPr marL="0" indent="0">
              <a:buNone/>
            </a:pPr>
            <a:r>
              <a:rPr lang="en-US" sz="850" dirty="0">
                <a:solidFill>
                  <a:srgbClr val="999999"/>
                </a:solidFill>
                <a:latin typeface="Arial" pitchFamily="34" charset="0"/>
                <a:ea typeface="Arial" pitchFamily="34" charset="-122"/>
                <a:cs typeface="Arial" pitchFamily="34" charset="-120"/>
              </a:rPr>
              <a:t>Effort key:</a:t>
            </a:r>
            <a:endParaRPr lang="en-US" sz="850" dirty="0"/>
          </a:p>
        </p:txBody>
      </p:sp>
      <p:sp>
        <p:nvSpPr>
          <p:cNvPr id="90" name="Shape 88"/>
          <p:cNvSpPr/>
          <p:nvPr/>
        </p:nvSpPr>
        <p:spPr>
          <a:xfrm>
            <a:off x="1344168" y="3401568"/>
            <a:ext cx="548640" cy="164592"/>
          </a:xfrm>
          <a:prstGeom prst="rect">
            <a:avLst/>
          </a:prstGeom>
          <a:solidFill>
            <a:srgbClr val="2E7D32"/>
          </a:solidFill>
          <a:ln/>
        </p:spPr>
        <p:txBody>
          <a:bodyPr/>
          <a:lstStyle/>
          <a:p>
            <a:endParaRPr lang="en-US"/>
          </a:p>
        </p:txBody>
      </p:sp>
      <p:sp>
        <p:nvSpPr>
          <p:cNvPr id="91" name="Text 89"/>
          <p:cNvSpPr/>
          <p:nvPr/>
        </p:nvSpPr>
        <p:spPr>
          <a:xfrm>
            <a:off x="1938528"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~1-2 days</a:t>
            </a:r>
            <a:endParaRPr lang="en-US" sz="850" dirty="0"/>
          </a:p>
        </p:txBody>
      </p:sp>
      <p:sp>
        <p:nvSpPr>
          <p:cNvPr id="92" name="Shape 90"/>
          <p:cNvSpPr/>
          <p:nvPr/>
        </p:nvSpPr>
        <p:spPr>
          <a:xfrm>
            <a:off x="2880360" y="3401568"/>
            <a:ext cx="548640" cy="164592"/>
          </a:xfrm>
          <a:prstGeom prst="rect">
            <a:avLst/>
          </a:prstGeom>
          <a:solidFill>
            <a:srgbClr val="0097A7"/>
          </a:solidFill>
          <a:ln/>
        </p:spPr>
        <p:txBody>
          <a:bodyPr/>
          <a:lstStyle/>
          <a:p>
            <a:endParaRPr lang="en-US"/>
          </a:p>
        </p:txBody>
      </p:sp>
      <p:sp>
        <p:nvSpPr>
          <p:cNvPr id="93" name="Text 91"/>
          <p:cNvSpPr/>
          <p:nvPr/>
        </p:nvSpPr>
        <p:spPr>
          <a:xfrm>
            <a:off x="3474720"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 week</a:t>
            </a:r>
            <a:endParaRPr lang="en-US" sz="850" dirty="0"/>
          </a:p>
        </p:txBody>
      </p:sp>
      <p:sp>
        <p:nvSpPr>
          <p:cNvPr id="94" name="Shape 92"/>
          <p:cNvSpPr/>
          <p:nvPr/>
        </p:nvSpPr>
        <p:spPr>
          <a:xfrm>
            <a:off x="4416552" y="3401568"/>
            <a:ext cx="548640" cy="164592"/>
          </a:xfrm>
          <a:prstGeom prst="rect">
            <a:avLst/>
          </a:prstGeom>
          <a:solidFill>
            <a:srgbClr val="F9A825"/>
          </a:solidFill>
          <a:ln/>
        </p:spPr>
        <p:txBody>
          <a:bodyPr/>
          <a:lstStyle/>
          <a:p>
            <a:endParaRPr lang="en-US"/>
          </a:p>
        </p:txBody>
      </p:sp>
      <p:sp>
        <p:nvSpPr>
          <p:cNvPr id="95" name="Text 93"/>
          <p:cNvSpPr/>
          <p:nvPr/>
        </p:nvSpPr>
        <p:spPr>
          <a:xfrm>
            <a:off x="5010912"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~2 weeks</a:t>
            </a:r>
            <a:endParaRPr lang="en-US" sz="850" dirty="0"/>
          </a:p>
        </p:txBody>
      </p:sp>
      <p:sp>
        <p:nvSpPr>
          <p:cNvPr id="96" name="Shape 94"/>
          <p:cNvSpPr/>
          <p:nvPr/>
        </p:nvSpPr>
        <p:spPr>
          <a:xfrm>
            <a:off x="5952744" y="3401568"/>
            <a:ext cx="548640" cy="164592"/>
          </a:xfrm>
          <a:prstGeom prst="rect">
            <a:avLst/>
          </a:prstGeom>
          <a:solidFill>
            <a:srgbClr val="C62828"/>
          </a:solidFill>
          <a:ln/>
        </p:spPr>
        <p:txBody>
          <a:bodyPr/>
          <a:lstStyle/>
          <a:p>
            <a:endParaRPr lang="en-US"/>
          </a:p>
        </p:txBody>
      </p:sp>
      <p:sp>
        <p:nvSpPr>
          <p:cNvPr id="97" name="Text 95"/>
          <p:cNvSpPr/>
          <p:nvPr/>
        </p:nvSpPr>
        <p:spPr>
          <a:xfrm>
            <a:off x="6547104"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3-4 weeks</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memory_v2.py adds episodes + importance scoring + TTL hints. Remaining: conflict resolution, cross-session synthesis, compliance enforcement.</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Conflict Resolution</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Entity extractor writes new facts but never reconciles contradictions with existing entries.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memory/extractor.py writes; context_builder.py reads — no merge/conflict layer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Stale facts persist alongside corrected facts — agent gets conflicting context.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memory/conflict_resolver.py — timestamp-aware merge that supersedes old facts, emits MemoryConflictEvent for audit.</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Cross-Session Synthesis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User &amp; conversation scopes are hard walls — no pattern synthesis across threads.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context_builder.py loads only current scope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Can't track user behavior, escalation history, or preferences over time.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cross_session_synthesizer.py runs periodic jobs that promote high-confidence user facts (role, domain, preferences) with confidence scores.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Retention &amp; Compliance Decay</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Memory is write-once — no TTL, no PII redaction, no right-to-forget.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file_store.py has no deletion or masking logic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GDPR / CCPA violations; no audit trail of what was erased or when.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retention_policy.py with per-scope TTLs, Presidio-style PII classifier, and compliant deletion records written to audit log before erasure.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Conflict resolution + cross-session synthesis + compliant retention turn a chatbot's memory into an auditable, self-correcting knowledge graph.</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memory/extractor.py (built), memory/file_store.py, memory/context_builder.py  —  no conflict merge, no TTL, no PII redaction</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Routing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Feedback loop and scheduler are built. Remaining gaps: cost signals, agent self-reflection, and human-in-the-loop escalation.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Cost-Aware Routing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Router picks agents on intent + confidence only. No cost or latency awareness.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router/llm_router.py:110 — no cost metadata in RouterDecision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Cheap fast-path never escalates; expensive LLM fires on trivial intents.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router/cost_model.py with per-provider cost/latency profile; RouterDecision gains estimated_cost_cents, expected_latency_ms; SLA-aware thresholds.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 Self-Reflection Loop</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Agents return first-draft answers. No self-critique before final output.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query_loop.py emits answer immediately; verifier only runs under coordinator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Hallucinations and incomplete answers reach users without a second pass.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runtime/self_reflect.py — post-generation critique step that checks factuality, completeness, and tone before returning. Configurable per agent mode.</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Human-in-the-Loop Escalation</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No confidence-based handoff to a human when agent is unsure.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No escalation_policy or human_handoff in router or kernel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High-stakes queries (legal, compliance) get best-effort AI answers with no safety net.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runtime/escalation.py — confidence threshold triggers human review queue; webhook notifies support; agent pauses until human approves or overrides.</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Cost routing controls burn rate. Self-reflection catches errors pre-delivery. Human escalation is a safety net for high-stakes domains.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runtime/query_loop.py, runtime/kernel.py  —  no cost model, no self-critique, no human handoff</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Tools &amp; Capability Model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Docker sandbox + agent-level policy matrix are good start, but tools lack versioning, fine-grained permissions, and code analysis.</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 Versioning &amp; Pinning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ToolDefinition has no version field. Singleton references.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contracts/tools.py:8-43 — no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Shipping a new tool version silently breaks in-flight workflows; no rollback lane.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Add version to ToolDefinition + changelog. version_resolver.py pins agent→tool at definition time; graceful degradation on missing versions.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RBAC → ABAC Tool Permissions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Progress: </a:t>
            </a:r>
            <a:r>
              <a:rPr lang="en-US" sz="950" dirty="0">
                <a:solidFill>
                  <a:srgbClr val="333333"/>
                </a:solidFill>
                <a:latin typeface="Arial" pitchFamily="34" charset="0"/>
                <a:ea typeface="Arial" pitchFamily="34" charset="-122"/>
                <a:cs typeface="Arial" pitchFamily="34" charset="-120"/>
              </a:rPr>
              <a:t>authz/service.py (267 lines) adds RBAC with principal/role membership.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authz/service.py provides tenant-scoped resource access; tools/policy.py still agent-level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Remaining gap: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RBAC exists but no ABAC — no dataset/column-level checks; analyst can load any data.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Extend authz with attribute-based policies: (tenant, user, dataset, columns, op) tuples. Add data-lineage tracking to analyst tools.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AST-Level Sandbox Analyzer</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Docker sandbox is coarse. LLM-generated code runs without static analysis.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sandbox/docker_exec.py:48 runs code verbatim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injection → malicious pandas that exfiltrates workspace to external API.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sandbox/code_analyzer.py — AST allow-list for imports / syscalls, YARA rules for injection signatures, pre-execution rejection.</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Versioning unblocks safe rollouts. RBAC is the prerequisite to selling into regulated verticals. AST analysis closes the biggest LLM-code attack surface.</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contracts/tools.py, tools/policy.py, sandbox/docker_exec.py  —  no version pinning, agent-level policy, no code analysis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&amp; Prompt Governance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Dependency DAG and telemetry are now built. Remaining gaps: cryptographic signing, prompt versioning, and structured output validation.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Cryptographic Skill Signing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Skills stored as JSON with SHA1 checksums — no signature verification.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pack_loader.py:112 computes SHA1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Insider threat: DB compromise injects malicious skill, passes SHA1 check.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skills/signing.py — asymmetric keys (org private, agent public), require signature verify on load, chain-of-custody (author, approver, timestamp).</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 Versioning &amp; Registry</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System prompts are inline strings in agent configs — no version history or rollback.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agent_config.py embeds prompts as plain strings; no prompt_id or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change breaks agent behavior silently — no diff, no rollback, no A/B comparison.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prompts/registry.py — versioned prompt store with SHA-based IDs, diff view, canary rollout (10% traffic on new prompt), automatic rollback on quality drop.</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Output Guardrails</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Gap: </a:t>
            </a:r>
            <a:r>
              <a:rPr lang="en-US" sz="950" dirty="0">
                <a:solidFill>
                  <a:srgbClr val="333333"/>
                </a:solidFill>
                <a:latin typeface="Arial" pitchFamily="34" charset="0"/>
                <a:ea typeface="Arial" pitchFamily="34" charset="-122"/>
                <a:cs typeface="Arial" pitchFamily="34" charset="-120"/>
              </a:rPr>
              <a:t>Agent outputs are free-form text — no schema validation or content filtering.
</a:t>
            </a:r>
            <a:r>
              <a:rPr lang="en-US" sz="950" b="1" dirty="0">
                <a:solidFill>
                  <a:srgbClr val="1B2A4A"/>
                </a:solidFill>
                <a:latin typeface="Arial" pitchFamily="34" charset="0"/>
                <a:ea typeface="Arial" pitchFamily="34" charset="-122"/>
                <a:cs typeface="Arial" pitchFamily="34" charset="-120"/>
              </a:rPr>
              <a:t xml:space="preserve">Evidence: </a:t>
            </a:r>
            <a:r>
              <a:rPr lang="en-US" sz="950" dirty="0">
                <a:solidFill>
                  <a:srgbClr val="333333"/>
                </a:solidFill>
                <a:latin typeface="Courier New" pitchFamily="34" charset="0"/>
                <a:ea typeface="Courier New" pitchFamily="34" charset="-122"/>
                <a:cs typeface="Courier New" pitchFamily="34" charset="-120"/>
              </a:rPr>
              <a:t>query_loop.py returns raw LLM text; no output_schema or guardrail check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 xml:space="preserve">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Agents can return malformed JSON, leak PII, or produce off-brand content.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 xml:space="preserve">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runtime/guardrails.py — Pydantic output schemas per agent mode, content policy filter (PII, toxicity, brand compliance), retry on validation failure.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Signing secures the supply chain. Prompt versioning enables safe iteration. Output guardrails prevent LLM failures from reaching users.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agent_config.py, runtime/query_loop.py  —  no signatures, no prompt versioning, no output validation</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Governance &amp; Compliance — 5 Gaps</a:t>
            </a:r>
            <a:endParaRPr lang="en-US" sz="2600" dirty="0"/>
          </a:p>
        </p:txBody>
      </p:sp>
      <p:sp>
        <p:nvSpPr>
          <p:cNvPr id="3" name="Text 1"/>
          <p:cNvSpPr/>
          <p:nvPr/>
        </p:nvSpPr>
        <p:spPr>
          <a:xfrm>
            <a:off x="502920" y="804672"/>
            <a:ext cx="8138160" cy="36576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LangFuse traces + spans are a start, but SOC2 / GDPR / FedRAMP require cost attribution, immutable audit, PII controls, model governance, and red-team infra.</a:t>
            </a:r>
            <a:endParaRPr lang="en-US" sz="1050" dirty="0"/>
          </a:p>
        </p:txBody>
      </p:sp>
      <p:sp>
        <p:nvSpPr>
          <p:cNvPr id="4" name="Shape 2"/>
          <p:cNvSpPr/>
          <p:nvPr/>
        </p:nvSpPr>
        <p:spPr>
          <a:xfrm>
            <a:off x="502920" y="1243584"/>
            <a:ext cx="19202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57784" y="1243584"/>
            <a:ext cx="18105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Gap</a:t>
            </a:r>
            <a:endParaRPr lang="en-US" sz="900" dirty="0"/>
          </a:p>
        </p:txBody>
      </p:sp>
      <p:sp>
        <p:nvSpPr>
          <p:cNvPr id="6" name="Shape 4"/>
          <p:cNvSpPr/>
          <p:nvPr/>
        </p:nvSpPr>
        <p:spPr>
          <a:xfrm>
            <a:off x="2423160" y="1243584"/>
            <a:ext cx="274320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478024" y="1243584"/>
            <a:ext cx="26334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What's Missing &amp; Why</a:t>
            </a:r>
            <a:endParaRPr lang="en-US" sz="900" dirty="0"/>
          </a:p>
        </p:txBody>
      </p:sp>
      <p:sp>
        <p:nvSpPr>
          <p:cNvPr id="8" name="Shape 6"/>
          <p:cNvSpPr/>
          <p:nvPr/>
        </p:nvSpPr>
        <p:spPr>
          <a:xfrm>
            <a:off x="5166360" y="1243584"/>
            <a:ext cx="26060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221224" y="1243584"/>
            <a:ext cx="24963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Build</a:t>
            </a:r>
            <a:endParaRPr lang="en-US" sz="900" dirty="0"/>
          </a:p>
        </p:txBody>
      </p:sp>
      <p:sp>
        <p:nvSpPr>
          <p:cNvPr id="10" name="Shape 8"/>
          <p:cNvSpPr/>
          <p:nvPr/>
        </p:nvSpPr>
        <p:spPr>
          <a:xfrm>
            <a:off x="7772400" y="1243584"/>
            <a:ext cx="114300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827264" y="1243584"/>
            <a:ext cx="10332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Severity</a:t>
            </a:r>
            <a:endParaRPr lang="en-US" sz="900" dirty="0"/>
          </a:p>
        </p:txBody>
      </p:sp>
      <p:sp>
        <p:nvSpPr>
          <p:cNvPr id="12" name="Shape 10"/>
          <p:cNvSpPr/>
          <p:nvPr/>
        </p:nvSpPr>
        <p:spPr>
          <a:xfrm>
            <a:off x="502920" y="1499616"/>
            <a:ext cx="1920240" cy="512064"/>
          </a:xfrm>
          <a:prstGeom prst="rect">
            <a:avLst/>
          </a:prstGeom>
          <a:solidFill>
            <a:srgbClr val="FFFFFF"/>
          </a:solidFill>
          <a:ln w="3810">
            <a:solidFill>
              <a:srgbClr val="F0F0F0"/>
            </a:solidFill>
            <a:prstDash val="solid"/>
          </a:ln>
        </p:spPr>
        <p:txBody>
          <a:bodyPr/>
          <a:lstStyle/>
          <a:p>
            <a:endParaRPr lang="en-US"/>
          </a:p>
        </p:txBody>
      </p:sp>
      <p:sp>
        <p:nvSpPr>
          <p:cNvPr id="13" name="Text 11"/>
          <p:cNvSpPr/>
          <p:nvPr/>
        </p:nvSpPr>
        <p:spPr>
          <a:xfrm>
            <a:off x="557784" y="1499616"/>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Cost Attribution</a:t>
            </a:r>
            <a:endParaRPr lang="en-US" sz="950" dirty="0"/>
          </a:p>
        </p:txBody>
      </p:sp>
      <p:sp>
        <p:nvSpPr>
          <p:cNvPr id="14" name="Shape 12"/>
          <p:cNvSpPr/>
          <p:nvPr/>
        </p:nvSpPr>
        <p:spPr>
          <a:xfrm>
            <a:off x="2423160" y="1499616"/>
            <a:ext cx="2743200" cy="512064"/>
          </a:xfrm>
          <a:prstGeom prst="rect">
            <a:avLst/>
          </a:prstGeom>
          <a:solidFill>
            <a:srgbClr val="FFFFFF"/>
          </a:solidFill>
          <a:ln w="3810">
            <a:solidFill>
              <a:srgbClr val="F0F0F0"/>
            </a:solidFill>
            <a:prstDash val="solid"/>
          </a:ln>
        </p:spPr>
        <p:txBody>
          <a:bodyPr/>
          <a:lstStyle/>
          <a:p>
            <a:endParaRPr lang="en-US"/>
          </a:p>
        </p:txBody>
      </p:sp>
      <p:sp>
        <p:nvSpPr>
          <p:cNvPr id="15" name="Text 13"/>
          <p:cNvSpPr/>
          <p:nvPr/>
        </p:nvSpPr>
        <p:spPr>
          <a:xfrm>
            <a:off x="2478024" y="1499616"/>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Traces log elapsed time but not tokens or dollars. Cannot answer 'cost per request / tenant / model.'</a:t>
            </a:r>
            <a:endParaRPr lang="en-US" sz="850" dirty="0"/>
          </a:p>
        </p:txBody>
      </p:sp>
      <p:sp>
        <p:nvSpPr>
          <p:cNvPr id="16" name="Shape 14"/>
          <p:cNvSpPr/>
          <p:nvPr/>
        </p:nvSpPr>
        <p:spPr>
          <a:xfrm>
            <a:off x="5166360" y="1499616"/>
            <a:ext cx="2606040" cy="512064"/>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221224" y="1499616"/>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observability/cost_tracker.py hooks LLM callbacks, emits CostEvent(tenant, user, model, tokens, cents).</a:t>
            </a:r>
            <a:endParaRPr lang="en-US" sz="850" dirty="0"/>
          </a:p>
        </p:txBody>
      </p:sp>
      <p:sp>
        <p:nvSpPr>
          <p:cNvPr id="18" name="Shape 16"/>
          <p:cNvSpPr/>
          <p:nvPr/>
        </p:nvSpPr>
        <p:spPr>
          <a:xfrm>
            <a:off x="7772400" y="1499616"/>
            <a:ext cx="1143000" cy="512064"/>
          </a:xfrm>
          <a:prstGeom prst="rect">
            <a:avLst/>
          </a:prstGeom>
          <a:solidFill>
            <a:srgbClr val="C62828"/>
          </a:solidFill>
          <a:ln/>
        </p:spPr>
        <p:txBody>
          <a:bodyPr/>
          <a:lstStyle/>
          <a:p>
            <a:endParaRPr lang="en-US"/>
          </a:p>
        </p:txBody>
      </p:sp>
      <p:sp>
        <p:nvSpPr>
          <p:cNvPr id="19" name="Text 17"/>
          <p:cNvSpPr/>
          <p:nvPr/>
        </p:nvSpPr>
        <p:spPr>
          <a:xfrm>
            <a:off x="7772400" y="1499616"/>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0" name="Shape 18"/>
          <p:cNvSpPr/>
          <p:nvPr/>
        </p:nvSpPr>
        <p:spPr>
          <a:xfrm>
            <a:off x="502920" y="2011680"/>
            <a:ext cx="1920240" cy="512064"/>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557784" y="2011680"/>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Immutable Audit Log</a:t>
            </a:r>
            <a:endParaRPr lang="en-US" sz="950" dirty="0"/>
          </a:p>
        </p:txBody>
      </p:sp>
      <p:sp>
        <p:nvSpPr>
          <p:cNvPr id="22" name="Shape 20"/>
          <p:cNvSpPr/>
          <p:nvPr/>
        </p:nvSpPr>
        <p:spPr>
          <a:xfrm>
            <a:off x="2423160" y="2011680"/>
            <a:ext cx="2743200" cy="512064"/>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478024" y="2011680"/>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LangFuse is external. No local append-only log of who did what to which resource with what outcome.</a:t>
            </a:r>
            <a:endParaRPr lang="en-US" sz="850" dirty="0"/>
          </a:p>
        </p:txBody>
      </p:sp>
      <p:sp>
        <p:nvSpPr>
          <p:cNvPr id="24" name="Shape 22"/>
          <p:cNvSpPr/>
          <p:nvPr/>
        </p:nvSpPr>
        <p:spPr>
          <a:xfrm>
            <a:off x="5166360" y="2011680"/>
            <a:ext cx="2606040" cy="512064"/>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5221224" y="2011680"/>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audit_log.py — append-only Postgres table, write-once, S3 cold archive for multi-year retention.</a:t>
            </a:r>
            <a:endParaRPr lang="en-US" sz="850" dirty="0"/>
          </a:p>
        </p:txBody>
      </p:sp>
      <p:sp>
        <p:nvSpPr>
          <p:cNvPr id="26" name="Shape 24"/>
          <p:cNvSpPr/>
          <p:nvPr/>
        </p:nvSpPr>
        <p:spPr>
          <a:xfrm>
            <a:off x="7772400" y="2011680"/>
            <a:ext cx="1143000" cy="512064"/>
          </a:xfrm>
          <a:prstGeom prst="rect">
            <a:avLst/>
          </a:prstGeom>
          <a:solidFill>
            <a:srgbClr val="C62828"/>
          </a:solidFill>
          <a:ln/>
        </p:spPr>
        <p:txBody>
          <a:bodyPr/>
          <a:lstStyle/>
          <a:p>
            <a:endParaRPr lang="en-US"/>
          </a:p>
        </p:txBody>
      </p:sp>
      <p:sp>
        <p:nvSpPr>
          <p:cNvPr id="27" name="Text 25"/>
          <p:cNvSpPr/>
          <p:nvPr/>
        </p:nvSpPr>
        <p:spPr>
          <a:xfrm>
            <a:off x="7772400" y="2011680"/>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8" name="Shape 26"/>
          <p:cNvSpPr/>
          <p:nvPr/>
        </p:nvSpPr>
        <p:spPr>
          <a:xfrm>
            <a:off x="502920" y="2523744"/>
            <a:ext cx="1920240" cy="512064"/>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523744"/>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PII Classifier &amp; Redact</a:t>
            </a:r>
            <a:endParaRPr lang="en-US" sz="950" dirty="0"/>
          </a:p>
        </p:txBody>
      </p:sp>
      <p:sp>
        <p:nvSpPr>
          <p:cNvPr id="30" name="Shape 28"/>
          <p:cNvSpPr/>
          <p:nvPr/>
        </p:nvSpPr>
        <p:spPr>
          <a:xfrm>
            <a:off x="2423160" y="2523744"/>
            <a:ext cx="2743200" cy="512064"/>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78024" y="2523744"/>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Raw user text, files, and memory stored without PII scan. SSNs / PHI can leak into logs &amp; traces.</a:t>
            </a:r>
            <a:endParaRPr lang="en-US" sz="850" dirty="0"/>
          </a:p>
        </p:txBody>
      </p:sp>
      <p:sp>
        <p:nvSpPr>
          <p:cNvPr id="32" name="Shape 30"/>
          <p:cNvSpPr/>
          <p:nvPr/>
        </p:nvSpPr>
        <p:spPr>
          <a:xfrm>
            <a:off x="5166360" y="2523744"/>
            <a:ext cx="2606040" cy="512064"/>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221224" y="2523744"/>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Integrate Presidio (regex + NER); redact before write; require explicit consent for debug retention.</a:t>
            </a:r>
            <a:endParaRPr lang="en-US" sz="850" dirty="0"/>
          </a:p>
        </p:txBody>
      </p:sp>
      <p:sp>
        <p:nvSpPr>
          <p:cNvPr id="34" name="Shape 32"/>
          <p:cNvSpPr/>
          <p:nvPr/>
        </p:nvSpPr>
        <p:spPr>
          <a:xfrm>
            <a:off x="7772400" y="2523744"/>
            <a:ext cx="1143000" cy="512064"/>
          </a:xfrm>
          <a:prstGeom prst="rect">
            <a:avLst/>
          </a:prstGeom>
          <a:solidFill>
            <a:srgbClr val="C62828"/>
          </a:solidFill>
          <a:ln/>
        </p:spPr>
        <p:txBody>
          <a:bodyPr/>
          <a:lstStyle/>
          <a:p>
            <a:endParaRPr lang="en-US"/>
          </a:p>
        </p:txBody>
      </p:sp>
      <p:sp>
        <p:nvSpPr>
          <p:cNvPr id="35" name="Text 33"/>
          <p:cNvSpPr/>
          <p:nvPr/>
        </p:nvSpPr>
        <p:spPr>
          <a:xfrm>
            <a:off x="7772400" y="2523744"/>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36" name="Shape 34"/>
          <p:cNvSpPr/>
          <p:nvPr/>
        </p:nvSpPr>
        <p:spPr>
          <a:xfrm>
            <a:off x="502920" y="3035808"/>
            <a:ext cx="1920240" cy="512064"/>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557784" y="3035808"/>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Model Allowlist</a:t>
            </a:r>
            <a:endParaRPr lang="en-US" sz="950" dirty="0"/>
          </a:p>
        </p:txBody>
      </p:sp>
      <p:sp>
        <p:nvSpPr>
          <p:cNvPr id="38" name="Shape 36"/>
          <p:cNvSpPr/>
          <p:nvPr/>
        </p:nvSpPr>
        <p:spPr>
          <a:xfrm>
            <a:off x="2423160" y="3035808"/>
            <a:ext cx="2743200" cy="512064"/>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2478024" y="3035808"/>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LLM_PROVIDER is env-var; any operator can swap to untested model with no approval workflow.</a:t>
            </a:r>
            <a:endParaRPr lang="en-US" sz="850" dirty="0"/>
          </a:p>
        </p:txBody>
      </p:sp>
      <p:sp>
        <p:nvSpPr>
          <p:cNvPr id="40" name="Shape 38"/>
          <p:cNvSpPr/>
          <p:nvPr/>
        </p:nvSpPr>
        <p:spPr>
          <a:xfrm>
            <a:off x="5166360" y="3035808"/>
            <a:ext cx="2606040" cy="512064"/>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5221224" y="3035808"/>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governance/model_policy.py — approved registry with risk_level, max_cost, min_accuracy; enforced at init.</a:t>
            </a:r>
            <a:endParaRPr lang="en-US" sz="850" dirty="0"/>
          </a:p>
        </p:txBody>
      </p:sp>
      <p:sp>
        <p:nvSpPr>
          <p:cNvPr id="42" name="Shape 40"/>
          <p:cNvSpPr/>
          <p:nvPr/>
        </p:nvSpPr>
        <p:spPr>
          <a:xfrm>
            <a:off x="7772400" y="3035808"/>
            <a:ext cx="1143000" cy="512064"/>
          </a:xfrm>
          <a:prstGeom prst="rect">
            <a:avLst/>
          </a:prstGeom>
          <a:solidFill>
            <a:srgbClr val="F9A825"/>
          </a:solidFill>
          <a:ln/>
        </p:spPr>
        <p:txBody>
          <a:bodyPr/>
          <a:lstStyle/>
          <a:p>
            <a:endParaRPr lang="en-US"/>
          </a:p>
        </p:txBody>
      </p:sp>
      <p:sp>
        <p:nvSpPr>
          <p:cNvPr id="43" name="Text 41"/>
          <p:cNvSpPr/>
          <p:nvPr/>
        </p:nvSpPr>
        <p:spPr>
          <a:xfrm>
            <a:off x="7772400" y="3035808"/>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44" name="Shape 42"/>
          <p:cNvSpPr/>
          <p:nvPr/>
        </p:nvSpPr>
        <p:spPr>
          <a:xfrm>
            <a:off x="502920" y="3547872"/>
            <a:ext cx="1920240" cy="512064"/>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 y="3547872"/>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Red-Team Eval Infra</a:t>
            </a:r>
            <a:endParaRPr lang="en-US" sz="950" dirty="0"/>
          </a:p>
        </p:txBody>
      </p:sp>
      <p:sp>
        <p:nvSpPr>
          <p:cNvPr id="46" name="Shape 44"/>
          <p:cNvSpPr/>
          <p:nvPr/>
        </p:nvSpPr>
        <p:spPr>
          <a:xfrm>
            <a:off x="2423160" y="3547872"/>
            <a:ext cx="2743200" cy="512064"/>
          </a:xfrm>
          <a:prstGeom prst="rect">
            <a:avLst/>
          </a:prstGeom>
          <a:solidFill>
            <a:srgbClr val="FFFFFF"/>
          </a:solidFill>
          <a:ln w="3810">
            <a:solidFill>
              <a:srgbClr val="F0F0F0"/>
            </a:solidFill>
            <a:prstDash val="solid"/>
          </a:ln>
        </p:spPr>
        <p:txBody>
          <a:bodyPr/>
          <a:lstStyle/>
          <a:p>
            <a:endParaRPr lang="en-US"/>
          </a:p>
        </p:txBody>
      </p:sp>
      <p:sp>
        <p:nvSpPr>
          <p:cNvPr id="47" name="Text 45"/>
          <p:cNvSpPr/>
          <p:nvPr/>
        </p:nvSpPr>
        <p:spPr>
          <a:xfrm>
            <a:off x="2478024" y="3547872"/>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benchmark/defense_corpus.py is skeletal. No continuous jailbreak / injection / exfil tests.</a:t>
            </a:r>
            <a:endParaRPr lang="en-US" sz="850" dirty="0"/>
          </a:p>
        </p:txBody>
      </p:sp>
      <p:sp>
        <p:nvSpPr>
          <p:cNvPr id="48" name="Shape 46"/>
          <p:cNvSpPr/>
          <p:nvPr/>
        </p:nvSpPr>
        <p:spPr>
          <a:xfrm>
            <a:off x="5166360" y="3547872"/>
            <a:ext cx="2606040" cy="512064"/>
          </a:xfrm>
          <a:prstGeom prst="rect">
            <a:avLst/>
          </a:prstGeom>
          <a:solidFill>
            <a:srgbClr val="FFFFFF"/>
          </a:solidFill>
          <a:ln w="3810">
            <a:solidFill>
              <a:srgbClr val="F0F0F0"/>
            </a:solidFill>
            <a:prstDash val="solid"/>
          </a:ln>
        </p:spPr>
        <p:txBody>
          <a:bodyPr/>
          <a:lstStyle/>
          <a:p>
            <a:endParaRPr lang="en-US"/>
          </a:p>
        </p:txBody>
      </p:sp>
      <p:sp>
        <p:nvSpPr>
          <p:cNvPr id="49" name="Text 47"/>
          <p:cNvSpPr/>
          <p:nvPr/>
        </p:nvSpPr>
        <p:spPr>
          <a:xfrm>
            <a:off x="5221224" y="3547872"/>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benchmark/red_team.py nightly — OWASP LLM Top 10 templates, regression alerts, canary prompts.</a:t>
            </a:r>
            <a:endParaRPr lang="en-US" sz="850" dirty="0"/>
          </a:p>
        </p:txBody>
      </p:sp>
      <p:sp>
        <p:nvSpPr>
          <p:cNvPr id="50" name="Shape 48"/>
          <p:cNvSpPr/>
          <p:nvPr/>
        </p:nvSpPr>
        <p:spPr>
          <a:xfrm>
            <a:off x="7772400" y="3547872"/>
            <a:ext cx="1143000" cy="512064"/>
          </a:xfrm>
          <a:prstGeom prst="rect">
            <a:avLst/>
          </a:prstGeom>
          <a:solidFill>
            <a:srgbClr val="F9A825"/>
          </a:solidFill>
          <a:ln/>
        </p:spPr>
        <p:txBody>
          <a:bodyPr/>
          <a:lstStyle/>
          <a:p>
            <a:endParaRPr lang="en-US"/>
          </a:p>
        </p:txBody>
      </p:sp>
      <p:sp>
        <p:nvSpPr>
          <p:cNvPr id="51" name="Text 49"/>
          <p:cNvSpPr/>
          <p:nvPr/>
        </p:nvSpPr>
        <p:spPr>
          <a:xfrm>
            <a:off x="7772400" y="3547872"/>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observability/callbacks.py, benchmark/defense_corpus.py, config.py  —  5 compliance &amp; governance gaps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Enterprise Readiness Matrix — 17 Gaps</a:t>
            </a:r>
            <a:endParaRPr lang="en-US" sz="2600" dirty="0"/>
          </a:p>
        </p:txBody>
      </p:sp>
      <p:sp>
        <p:nvSpPr>
          <p:cNvPr id="3" name="Text 1"/>
          <p:cNvSpPr/>
          <p:nvPr/>
        </p:nvSpPr>
        <p:spPr>
          <a:xfrm>
            <a:off x="50292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Memory • Routing • Tools</a:t>
            </a:r>
            <a:endParaRPr lang="en-US" sz="1100" dirty="0"/>
          </a:p>
        </p:txBody>
      </p:sp>
      <p:sp>
        <p:nvSpPr>
          <p:cNvPr id="4" name="Shape 2"/>
          <p:cNvSpPr/>
          <p:nvPr/>
        </p:nvSpPr>
        <p:spPr>
          <a:xfrm>
            <a:off x="502920" y="1078992"/>
            <a:ext cx="1920240" cy="237744"/>
          </a:xfrm>
          <a:prstGeom prst="rect">
            <a:avLst/>
          </a:prstGeom>
          <a:solidFill>
            <a:srgbClr val="1B2A4A"/>
          </a:solidFill>
          <a:ln/>
        </p:spPr>
        <p:txBody>
          <a:bodyPr/>
          <a:lstStyle/>
          <a:p>
            <a:endParaRPr lang="en-US"/>
          </a:p>
        </p:txBody>
      </p:sp>
      <p:sp>
        <p:nvSpPr>
          <p:cNvPr id="5" name="Text 3"/>
          <p:cNvSpPr/>
          <p:nvPr/>
        </p:nvSpPr>
        <p:spPr>
          <a:xfrm>
            <a:off x="55778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 name="Shape 4"/>
          <p:cNvSpPr/>
          <p:nvPr/>
        </p:nvSpPr>
        <p:spPr>
          <a:xfrm>
            <a:off x="2423160" y="1078992"/>
            <a:ext cx="1325880" cy="237744"/>
          </a:xfrm>
          <a:prstGeom prst="rect">
            <a:avLst/>
          </a:prstGeom>
          <a:solidFill>
            <a:srgbClr val="1B2A4A"/>
          </a:solidFill>
          <a:ln/>
        </p:spPr>
        <p:txBody>
          <a:bodyPr/>
          <a:lstStyle/>
          <a:p>
            <a:endParaRPr lang="en-US"/>
          </a:p>
        </p:txBody>
      </p:sp>
      <p:sp>
        <p:nvSpPr>
          <p:cNvPr id="7" name="Text 5"/>
          <p:cNvSpPr/>
          <p:nvPr/>
        </p:nvSpPr>
        <p:spPr>
          <a:xfrm>
            <a:off x="247802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8" name="Shape 6"/>
          <p:cNvSpPr/>
          <p:nvPr/>
        </p:nvSpPr>
        <p:spPr>
          <a:xfrm>
            <a:off x="3749040" y="1078992"/>
            <a:ext cx="685800" cy="237744"/>
          </a:xfrm>
          <a:prstGeom prst="rect">
            <a:avLst/>
          </a:prstGeom>
          <a:solidFill>
            <a:srgbClr val="1B2A4A"/>
          </a:solidFill>
          <a:ln/>
        </p:spPr>
        <p:txBody>
          <a:bodyPr/>
          <a:lstStyle/>
          <a:p>
            <a:endParaRPr lang="en-US"/>
          </a:p>
        </p:txBody>
      </p:sp>
      <p:sp>
        <p:nvSpPr>
          <p:cNvPr id="9" name="Text 7"/>
          <p:cNvSpPr/>
          <p:nvPr/>
        </p:nvSpPr>
        <p:spPr>
          <a:xfrm>
            <a:off x="380390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10" name="Shape 8"/>
          <p:cNvSpPr/>
          <p:nvPr/>
        </p:nvSpPr>
        <p:spPr>
          <a:xfrm>
            <a:off x="50292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5778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Conflict Resolution</a:t>
            </a:r>
            <a:endParaRPr lang="en-US" sz="850" dirty="0"/>
          </a:p>
        </p:txBody>
      </p:sp>
      <p:sp>
        <p:nvSpPr>
          <p:cNvPr id="12" name="Shape 10"/>
          <p:cNvSpPr/>
          <p:nvPr/>
        </p:nvSpPr>
        <p:spPr>
          <a:xfrm>
            <a:off x="242316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46888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conflict_resolver + merge</a:t>
            </a:r>
            <a:endParaRPr lang="en-US" sz="750" dirty="0"/>
          </a:p>
        </p:txBody>
      </p:sp>
      <p:sp>
        <p:nvSpPr>
          <p:cNvPr id="14" name="Shape 12"/>
          <p:cNvSpPr/>
          <p:nvPr/>
        </p:nvSpPr>
        <p:spPr>
          <a:xfrm>
            <a:off x="3749040" y="1316736"/>
            <a:ext cx="685800" cy="256032"/>
          </a:xfrm>
          <a:prstGeom prst="rect">
            <a:avLst/>
          </a:prstGeom>
          <a:solidFill>
            <a:srgbClr val="F9A825"/>
          </a:solidFill>
          <a:ln/>
        </p:spPr>
        <p:txBody>
          <a:bodyPr/>
          <a:lstStyle/>
          <a:p>
            <a:endParaRPr lang="en-US"/>
          </a:p>
        </p:txBody>
      </p:sp>
      <p:sp>
        <p:nvSpPr>
          <p:cNvPr id="15" name="Text 13"/>
          <p:cNvSpPr/>
          <p:nvPr/>
        </p:nvSpPr>
        <p:spPr>
          <a:xfrm>
            <a:off x="374904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6" name="Shape 14"/>
          <p:cNvSpPr/>
          <p:nvPr/>
        </p:nvSpPr>
        <p:spPr>
          <a:xfrm>
            <a:off x="50292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5778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Cross-Session Synthesis</a:t>
            </a:r>
            <a:endParaRPr lang="en-US" sz="850" dirty="0"/>
          </a:p>
        </p:txBody>
      </p:sp>
      <p:sp>
        <p:nvSpPr>
          <p:cNvPr id="18" name="Shape 16"/>
          <p:cNvSpPr/>
          <p:nvPr/>
        </p:nvSpPr>
        <p:spPr>
          <a:xfrm>
            <a:off x="242316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46888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synthesizer job + facts tbl</a:t>
            </a:r>
            <a:endParaRPr lang="en-US" sz="750" dirty="0"/>
          </a:p>
        </p:txBody>
      </p:sp>
      <p:sp>
        <p:nvSpPr>
          <p:cNvPr id="20" name="Shape 18"/>
          <p:cNvSpPr/>
          <p:nvPr/>
        </p:nvSpPr>
        <p:spPr>
          <a:xfrm>
            <a:off x="3749040" y="1572768"/>
            <a:ext cx="685800" cy="256032"/>
          </a:xfrm>
          <a:prstGeom prst="rect">
            <a:avLst/>
          </a:prstGeom>
          <a:solidFill>
            <a:srgbClr val="F9A825"/>
          </a:solidFill>
          <a:ln/>
        </p:spPr>
        <p:txBody>
          <a:bodyPr/>
          <a:lstStyle/>
          <a:p>
            <a:endParaRPr lang="en-US"/>
          </a:p>
        </p:txBody>
      </p:sp>
      <p:sp>
        <p:nvSpPr>
          <p:cNvPr id="21" name="Text 19"/>
          <p:cNvSpPr/>
          <p:nvPr/>
        </p:nvSpPr>
        <p:spPr>
          <a:xfrm>
            <a:off x="374904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22" name="Shape 20"/>
          <p:cNvSpPr/>
          <p:nvPr/>
        </p:nvSpPr>
        <p:spPr>
          <a:xfrm>
            <a:off x="50292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5778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Retention &amp; PII Decay</a:t>
            </a:r>
            <a:endParaRPr lang="en-US" sz="850" dirty="0"/>
          </a:p>
        </p:txBody>
      </p:sp>
      <p:sp>
        <p:nvSpPr>
          <p:cNvPr id="24" name="Shape 22"/>
          <p:cNvSpPr/>
          <p:nvPr/>
        </p:nvSpPr>
        <p:spPr>
          <a:xfrm>
            <a:off x="242316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46888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retention_policy + TTL</a:t>
            </a:r>
            <a:endParaRPr lang="en-US" sz="750" dirty="0"/>
          </a:p>
        </p:txBody>
      </p:sp>
      <p:sp>
        <p:nvSpPr>
          <p:cNvPr id="26" name="Shape 24"/>
          <p:cNvSpPr/>
          <p:nvPr/>
        </p:nvSpPr>
        <p:spPr>
          <a:xfrm>
            <a:off x="3749040" y="1828800"/>
            <a:ext cx="685800" cy="256032"/>
          </a:xfrm>
          <a:prstGeom prst="rect">
            <a:avLst/>
          </a:prstGeom>
          <a:solidFill>
            <a:srgbClr val="C62828"/>
          </a:solidFill>
          <a:ln/>
        </p:spPr>
        <p:txBody>
          <a:bodyPr/>
          <a:lstStyle/>
          <a:p>
            <a:endParaRPr lang="en-US"/>
          </a:p>
        </p:txBody>
      </p:sp>
      <p:sp>
        <p:nvSpPr>
          <p:cNvPr id="27" name="Text 25"/>
          <p:cNvSpPr/>
          <p:nvPr/>
        </p:nvSpPr>
        <p:spPr>
          <a:xfrm>
            <a:off x="374904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28" name="Shape 26"/>
          <p:cNvSpPr/>
          <p:nvPr/>
        </p:nvSpPr>
        <p:spPr>
          <a:xfrm>
            <a:off x="50292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Cost-Aware Routing</a:t>
            </a:r>
            <a:endParaRPr lang="en-US" sz="850" dirty="0"/>
          </a:p>
        </p:txBody>
      </p:sp>
      <p:sp>
        <p:nvSpPr>
          <p:cNvPr id="30" name="Shape 28"/>
          <p:cNvSpPr/>
          <p:nvPr/>
        </p:nvSpPr>
        <p:spPr>
          <a:xfrm>
            <a:off x="242316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6888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router/cost_model.py</a:t>
            </a:r>
            <a:endParaRPr lang="en-US" sz="750" dirty="0"/>
          </a:p>
        </p:txBody>
      </p:sp>
      <p:sp>
        <p:nvSpPr>
          <p:cNvPr id="32" name="Shape 30"/>
          <p:cNvSpPr/>
          <p:nvPr/>
        </p:nvSpPr>
        <p:spPr>
          <a:xfrm>
            <a:off x="3749040" y="2084832"/>
            <a:ext cx="685800" cy="256032"/>
          </a:xfrm>
          <a:prstGeom prst="rect">
            <a:avLst/>
          </a:prstGeom>
          <a:solidFill>
            <a:srgbClr val="F9A825"/>
          </a:solidFill>
          <a:ln/>
        </p:spPr>
        <p:txBody>
          <a:bodyPr/>
          <a:lstStyle/>
          <a:p>
            <a:endParaRPr lang="en-US"/>
          </a:p>
        </p:txBody>
      </p:sp>
      <p:sp>
        <p:nvSpPr>
          <p:cNvPr id="33" name="Text 31"/>
          <p:cNvSpPr/>
          <p:nvPr/>
        </p:nvSpPr>
        <p:spPr>
          <a:xfrm>
            <a:off x="374904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34" name="Shape 32"/>
          <p:cNvSpPr/>
          <p:nvPr/>
        </p:nvSpPr>
        <p:spPr>
          <a:xfrm>
            <a:off x="50292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5778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Agent Self-Reflection</a:t>
            </a:r>
            <a:endParaRPr lang="en-US" sz="850" dirty="0"/>
          </a:p>
        </p:txBody>
      </p:sp>
      <p:sp>
        <p:nvSpPr>
          <p:cNvPr id="36" name="Shape 34"/>
          <p:cNvSpPr/>
          <p:nvPr/>
        </p:nvSpPr>
        <p:spPr>
          <a:xfrm>
            <a:off x="242316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46888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runtime/self_reflect.py</a:t>
            </a:r>
            <a:endParaRPr lang="en-US" sz="750" dirty="0"/>
          </a:p>
        </p:txBody>
      </p:sp>
      <p:sp>
        <p:nvSpPr>
          <p:cNvPr id="38" name="Shape 36"/>
          <p:cNvSpPr/>
          <p:nvPr/>
        </p:nvSpPr>
        <p:spPr>
          <a:xfrm>
            <a:off x="3749040" y="2340864"/>
            <a:ext cx="685800" cy="256032"/>
          </a:xfrm>
          <a:prstGeom prst="rect">
            <a:avLst/>
          </a:prstGeom>
          <a:solidFill>
            <a:srgbClr val="F9A825"/>
          </a:solidFill>
          <a:ln/>
        </p:spPr>
        <p:txBody>
          <a:bodyPr/>
          <a:lstStyle/>
          <a:p>
            <a:endParaRPr lang="en-US"/>
          </a:p>
        </p:txBody>
      </p:sp>
      <p:sp>
        <p:nvSpPr>
          <p:cNvPr id="39" name="Text 37"/>
          <p:cNvSpPr/>
          <p:nvPr/>
        </p:nvSpPr>
        <p:spPr>
          <a:xfrm>
            <a:off x="374904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40" name="Shape 38"/>
          <p:cNvSpPr/>
          <p:nvPr/>
        </p:nvSpPr>
        <p:spPr>
          <a:xfrm>
            <a:off x="50292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5778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Human-in-the-Loop Escalat.</a:t>
            </a:r>
            <a:endParaRPr lang="en-US" sz="850" dirty="0"/>
          </a:p>
        </p:txBody>
      </p:sp>
      <p:sp>
        <p:nvSpPr>
          <p:cNvPr id="42" name="Shape 40"/>
          <p:cNvSpPr/>
          <p:nvPr/>
        </p:nvSpPr>
        <p:spPr>
          <a:xfrm>
            <a:off x="242316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46888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runtime/escalation.py</a:t>
            </a:r>
            <a:endParaRPr lang="en-US" sz="750" dirty="0"/>
          </a:p>
        </p:txBody>
      </p:sp>
      <p:sp>
        <p:nvSpPr>
          <p:cNvPr id="44" name="Shape 42"/>
          <p:cNvSpPr/>
          <p:nvPr/>
        </p:nvSpPr>
        <p:spPr>
          <a:xfrm>
            <a:off x="3749040" y="2596896"/>
            <a:ext cx="685800" cy="256032"/>
          </a:xfrm>
          <a:prstGeom prst="rect">
            <a:avLst/>
          </a:prstGeom>
          <a:solidFill>
            <a:srgbClr val="C62828"/>
          </a:solidFill>
          <a:ln/>
        </p:spPr>
        <p:txBody>
          <a:bodyPr/>
          <a:lstStyle/>
          <a:p>
            <a:endParaRPr lang="en-US"/>
          </a:p>
        </p:txBody>
      </p:sp>
      <p:sp>
        <p:nvSpPr>
          <p:cNvPr id="45" name="Text 43"/>
          <p:cNvSpPr/>
          <p:nvPr/>
        </p:nvSpPr>
        <p:spPr>
          <a:xfrm>
            <a:off x="374904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46" name="Shape 44"/>
          <p:cNvSpPr/>
          <p:nvPr/>
        </p:nvSpPr>
        <p:spPr>
          <a:xfrm>
            <a:off x="50292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55778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Tool Versioning &amp; Pinning</a:t>
            </a:r>
            <a:endParaRPr lang="en-US" sz="850" dirty="0"/>
          </a:p>
        </p:txBody>
      </p:sp>
      <p:sp>
        <p:nvSpPr>
          <p:cNvPr id="48" name="Shape 46"/>
          <p:cNvSpPr/>
          <p:nvPr/>
        </p:nvSpPr>
        <p:spPr>
          <a:xfrm>
            <a:off x="242316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246888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version_resolver.py</a:t>
            </a:r>
            <a:endParaRPr lang="en-US" sz="750" dirty="0"/>
          </a:p>
        </p:txBody>
      </p:sp>
      <p:sp>
        <p:nvSpPr>
          <p:cNvPr id="50" name="Shape 48"/>
          <p:cNvSpPr/>
          <p:nvPr/>
        </p:nvSpPr>
        <p:spPr>
          <a:xfrm>
            <a:off x="3749040" y="2852928"/>
            <a:ext cx="685800" cy="256032"/>
          </a:xfrm>
          <a:prstGeom prst="rect">
            <a:avLst/>
          </a:prstGeom>
          <a:solidFill>
            <a:srgbClr val="F9A825"/>
          </a:solidFill>
          <a:ln/>
        </p:spPr>
        <p:txBody>
          <a:bodyPr/>
          <a:lstStyle/>
          <a:p>
            <a:endParaRPr lang="en-US"/>
          </a:p>
        </p:txBody>
      </p:sp>
      <p:sp>
        <p:nvSpPr>
          <p:cNvPr id="51" name="Text 49"/>
          <p:cNvSpPr/>
          <p:nvPr/>
        </p:nvSpPr>
        <p:spPr>
          <a:xfrm>
            <a:off x="374904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52" name="Shape 50"/>
          <p:cNvSpPr/>
          <p:nvPr/>
        </p:nvSpPr>
        <p:spPr>
          <a:xfrm>
            <a:off x="50292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53" name="Text 51"/>
          <p:cNvSpPr/>
          <p:nvPr/>
        </p:nvSpPr>
        <p:spPr>
          <a:xfrm>
            <a:off x="55778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RBAC→ABAC (▲ partial)</a:t>
            </a:r>
            <a:endParaRPr lang="en-US" sz="850" dirty="0"/>
          </a:p>
        </p:txBody>
      </p:sp>
      <p:sp>
        <p:nvSpPr>
          <p:cNvPr id="54" name="Shape 52"/>
          <p:cNvSpPr/>
          <p:nvPr/>
        </p:nvSpPr>
        <p:spPr>
          <a:xfrm>
            <a:off x="242316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55" name="Text 53"/>
          <p:cNvSpPr/>
          <p:nvPr/>
        </p:nvSpPr>
        <p:spPr>
          <a:xfrm>
            <a:off x="246888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authz/service.py + ABAC</a:t>
            </a:r>
            <a:endParaRPr lang="en-US" sz="750" dirty="0"/>
          </a:p>
        </p:txBody>
      </p:sp>
      <p:sp>
        <p:nvSpPr>
          <p:cNvPr id="56" name="Shape 54"/>
          <p:cNvSpPr/>
          <p:nvPr/>
        </p:nvSpPr>
        <p:spPr>
          <a:xfrm>
            <a:off x="3749040" y="3108960"/>
            <a:ext cx="685800" cy="256032"/>
          </a:xfrm>
          <a:prstGeom prst="rect">
            <a:avLst/>
          </a:prstGeom>
          <a:solidFill>
            <a:srgbClr val="C62828"/>
          </a:solidFill>
          <a:ln/>
        </p:spPr>
        <p:txBody>
          <a:bodyPr/>
          <a:lstStyle/>
          <a:p>
            <a:endParaRPr lang="en-US"/>
          </a:p>
        </p:txBody>
      </p:sp>
      <p:sp>
        <p:nvSpPr>
          <p:cNvPr id="57" name="Text 55"/>
          <p:cNvSpPr/>
          <p:nvPr/>
        </p:nvSpPr>
        <p:spPr>
          <a:xfrm>
            <a:off x="374904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58" name="Shape 56"/>
          <p:cNvSpPr/>
          <p:nvPr/>
        </p:nvSpPr>
        <p:spPr>
          <a:xfrm>
            <a:off x="502920" y="3364992"/>
            <a:ext cx="1920240" cy="256032"/>
          </a:xfrm>
          <a:prstGeom prst="rect">
            <a:avLst/>
          </a:prstGeom>
          <a:solidFill>
            <a:srgbClr val="F5F5F5"/>
          </a:solidFill>
          <a:ln w="3810">
            <a:solidFill>
              <a:srgbClr val="F0F0F0"/>
            </a:solidFill>
            <a:prstDash val="solid"/>
          </a:ln>
        </p:spPr>
        <p:txBody>
          <a:bodyPr/>
          <a:lstStyle/>
          <a:p>
            <a:endParaRPr lang="en-US"/>
          </a:p>
        </p:txBody>
      </p:sp>
      <p:sp>
        <p:nvSpPr>
          <p:cNvPr id="59" name="Text 57"/>
          <p:cNvSpPr/>
          <p:nvPr/>
        </p:nvSpPr>
        <p:spPr>
          <a:xfrm>
            <a:off x="557784" y="336499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AST Sandbox Analyzer</a:t>
            </a:r>
            <a:endParaRPr lang="en-US" sz="850" dirty="0"/>
          </a:p>
        </p:txBody>
      </p:sp>
      <p:sp>
        <p:nvSpPr>
          <p:cNvPr id="60" name="Shape 58"/>
          <p:cNvSpPr/>
          <p:nvPr/>
        </p:nvSpPr>
        <p:spPr>
          <a:xfrm>
            <a:off x="2423160" y="3364992"/>
            <a:ext cx="1325880" cy="256032"/>
          </a:xfrm>
          <a:prstGeom prst="rect">
            <a:avLst/>
          </a:prstGeom>
          <a:solidFill>
            <a:srgbClr val="F5F5F5"/>
          </a:solidFill>
          <a:ln w="3810">
            <a:solidFill>
              <a:srgbClr val="F0F0F0"/>
            </a:solidFill>
            <a:prstDash val="solid"/>
          </a:ln>
        </p:spPr>
        <p:txBody>
          <a:bodyPr/>
          <a:lstStyle/>
          <a:p>
            <a:endParaRPr lang="en-US"/>
          </a:p>
        </p:txBody>
      </p:sp>
      <p:sp>
        <p:nvSpPr>
          <p:cNvPr id="61" name="Text 59"/>
          <p:cNvSpPr/>
          <p:nvPr/>
        </p:nvSpPr>
        <p:spPr>
          <a:xfrm>
            <a:off x="2468880" y="336499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sandbox/code_analyzer.py</a:t>
            </a:r>
            <a:endParaRPr lang="en-US" sz="750" dirty="0"/>
          </a:p>
        </p:txBody>
      </p:sp>
      <p:sp>
        <p:nvSpPr>
          <p:cNvPr id="62" name="Shape 60"/>
          <p:cNvSpPr/>
          <p:nvPr/>
        </p:nvSpPr>
        <p:spPr>
          <a:xfrm>
            <a:off x="3749040" y="3364992"/>
            <a:ext cx="685800" cy="256032"/>
          </a:xfrm>
          <a:prstGeom prst="rect">
            <a:avLst/>
          </a:prstGeom>
          <a:solidFill>
            <a:srgbClr val="C62828"/>
          </a:solidFill>
          <a:ln/>
        </p:spPr>
        <p:txBody>
          <a:bodyPr/>
          <a:lstStyle/>
          <a:p>
            <a:endParaRPr lang="en-US"/>
          </a:p>
        </p:txBody>
      </p:sp>
      <p:sp>
        <p:nvSpPr>
          <p:cNvPr id="63" name="Text 61"/>
          <p:cNvSpPr/>
          <p:nvPr/>
        </p:nvSpPr>
        <p:spPr>
          <a:xfrm>
            <a:off x="3749040" y="336499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64" name="Text 62"/>
          <p:cNvSpPr/>
          <p:nvPr/>
        </p:nvSpPr>
        <p:spPr>
          <a:xfrm>
            <a:off x="470916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Skills • Governance • Compliance</a:t>
            </a:r>
            <a:endParaRPr lang="en-US" sz="1100" dirty="0"/>
          </a:p>
        </p:txBody>
      </p:sp>
      <p:sp>
        <p:nvSpPr>
          <p:cNvPr id="65" name="Shape 63"/>
          <p:cNvSpPr/>
          <p:nvPr/>
        </p:nvSpPr>
        <p:spPr>
          <a:xfrm>
            <a:off x="4709160" y="1078992"/>
            <a:ext cx="1920240" cy="237744"/>
          </a:xfrm>
          <a:prstGeom prst="rect">
            <a:avLst/>
          </a:prstGeom>
          <a:solidFill>
            <a:srgbClr val="1B2A4A"/>
          </a:solidFill>
          <a:ln/>
        </p:spPr>
        <p:txBody>
          <a:bodyPr/>
          <a:lstStyle/>
          <a:p>
            <a:endParaRPr lang="en-US"/>
          </a:p>
        </p:txBody>
      </p:sp>
      <p:sp>
        <p:nvSpPr>
          <p:cNvPr id="66" name="Text 64"/>
          <p:cNvSpPr/>
          <p:nvPr/>
        </p:nvSpPr>
        <p:spPr>
          <a:xfrm>
            <a:off x="476402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7" name="Shape 65"/>
          <p:cNvSpPr/>
          <p:nvPr/>
        </p:nvSpPr>
        <p:spPr>
          <a:xfrm>
            <a:off x="6629400" y="1078992"/>
            <a:ext cx="1325880" cy="237744"/>
          </a:xfrm>
          <a:prstGeom prst="rect">
            <a:avLst/>
          </a:prstGeom>
          <a:solidFill>
            <a:srgbClr val="1B2A4A"/>
          </a:solidFill>
          <a:ln/>
        </p:spPr>
        <p:txBody>
          <a:bodyPr/>
          <a:lstStyle/>
          <a:p>
            <a:endParaRPr lang="en-US"/>
          </a:p>
        </p:txBody>
      </p:sp>
      <p:sp>
        <p:nvSpPr>
          <p:cNvPr id="68" name="Text 66"/>
          <p:cNvSpPr/>
          <p:nvPr/>
        </p:nvSpPr>
        <p:spPr>
          <a:xfrm>
            <a:off x="668426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69" name="Shape 67"/>
          <p:cNvSpPr/>
          <p:nvPr/>
        </p:nvSpPr>
        <p:spPr>
          <a:xfrm>
            <a:off x="7955280" y="1078992"/>
            <a:ext cx="685800" cy="237744"/>
          </a:xfrm>
          <a:prstGeom prst="rect">
            <a:avLst/>
          </a:prstGeom>
          <a:solidFill>
            <a:srgbClr val="1B2A4A"/>
          </a:solidFill>
          <a:ln/>
        </p:spPr>
        <p:txBody>
          <a:bodyPr/>
          <a:lstStyle/>
          <a:p>
            <a:endParaRPr lang="en-US"/>
          </a:p>
        </p:txBody>
      </p:sp>
      <p:sp>
        <p:nvSpPr>
          <p:cNvPr id="70" name="Text 68"/>
          <p:cNvSpPr/>
          <p:nvPr/>
        </p:nvSpPr>
        <p:spPr>
          <a:xfrm>
            <a:off x="801014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71" name="Shape 69"/>
          <p:cNvSpPr/>
          <p:nvPr/>
        </p:nvSpPr>
        <p:spPr>
          <a:xfrm>
            <a:off x="470916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476402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Cryptographic Signing</a:t>
            </a:r>
            <a:endParaRPr lang="en-US" sz="850" dirty="0"/>
          </a:p>
        </p:txBody>
      </p:sp>
      <p:sp>
        <p:nvSpPr>
          <p:cNvPr id="73" name="Shape 71"/>
          <p:cNvSpPr/>
          <p:nvPr/>
        </p:nvSpPr>
        <p:spPr>
          <a:xfrm>
            <a:off x="662940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667512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skills/signing.py + keys</a:t>
            </a:r>
            <a:endParaRPr lang="en-US" sz="750" dirty="0"/>
          </a:p>
        </p:txBody>
      </p:sp>
      <p:sp>
        <p:nvSpPr>
          <p:cNvPr id="75" name="Shape 73"/>
          <p:cNvSpPr/>
          <p:nvPr/>
        </p:nvSpPr>
        <p:spPr>
          <a:xfrm>
            <a:off x="7955280" y="1316736"/>
            <a:ext cx="685800" cy="256032"/>
          </a:xfrm>
          <a:prstGeom prst="rect">
            <a:avLst/>
          </a:prstGeom>
          <a:solidFill>
            <a:srgbClr val="C62828"/>
          </a:solidFill>
          <a:ln/>
        </p:spPr>
        <p:txBody>
          <a:bodyPr/>
          <a:lstStyle/>
          <a:p>
            <a:endParaRPr lang="en-US"/>
          </a:p>
        </p:txBody>
      </p:sp>
      <p:sp>
        <p:nvSpPr>
          <p:cNvPr id="76" name="Text 74"/>
          <p:cNvSpPr/>
          <p:nvPr/>
        </p:nvSpPr>
        <p:spPr>
          <a:xfrm>
            <a:off x="795528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77" name="Shape 75"/>
          <p:cNvSpPr/>
          <p:nvPr/>
        </p:nvSpPr>
        <p:spPr>
          <a:xfrm>
            <a:off x="470916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76402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Prompt Versioning</a:t>
            </a:r>
            <a:endParaRPr lang="en-US" sz="850" dirty="0"/>
          </a:p>
        </p:txBody>
      </p:sp>
      <p:sp>
        <p:nvSpPr>
          <p:cNvPr id="79" name="Shape 77"/>
          <p:cNvSpPr/>
          <p:nvPr/>
        </p:nvSpPr>
        <p:spPr>
          <a:xfrm>
            <a:off x="662940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667512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prompts/registry.py</a:t>
            </a:r>
            <a:endParaRPr lang="en-US" sz="750" dirty="0"/>
          </a:p>
        </p:txBody>
      </p:sp>
      <p:sp>
        <p:nvSpPr>
          <p:cNvPr id="81" name="Shape 79"/>
          <p:cNvSpPr/>
          <p:nvPr/>
        </p:nvSpPr>
        <p:spPr>
          <a:xfrm>
            <a:off x="7955280" y="1572768"/>
            <a:ext cx="685800" cy="256032"/>
          </a:xfrm>
          <a:prstGeom prst="rect">
            <a:avLst/>
          </a:prstGeom>
          <a:solidFill>
            <a:srgbClr val="F9A825"/>
          </a:solidFill>
          <a:ln/>
        </p:spPr>
        <p:txBody>
          <a:bodyPr/>
          <a:lstStyle/>
          <a:p>
            <a:endParaRPr lang="en-US"/>
          </a:p>
        </p:txBody>
      </p:sp>
      <p:sp>
        <p:nvSpPr>
          <p:cNvPr id="82" name="Text 80"/>
          <p:cNvSpPr/>
          <p:nvPr/>
        </p:nvSpPr>
        <p:spPr>
          <a:xfrm>
            <a:off x="795528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3" name="Shape 81"/>
          <p:cNvSpPr/>
          <p:nvPr/>
        </p:nvSpPr>
        <p:spPr>
          <a:xfrm>
            <a:off x="470916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476402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Output Guards</a:t>
            </a:r>
            <a:endParaRPr lang="en-US" sz="850" dirty="0"/>
          </a:p>
        </p:txBody>
      </p:sp>
      <p:sp>
        <p:nvSpPr>
          <p:cNvPr id="85" name="Shape 83"/>
          <p:cNvSpPr/>
          <p:nvPr/>
        </p:nvSpPr>
        <p:spPr>
          <a:xfrm>
            <a:off x="662940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667512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87" name="Shape 85"/>
          <p:cNvSpPr/>
          <p:nvPr/>
        </p:nvSpPr>
        <p:spPr>
          <a:xfrm>
            <a:off x="7955280" y="1828800"/>
            <a:ext cx="685800" cy="256032"/>
          </a:xfrm>
          <a:prstGeom prst="rect">
            <a:avLst/>
          </a:prstGeom>
          <a:solidFill>
            <a:srgbClr val="F9A825"/>
          </a:solidFill>
          <a:ln/>
        </p:spPr>
        <p:txBody>
          <a:bodyPr/>
          <a:lstStyle/>
          <a:p>
            <a:endParaRPr lang="en-US"/>
          </a:p>
        </p:txBody>
      </p:sp>
      <p:sp>
        <p:nvSpPr>
          <p:cNvPr id="88" name="Text 86"/>
          <p:cNvSpPr/>
          <p:nvPr/>
        </p:nvSpPr>
        <p:spPr>
          <a:xfrm>
            <a:off x="795528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9" name="Shape 87"/>
          <p:cNvSpPr/>
          <p:nvPr/>
        </p:nvSpPr>
        <p:spPr>
          <a:xfrm>
            <a:off x="470916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476402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 Attribution</a:t>
            </a:r>
            <a:endParaRPr lang="en-US" sz="850" dirty="0"/>
          </a:p>
        </p:txBody>
      </p:sp>
      <p:sp>
        <p:nvSpPr>
          <p:cNvPr id="91" name="Shape 89"/>
          <p:cNvSpPr/>
          <p:nvPr/>
        </p:nvSpPr>
        <p:spPr>
          <a:xfrm>
            <a:off x="662940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667512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observability/cost_tracker</a:t>
            </a:r>
            <a:endParaRPr lang="en-US" sz="750" dirty="0"/>
          </a:p>
        </p:txBody>
      </p:sp>
      <p:sp>
        <p:nvSpPr>
          <p:cNvPr id="93" name="Shape 91"/>
          <p:cNvSpPr/>
          <p:nvPr/>
        </p:nvSpPr>
        <p:spPr>
          <a:xfrm>
            <a:off x="7955280" y="2084832"/>
            <a:ext cx="685800" cy="256032"/>
          </a:xfrm>
          <a:prstGeom prst="rect">
            <a:avLst/>
          </a:prstGeom>
          <a:solidFill>
            <a:srgbClr val="C62828"/>
          </a:solidFill>
          <a:ln/>
        </p:spPr>
        <p:txBody>
          <a:bodyPr/>
          <a:lstStyle/>
          <a:p>
            <a:endParaRPr lang="en-US"/>
          </a:p>
        </p:txBody>
      </p:sp>
      <p:sp>
        <p:nvSpPr>
          <p:cNvPr id="94" name="Text 92"/>
          <p:cNvSpPr/>
          <p:nvPr/>
        </p:nvSpPr>
        <p:spPr>
          <a:xfrm>
            <a:off x="795528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95" name="Shape 93"/>
          <p:cNvSpPr/>
          <p:nvPr/>
        </p:nvSpPr>
        <p:spPr>
          <a:xfrm>
            <a:off x="470916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476402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Immutable Audit Log</a:t>
            </a:r>
            <a:endParaRPr lang="en-US" sz="850" dirty="0"/>
          </a:p>
        </p:txBody>
      </p:sp>
      <p:sp>
        <p:nvSpPr>
          <p:cNvPr id="97" name="Shape 95"/>
          <p:cNvSpPr/>
          <p:nvPr/>
        </p:nvSpPr>
        <p:spPr>
          <a:xfrm>
            <a:off x="662940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67512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audit_log.py + S3 archive</a:t>
            </a:r>
            <a:endParaRPr lang="en-US" sz="750" dirty="0"/>
          </a:p>
        </p:txBody>
      </p:sp>
      <p:sp>
        <p:nvSpPr>
          <p:cNvPr id="99" name="Shape 97"/>
          <p:cNvSpPr/>
          <p:nvPr/>
        </p:nvSpPr>
        <p:spPr>
          <a:xfrm>
            <a:off x="7955280" y="2340864"/>
            <a:ext cx="685800" cy="256032"/>
          </a:xfrm>
          <a:prstGeom prst="rect">
            <a:avLst/>
          </a:prstGeom>
          <a:solidFill>
            <a:srgbClr val="C62828"/>
          </a:solidFill>
          <a:ln/>
        </p:spPr>
        <p:txBody>
          <a:bodyPr/>
          <a:lstStyle/>
          <a:p>
            <a:endParaRPr lang="en-US"/>
          </a:p>
        </p:txBody>
      </p:sp>
      <p:sp>
        <p:nvSpPr>
          <p:cNvPr id="100" name="Text 98"/>
          <p:cNvSpPr/>
          <p:nvPr/>
        </p:nvSpPr>
        <p:spPr>
          <a:xfrm>
            <a:off x="795528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1" name="Shape 99"/>
          <p:cNvSpPr/>
          <p:nvPr/>
        </p:nvSpPr>
        <p:spPr>
          <a:xfrm>
            <a:off x="470916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476402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PII Classifier &amp; Redact</a:t>
            </a:r>
            <a:endParaRPr lang="en-US" sz="850" dirty="0"/>
          </a:p>
        </p:txBody>
      </p:sp>
      <p:sp>
        <p:nvSpPr>
          <p:cNvPr id="103" name="Shape 101"/>
          <p:cNvSpPr/>
          <p:nvPr/>
        </p:nvSpPr>
        <p:spPr>
          <a:xfrm>
            <a:off x="662940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667512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Presidio integration</a:t>
            </a:r>
            <a:endParaRPr lang="en-US" sz="750" dirty="0"/>
          </a:p>
        </p:txBody>
      </p:sp>
      <p:sp>
        <p:nvSpPr>
          <p:cNvPr id="105" name="Shape 103"/>
          <p:cNvSpPr/>
          <p:nvPr/>
        </p:nvSpPr>
        <p:spPr>
          <a:xfrm>
            <a:off x="7955280" y="2596896"/>
            <a:ext cx="685800" cy="256032"/>
          </a:xfrm>
          <a:prstGeom prst="rect">
            <a:avLst/>
          </a:prstGeom>
          <a:solidFill>
            <a:srgbClr val="C62828"/>
          </a:solidFill>
          <a:ln/>
        </p:spPr>
        <p:txBody>
          <a:bodyPr/>
          <a:lstStyle/>
          <a:p>
            <a:endParaRPr lang="en-US"/>
          </a:p>
        </p:txBody>
      </p:sp>
      <p:sp>
        <p:nvSpPr>
          <p:cNvPr id="106" name="Text 104"/>
          <p:cNvSpPr/>
          <p:nvPr/>
        </p:nvSpPr>
        <p:spPr>
          <a:xfrm>
            <a:off x="795528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7" name="Shape 105"/>
          <p:cNvSpPr/>
          <p:nvPr/>
        </p:nvSpPr>
        <p:spPr>
          <a:xfrm>
            <a:off x="470916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108" name="Text 106"/>
          <p:cNvSpPr/>
          <p:nvPr/>
        </p:nvSpPr>
        <p:spPr>
          <a:xfrm>
            <a:off x="476402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Model Allowlist Governance</a:t>
            </a:r>
            <a:endParaRPr lang="en-US" sz="850" dirty="0"/>
          </a:p>
        </p:txBody>
      </p:sp>
      <p:sp>
        <p:nvSpPr>
          <p:cNvPr id="109" name="Shape 107"/>
          <p:cNvSpPr/>
          <p:nvPr/>
        </p:nvSpPr>
        <p:spPr>
          <a:xfrm>
            <a:off x="662940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110" name="Text 108"/>
          <p:cNvSpPr/>
          <p:nvPr/>
        </p:nvSpPr>
        <p:spPr>
          <a:xfrm>
            <a:off x="667512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governance/model_policy.py</a:t>
            </a:r>
            <a:endParaRPr lang="en-US" sz="750" dirty="0"/>
          </a:p>
        </p:txBody>
      </p:sp>
      <p:sp>
        <p:nvSpPr>
          <p:cNvPr id="111" name="Shape 109"/>
          <p:cNvSpPr/>
          <p:nvPr/>
        </p:nvSpPr>
        <p:spPr>
          <a:xfrm>
            <a:off x="7955280" y="2852928"/>
            <a:ext cx="685800" cy="256032"/>
          </a:xfrm>
          <a:prstGeom prst="rect">
            <a:avLst/>
          </a:prstGeom>
          <a:solidFill>
            <a:srgbClr val="F9A825"/>
          </a:solidFill>
          <a:ln/>
        </p:spPr>
        <p:txBody>
          <a:bodyPr/>
          <a:lstStyle/>
          <a:p>
            <a:endParaRPr lang="en-US"/>
          </a:p>
        </p:txBody>
      </p:sp>
      <p:sp>
        <p:nvSpPr>
          <p:cNvPr id="112" name="Text 110"/>
          <p:cNvSpPr/>
          <p:nvPr/>
        </p:nvSpPr>
        <p:spPr>
          <a:xfrm>
            <a:off x="795528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3" name="Shape 111"/>
          <p:cNvSpPr/>
          <p:nvPr/>
        </p:nvSpPr>
        <p:spPr>
          <a:xfrm>
            <a:off x="470916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476402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Red-Team Eval Infra</a:t>
            </a:r>
            <a:endParaRPr lang="en-US" sz="850" dirty="0"/>
          </a:p>
        </p:txBody>
      </p:sp>
      <p:sp>
        <p:nvSpPr>
          <p:cNvPr id="115" name="Shape 113"/>
          <p:cNvSpPr/>
          <p:nvPr/>
        </p:nvSpPr>
        <p:spPr>
          <a:xfrm>
            <a:off x="662940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116" name="Text 114"/>
          <p:cNvSpPr/>
          <p:nvPr/>
        </p:nvSpPr>
        <p:spPr>
          <a:xfrm>
            <a:off x="667512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benchmark/red_team.py</a:t>
            </a:r>
            <a:endParaRPr lang="en-US" sz="750" dirty="0"/>
          </a:p>
        </p:txBody>
      </p:sp>
      <p:sp>
        <p:nvSpPr>
          <p:cNvPr id="117" name="Shape 115"/>
          <p:cNvSpPr/>
          <p:nvPr/>
        </p:nvSpPr>
        <p:spPr>
          <a:xfrm>
            <a:off x="7955280" y="3108960"/>
            <a:ext cx="685800" cy="256032"/>
          </a:xfrm>
          <a:prstGeom prst="rect">
            <a:avLst/>
          </a:prstGeom>
          <a:solidFill>
            <a:srgbClr val="F9A825"/>
          </a:solidFill>
          <a:ln/>
        </p:spPr>
        <p:txBody>
          <a:bodyPr/>
          <a:lstStyle/>
          <a:p>
            <a:endParaRPr lang="en-US"/>
          </a:p>
        </p:txBody>
      </p:sp>
      <p:sp>
        <p:nvSpPr>
          <p:cNvPr id="118" name="Text 116"/>
          <p:cNvSpPr/>
          <p:nvPr/>
        </p:nvSpPr>
        <p:spPr>
          <a:xfrm>
            <a:off x="795528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9" name="Text 117"/>
          <p:cNvSpPr/>
          <p:nvPr/>
        </p:nvSpPr>
        <p:spPr>
          <a:xfrm>
            <a:off x="502920" y="4370832"/>
            <a:ext cx="685800" cy="201168"/>
          </a:xfrm>
          <a:prstGeom prst="rect">
            <a:avLst/>
          </a:prstGeom>
          <a:noFill/>
          <a:ln/>
        </p:spPr>
        <p:txBody>
          <a:bodyPr wrap="square" lIns="0" tIns="0" rIns="0" bIns="0" rtlCol="0" anchor="ctr"/>
          <a:lstStyle/>
          <a:p>
            <a:pPr marL="0" indent="0">
              <a:buNone/>
            </a:pPr>
            <a:r>
              <a:rPr lang="en-US" sz="900" dirty="0">
                <a:solidFill>
                  <a:srgbClr val="999999"/>
                </a:solidFill>
                <a:latin typeface="Arial" pitchFamily="34" charset="0"/>
                <a:ea typeface="Arial" pitchFamily="34" charset="-122"/>
                <a:cs typeface="Arial" pitchFamily="34" charset="-120"/>
              </a:rPr>
              <a:t>Severity:</a:t>
            </a:r>
            <a:endParaRPr lang="en-US" sz="900" dirty="0"/>
          </a:p>
        </p:txBody>
      </p:sp>
      <p:sp>
        <p:nvSpPr>
          <p:cNvPr id="120" name="Shape 118"/>
          <p:cNvSpPr/>
          <p:nvPr/>
        </p:nvSpPr>
        <p:spPr>
          <a:xfrm>
            <a:off x="1216152" y="4398264"/>
            <a:ext cx="502920" cy="146304"/>
          </a:xfrm>
          <a:prstGeom prst="rect">
            <a:avLst/>
          </a:prstGeom>
          <a:solidFill>
            <a:srgbClr val="C62828"/>
          </a:solidFill>
          <a:ln/>
        </p:spPr>
        <p:txBody>
          <a:bodyPr/>
          <a:lstStyle/>
          <a:p>
            <a:endParaRPr lang="en-US"/>
          </a:p>
        </p:txBody>
      </p:sp>
      <p:sp>
        <p:nvSpPr>
          <p:cNvPr id="121" name="Text 119"/>
          <p:cNvSpPr/>
          <p:nvPr/>
        </p:nvSpPr>
        <p:spPr>
          <a:xfrm>
            <a:off x="176479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Critical</a:t>
            </a:r>
            <a:endParaRPr lang="en-US" sz="900" dirty="0"/>
          </a:p>
        </p:txBody>
      </p:sp>
      <p:sp>
        <p:nvSpPr>
          <p:cNvPr id="122" name="Shape 120"/>
          <p:cNvSpPr/>
          <p:nvPr/>
        </p:nvSpPr>
        <p:spPr>
          <a:xfrm>
            <a:off x="2542032" y="4398264"/>
            <a:ext cx="502920" cy="146304"/>
          </a:xfrm>
          <a:prstGeom prst="rect">
            <a:avLst/>
          </a:prstGeom>
          <a:solidFill>
            <a:srgbClr val="F9A825"/>
          </a:solidFill>
          <a:ln/>
        </p:spPr>
        <p:txBody>
          <a:bodyPr/>
          <a:lstStyle/>
          <a:p>
            <a:endParaRPr lang="en-US"/>
          </a:p>
        </p:txBody>
      </p:sp>
      <p:sp>
        <p:nvSpPr>
          <p:cNvPr id="123" name="Text 121"/>
          <p:cNvSpPr/>
          <p:nvPr/>
        </p:nvSpPr>
        <p:spPr>
          <a:xfrm>
            <a:off x="309067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High</a:t>
            </a:r>
            <a:endParaRPr lang="en-US" sz="900" dirty="0"/>
          </a:p>
        </p:txBody>
      </p:sp>
      <p:sp>
        <p:nvSpPr>
          <p:cNvPr id="124" name="Shape 122"/>
          <p:cNvSpPr/>
          <p:nvPr/>
        </p:nvSpPr>
        <p:spPr>
          <a:xfrm>
            <a:off x="3867912" y="4398264"/>
            <a:ext cx="502920" cy="146304"/>
          </a:xfrm>
          <a:prstGeom prst="rect">
            <a:avLst/>
          </a:prstGeom>
          <a:solidFill>
            <a:srgbClr val="0097A7"/>
          </a:solidFill>
          <a:ln/>
        </p:spPr>
        <p:txBody>
          <a:bodyPr/>
          <a:lstStyle/>
          <a:p>
            <a:endParaRPr lang="en-US"/>
          </a:p>
        </p:txBody>
      </p:sp>
      <p:sp>
        <p:nvSpPr>
          <p:cNvPr id="125" name="Text 123"/>
          <p:cNvSpPr/>
          <p:nvPr/>
        </p:nvSpPr>
        <p:spPr>
          <a:xfrm>
            <a:off x="441655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Medium</a:t>
            </a:r>
            <a:endParaRPr lang="en-US" sz="900" dirty="0"/>
          </a:p>
        </p:txBody>
      </p:sp>
      <p:sp>
        <p:nvSpPr>
          <p:cNvPr id="126" name="Shape 124"/>
          <p:cNvSpPr/>
          <p:nvPr/>
        </p:nvSpPr>
        <p:spPr>
          <a:xfrm>
            <a:off x="502920" y="4617720"/>
            <a:ext cx="8138160" cy="182880"/>
          </a:xfrm>
          <a:prstGeom prst="rect">
            <a:avLst/>
          </a:prstGeom>
          <a:solidFill>
            <a:srgbClr val="E0F7FA"/>
          </a:solidFill>
          <a:ln w="12700">
            <a:solidFill>
              <a:srgbClr val="0097A7"/>
            </a:solidFill>
            <a:prstDash val="solid"/>
          </a:ln>
        </p:spPr>
        <p:txBody>
          <a:bodyPr/>
          <a:lstStyle/>
          <a:p>
            <a:endParaRPr lang="en-US"/>
          </a:p>
        </p:txBody>
      </p:sp>
      <p:sp>
        <p:nvSpPr>
          <p:cNvPr id="127" name="Text 125"/>
          <p:cNvSpPr/>
          <p:nvPr/>
        </p:nvSpPr>
        <p:spPr>
          <a:xfrm>
            <a:off x="594360" y="4617720"/>
            <a:ext cx="7955280" cy="1828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Sprint order: Critical-first (compliance &amp; security), then High (scale &amp; reliability), then Medium (governance polish).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2802</TotalTime>
  <Words>12520</Words>
  <Application>Microsoft Macintosh PowerPoint</Application>
  <PresentationFormat>On-screen Show (16:9)</PresentationFormat>
  <Paragraphs>1306</Paragraphs>
  <Slides>53</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Chatbot v2 — Complete System Deep-Dive</dc:title>
  <dc:subject>PptxGenJS Presentation</dc:subject>
  <dc:creator>Shiv</dc:creator>
  <cp:lastModifiedBy>Balodi, Shiv A</cp:lastModifiedBy>
  <cp:revision>2</cp:revision>
  <dcterms:created xsi:type="dcterms:W3CDTF">2026-04-22T02:21:53Z</dcterms:created>
  <dcterms:modified xsi:type="dcterms:W3CDTF">2026-04-29T23:12:51Z</dcterms:modified>
</cp:coreProperties>
</file>