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04"/>
    <p:restoredTop sz="94610"/>
  </p:normalViewPr>
  <p:slideViewPr>
    <p:cSldViewPr snapToGrid="0" snapToObjects="1">
      <p:cViewPr varScale="1">
        <p:scale>
          <a:sx n="170" d="100"/>
          <a:sy n="170" d="100"/>
        </p:scale>
        <p:origin x="200"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viewProps" Target="view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theme" Target="theme/theme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notesMaster" Target="notesMasters/notesMaster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591616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Hey everyone, thanks for joining! So today we're going to walk through this entire agentic chatbot system from top to bottom. By the end, you'll understand how every piece talks to each other — from that first HTTP request all the way through routing, agent selection, and getting back a smart answer. Ready?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Alright, so think of this system like a really smart switchboard operator, right? A customer calls in with a question, and this operator has to figure out: 'Do I just answer this quickly, or do I need to get a specialist involved?' If it's simple, boom — direct answer. If it's complex, the operator routes it to the right department. Same idea here.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every request, no matter what, follows this exact path. See that fork in the road in the middle? That's the router — the most important decision point. It asks: 'Is this BASIC — just chat, no tools needed?' Or is it AGENT — meaning 'This needs some real processing, tools, maybe multiple steps.' We're gonna spend the next 40 slides unpacking every box in this flow.</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Alright, so before we get into the gnarly implementation details, let's just orient ourselves. Where does everything live in this codebase? That matters because if you ever want to change something, you need to know where to find it. This section is basically a map — frontend, backend, data files, Docker setup, the whole layout.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Okay, so at the root level you've got a multi-stage Dockerfile — which is nice because Node.js builds the React admin UI in stage 1, then Python handles the backend in stage 2. No Node needed in production. You've also got docker-compose with six services, requirements.txt with all the Python deps, and run.py as your entry point. The key thing to know: data/ is where the runtime lives. Agent definitions, skill packs, prompts — that's all in data/. Your Python code handles logic, but behavior is driven by data. If you want to change how an agent acts, go to data/agents/. If you want to change system behavior, that's in Python code.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 frontend is straightforward — a React app that only talks to the backend through the public API. AgentStatusPanel watches the SSE stream and shows real-time progress. MessageBubble handles markdown, citations, artifacts. FileUpload uploads a file, gets an ID, passes it with the next message. The whole thing gets built into dist/ and served as static files by FastAPI. No separate Node server needed.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 control panel is a separate admin tool — not for end users, just for operators. It's its own React app served at /admin. App.tsx is 109KB because all state management is inline, no Redux. architectureLayout.ts renders the architecture as a visual graph. start_local_stack.sh starts postgres, Python backend, and both React dev servers at once.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 tip: the demo notebook is the first thing to run when you clone the repo. Interactive walkthrough using only the public API — doubles as an integration test. BackendServerManager starts FastAPI, polls health, auto-kills on shutdown. Watch SSE events stream in real-time, see workers dispatched, jobs complete.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is the operator's control room. Agent definitions, skill docs, prompts — all editable. skill_packs/ are really powerful: each markdown file is a guidance document injected into the agent's context when relevant. Add a skill, BAM, the next query uses it. kb/ collections map to PostgreSQL. Memory uses tenant/user hierarchy. overlays/ is how the control panel edits work without restarting.</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multi-stage Dockerfile is elegant: both React admin and Python backend in one image. Stage 1 builds React, stage 2 copies files and installs Python. entrypoint.sh handles migrations and uvicorn startup. docker-compose brings everything up: postgres with pgvector, ollama, app, openwebui. Langfuse is ready to go for observability.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Alright, API gateway section now. This is where HTTP requests arrive. FastAPI validates, hands off to RuntimeService. The gateway is intentionally minimal — just enough to be safe, keeps concerns separated.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API has grown to 23 endpoints, 7 new since last version. /v1/connector/chat for third-party integrations. /v1/agents returns configs. Five endpoints for graph support: list, get metadata, index, import, query. Admin endpoints (28 of them) in control_panel/routes.py behind X-Admin-Token.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 these boxes left to right — the exact sequence. Client POSTs, FastAPI finds or creates session, calls RuntimeService.process_turn(). Response comes back as SSE so client sees progress: 'Routing...', 'Retrieving...', 'Generating...' progress_sink hooks into event system for live updates.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3: the three-layer architecture. This is THE concept you need to understand. Every request goes through these three layers.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Big picture: imagine Russian dolls — three layers. RuntimeService handles workspace, KB ready, routing. RuntimeKernel loads session, LLM config, events, jobs. QueryLoop runs the LLM in the right mode. Service never calls LLM. QueryLoop never persists. Kernel is the glue. That separation is why it's maintainable.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RuntimeService doesn't know HOW to run an agent, just WHICH agent to run. try/finally around progress cleanup prevents resource leaks. Circuit breaker chain: if agent's provider is down, falls back to basic mode with different provider. If even that fails, returns graceful degraded message. API callers can pass requested_agent_override to force specific agent.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Kernel is the operations manager. Splits into three controllers: KernelCoordinatorController for pipeline, KernelProviderController for LLM selection, KernelEventController for observability. Core kernel.py is 1780 lines now — much cleaner because complex logic is broken out.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Coordinator is sophisticated: planner makes plan, workers run in parallel (max 4), finalizer synthesizes, verifier fact-checks. Handoff artifact system: workers produce typed artifacts (analysis_summary, entity_candidates), next worker consumes them. Each artifact has allowlist. Verification loops back, but caps at 4 rounds.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QueryLoop is the execution engine. Takes agent name, looks up agent's definition, checks mode field, dispatches to right method. Simple and data-driven.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 'knows' what it can do — it's a sandwich assembled fresh. Base layer is skill file (personality, rules). Task context adds query, history. Skill injections are matched guidance docs — evolve without code. Memory layer surfaces stored facts. Tool descriptions auto-generated. Evidence layer (RAG only) has retrieved chunks. Key: all computed fresh each turn.</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PromptBuilder looks simple — 30 lines — but linchpin of customization. Two-directory pattern: check overlay first, fall back to defaults. Ship defaults, let operators customize. Admin edits prompt, gets written to overlays/, next request PromptBuilder finds it. To roll back, delete overlay. No restart. FileNotFoundError is intentional.</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LLMs have output limits, get truncated. LongOutputComposer breaks into sections. Asks for plan first, generates each section independently. If truncated, retries shorter. Big requests run in background. Three modes: chat, file, hybrid. Pretty flexible.</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Routing system is the critical decision point. Quality of routing determines if user gets fast answer or deep analysis. Two-phase: fast regex, optional LLM judge.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Router is the first decision. Three modes: hybrid (default, regex first), llm_only, or disabled. Dynamic agent discovery from registry means new agents are automatically routable. Circuit breaker on judge: if down, fall back to regex.</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Patterns are carefully tuned, load once, cached. One match = 0.75 confidence, two = 0.90. Attachments route AGENT (1.0 confidence). Long inputs route AGENT. Short unmatched routes BASIC (0.85). Dynamic discovery from registry.</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Judge is a safety net for ambiguous cases. Uses Pydantic for structured output. Falls back to text parsing. Sees agent descriptions from registry dynamically. Both modes have circuit breaker — if judge is down, graceful fallback to regex.</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Policy is safety net between router and execution. choose_agent_name() validates router's suggestion. If doesn't exist, fall back to default. Also coordinator override and requested_agent_override. Clean separation: router suggests, policy validates, kernel executes.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Elegant design choice: agents are data in markdown files, not Python classes. Runtime reads files, validates, configures generic modes. Adding agent = creating .md file. Control panel can modify at runtime via overlays.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code block is a complete agent definition. Name is unique identifier. Mode determines QueryLoop method. allowed_tools is enforced allowlist. system_prompt_file points to skill. role_kind controls standalone vs worker. Registry loads .md files, validates, makes available.</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System has 11 agents now. General is workhorse with 17 tools. Coordinator has 4 orchestration tools. Data analyst has 14. RAG worker focuses on retrieval. Utility, planner, finalizer, verifier are specialists. Memory maintainer extracts facts. Graph manager is newest, handles graph retrieval.</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is the decoder ring. Mode field determines execution path. Coordinator is special — handled by Kernel, not QueryLoop. React is most powerful — access to tools. Basic is simplest. RAG has structured pipeline with citations.</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data_analyst definition — most tool-rich agent. execution_strategy 'plan_execute' is variant of ReAct: plan first, execute step by step. allowed_tools enforced at executor — LLM can't call outside. role_kind 'top_level_or_worker' means routable and usable as worker.</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6: five different request types. Architecture comes alive — real scenarios traced end-to-end.</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User asks 'What is machine learning?' — simple question. No attachments, short text, confidence 0.85, routes BASIC. FastAPI calls RuntimeService, delegates to BasicAgent via QueryLoop. One LLM call, no tools. Fast and cheap.</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ReAct loop with data analyst. User uploads CSV. System loads, inspects columns, plans analysis, executes, maybe runs code in sandbox, returns artifacts. File upload in workspace, referenced by upload_id. Agent retries if tool fails.</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RAG pipeline in action. User asks document-specific question. Router detects keyword, high confidence, routes to rag_worker. Agent retrieves chunks, ranks, synthesizes, cites. If synthesis fails, fallback scan finds domain themes, assembles from snippets without hallucinating.</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powerful flow. User asks multi-part task. Router detects 'multi-step', routes to coordinator. Planner breaks into subtasks. Workers run parallel. Finalizer synthesizes. Verifier fact-checks. Loop back if issues. Cap at 4 rounds.</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Memory is what makes learning happen. Two halves work together. memory_maintainer extracts facts after each turn, stores by tenant/user. MemoryContextBuilder retrieves before LLM call so agent knows past preferences, decisions. Institutional memory.</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Print this and pin it. Complete routing tree. Every question hits this flowchart. Single most important decision point. If routing is wrong, nothing else matters. Right routing enables agent specialization.</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Tools are the hands. 20+ tools: document access, code execution, memory, calculator, graph queries. Tool executor validates against agent's allowed_tools before executing. Prevents agents from accessing tools they shouldn't.</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Clean separation across layers. ToolDefinition, ToolInvoker handle registration and execution. ToolExecutor validates against allowlist. Strategies handle loops like ReAct. Each knows termination: ReAct loops until answer complete or max steps.</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UPDATED: two tiers of RAG tools. Main tools like list_indexed_docs let agents directly access KB. rag_agent_tool is high-level interface — agents describe in natural language, RAG system handles retrieval and synthesis.</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tools/groups/ is factory pattern. Each directory exposes one factory. Call it at startup, dynamically loaded tools. Easy to add without modifying core.</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Tools are definitions — name, description, parameters. ToolInvoker is executor. agent's allowed_tools references names. Tool executor validates name in list before calling.</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Skills make system smarter without code. Markdown docs injected when relevant. SkillRuntime retrieves via semantic search. Add skill, index it, next relevant query uses it. Learned guidance, not hard-coded.</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ReAct is core execution mode for agents with tools. Think what to do (reason), call tool (act), observe, repeat. LangGraph implementation. Max steps prevent loops. Tool executor catches failures, lets agent retry.</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examine each agent. Not all top-level — some only as coordinator workers. But all special in what they do.</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Basic agent is simplest path. Zero tools, single LLM call. Routed for questions needing no special processing. Fast, cheap, good for simple chat.</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General is workhorse — Swiss army knife. 17 tools, ReAct mode. Do almost anything: calculate, access docs, memory, search skills, spawn workers. Top-level agent.</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Coordinator is senior project manager — plans and delegates, doesn't do work. In coordinator mode, kernel handles execution. Spawns workers, collects results, finalizer synthesizes, verifier fact-checks. Special handling.</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 data analyst is our powerhouse — 14 tools, 4 dedicated skill packs, and the only agent that can actually run code. It uses plan_execute strategy, meaning it writes a full analysis plan before touching any data. That's a big deal — it produces way more reliable results than ad-hoc tool calling. The sandbox runs Python 3.12 in Docker with no network, 512MB RAM, 60-second timeout. Workspace is bind-mounted so it reads uploaded files directly. It also has invoke_agent now, so it can hand off non-analyst work to other agents mid-turn.</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here's why we can let an LLM write and run arbitrary Python without losing sleep. Docker sandbox: fresh container each time, no network at all, 512MB RAM cap, 60-second timeout. If the LLM writes an infinite loop, Docker kills it. If it tries to call home, network is off. Workspace bind-mount lets agents read uploaded files and write results back. Output capped at 50KB so a rogue print statement can't blow up memory. Package whitelist catches bad imports before the container even starts. It's a really clean isolation model.</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rag_worker is totally different from every other agent — zero tools, no ReAct loop. It has its own dedicated pipeline: hybrid retrieval, judge grading, synthesis, citations. Returns a structured contract, not free text. The cool part is evidence_only mode — when the coordinator dispatches it, it can skip synthesis and just return graded chunks. That way the finalizer controls the final format and can combine evidence from multiple rag_workers. Execution hints let skills automatically configure retrieval strategy — corpus discovery, comparison campaign, targeted search — all without the user specifying anything.</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never talk to users directly — they only run inside the coordinator pipeline. Think of it as an assembly line. The planner breaks down the request into a structured JSON plan with tasks, executors, and dependencies. The finalizer takes all the worker outputs and weaves them into one coherent answer. And the verifier is the quality check — it's the only coordinator-only agent with tools, because it needs independent KB access to fact-check the finalizer. If verification fails, the coordinator loops back with feedback. That loop is what gives us real quality guarantees.</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supporting agents with very different jobs. Utility is the coordinator's lightweight helper — calculator, doc listing, skill lookups, max 8 steps. When the coordinator just needs a quick computation, it doesn't spin up the full data analyst. Memory maintainer runs quietly after every turn, looking for patterns like 'remember that...' or 'I prefer...' and persisting them. Two scopes: conversation memory that lives for the chat session, and user memory that persists across sessions. Only explicit requests like 'remember this' trigger persistent writes — we don't silently memorize everything.</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Pin this one — it's the cheat sheet. When you're debugging, check here first. Only data_analyst can run code. Only agents with Workers=Yes can spawn sub-agents. The asterisk on RAG means they use the rag_agent_tool wrapper, not the native pipeline — less control but still functional. rag_worker is the only one with native RAG. Role kind tells you where it runs: top_level is user-facing, workers are coordinator-spawned, coordinator-only is internal pipeline, background runs automatically.</a:t>
            </a:r>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Alright, we've covered all the agents. Now let's go deeper into the infrastructure that makes everything actually work in production — RAG pipeline internals, persistence, observability, and security.</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here's the thing about retrieval — it's noisy. You might pull chunks that look relevant but aren't actually answering the question. That's where the judge LLM comes in. It's a fast, cheap model that scores each chunk on relevance, and we only pass the high-scoring chunks to the synthesis step. Saves compute and prevents hallucination from junk.</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Alright, so we've got evidence in hand. Now synthesis.py does the heavy lifting: it deduplicates chunks by fingerprint so you never cite the same thing twice, ranks them by title relevance and length, then limits to 6 so the LLM prompt stays tight. The LLM generates a grounded answer with citations. But here's where it gets clever — if the LLM response breaks or JSON extraction fails, we have a fallback: scan the docs for domain theme markers and assemble a plain-language answer from snippet summaries without making anything up. The fallback always works, even when everything else fails.</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here's a critical infrastructure change. The knowledge base used to support file-based storage as a fallback. Not anymore. We're fully on PostgreSQL with pgvector — no file-based fallback. This gives us production-grade vector search, full-text indexing, and structured clause retrieval. Session state uses the typed SessionState dataclass which serializes to/from dict for persistence, and we've added pending task notifications so users see when background jobs complete. Uploads and workspace files are still filesystem-based per-session.</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observability is layered, which is a design choice we made intentionally. Every significant action emits a typed RuntimeEvent — think of it like a structured log entry with event_type, session_id, job_id, and an open dict for custom data. These events fan out through RuntimeEventSink implementations. In tests and basic mode, they get dropped. In production, we fan out to multiple sinks simultaneously: base sinks get every event, per-session sinks only get their session's events. Langfuse integration hooks in automatically — when you set LANGFUSE_PUBLIC_KEY and SECRET, LLM traces flow there with zero code changes. And we have timed_span(), a context manager to measure latency on any code block without changing the structure.</a:t>
            </a:r>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Defense-in-depth isn't a slogan here — it's how we actually built security. Docker sandbox, allowlists per agent, filename validation, size limits. No single layer is sufficient alone, and that's the point. The idea is that if one layer breaks, the others catch it.</a:t>
            </a:r>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section covers three reliability systems we added to keep the system up when things go wrong. First: the circuit breaker, which stops us from hammering a provider that's having a bad day. Second: the LiveProgressSink that translates internal events into real-time SSE messages for the client UI. Third: provider validation at startup so misconfiguration errors surface immediately instead of mid-request.</a:t>
            </a:r>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circuit breaker is a proven resilience pattern we adapted for LLM providers. Each provider/model combo gets its own breaker. When it's CLOSED, calls go through and we track success/fail in a rolling window. If error rate hits 50% or we see three consecutive failures, the breaker trips OPEN and starts rejecting calls immediately — prevents hammering a failing provider. After 30 seconds, we transition to HALF-OPEN: one probe call is allowed. If it succeeds, we reset to CLOSED. If it fails, back to OPEN. The whole thing emits observability events so you can alert on it. And when a breaker trips, the runtime degradesgracefully by trying a different provider or falling back to basic mode.</a:t>
            </a:r>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here's where the UI magic happens. LiveProgressSink implements RuntimeEventSink and sits in the session's composite sink. It receives every RuntimeEvent for that request and translates them into SSE JSON. A router_decision event becomes a route_decision SSE message with label, why, and confidence. A worker_agent_started becomes a worker_start with task title and doc scope. Internally it uses a thread-safe queue — when the request finishes, we push None as a terminator. The SSE generator reads off the queue and formats as 'data: {json}' until it sees None. So the client sees real-time updates like 'Planning tasks' → 'Dispatching workers' → 'Worker 1: analyzing contracts' → 'Final synthesis complete' without any polling. Events not in our phase labels are either handled specifically or dropped to avoid noise.</a:t>
            </a:r>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here's the elegant part of the provider design. AgentProviderResolver.for_agent() answers one question: 'which model does this agent use?' First, we check agent-specific overrides — data_analyst can be gpt-4o while rag_worker is gpt-4o-mini. Fallback is the global setting. Judge and embeddings follow the same pattern. The LRU cache is performance magic: if two agents use the same model and token cap, they share the same provider instance instead of creating redundant connections. ProviderBundle bundles chat, judge, and embeddings together so agents always have access to all three. This means you can tune models at any granularity without touching code.</a:t>
            </a:r>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Token caps and validation work as a pair. Output caps prevent runaway generation — the 5-level priority chain means you can tune at any granularity. Request params override agent-specific settings, which override demo settings, which override global. Demo environments get their own cap so testing doesn't run up costs. Provider validation runs at startup before any requests hit. If Azure isn't HTTPS, you get a specific error with the exact env var to fix. If langchain_openai isn't installed but you configured it, the error tells you the exact pip command to run. This fast-fail approach means misconfiguration surfaces immediately instead of as cryptic runtime errors mid-request.</a:t>
            </a:r>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systems work together here. The AgentRegistry is the runtime index of all agent definitions, and the Control Panel is the admin interface for hot-reloading them. We load agents from markdown files and validate them strictly so typos become errors, not silent bugs. And admins can modify agents without restarting.</a:t>
            </a:r>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AgentRegistry scans two directories: the main agents_dir and an optional overlay_dir managed by the Control Panel. When both have the same agent, overlay wins. This means admins can modify definitions without touching source files. reload() happens once at startup and again whenever Control Panel triggers a hot-reload. The registry exposes discovery helpers: is_routable() filters by role_kind or entry_path to find agents the router can send users to. get_default_agent_name() finds the default agent. Pydantic validation is strict — extra='forbid' means unknown fields cause an error, mode must be one of 8 known values, prompt_file must end in .md. This catches typos like 'react ' with a space or unknown modes that would silently break.</a:t>
            </a:r>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Control Panel is a separate FastAPI router at /control-panel with auth on every request via X-Admin-Token header. When an admin calls POST /config/apply, the flow is: validate each key against ConfigCatalog, write to OverlayStore, then call RuntimeManager.reload() which rebuilds RuntimeService thread-safely with RLock. All changes go to audit_log.jsonl with actor, timestamp, changed keys, and previous values. Overlays are separate .md files for prompts and agents, so we keep source code clean and admin customizations separate. If anything fails during reload, we restore the original os.environ — no half-applied state corruption.</a:t>
            </a:r>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of the biggest architectural improvements: the contracts/ module. Before, data flowed between modules as raw dicts or loosely-typed LangChain objects. Now every major data type has a typed dataclass with to_dict() and from_dict(). This makes debugging dramatically easier and evolution safer. Let me walk through what those contracts are.</a:t>
            </a:r>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contracts/ is the skeleton of the whole system. AgentDefinition is now a proper dataclass — when you read an agent YAML, it's parsed into AgentDefinition and typos become validation errors, not silent bugs. RuntimeMessage bridges LangChain's HumanMessage/AIMessage/ToolMessage to our format with extra fields like message_id, created_at, and artifact_refs. SessionState replaces ChatSession and is fully serializable to dict for persistence, plus it includes pending_notifications for background job completions. RagContract defines what every RAG pipeline returns — any code calling RAG gets a guaranteed shape. ToolDefinition captures rich metadata: whether a tool is read_only, destructive, or background_safe so the executor can make smarter decisions.</a:t>
            </a:r>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a critical infrastructure decision. The system now requires PostgreSQL with pgvector for all chunk, document, and skill storage. This is a hard requirement, not an option. No file-based fallback. This gives us production-grade ANN vector search, full-text indexing, and structured clause retrieval in one database.</a:t>
            </a:r>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switch is mandatory. load_stores() in rag/stores.py throws NotImplementedError for any other backend — that's intentional. The psycopg2 ThreadedConnectionPool initializes at startup via init_pool(), and apply_schema() runs the schema SQL so it's safe to call repeatedly. pgvector provides the vector column type and HNSW indexing for approximate nearest neighbor search, with cosine distance via the &lt;=&gt; operator. Embedding dimension is configurable and we provide utilities to dynamically ALTER the column dimension if you swap embedding models — drops the HNSW index, alters the column, lets you rebuild. Full-text search uses PostgreSQL's built-in tsvector for BM25-style keyword matching alongside vector search.</a:t>
            </a:r>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KnowledgeStores is a simple dataclass that bundles all storage backends together — think of it as the database connection object for the whole system. ChunkStore is the workhorse: it does vector search via pgvector HNSW with cosine distance, and keyword search via tsvector. But here's the interesting part — it also has structured retrieval: get_chunks_by_clause() fetches exact clause numbers, get_structure_outline() returns the clause hierarchy, get_requirement_chunks() finds all 'shall' and 'must' requirements. DocumentStore handles document-level operations including fuzzy title matching via trigram similarity. The graph_store is optional — early-stage knowledge graph for multi-hop reasoning. Memory store is currently None — placeholder for future database-backed memory.</a:t>
            </a:r>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RAG pipeline has exploded beyond simple vector retrieval. We're now doing three major things: detecting document structure and splitting at clause boundaries instead of character boundaries, providing 19 specialist RAG tools for fine-grained knowledge base access, and running parallel RAG search tasks across multiple workers.</a:t>
            </a:r>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Picture uploading a contract with 'Clause 3.2: Indemnification' and 'Clause 10: Termination'. Old approach? Split at character boundaries and lose structure. New approach: detect the clause headers via regex, split only at those boundaries. Each chunk gets tagged with chunk_type (clause, requirement, section, etc.) and clause_number. These tags live in PostgreSQL. This unlocks qualitatively different retrieval: instead of 'find chunks semantically similar to indemnification', you can call extract_clauses('clause 3.2') and get the exact text. The requirement detector catches 'shall', 'must', and 'REQ-001' style requirements, enabling get_requirement_chunks() for compliance checking and contract analysis. That's critical for the domain.</a:t>
            </a:r>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19 specialist RAG tools are created by make_all_rag_tools() and backed directly by PostgreSQL — they bypass the high-level RAG agent tool pipeline. This gives agents much finer control. For example: resolve_document uses fuzzy matching to find actual doc_id from 'the safety policy'. fetch_chunk_window gets a chunk plus its neighbors, perfect for expanding context. compare_clauses extracts matching clause numbers from two docs side by side — great for version comparisons. diff_documents gives structural diffs based on which clauses exist in each. The graph search tools are optional — if the graph store isn't configured, they return a helpful message. Tools also include scratchpad_write/read/list for agents to maintain session state. Full LangChain tool system, so composable with everything else.</a:t>
            </a:r>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here's where parallel retrieval happens. The adaptive RAG engine breaks a complex query into multiple RagSearchTask objects — each with task_id, query, doc_scope, strategies, and answer_mode. It calls RagRuntimeBridge.run_search_tasks(). The bridge creates a RuntimeJobManager job for each task. If parallel is possible — multiple tasks, not Ollama, provider supports it — all jobs start as background jobs and we wait for completion. Otherwise they run inline. Results are extracted from each job's result_metadata and aggregated into RagSearchBatchResult with a parallel_workers_used flag. So you can search doc A and doc B simultaneously, or run semantic plus keyword search in parallel.</a:t>
            </a:r>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RagExecutionHints is the control plane for adaptive RAG. research_profile drives which strategy to use: corpus_discovery switches to broad semantic sweeps, comparison_campaign triggers side-by-side clause extraction, process_flow_identification prefers process_flow or clause chunks. coverage_goal controls breadth: corpus_wide means everywhere, targeted means the most relevant doc. result_mode controls output format: inventory returns a structured list, comparison_table structures side-by-side. controller_hints is the escape valve: force_keyword_only disables vectors, disable_judge_grading skips the slow LLM step, max_rounds overrides the limit. Three sources merge: explicit hints win, then skill-driven hints, then heuristic inference. merge_rag_execution_hints() fills blanks from lower-priority sources.</a:t>
            </a:r>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rag/adaptive.py is the largest file in the codebase and the most sophisticated. It's the adapter layer between the RAG engine contract and PostgreSQL. EvidenceLedger deduplicates and grades — every chunk enters with its strategy tag. If the same chunk appears in vector and keyword results, it scores higher but only counts once. apply_grades() attaches LLM judge scores 0-1. materialize_documents() selects the best max_chunks using vector similarity, keyword score, and judge grade. CorpusRetrievalAdapter.search_corpus() runs hybrid retrieval with vector and keyword, then merges and deduplicates. _rerank_with_query_heuristics() gives a bonus to docs whose titles match query terms. _rewrite_query() calls the judge to rephrase ambiguous queries. The multi-round loop is adaptive: it monitors coverage after each round and decides whether another round with different strategies is needed.</a:t>
            </a:r>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WorkbookLoader solves a problem naive CSV ingestion ignores: tabular data has structure. Plain CSV chunks produce 'APAC,1200000,0.15,7,controller_A' — data analysts then decode this. WorkbookLoader produces 'Region: APAC | Annual_Spend_USD: 1200000 | Reserve_Target_Pct: 0.15 | Risk_Score: 7 | Control_Owner: controller_A'. Now queries like 'regions with risk score above 5' have something to match. Header detection scores the first 8 rows — points for multiple non-empty cells, unique values, alphabetic content, and cell length. Highest score becomes the header. This handles real-world patterns like title rows, date rows, blank rows before actual headers. _normalize_headers() deduplicates and fills blanks with Excel-column notation.</a:t>
            </a:r>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extended RAG tools address specific gaps. query_rewriter handles ambiguous queries. If the user asks 'termination provisions' and the doc uses 'cessation clauses', vector search might miss it. query_rewriter calls the judge with a specialized prompt to rewrite — considers conversation context and outputs original plus rewritten query with a changed flag. No cost if changed is False. chunk_expander solves context truncation. Chunk-level search returns individual chunks, but context is often in the preceding or following chunk. chunk_expander takes a chunk_id and window size, then fetches neighbors using the chunk_index in PostgreSQL. Window=2 gives 5 chunks total with full clause context preserved. Both use the standard @tool decorator and return JSON, fully composable with the rest of LangChain.</a:t>
            </a:r>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Alright, so here's the engine that actually runs agent turns. When the kernel routes to an agent with tools, it doesn't just call the LLM once. It orchestrates a full tool-calling loop with plan execution, error recovery, and multi-strategy fallback.</a:t>
            </a:r>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build the system prompt by assembling base prompt, skill injections from SkillRuntime, memory context from MemoryContextBuilder (max 2000 chars), and tool descriptions. Step 2: run the tool loop. We use LangGraph's create_react_agent() when providers support tool binding (OpenAI, Anthropic, etc.). For others, we fall back to plan_execute: ask the LLM to generate a numbered plan, then execute each step explicitly. Step 3: detect truncation. If finish_reason='length' or 'max_tokens', the output was cut off — we enter recovery mode. Step 4: finalize. _finalize_messages() is the recovery engine with a cascade of strategies to ensure we never return an empty answer.</a:t>
            </a:r>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thing about reliability: we never crash or return empty. We have a cascade of recovery strategies. Strategy 1: the LLM produced a complete answer, return it. Strategy 2: if finish_reason was 'length', the LLM was cut off — we still return the partial output with a truncation notice. Strategy 3 (RAG Tool Fallback): if a rag_agent_tool returned valid JSON with 'answer' and 'citations' keys, we extract that directly. Strategy 4 (Tool Result Synthesis): we collect ALL tool call outputs from the message history and make a SECOND LLM call with a synthesis prompt. Strategy 5 is absolute last resort: a user-friendly error message. Each path is logged with reason codes for observability.</a:t>
            </a:r>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analyst fallback is a deterministic path when the ReAct loop fails. _build_data_analyst_code() is a heuristic code generator that knows the system's domain: looks for column patterns like 'region', 'annual_spend_usd', 'current_reserve_usd', 'reserve_target_pct', 'risk_score'. If it finds them, it generates pandas code to compute reserve gaps and rank regions by risk. If not, it falls back to generic 'print the first few rows' script. The scratchpad_write step writes the plan so the LLM can see what was attempted. The fallback respects max_tool_calls. After execute_code, stdout becomes the final answer — no synthesis needed. It's pragmatic: specific domain knowledge hardcoded for production reliability.</a:t>
            </a:r>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here's where the coordinator gets smart. Instead of hardcoding what it does, the planner agent generates a task plan as JSON. This module parses, validates, and executes that plan as a dependency-aware DAG with smart fallback plans when the LLM-generated plan breaks or is missing.</a:t>
            </a:r>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TaskSpec is the atomic unit of the coordinator's work plan. Each task specifies WHO does it, HOW it relates to others via depends_on, and WHAT artifacts it produces/consumes. The DAG execution engine is beautifully simple: look at what's completed, find tasks whose dependencies are satisfied, run either sequential or parallel batch. Real pattern: task_1 (data analyst) runs first and produces analysis_summary. task_2 (rag_worker) depends on task_1 and consumes those artifacts — data-to-document handoff. tasks 3 and 4 have no dependencies, so they run together. normalise_task_plan() validates executor names and modes, falls back to build_fallback_plan() if the plan was malformed. TaskSpec.from_dict() auto-applies RAG execution hints to rag_worker tasks using infer_rag_execution_hints().</a:t>
            </a:r>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build_fallback_plan() is clever: when the LLM planner fails or returns nothing, this function generates a complete, well-structured task plan from pure regex and keyword matching — no LLM call needed. Patterns it detects: Data-to-document handoff — if the query mentions both structured data AND knowledge base topics, auto-generate a two-task pipeline. Document comparison — if you see 'compare' plus quoted doc names, generate parallel analysis tasks. Research campaigns — 'identify all documents', 'across the corpus', 'inventory' trigger multi-worker parallel search. Workbook research — if the campaign also mentions budget/KPI/procurement terms, add a data_analyst task to inspect with doc_focus artifacts. Everything else: _infer_executor() checks for CSV/Excel keywords (data_analyst), math/memory keywords (utility), document/policy keywords (rag_worker), or defaults to general. The coordinator is resilient — even with a broken LLM plan, it produces useful work.</a:t>
            </a:r>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benchmark module tests the hardest RAG failure modes. The defense corpus is a set of curated questions with known answers, source documents, and difficulty levels. DefenseBenchmarkQuestion stores the right answer, which docs it comes from, and specific supporting references. Evaluation checks four things: Was the answer factually correct? Did the system include a citation? Did the citation match a source document? Did it use the correct (latest/approved) version? Entity confusion tests are important: in enterprise contexts, you have similar-sounding entities that RAG systems confuse. The benchmark also tests _AUTHORITY_HINTS — queries with 'current', 'latest', 'approved' should trigger version-aware retrieval. Run this after any retrieval pipeline changes to catch regressions.</a:t>
            </a:r>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Handoff artifacts are the data pipeline between coordinator workers. When a data_analyst finishes its analysis, it doesn't just write text to the transcript — it registers a typed handoff artifact with a structured payload. The next worker can consume that artifact, getting structured data instead of parsing free text.</a:t>
            </a:r>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handoff artifacts, workers communicate only through text — the next worker has to parse prose. With them, a data_analyst produces an analysis_summary artifact with structured highlights and keywords, and a subsequent rag_worker consumes it via list_handoff_artifacts(session, allowed_consumers=['rag_worker']). Allowed_consumers enforces access control: doc_focus is visible to data analysts but entity_candidates isn't. register_handoff_artifact() stores the artifact in session.metadata as a list of dicts. Each gets a unique artifact_id, type, producer task_id, summary string, and data payload. KernelCoordinatorController._prepare_handoff_artifacts() is called after each TaskResult. It calls _handoff_payload() to extract fields: for analysis_summary it takes the first 4000 chars plus highlights; for entity_candidates it regex-scans for capitalized multi-word tokens; for doc_focus it uses the task's doc_scope. It validates each payload against _HANDOFF_SCHEMA_KEYS — invalid ones are logged and skipped.</a:t>
            </a:r>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section documents 13 feature gaps — concrete improvements identified by reading the codebase and applying agentic system best practices. Each item references a specific file and includes an implementation path. Four tiers: quick wins, UX improvements, operational hardening, and advanced capabilities.</a:t>
            </a:r>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are quick wins. Each is isolated to a single file or endpoint, needs no new infrastructure, builds on existing patterns. Conversation export reuses artifact registration. History pagination reuses the existing transcript store. Skill diff extends the versioned skill store. Graph query caching wires an existing config value to the code. Document confidence scoring extends _prepare_synthesis_docs().</a:t>
            </a:r>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have made progress. SSE streaming now has live_progress.py and status_tracker.py, streaming job-level status events. Gap: per-tool-call granularity. Memory v2 has MemoryEpisode, importance/confidence scoring, TTL hints, supersession tracking, and provenance. Gap: TTL enforcement and LLM summarizer to condense episodes.</a:t>
            </a:r>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Rate limiting: Settings has the config key but nothing reads it at the API layer. slowapi is a FastAPI-native rate limiter — wrap endpoints with a decorator, store counters in memory or Redis. Structured audit trail: the current event system is fire-and-forget. We need a queryable per-turn log with request_id, user_id, tenant_id, timestamp, route_decision, tool_calls (name/input/output/latency), final_answer_length, and error. Cross-tenant validation: isolation is implemented correctly in stores, but the API layer trusts the tenant_id from the request without validating it against the authenticated user's allowed tenants.</a:t>
            </a:r>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Webhooks: polling works for demos but breaks production integrations. Trigger Slack notifications, Zapier zaps, or custom integrations the moment a job completes. HMAC signature prevents spoofing. Automated eval harness: this is agentic best practice — every production agent system needs continuous evaluation. The benchmark is skeletal. A proper harness runs golden-set test cases per agent mode nightly, measuring routing accuracy, retrieval recall, and answer quality with LLM-as-judge scoring. Regression alerts catch silent quality degradation. A/B testing: without comparison, model upgrades are guesses. Infrastructure already supports running any query against any model. Missing piece: parallel execution, response storage, and user preference capture.</a:t>
            </a:r>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matrix gives the full picture. Green items are quick wins — any developer in a sprint without touching core architecture. Teal and amber matter most for production readiness: rate limiting and audit trail especially. Red items are multi-sprint: automated eval and A/B testing are agentic best practices every production system needs to catch silent quality degradation. Recommended order: (1) ship green quick wins; (2) complete operational hardening before external exposure; (3) implement streaming agent thoughts; (4) build eval harness and A/B testing as a dedicated quality sprint.</a:t>
            </a:r>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section documents major architectural additions since the original deep-dive. These aren't roadmap — they're built and in the codebase today.</a:t>
            </a:r>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we've got this new graph/ module that's a pretty big deal. Instead of just searching by "does this text sound similar?", we can now actually follow relationships between entities — like finding all vendors connected to a specific risk clause. We've built in two backends: Microsoft's GraphRAG and Neo4j, so you can pick whatever works for your graph data. The graph_manager agent handles the choreography — it figures out which graph indexes are relevant, queries them, and hands off to other agents for the actual synthesis work. Everything's stored in Postgres so you've got a single source of truth.</a:t>
            </a:r>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Deep RAG came about because we kept running into this problem: when someone asks a broad research question like "compare all the risk clauses", the basic keyword+vector search gets lost in the weeds. So we built four layers on top of the base retrieval. Entity linking runs first — it resolves "ACME" to all its aliases and abbreviations before searching. Then we filter candidate documents using semantic topics to avoid expensive retrieval on obviously-irrelevant stuff. Next we verify that what we found actually answers the question — if coverage is weak, we reformulate and search again. And finally, if you have graphs set up, we fold in that entity context too. The whole thing sits above the existing pipeline, so you get smart multi-step research for complex questions while keeping fast single-pass queries for simple ones.</a:t>
            </a:r>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update on operational stuff we spotted earlier: we've built both of these. The feedback loop now tracks whether routing decisions work or not, and it intelligently samples neutral cases so we're not drowning in review data. That feeds into model retraining quarterly. The scheduler is more sophisticated than before — it's got weighted-fair-queuing with three priority lanes: urgent for escalations, interactive for normal chat, background for batch work. Per-tenant token budgets mean one heavy analytical user can't starve everyone else out. Both are live right now.</a:t>
            </a:r>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added seven new modules since the deep dive started. Authorization got a solid RBAC implementation — principals, roles, tenant-scoped access. Memory got the second version treatment: episodes, importance/confidence scoring, TTL hints, all built. For observability, we've got real-time job progress via SSE now. Tools can run in parallel waves when they don't conflict. Agents all have fallback prompts now so they keep working even if skill files go missing. And we added task decomposition — when someone asks for arithmetic plus data analysis plus synthesis all at once, the coordinator can split that up across specialists. It's all additive, no breaking changes.</a:t>
            </a:r>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walk you through the six patterns that really matter for making agents more reliable. Step-level retry is the biggest one — right now if a tool times out, the entire turn fails. With retry policies, we can back off exponentially and try again. Each tool declares its own retry behavior, which is way better than one-size-fits-all. Observability gets way better too — right now you only see phase-level stuff like "searching" or "thinking." We need tool-level detail. Dynamic memory refresh helps in long workflows — you don't want context from five minutes ago when something just changed. Parallel tool execution is already in there and it's a huge latency win when the LLM asks for multiple independent tools. CoT capture is about persistence — intermediate reasoning currently evaporates after each turn, but we should preserve it for the verifier and for debugging. And fallback chains make recovery smart — the coordinator can escalate to humans while the general agent retries simpler.</a:t>
            </a:r>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picked twelve tools that unlock the most new capabilities. Web tools are first priority — right now agents are stuck in the indexed knowledge base, but web_search and fetch_url let them access the whole internet. Document generation is next — analyze data is great, but agents need to create actual deliverables like PDFs and spreadsheets. Notifications are critical for background jobs — if a report takes three minutes to generate, the user should get a Slack ping when it's done. Cloud storage means artifacts persist beyond one conversation. All of these follow the same contracts and policies we already have, so they integrate cleanly with agent allowlists and the policy framework.</a:t>
            </a:r>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Skills are honestly the path of least resistance for making agents smarter without touching code. Each skill pack is just markdown with frontmatter — the system vector-searches and BM25-searches the query to find which ones are relevant, then injects them into the prompt. Domain skills teach legal patterns or financial templates. Workflow skills walk through multi-step processes like "first research, then summarize, then use generate_pdf." Integration skills show how to call external APIs. And error_recovery.md teaches agents to handle failures gracefully instead of just giving up — that's a foundational agentic pattern.</a:t>
            </a:r>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persistent workspace is probably the single biggest quality-of-life improvement for data analysts. Today every code execution spins up a fresh container — the agent can't build on what it just did. The workspace system already exists and is persistent, we just need to mount it automatically. Step one is literally mounting the workspace directory into Docker. Step two is a tool that shows what files are available so agents know what they have to work with. Step three is routing uploads into the workspace automatically. Step four is tracking lineage — which tools created which files from which inputs. And step five is the magic: index workspace files into the session's knowledge base so agents can search and cite their own work. You end up with what feels like a shared drive that accumulates work across the entire conversation.</a:t>
            </a:r>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Memory is weirdly split in the codebase. The original file-based store writes JSON and markdown. Then we added Postgres with semantic search, scoring, and confidence tracking. But they don't talk to each other — if Postgres goes down, the file store diverges and nobody notices. The Unified Facade is the fix: both get written to, both get read from, and on startup we sync them up. TTL enforcement matters because the field exists but doesn't actually do anything — memories just accumulate forever. Importance decay is elegant: a decision from three months ago shouldn't rank the same as one from this morning. We use exponential decay with different rates per memory type. Confidence filtering just means: don't use memories you're not sure about. Near-duplicate consolidation with vector clustering cleans up accumulated noise. Cross-session linking lets memories chain across conversations. Hard delete and archiving are required for GDPR compliance. Multi-language search fixes the English-only limitation.</a:t>
            </a:r>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the sandbox is currently just "run this Python code in a container." The vision is a full workbench for data work. Folder upload is literally your request — accept a ZIP, extract it, figure out what kinds of files are in there, automatically organize into data/, docs/, code/, images/. The auto_organize tool is the smart layer that does the classification and creates the folder structure. For development work, install_package lets agents add new libraries and they stick around across subsequent code runs. git_clone pulls in code repos for analysis. Then data pipeline tools: data_profile gives instant exploratory data analysis, data_clean handles routine cleaning without requiring pandas code, batch_transform applies operations across multiple files, and export_report turns workspace artifacts into a polished final deliverable. There's also hardening work needed — size limits, concurrent access locks, swap limits, that kind of thing — but the core tools are all doable.</a:t>
            </a:r>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way prompts are built is pretty clean: eight blocks get assembled in order — base mission, clarification policy, pending questions, resolved intent, active document focus, task context, skill context, and memory. Empty blocks get filtered out so the prompt doesn't bloat. Base prompts from agent markdown files define the mission and tool policy. Skills and memory get injected dynamically based on relevance. Fallback prompts make sure the system keeps working if skill files disappear. The big gap though is that none of these blocks tell the agent HOW to think. They say "here are your tools" but not "decompose complex problems into steps" or "double-check contradictory facts" or "measure your own confidence." We need a reasoning protocol layer to fill that in.</a:t>
            </a:r>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eight changes are about teaching agents to think, not just act. Reasoning Protocol is the highest-impact — it makes agents list out the steps before jumping to tool calls, which cuts the "tool spam" problem by a huge amount. Confidence Scoring extends what the RAG agent already does to all agents — score your certainty and flag when you're guessing. Self-Reflection Checkpoints mirror what expert humans do: after three tool calls, pause and reassess. Tool Selection Justification adds explicit reasoning about why you picked that specific tool over alternatives. Error Recovery Playbook unifies failure handling across all agents instead of eleven different approaches. Memory Trust Framework adds freshness awareness — old memories get flagged. Output Format Contract ensures responses match the task type. Delegation Context makes worker agents understand they're part of a delegated workflow. You can add these as new sections in each agent's markdown file, or inject them as a new reasoning block in the prompt-building function.</a:t>
            </a:r>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show how the reasoning improvements map to specific agents. The general agent needs the full reasoning protocol because it handles everything. The basic agent needs output format and confidence scoring but not the full workbench. Data analyst needs sandbox error recovery since execute_code failures are the biggest failure mode. Coordinator needs delegation context so worker agents understand what's being asked. We also propose five new skill packs for reasoning — step planning, self-verification, uncertainty handling, error recovery, and output formatting. The clever part is that SkillResolver injects them dynamically based on query complexity. Simple questions don't trigger the full scaffold. Complex multi-step tasks do. All just markdown files using existing infrastructure — no code changes.</a:t>
            </a:r>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we're getting into the actual build plans. Each slide shows exactly what files to create, what classes to add, and how they wire into kernel.py, registry.py, and the existing contracts. We're organizing by impact: memory first because every turn uses it, then harness improvements for reliability, then sandbox tools for new capabilities, then observability for production readiness. Every implementation reuses existing patterns — no rearchitecting, just filling in the missing pieces.</a:t>
            </a:r>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Memory Facade is the single-most-important memory fix. Right now kernel.py picks EITHER Postgres OR file store based on availability. If Postgres is down, writes vanish from the file store. The Facade wraps both and guarantees every write hits both. It implements the same interface so downstream code doesn't even know it exists. On startup it reconciles any divergence. TTL sweep is simple SQL: find records where the TTL has expired and mark them inactive. ttl_defaults in settings ensures every memory type gets an appropriate default — profile preferences live 90 days, task state 7 days, decisions 30 days. All fast, all indexed properly.</a:t>
            </a:r>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Importance decay elegantly solves the "old facts rank same as new facts" problem. The formula is dead simple: effective_importance = importance times (decay_rate to the power of days). Profile stuff decays slowly — 0.998 per day, so it's still relevant after three months. Task state decays faster — 0.95 per day, so it fades in two weeks. Postgres does the math inline with POWER() so you're not looping through code. Confidence filtering is already there in the schema, we just need to use it during selection. Drop anything below 0.4 confidence, tag 0.4-0.6 with [uncertain] so agents know to verify. Pretty straightforward safety improvement.</a:t>
            </a:r>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tool timeout shouldn't kill the entire agent turn. RetryPolicy is intentionally minimal: max retries, exponential backoff with jitter, a list of retryable error types, optional fallback tool. The wrapper catches only the declared errors and backs off. If retries are exhausted AND there's a fallback, try that. Otherwise raise. Web tools get 3 retries since networks are flaky, sandbox gets 2, memory gets 1, destructive tools get zero. The wrapper is transparent to LangChain since the signature doesn't change. Just put it around each tool's invoke function.</a:t>
            </a:r>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the LLM says "call the calculator AND search for documents" in one response, we currently run them one after the other. But they're independent, so running them together cuts latency in half. The concurrency_key field on ToolDefinition tags tools that share resources — all memory tools share 'memory', all workspace tools share 'workspace'. ParallelExecutor batches sequential only when there are conflicts. Independent tools run via asyncio.gather() with a semaphore capping concurrency at 4 to avoid Docker exhaustion. Results come back in the original order so message threading is preserved.</a:t>
            </a:r>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Fallback chains are way smarter than the current hardcoded recovery. The config lives in each agent's markdown file next to everything else. Different error types can have different strategies — timeout tries a simpler prompt, context overflow summarizes, tool error asks the user. CoT capture is about preserving intermediate reasoning. Right now everything evaporates after the turn. We persist (thought, action, observation) triples per step in session state. There's a /v1/sessions/{id}/reasoning endpoint so debugging UIs can show the full chain. Both features slot into existing code — fallback chains hook _finalize_messages(), CoT captures hook the tool execution loop.</a:t>
            </a:r>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your specific ask: upload a folder and have it organized. We extend the /v1/upload endpoint to handle ZIPs — extract to temp, validate each file, copy into workspace. file_classifier is straightforward: extension → category. Covers the usual suspects for data work: CSV, Excel, JSON for data/, PDF and DOCX for docs/, Python and JS for code/, images for images/. The auto_organize tool scans, classifies, creates subdirs, moves files. Returns a manifest so the agent knows what ended up where. Marked destructive=True so policy system requires confirmation. You'll need workspace.py to support mkdir() and recursive list_files().</a:t>
            </a:r>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eight tools turn the sandbox from a code runner into an actual workbench. workspace_search uses grep — fast and doesn't load files. dir_tree walks the workspace recursively and shows structure with file counts. install_package is game-changing for data work — agents can now use libraries beyond the six pre-installed packages, and packages stick around across calls within a session. git_clone pulls repos read-only for analysis. data_profile is the most-requested feature — one call gives complete exploratory stats. data_clean provides standard cleaning operations without pandas boilerplate. batch_transform handles "apply this to every matching file" patterns. export_report assembles artifacts into polished deliverables. All follow standard ToolDefinition contracts, all register through the same executor pipeline.</a:t>
            </a:r>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Per-step observability is a critical gap right now — TurnStatusTracker gives you "searching" or "synthesizing" but not what actually happened with each tool. StepEvent captures tool name, latency, tokens, success/failure, error type. You emit one after every tool call. This data is gold for cost analysis (which tools are expensive?), performance debugging (what's the bottleneck?), and reliability (which fail most?). The integration is clean: emit in query_loop, feed to TurnStatusTracker for live streaming. Output guardrails are the safety layer. GuardrailChain runs ordered checks: PII detection first using regex and NER, then format validation, length limits, hallucination detection. Each agent declares its guardrails in markdown. On failure, retry with feedback or redact and warn the user.</a:t>
            </a:r>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order that makes sense: Memory Facade and Step-Level Retry first — both hit everything and have zero dependencies. Importance Decay comes next since it modifies the same code path. Parallel Execution builds on Retry. Folder Upload is independent and high-value for you. Workspace Tools extend it. Fallback Chains and CoT Capture are medium-priority developer experience stuff. Observability and Guardrails are critical but need Retry in place for step timing. About 850 new lines across 12 files — deliberately small because we reuse existing contracts and infrastructure. No deletions, everything is additive. Four to five weeks for one developer, probably parallelize some of the tool work.</a:t>
            </a:r>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got 17 gaps remaining for enterprise readiness. Four show partial progress already: RBAC has authz/service.py providing tenant-scoped access, just needs ABAC for dataset-level granularity. Memory v2 adds episodes and scoring, just needs enforcement. Rate limiting covers connectors, needs global middleware. SSE streams job-level events, needs per-tool granularity. The other 13 are fully open: retention policies, PII redaction, audit logs, model governance, cost attribution, signing, prompt versioning, output validation, self-reflection, escalation workflows, tool versioning, AST analysis, and red-teaming.</a:t>
            </a:r>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extractor is built but three memory gaps remain. First, conflict resolution — when a user corrects a fact, both old and new stick around and the agent sees contradictions. We need intelligent merging. Second, scope is too simple — user scope and conversation scope are hard walls. We need to synthesize patterns across sessions. Third and scariest: compliance. Memory is write-once, no TTL, no PII redaction. GDPR requires delete-on-request with proof. You can't sell into Europe without this.</a:t>
            </a:r>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fixed two routing gaps already: feedback loop tracks routing outcomes, scheduler does weighted-fair-queuing. Three new gaps opened up though. Cost-aware routing would make smart decisions about whether to use the expensive LLM or fast heuristics. Agent self-reflection is a best practice — agents should critique their own output before delivery, not just the verifier. Human-in-the-loop escalation is critical for high-stakes domains — when confidence drops or risk is high, hand it to a human instead of guessing.</a:t>
            </a:r>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Tools are well-registered and have agent-level policies, but three gaps keep them from enterprise-ready. One, no versioning — shipping a new tool breaks in-flight workflows silently. Two, permissions stop at agents — "analyst can use pandas" but not "analyst can access this dataset but not that one." Regulated industries need row/column-level checks. Three, the sandbox is coarse — Docker isolation is good but doesn't catch prompt-injected malicious code. AST analysis pre-flight would block obvious exploits.</a:t>
            </a:r>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We've handled two skills gaps: dependency_graph.py validates the DAG, telemetry.py logs quality. Three gaps remain. Signing is still SHA1 only — integrity but not authenticity. Prompt versioning is huge because prompts are the control surface for agent behavior and we have zero version history. Structured output validation prevents malformed JSON, PII leaks, and off-brand responses.</a:t>
            </a:r>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honestly where enterprise deals live or die. LangFuse is great for debugging but not an audit log. Five show-stoppers. One, cost attribution — we can't answer "what's this request cost?" or "who's our biggest spender?" Two, immutable audit log — enterprise auditors need proof that tool X wasn't called by user Y on date Z. Traces don't cut it. Three, PII — raw user input hits disk with no scanning, that's a GDPR violation. Four, model governance — anyone can swap the LLM via env var, needs approval workflow. Five, red-teaming — we should be running OWASP Top 10 adversarial tests nightly.</a:t>
            </a:r>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left with 17 gaps. RBAC has foundations, needs ABAC for data-level access. Memory v2 has the types, needs TTL enforcement and conflict resolution. Cost attribution is the gateway to enterprise — you can't chargeback without it. Audit logs are table stakes for compliance. PII redaction is GDPR minimum. Model governance prevents cowboys from shipping untested models. Tool versioning unblocks safe deployments. Prompt versioning enables AB testing. Human escalation is critical for high-stakes domains. Self-reflection prevents first-draft answers. Output guardrails stop PII/toxicity leaks. Red-teaming builds confidence. AST analysis locks down the sandbox. Skill signing secures the supply chain. Cross-session memory synthesis enables long-term learning. The sprint order is Critical first — human escalation, retention, RBAC→ABAC, AST sandbox, signing, cost attribution, audit log, PII. Then High-priority — routing, reflection, prompt versioning, tool versioning, escalation, output guards. Then Medium — conflict resolution, cross-session synthesis, cost model, red-teaming.</a:t>
            </a:r>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1.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1.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1.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02920" y="1097280"/>
            <a:ext cx="8138160" cy="822960"/>
          </a:xfrm>
          <a:prstGeom prst="rect">
            <a:avLst/>
          </a:prstGeom>
          <a:noFill/>
          <a:ln/>
        </p:spPr>
        <p:txBody>
          <a:bodyPr wrap="square" lIns="0" tIns="0" rIns="0" bIns="0" rtlCol="0" anchor="ctr"/>
          <a:lstStyle/>
          <a:p>
            <a:pPr marL="0" indent="0">
              <a:buNone/>
            </a:pPr>
            <a:r>
              <a:rPr lang="en-US" sz="4000" b="1" dirty="0">
                <a:solidFill>
                  <a:srgbClr val="FFFFFF"/>
                </a:solidFill>
                <a:latin typeface="Arial" pitchFamily="34" charset="0"/>
                <a:ea typeface="Arial" pitchFamily="34" charset="-122"/>
                <a:cs typeface="Arial" pitchFamily="34" charset="-120"/>
              </a:rPr>
              <a:t>Agentic Chatbot v2</a:t>
            </a:r>
            <a:endParaRPr lang="en-US" sz="4000" dirty="0"/>
          </a:p>
        </p:txBody>
      </p:sp>
      <p:sp>
        <p:nvSpPr>
          <p:cNvPr id="3" name="Text 1"/>
          <p:cNvSpPr/>
          <p:nvPr/>
        </p:nvSpPr>
        <p:spPr>
          <a:xfrm>
            <a:off x="502920" y="1920240"/>
            <a:ext cx="8138160" cy="548640"/>
          </a:xfrm>
          <a:prstGeom prst="rect">
            <a:avLst/>
          </a:prstGeom>
          <a:noFill/>
          <a:ln/>
        </p:spPr>
        <p:txBody>
          <a:bodyPr wrap="square" lIns="0" tIns="0" rIns="0" bIns="0" rtlCol="0" anchor="ctr"/>
          <a:lstStyle/>
          <a:p>
            <a:pPr marL="0" indent="0">
              <a:buNone/>
            </a:pPr>
            <a:r>
              <a:rPr lang="en-US" sz="2400" dirty="0">
                <a:solidFill>
                  <a:srgbClr val="0097A7"/>
                </a:solidFill>
                <a:latin typeface="Arial" pitchFamily="34" charset="0"/>
                <a:ea typeface="Arial" pitchFamily="34" charset="-122"/>
                <a:cs typeface="Arial" pitchFamily="34" charset="-120"/>
              </a:rPr>
              <a:t>Complete System Deep-Dive</a:t>
            </a:r>
            <a:endParaRPr lang="en-US" sz="2400" dirty="0"/>
          </a:p>
        </p:txBody>
      </p:sp>
      <p:sp>
        <p:nvSpPr>
          <p:cNvPr id="4" name="Text 2"/>
          <p:cNvSpPr/>
          <p:nvPr/>
        </p:nvSpPr>
        <p:spPr>
          <a:xfrm>
            <a:off x="502920" y="2560320"/>
            <a:ext cx="8138160" cy="365760"/>
          </a:xfrm>
          <a:prstGeom prst="rect">
            <a:avLst/>
          </a:prstGeom>
          <a:noFill/>
          <a:ln/>
        </p:spPr>
        <p:txBody>
          <a:bodyPr wrap="square" lIns="0" tIns="0" rIns="0" bIns="0" rtlCol="0" anchor="ctr"/>
          <a:lstStyle/>
          <a:p>
            <a:pPr marL="0" indent="0">
              <a:buNone/>
            </a:pPr>
            <a:r>
              <a:rPr lang="en-US" sz="1400" dirty="0">
                <a:solidFill>
                  <a:srgbClr val="999999"/>
                </a:solidFill>
                <a:latin typeface="Arial" pitchFamily="34" charset="0"/>
                <a:ea typeface="Arial" pitchFamily="34" charset="-122"/>
                <a:cs typeface="Arial" pitchFamily="34" charset="-120"/>
              </a:rPr>
              <a:t>From HTTP request to grounded answer — every layer explained</a:t>
            </a:r>
            <a:endParaRPr lang="en-US" sz="1400" dirty="0"/>
          </a:p>
        </p:txBody>
      </p:sp>
      <p:sp>
        <p:nvSpPr>
          <p:cNvPr id="5" name="Text 3"/>
          <p:cNvSpPr/>
          <p:nvPr/>
        </p:nvSpPr>
        <p:spPr>
          <a:xfrm>
            <a:off x="502920" y="4594860"/>
            <a:ext cx="8138160" cy="274320"/>
          </a:xfrm>
          <a:prstGeom prst="rect">
            <a:avLst/>
          </a:prstGeom>
          <a:noFill/>
          <a:ln/>
        </p:spPr>
        <p:txBody>
          <a:bodyPr wrap="square" lIns="0" tIns="0" rIns="0" bIns="0" rtlCol="0" anchor="ctr"/>
          <a:lstStyle/>
          <a:p>
            <a:pPr marL="0" indent="0">
              <a:buNone/>
            </a:pPr>
            <a:r>
              <a:rPr lang="en-US" sz="1000" dirty="0">
                <a:solidFill>
                  <a:srgbClr val="999999"/>
                </a:solidFill>
                <a:latin typeface="Courier New" pitchFamily="34" charset="0"/>
                <a:ea typeface="Courier New" pitchFamily="34" charset="-122"/>
                <a:cs typeface="Courier New" pitchFamily="34" charset="-120"/>
              </a:rPr>
              <a:t>Repository: langchain_agentic_chatbot_v2-codex-next-task/</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What Does This System Do?</a:t>
            </a:r>
            <a:endParaRPr lang="en-US" sz="2600" dirty="0"/>
          </a:p>
        </p:txBody>
      </p:sp>
      <p:sp>
        <p:nvSpPr>
          <p:cNvPr id="3" name="Shape 1"/>
          <p:cNvSpPr/>
          <p:nvPr/>
        </p:nvSpPr>
        <p:spPr>
          <a:xfrm>
            <a:off x="548640" y="1051560"/>
            <a:ext cx="2560320" cy="25603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4" name="Shape 2"/>
          <p:cNvSpPr/>
          <p:nvPr/>
        </p:nvSpPr>
        <p:spPr>
          <a:xfrm>
            <a:off x="548640" y="1051560"/>
            <a:ext cx="2560320" cy="320040"/>
          </a:xfrm>
          <a:prstGeom prst="rect">
            <a:avLst/>
          </a:prstGeom>
          <a:solidFill>
            <a:srgbClr val="1B2A4A"/>
          </a:solidFill>
          <a:ln/>
        </p:spPr>
        <p:txBody>
          <a:bodyPr/>
          <a:lstStyle/>
          <a:p>
            <a:endParaRPr lang="en-US"/>
          </a:p>
        </p:txBody>
      </p:sp>
      <p:sp>
        <p:nvSpPr>
          <p:cNvPr id="5" name="Text 3"/>
          <p:cNvSpPr/>
          <p:nvPr/>
        </p:nvSpPr>
        <p:spPr>
          <a:xfrm>
            <a:off x="658368" y="1078992"/>
            <a:ext cx="234086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Enterprise Chat API</a:t>
            </a:r>
            <a:endParaRPr lang="en-US" sz="1200" dirty="0"/>
          </a:p>
        </p:txBody>
      </p:sp>
      <p:sp>
        <p:nvSpPr>
          <p:cNvPr id="6" name="Text 4"/>
          <p:cNvSpPr/>
          <p:nvPr/>
        </p:nvSpPr>
        <p:spPr>
          <a:xfrm>
            <a:off x="658368" y="1435608"/>
            <a:ext cx="2340864" cy="208483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OpenAI-compatible /v1/chat/completions endpoint. Any client that speaks OpenAI protocol can call it.</a:t>
            </a:r>
            <a:endParaRPr lang="en-US" sz="1000" dirty="0"/>
          </a:p>
          <a:p>
            <a:pPr marL="0" indent="0">
              <a:lnSpc>
                <a:spcPct val="110000"/>
              </a:lnSpc>
              <a:buNone/>
            </a:pP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File: api/main.py</a:t>
            </a:r>
            <a:endParaRPr lang="en-US" sz="1000" dirty="0"/>
          </a:p>
        </p:txBody>
      </p:sp>
      <p:sp>
        <p:nvSpPr>
          <p:cNvPr id="7" name="Shape 5"/>
          <p:cNvSpPr/>
          <p:nvPr/>
        </p:nvSpPr>
        <p:spPr>
          <a:xfrm>
            <a:off x="3291840" y="1051560"/>
            <a:ext cx="2560320" cy="25603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8" name="Shape 6"/>
          <p:cNvSpPr/>
          <p:nvPr/>
        </p:nvSpPr>
        <p:spPr>
          <a:xfrm>
            <a:off x="3291840" y="1051560"/>
            <a:ext cx="2560320" cy="320040"/>
          </a:xfrm>
          <a:prstGeom prst="rect">
            <a:avLst/>
          </a:prstGeom>
          <a:solidFill>
            <a:srgbClr val="1B2A4A"/>
          </a:solidFill>
          <a:ln/>
        </p:spPr>
        <p:txBody>
          <a:bodyPr/>
          <a:lstStyle/>
          <a:p>
            <a:endParaRPr lang="en-US"/>
          </a:p>
        </p:txBody>
      </p:sp>
      <p:sp>
        <p:nvSpPr>
          <p:cNvPr id="9" name="Text 7"/>
          <p:cNvSpPr/>
          <p:nvPr/>
        </p:nvSpPr>
        <p:spPr>
          <a:xfrm>
            <a:off x="3401568" y="1078992"/>
            <a:ext cx="234086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Multi-Agent Runtime</a:t>
            </a:r>
            <a:endParaRPr lang="en-US" sz="1200" dirty="0"/>
          </a:p>
        </p:txBody>
      </p:sp>
      <p:sp>
        <p:nvSpPr>
          <p:cNvPr id="10" name="Text 8"/>
          <p:cNvSpPr/>
          <p:nvPr/>
        </p:nvSpPr>
        <p:spPr>
          <a:xfrm>
            <a:off x="3401568" y="1435608"/>
            <a:ext cx="2340864" cy="208483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Routes questions to specialized agents (data analyst, RAG worker, coordinator) based on intent. Not a single monolith LLM call.</a:t>
            </a:r>
            <a:endParaRPr lang="en-US" sz="1000" dirty="0"/>
          </a:p>
        </p:txBody>
      </p:sp>
      <p:sp>
        <p:nvSpPr>
          <p:cNvPr id="11" name="Shape 9"/>
          <p:cNvSpPr/>
          <p:nvPr/>
        </p:nvSpPr>
        <p:spPr>
          <a:xfrm>
            <a:off x="6035040" y="1051560"/>
            <a:ext cx="2560320" cy="25603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2" name="Shape 10"/>
          <p:cNvSpPr/>
          <p:nvPr/>
        </p:nvSpPr>
        <p:spPr>
          <a:xfrm>
            <a:off x="6035040" y="1051560"/>
            <a:ext cx="2560320" cy="320040"/>
          </a:xfrm>
          <a:prstGeom prst="rect">
            <a:avLst/>
          </a:prstGeom>
          <a:solidFill>
            <a:srgbClr val="1B2A4A"/>
          </a:solidFill>
          <a:ln/>
        </p:spPr>
        <p:txBody>
          <a:bodyPr/>
          <a:lstStyle/>
          <a:p>
            <a:endParaRPr lang="en-US"/>
          </a:p>
        </p:txBody>
      </p:sp>
      <p:sp>
        <p:nvSpPr>
          <p:cNvPr id="13" name="Text 11"/>
          <p:cNvSpPr/>
          <p:nvPr/>
        </p:nvSpPr>
        <p:spPr>
          <a:xfrm>
            <a:off x="6144768" y="1078992"/>
            <a:ext cx="234086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Grounded Answers</a:t>
            </a:r>
            <a:endParaRPr lang="en-US" sz="1200" dirty="0"/>
          </a:p>
        </p:txBody>
      </p:sp>
      <p:sp>
        <p:nvSpPr>
          <p:cNvPr id="14" name="Text 12"/>
          <p:cNvSpPr/>
          <p:nvPr/>
        </p:nvSpPr>
        <p:spPr>
          <a:xfrm>
            <a:off x="6144768" y="1435608"/>
            <a:ext cx="2340864" cy="208483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RAG pipeline retrieves evidence from indexed documents, cites sources inline, and returns confidence scores.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The 30-Second Mental Model</a:t>
            </a:r>
            <a:endParaRPr lang="en-US" sz="2600" dirty="0"/>
          </a:p>
        </p:txBody>
      </p:sp>
      <p:sp>
        <p:nvSpPr>
          <p:cNvPr id="3" name="Shape 1"/>
          <p:cNvSpPr/>
          <p:nvPr/>
        </p:nvSpPr>
        <p:spPr>
          <a:xfrm>
            <a:off x="2286000" y="1005840"/>
            <a:ext cx="4572000" cy="45720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4" name="Text 2"/>
          <p:cNvSpPr/>
          <p:nvPr/>
        </p:nvSpPr>
        <p:spPr>
          <a:xfrm>
            <a:off x="2286000" y="1005840"/>
            <a:ext cx="457200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HTTP Request arrives</a:t>
            </a:r>
            <a:endParaRPr lang="en-US" sz="1000" dirty="0"/>
          </a:p>
        </p:txBody>
      </p:sp>
      <p:sp>
        <p:nvSpPr>
          <p:cNvPr id="5" name="Shape 3"/>
          <p:cNvSpPr/>
          <p:nvPr/>
        </p:nvSpPr>
        <p:spPr>
          <a:xfrm>
            <a:off x="4572000" y="1463040"/>
            <a:ext cx="0" cy="228600"/>
          </a:xfrm>
          <a:prstGeom prst="line">
            <a:avLst/>
          </a:prstGeom>
          <a:noFill/>
          <a:ln w="25400">
            <a:solidFill>
              <a:srgbClr val="0097A7"/>
            </a:solidFill>
            <a:prstDash val="solid"/>
          </a:ln>
        </p:spPr>
        <p:txBody>
          <a:bodyPr/>
          <a:lstStyle/>
          <a:p>
            <a:endParaRPr lang="en-US"/>
          </a:p>
        </p:txBody>
      </p:sp>
      <p:sp>
        <p:nvSpPr>
          <p:cNvPr id="6" name="Text 4"/>
          <p:cNvSpPr/>
          <p:nvPr/>
        </p:nvSpPr>
        <p:spPr>
          <a:xfrm>
            <a:off x="4480560" y="1618488"/>
            <a:ext cx="182880" cy="164592"/>
          </a:xfrm>
          <a:prstGeom prst="rect">
            <a:avLst/>
          </a:prstGeom>
          <a:noFill/>
          <a:ln/>
        </p:spPr>
        <p:txBody>
          <a:bodyPr wrap="square" lIns="0" tIns="0" rIns="0" bIns="0" rtlCol="0" anchor="ctr"/>
          <a:lstStyle/>
          <a:p>
            <a:pPr marL="0" indent="0" algn="ctr">
              <a:buNone/>
            </a:pPr>
            <a:r>
              <a:rPr lang="en-US" sz="1000" b="1" dirty="0">
                <a:solidFill>
                  <a:srgbClr val="0097A7"/>
                </a:solidFill>
                <a:latin typeface="Arial" pitchFamily="34" charset="0"/>
                <a:ea typeface="Arial" pitchFamily="34" charset="-122"/>
                <a:cs typeface="Arial" pitchFamily="34" charset="-120"/>
              </a:rPr>
              <a:t>v</a:t>
            </a:r>
            <a:endParaRPr lang="en-US" sz="1000" dirty="0"/>
          </a:p>
        </p:txBody>
      </p:sp>
      <p:sp>
        <p:nvSpPr>
          <p:cNvPr id="7" name="Shape 5"/>
          <p:cNvSpPr/>
          <p:nvPr/>
        </p:nvSpPr>
        <p:spPr>
          <a:xfrm>
            <a:off x="2286000" y="1737360"/>
            <a:ext cx="4572000" cy="45720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8" name="Text 6"/>
          <p:cNvSpPr/>
          <p:nvPr/>
        </p:nvSpPr>
        <p:spPr>
          <a:xfrm>
            <a:off x="2286000" y="1737360"/>
            <a:ext cx="457200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RuntimeService.process_turn()</a:t>
            </a:r>
            <a:endParaRPr lang="en-US" sz="1000" dirty="0"/>
          </a:p>
        </p:txBody>
      </p:sp>
      <p:sp>
        <p:nvSpPr>
          <p:cNvPr id="9" name="Shape 7"/>
          <p:cNvSpPr/>
          <p:nvPr/>
        </p:nvSpPr>
        <p:spPr>
          <a:xfrm>
            <a:off x="4572000" y="2194560"/>
            <a:ext cx="0" cy="228600"/>
          </a:xfrm>
          <a:prstGeom prst="line">
            <a:avLst/>
          </a:prstGeom>
          <a:noFill/>
          <a:ln w="25400">
            <a:solidFill>
              <a:srgbClr val="0097A7"/>
            </a:solidFill>
            <a:prstDash val="solid"/>
          </a:ln>
        </p:spPr>
        <p:txBody>
          <a:bodyPr/>
          <a:lstStyle/>
          <a:p>
            <a:endParaRPr lang="en-US"/>
          </a:p>
        </p:txBody>
      </p:sp>
      <p:sp>
        <p:nvSpPr>
          <p:cNvPr id="10" name="Text 8"/>
          <p:cNvSpPr/>
          <p:nvPr/>
        </p:nvSpPr>
        <p:spPr>
          <a:xfrm>
            <a:off x="4480560" y="2350008"/>
            <a:ext cx="182880" cy="164592"/>
          </a:xfrm>
          <a:prstGeom prst="rect">
            <a:avLst/>
          </a:prstGeom>
          <a:noFill/>
          <a:ln/>
        </p:spPr>
        <p:txBody>
          <a:bodyPr wrap="square" lIns="0" tIns="0" rIns="0" bIns="0" rtlCol="0" anchor="ctr"/>
          <a:lstStyle/>
          <a:p>
            <a:pPr marL="0" indent="0" algn="ctr">
              <a:buNone/>
            </a:pPr>
            <a:r>
              <a:rPr lang="en-US" sz="1000" b="1" dirty="0">
                <a:solidFill>
                  <a:srgbClr val="0097A7"/>
                </a:solidFill>
                <a:latin typeface="Arial" pitchFamily="34" charset="0"/>
                <a:ea typeface="Arial" pitchFamily="34" charset="-122"/>
                <a:cs typeface="Arial" pitchFamily="34" charset="-120"/>
              </a:rPr>
              <a:t>v</a:t>
            </a:r>
            <a:endParaRPr lang="en-US" sz="1000" dirty="0"/>
          </a:p>
        </p:txBody>
      </p:sp>
      <p:sp>
        <p:nvSpPr>
          <p:cNvPr id="11" name="Shape 9"/>
          <p:cNvSpPr/>
          <p:nvPr/>
        </p:nvSpPr>
        <p:spPr>
          <a:xfrm>
            <a:off x="3383280" y="2468880"/>
            <a:ext cx="2377440" cy="457200"/>
          </a:xfrm>
          <a:prstGeom prst="rect">
            <a:avLst/>
          </a:prstGeom>
          <a:solidFill>
            <a:srgbClr val="F9A825"/>
          </a:solidFill>
          <a:ln/>
        </p:spPr>
        <p:txBody>
          <a:bodyPr/>
          <a:lstStyle/>
          <a:p>
            <a:endParaRPr lang="en-US"/>
          </a:p>
        </p:txBody>
      </p:sp>
      <p:sp>
        <p:nvSpPr>
          <p:cNvPr id="12" name="Text 10"/>
          <p:cNvSpPr/>
          <p:nvPr/>
        </p:nvSpPr>
        <p:spPr>
          <a:xfrm>
            <a:off x="3383280" y="2468880"/>
            <a:ext cx="2377440" cy="457200"/>
          </a:xfrm>
          <a:prstGeom prst="rect">
            <a:avLst/>
          </a:prstGeom>
          <a:noFill/>
          <a:ln/>
        </p:spPr>
        <p:txBody>
          <a:bodyPr wrap="square" lIns="0" tIns="0" rIns="0" bIns="0" rtlCol="0" anchor="ctr"/>
          <a:lstStyle/>
          <a:p>
            <a:pPr marL="0" indent="0" algn="ctr">
              <a:buNone/>
            </a:pPr>
            <a:r>
              <a:rPr lang="en-US" sz="1100" b="1" dirty="0">
                <a:solidFill>
                  <a:srgbClr val="1B2A4A"/>
                </a:solidFill>
                <a:latin typeface="Arial" pitchFamily="34" charset="0"/>
                <a:ea typeface="Arial" pitchFamily="34" charset="-122"/>
                <a:cs typeface="Arial" pitchFamily="34" charset="-120"/>
              </a:rPr>
              <a:t>Router Decision</a:t>
            </a:r>
            <a:endParaRPr lang="en-US" sz="1100" dirty="0"/>
          </a:p>
        </p:txBody>
      </p:sp>
      <p:sp>
        <p:nvSpPr>
          <p:cNvPr id="13" name="Shape 11"/>
          <p:cNvSpPr/>
          <p:nvPr/>
        </p:nvSpPr>
        <p:spPr>
          <a:xfrm>
            <a:off x="3383280" y="2697480"/>
            <a:ext cx="0" cy="0"/>
          </a:xfrm>
          <a:prstGeom prst="line">
            <a:avLst/>
          </a:prstGeom>
          <a:noFill/>
          <a:ln w="19050">
            <a:solidFill>
              <a:srgbClr val="999999"/>
            </a:solidFill>
            <a:prstDash val="solid"/>
          </a:ln>
        </p:spPr>
        <p:txBody>
          <a:bodyPr/>
          <a:lstStyle/>
          <a:p>
            <a:endParaRPr lang="en-US"/>
          </a:p>
        </p:txBody>
      </p:sp>
      <p:sp>
        <p:nvSpPr>
          <p:cNvPr id="14" name="Text 12"/>
          <p:cNvSpPr/>
          <p:nvPr/>
        </p:nvSpPr>
        <p:spPr>
          <a:xfrm>
            <a:off x="1828800" y="2286000"/>
            <a:ext cx="731520" cy="182880"/>
          </a:xfrm>
          <a:prstGeom prst="rect">
            <a:avLst/>
          </a:prstGeom>
          <a:noFill/>
          <a:ln/>
        </p:spPr>
        <p:txBody>
          <a:bodyPr wrap="square" lIns="0" tIns="0" rIns="0" bIns="0" rtlCol="0" anchor="ctr"/>
          <a:lstStyle/>
          <a:p>
            <a:pPr marL="0" indent="0" algn="ctr">
              <a:buNone/>
            </a:pPr>
            <a:r>
              <a:rPr lang="en-US" sz="800" dirty="0">
                <a:solidFill>
                  <a:srgbClr val="666666"/>
                </a:solidFill>
                <a:latin typeface="Arial" pitchFamily="34" charset="0"/>
                <a:ea typeface="Arial" pitchFamily="34" charset="-122"/>
                <a:cs typeface="Arial" pitchFamily="34" charset="-120"/>
              </a:rPr>
              <a:t>BASIC</a:t>
            </a:r>
            <a:endParaRPr lang="en-US" sz="800" dirty="0"/>
          </a:p>
        </p:txBody>
      </p:sp>
      <p:sp>
        <p:nvSpPr>
          <p:cNvPr id="15" name="Shape 13"/>
          <p:cNvSpPr/>
          <p:nvPr/>
        </p:nvSpPr>
        <p:spPr>
          <a:xfrm>
            <a:off x="274320" y="2468880"/>
            <a:ext cx="1645920" cy="457200"/>
          </a:xfrm>
          <a:prstGeom prst="rect">
            <a:avLst/>
          </a:prstGeom>
          <a:solidFill>
            <a:srgbClr val="F0F0F0"/>
          </a:solidFill>
          <a:ln/>
          <a:effectLst>
            <a:outerShdw blurRad="50800" dist="25400" dir="8100000" algn="bl" rotWithShape="0">
              <a:srgbClr val="000000">
                <a:alpha val="12000"/>
              </a:srgbClr>
            </a:outerShdw>
          </a:effectLst>
        </p:spPr>
        <p:txBody>
          <a:bodyPr/>
          <a:lstStyle/>
          <a:p>
            <a:endParaRPr lang="en-US"/>
          </a:p>
        </p:txBody>
      </p:sp>
      <p:sp>
        <p:nvSpPr>
          <p:cNvPr id="16" name="Text 14"/>
          <p:cNvSpPr/>
          <p:nvPr/>
        </p:nvSpPr>
        <p:spPr>
          <a:xfrm>
            <a:off x="274320" y="2468880"/>
            <a:ext cx="1645920" cy="457200"/>
          </a:xfrm>
          <a:prstGeom prst="rect">
            <a:avLst/>
          </a:prstGeom>
          <a:noFill/>
          <a:ln/>
        </p:spPr>
        <p:txBody>
          <a:bodyPr wrap="square" lIns="0" tIns="0" rIns="0" bIns="0" rtlCol="0" anchor="ctr"/>
          <a:lstStyle/>
          <a:p>
            <a:pPr marL="0" indent="0" algn="ctr">
              <a:buNone/>
            </a:pPr>
            <a:r>
              <a:rPr lang="en-US" sz="1000" dirty="0">
                <a:solidFill>
                  <a:srgbClr val="1B2A4A"/>
                </a:solidFill>
                <a:latin typeface="Arial" pitchFamily="34" charset="0"/>
                <a:ea typeface="Arial" pitchFamily="34" charset="-122"/>
                <a:cs typeface="Arial" pitchFamily="34" charset="-120"/>
              </a:rPr>
              <a:t>Direct LLM reply</a:t>
            </a:r>
            <a:endParaRPr lang="en-US" sz="1000" dirty="0"/>
          </a:p>
          <a:p>
            <a:pPr marL="0" indent="0" algn="ctr">
              <a:buNone/>
            </a:pPr>
            <a:r>
              <a:rPr lang="en-US" sz="1000" dirty="0">
                <a:solidFill>
                  <a:srgbClr val="1B2A4A"/>
                </a:solidFill>
                <a:latin typeface="Arial" pitchFamily="34" charset="0"/>
                <a:ea typeface="Arial" pitchFamily="34" charset="-122"/>
                <a:cs typeface="Arial" pitchFamily="34" charset="-120"/>
              </a:rPr>
              <a:t>(no tools)</a:t>
            </a:r>
            <a:endParaRPr lang="en-US" sz="1000" dirty="0"/>
          </a:p>
        </p:txBody>
      </p:sp>
      <p:sp>
        <p:nvSpPr>
          <p:cNvPr id="17" name="Shape 15"/>
          <p:cNvSpPr/>
          <p:nvPr/>
        </p:nvSpPr>
        <p:spPr>
          <a:xfrm>
            <a:off x="5760720" y="2697480"/>
            <a:ext cx="1371600" cy="0"/>
          </a:xfrm>
          <a:prstGeom prst="line">
            <a:avLst/>
          </a:prstGeom>
          <a:noFill/>
          <a:ln w="19050">
            <a:solidFill>
              <a:srgbClr val="999999"/>
            </a:solidFill>
            <a:prstDash val="solid"/>
          </a:ln>
        </p:spPr>
        <p:txBody>
          <a:bodyPr/>
          <a:lstStyle/>
          <a:p>
            <a:endParaRPr lang="en-US"/>
          </a:p>
        </p:txBody>
      </p:sp>
      <p:sp>
        <p:nvSpPr>
          <p:cNvPr id="18" name="Text 16"/>
          <p:cNvSpPr/>
          <p:nvPr/>
        </p:nvSpPr>
        <p:spPr>
          <a:xfrm>
            <a:off x="5760720" y="2286000"/>
            <a:ext cx="731520" cy="182880"/>
          </a:xfrm>
          <a:prstGeom prst="rect">
            <a:avLst/>
          </a:prstGeom>
          <a:noFill/>
          <a:ln/>
        </p:spPr>
        <p:txBody>
          <a:bodyPr wrap="square" lIns="0" tIns="0" rIns="0" bIns="0" rtlCol="0" anchor="ctr"/>
          <a:lstStyle/>
          <a:p>
            <a:pPr marL="0" indent="0" algn="ctr">
              <a:buNone/>
            </a:pPr>
            <a:r>
              <a:rPr lang="en-US" sz="800" dirty="0">
                <a:solidFill>
                  <a:srgbClr val="666666"/>
                </a:solidFill>
                <a:latin typeface="Arial" pitchFamily="34" charset="0"/>
                <a:ea typeface="Arial" pitchFamily="34" charset="-122"/>
                <a:cs typeface="Arial" pitchFamily="34" charset="-120"/>
              </a:rPr>
              <a:t>AGENT</a:t>
            </a:r>
            <a:endParaRPr lang="en-US" sz="800" dirty="0"/>
          </a:p>
        </p:txBody>
      </p:sp>
      <p:sp>
        <p:nvSpPr>
          <p:cNvPr id="19" name="Shape 17"/>
          <p:cNvSpPr/>
          <p:nvPr/>
        </p:nvSpPr>
        <p:spPr>
          <a:xfrm>
            <a:off x="7132320" y="2468880"/>
            <a:ext cx="2011680" cy="45720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20" name="Text 18"/>
          <p:cNvSpPr/>
          <p:nvPr/>
        </p:nvSpPr>
        <p:spPr>
          <a:xfrm>
            <a:off x="7132320" y="2468880"/>
            <a:ext cx="201168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Kernel &gt; QueryLoop</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&gt; Agent execution</a:t>
            </a:r>
            <a:endParaRPr lang="en-US" sz="1000" dirty="0"/>
          </a:p>
        </p:txBody>
      </p:sp>
      <p:sp>
        <p:nvSpPr>
          <p:cNvPr id="21" name="Shape 19"/>
          <p:cNvSpPr/>
          <p:nvPr/>
        </p:nvSpPr>
        <p:spPr>
          <a:xfrm>
            <a:off x="4572000" y="3200400"/>
            <a:ext cx="0" cy="228600"/>
          </a:xfrm>
          <a:prstGeom prst="line">
            <a:avLst/>
          </a:prstGeom>
          <a:noFill/>
          <a:ln w="25400">
            <a:solidFill>
              <a:srgbClr val="0097A7"/>
            </a:solidFill>
            <a:prstDash val="solid"/>
          </a:ln>
        </p:spPr>
        <p:txBody>
          <a:bodyPr/>
          <a:lstStyle/>
          <a:p>
            <a:endParaRPr lang="en-US"/>
          </a:p>
        </p:txBody>
      </p:sp>
      <p:sp>
        <p:nvSpPr>
          <p:cNvPr id="22" name="Text 20"/>
          <p:cNvSpPr/>
          <p:nvPr/>
        </p:nvSpPr>
        <p:spPr>
          <a:xfrm>
            <a:off x="4480560" y="3355848"/>
            <a:ext cx="182880" cy="164592"/>
          </a:xfrm>
          <a:prstGeom prst="rect">
            <a:avLst/>
          </a:prstGeom>
          <a:noFill/>
          <a:ln/>
        </p:spPr>
        <p:txBody>
          <a:bodyPr wrap="square" lIns="0" tIns="0" rIns="0" bIns="0" rtlCol="0" anchor="ctr"/>
          <a:lstStyle/>
          <a:p>
            <a:pPr marL="0" indent="0" algn="ctr">
              <a:buNone/>
            </a:pPr>
            <a:r>
              <a:rPr lang="en-US" sz="1000" b="1" dirty="0">
                <a:solidFill>
                  <a:srgbClr val="0097A7"/>
                </a:solidFill>
                <a:latin typeface="Arial" pitchFamily="34" charset="0"/>
                <a:ea typeface="Arial" pitchFamily="34" charset="-122"/>
                <a:cs typeface="Arial" pitchFamily="34" charset="-120"/>
              </a:rPr>
              <a:t>v</a:t>
            </a:r>
            <a:endParaRPr lang="en-US" sz="1000" dirty="0"/>
          </a:p>
        </p:txBody>
      </p:sp>
      <p:sp>
        <p:nvSpPr>
          <p:cNvPr id="23" name="Shape 21"/>
          <p:cNvSpPr/>
          <p:nvPr/>
        </p:nvSpPr>
        <p:spPr>
          <a:xfrm>
            <a:off x="2286000" y="3474720"/>
            <a:ext cx="4572000" cy="45720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24" name="Text 22"/>
          <p:cNvSpPr/>
          <p:nvPr/>
        </p:nvSpPr>
        <p:spPr>
          <a:xfrm>
            <a:off x="2286000" y="3474720"/>
            <a:ext cx="457200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Response returned via SSE stream</a:t>
            </a:r>
            <a:endParaRPr lang="en-US" sz="1000" dirty="0"/>
          </a:p>
        </p:txBody>
      </p:sp>
      <p:sp>
        <p:nvSpPr>
          <p:cNvPr id="25" name="Text 23"/>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api/main.py &gt; app/service.py &gt; router/router.py &gt; runtime/kernel.py &gt; runtime/query_loop.py</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02920" y="1463040"/>
            <a:ext cx="8138160" cy="73152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Repository Structure &amp; Navigation</a:t>
            </a:r>
            <a:endParaRPr lang="en-US" sz="3200" dirty="0"/>
          </a:p>
        </p:txBody>
      </p:sp>
      <p:sp>
        <p:nvSpPr>
          <p:cNvPr id="3" name="Text 1"/>
          <p:cNvSpPr/>
          <p:nvPr/>
        </p:nvSpPr>
        <p:spPr>
          <a:xfrm>
            <a:off x="502920" y="2286000"/>
            <a:ext cx="8138160" cy="457200"/>
          </a:xfrm>
          <a:prstGeom prst="rect">
            <a:avLst/>
          </a:prstGeom>
          <a:noFill/>
          <a:ln/>
        </p:spPr>
        <p:txBody>
          <a:bodyPr wrap="square" lIns="0" tIns="0" rIns="0" bIns="0" rtlCol="0" anchor="ctr"/>
          <a:lstStyle/>
          <a:p>
            <a:pPr marL="0" indent="0">
              <a:buNone/>
            </a:pPr>
            <a:r>
              <a:rPr lang="en-US" sz="1600" dirty="0">
                <a:solidFill>
                  <a:srgbClr val="0097A7"/>
                </a:solidFill>
                <a:latin typeface="Arial" pitchFamily="34" charset="0"/>
                <a:ea typeface="Arial" pitchFamily="34" charset="-122"/>
                <a:cs typeface="Arial" pitchFamily="34" charset="-120"/>
              </a:rPr>
              <a:t>Where to find everything — frontend, backend, data, tooling</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Top-Level Repository Map</a:t>
            </a:r>
            <a:endParaRPr lang="en-US" sz="2600" dirty="0"/>
          </a:p>
        </p:txBody>
      </p:sp>
      <p:sp>
        <p:nvSpPr>
          <p:cNvPr id="3" name="Text 1"/>
          <p:cNvSpPr/>
          <p:nvPr/>
        </p:nvSpPr>
        <p:spPr>
          <a:xfrm>
            <a:off x="502920" y="841248"/>
            <a:ext cx="8138160" cy="320040"/>
          </a:xfrm>
          <a:prstGeom prst="rect">
            <a:avLst/>
          </a:prstGeom>
          <a:noFill/>
          <a:ln/>
        </p:spPr>
        <p:txBody>
          <a:bodyPr wrap="square" lIns="0" tIns="0" rIns="0" bIns="0" rtlCol="0" anchor="ctr"/>
          <a:lstStyle/>
          <a:p>
            <a:pPr marL="0" indent="0">
              <a:buNone/>
            </a:pPr>
            <a:r>
              <a:rPr lang="en-US" sz="1050" dirty="0">
                <a:solidFill>
                  <a:srgbClr val="1B2A4A"/>
                </a:solidFill>
                <a:latin typeface="Arial" pitchFamily="34" charset="0"/>
                <a:ea typeface="Arial" pitchFamily="34" charset="-122"/>
                <a:cs typeface="Arial" pitchFamily="34" charset="-120"/>
              </a:rPr>
              <a:t>The repo is organized into 8 major top-level areas. Every feature you want to change lives in one of these directories.</a:t>
            </a:r>
            <a:endParaRPr lang="en-US" sz="1050" dirty="0"/>
          </a:p>
        </p:txBody>
      </p:sp>
      <p:sp>
        <p:nvSpPr>
          <p:cNvPr id="4" name="Shape 2"/>
          <p:cNvSpPr/>
          <p:nvPr/>
        </p:nvSpPr>
        <p:spPr>
          <a:xfrm>
            <a:off x="502920" y="1261872"/>
            <a:ext cx="2926080" cy="384048"/>
          </a:xfrm>
          <a:prstGeom prst="rect">
            <a:avLst/>
          </a:prstGeom>
          <a:solidFill>
            <a:srgbClr val="0097A7"/>
          </a:solidFill>
          <a:ln/>
        </p:spPr>
        <p:txBody>
          <a:bodyPr/>
          <a:lstStyle/>
          <a:p>
            <a:endParaRPr lang="en-US"/>
          </a:p>
        </p:txBody>
      </p:sp>
      <p:sp>
        <p:nvSpPr>
          <p:cNvPr id="5" name="Text 3"/>
          <p:cNvSpPr/>
          <p:nvPr/>
        </p:nvSpPr>
        <p:spPr>
          <a:xfrm>
            <a:off x="594360" y="1261872"/>
            <a:ext cx="2743200" cy="384048"/>
          </a:xfrm>
          <a:prstGeom prst="rect">
            <a:avLst/>
          </a:prstGeom>
          <a:noFill/>
          <a:ln/>
        </p:spPr>
        <p:txBody>
          <a:bodyPr wrap="square" lIns="0" tIns="0" rIns="0" bIns="0" rtlCol="0" anchor="ctr"/>
          <a:lstStyle/>
          <a:p>
            <a:pPr marL="0" indent="0">
              <a:buNone/>
            </a:pPr>
            <a:r>
              <a:rPr lang="en-US" sz="950" b="1" dirty="0">
                <a:solidFill>
                  <a:srgbClr val="FFFFFF"/>
                </a:solidFill>
                <a:latin typeface="Courier New" pitchFamily="34" charset="0"/>
                <a:ea typeface="Courier New" pitchFamily="34" charset="-122"/>
                <a:cs typeface="Courier New" pitchFamily="34" charset="-120"/>
              </a:rPr>
              <a:t>src/agentic_chatbot_next/</a:t>
            </a:r>
            <a:endParaRPr lang="en-US" sz="950" dirty="0"/>
          </a:p>
        </p:txBody>
      </p:sp>
      <p:sp>
        <p:nvSpPr>
          <p:cNvPr id="6" name="Shape 4"/>
          <p:cNvSpPr/>
          <p:nvPr/>
        </p:nvSpPr>
        <p:spPr>
          <a:xfrm>
            <a:off x="3429000" y="1261872"/>
            <a:ext cx="5212080" cy="384048"/>
          </a:xfrm>
          <a:prstGeom prst="rect">
            <a:avLst/>
          </a:prstGeom>
          <a:solidFill>
            <a:srgbClr val="F5F5F5"/>
          </a:solidFill>
          <a:ln w="3810">
            <a:solidFill>
              <a:srgbClr val="F0F0F0"/>
            </a:solidFill>
            <a:prstDash val="solid"/>
          </a:ln>
        </p:spPr>
        <p:txBody>
          <a:bodyPr/>
          <a:lstStyle/>
          <a:p>
            <a:endParaRPr lang="en-US"/>
          </a:p>
        </p:txBody>
      </p:sp>
      <p:sp>
        <p:nvSpPr>
          <p:cNvPr id="7" name="Text 5"/>
          <p:cNvSpPr/>
          <p:nvPr/>
        </p:nvSpPr>
        <p:spPr>
          <a:xfrm>
            <a:off x="3520440" y="1261872"/>
            <a:ext cx="4983480" cy="384048"/>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Python backend: agents, RAG, runtime, tools, skills, providers, control panel API. 133 files, 27 modules. THE main codebase.</a:t>
            </a:r>
            <a:endParaRPr lang="en-US" sz="900" dirty="0"/>
          </a:p>
        </p:txBody>
      </p:sp>
      <p:sp>
        <p:nvSpPr>
          <p:cNvPr id="8" name="Shape 6"/>
          <p:cNvSpPr/>
          <p:nvPr/>
        </p:nvSpPr>
        <p:spPr>
          <a:xfrm>
            <a:off x="502920" y="1673352"/>
            <a:ext cx="2926080" cy="384048"/>
          </a:xfrm>
          <a:prstGeom prst="rect">
            <a:avLst/>
          </a:prstGeom>
          <a:solidFill>
            <a:srgbClr val="1B2A4A"/>
          </a:solidFill>
          <a:ln/>
        </p:spPr>
        <p:txBody>
          <a:bodyPr/>
          <a:lstStyle/>
          <a:p>
            <a:endParaRPr lang="en-US"/>
          </a:p>
        </p:txBody>
      </p:sp>
      <p:sp>
        <p:nvSpPr>
          <p:cNvPr id="9" name="Text 7"/>
          <p:cNvSpPr/>
          <p:nvPr/>
        </p:nvSpPr>
        <p:spPr>
          <a:xfrm>
            <a:off x="594360" y="1673352"/>
            <a:ext cx="2743200" cy="384048"/>
          </a:xfrm>
          <a:prstGeom prst="rect">
            <a:avLst/>
          </a:prstGeom>
          <a:noFill/>
          <a:ln/>
        </p:spPr>
        <p:txBody>
          <a:bodyPr wrap="square" lIns="0" tIns="0" rIns="0" bIns="0" rtlCol="0" anchor="ctr"/>
          <a:lstStyle/>
          <a:p>
            <a:pPr marL="0" indent="0">
              <a:buNone/>
            </a:pPr>
            <a:r>
              <a:rPr lang="en-US" sz="950" b="1" dirty="0">
                <a:solidFill>
                  <a:srgbClr val="FFFFFF"/>
                </a:solidFill>
                <a:latin typeface="Courier New" pitchFamily="34" charset="0"/>
                <a:ea typeface="Courier New" pitchFamily="34" charset="-122"/>
                <a:cs typeface="Courier New" pitchFamily="34" charset="-120"/>
              </a:rPr>
              <a:t>frontend/</a:t>
            </a:r>
            <a:endParaRPr lang="en-US" sz="950" dirty="0"/>
          </a:p>
        </p:txBody>
      </p:sp>
      <p:sp>
        <p:nvSpPr>
          <p:cNvPr id="10" name="Shape 8"/>
          <p:cNvSpPr/>
          <p:nvPr/>
        </p:nvSpPr>
        <p:spPr>
          <a:xfrm>
            <a:off x="3429000" y="1673352"/>
            <a:ext cx="5212080" cy="384048"/>
          </a:xfrm>
          <a:prstGeom prst="rect">
            <a:avLst/>
          </a:prstGeom>
          <a:solidFill>
            <a:srgbClr val="FFFFFF"/>
          </a:solidFill>
          <a:ln w="3810">
            <a:solidFill>
              <a:srgbClr val="F0F0F0"/>
            </a:solidFill>
            <a:prstDash val="solid"/>
          </a:ln>
        </p:spPr>
        <p:txBody>
          <a:bodyPr/>
          <a:lstStyle/>
          <a:p>
            <a:endParaRPr lang="en-US"/>
          </a:p>
        </p:txBody>
      </p:sp>
      <p:sp>
        <p:nvSpPr>
          <p:cNvPr id="11" name="Text 9"/>
          <p:cNvSpPr/>
          <p:nvPr/>
        </p:nvSpPr>
        <p:spPr>
          <a:xfrm>
            <a:off x="3520440" y="1673352"/>
            <a:ext cx="4983480" cy="384048"/>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React 18 + TypeScript chat UI. Components: ChatWindow, MessageBubble, AgentStatusPanel, FileUpload, ChatInput. Vite build.</a:t>
            </a:r>
            <a:endParaRPr lang="en-US" sz="900" dirty="0"/>
          </a:p>
        </p:txBody>
      </p:sp>
      <p:sp>
        <p:nvSpPr>
          <p:cNvPr id="12" name="Shape 10"/>
          <p:cNvSpPr/>
          <p:nvPr/>
        </p:nvSpPr>
        <p:spPr>
          <a:xfrm>
            <a:off x="502920" y="2084832"/>
            <a:ext cx="2926080" cy="384048"/>
          </a:xfrm>
          <a:prstGeom prst="rect">
            <a:avLst/>
          </a:prstGeom>
          <a:solidFill>
            <a:srgbClr val="00796B"/>
          </a:solidFill>
          <a:ln/>
        </p:spPr>
        <p:txBody>
          <a:bodyPr/>
          <a:lstStyle/>
          <a:p>
            <a:endParaRPr lang="en-US"/>
          </a:p>
        </p:txBody>
      </p:sp>
      <p:sp>
        <p:nvSpPr>
          <p:cNvPr id="13" name="Text 11"/>
          <p:cNvSpPr/>
          <p:nvPr/>
        </p:nvSpPr>
        <p:spPr>
          <a:xfrm>
            <a:off x="594360" y="2084832"/>
            <a:ext cx="2743200" cy="384048"/>
          </a:xfrm>
          <a:prstGeom prst="rect">
            <a:avLst/>
          </a:prstGeom>
          <a:noFill/>
          <a:ln/>
        </p:spPr>
        <p:txBody>
          <a:bodyPr wrap="square" lIns="0" tIns="0" rIns="0" bIns="0" rtlCol="0" anchor="ctr"/>
          <a:lstStyle/>
          <a:p>
            <a:pPr marL="0" indent="0">
              <a:buNone/>
            </a:pPr>
            <a:r>
              <a:rPr lang="en-US" sz="950" b="1" dirty="0">
                <a:solidFill>
                  <a:srgbClr val="FFFFFF"/>
                </a:solidFill>
                <a:latin typeface="Courier New" pitchFamily="34" charset="0"/>
                <a:ea typeface="Courier New" pitchFamily="34" charset="-122"/>
                <a:cs typeface="Courier New" pitchFamily="34" charset="-120"/>
              </a:rPr>
              <a:t>control_panel/</a:t>
            </a:r>
            <a:endParaRPr lang="en-US" sz="950" dirty="0"/>
          </a:p>
        </p:txBody>
      </p:sp>
      <p:sp>
        <p:nvSpPr>
          <p:cNvPr id="14" name="Shape 12"/>
          <p:cNvSpPr/>
          <p:nvPr/>
        </p:nvSpPr>
        <p:spPr>
          <a:xfrm>
            <a:off x="3429000" y="2084832"/>
            <a:ext cx="5212080" cy="384048"/>
          </a:xfrm>
          <a:prstGeom prst="rect">
            <a:avLst/>
          </a:prstGeom>
          <a:solidFill>
            <a:srgbClr val="F5F5F5"/>
          </a:solidFill>
          <a:ln w="3810">
            <a:solidFill>
              <a:srgbClr val="F0F0F0"/>
            </a:solidFill>
            <a:prstDash val="solid"/>
          </a:ln>
        </p:spPr>
        <p:txBody>
          <a:bodyPr/>
          <a:lstStyle/>
          <a:p>
            <a:endParaRPr lang="en-US"/>
          </a:p>
        </p:txBody>
      </p:sp>
      <p:sp>
        <p:nvSpPr>
          <p:cNvPr id="15" name="Text 13"/>
          <p:cNvSpPr/>
          <p:nvPr/>
        </p:nvSpPr>
        <p:spPr>
          <a:xfrm>
            <a:off x="3520440" y="2084832"/>
            <a:ext cx="4983480" cy="384048"/>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React 18 + TypeScript admin UI (109KB App.tsx). System overview, agent/prompt editor, KB management, job monitor, audit log.</a:t>
            </a:r>
            <a:endParaRPr lang="en-US" sz="900" dirty="0"/>
          </a:p>
        </p:txBody>
      </p:sp>
      <p:sp>
        <p:nvSpPr>
          <p:cNvPr id="16" name="Shape 14"/>
          <p:cNvSpPr/>
          <p:nvPr/>
        </p:nvSpPr>
        <p:spPr>
          <a:xfrm>
            <a:off x="502920" y="2496312"/>
            <a:ext cx="2926080" cy="384048"/>
          </a:xfrm>
          <a:prstGeom prst="rect">
            <a:avLst/>
          </a:prstGeom>
          <a:solidFill>
            <a:srgbClr val="F9A825"/>
          </a:solidFill>
          <a:ln/>
        </p:spPr>
        <p:txBody>
          <a:bodyPr/>
          <a:lstStyle/>
          <a:p>
            <a:endParaRPr lang="en-US"/>
          </a:p>
        </p:txBody>
      </p:sp>
      <p:sp>
        <p:nvSpPr>
          <p:cNvPr id="17" name="Text 15"/>
          <p:cNvSpPr/>
          <p:nvPr/>
        </p:nvSpPr>
        <p:spPr>
          <a:xfrm>
            <a:off x="594360" y="2496312"/>
            <a:ext cx="2743200" cy="384048"/>
          </a:xfrm>
          <a:prstGeom prst="rect">
            <a:avLst/>
          </a:prstGeom>
          <a:noFill/>
          <a:ln/>
        </p:spPr>
        <p:txBody>
          <a:bodyPr wrap="square" lIns="0" tIns="0" rIns="0" bIns="0" rtlCol="0" anchor="ctr"/>
          <a:lstStyle/>
          <a:p>
            <a:pPr marL="0" indent="0">
              <a:buNone/>
            </a:pPr>
            <a:r>
              <a:rPr lang="en-US" sz="950" b="1" dirty="0">
                <a:solidFill>
                  <a:srgbClr val="FFFFFF"/>
                </a:solidFill>
                <a:latin typeface="Courier New" pitchFamily="34" charset="0"/>
                <a:ea typeface="Courier New" pitchFamily="34" charset="-122"/>
                <a:cs typeface="Courier New" pitchFamily="34" charset="-120"/>
              </a:rPr>
              <a:t>data/</a:t>
            </a:r>
            <a:endParaRPr lang="en-US" sz="950" dirty="0"/>
          </a:p>
        </p:txBody>
      </p:sp>
      <p:sp>
        <p:nvSpPr>
          <p:cNvPr id="18" name="Shape 16"/>
          <p:cNvSpPr/>
          <p:nvPr/>
        </p:nvSpPr>
        <p:spPr>
          <a:xfrm>
            <a:off x="3429000" y="2496312"/>
            <a:ext cx="5212080" cy="384048"/>
          </a:xfrm>
          <a:prstGeom prst="rect">
            <a:avLst/>
          </a:prstGeom>
          <a:solidFill>
            <a:srgbClr val="FFFFFF"/>
          </a:solidFill>
          <a:ln w="3810">
            <a:solidFill>
              <a:srgbClr val="F0F0F0"/>
            </a:solidFill>
            <a:prstDash val="solid"/>
          </a:ln>
        </p:spPr>
        <p:txBody>
          <a:bodyPr/>
          <a:lstStyle/>
          <a:p>
            <a:endParaRPr lang="en-US"/>
          </a:p>
        </p:txBody>
      </p:sp>
      <p:sp>
        <p:nvSpPr>
          <p:cNvPr id="19" name="Text 17"/>
          <p:cNvSpPr/>
          <p:nvPr/>
        </p:nvSpPr>
        <p:spPr>
          <a:xfrm>
            <a:off x="3520440" y="2496312"/>
            <a:ext cx="4983480" cy="384048"/>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Runtime data: agents/*.md, skills/*.md, skill_packs/ (28 packs), prompts/, kb/ (20 collections), workspaces/, memory/, control_panel/overlays/.</a:t>
            </a:r>
            <a:endParaRPr lang="en-US" sz="900" dirty="0"/>
          </a:p>
        </p:txBody>
      </p:sp>
      <p:sp>
        <p:nvSpPr>
          <p:cNvPr id="20" name="Shape 18"/>
          <p:cNvSpPr/>
          <p:nvPr/>
        </p:nvSpPr>
        <p:spPr>
          <a:xfrm>
            <a:off x="502920" y="2907792"/>
            <a:ext cx="2926080" cy="384048"/>
          </a:xfrm>
          <a:prstGeom prst="rect">
            <a:avLst/>
          </a:prstGeom>
          <a:solidFill>
            <a:srgbClr val="1B2A4A"/>
          </a:solidFill>
          <a:ln/>
        </p:spPr>
        <p:txBody>
          <a:bodyPr/>
          <a:lstStyle/>
          <a:p>
            <a:endParaRPr lang="en-US"/>
          </a:p>
        </p:txBody>
      </p:sp>
      <p:sp>
        <p:nvSpPr>
          <p:cNvPr id="21" name="Text 19"/>
          <p:cNvSpPr/>
          <p:nvPr/>
        </p:nvSpPr>
        <p:spPr>
          <a:xfrm>
            <a:off x="594360" y="2907792"/>
            <a:ext cx="2743200" cy="384048"/>
          </a:xfrm>
          <a:prstGeom prst="rect">
            <a:avLst/>
          </a:prstGeom>
          <a:noFill/>
          <a:ln/>
        </p:spPr>
        <p:txBody>
          <a:bodyPr wrap="square" lIns="0" tIns="0" rIns="0" bIns="0" rtlCol="0" anchor="ctr"/>
          <a:lstStyle/>
          <a:p>
            <a:pPr marL="0" indent="0">
              <a:buNone/>
            </a:pPr>
            <a:r>
              <a:rPr lang="en-US" sz="950" b="1" dirty="0">
                <a:solidFill>
                  <a:srgbClr val="FFFFFF"/>
                </a:solidFill>
                <a:latin typeface="Courier New" pitchFamily="34" charset="0"/>
                <a:ea typeface="Courier New" pitchFamily="34" charset="-122"/>
                <a:cs typeface="Courier New" pitchFamily="34" charset="-120"/>
              </a:rPr>
              <a:t>new_demo_notebook/</a:t>
            </a:r>
            <a:endParaRPr lang="en-US" sz="950" dirty="0"/>
          </a:p>
        </p:txBody>
      </p:sp>
      <p:sp>
        <p:nvSpPr>
          <p:cNvPr id="22" name="Shape 20"/>
          <p:cNvSpPr/>
          <p:nvPr/>
        </p:nvSpPr>
        <p:spPr>
          <a:xfrm>
            <a:off x="3429000" y="2907792"/>
            <a:ext cx="5212080" cy="384048"/>
          </a:xfrm>
          <a:prstGeom prst="rect">
            <a:avLst/>
          </a:prstGeom>
          <a:solidFill>
            <a:srgbClr val="F5F5F5"/>
          </a:solidFill>
          <a:ln w="3810">
            <a:solidFill>
              <a:srgbClr val="F0F0F0"/>
            </a:solidFill>
            <a:prstDash val="solid"/>
          </a:ln>
        </p:spPr>
        <p:txBody>
          <a:bodyPr/>
          <a:lstStyle/>
          <a:p>
            <a:endParaRPr lang="en-US"/>
          </a:p>
        </p:txBody>
      </p:sp>
      <p:sp>
        <p:nvSpPr>
          <p:cNvPr id="23" name="Text 21"/>
          <p:cNvSpPr/>
          <p:nvPr/>
        </p:nvSpPr>
        <p:spPr>
          <a:xfrm>
            <a:off x="3520440" y="2907792"/>
            <a:ext cx="4983480" cy="384048"/>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Jupyter notebook (agentic_system_showcase.ipynb) + lib/ helpers. Drives the live API — no private imports. Full scenario coverage.</a:t>
            </a:r>
            <a:endParaRPr lang="en-US" sz="900" dirty="0"/>
          </a:p>
        </p:txBody>
      </p:sp>
      <p:sp>
        <p:nvSpPr>
          <p:cNvPr id="24" name="Shape 22"/>
          <p:cNvSpPr/>
          <p:nvPr/>
        </p:nvSpPr>
        <p:spPr>
          <a:xfrm>
            <a:off x="502920" y="3319272"/>
            <a:ext cx="2926080" cy="384048"/>
          </a:xfrm>
          <a:prstGeom prst="rect">
            <a:avLst/>
          </a:prstGeom>
          <a:solidFill>
            <a:srgbClr val="00796B"/>
          </a:solidFill>
          <a:ln/>
        </p:spPr>
        <p:txBody>
          <a:bodyPr/>
          <a:lstStyle/>
          <a:p>
            <a:endParaRPr lang="en-US"/>
          </a:p>
        </p:txBody>
      </p:sp>
      <p:sp>
        <p:nvSpPr>
          <p:cNvPr id="25" name="Text 23"/>
          <p:cNvSpPr/>
          <p:nvPr/>
        </p:nvSpPr>
        <p:spPr>
          <a:xfrm>
            <a:off x="594360" y="3319272"/>
            <a:ext cx="2743200" cy="384048"/>
          </a:xfrm>
          <a:prstGeom prst="rect">
            <a:avLst/>
          </a:prstGeom>
          <a:noFill/>
          <a:ln/>
        </p:spPr>
        <p:txBody>
          <a:bodyPr wrap="square" lIns="0" tIns="0" rIns="0" bIns="0" rtlCol="0" anchor="ctr"/>
          <a:lstStyle/>
          <a:p>
            <a:pPr marL="0" indent="0">
              <a:buNone/>
            </a:pPr>
            <a:r>
              <a:rPr lang="en-US" sz="950" b="1" dirty="0">
                <a:solidFill>
                  <a:srgbClr val="FFFFFF"/>
                </a:solidFill>
                <a:latin typeface="Courier New" pitchFamily="34" charset="0"/>
                <a:ea typeface="Courier New" pitchFamily="34" charset="-122"/>
                <a:cs typeface="Courier New" pitchFamily="34" charset="-120"/>
              </a:rPr>
              <a:t>docs/</a:t>
            </a:r>
            <a:endParaRPr lang="en-US" sz="950" dirty="0"/>
          </a:p>
        </p:txBody>
      </p:sp>
      <p:sp>
        <p:nvSpPr>
          <p:cNvPr id="26" name="Shape 24"/>
          <p:cNvSpPr/>
          <p:nvPr/>
        </p:nvSpPr>
        <p:spPr>
          <a:xfrm>
            <a:off x="3429000" y="3319272"/>
            <a:ext cx="5212080" cy="384048"/>
          </a:xfrm>
          <a:prstGeom prst="rect">
            <a:avLst/>
          </a:prstGeom>
          <a:solidFill>
            <a:srgbClr val="FFFFFF"/>
          </a:solidFill>
          <a:ln w="3810">
            <a:solidFill>
              <a:srgbClr val="F0F0F0"/>
            </a:solidFill>
            <a:prstDash val="solid"/>
          </a:ln>
        </p:spPr>
        <p:txBody>
          <a:bodyPr/>
          <a:lstStyle/>
          <a:p>
            <a:endParaRPr lang="en-US"/>
          </a:p>
        </p:txBody>
      </p:sp>
      <p:sp>
        <p:nvSpPr>
          <p:cNvPr id="27" name="Text 25"/>
          <p:cNvSpPr/>
          <p:nvPr/>
        </p:nvSpPr>
        <p:spPr>
          <a:xfrm>
            <a:off x="3520440" y="3319272"/>
            <a:ext cx="4983480" cy="384048"/>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24 architecture docs: ARCHITECTURE.md, CONTROL_FLOW.md, RAG_AGENT_DESIGN.md, TOOLS_AND_TOOL_CALLING.md, PROVIDERS.md, and more.</a:t>
            </a:r>
            <a:endParaRPr lang="en-US" sz="900" dirty="0"/>
          </a:p>
        </p:txBody>
      </p:sp>
      <p:sp>
        <p:nvSpPr>
          <p:cNvPr id="28" name="Shape 26"/>
          <p:cNvSpPr/>
          <p:nvPr/>
        </p:nvSpPr>
        <p:spPr>
          <a:xfrm>
            <a:off x="502920" y="3730752"/>
            <a:ext cx="2926080" cy="384048"/>
          </a:xfrm>
          <a:prstGeom prst="rect">
            <a:avLst/>
          </a:prstGeom>
          <a:solidFill>
            <a:srgbClr val="999999"/>
          </a:solidFill>
          <a:ln/>
        </p:spPr>
        <p:txBody>
          <a:bodyPr/>
          <a:lstStyle/>
          <a:p>
            <a:endParaRPr lang="en-US"/>
          </a:p>
        </p:txBody>
      </p:sp>
      <p:sp>
        <p:nvSpPr>
          <p:cNvPr id="29" name="Text 27"/>
          <p:cNvSpPr/>
          <p:nvPr/>
        </p:nvSpPr>
        <p:spPr>
          <a:xfrm>
            <a:off x="594360" y="3730752"/>
            <a:ext cx="2743200" cy="384048"/>
          </a:xfrm>
          <a:prstGeom prst="rect">
            <a:avLst/>
          </a:prstGeom>
          <a:noFill/>
          <a:ln/>
        </p:spPr>
        <p:txBody>
          <a:bodyPr wrap="square" lIns="0" tIns="0" rIns="0" bIns="0" rtlCol="0" anchor="ctr"/>
          <a:lstStyle/>
          <a:p>
            <a:pPr marL="0" indent="0">
              <a:buNone/>
            </a:pPr>
            <a:r>
              <a:rPr lang="en-US" sz="950" b="1" dirty="0">
                <a:solidFill>
                  <a:srgbClr val="FFFFFF"/>
                </a:solidFill>
                <a:latin typeface="Courier New" pitchFamily="34" charset="0"/>
                <a:ea typeface="Courier New" pitchFamily="34" charset="-122"/>
                <a:cs typeface="Courier New" pitchFamily="34" charset="-120"/>
              </a:rPr>
              <a:t>docker/</a:t>
            </a:r>
            <a:endParaRPr lang="en-US" sz="950" dirty="0"/>
          </a:p>
        </p:txBody>
      </p:sp>
      <p:sp>
        <p:nvSpPr>
          <p:cNvPr id="30" name="Shape 28"/>
          <p:cNvSpPr/>
          <p:nvPr/>
        </p:nvSpPr>
        <p:spPr>
          <a:xfrm>
            <a:off x="3429000" y="3730752"/>
            <a:ext cx="5212080" cy="384048"/>
          </a:xfrm>
          <a:prstGeom prst="rect">
            <a:avLst/>
          </a:prstGeom>
          <a:solidFill>
            <a:srgbClr val="F5F5F5"/>
          </a:solidFill>
          <a:ln w="3810">
            <a:solidFill>
              <a:srgbClr val="F0F0F0"/>
            </a:solidFill>
            <a:prstDash val="solid"/>
          </a:ln>
        </p:spPr>
        <p:txBody>
          <a:bodyPr/>
          <a:lstStyle/>
          <a:p>
            <a:endParaRPr lang="en-US"/>
          </a:p>
        </p:txBody>
      </p:sp>
      <p:sp>
        <p:nvSpPr>
          <p:cNvPr id="31" name="Text 29"/>
          <p:cNvSpPr/>
          <p:nvPr/>
        </p:nvSpPr>
        <p:spPr>
          <a:xfrm>
            <a:off x="3520440" y="3730752"/>
            <a:ext cx="4983480" cy="384048"/>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sandbox.Dockerfile (Python 3.12-slim for code execution). Main Dockerfile at repo root (multi-stage: Node.js → Python).</a:t>
            </a:r>
            <a:endParaRPr lang="en-US" sz="900" dirty="0"/>
          </a:p>
        </p:txBody>
      </p:sp>
      <p:sp>
        <p:nvSpPr>
          <p:cNvPr id="32" name="Shape 30"/>
          <p:cNvSpPr/>
          <p:nvPr/>
        </p:nvSpPr>
        <p:spPr>
          <a:xfrm>
            <a:off x="502920" y="4142232"/>
            <a:ext cx="2926080" cy="384048"/>
          </a:xfrm>
          <a:prstGeom prst="rect">
            <a:avLst/>
          </a:prstGeom>
          <a:solidFill>
            <a:srgbClr val="999999"/>
          </a:solidFill>
          <a:ln/>
        </p:spPr>
        <p:txBody>
          <a:bodyPr/>
          <a:lstStyle/>
          <a:p>
            <a:endParaRPr lang="en-US"/>
          </a:p>
        </p:txBody>
      </p:sp>
      <p:sp>
        <p:nvSpPr>
          <p:cNvPr id="33" name="Text 31"/>
          <p:cNvSpPr/>
          <p:nvPr/>
        </p:nvSpPr>
        <p:spPr>
          <a:xfrm>
            <a:off x="594360" y="4142232"/>
            <a:ext cx="2743200" cy="384048"/>
          </a:xfrm>
          <a:prstGeom prst="rect">
            <a:avLst/>
          </a:prstGeom>
          <a:noFill/>
          <a:ln/>
        </p:spPr>
        <p:txBody>
          <a:bodyPr wrap="square" lIns="0" tIns="0" rIns="0" bIns="0" rtlCol="0" anchor="ctr"/>
          <a:lstStyle/>
          <a:p>
            <a:pPr marL="0" indent="0">
              <a:buNone/>
            </a:pPr>
            <a:r>
              <a:rPr lang="en-US" sz="950" b="1" dirty="0">
                <a:solidFill>
                  <a:srgbClr val="FFFFFF"/>
                </a:solidFill>
                <a:latin typeface="Courier New" pitchFamily="34" charset="0"/>
                <a:ea typeface="Courier New" pitchFamily="34" charset="-122"/>
                <a:cs typeface="Courier New" pitchFamily="34" charset="-120"/>
              </a:rPr>
              <a:t>deployment/</a:t>
            </a:r>
            <a:endParaRPr lang="en-US" sz="950" dirty="0"/>
          </a:p>
        </p:txBody>
      </p:sp>
      <p:sp>
        <p:nvSpPr>
          <p:cNvPr id="34" name="Shape 32"/>
          <p:cNvSpPr/>
          <p:nvPr/>
        </p:nvSpPr>
        <p:spPr>
          <a:xfrm>
            <a:off x="3429000" y="4142232"/>
            <a:ext cx="5212080" cy="384048"/>
          </a:xfrm>
          <a:prstGeom prst="rect">
            <a:avLst/>
          </a:prstGeom>
          <a:solidFill>
            <a:srgbClr val="FFFFFF"/>
          </a:solidFill>
          <a:ln w="3810">
            <a:solidFill>
              <a:srgbClr val="F0F0F0"/>
            </a:solidFill>
            <a:prstDash val="solid"/>
          </a:ln>
        </p:spPr>
        <p:txBody>
          <a:bodyPr/>
          <a:lstStyle/>
          <a:p>
            <a:endParaRPr lang="en-US"/>
          </a:p>
        </p:txBody>
      </p:sp>
      <p:sp>
        <p:nvSpPr>
          <p:cNvPr id="35" name="Text 33"/>
          <p:cNvSpPr/>
          <p:nvPr/>
        </p:nvSpPr>
        <p:spPr>
          <a:xfrm>
            <a:off x="3520440" y="4142232"/>
            <a:ext cx="4983480" cy="384048"/>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OpenWebUI integration files. docker-compose.yml at repo root defines 6 services (postgres, ollama, app, openwebui, bootstrap).</a:t>
            </a:r>
            <a:endParaRPr lang="en-US" sz="900" dirty="0"/>
          </a:p>
        </p:txBody>
      </p:sp>
      <p:sp>
        <p:nvSpPr>
          <p:cNvPr id="36" name="Text 34"/>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Repository root: Dockerfile, docker-compose.yml, requirements.txt, .env.example, run.py</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Frontend — React Chat UI (frontend/)</a:t>
            </a:r>
            <a:endParaRPr lang="en-US" sz="2600" dirty="0"/>
          </a:p>
        </p:txBody>
      </p:sp>
      <p:sp>
        <p:nvSpPr>
          <p:cNvPr id="3" name="Text 1"/>
          <p:cNvSpPr/>
          <p:nvPr/>
        </p:nvSpPr>
        <p:spPr>
          <a:xfrm>
            <a:off x="502920" y="841248"/>
            <a:ext cx="8138160" cy="320040"/>
          </a:xfrm>
          <a:prstGeom prst="rect">
            <a:avLst/>
          </a:prstGeom>
          <a:noFill/>
          <a:ln/>
        </p:spPr>
        <p:txBody>
          <a:bodyPr wrap="square" lIns="0" tIns="0" rIns="0" bIns="0" rtlCol="0" anchor="ctr"/>
          <a:lstStyle/>
          <a:p>
            <a:pPr marL="0" indent="0">
              <a:buNone/>
            </a:pPr>
            <a:r>
              <a:rPr lang="en-US" sz="1050" dirty="0">
                <a:solidFill>
                  <a:srgbClr val="1B2A4A"/>
                </a:solidFill>
                <a:latin typeface="Arial" pitchFamily="34" charset="0"/>
                <a:ea typeface="Arial" pitchFamily="34" charset="-122"/>
                <a:cs typeface="Arial" pitchFamily="34" charset="-120"/>
              </a:rPr>
              <a:t>React 18 + TypeScript + Vite. The user-facing chat interface. Communicates with the backend via the OpenAI-compatible /v1/chat/completions SSE endpoint.</a:t>
            </a:r>
            <a:endParaRPr lang="en-US" sz="1050" dirty="0"/>
          </a:p>
        </p:txBody>
      </p:sp>
      <p:sp>
        <p:nvSpPr>
          <p:cNvPr id="4" name="Shape 2"/>
          <p:cNvSpPr/>
          <p:nvPr/>
        </p:nvSpPr>
        <p:spPr>
          <a:xfrm>
            <a:off x="502920" y="1261872"/>
            <a:ext cx="4023360" cy="237744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261872"/>
            <a:ext cx="4023360" cy="320040"/>
          </a:xfrm>
          <a:prstGeom prst="rect">
            <a:avLst/>
          </a:prstGeom>
          <a:solidFill>
            <a:srgbClr val="0097A7"/>
          </a:solidFill>
          <a:ln/>
        </p:spPr>
        <p:txBody>
          <a:bodyPr/>
          <a:lstStyle/>
          <a:p>
            <a:endParaRPr lang="en-US"/>
          </a:p>
        </p:txBody>
      </p:sp>
      <p:sp>
        <p:nvSpPr>
          <p:cNvPr id="6" name="Text 4"/>
          <p:cNvSpPr/>
          <p:nvPr/>
        </p:nvSpPr>
        <p:spPr>
          <a:xfrm>
            <a:off x="612648" y="1289304"/>
            <a:ext cx="380390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Key Source Files (frontend/src/)</a:t>
            </a:r>
            <a:endParaRPr lang="en-US" sz="1200" dirty="0"/>
          </a:p>
        </p:txBody>
      </p:sp>
      <p:sp>
        <p:nvSpPr>
          <p:cNvPr id="7" name="Text 5"/>
          <p:cNvSpPr/>
          <p:nvPr/>
        </p:nvSpPr>
        <p:spPr>
          <a:xfrm>
            <a:off x="612648" y="1645920"/>
            <a:ext cx="3803904" cy="190195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App.tsx — root component, routing, global state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types.ts — Message, Agent, FileRef, SessionInfo types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api/ — API client (chat, upload, skills endpoints)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hooks/ — custom React hooks (useChat, useSession...)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components/ChatWindow.tsx — message list + scroll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components/MessageBubble.tsx — renders markdown, citations, artifacts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components/AgentStatusPanel.tsx — real-time agent progress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components/FileUpload.tsx — drag-drop upload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components/ChatInput.tsx — input form, skill selection</a:t>
            </a:r>
            <a:endParaRPr lang="en-US" sz="1000" dirty="0"/>
          </a:p>
        </p:txBody>
      </p:sp>
      <p:sp>
        <p:nvSpPr>
          <p:cNvPr id="8" name="Shape 6"/>
          <p:cNvSpPr/>
          <p:nvPr/>
        </p:nvSpPr>
        <p:spPr>
          <a:xfrm>
            <a:off x="4709160" y="1261872"/>
            <a:ext cx="4434840" cy="128016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4709160" y="1261872"/>
            <a:ext cx="4434840" cy="320040"/>
          </a:xfrm>
          <a:prstGeom prst="rect">
            <a:avLst/>
          </a:prstGeom>
          <a:solidFill>
            <a:srgbClr val="1B2A4A"/>
          </a:solidFill>
          <a:ln/>
        </p:spPr>
        <p:txBody>
          <a:bodyPr/>
          <a:lstStyle/>
          <a:p>
            <a:endParaRPr lang="en-US"/>
          </a:p>
        </p:txBody>
      </p:sp>
      <p:sp>
        <p:nvSpPr>
          <p:cNvPr id="10" name="Text 8"/>
          <p:cNvSpPr/>
          <p:nvPr/>
        </p:nvSpPr>
        <p:spPr>
          <a:xfrm>
            <a:off x="4818888" y="1289304"/>
            <a:ext cx="42153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Tech Stack</a:t>
            </a:r>
            <a:endParaRPr lang="en-US" sz="1200" dirty="0"/>
          </a:p>
        </p:txBody>
      </p:sp>
      <p:sp>
        <p:nvSpPr>
          <p:cNvPr id="11" name="Text 9"/>
          <p:cNvSpPr/>
          <p:nvPr/>
        </p:nvSpPr>
        <p:spPr>
          <a:xfrm>
            <a:off x="4818888" y="1645920"/>
            <a:ext cx="4215384" cy="80467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React 18.3 + TypeScript 5.5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Vite 5.4 (build tool, HMR for dev)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react-markdown (message rendering)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Vitest (unit tests)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Build: npm run build → dist/ (served by FastAPI static files)</a:t>
            </a:r>
            <a:endParaRPr lang="en-US" sz="1000" dirty="0"/>
          </a:p>
        </p:txBody>
      </p:sp>
      <p:sp>
        <p:nvSpPr>
          <p:cNvPr id="12" name="Shape 10"/>
          <p:cNvSpPr/>
          <p:nvPr/>
        </p:nvSpPr>
        <p:spPr>
          <a:xfrm>
            <a:off x="4709160" y="2633472"/>
            <a:ext cx="4434840" cy="100584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3" name="Shape 11"/>
          <p:cNvSpPr/>
          <p:nvPr/>
        </p:nvSpPr>
        <p:spPr>
          <a:xfrm>
            <a:off x="4709160" y="2633472"/>
            <a:ext cx="4434840" cy="320040"/>
          </a:xfrm>
          <a:prstGeom prst="rect">
            <a:avLst/>
          </a:prstGeom>
          <a:solidFill>
            <a:srgbClr val="00796B"/>
          </a:solidFill>
          <a:ln/>
        </p:spPr>
        <p:txBody>
          <a:bodyPr/>
          <a:lstStyle/>
          <a:p>
            <a:endParaRPr lang="en-US"/>
          </a:p>
        </p:txBody>
      </p:sp>
      <p:sp>
        <p:nvSpPr>
          <p:cNvPr id="14" name="Text 12"/>
          <p:cNvSpPr/>
          <p:nvPr/>
        </p:nvSpPr>
        <p:spPr>
          <a:xfrm>
            <a:off x="4818888" y="2660904"/>
            <a:ext cx="42153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If You Need to Change the UI</a:t>
            </a:r>
            <a:endParaRPr lang="en-US" sz="1200" dirty="0"/>
          </a:p>
        </p:txBody>
      </p:sp>
      <p:sp>
        <p:nvSpPr>
          <p:cNvPr id="15" name="Text 13"/>
          <p:cNvSpPr/>
          <p:nvPr/>
        </p:nvSpPr>
        <p:spPr>
          <a:xfrm>
            <a:off x="4818888" y="3017520"/>
            <a:ext cx="4215384" cy="53035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npm install → npm run dev for local dev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AgentStatusPanel.tsx — change progress display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MessageBubble.tsx — change how messages render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api/ — change API calls (model name, headers, etc.)</a:t>
            </a:r>
            <a:endParaRPr lang="en-US" sz="1000" dirty="0"/>
          </a:p>
        </p:txBody>
      </p:sp>
      <p:sp>
        <p:nvSpPr>
          <p:cNvPr id="16" name="Text 14"/>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frontend/src/ — App.tsx, types.ts, components/, api/, hooks/ | frontend/package.json — React 18, Vite 5, TypeScript 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Control Panel UI — Admin React App (control_panel/)</a:t>
            </a:r>
            <a:endParaRPr lang="en-US" sz="2600" dirty="0"/>
          </a:p>
        </p:txBody>
      </p:sp>
      <p:sp>
        <p:nvSpPr>
          <p:cNvPr id="3" name="Text 1"/>
          <p:cNvSpPr/>
          <p:nvPr/>
        </p:nvSpPr>
        <p:spPr>
          <a:xfrm>
            <a:off x="502920" y="841248"/>
            <a:ext cx="8138160" cy="365760"/>
          </a:xfrm>
          <a:prstGeom prst="rect">
            <a:avLst/>
          </a:prstGeom>
          <a:noFill/>
          <a:ln/>
        </p:spPr>
        <p:txBody>
          <a:bodyPr wrap="square" lIns="0" tIns="0" rIns="0" bIns="0" rtlCol="0" anchor="ctr"/>
          <a:lstStyle/>
          <a:p>
            <a:pPr marL="0" indent="0">
              <a:buNone/>
            </a:pPr>
            <a:r>
              <a:rPr lang="en-US" sz="1050" dirty="0">
                <a:solidFill>
                  <a:srgbClr val="1B2A4A"/>
                </a:solidFill>
                <a:latin typeface="Arial" pitchFamily="34" charset="0"/>
                <a:ea typeface="Arial" pitchFamily="34" charset="-122"/>
                <a:cs typeface="Arial" pitchFamily="34" charset="-120"/>
              </a:rPr>
              <a:t>Separate React 18 + TypeScript admin application. Talks to the /v1/admin API with X-Admin-Token auth. Purpose: review system health and make controlled runtime changes without touching files or restarting.</a:t>
            </a:r>
            <a:endParaRPr lang="en-US" sz="1050" dirty="0"/>
          </a:p>
        </p:txBody>
      </p:sp>
      <p:sp>
        <p:nvSpPr>
          <p:cNvPr id="4" name="Shape 2"/>
          <p:cNvSpPr/>
          <p:nvPr/>
        </p:nvSpPr>
        <p:spPr>
          <a:xfrm>
            <a:off x="502920" y="1353312"/>
            <a:ext cx="2590800" cy="292608"/>
          </a:xfrm>
          <a:prstGeom prst="rect">
            <a:avLst/>
          </a:prstGeom>
          <a:solidFill>
            <a:srgbClr val="0097A7"/>
          </a:solidFill>
          <a:ln/>
        </p:spPr>
        <p:txBody>
          <a:bodyPr/>
          <a:lstStyle/>
          <a:p>
            <a:endParaRPr lang="en-US"/>
          </a:p>
        </p:txBody>
      </p:sp>
      <p:sp>
        <p:nvSpPr>
          <p:cNvPr id="5" name="Text 3"/>
          <p:cNvSpPr/>
          <p:nvPr/>
        </p:nvSpPr>
        <p:spPr>
          <a:xfrm>
            <a:off x="557784" y="1353312"/>
            <a:ext cx="2481072" cy="292608"/>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System Overview</a:t>
            </a:r>
            <a:endParaRPr lang="en-US" sz="1000" dirty="0"/>
          </a:p>
        </p:txBody>
      </p:sp>
      <p:sp>
        <p:nvSpPr>
          <p:cNvPr id="6" name="Shape 4"/>
          <p:cNvSpPr/>
          <p:nvPr/>
        </p:nvSpPr>
        <p:spPr>
          <a:xfrm>
            <a:off x="502920" y="1645920"/>
            <a:ext cx="2590800" cy="896112"/>
          </a:xfrm>
          <a:prstGeom prst="rect">
            <a:avLst/>
          </a:prstGeom>
          <a:solidFill>
            <a:srgbClr val="F5F5F5"/>
          </a:solidFill>
          <a:ln w="3810">
            <a:solidFill>
              <a:srgbClr val="F0F0F0"/>
            </a:solidFill>
            <a:prstDash val="solid"/>
          </a:ln>
        </p:spPr>
        <p:txBody>
          <a:bodyPr/>
          <a:lstStyle/>
          <a:p>
            <a:endParaRPr lang="en-US"/>
          </a:p>
        </p:txBody>
      </p:sp>
      <p:sp>
        <p:nvSpPr>
          <p:cNvPr id="7" name="Text 5"/>
          <p:cNvSpPr/>
          <p:nvPr/>
        </p:nvSpPr>
        <p:spPr>
          <a:xfrm>
            <a:off x="557784" y="1645920"/>
            <a:ext cx="2481072" cy="896112"/>
          </a:xfrm>
          <a:prstGeom prst="rect">
            <a:avLst/>
          </a:prstGeom>
          <a:noFill/>
          <a:ln/>
        </p:spPr>
        <p:txBody>
          <a:bodyPr wrap="square" lIns="635" tIns="0" rIns="0" bIns="0" rtlCol="0" anchor="t"/>
          <a:lstStyle/>
          <a:p>
            <a:pPr marL="0" indent="0">
              <a:buNone/>
            </a:pPr>
            <a:r>
              <a:rPr lang="en-US" sz="900" dirty="0">
                <a:solidFill>
                  <a:srgbClr val="333333"/>
                </a:solidFill>
                <a:latin typeface="Arial" pitchFamily="34" charset="0"/>
                <a:ea typeface="Arial" pitchFamily="34" charset="-122"/>
                <a:cs typeface="Arial" pitchFamily="34" charset="-120"/>
              </a:rPr>
              <a:t>Settings snapshot, provider status, operation history, architecture visualization (architectureLayout.ts renders component graph)</a:t>
            </a:r>
            <a:endParaRPr lang="en-US" sz="900" dirty="0"/>
          </a:p>
        </p:txBody>
      </p:sp>
      <p:sp>
        <p:nvSpPr>
          <p:cNvPr id="8" name="Shape 6"/>
          <p:cNvSpPr/>
          <p:nvPr/>
        </p:nvSpPr>
        <p:spPr>
          <a:xfrm>
            <a:off x="3276600" y="1353312"/>
            <a:ext cx="2590800" cy="292608"/>
          </a:xfrm>
          <a:prstGeom prst="rect">
            <a:avLst/>
          </a:prstGeom>
          <a:solidFill>
            <a:srgbClr val="1B2A4A"/>
          </a:solidFill>
          <a:ln/>
        </p:spPr>
        <p:txBody>
          <a:bodyPr/>
          <a:lstStyle/>
          <a:p>
            <a:endParaRPr lang="en-US"/>
          </a:p>
        </p:txBody>
      </p:sp>
      <p:sp>
        <p:nvSpPr>
          <p:cNvPr id="9" name="Text 7"/>
          <p:cNvSpPr/>
          <p:nvPr/>
        </p:nvSpPr>
        <p:spPr>
          <a:xfrm>
            <a:off x="3331464" y="1353312"/>
            <a:ext cx="2481072" cy="292608"/>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Agent Editor</a:t>
            </a:r>
            <a:endParaRPr lang="en-US" sz="1000" dirty="0"/>
          </a:p>
        </p:txBody>
      </p:sp>
      <p:sp>
        <p:nvSpPr>
          <p:cNvPr id="10" name="Shape 8"/>
          <p:cNvSpPr/>
          <p:nvPr/>
        </p:nvSpPr>
        <p:spPr>
          <a:xfrm>
            <a:off x="3276600" y="1645920"/>
            <a:ext cx="2590800" cy="896112"/>
          </a:xfrm>
          <a:prstGeom prst="rect">
            <a:avLst/>
          </a:prstGeom>
          <a:solidFill>
            <a:srgbClr val="F5F5F5"/>
          </a:solidFill>
          <a:ln w="3810">
            <a:solidFill>
              <a:srgbClr val="F0F0F0"/>
            </a:solidFill>
            <a:prstDash val="solid"/>
          </a:ln>
        </p:spPr>
        <p:txBody>
          <a:bodyPr/>
          <a:lstStyle/>
          <a:p>
            <a:endParaRPr lang="en-US"/>
          </a:p>
        </p:txBody>
      </p:sp>
      <p:sp>
        <p:nvSpPr>
          <p:cNvPr id="11" name="Text 9"/>
          <p:cNvSpPr/>
          <p:nvPr/>
        </p:nvSpPr>
        <p:spPr>
          <a:xfrm>
            <a:off x="3331464" y="1645920"/>
            <a:ext cx="2481072" cy="896112"/>
          </a:xfrm>
          <a:prstGeom prst="rect">
            <a:avLst/>
          </a:prstGeom>
          <a:noFill/>
          <a:ln/>
        </p:spPr>
        <p:txBody>
          <a:bodyPr wrap="square" lIns="635" tIns="0" rIns="0" bIns="0" rtlCol="0" anchor="t"/>
          <a:lstStyle/>
          <a:p>
            <a:pPr marL="0" indent="0">
              <a:buNone/>
            </a:pPr>
            <a:r>
              <a:rPr lang="en-US" sz="900" dirty="0">
                <a:solidFill>
                  <a:srgbClr val="333333"/>
                </a:solidFill>
                <a:latin typeface="Arial" pitchFamily="34" charset="0"/>
                <a:ea typeface="Arial" pitchFamily="34" charset="-122"/>
                <a:cs typeface="Arial" pitchFamily="34" charset="-120"/>
              </a:rPr>
              <a:t>View all agent definitions. Edit fields (mode, max_steps, allowed_tools) via PUT /agents/{name}. Changes persist via OverlayStore.</a:t>
            </a:r>
            <a:endParaRPr lang="en-US" sz="900" dirty="0"/>
          </a:p>
        </p:txBody>
      </p:sp>
      <p:sp>
        <p:nvSpPr>
          <p:cNvPr id="12" name="Shape 10"/>
          <p:cNvSpPr/>
          <p:nvPr/>
        </p:nvSpPr>
        <p:spPr>
          <a:xfrm>
            <a:off x="6050280" y="1353312"/>
            <a:ext cx="2590800" cy="292608"/>
          </a:xfrm>
          <a:prstGeom prst="rect">
            <a:avLst/>
          </a:prstGeom>
          <a:solidFill>
            <a:srgbClr val="00796B"/>
          </a:solidFill>
          <a:ln/>
        </p:spPr>
        <p:txBody>
          <a:bodyPr/>
          <a:lstStyle/>
          <a:p>
            <a:endParaRPr lang="en-US"/>
          </a:p>
        </p:txBody>
      </p:sp>
      <p:sp>
        <p:nvSpPr>
          <p:cNvPr id="13" name="Text 11"/>
          <p:cNvSpPr/>
          <p:nvPr/>
        </p:nvSpPr>
        <p:spPr>
          <a:xfrm>
            <a:off x="6105144" y="1353312"/>
            <a:ext cx="2481072" cy="292608"/>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Prompt Editor</a:t>
            </a:r>
            <a:endParaRPr lang="en-US" sz="1000" dirty="0"/>
          </a:p>
        </p:txBody>
      </p:sp>
      <p:sp>
        <p:nvSpPr>
          <p:cNvPr id="14" name="Shape 12"/>
          <p:cNvSpPr/>
          <p:nvPr/>
        </p:nvSpPr>
        <p:spPr>
          <a:xfrm>
            <a:off x="6050280" y="1645920"/>
            <a:ext cx="2590800" cy="896112"/>
          </a:xfrm>
          <a:prstGeom prst="rect">
            <a:avLst/>
          </a:prstGeom>
          <a:solidFill>
            <a:srgbClr val="F5F5F5"/>
          </a:solidFill>
          <a:ln w="3810">
            <a:solidFill>
              <a:srgbClr val="F0F0F0"/>
            </a:solidFill>
            <a:prstDash val="solid"/>
          </a:ln>
        </p:spPr>
        <p:txBody>
          <a:bodyPr/>
          <a:lstStyle/>
          <a:p>
            <a:endParaRPr lang="en-US"/>
          </a:p>
        </p:txBody>
      </p:sp>
      <p:sp>
        <p:nvSpPr>
          <p:cNvPr id="15" name="Text 13"/>
          <p:cNvSpPr/>
          <p:nvPr/>
        </p:nvSpPr>
        <p:spPr>
          <a:xfrm>
            <a:off x="6105144" y="1645920"/>
            <a:ext cx="2481072" cy="896112"/>
          </a:xfrm>
          <a:prstGeom prst="rect">
            <a:avLst/>
          </a:prstGeom>
          <a:noFill/>
          <a:ln/>
        </p:spPr>
        <p:txBody>
          <a:bodyPr wrap="square" lIns="635" tIns="0" rIns="0" bIns="0" rtlCol="0" anchor="t"/>
          <a:lstStyle/>
          <a:p>
            <a:pPr marL="0" indent="0">
              <a:buNone/>
            </a:pPr>
            <a:r>
              <a:rPr lang="en-US" sz="900" dirty="0">
                <a:solidFill>
                  <a:srgbClr val="333333"/>
                </a:solidFill>
                <a:latin typeface="Arial" pitchFamily="34" charset="0"/>
                <a:ea typeface="Arial" pitchFamily="34" charset="-122"/>
                <a:cs typeface="Arial" pitchFamily="34" charset="-120"/>
              </a:rPr>
              <a:t>Read and edit system prompt files. PUT /prompts/{file} writes overlay. Reload button triggers agent re-init via POST /agents/reload.</a:t>
            </a:r>
            <a:endParaRPr lang="en-US" sz="900" dirty="0"/>
          </a:p>
        </p:txBody>
      </p:sp>
      <p:sp>
        <p:nvSpPr>
          <p:cNvPr id="16" name="Shape 14"/>
          <p:cNvSpPr/>
          <p:nvPr/>
        </p:nvSpPr>
        <p:spPr>
          <a:xfrm>
            <a:off x="502920" y="2633472"/>
            <a:ext cx="2590800" cy="292608"/>
          </a:xfrm>
          <a:prstGeom prst="rect">
            <a:avLst/>
          </a:prstGeom>
          <a:solidFill>
            <a:srgbClr val="F9A825"/>
          </a:solidFill>
          <a:ln/>
        </p:spPr>
        <p:txBody>
          <a:bodyPr/>
          <a:lstStyle/>
          <a:p>
            <a:endParaRPr lang="en-US"/>
          </a:p>
        </p:txBody>
      </p:sp>
      <p:sp>
        <p:nvSpPr>
          <p:cNvPr id="17" name="Text 15"/>
          <p:cNvSpPr/>
          <p:nvPr/>
        </p:nvSpPr>
        <p:spPr>
          <a:xfrm>
            <a:off x="557784" y="2633472"/>
            <a:ext cx="2481072" cy="292608"/>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KB / Collections</a:t>
            </a:r>
            <a:endParaRPr lang="en-US" sz="1000" dirty="0"/>
          </a:p>
        </p:txBody>
      </p:sp>
      <p:sp>
        <p:nvSpPr>
          <p:cNvPr id="18" name="Shape 16"/>
          <p:cNvSpPr/>
          <p:nvPr/>
        </p:nvSpPr>
        <p:spPr>
          <a:xfrm>
            <a:off x="502920" y="2926080"/>
            <a:ext cx="2590800" cy="896112"/>
          </a:xfrm>
          <a:prstGeom prst="rect">
            <a:avLst/>
          </a:prstGeom>
          <a:solidFill>
            <a:srgbClr val="F5F5F5"/>
          </a:solidFill>
          <a:ln w="3810">
            <a:solidFill>
              <a:srgbClr val="F0F0F0"/>
            </a:solidFill>
            <a:prstDash val="solid"/>
          </a:ln>
        </p:spPr>
        <p:txBody>
          <a:bodyPr/>
          <a:lstStyle/>
          <a:p>
            <a:endParaRPr lang="en-US"/>
          </a:p>
        </p:txBody>
      </p:sp>
      <p:sp>
        <p:nvSpPr>
          <p:cNvPr id="19" name="Text 17"/>
          <p:cNvSpPr/>
          <p:nvPr/>
        </p:nvSpPr>
        <p:spPr>
          <a:xfrm>
            <a:off x="557784" y="2926080"/>
            <a:ext cx="2481072" cy="896112"/>
          </a:xfrm>
          <a:prstGeom prst="rect">
            <a:avLst/>
          </a:prstGeom>
          <a:noFill/>
          <a:ln/>
        </p:spPr>
        <p:txBody>
          <a:bodyPr wrap="square" lIns="635" tIns="0" rIns="0" bIns="0" rtlCol="0" anchor="t"/>
          <a:lstStyle/>
          <a:p>
            <a:pPr marL="0" indent="0">
              <a:buNone/>
            </a:pPr>
            <a:r>
              <a:rPr lang="en-US" sz="900" dirty="0">
                <a:solidFill>
                  <a:srgbClr val="333333"/>
                </a:solidFill>
                <a:latin typeface="Arial" pitchFamily="34" charset="0"/>
                <a:ea typeface="Arial" pitchFamily="34" charset="-122"/>
                <a:cs typeface="Arial" pitchFamily="34" charset="-120"/>
              </a:rPr>
              <a:t>List collections and documents. POST /{id}/sync, POST /{id}/ingest-paths, POST /{id}/upload. View/delete individual documents.</a:t>
            </a:r>
            <a:endParaRPr lang="en-US" sz="900" dirty="0"/>
          </a:p>
        </p:txBody>
      </p:sp>
      <p:sp>
        <p:nvSpPr>
          <p:cNvPr id="20" name="Shape 18"/>
          <p:cNvSpPr/>
          <p:nvPr/>
        </p:nvSpPr>
        <p:spPr>
          <a:xfrm>
            <a:off x="3276600" y="2633472"/>
            <a:ext cx="2590800" cy="292608"/>
          </a:xfrm>
          <a:prstGeom prst="rect">
            <a:avLst/>
          </a:prstGeom>
          <a:solidFill>
            <a:srgbClr val="0097A7"/>
          </a:solidFill>
          <a:ln/>
        </p:spPr>
        <p:txBody>
          <a:bodyPr/>
          <a:lstStyle/>
          <a:p>
            <a:endParaRPr lang="en-US"/>
          </a:p>
        </p:txBody>
      </p:sp>
      <p:sp>
        <p:nvSpPr>
          <p:cNvPr id="21" name="Text 19"/>
          <p:cNvSpPr/>
          <p:nvPr/>
        </p:nvSpPr>
        <p:spPr>
          <a:xfrm>
            <a:off x="3331464" y="2633472"/>
            <a:ext cx="2481072" cy="292608"/>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Job Monitor</a:t>
            </a:r>
            <a:endParaRPr lang="en-US" sz="1000" dirty="0"/>
          </a:p>
        </p:txBody>
      </p:sp>
      <p:sp>
        <p:nvSpPr>
          <p:cNvPr id="22" name="Shape 20"/>
          <p:cNvSpPr/>
          <p:nvPr/>
        </p:nvSpPr>
        <p:spPr>
          <a:xfrm>
            <a:off x="3276600" y="2926080"/>
            <a:ext cx="2590800" cy="896112"/>
          </a:xfrm>
          <a:prstGeom prst="rect">
            <a:avLst/>
          </a:prstGeom>
          <a:solidFill>
            <a:srgbClr val="F5F5F5"/>
          </a:solidFill>
          <a:ln w="3810">
            <a:solidFill>
              <a:srgbClr val="F0F0F0"/>
            </a:solidFill>
            <a:prstDash val="solid"/>
          </a:ln>
        </p:spPr>
        <p:txBody>
          <a:bodyPr/>
          <a:lstStyle/>
          <a:p>
            <a:endParaRPr lang="en-US"/>
          </a:p>
        </p:txBody>
      </p:sp>
      <p:sp>
        <p:nvSpPr>
          <p:cNvPr id="23" name="Text 21"/>
          <p:cNvSpPr/>
          <p:nvPr/>
        </p:nvSpPr>
        <p:spPr>
          <a:xfrm>
            <a:off x="3331464" y="2926080"/>
            <a:ext cx="2481072" cy="896112"/>
          </a:xfrm>
          <a:prstGeom prst="rect">
            <a:avLst/>
          </a:prstGeom>
          <a:noFill/>
          <a:ln/>
        </p:spPr>
        <p:txBody>
          <a:bodyPr wrap="square" lIns="635" tIns="0" rIns="0" bIns="0" rtlCol="0" anchor="t"/>
          <a:lstStyle/>
          <a:p>
            <a:pPr marL="0" indent="0">
              <a:buNone/>
            </a:pPr>
            <a:r>
              <a:rPr lang="en-US" sz="900" dirty="0">
                <a:solidFill>
                  <a:srgbClr val="333333"/>
                </a:solidFill>
                <a:latin typeface="Arial" pitchFamily="34" charset="0"/>
                <a:ea typeface="Arial" pitchFamily="34" charset="-122"/>
                <a:cs typeface="Arial" pitchFamily="34" charset="-120"/>
              </a:rPr>
              <a:t>List background jobs (GET /operations). View status, transcript, and result of each coordinator worker task.</a:t>
            </a:r>
            <a:endParaRPr lang="en-US" sz="900" dirty="0"/>
          </a:p>
        </p:txBody>
      </p:sp>
      <p:sp>
        <p:nvSpPr>
          <p:cNvPr id="24" name="Shape 22"/>
          <p:cNvSpPr/>
          <p:nvPr/>
        </p:nvSpPr>
        <p:spPr>
          <a:xfrm>
            <a:off x="6050280" y="2633472"/>
            <a:ext cx="2590800" cy="292608"/>
          </a:xfrm>
          <a:prstGeom prst="rect">
            <a:avLst/>
          </a:prstGeom>
          <a:solidFill>
            <a:srgbClr val="1B2A4A"/>
          </a:solidFill>
          <a:ln/>
        </p:spPr>
        <p:txBody>
          <a:bodyPr/>
          <a:lstStyle/>
          <a:p>
            <a:endParaRPr lang="en-US"/>
          </a:p>
        </p:txBody>
      </p:sp>
      <p:sp>
        <p:nvSpPr>
          <p:cNvPr id="25" name="Text 23"/>
          <p:cNvSpPr/>
          <p:nvPr/>
        </p:nvSpPr>
        <p:spPr>
          <a:xfrm>
            <a:off x="6105144" y="2633472"/>
            <a:ext cx="2481072" cy="292608"/>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Config / Audit</a:t>
            </a:r>
            <a:endParaRPr lang="en-US" sz="1000" dirty="0"/>
          </a:p>
        </p:txBody>
      </p:sp>
      <p:sp>
        <p:nvSpPr>
          <p:cNvPr id="26" name="Shape 24"/>
          <p:cNvSpPr/>
          <p:nvPr/>
        </p:nvSpPr>
        <p:spPr>
          <a:xfrm>
            <a:off x="6050280" y="2926080"/>
            <a:ext cx="2590800" cy="896112"/>
          </a:xfrm>
          <a:prstGeom prst="rect">
            <a:avLst/>
          </a:prstGeom>
          <a:solidFill>
            <a:srgbClr val="F5F5F5"/>
          </a:solidFill>
          <a:ln w="3810">
            <a:solidFill>
              <a:srgbClr val="F0F0F0"/>
            </a:solidFill>
            <a:prstDash val="solid"/>
          </a:ln>
        </p:spPr>
        <p:txBody>
          <a:bodyPr/>
          <a:lstStyle/>
          <a:p>
            <a:endParaRPr lang="en-US"/>
          </a:p>
        </p:txBody>
      </p:sp>
      <p:sp>
        <p:nvSpPr>
          <p:cNvPr id="27" name="Text 25"/>
          <p:cNvSpPr/>
          <p:nvPr/>
        </p:nvSpPr>
        <p:spPr>
          <a:xfrm>
            <a:off x="6105144" y="2926080"/>
            <a:ext cx="2481072" cy="896112"/>
          </a:xfrm>
          <a:prstGeom prst="rect">
            <a:avLst/>
          </a:prstGeom>
          <a:noFill/>
          <a:ln/>
        </p:spPr>
        <p:txBody>
          <a:bodyPr wrap="square" lIns="635" tIns="0" rIns="0" bIns="0" rtlCol="0" anchor="t"/>
          <a:lstStyle/>
          <a:p>
            <a:pPr marL="0" indent="0">
              <a:buNone/>
            </a:pPr>
            <a:r>
              <a:rPr lang="en-US" sz="900" dirty="0">
                <a:solidFill>
                  <a:srgbClr val="333333"/>
                </a:solidFill>
                <a:latin typeface="Arial" pitchFamily="34" charset="0"/>
                <a:ea typeface="Arial" pitchFamily="34" charset="-122"/>
                <a:cs typeface="Arial" pitchFamily="34" charset="-120"/>
              </a:rPr>
              <a:t>GET /config/effective shows live settings. POST /config/apply applies env var overrides via RuntimeManager. GET audit log (events.jsonl).</a:t>
            </a:r>
            <a:endParaRPr lang="en-US" sz="900" dirty="0"/>
          </a:p>
        </p:txBody>
      </p:sp>
      <p:sp>
        <p:nvSpPr>
          <p:cNvPr id="28" name="Text 26"/>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control_panel/src/App.tsx (109KB), control_panel/src/api.ts, control_panel/src/types.ts, control_panel/src/architectureLayout.ts, control_panel/README.md</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Demo Notebook — agentic_system_showcase.ipynb</a:t>
            </a:r>
            <a:endParaRPr lang="en-US" sz="2600" dirty="0"/>
          </a:p>
        </p:txBody>
      </p:sp>
      <p:sp>
        <p:nvSpPr>
          <p:cNvPr id="3" name="Text 1"/>
          <p:cNvSpPr/>
          <p:nvPr/>
        </p:nvSpPr>
        <p:spPr>
          <a:xfrm>
            <a:off x="502920" y="841248"/>
            <a:ext cx="8138160" cy="365760"/>
          </a:xfrm>
          <a:prstGeom prst="rect">
            <a:avLst/>
          </a:prstGeom>
          <a:noFill/>
          <a:ln/>
        </p:spPr>
        <p:txBody>
          <a:bodyPr wrap="square" lIns="0" tIns="0" rIns="0" bIns="0" rtlCol="0" anchor="ctr"/>
          <a:lstStyle/>
          <a:p>
            <a:pPr marL="0" indent="0">
              <a:buNone/>
            </a:pPr>
            <a:r>
              <a:rPr lang="en-US" sz="1050" dirty="0">
                <a:solidFill>
                  <a:srgbClr val="1B2A4A"/>
                </a:solidFill>
                <a:latin typeface="Arial" pitchFamily="34" charset="0"/>
                <a:ea typeface="Arial" pitchFamily="34" charset="-122"/>
                <a:cs typeface="Arial" pitchFamily="34" charset="-120"/>
              </a:rPr>
              <a:t>Scenario-first interactive walkthrough of the live system. API-driven only — no private imports. Starts the real FastAPI gateway, calls real endpoints, and shows real responses. Ideal for demos and integration testing.</a:t>
            </a:r>
            <a:endParaRPr lang="en-US" sz="1050" dirty="0"/>
          </a:p>
        </p:txBody>
      </p:sp>
      <p:sp>
        <p:nvSpPr>
          <p:cNvPr id="4" name="Shape 2"/>
          <p:cNvSpPr/>
          <p:nvPr/>
        </p:nvSpPr>
        <p:spPr>
          <a:xfrm>
            <a:off x="502920" y="1298448"/>
            <a:ext cx="4023360" cy="22860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298448"/>
            <a:ext cx="4023360" cy="320040"/>
          </a:xfrm>
          <a:prstGeom prst="rect">
            <a:avLst/>
          </a:prstGeom>
          <a:solidFill>
            <a:srgbClr val="0097A7"/>
          </a:solidFill>
          <a:ln/>
        </p:spPr>
        <p:txBody>
          <a:bodyPr/>
          <a:lstStyle/>
          <a:p>
            <a:endParaRPr lang="en-US"/>
          </a:p>
        </p:txBody>
      </p:sp>
      <p:sp>
        <p:nvSpPr>
          <p:cNvPr id="6" name="Text 4"/>
          <p:cNvSpPr/>
          <p:nvPr/>
        </p:nvSpPr>
        <p:spPr>
          <a:xfrm>
            <a:off x="612648" y="1325880"/>
            <a:ext cx="380390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Scenarios Demonstrated</a:t>
            </a:r>
            <a:endParaRPr lang="en-US" sz="1200" dirty="0"/>
          </a:p>
        </p:txBody>
      </p:sp>
      <p:sp>
        <p:nvSpPr>
          <p:cNvPr id="7" name="Text 5"/>
          <p:cNvSpPr/>
          <p:nvPr/>
        </p:nvSpPr>
        <p:spPr>
          <a:xfrm>
            <a:off x="612648" y="1682496"/>
            <a:ext cx="3803904" cy="181051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Router selection: BASIC vs AGENT path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RAG document Q&amp;A: upload → ingest → query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Data analyst: CSV upload → execute_code → artifact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Coordinator: multi-step planning → parallel workers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Memory: facts stored across multiple turns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Skills: activation → injected behavior change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SSE streaming: real-time progress events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RUN_ADVANCED_DEMOS flag for extended scenarios</a:t>
            </a:r>
            <a:endParaRPr lang="en-US" sz="1000" dirty="0"/>
          </a:p>
        </p:txBody>
      </p:sp>
      <p:sp>
        <p:nvSpPr>
          <p:cNvPr id="8" name="Shape 6"/>
          <p:cNvSpPr/>
          <p:nvPr/>
        </p:nvSpPr>
        <p:spPr>
          <a:xfrm>
            <a:off x="4709160" y="1298448"/>
            <a:ext cx="4434840" cy="11887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4709160" y="1298448"/>
            <a:ext cx="4434840" cy="320040"/>
          </a:xfrm>
          <a:prstGeom prst="rect">
            <a:avLst/>
          </a:prstGeom>
          <a:solidFill>
            <a:srgbClr val="1B2A4A"/>
          </a:solidFill>
          <a:ln/>
        </p:spPr>
        <p:txBody>
          <a:bodyPr/>
          <a:lstStyle/>
          <a:p>
            <a:endParaRPr lang="en-US"/>
          </a:p>
        </p:txBody>
      </p:sp>
      <p:sp>
        <p:nvSpPr>
          <p:cNvPr id="10" name="Text 8"/>
          <p:cNvSpPr/>
          <p:nvPr/>
        </p:nvSpPr>
        <p:spPr>
          <a:xfrm>
            <a:off x="4818888" y="1325880"/>
            <a:ext cx="42153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lib/ Helper Modules</a:t>
            </a:r>
            <a:endParaRPr lang="en-US" sz="1200" dirty="0"/>
          </a:p>
        </p:txBody>
      </p:sp>
      <p:sp>
        <p:nvSpPr>
          <p:cNvPr id="11" name="Text 9"/>
          <p:cNvSpPr/>
          <p:nvPr/>
        </p:nvSpPr>
        <p:spPr>
          <a:xfrm>
            <a:off x="4818888" y="1682496"/>
            <a:ext cx="4215384" cy="71323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BackendServerManager — starts FastAPI, waits for /health/live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API client wrappers — chat(), upload(), ingest(), skills()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SSE stream parser — prints events as they arrive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Job poller — waits for background workers to finish</a:t>
            </a:r>
            <a:endParaRPr lang="en-US" sz="1000" dirty="0"/>
          </a:p>
        </p:txBody>
      </p:sp>
      <p:sp>
        <p:nvSpPr>
          <p:cNvPr id="12" name="Shape 10"/>
          <p:cNvSpPr/>
          <p:nvPr/>
        </p:nvSpPr>
        <p:spPr>
          <a:xfrm>
            <a:off x="4709160" y="2578608"/>
            <a:ext cx="4434840" cy="100584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3" name="Shape 11"/>
          <p:cNvSpPr/>
          <p:nvPr/>
        </p:nvSpPr>
        <p:spPr>
          <a:xfrm>
            <a:off x="4709160" y="2578608"/>
            <a:ext cx="4434840" cy="320040"/>
          </a:xfrm>
          <a:prstGeom prst="rect">
            <a:avLst/>
          </a:prstGeom>
          <a:solidFill>
            <a:srgbClr val="00796B"/>
          </a:solidFill>
          <a:ln/>
        </p:spPr>
        <p:txBody>
          <a:bodyPr/>
          <a:lstStyle/>
          <a:p>
            <a:endParaRPr lang="en-US"/>
          </a:p>
        </p:txBody>
      </p:sp>
      <p:sp>
        <p:nvSpPr>
          <p:cNvPr id="14" name="Text 12"/>
          <p:cNvSpPr/>
          <p:nvPr/>
        </p:nvSpPr>
        <p:spPr>
          <a:xfrm>
            <a:off x="4818888" y="2606040"/>
            <a:ext cx="42153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How To Run</a:t>
            </a:r>
            <a:endParaRPr lang="en-US" sz="1200" dirty="0"/>
          </a:p>
        </p:txBody>
      </p:sp>
      <p:sp>
        <p:nvSpPr>
          <p:cNvPr id="15" name="Text 13"/>
          <p:cNvSpPr/>
          <p:nvPr/>
        </p:nvSpPr>
        <p:spPr>
          <a:xfrm>
            <a:off x="4818888" y="2962656"/>
            <a:ext cx="4215384" cy="53035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1. Start docker-compose (postgres + optional ollama)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2. Set BASE_URL or START_LOCAL_SERVER=True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3. Run all cells top-to-bottom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4. RUN_ADVANCED_DEMOS=True for full coverage</a:t>
            </a:r>
            <a:endParaRPr lang="en-US" sz="1000" dirty="0"/>
          </a:p>
        </p:txBody>
      </p:sp>
      <p:sp>
        <p:nvSpPr>
          <p:cNvPr id="16" name="Text 14"/>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new_demo_notebook/agentic_system_showcase.ipynb, new_demo_notebook/lib/server.py, new_demo_notebook/lib/ (API helpers)</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data/ Directory — Configuration &amp; Runtime State</a:t>
            </a:r>
            <a:endParaRPr lang="en-US" sz="2600" dirty="0"/>
          </a:p>
        </p:txBody>
      </p:sp>
      <p:sp>
        <p:nvSpPr>
          <p:cNvPr id="3" name="Text 1"/>
          <p:cNvSpPr/>
          <p:nvPr/>
        </p:nvSpPr>
        <p:spPr>
          <a:xfrm>
            <a:off x="502920" y="841248"/>
            <a:ext cx="8138160" cy="320040"/>
          </a:xfrm>
          <a:prstGeom prst="rect">
            <a:avLst/>
          </a:prstGeom>
          <a:noFill/>
          <a:ln/>
        </p:spPr>
        <p:txBody>
          <a:bodyPr wrap="square" lIns="0" tIns="0" rIns="0" bIns="0" rtlCol="0" anchor="ctr"/>
          <a:lstStyle/>
          <a:p>
            <a:pPr marL="0" indent="0">
              <a:buNone/>
            </a:pPr>
            <a:r>
              <a:rPr lang="en-US" sz="1050" dirty="0">
                <a:solidFill>
                  <a:srgbClr val="1B2A4A"/>
                </a:solidFill>
                <a:latin typeface="Arial" pitchFamily="34" charset="0"/>
                <a:ea typeface="Arial" pitchFamily="34" charset="-122"/>
                <a:cs typeface="Arial" pitchFamily="34" charset="-120"/>
              </a:rPr>
              <a:t>data/ holds both static configuration files (agents, skills, prompts) AND dynamic runtime state (sessions, workspaces, memory). Separating them from code enables hot-reload and operator customization.</a:t>
            </a:r>
            <a:endParaRPr lang="en-US" sz="1050" dirty="0"/>
          </a:p>
        </p:txBody>
      </p:sp>
      <p:sp>
        <p:nvSpPr>
          <p:cNvPr id="4" name="Shape 2"/>
          <p:cNvSpPr/>
          <p:nvPr/>
        </p:nvSpPr>
        <p:spPr>
          <a:xfrm>
            <a:off x="502920" y="1261872"/>
            <a:ext cx="2286000" cy="347472"/>
          </a:xfrm>
          <a:prstGeom prst="rect">
            <a:avLst/>
          </a:prstGeom>
          <a:solidFill>
            <a:srgbClr val="0097A7"/>
          </a:solidFill>
          <a:ln/>
        </p:spPr>
        <p:txBody>
          <a:bodyPr/>
          <a:lstStyle/>
          <a:p>
            <a:endParaRPr lang="en-US"/>
          </a:p>
        </p:txBody>
      </p:sp>
      <p:sp>
        <p:nvSpPr>
          <p:cNvPr id="5" name="Text 3"/>
          <p:cNvSpPr/>
          <p:nvPr/>
        </p:nvSpPr>
        <p:spPr>
          <a:xfrm>
            <a:off x="576072" y="1261872"/>
            <a:ext cx="2148840" cy="347472"/>
          </a:xfrm>
          <a:prstGeom prst="rect">
            <a:avLst/>
          </a:prstGeom>
          <a:noFill/>
          <a:ln/>
        </p:spPr>
        <p:txBody>
          <a:bodyPr wrap="square" lIns="0" tIns="0" rIns="0" bIns="0" rtlCol="0" anchor="ctr"/>
          <a:lstStyle/>
          <a:p>
            <a:pPr marL="0" indent="0">
              <a:buNone/>
            </a:pPr>
            <a:r>
              <a:rPr lang="en-US" sz="900" b="1" dirty="0">
                <a:solidFill>
                  <a:srgbClr val="FFFFFF"/>
                </a:solidFill>
                <a:latin typeface="Courier New" pitchFamily="34" charset="0"/>
                <a:ea typeface="Courier New" pitchFamily="34" charset="-122"/>
                <a:cs typeface="Courier New" pitchFamily="34" charset="-120"/>
              </a:rPr>
              <a:t>data/agents/</a:t>
            </a:r>
            <a:endParaRPr lang="en-US" sz="900" dirty="0"/>
          </a:p>
        </p:txBody>
      </p:sp>
      <p:sp>
        <p:nvSpPr>
          <p:cNvPr id="6" name="Shape 4"/>
          <p:cNvSpPr/>
          <p:nvPr/>
        </p:nvSpPr>
        <p:spPr>
          <a:xfrm>
            <a:off x="2788920" y="1261872"/>
            <a:ext cx="5852160" cy="347472"/>
          </a:xfrm>
          <a:prstGeom prst="rect">
            <a:avLst/>
          </a:prstGeom>
          <a:solidFill>
            <a:srgbClr val="F5F5F5"/>
          </a:solidFill>
          <a:ln w="3810">
            <a:solidFill>
              <a:srgbClr val="F0F0F0"/>
            </a:solidFill>
            <a:prstDash val="solid"/>
          </a:ln>
        </p:spPr>
        <p:txBody>
          <a:bodyPr/>
          <a:lstStyle/>
          <a:p>
            <a:endParaRPr lang="en-US"/>
          </a:p>
        </p:txBody>
      </p:sp>
      <p:sp>
        <p:nvSpPr>
          <p:cNvPr id="7" name="Text 5"/>
          <p:cNvSpPr/>
          <p:nvPr/>
        </p:nvSpPr>
        <p:spPr>
          <a:xfrm>
            <a:off x="2880360" y="1261872"/>
            <a:ext cx="5623560" cy="34747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11 agent definition .md files. YAML frontmatter + role description. Includes new graph_manager agent. Edit here to change agent mode, tools, max_steps.</a:t>
            </a:r>
            <a:endParaRPr lang="en-US" sz="900" dirty="0"/>
          </a:p>
        </p:txBody>
      </p:sp>
      <p:sp>
        <p:nvSpPr>
          <p:cNvPr id="8" name="Shape 6"/>
          <p:cNvSpPr/>
          <p:nvPr/>
        </p:nvSpPr>
        <p:spPr>
          <a:xfrm>
            <a:off x="502920" y="1627632"/>
            <a:ext cx="2286000" cy="347472"/>
          </a:xfrm>
          <a:prstGeom prst="rect">
            <a:avLst/>
          </a:prstGeom>
          <a:solidFill>
            <a:srgbClr val="1B2A4A"/>
          </a:solidFill>
          <a:ln/>
        </p:spPr>
        <p:txBody>
          <a:bodyPr/>
          <a:lstStyle/>
          <a:p>
            <a:endParaRPr lang="en-US"/>
          </a:p>
        </p:txBody>
      </p:sp>
      <p:sp>
        <p:nvSpPr>
          <p:cNvPr id="9" name="Text 7"/>
          <p:cNvSpPr/>
          <p:nvPr/>
        </p:nvSpPr>
        <p:spPr>
          <a:xfrm>
            <a:off x="576072" y="1627632"/>
            <a:ext cx="2148840" cy="347472"/>
          </a:xfrm>
          <a:prstGeom prst="rect">
            <a:avLst/>
          </a:prstGeom>
          <a:noFill/>
          <a:ln/>
        </p:spPr>
        <p:txBody>
          <a:bodyPr wrap="square" lIns="0" tIns="0" rIns="0" bIns="0" rtlCol="0" anchor="ctr"/>
          <a:lstStyle/>
          <a:p>
            <a:pPr marL="0" indent="0">
              <a:buNone/>
            </a:pPr>
            <a:r>
              <a:rPr lang="en-US" sz="900" b="1" dirty="0">
                <a:solidFill>
                  <a:srgbClr val="FFFFFF"/>
                </a:solidFill>
                <a:latin typeface="Courier New" pitchFamily="34" charset="0"/>
                <a:ea typeface="Courier New" pitchFamily="34" charset="-122"/>
                <a:cs typeface="Courier New" pitchFamily="34" charset="-120"/>
              </a:rPr>
              <a:t>data/skills/</a:t>
            </a:r>
            <a:endParaRPr lang="en-US" sz="900" dirty="0"/>
          </a:p>
        </p:txBody>
      </p:sp>
      <p:sp>
        <p:nvSpPr>
          <p:cNvPr id="10" name="Shape 8"/>
          <p:cNvSpPr/>
          <p:nvPr/>
        </p:nvSpPr>
        <p:spPr>
          <a:xfrm>
            <a:off x="2788920" y="1627632"/>
            <a:ext cx="5852160" cy="347472"/>
          </a:xfrm>
          <a:prstGeom prst="rect">
            <a:avLst/>
          </a:prstGeom>
          <a:solidFill>
            <a:srgbClr val="FFFFFF"/>
          </a:solidFill>
          <a:ln w="3810">
            <a:solidFill>
              <a:srgbClr val="F0F0F0"/>
            </a:solidFill>
            <a:prstDash val="solid"/>
          </a:ln>
        </p:spPr>
        <p:txBody>
          <a:bodyPr/>
          <a:lstStyle/>
          <a:p>
            <a:endParaRPr lang="en-US"/>
          </a:p>
        </p:txBody>
      </p:sp>
      <p:sp>
        <p:nvSpPr>
          <p:cNvPr id="11" name="Text 9"/>
          <p:cNvSpPr/>
          <p:nvPr/>
        </p:nvSpPr>
        <p:spPr>
          <a:xfrm>
            <a:off x="2880360" y="1627632"/>
            <a:ext cx="5623560" cy="34747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11 base agent prompt files (.md). These are the system prompts loaded by PromptBuilder. Customize via control_panel/overlays/prompts/ overlay.</a:t>
            </a:r>
            <a:endParaRPr lang="en-US" sz="900" dirty="0"/>
          </a:p>
        </p:txBody>
      </p:sp>
      <p:sp>
        <p:nvSpPr>
          <p:cNvPr id="12" name="Shape 10"/>
          <p:cNvSpPr/>
          <p:nvPr/>
        </p:nvSpPr>
        <p:spPr>
          <a:xfrm>
            <a:off x="502920" y="1993392"/>
            <a:ext cx="2286000" cy="347472"/>
          </a:xfrm>
          <a:prstGeom prst="rect">
            <a:avLst/>
          </a:prstGeom>
          <a:solidFill>
            <a:srgbClr val="00796B"/>
          </a:solidFill>
          <a:ln/>
        </p:spPr>
        <p:txBody>
          <a:bodyPr/>
          <a:lstStyle/>
          <a:p>
            <a:endParaRPr lang="en-US"/>
          </a:p>
        </p:txBody>
      </p:sp>
      <p:sp>
        <p:nvSpPr>
          <p:cNvPr id="13" name="Text 11"/>
          <p:cNvSpPr/>
          <p:nvPr/>
        </p:nvSpPr>
        <p:spPr>
          <a:xfrm>
            <a:off x="576072" y="1993392"/>
            <a:ext cx="2148840" cy="347472"/>
          </a:xfrm>
          <a:prstGeom prst="rect">
            <a:avLst/>
          </a:prstGeom>
          <a:noFill/>
          <a:ln/>
        </p:spPr>
        <p:txBody>
          <a:bodyPr wrap="square" lIns="0" tIns="0" rIns="0" bIns="0" rtlCol="0" anchor="ctr"/>
          <a:lstStyle/>
          <a:p>
            <a:pPr marL="0" indent="0">
              <a:buNone/>
            </a:pPr>
            <a:r>
              <a:rPr lang="en-US" sz="900" b="1" dirty="0">
                <a:solidFill>
                  <a:srgbClr val="FFFFFF"/>
                </a:solidFill>
                <a:latin typeface="Courier New" pitchFamily="34" charset="0"/>
                <a:ea typeface="Courier New" pitchFamily="34" charset="-122"/>
                <a:cs typeface="Courier New" pitchFamily="34" charset="-120"/>
              </a:rPr>
              <a:t>data/skill_packs/</a:t>
            </a:r>
            <a:endParaRPr lang="en-US" sz="900" dirty="0"/>
          </a:p>
        </p:txBody>
      </p:sp>
      <p:sp>
        <p:nvSpPr>
          <p:cNvPr id="14" name="Shape 12"/>
          <p:cNvSpPr/>
          <p:nvPr/>
        </p:nvSpPr>
        <p:spPr>
          <a:xfrm>
            <a:off x="2788920" y="1993392"/>
            <a:ext cx="5852160" cy="347472"/>
          </a:xfrm>
          <a:prstGeom prst="rect">
            <a:avLst/>
          </a:prstGeom>
          <a:solidFill>
            <a:srgbClr val="F5F5F5"/>
          </a:solidFill>
          <a:ln w="3810">
            <a:solidFill>
              <a:srgbClr val="F0F0F0"/>
            </a:solidFill>
            <a:prstDash val="solid"/>
          </a:ln>
        </p:spPr>
        <p:txBody>
          <a:bodyPr/>
          <a:lstStyle/>
          <a:p>
            <a:endParaRPr lang="en-US"/>
          </a:p>
        </p:txBody>
      </p:sp>
      <p:sp>
        <p:nvSpPr>
          <p:cNvPr id="15" name="Text 13"/>
          <p:cNvSpPr/>
          <p:nvPr/>
        </p:nvSpPr>
        <p:spPr>
          <a:xfrm>
            <a:off x="2880360" y="1993392"/>
            <a:ext cx="5623560" cy="34747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Skill documents organised in 7 subdirs (data_analyst/, rag/, general/, planner/, finalizer/, verifier/, utility/). Indexed in SkillStore for semantic retrieval.</a:t>
            </a:r>
            <a:endParaRPr lang="en-US" sz="900" dirty="0"/>
          </a:p>
        </p:txBody>
      </p:sp>
      <p:sp>
        <p:nvSpPr>
          <p:cNvPr id="16" name="Shape 14"/>
          <p:cNvSpPr/>
          <p:nvPr/>
        </p:nvSpPr>
        <p:spPr>
          <a:xfrm>
            <a:off x="502920" y="2359152"/>
            <a:ext cx="2286000" cy="347472"/>
          </a:xfrm>
          <a:prstGeom prst="rect">
            <a:avLst/>
          </a:prstGeom>
          <a:solidFill>
            <a:srgbClr val="F9A825"/>
          </a:solidFill>
          <a:ln/>
        </p:spPr>
        <p:txBody>
          <a:bodyPr/>
          <a:lstStyle/>
          <a:p>
            <a:endParaRPr lang="en-US"/>
          </a:p>
        </p:txBody>
      </p:sp>
      <p:sp>
        <p:nvSpPr>
          <p:cNvPr id="17" name="Text 15"/>
          <p:cNvSpPr/>
          <p:nvPr/>
        </p:nvSpPr>
        <p:spPr>
          <a:xfrm>
            <a:off x="576072" y="2359152"/>
            <a:ext cx="2148840" cy="347472"/>
          </a:xfrm>
          <a:prstGeom prst="rect">
            <a:avLst/>
          </a:prstGeom>
          <a:noFill/>
          <a:ln/>
        </p:spPr>
        <p:txBody>
          <a:bodyPr wrap="square" lIns="0" tIns="0" rIns="0" bIns="0" rtlCol="0" anchor="ctr"/>
          <a:lstStyle/>
          <a:p>
            <a:pPr marL="0" indent="0">
              <a:buNone/>
            </a:pPr>
            <a:r>
              <a:rPr lang="en-US" sz="900" b="1" dirty="0">
                <a:solidFill>
                  <a:srgbClr val="FFFFFF"/>
                </a:solidFill>
                <a:latin typeface="Courier New" pitchFamily="34" charset="0"/>
                <a:ea typeface="Courier New" pitchFamily="34" charset="-122"/>
                <a:cs typeface="Courier New" pitchFamily="34" charset="-120"/>
              </a:rPr>
              <a:t>data/prompts/</a:t>
            </a:r>
            <a:endParaRPr lang="en-US" sz="900" dirty="0"/>
          </a:p>
        </p:txBody>
      </p:sp>
      <p:sp>
        <p:nvSpPr>
          <p:cNvPr id="18" name="Shape 16"/>
          <p:cNvSpPr/>
          <p:nvPr/>
        </p:nvSpPr>
        <p:spPr>
          <a:xfrm>
            <a:off x="2788920" y="2359152"/>
            <a:ext cx="5852160" cy="347472"/>
          </a:xfrm>
          <a:prstGeom prst="rect">
            <a:avLst/>
          </a:prstGeom>
          <a:solidFill>
            <a:srgbClr val="FFFFFF"/>
          </a:solidFill>
          <a:ln w="3810">
            <a:solidFill>
              <a:srgbClr val="F0F0F0"/>
            </a:solidFill>
            <a:prstDash val="solid"/>
          </a:ln>
        </p:spPr>
        <p:txBody>
          <a:bodyPr/>
          <a:lstStyle/>
          <a:p>
            <a:endParaRPr lang="en-US"/>
          </a:p>
        </p:txBody>
      </p:sp>
      <p:sp>
        <p:nvSpPr>
          <p:cNvPr id="19" name="Text 17"/>
          <p:cNvSpPr/>
          <p:nvPr/>
        </p:nvSpPr>
        <p:spPr>
          <a:xfrm>
            <a:off x="2880360" y="2359152"/>
            <a:ext cx="5623560" cy="34747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Judge prompts (judge_grading.txt, judge_rewrite.txt), grounded_answer template, rag_synthesis template, planner/router/verifier templates.</a:t>
            </a:r>
            <a:endParaRPr lang="en-US" sz="900" dirty="0"/>
          </a:p>
        </p:txBody>
      </p:sp>
      <p:sp>
        <p:nvSpPr>
          <p:cNvPr id="20" name="Shape 18"/>
          <p:cNvSpPr/>
          <p:nvPr/>
        </p:nvSpPr>
        <p:spPr>
          <a:xfrm>
            <a:off x="502920" y="2724912"/>
            <a:ext cx="2286000" cy="347472"/>
          </a:xfrm>
          <a:prstGeom prst="rect">
            <a:avLst/>
          </a:prstGeom>
          <a:solidFill>
            <a:srgbClr val="0097A7"/>
          </a:solidFill>
          <a:ln/>
        </p:spPr>
        <p:txBody>
          <a:bodyPr/>
          <a:lstStyle/>
          <a:p>
            <a:endParaRPr lang="en-US"/>
          </a:p>
        </p:txBody>
      </p:sp>
      <p:sp>
        <p:nvSpPr>
          <p:cNvPr id="21" name="Text 19"/>
          <p:cNvSpPr/>
          <p:nvPr/>
        </p:nvSpPr>
        <p:spPr>
          <a:xfrm>
            <a:off x="576072" y="2724912"/>
            <a:ext cx="2148840" cy="347472"/>
          </a:xfrm>
          <a:prstGeom prst="rect">
            <a:avLst/>
          </a:prstGeom>
          <a:noFill/>
          <a:ln/>
        </p:spPr>
        <p:txBody>
          <a:bodyPr wrap="square" lIns="0" tIns="0" rIns="0" bIns="0" rtlCol="0" anchor="ctr"/>
          <a:lstStyle/>
          <a:p>
            <a:pPr marL="0" indent="0">
              <a:buNone/>
            </a:pPr>
            <a:r>
              <a:rPr lang="en-US" sz="900" b="1" dirty="0">
                <a:solidFill>
                  <a:srgbClr val="FFFFFF"/>
                </a:solidFill>
                <a:latin typeface="Courier New" pitchFamily="34" charset="0"/>
                <a:ea typeface="Courier New" pitchFamily="34" charset="-122"/>
                <a:cs typeface="Courier New" pitchFamily="34" charset="-120"/>
              </a:rPr>
              <a:t>data/kb/</a:t>
            </a:r>
            <a:endParaRPr lang="en-US" sz="900" dirty="0"/>
          </a:p>
        </p:txBody>
      </p:sp>
      <p:sp>
        <p:nvSpPr>
          <p:cNvPr id="22" name="Shape 20"/>
          <p:cNvSpPr/>
          <p:nvPr/>
        </p:nvSpPr>
        <p:spPr>
          <a:xfrm>
            <a:off x="2788920" y="2724912"/>
            <a:ext cx="5852160" cy="347472"/>
          </a:xfrm>
          <a:prstGeom prst="rect">
            <a:avLst/>
          </a:prstGeom>
          <a:solidFill>
            <a:srgbClr val="F5F5F5"/>
          </a:solidFill>
          <a:ln w="3810">
            <a:solidFill>
              <a:srgbClr val="F0F0F0"/>
            </a:solidFill>
            <a:prstDash val="solid"/>
          </a:ln>
        </p:spPr>
        <p:txBody>
          <a:bodyPr/>
          <a:lstStyle/>
          <a:p>
            <a:endParaRPr lang="en-US"/>
          </a:p>
        </p:txBody>
      </p:sp>
      <p:sp>
        <p:nvSpPr>
          <p:cNvPr id="23" name="Text 21"/>
          <p:cNvSpPr/>
          <p:nvPr/>
        </p:nvSpPr>
        <p:spPr>
          <a:xfrm>
            <a:off x="2880360" y="2724912"/>
            <a:ext cx="5623560" cy="34747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20 knowledge base collection directories. Each maps to a pgvector collection. Documents are indexed here by the /ingest and /sync endpoints.</a:t>
            </a:r>
            <a:endParaRPr lang="en-US" sz="900" dirty="0"/>
          </a:p>
        </p:txBody>
      </p:sp>
      <p:sp>
        <p:nvSpPr>
          <p:cNvPr id="24" name="Shape 22"/>
          <p:cNvSpPr/>
          <p:nvPr/>
        </p:nvSpPr>
        <p:spPr>
          <a:xfrm>
            <a:off x="502920" y="3090672"/>
            <a:ext cx="2286000" cy="347472"/>
          </a:xfrm>
          <a:prstGeom prst="rect">
            <a:avLst/>
          </a:prstGeom>
          <a:solidFill>
            <a:srgbClr val="1B2A4A"/>
          </a:solidFill>
          <a:ln/>
        </p:spPr>
        <p:txBody>
          <a:bodyPr/>
          <a:lstStyle/>
          <a:p>
            <a:endParaRPr lang="en-US"/>
          </a:p>
        </p:txBody>
      </p:sp>
      <p:sp>
        <p:nvSpPr>
          <p:cNvPr id="25" name="Text 23"/>
          <p:cNvSpPr/>
          <p:nvPr/>
        </p:nvSpPr>
        <p:spPr>
          <a:xfrm>
            <a:off x="576072" y="3090672"/>
            <a:ext cx="2148840" cy="347472"/>
          </a:xfrm>
          <a:prstGeom prst="rect">
            <a:avLst/>
          </a:prstGeom>
          <a:noFill/>
          <a:ln/>
        </p:spPr>
        <p:txBody>
          <a:bodyPr wrap="square" lIns="0" tIns="0" rIns="0" bIns="0" rtlCol="0" anchor="ctr"/>
          <a:lstStyle/>
          <a:p>
            <a:pPr marL="0" indent="0">
              <a:buNone/>
            </a:pPr>
            <a:r>
              <a:rPr lang="en-US" sz="900" b="1" dirty="0">
                <a:solidFill>
                  <a:srgbClr val="FFFFFF"/>
                </a:solidFill>
                <a:latin typeface="Courier New" pitchFamily="34" charset="0"/>
                <a:ea typeface="Courier New" pitchFamily="34" charset="-122"/>
                <a:cs typeface="Courier New" pitchFamily="34" charset="-120"/>
              </a:rPr>
              <a:t>data/runtime/</a:t>
            </a:r>
            <a:endParaRPr lang="en-US" sz="900" dirty="0"/>
          </a:p>
        </p:txBody>
      </p:sp>
      <p:sp>
        <p:nvSpPr>
          <p:cNvPr id="26" name="Shape 24"/>
          <p:cNvSpPr/>
          <p:nvPr/>
        </p:nvSpPr>
        <p:spPr>
          <a:xfrm>
            <a:off x="2788920" y="3090672"/>
            <a:ext cx="5852160" cy="347472"/>
          </a:xfrm>
          <a:prstGeom prst="rect">
            <a:avLst/>
          </a:prstGeom>
          <a:solidFill>
            <a:srgbClr val="FFFFFF"/>
          </a:solidFill>
          <a:ln w="3810">
            <a:solidFill>
              <a:srgbClr val="F0F0F0"/>
            </a:solidFill>
            <a:prstDash val="solid"/>
          </a:ln>
        </p:spPr>
        <p:txBody>
          <a:bodyPr/>
          <a:lstStyle/>
          <a:p>
            <a:endParaRPr lang="en-US"/>
          </a:p>
        </p:txBody>
      </p:sp>
      <p:sp>
        <p:nvSpPr>
          <p:cNvPr id="27" name="Text 25"/>
          <p:cNvSpPr/>
          <p:nvPr/>
        </p:nvSpPr>
        <p:spPr>
          <a:xfrm>
            <a:off x="2880360" y="3090672"/>
            <a:ext cx="5623560" cy="34747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sessions/ (session transcripts by filesystem key), jobs/ (background job records and results). Auto-created at runtime.</a:t>
            </a:r>
            <a:endParaRPr lang="en-US" sz="900" dirty="0"/>
          </a:p>
        </p:txBody>
      </p:sp>
      <p:sp>
        <p:nvSpPr>
          <p:cNvPr id="28" name="Shape 26"/>
          <p:cNvSpPr/>
          <p:nvPr/>
        </p:nvSpPr>
        <p:spPr>
          <a:xfrm>
            <a:off x="502920" y="3456432"/>
            <a:ext cx="2286000" cy="347472"/>
          </a:xfrm>
          <a:prstGeom prst="rect">
            <a:avLst/>
          </a:prstGeom>
          <a:solidFill>
            <a:srgbClr val="00796B"/>
          </a:solidFill>
          <a:ln/>
        </p:spPr>
        <p:txBody>
          <a:bodyPr/>
          <a:lstStyle/>
          <a:p>
            <a:endParaRPr lang="en-US"/>
          </a:p>
        </p:txBody>
      </p:sp>
      <p:sp>
        <p:nvSpPr>
          <p:cNvPr id="29" name="Text 27"/>
          <p:cNvSpPr/>
          <p:nvPr/>
        </p:nvSpPr>
        <p:spPr>
          <a:xfrm>
            <a:off x="576072" y="3456432"/>
            <a:ext cx="2148840" cy="347472"/>
          </a:xfrm>
          <a:prstGeom prst="rect">
            <a:avLst/>
          </a:prstGeom>
          <a:noFill/>
          <a:ln/>
        </p:spPr>
        <p:txBody>
          <a:bodyPr wrap="square" lIns="0" tIns="0" rIns="0" bIns="0" rtlCol="0" anchor="ctr"/>
          <a:lstStyle/>
          <a:p>
            <a:pPr marL="0" indent="0">
              <a:buNone/>
            </a:pPr>
            <a:r>
              <a:rPr lang="en-US" sz="900" b="1" dirty="0">
                <a:solidFill>
                  <a:srgbClr val="FFFFFF"/>
                </a:solidFill>
                <a:latin typeface="Courier New" pitchFamily="34" charset="0"/>
                <a:ea typeface="Courier New" pitchFamily="34" charset="-122"/>
                <a:cs typeface="Courier New" pitchFamily="34" charset="-120"/>
              </a:rPr>
              <a:t>data/memory/</a:t>
            </a:r>
            <a:endParaRPr lang="en-US" sz="900" dirty="0"/>
          </a:p>
        </p:txBody>
      </p:sp>
      <p:sp>
        <p:nvSpPr>
          <p:cNvPr id="30" name="Shape 28"/>
          <p:cNvSpPr/>
          <p:nvPr/>
        </p:nvSpPr>
        <p:spPr>
          <a:xfrm>
            <a:off x="2788920" y="3456432"/>
            <a:ext cx="5852160" cy="347472"/>
          </a:xfrm>
          <a:prstGeom prst="rect">
            <a:avLst/>
          </a:prstGeom>
          <a:solidFill>
            <a:srgbClr val="F5F5F5"/>
          </a:solidFill>
          <a:ln w="3810">
            <a:solidFill>
              <a:srgbClr val="F0F0F0"/>
            </a:solidFill>
            <a:prstDash val="solid"/>
          </a:ln>
        </p:spPr>
        <p:txBody>
          <a:bodyPr/>
          <a:lstStyle/>
          <a:p>
            <a:endParaRPr lang="en-US"/>
          </a:p>
        </p:txBody>
      </p:sp>
      <p:sp>
        <p:nvSpPr>
          <p:cNvPr id="31" name="Text 29"/>
          <p:cNvSpPr/>
          <p:nvPr/>
        </p:nvSpPr>
        <p:spPr>
          <a:xfrm>
            <a:off x="2880360" y="3456432"/>
            <a:ext cx="5623560" cy="34747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tenants/{id}/users/{id}/ — per-user memory files. Written by memory_maintainer agent, read by MemoryContextBuilder.</a:t>
            </a:r>
            <a:endParaRPr lang="en-US" sz="900" dirty="0"/>
          </a:p>
        </p:txBody>
      </p:sp>
      <p:sp>
        <p:nvSpPr>
          <p:cNvPr id="32" name="Shape 30"/>
          <p:cNvSpPr/>
          <p:nvPr/>
        </p:nvSpPr>
        <p:spPr>
          <a:xfrm>
            <a:off x="502920" y="3822192"/>
            <a:ext cx="2286000" cy="347472"/>
          </a:xfrm>
          <a:prstGeom prst="rect">
            <a:avLst/>
          </a:prstGeom>
          <a:solidFill>
            <a:srgbClr val="999999"/>
          </a:solidFill>
          <a:ln/>
        </p:spPr>
        <p:txBody>
          <a:bodyPr/>
          <a:lstStyle/>
          <a:p>
            <a:endParaRPr lang="en-US"/>
          </a:p>
        </p:txBody>
      </p:sp>
      <p:sp>
        <p:nvSpPr>
          <p:cNvPr id="33" name="Text 31"/>
          <p:cNvSpPr/>
          <p:nvPr/>
        </p:nvSpPr>
        <p:spPr>
          <a:xfrm>
            <a:off x="576072" y="3822192"/>
            <a:ext cx="2148840" cy="347472"/>
          </a:xfrm>
          <a:prstGeom prst="rect">
            <a:avLst/>
          </a:prstGeom>
          <a:noFill/>
          <a:ln/>
        </p:spPr>
        <p:txBody>
          <a:bodyPr wrap="square" lIns="0" tIns="0" rIns="0" bIns="0" rtlCol="0" anchor="ctr"/>
          <a:lstStyle/>
          <a:p>
            <a:pPr marL="0" indent="0">
              <a:buNone/>
            </a:pPr>
            <a:r>
              <a:rPr lang="en-US" sz="900" b="1" dirty="0">
                <a:solidFill>
                  <a:srgbClr val="FFFFFF"/>
                </a:solidFill>
                <a:latin typeface="Courier New" pitchFamily="34" charset="0"/>
                <a:ea typeface="Courier New" pitchFamily="34" charset="-122"/>
                <a:cs typeface="Courier New" pitchFamily="34" charset="-120"/>
              </a:rPr>
              <a:t>data/control_panel/</a:t>
            </a:r>
            <a:endParaRPr lang="en-US" sz="900" dirty="0"/>
          </a:p>
        </p:txBody>
      </p:sp>
      <p:sp>
        <p:nvSpPr>
          <p:cNvPr id="34" name="Shape 32"/>
          <p:cNvSpPr/>
          <p:nvPr/>
        </p:nvSpPr>
        <p:spPr>
          <a:xfrm>
            <a:off x="2788920" y="3822192"/>
            <a:ext cx="5852160" cy="347472"/>
          </a:xfrm>
          <a:prstGeom prst="rect">
            <a:avLst/>
          </a:prstGeom>
          <a:solidFill>
            <a:srgbClr val="FFFFFF"/>
          </a:solidFill>
          <a:ln w="3810">
            <a:solidFill>
              <a:srgbClr val="F0F0F0"/>
            </a:solidFill>
            <a:prstDash val="solid"/>
          </a:ln>
        </p:spPr>
        <p:txBody>
          <a:bodyPr/>
          <a:lstStyle/>
          <a:p>
            <a:endParaRPr lang="en-US"/>
          </a:p>
        </p:txBody>
      </p:sp>
      <p:sp>
        <p:nvSpPr>
          <p:cNvPr id="35" name="Text 33"/>
          <p:cNvSpPr/>
          <p:nvPr/>
        </p:nvSpPr>
        <p:spPr>
          <a:xfrm>
            <a:off x="2880360" y="3822192"/>
            <a:ext cx="5623560" cy="34747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overlays/ (agent + prompt overrides), audit/events.jsonl (admin action log). Written by Control Panel API.</a:t>
            </a:r>
            <a:endParaRPr lang="en-US" sz="900" dirty="0"/>
          </a:p>
        </p:txBody>
      </p:sp>
      <p:sp>
        <p:nvSpPr>
          <p:cNvPr id="36" name="Text 34"/>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data/agents/*.md, data/skills/*.md, data/skill_packs/**/*.md, data/prompts/*.txt, data/kb/, data/runtime/, data/memory/</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Docker &amp; Deployment — docker-compose.yml + Dockerfile</a:t>
            </a:r>
            <a:endParaRPr lang="en-US" sz="2600" dirty="0"/>
          </a:p>
        </p:txBody>
      </p:sp>
      <p:sp>
        <p:nvSpPr>
          <p:cNvPr id="3" name="Text 1"/>
          <p:cNvSpPr/>
          <p:nvPr/>
        </p:nvSpPr>
        <p:spPr>
          <a:xfrm>
            <a:off x="502920" y="841248"/>
            <a:ext cx="8138160" cy="320040"/>
          </a:xfrm>
          <a:prstGeom prst="rect">
            <a:avLst/>
          </a:prstGeom>
          <a:noFill/>
          <a:ln/>
        </p:spPr>
        <p:txBody>
          <a:bodyPr wrap="square" lIns="0" tIns="0" rIns="0" bIns="0" rtlCol="0" anchor="ctr"/>
          <a:lstStyle/>
          <a:p>
            <a:pPr marL="0" indent="0">
              <a:buNone/>
            </a:pPr>
            <a:r>
              <a:rPr lang="en-US" sz="1050" dirty="0">
                <a:solidFill>
                  <a:srgbClr val="1B2A4A"/>
                </a:solidFill>
                <a:latin typeface="Arial" pitchFamily="34" charset="0"/>
                <a:ea typeface="Arial" pitchFamily="34" charset="-122"/>
                <a:cs typeface="Arial" pitchFamily="34" charset="-120"/>
              </a:rPr>
              <a:t>The system is designed for containerized deployment. A multi-stage Dockerfile builds both the React control panel and the Python backend. docker-compose.yml defines 6 services for a complete local stack.</a:t>
            </a:r>
            <a:endParaRPr lang="en-US" sz="1050" dirty="0"/>
          </a:p>
        </p:txBody>
      </p:sp>
      <p:sp>
        <p:nvSpPr>
          <p:cNvPr id="4" name="Shape 2"/>
          <p:cNvSpPr/>
          <p:nvPr/>
        </p:nvSpPr>
        <p:spPr>
          <a:xfrm>
            <a:off x="502920" y="1261872"/>
            <a:ext cx="4114800" cy="16459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261872"/>
            <a:ext cx="4114800" cy="320040"/>
          </a:xfrm>
          <a:prstGeom prst="rect">
            <a:avLst/>
          </a:prstGeom>
          <a:solidFill>
            <a:srgbClr val="0097A7"/>
          </a:solidFill>
          <a:ln/>
        </p:spPr>
        <p:txBody>
          <a:bodyPr/>
          <a:lstStyle/>
          <a:p>
            <a:endParaRPr lang="en-US"/>
          </a:p>
        </p:txBody>
      </p:sp>
      <p:sp>
        <p:nvSpPr>
          <p:cNvPr id="6" name="Text 4"/>
          <p:cNvSpPr/>
          <p:nvPr/>
        </p:nvSpPr>
        <p:spPr>
          <a:xfrm>
            <a:off x="612648" y="1289304"/>
            <a:ext cx="3895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Dockerfile — Multi-Stage Build</a:t>
            </a:r>
            <a:endParaRPr lang="en-US" sz="1200" dirty="0"/>
          </a:p>
        </p:txBody>
      </p:sp>
      <p:sp>
        <p:nvSpPr>
          <p:cNvPr id="7" name="Text 5"/>
          <p:cNvSpPr/>
          <p:nvPr/>
        </p:nvSpPr>
        <p:spPr>
          <a:xfrm>
            <a:off x="612648" y="1645920"/>
            <a:ext cx="3895344" cy="117043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Stage 1 (node:20): npm install + npm run build in control_panel/
Outputs static files to /app/control_panel/dist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Stage 2 (python:3.12): pip install -r requirements.txt.</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Copies control_panel/dist from Stage 1.</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Entrypoint: docker/entrypoint.sh</a:t>
            </a:r>
            <a:endParaRPr lang="en-US" sz="1000" dirty="0"/>
          </a:p>
        </p:txBody>
      </p:sp>
      <p:sp>
        <p:nvSpPr>
          <p:cNvPr id="8" name="Shape 6"/>
          <p:cNvSpPr/>
          <p:nvPr/>
        </p:nvSpPr>
        <p:spPr>
          <a:xfrm>
            <a:off x="502920" y="2999232"/>
            <a:ext cx="4114800" cy="9144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502920" y="2999232"/>
            <a:ext cx="4114800" cy="320040"/>
          </a:xfrm>
          <a:prstGeom prst="rect">
            <a:avLst/>
          </a:prstGeom>
          <a:solidFill>
            <a:srgbClr val="00796B"/>
          </a:solidFill>
          <a:ln/>
        </p:spPr>
        <p:txBody>
          <a:bodyPr/>
          <a:lstStyle/>
          <a:p>
            <a:endParaRPr lang="en-US"/>
          </a:p>
        </p:txBody>
      </p:sp>
      <p:sp>
        <p:nvSpPr>
          <p:cNvPr id="10" name="Text 8"/>
          <p:cNvSpPr/>
          <p:nvPr/>
        </p:nvSpPr>
        <p:spPr>
          <a:xfrm>
            <a:off x="612648" y="3026664"/>
            <a:ext cx="3895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docker/sandbox.Dockerfile</a:t>
            </a:r>
            <a:endParaRPr lang="en-US" sz="1200" dirty="0"/>
          </a:p>
        </p:txBody>
      </p:sp>
      <p:sp>
        <p:nvSpPr>
          <p:cNvPr id="11" name="Text 9"/>
          <p:cNvSpPr/>
          <p:nvPr/>
        </p:nvSpPr>
        <p:spPr>
          <a:xfrm>
            <a:off x="612648" y="3383280"/>
            <a:ext cx="3895344" cy="43891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Isolated Python 3.12-slim for data analyst execute_code().</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No network, 512MB RAM, 60s timeout.</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Managed by DockerSandboxExecutor at runtime.</a:t>
            </a:r>
            <a:endParaRPr lang="en-US" sz="1000" dirty="0"/>
          </a:p>
        </p:txBody>
      </p:sp>
      <p:sp>
        <p:nvSpPr>
          <p:cNvPr id="12" name="Shape 10"/>
          <p:cNvSpPr/>
          <p:nvPr/>
        </p:nvSpPr>
        <p:spPr>
          <a:xfrm>
            <a:off x="4800600" y="1261872"/>
            <a:ext cx="3840480" cy="292608"/>
          </a:xfrm>
          <a:prstGeom prst="rect">
            <a:avLst/>
          </a:prstGeom>
          <a:solidFill>
            <a:srgbClr val="1B2A4A"/>
          </a:solidFill>
          <a:ln/>
        </p:spPr>
        <p:txBody>
          <a:bodyPr/>
          <a:lstStyle/>
          <a:p>
            <a:endParaRPr lang="en-US"/>
          </a:p>
        </p:txBody>
      </p:sp>
      <p:sp>
        <p:nvSpPr>
          <p:cNvPr id="13" name="Text 11"/>
          <p:cNvSpPr/>
          <p:nvPr/>
        </p:nvSpPr>
        <p:spPr>
          <a:xfrm>
            <a:off x="4873752" y="1261872"/>
            <a:ext cx="3694176" cy="292608"/>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docker-compose.yml — 6 Services</a:t>
            </a:r>
            <a:endParaRPr lang="en-US" sz="1000" dirty="0"/>
          </a:p>
        </p:txBody>
      </p:sp>
      <p:sp>
        <p:nvSpPr>
          <p:cNvPr id="14" name="Shape 12"/>
          <p:cNvSpPr/>
          <p:nvPr/>
        </p:nvSpPr>
        <p:spPr>
          <a:xfrm>
            <a:off x="4800600" y="1554480"/>
            <a:ext cx="3840480" cy="320040"/>
          </a:xfrm>
          <a:prstGeom prst="rect">
            <a:avLst/>
          </a:prstGeom>
          <a:solidFill>
            <a:srgbClr val="F5F5F5"/>
          </a:solidFill>
          <a:ln w="3810">
            <a:solidFill>
              <a:srgbClr val="F0F0F0"/>
            </a:solidFill>
            <a:prstDash val="solid"/>
          </a:ln>
        </p:spPr>
        <p:txBody>
          <a:bodyPr/>
          <a:lstStyle/>
          <a:p>
            <a:endParaRPr lang="en-US"/>
          </a:p>
        </p:txBody>
      </p:sp>
      <p:sp>
        <p:nvSpPr>
          <p:cNvPr id="15" name="Text 13"/>
          <p:cNvSpPr/>
          <p:nvPr/>
        </p:nvSpPr>
        <p:spPr>
          <a:xfrm>
            <a:off x="4892040" y="1554480"/>
            <a:ext cx="1463040" cy="320040"/>
          </a:xfrm>
          <a:prstGeom prst="rect">
            <a:avLst/>
          </a:prstGeom>
          <a:noFill/>
          <a:ln/>
        </p:spPr>
        <p:txBody>
          <a:bodyPr wrap="square" lIns="0" tIns="0" rIns="0" bIns="0" rtlCol="0" anchor="ctr"/>
          <a:lstStyle/>
          <a:p>
            <a:pPr marL="0" indent="0">
              <a:buNone/>
            </a:pPr>
            <a:r>
              <a:rPr lang="en-US" sz="950" b="1" dirty="0">
                <a:solidFill>
                  <a:srgbClr val="1B2A4A"/>
                </a:solidFill>
                <a:latin typeface="Courier New" pitchFamily="34" charset="0"/>
                <a:ea typeface="Courier New" pitchFamily="34" charset="-122"/>
                <a:cs typeface="Courier New" pitchFamily="34" charset="-120"/>
              </a:rPr>
              <a:t>rag-postgres</a:t>
            </a:r>
            <a:endParaRPr lang="en-US" sz="950" dirty="0"/>
          </a:p>
        </p:txBody>
      </p:sp>
      <p:sp>
        <p:nvSpPr>
          <p:cNvPr id="16" name="Text 14"/>
          <p:cNvSpPr/>
          <p:nvPr/>
        </p:nvSpPr>
        <p:spPr>
          <a:xfrm>
            <a:off x="6355080" y="1554480"/>
            <a:ext cx="2194560" cy="32004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PostgreSQL + pgvector. Mandatory — no fallback.</a:t>
            </a:r>
            <a:endParaRPr lang="en-US" sz="950" dirty="0"/>
          </a:p>
        </p:txBody>
      </p:sp>
      <p:sp>
        <p:nvSpPr>
          <p:cNvPr id="17" name="Shape 15"/>
          <p:cNvSpPr/>
          <p:nvPr/>
        </p:nvSpPr>
        <p:spPr>
          <a:xfrm>
            <a:off x="4800600" y="1874520"/>
            <a:ext cx="3840480" cy="320040"/>
          </a:xfrm>
          <a:prstGeom prst="rect">
            <a:avLst/>
          </a:prstGeom>
          <a:solidFill>
            <a:srgbClr val="FFFFFF"/>
          </a:solidFill>
          <a:ln w="3810">
            <a:solidFill>
              <a:srgbClr val="F0F0F0"/>
            </a:solidFill>
            <a:prstDash val="solid"/>
          </a:ln>
        </p:spPr>
        <p:txBody>
          <a:bodyPr/>
          <a:lstStyle/>
          <a:p>
            <a:endParaRPr lang="en-US"/>
          </a:p>
        </p:txBody>
      </p:sp>
      <p:sp>
        <p:nvSpPr>
          <p:cNvPr id="18" name="Text 16"/>
          <p:cNvSpPr/>
          <p:nvPr/>
        </p:nvSpPr>
        <p:spPr>
          <a:xfrm>
            <a:off x="4892040" y="1874520"/>
            <a:ext cx="1463040" cy="320040"/>
          </a:xfrm>
          <a:prstGeom prst="rect">
            <a:avLst/>
          </a:prstGeom>
          <a:noFill/>
          <a:ln/>
        </p:spPr>
        <p:txBody>
          <a:bodyPr wrap="square" lIns="0" tIns="0" rIns="0" bIns="0" rtlCol="0" anchor="ctr"/>
          <a:lstStyle/>
          <a:p>
            <a:pPr marL="0" indent="0">
              <a:buNone/>
            </a:pPr>
            <a:r>
              <a:rPr lang="en-US" sz="950" b="1" dirty="0">
                <a:solidFill>
                  <a:srgbClr val="1B2A4A"/>
                </a:solidFill>
                <a:latin typeface="Courier New" pitchFamily="34" charset="0"/>
                <a:ea typeface="Courier New" pitchFamily="34" charset="-122"/>
                <a:cs typeface="Courier New" pitchFamily="34" charset="-120"/>
              </a:rPr>
              <a:t>ollama</a:t>
            </a:r>
            <a:endParaRPr lang="en-US" sz="950" dirty="0"/>
          </a:p>
        </p:txBody>
      </p:sp>
      <p:sp>
        <p:nvSpPr>
          <p:cNvPr id="19" name="Text 17"/>
          <p:cNvSpPr/>
          <p:nvPr/>
        </p:nvSpPr>
        <p:spPr>
          <a:xfrm>
            <a:off x="6355080" y="1874520"/>
            <a:ext cx="2194560" cy="32004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Local LLM inference (optional). GPU-aware.</a:t>
            </a:r>
            <a:endParaRPr lang="en-US" sz="950" dirty="0"/>
          </a:p>
        </p:txBody>
      </p:sp>
      <p:sp>
        <p:nvSpPr>
          <p:cNvPr id="20" name="Shape 18"/>
          <p:cNvSpPr/>
          <p:nvPr/>
        </p:nvSpPr>
        <p:spPr>
          <a:xfrm>
            <a:off x="4800600" y="2194560"/>
            <a:ext cx="3840480" cy="320040"/>
          </a:xfrm>
          <a:prstGeom prst="rect">
            <a:avLst/>
          </a:prstGeom>
          <a:solidFill>
            <a:srgbClr val="F5F5F5"/>
          </a:solidFill>
          <a:ln w="3810">
            <a:solidFill>
              <a:srgbClr val="F0F0F0"/>
            </a:solidFill>
            <a:prstDash val="solid"/>
          </a:ln>
        </p:spPr>
        <p:txBody>
          <a:bodyPr/>
          <a:lstStyle/>
          <a:p>
            <a:endParaRPr lang="en-US"/>
          </a:p>
        </p:txBody>
      </p:sp>
      <p:sp>
        <p:nvSpPr>
          <p:cNvPr id="21" name="Text 19"/>
          <p:cNvSpPr/>
          <p:nvPr/>
        </p:nvSpPr>
        <p:spPr>
          <a:xfrm>
            <a:off x="4892040" y="2194560"/>
            <a:ext cx="1463040" cy="320040"/>
          </a:xfrm>
          <a:prstGeom prst="rect">
            <a:avLst/>
          </a:prstGeom>
          <a:noFill/>
          <a:ln/>
        </p:spPr>
        <p:txBody>
          <a:bodyPr wrap="square" lIns="0" tIns="0" rIns="0" bIns="0" rtlCol="0" anchor="ctr"/>
          <a:lstStyle/>
          <a:p>
            <a:pPr marL="0" indent="0">
              <a:buNone/>
            </a:pPr>
            <a:r>
              <a:rPr lang="en-US" sz="950" b="1" dirty="0">
                <a:solidFill>
                  <a:srgbClr val="1B2A4A"/>
                </a:solidFill>
                <a:latin typeface="Courier New" pitchFamily="34" charset="0"/>
                <a:ea typeface="Courier New" pitchFamily="34" charset="-122"/>
                <a:cs typeface="Courier New" pitchFamily="34" charset="-120"/>
              </a:rPr>
              <a:t>app</a:t>
            </a:r>
            <a:endParaRPr lang="en-US" sz="950" dirty="0"/>
          </a:p>
        </p:txBody>
      </p:sp>
      <p:sp>
        <p:nvSpPr>
          <p:cNvPr id="22" name="Text 20"/>
          <p:cNvSpPr/>
          <p:nvPr/>
        </p:nvSpPr>
        <p:spPr>
          <a:xfrm>
            <a:off x="6355080" y="2194560"/>
            <a:ext cx="2194560" cy="32004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Main Python FastAPI backend. Binds :8000.</a:t>
            </a:r>
            <a:endParaRPr lang="en-US" sz="950" dirty="0"/>
          </a:p>
        </p:txBody>
      </p:sp>
      <p:sp>
        <p:nvSpPr>
          <p:cNvPr id="23" name="Shape 21"/>
          <p:cNvSpPr/>
          <p:nvPr/>
        </p:nvSpPr>
        <p:spPr>
          <a:xfrm>
            <a:off x="4800600" y="2514600"/>
            <a:ext cx="3840480" cy="320040"/>
          </a:xfrm>
          <a:prstGeom prst="rect">
            <a:avLst/>
          </a:prstGeom>
          <a:solidFill>
            <a:srgbClr val="FFFFFF"/>
          </a:solidFill>
          <a:ln w="3810">
            <a:solidFill>
              <a:srgbClr val="F0F0F0"/>
            </a:solidFill>
            <a:prstDash val="solid"/>
          </a:ln>
        </p:spPr>
        <p:txBody>
          <a:bodyPr/>
          <a:lstStyle/>
          <a:p>
            <a:endParaRPr lang="en-US"/>
          </a:p>
        </p:txBody>
      </p:sp>
      <p:sp>
        <p:nvSpPr>
          <p:cNvPr id="24" name="Text 22"/>
          <p:cNvSpPr/>
          <p:nvPr/>
        </p:nvSpPr>
        <p:spPr>
          <a:xfrm>
            <a:off x="4892040" y="2514600"/>
            <a:ext cx="1463040" cy="320040"/>
          </a:xfrm>
          <a:prstGeom prst="rect">
            <a:avLst/>
          </a:prstGeom>
          <a:noFill/>
          <a:ln/>
        </p:spPr>
        <p:txBody>
          <a:bodyPr wrap="square" lIns="0" tIns="0" rIns="0" bIns="0" rtlCol="0" anchor="ctr"/>
          <a:lstStyle/>
          <a:p>
            <a:pPr marL="0" indent="0">
              <a:buNone/>
            </a:pPr>
            <a:r>
              <a:rPr lang="en-US" sz="950" b="1" dirty="0">
                <a:solidFill>
                  <a:srgbClr val="1B2A4A"/>
                </a:solidFill>
                <a:latin typeface="Courier New" pitchFamily="34" charset="0"/>
                <a:ea typeface="Courier New" pitchFamily="34" charset="-122"/>
                <a:cs typeface="Courier New" pitchFamily="34" charset="-120"/>
              </a:rPr>
              <a:t>openwebui</a:t>
            </a:r>
            <a:endParaRPr lang="en-US" sz="950" dirty="0"/>
          </a:p>
        </p:txBody>
      </p:sp>
      <p:sp>
        <p:nvSpPr>
          <p:cNvPr id="25" name="Text 23"/>
          <p:cNvSpPr/>
          <p:nvPr/>
        </p:nvSpPr>
        <p:spPr>
          <a:xfrm>
            <a:off x="6355080" y="2514600"/>
            <a:ext cx="2194560" cy="32004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Chat UI wrapper (v0.8.6). Proxies to app.</a:t>
            </a:r>
            <a:endParaRPr lang="en-US" sz="950" dirty="0"/>
          </a:p>
        </p:txBody>
      </p:sp>
      <p:sp>
        <p:nvSpPr>
          <p:cNvPr id="26" name="Shape 24"/>
          <p:cNvSpPr/>
          <p:nvPr/>
        </p:nvSpPr>
        <p:spPr>
          <a:xfrm>
            <a:off x="4800600" y="2834640"/>
            <a:ext cx="3840480" cy="320040"/>
          </a:xfrm>
          <a:prstGeom prst="rect">
            <a:avLst/>
          </a:prstGeom>
          <a:solidFill>
            <a:srgbClr val="F5F5F5"/>
          </a:solidFill>
          <a:ln w="3810">
            <a:solidFill>
              <a:srgbClr val="F0F0F0"/>
            </a:solidFill>
            <a:prstDash val="solid"/>
          </a:ln>
        </p:spPr>
        <p:txBody>
          <a:bodyPr/>
          <a:lstStyle/>
          <a:p>
            <a:endParaRPr lang="en-US"/>
          </a:p>
        </p:txBody>
      </p:sp>
      <p:sp>
        <p:nvSpPr>
          <p:cNvPr id="27" name="Text 25"/>
          <p:cNvSpPr/>
          <p:nvPr/>
        </p:nvSpPr>
        <p:spPr>
          <a:xfrm>
            <a:off x="4892040" y="2834640"/>
            <a:ext cx="1463040" cy="320040"/>
          </a:xfrm>
          <a:prstGeom prst="rect">
            <a:avLst/>
          </a:prstGeom>
          <a:noFill/>
          <a:ln/>
        </p:spPr>
        <p:txBody>
          <a:bodyPr wrap="square" lIns="0" tIns="0" rIns="0" bIns="0" rtlCol="0" anchor="ctr"/>
          <a:lstStyle/>
          <a:p>
            <a:pPr marL="0" indent="0">
              <a:buNone/>
            </a:pPr>
            <a:r>
              <a:rPr lang="en-US" sz="950" b="1" dirty="0">
                <a:solidFill>
                  <a:srgbClr val="1B2A4A"/>
                </a:solidFill>
                <a:latin typeface="Courier New" pitchFamily="34" charset="0"/>
                <a:ea typeface="Courier New" pitchFamily="34" charset="-122"/>
                <a:cs typeface="Courier New" pitchFamily="34" charset="-120"/>
              </a:rPr>
              <a:t>openwebui-bootstrap</a:t>
            </a:r>
            <a:endParaRPr lang="en-US" sz="950" dirty="0"/>
          </a:p>
        </p:txBody>
      </p:sp>
      <p:sp>
        <p:nvSpPr>
          <p:cNvPr id="28" name="Text 26"/>
          <p:cNvSpPr/>
          <p:nvPr/>
        </p:nvSpPr>
        <p:spPr>
          <a:xfrm>
            <a:off x="6355080" y="2834640"/>
            <a:ext cx="2194560" cy="32004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One-shot setup of OpenWebUI admin credentials.</a:t>
            </a:r>
            <a:endParaRPr lang="en-US" sz="950" dirty="0"/>
          </a:p>
        </p:txBody>
      </p:sp>
      <p:sp>
        <p:nvSpPr>
          <p:cNvPr id="29" name="Shape 27"/>
          <p:cNvSpPr/>
          <p:nvPr/>
        </p:nvSpPr>
        <p:spPr>
          <a:xfrm>
            <a:off x="4800600" y="3154680"/>
            <a:ext cx="3840480" cy="320040"/>
          </a:xfrm>
          <a:prstGeom prst="rect">
            <a:avLst/>
          </a:prstGeom>
          <a:solidFill>
            <a:srgbClr val="FFFFFF"/>
          </a:solidFill>
          <a:ln w="3810">
            <a:solidFill>
              <a:srgbClr val="F0F0F0"/>
            </a:solidFill>
            <a:prstDash val="solid"/>
          </a:ln>
        </p:spPr>
        <p:txBody>
          <a:bodyPr/>
          <a:lstStyle/>
          <a:p>
            <a:endParaRPr lang="en-US"/>
          </a:p>
        </p:txBody>
      </p:sp>
      <p:sp>
        <p:nvSpPr>
          <p:cNvPr id="30" name="Text 28"/>
          <p:cNvSpPr/>
          <p:nvPr/>
        </p:nvSpPr>
        <p:spPr>
          <a:xfrm>
            <a:off x="4892040" y="3154680"/>
            <a:ext cx="1463040" cy="320040"/>
          </a:xfrm>
          <a:prstGeom prst="rect">
            <a:avLst/>
          </a:prstGeom>
          <a:noFill/>
          <a:ln/>
        </p:spPr>
        <p:txBody>
          <a:bodyPr wrap="square" lIns="0" tIns="0" rIns="0" bIns="0" rtlCol="0" anchor="ctr"/>
          <a:lstStyle/>
          <a:p>
            <a:pPr marL="0" indent="0">
              <a:buNone/>
            </a:pPr>
            <a:r>
              <a:rPr lang="en-US" sz="950" b="1" dirty="0">
                <a:solidFill>
                  <a:srgbClr val="1B2A4A"/>
                </a:solidFill>
                <a:latin typeface="Courier New" pitchFamily="34" charset="0"/>
                <a:ea typeface="Courier New" pitchFamily="34" charset="-122"/>
                <a:cs typeface="Courier New" pitchFamily="34" charset="-120"/>
              </a:rPr>
              <a:t>langfuse-web</a:t>
            </a:r>
            <a:endParaRPr lang="en-US" sz="950" dirty="0"/>
          </a:p>
        </p:txBody>
      </p:sp>
      <p:sp>
        <p:nvSpPr>
          <p:cNvPr id="31" name="Text 29"/>
          <p:cNvSpPr/>
          <p:nvPr/>
        </p:nvSpPr>
        <p:spPr>
          <a:xfrm>
            <a:off x="6355080" y="3154680"/>
            <a:ext cx="2194560" cy="32004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Observability dashboard (commented out by default).</a:t>
            </a:r>
            <a:endParaRPr lang="en-US" sz="950" dirty="0"/>
          </a:p>
        </p:txBody>
      </p:sp>
      <p:sp>
        <p:nvSpPr>
          <p:cNvPr id="32" name="Text 30"/>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Dockerfile (root), docker-compose.yml (root), docker/sandbox.Dockerfile, docker/entrypoint.sh, deployment/openwebui/</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02920" y="1463040"/>
            <a:ext cx="8138160" cy="73152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The API Gateway</a:t>
            </a:r>
            <a:endParaRPr lang="en-US" sz="3200" dirty="0"/>
          </a:p>
        </p:txBody>
      </p:sp>
      <p:sp>
        <p:nvSpPr>
          <p:cNvPr id="3" name="Text 1"/>
          <p:cNvSpPr/>
          <p:nvPr/>
        </p:nvSpPr>
        <p:spPr>
          <a:xfrm>
            <a:off x="502920" y="2286000"/>
            <a:ext cx="8138160" cy="457200"/>
          </a:xfrm>
          <a:prstGeom prst="rect">
            <a:avLst/>
          </a:prstGeom>
          <a:noFill/>
          <a:ln/>
        </p:spPr>
        <p:txBody>
          <a:bodyPr wrap="square" lIns="0" tIns="0" rIns="0" bIns="0" rtlCol="0" anchor="ctr"/>
          <a:lstStyle/>
          <a:p>
            <a:pPr marL="0" indent="0">
              <a:buNone/>
            </a:pPr>
            <a:r>
              <a:rPr lang="en-US" sz="1600" dirty="0">
                <a:solidFill>
                  <a:srgbClr val="0097A7"/>
                </a:solidFill>
                <a:latin typeface="Arial" pitchFamily="34" charset="0"/>
                <a:ea typeface="Arial" pitchFamily="34" charset="-122"/>
                <a:cs typeface="Arial" pitchFamily="34" charset="-120"/>
              </a:rPr>
              <a:t>Slides 5-6: FastAPI endpoints and request lifecycle</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The API Gateway — All 23 Public Endpoints</a:t>
            </a:r>
            <a:endParaRPr lang="en-US" sz="2600" dirty="0"/>
          </a:p>
        </p:txBody>
      </p:sp>
      <p:sp>
        <p:nvSpPr>
          <p:cNvPr id="3" name="Shape 1"/>
          <p:cNvSpPr/>
          <p:nvPr/>
        </p:nvSpPr>
        <p:spPr>
          <a:xfrm>
            <a:off x="502920" y="804672"/>
            <a:ext cx="2423160" cy="162763"/>
          </a:xfrm>
          <a:prstGeom prst="rect">
            <a:avLst/>
          </a:prstGeom>
          <a:solidFill>
            <a:srgbClr val="1B2A4A"/>
          </a:solidFill>
          <a:ln w="3810">
            <a:solidFill>
              <a:srgbClr val="F0F0F0"/>
            </a:solidFill>
            <a:prstDash val="solid"/>
          </a:ln>
        </p:spPr>
        <p:txBody>
          <a:bodyPr/>
          <a:lstStyle/>
          <a:p>
            <a:endParaRPr lang="en-US"/>
          </a:p>
        </p:txBody>
      </p:sp>
      <p:sp>
        <p:nvSpPr>
          <p:cNvPr id="4" name="Text 2"/>
          <p:cNvSpPr/>
          <p:nvPr/>
        </p:nvSpPr>
        <p:spPr>
          <a:xfrm>
            <a:off x="557784" y="804672"/>
            <a:ext cx="2313432" cy="162763"/>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Endpoint</a:t>
            </a:r>
            <a:endParaRPr lang="en-US" sz="900" dirty="0"/>
          </a:p>
        </p:txBody>
      </p:sp>
      <p:sp>
        <p:nvSpPr>
          <p:cNvPr id="5" name="Shape 3"/>
          <p:cNvSpPr/>
          <p:nvPr/>
        </p:nvSpPr>
        <p:spPr>
          <a:xfrm>
            <a:off x="2926080" y="804672"/>
            <a:ext cx="594360" cy="162763"/>
          </a:xfrm>
          <a:prstGeom prst="rect">
            <a:avLst/>
          </a:prstGeom>
          <a:solidFill>
            <a:srgbClr val="1B2A4A"/>
          </a:solidFill>
          <a:ln w="3810">
            <a:solidFill>
              <a:srgbClr val="F0F0F0"/>
            </a:solidFill>
            <a:prstDash val="solid"/>
          </a:ln>
        </p:spPr>
        <p:txBody>
          <a:bodyPr/>
          <a:lstStyle/>
          <a:p>
            <a:endParaRPr lang="en-US"/>
          </a:p>
        </p:txBody>
      </p:sp>
      <p:sp>
        <p:nvSpPr>
          <p:cNvPr id="6" name="Text 4"/>
          <p:cNvSpPr/>
          <p:nvPr/>
        </p:nvSpPr>
        <p:spPr>
          <a:xfrm>
            <a:off x="2980944" y="804672"/>
            <a:ext cx="484632" cy="162763"/>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Method</a:t>
            </a:r>
            <a:endParaRPr lang="en-US" sz="900" dirty="0"/>
          </a:p>
        </p:txBody>
      </p:sp>
      <p:sp>
        <p:nvSpPr>
          <p:cNvPr id="7" name="Shape 5"/>
          <p:cNvSpPr/>
          <p:nvPr/>
        </p:nvSpPr>
        <p:spPr>
          <a:xfrm>
            <a:off x="3520440" y="804672"/>
            <a:ext cx="5577840" cy="162763"/>
          </a:xfrm>
          <a:prstGeom prst="rect">
            <a:avLst/>
          </a:prstGeom>
          <a:solidFill>
            <a:srgbClr val="1B2A4A"/>
          </a:solidFill>
          <a:ln w="3810">
            <a:solidFill>
              <a:srgbClr val="F0F0F0"/>
            </a:solidFill>
            <a:prstDash val="solid"/>
          </a:ln>
        </p:spPr>
        <p:txBody>
          <a:bodyPr/>
          <a:lstStyle/>
          <a:p>
            <a:endParaRPr lang="en-US"/>
          </a:p>
        </p:txBody>
      </p:sp>
      <p:sp>
        <p:nvSpPr>
          <p:cNvPr id="8" name="Text 6"/>
          <p:cNvSpPr/>
          <p:nvPr/>
        </p:nvSpPr>
        <p:spPr>
          <a:xfrm>
            <a:off x="3575304" y="804672"/>
            <a:ext cx="5468112" cy="162763"/>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Purpose</a:t>
            </a:r>
            <a:endParaRPr lang="en-US" sz="900" dirty="0"/>
          </a:p>
        </p:txBody>
      </p:sp>
      <p:sp>
        <p:nvSpPr>
          <p:cNvPr id="9" name="Shape 7"/>
          <p:cNvSpPr/>
          <p:nvPr/>
        </p:nvSpPr>
        <p:spPr>
          <a:xfrm>
            <a:off x="502920" y="967435"/>
            <a:ext cx="2423160" cy="162763"/>
          </a:xfrm>
          <a:prstGeom prst="rect">
            <a:avLst/>
          </a:prstGeom>
          <a:solidFill>
            <a:srgbClr val="F5F5F5"/>
          </a:solidFill>
          <a:ln w="3810">
            <a:solidFill>
              <a:srgbClr val="F0F0F0"/>
            </a:solidFill>
            <a:prstDash val="solid"/>
          </a:ln>
        </p:spPr>
        <p:txBody>
          <a:bodyPr/>
          <a:lstStyle/>
          <a:p>
            <a:endParaRPr lang="en-US"/>
          </a:p>
        </p:txBody>
      </p:sp>
      <p:sp>
        <p:nvSpPr>
          <p:cNvPr id="10" name="Text 8"/>
          <p:cNvSpPr/>
          <p:nvPr/>
        </p:nvSpPr>
        <p:spPr>
          <a:xfrm>
            <a:off x="557784" y="967435"/>
            <a:ext cx="2313432" cy="162763"/>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/v1/chat/completions</a:t>
            </a:r>
            <a:endParaRPr lang="en-US" sz="800" dirty="0"/>
          </a:p>
        </p:txBody>
      </p:sp>
      <p:sp>
        <p:nvSpPr>
          <p:cNvPr id="11" name="Shape 9"/>
          <p:cNvSpPr/>
          <p:nvPr/>
        </p:nvSpPr>
        <p:spPr>
          <a:xfrm>
            <a:off x="2926080" y="967435"/>
            <a:ext cx="594360" cy="162763"/>
          </a:xfrm>
          <a:prstGeom prst="rect">
            <a:avLst/>
          </a:prstGeom>
          <a:solidFill>
            <a:srgbClr val="F5F5F5"/>
          </a:solidFill>
          <a:ln w="3810">
            <a:solidFill>
              <a:srgbClr val="F0F0F0"/>
            </a:solidFill>
            <a:prstDash val="solid"/>
          </a:ln>
        </p:spPr>
        <p:txBody>
          <a:bodyPr/>
          <a:lstStyle/>
          <a:p>
            <a:endParaRPr lang="en-US"/>
          </a:p>
        </p:txBody>
      </p:sp>
      <p:sp>
        <p:nvSpPr>
          <p:cNvPr id="12" name="Text 10"/>
          <p:cNvSpPr/>
          <p:nvPr/>
        </p:nvSpPr>
        <p:spPr>
          <a:xfrm>
            <a:off x="2980944" y="967435"/>
            <a:ext cx="48463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POST</a:t>
            </a:r>
            <a:endParaRPr lang="en-US" sz="800" dirty="0"/>
          </a:p>
        </p:txBody>
      </p:sp>
      <p:sp>
        <p:nvSpPr>
          <p:cNvPr id="13" name="Shape 11"/>
          <p:cNvSpPr/>
          <p:nvPr/>
        </p:nvSpPr>
        <p:spPr>
          <a:xfrm>
            <a:off x="3520440" y="967435"/>
            <a:ext cx="5577840" cy="162763"/>
          </a:xfrm>
          <a:prstGeom prst="rect">
            <a:avLst/>
          </a:prstGeom>
          <a:solidFill>
            <a:srgbClr val="F5F5F5"/>
          </a:solidFill>
          <a:ln w="3810">
            <a:solidFill>
              <a:srgbClr val="F0F0F0"/>
            </a:solidFill>
            <a:prstDash val="solid"/>
          </a:ln>
        </p:spPr>
        <p:txBody>
          <a:bodyPr/>
          <a:lstStyle/>
          <a:p>
            <a:endParaRPr lang="en-US"/>
          </a:p>
        </p:txBody>
      </p:sp>
      <p:sp>
        <p:nvSpPr>
          <p:cNvPr id="14" name="Text 12"/>
          <p:cNvSpPr/>
          <p:nvPr/>
        </p:nvSpPr>
        <p:spPr>
          <a:xfrm>
            <a:off x="3575304" y="967435"/>
            <a:ext cx="546811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Main chat — OpenAI-compatible. Streams SSE. Model = enterprise-agent</a:t>
            </a:r>
            <a:endParaRPr lang="en-US" sz="800" dirty="0"/>
          </a:p>
        </p:txBody>
      </p:sp>
      <p:sp>
        <p:nvSpPr>
          <p:cNvPr id="15" name="Shape 13"/>
          <p:cNvSpPr/>
          <p:nvPr/>
        </p:nvSpPr>
        <p:spPr>
          <a:xfrm>
            <a:off x="502920" y="1130198"/>
            <a:ext cx="2423160" cy="162763"/>
          </a:xfrm>
          <a:prstGeom prst="rect">
            <a:avLst/>
          </a:prstGeom>
          <a:solidFill>
            <a:srgbClr val="FFF8E1"/>
          </a:solidFill>
          <a:ln w="3810">
            <a:solidFill>
              <a:srgbClr val="F0F0F0"/>
            </a:solidFill>
            <a:prstDash val="solid"/>
          </a:ln>
        </p:spPr>
        <p:txBody>
          <a:bodyPr/>
          <a:lstStyle/>
          <a:p>
            <a:endParaRPr lang="en-US"/>
          </a:p>
        </p:txBody>
      </p:sp>
      <p:sp>
        <p:nvSpPr>
          <p:cNvPr id="16" name="Text 14"/>
          <p:cNvSpPr/>
          <p:nvPr/>
        </p:nvSpPr>
        <p:spPr>
          <a:xfrm>
            <a:off x="557784" y="1130198"/>
            <a:ext cx="2313432" cy="162763"/>
          </a:xfrm>
          <a:prstGeom prst="rect">
            <a:avLst/>
          </a:prstGeom>
          <a:noFill/>
          <a:ln/>
        </p:spPr>
        <p:txBody>
          <a:bodyPr wrap="square" lIns="0" tIns="0" rIns="0" bIns="0" rtlCol="0" anchor="ctr"/>
          <a:lstStyle/>
          <a:p>
            <a:pPr marL="0" indent="0">
              <a:buNone/>
            </a:pPr>
            <a:r>
              <a:rPr lang="en-US" sz="800" b="1" dirty="0">
                <a:solidFill>
                  <a:srgbClr val="00796B"/>
                </a:solidFill>
                <a:latin typeface="Courier New" pitchFamily="34" charset="0"/>
                <a:ea typeface="Courier New" pitchFamily="34" charset="-122"/>
                <a:cs typeface="Courier New" pitchFamily="34" charset="-120"/>
              </a:rPr>
              <a:t>/v1/connector/chat</a:t>
            </a:r>
            <a:endParaRPr lang="en-US" sz="800" dirty="0"/>
          </a:p>
        </p:txBody>
      </p:sp>
      <p:sp>
        <p:nvSpPr>
          <p:cNvPr id="17" name="Shape 15"/>
          <p:cNvSpPr/>
          <p:nvPr/>
        </p:nvSpPr>
        <p:spPr>
          <a:xfrm>
            <a:off x="2926080" y="1130198"/>
            <a:ext cx="594360" cy="162763"/>
          </a:xfrm>
          <a:prstGeom prst="rect">
            <a:avLst/>
          </a:prstGeom>
          <a:solidFill>
            <a:srgbClr val="FFF8E1"/>
          </a:solidFill>
          <a:ln w="3810">
            <a:solidFill>
              <a:srgbClr val="F0F0F0"/>
            </a:solidFill>
            <a:prstDash val="solid"/>
          </a:ln>
        </p:spPr>
        <p:txBody>
          <a:bodyPr/>
          <a:lstStyle/>
          <a:p>
            <a:endParaRPr lang="en-US"/>
          </a:p>
        </p:txBody>
      </p:sp>
      <p:sp>
        <p:nvSpPr>
          <p:cNvPr id="18" name="Text 16"/>
          <p:cNvSpPr/>
          <p:nvPr/>
        </p:nvSpPr>
        <p:spPr>
          <a:xfrm>
            <a:off x="2980944" y="1130198"/>
            <a:ext cx="484632" cy="162763"/>
          </a:xfrm>
          <a:prstGeom prst="rect">
            <a:avLst/>
          </a:prstGeom>
          <a:noFill/>
          <a:ln/>
        </p:spPr>
        <p:txBody>
          <a:bodyPr wrap="square" lIns="0" tIns="0" rIns="0" bIns="0" rtlCol="0" anchor="ctr"/>
          <a:lstStyle/>
          <a:p>
            <a:pPr marL="0" indent="0">
              <a:buNone/>
            </a:pPr>
            <a:r>
              <a:rPr lang="en-US" sz="800" dirty="0">
                <a:solidFill>
                  <a:srgbClr val="00796B"/>
                </a:solidFill>
                <a:latin typeface="Arial" pitchFamily="34" charset="0"/>
                <a:ea typeface="Arial" pitchFamily="34" charset="-122"/>
                <a:cs typeface="Arial" pitchFamily="34" charset="-120"/>
              </a:rPr>
              <a:t>POST</a:t>
            </a:r>
            <a:endParaRPr lang="en-US" sz="800" dirty="0"/>
          </a:p>
        </p:txBody>
      </p:sp>
      <p:sp>
        <p:nvSpPr>
          <p:cNvPr id="19" name="Shape 17"/>
          <p:cNvSpPr/>
          <p:nvPr/>
        </p:nvSpPr>
        <p:spPr>
          <a:xfrm>
            <a:off x="3520440" y="1130198"/>
            <a:ext cx="5577840" cy="162763"/>
          </a:xfrm>
          <a:prstGeom prst="rect">
            <a:avLst/>
          </a:prstGeom>
          <a:solidFill>
            <a:srgbClr val="FFF8E1"/>
          </a:solidFill>
          <a:ln w="3810">
            <a:solidFill>
              <a:srgbClr val="F0F0F0"/>
            </a:solidFill>
            <a:prstDash val="solid"/>
          </a:ln>
        </p:spPr>
        <p:txBody>
          <a:bodyPr/>
          <a:lstStyle/>
          <a:p>
            <a:endParaRPr lang="en-US"/>
          </a:p>
        </p:txBody>
      </p:sp>
      <p:sp>
        <p:nvSpPr>
          <p:cNvPr id="20" name="Text 18"/>
          <p:cNvSpPr/>
          <p:nvPr/>
        </p:nvSpPr>
        <p:spPr>
          <a:xfrm>
            <a:off x="3575304" y="1130198"/>
            <a:ext cx="5468112" cy="162763"/>
          </a:xfrm>
          <a:prstGeom prst="rect">
            <a:avLst/>
          </a:prstGeom>
          <a:noFill/>
          <a:ln/>
        </p:spPr>
        <p:txBody>
          <a:bodyPr wrap="square" lIns="0" tIns="0" rIns="0" bIns="0" rtlCol="0" anchor="ctr"/>
          <a:lstStyle/>
          <a:p>
            <a:pPr marL="0" indent="0">
              <a:buNone/>
            </a:pPr>
            <a:r>
              <a:rPr lang="en-US" sz="800" dirty="0">
                <a:solidFill>
                  <a:srgbClr val="00796B"/>
                </a:solidFill>
                <a:latin typeface="Arial" pitchFamily="34" charset="0"/>
                <a:ea typeface="Arial" pitchFamily="34" charset="-122"/>
                <a:cs typeface="Arial" pitchFamily="34" charset="-120"/>
              </a:rPr>
              <a:t>Connector-mode chat endpoint for third-party integrations (non-SSE)</a:t>
            </a:r>
            <a:endParaRPr lang="en-US" sz="800" dirty="0"/>
          </a:p>
        </p:txBody>
      </p:sp>
      <p:sp>
        <p:nvSpPr>
          <p:cNvPr id="21" name="Shape 19"/>
          <p:cNvSpPr/>
          <p:nvPr/>
        </p:nvSpPr>
        <p:spPr>
          <a:xfrm>
            <a:off x="502920" y="1292962"/>
            <a:ext cx="2423160" cy="162763"/>
          </a:xfrm>
          <a:prstGeom prst="rect">
            <a:avLst/>
          </a:prstGeom>
          <a:solidFill>
            <a:srgbClr val="F5F5F5"/>
          </a:solidFill>
          <a:ln w="3810">
            <a:solidFill>
              <a:srgbClr val="F0F0F0"/>
            </a:solidFill>
            <a:prstDash val="solid"/>
          </a:ln>
        </p:spPr>
        <p:txBody>
          <a:bodyPr/>
          <a:lstStyle/>
          <a:p>
            <a:endParaRPr lang="en-US"/>
          </a:p>
        </p:txBody>
      </p:sp>
      <p:sp>
        <p:nvSpPr>
          <p:cNvPr id="22" name="Text 20"/>
          <p:cNvSpPr/>
          <p:nvPr/>
        </p:nvSpPr>
        <p:spPr>
          <a:xfrm>
            <a:off x="557784" y="1292962"/>
            <a:ext cx="2313432" cy="162763"/>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/v1/upload</a:t>
            </a:r>
            <a:endParaRPr lang="en-US" sz="800" dirty="0"/>
          </a:p>
        </p:txBody>
      </p:sp>
      <p:sp>
        <p:nvSpPr>
          <p:cNvPr id="23" name="Shape 21"/>
          <p:cNvSpPr/>
          <p:nvPr/>
        </p:nvSpPr>
        <p:spPr>
          <a:xfrm>
            <a:off x="2926080" y="1292962"/>
            <a:ext cx="594360" cy="162763"/>
          </a:xfrm>
          <a:prstGeom prst="rect">
            <a:avLst/>
          </a:prstGeom>
          <a:solidFill>
            <a:srgbClr val="F5F5F5"/>
          </a:solidFill>
          <a:ln w="3810">
            <a:solidFill>
              <a:srgbClr val="F0F0F0"/>
            </a:solidFill>
            <a:prstDash val="solid"/>
          </a:ln>
        </p:spPr>
        <p:txBody>
          <a:bodyPr/>
          <a:lstStyle/>
          <a:p>
            <a:endParaRPr lang="en-US"/>
          </a:p>
        </p:txBody>
      </p:sp>
      <p:sp>
        <p:nvSpPr>
          <p:cNvPr id="24" name="Text 22"/>
          <p:cNvSpPr/>
          <p:nvPr/>
        </p:nvSpPr>
        <p:spPr>
          <a:xfrm>
            <a:off x="2980944" y="1292962"/>
            <a:ext cx="48463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POST</a:t>
            </a:r>
            <a:endParaRPr lang="en-US" sz="800" dirty="0"/>
          </a:p>
        </p:txBody>
      </p:sp>
      <p:sp>
        <p:nvSpPr>
          <p:cNvPr id="25" name="Shape 23"/>
          <p:cNvSpPr/>
          <p:nvPr/>
        </p:nvSpPr>
        <p:spPr>
          <a:xfrm>
            <a:off x="3520440" y="1292962"/>
            <a:ext cx="5577840" cy="162763"/>
          </a:xfrm>
          <a:prstGeom prst="rect">
            <a:avLst/>
          </a:prstGeom>
          <a:solidFill>
            <a:srgbClr val="F5F5F5"/>
          </a:solidFill>
          <a:ln w="3810">
            <a:solidFill>
              <a:srgbClr val="F0F0F0"/>
            </a:solidFill>
            <a:prstDash val="solid"/>
          </a:ln>
        </p:spPr>
        <p:txBody>
          <a:bodyPr/>
          <a:lstStyle/>
          <a:p>
            <a:endParaRPr lang="en-US"/>
          </a:p>
        </p:txBody>
      </p:sp>
      <p:sp>
        <p:nvSpPr>
          <p:cNvPr id="26" name="Text 24"/>
          <p:cNvSpPr/>
          <p:nvPr/>
        </p:nvSpPr>
        <p:spPr>
          <a:xfrm>
            <a:off x="3575304" y="1292962"/>
            <a:ext cx="546811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Upload files for RAG ingestion (multipart/form-data). Returns upload_id.</a:t>
            </a:r>
            <a:endParaRPr lang="en-US" sz="800" dirty="0"/>
          </a:p>
        </p:txBody>
      </p:sp>
      <p:sp>
        <p:nvSpPr>
          <p:cNvPr id="27" name="Shape 25"/>
          <p:cNvSpPr/>
          <p:nvPr/>
        </p:nvSpPr>
        <p:spPr>
          <a:xfrm>
            <a:off x="502920" y="1455725"/>
            <a:ext cx="2423160" cy="162763"/>
          </a:xfrm>
          <a:prstGeom prst="rect">
            <a:avLst/>
          </a:prstGeom>
          <a:solidFill>
            <a:srgbClr val="FFFFFF"/>
          </a:solidFill>
          <a:ln w="3810">
            <a:solidFill>
              <a:srgbClr val="F0F0F0"/>
            </a:solidFill>
            <a:prstDash val="solid"/>
          </a:ln>
        </p:spPr>
        <p:txBody>
          <a:bodyPr/>
          <a:lstStyle/>
          <a:p>
            <a:endParaRPr lang="en-US"/>
          </a:p>
        </p:txBody>
      </p:sp>
      <p:sp>
        <p:nvSpPr>
          <p:cNvPr id="28" name="Text 26"/>
          <p:cNvSpPr/>
          <p:nvPr/>
        </p:nvSpPr>
        <p:spPr>
          <a:xfrm>
            <a:off x="557784" y="1455725"/>
            <a:ext cx="2313432" cy="162763"/>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/v1/ingest/documents</a:t>
            </a:r>
            <a:endParaRPr lang="en-US" sz="800" dirty="0"/>
          </a:p>
        </p:txBody>
      </p:sp>
      <p:sp>
        <p:nvSpPr>
          <p:cNvPr id="29" name="Shape 27"/>
          <p:cNvSpPr/>
          <p:nvPr/>
        </p:nvSpPr>
        <p:spPr>
          <a:xfrm>
            <a:off x="2926080" y="1455725"/>
            <a:ext cx="594360" cy="162763"/>
          </a:xfrm>
          <a:prstGeom prst="rect">
            <a:avLst/>
          </a:prstGeom>
          <a:solidFill>
            <a:srgbClr val="FFFFFF"/>
          </a:solidFill>
          <a:ln w="3810">
            <a:solidFill>
              <a:srgbClr val="F0F0F0"/>
            </a:solidFill>
            <a:prstDash val="solid"/>
          </a:ln>
        </p:spPr>
        <p:txBody>
          <a:bodyPr/>
          <a:lstStyle/>
          <a:p>
            <a:endParaRPr lang="en-US"/>
          </a:p>
        </p:txBody>
      </p:sp>
      <p:sp>
        <p:nvSpPr>
          <p:cNvPr id="30" name="Text 28"/>
          <p:cNvSpPr/>
          <p:nvPr/>
        </p:nvSpPr>
        <p:spPr>
          <a:xfrm>
            <a:off x="2980944" y="1455725"/>
            <a:ext cx="48463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POST</a:t>
            </a:r>
            <a:endParaRPr lang="en-US" sz="800" dirty="0"/>
          </a:p>
        </p:txBody>
      </p:sp>
      <p:sp>
        <p:nvSpPr>
          <p:cNvPr id="31" name="Shape 29"/>
          <p:cNvSpPr/>
          <p:nvPr/>
        </p:nvSpPr>
        <p:spPr>
          <a:xfrm>
            <a:off x="3520440" y="1455725"/>
            <a:ext cx="5577840" cy="162763"/>
          </a:xfrm>
          <a:prstGeom prst="rect">
            <a:avLst/>
          </a:prstGeom>
          <a:solidFill>
            <a:srgbClr val="FFFFFF"/>
          </a:solidFill>
          <a:ln w="3810">
            <a:solidFill>
              <a:srgbClr val="F0F0F0"/>
            </a:solidFill>
            <a:prstDash val="solid"/>
          </a:ln>
        </p:spPr>
        <p:txBody>
          <a:bodyPr/>
          <a:lstStyle/>
          <a:p>
            <a:endParaRPr lang="en-US"/>
          </a:p>
        </p:txBody>
      </p:sp>
      <p:sp>
        <p:nvSpPr>
          <p:cNvPr id="32" name="Text 30"/>
          <p:cNvSpPr/>
          <p:nvPr/>
        </p:nvSpPr>
        <p:spPr>
          <a:xfrm>
            <a:off x="3575304" y="1455725"/>
            <a:ext cx="546811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Batch-ingest document paths into knowledge base collection</a:t>
            </a:r>
            <a:endParaRPr lang="en-US" sz="800" dirty="0"/>
          </a:p>
        </p:txBody>
      </p:sp>
      <p:sp>
        <p:nvSpPr>
          <p:cNvPr id="33" name="Shape 31"/>
          <p:cNvSpPr/>
          <p:nvPr/>
        </p:nvSpPr>
        <p:spPr>
          <a:xfrm>
            <a:off x="502920" y="1618488"/>
            <a:ext cx="2423160" cy="162763"/>
          </a:xfrm>
          <a:prstGeom prst="rect">
            <a:avLst/>
          </a:prstGeom>
          <a:solidFill>
            <a:srgbClr val="F5F5F5"/>
          </a:solidFill>
          <a:ln w="3810">
            <a:solidFill>
              <a:srgbClr val="F0F0F0"/>
            </a:solidFill>
            <a:prstDash val="solid"/>
          </a:ln>
        </p:spPr>
        <p:txBody>
          <a:bodyPr/>
          <a:lstStyle/>
          <a:p>
            <a:endParaRPr lang="en-US"/>
          </a:p>
        </p:txBody>
      </p:sp>
      <p:sp>
        <p:nvSpPr>
          <p:cNvPr id="34" name="Text 32"/>
          <p:cNvSpPr/>
          <p:nvPr/>
        </p:nvSpPr>
        <p:spPr>
          <a:xfrm>
            <a:off x="557784" y="1618488"/>
            <a:ext cx="2313432" cy="162763"/>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/v1/files/{download_id}</a:t>
            </a:r>
            <a:endParaRPr lang="en-US" sz="800" dirty="0"/>
          </a:p>
        </p:txBody>
      </p:sp>
      <p:sp>
        <p:nvSpPr>
          <p:cNvPr id="35" name="Shape 33"/>
          <p:cNvSpPr/>
          <p:nvPr/>
        </p:nvSpPr>
        <p:spPr>
          <a:xfrm>
            <a:off x="2926080" y="1618488"/>
            <a:ext cx="594360" cy="162763"/>
          </a:xfrm>
          <a:prstGeom prst="rect">
            <a:avLst/>
          </a:prstGeom>
          <a:solidFill>
            <a:srgbClr val="F5F5F5"/>
          </a:solidFill>
          <a:ln w="3810">
            <a:solidFill>
              <a:srgbClr val="F0F0F0"/>
            </a:solidFill>
            <a:prstDash val="solid"/>
          </a:ln>
        </p:spPr>
        <p:txBody>
          <a:bodyPr/>
          <a:lstStyle/>
          <a:p>
            <a:endParaRPr lang="en-US"/>
          </a:p>
        </p:txBody>
      </p:sp>
      <p:sp>
        <p:nvSpPr>
          <p:cNvPr id="36" name="Text 34"/>
          <p:cNvSpPr/>
          <p:nvPr/>
        </p:nvSpPr>
        <p:spPr>
          <a:xfrm>
            <a:off x="2980944" y="1618488"/>
            <a:ext cx="48463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GET</a:t>
            </a:r>
            <a:endParaRPr lang="en-US" sz="800" dirty="0"/>
          </a:p>
        </p:txBody>
      </p:sp>
      <p:sp>
        <p:nvSpPr>
          <p:cNvPr id="37" name="Shape 35"/>
          <p:cNvSpPr/>
          <p:nvPr/>
        </p:nvSpPr>
        <p:spPr>
          <a:xfrm>
            <a:off x="3520440" y="1618488"/>
            <a:ext cx="5577840" cy="162763"/>
          </a:xfrm>
          <a:prstGeom prst="rect">
            <a:avLst/>
          </a:prstGeom>
          <a:solidFill>
            <a:srgbClr val="F5F5F5"/>
          </a:solidFill>
          <a:ln w="3810">
            <a:solidFill>
              <a:srgbClr val="F0F0F0"/>
            </a:solidFill>
            <a:prstDash val="solid"/>
          </a:ln>
        </p:spPr>
        <p:txBody>
          <a:bodyPr/>
          <a:lstStyle/>
          <a:p>
            <a:endParaRPr lang="en-US"/>
          </a:p>
        </p:txBody>
      </p:sp>
      <p:sp>
        <p:nvSpPr>
          <p:cNvPr id="38" name="Text 36"/>
          <p:cNvSpPr/>
          <p:nvPr/>
        </p:nvSpPr>
        <p:spPr>
          <a:xfrm>
            <a:off x="3575304" y="1618488"/>
            <a:ext cx="546811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Download workspace artifacts produced by agents</a:t>
            </a:r>
            <a:endParaRPr lang="en-US" sz="800" dirty="0"/>
          </a:p>
        </p:txBody>
      </p:sp>
      <p:sp>
        <p:nvSpPr>
          <p:cNvPr id="39" name="Shape 37"/>
          <p:cNvSpPr/>
          <p:nvPr/>
        </p:nvSpPr>
        <p:spPr>
          <a:xfrm>
            <a:off x="502920" y="1781251"/>
            <a:ext cx="2423160" cy="162763"/>
          </a:xfrm>
          <a:prstGeom prst="rect">
            <a:avLst/>
          </a:prstGeom>
          <a:solidFill>
            <a:srgbClr val="FFFFFF"/>
          </a:solidFill>
          <a:ln w="3810">
            <a:solidFill>
              <a:srgbClr val="F0F0F0"/>
            </a:solidFill>
            <a:prstDash val="solid"/>
          </a:ln>
        </p:spPr>
        <p:txBody>
          <a:bodyPr/>
          <a:lstStyle/>
          <a:p>
            <a:endParaRPr lang="en-US"/>
          </a:p>
        </p:txBody>
      </p:sp>
      <p:sp>
        <p:nvSpPr>
          <p:cNvPr id="40" name="Text 38"/>
          <p:cNvSpPr/>
          <p:nvPr/>
        </p:nvSpPr>
        <p:spPr>
          <a:xfrm>
            <a:off x="557784" y="1781251"/>
            <a:ext cx="2313432" cy="162763"/>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/v1/jobs/{job_id}</a:t>
            </a:r>
            <a:endParaRPr lang="en-US" sz="800" dirty="0"/>
          </a:p>
        </p:txBody>
      </p:sp>
      <p:sp>
        <p:nvSpPr>
          <p:cNvPr id="41" name="Shape 39"/>
          <p:cNvSpPr/>
          <p:nvPr/>
        </p:nvSpPr>
        <p:spPr>
          <a:xfrm>
            <a:off x="2926080" y="1781251"/>
            <a:ext cx="594360" cy="162763"/>
          </a:xfrm>
          <a:prstGeom prst="rect">
            <a:avLst/>
          </a:prstGeom>
          <a:solidFill>
            <a:srgbClr val="FFFFFF"/>
          </a:solidFill>
          <a:ln w="3810">
            <a:solidFill>
              <a:srgbClr val="F0F0F0"/>
            </a:solidFill>
            <a:prstDash val="solid"/>
          </a:ln>
        </p:spPr>
        <p:txBody>
          <a:bodyPr/>
          <a:lstStyle/>
          <a:p>
            <a:endParaRPr lang="en-US"/>
          </a:p>
        </p:txBody>
      </p:sp>
      <p:sp>
        <p:nvSpPr>
          <p:cNvPr id="42" name="Text 40"/>
          <p:cNvSpPr/>
          <p:nvPr/>
        </p:nvSpPr>
        <p:spPr>
          <a:xfrm>
            <a:off x="2980944" y="1781251"/>
            <a:ext cx="48463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GET</a:t>
            </a:r>
            <a:endParaRPr lang="en-US" sz="800" dirty="0"/>
          </a:p>
        </p:txBody>
      </p:sp>
      <p:sp>
        <p:nvSpPr>
          <p:cNvPr id="43" name="Shape 41"/>
          <p:cNvSpPr/>
          <p:nvPr/>
        </p:nvSpPr>
        <p:spPr>
          <a:xfrm>
            <a:off x="3520440" y="1781251"/>
            <a:ext cx="5577840" cy="162763"/>
          </a:xfrm>
          <a:prstGeom prst="rect">
            <a:avLst/>
          </a:prstGeom>
          <a:solidFill>
            <a:srgbClr val="FFFFFF"/>
          </a:solidFill>
          <a:ln w="3810">
            <a:solidFill>
              <a:srgbClr val="F0F0F0"/>
            </a:solidFill>
            <a:prstDash val="solid"/>
          </a:ln>
        </p:spPr>
        <p:txBody>
          <a:bodyPr/>
          <a:lstStyle/>
          <a:p>
            <a:endParaRPr lang="en-US"/>
          </a:p>
        </p:txBody>
      </p:sp>
      <p:sp>
        <p:nvSpPr>
          <p:cNvPr id="44" name="Text 42"/>
          <p:cNvSpPr/>
          <p:nvPr/>
        </p:nvSpPr>
        <p:spPr>
          <a:xfrm>
            <a:off x="3575304" y="1781251"/>
            <a:ext cx="546811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Poll status of background coordinator worker job</a:t>
            </a:r>
            <a:endParaRPr lang="en-US" sz="800" dirty="0"/>
          </a:p>
        </p:txBody>
      </p:sp>
      <p:sp>
        <p:nvSpPr>
          <p:cNvPr id="45" name="Shape 43"/>
          <p:cNvSpPr/>
          <p:nvPr/>
        </p:nvSpPr>
        <p:spPr>
          <a:xfrm>
            <a:off x="502920" y="1944014"/>
            <a:ext cx="2423160" cy="162763"/>
          </a:xfrm>
          <a:prstGeom prst="rect">
            <a:avLst/>
          </a:prstGeom>
          <a:solidFill>
            <a:srgbClr val="F5F5F5"/>
          </a:solidFill>
          <a:ln w="3810">
            <a:solidFill>
              <a:srgbClr val="F0F0F0"/>
            </a:solidFill>
            <a:prstDash val="solid"/>
          </a:ln>
        </p:spPr>
        <p:txBody>
          <a:bodyPr/>
          <a:lstStyle/>
          <a:p>
            <a:endParaRPr lang="en-US"/>
          </a:p>
        </p:txBody>
      </p:sp>
      <p:sp>
        <p:nvSpPr>
          <p:cNvPr id="46" name="Text 44"/>
          <p:cNvSpPr/>
          <p:nvPr/>
        </p:nvSpPr>
        <p:spPr>
          <a:xfrm>
            <a:off x="557784" y="1944014"/>
            <a:ext cx="2313432" cy="162763"/>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/v1/models</a:t>
            </a:r>
            <a:endParaRPr lang="en-US" sz="800" dirty="0"/>
          </a:p>
        </p:txBody>
      </p:sp>
      <p:sp>
        <p:nvSpPr>
          <p:cNvPr id="47" name="Shape 45"/>
          <p:cNvSpPr/>
          <p:nvPr/>
        </p:nvSpPr>
        <p:spPr>
          <a:xfrm>
            <a:off x="2926080" y="1944014"/>
            <a:ext cx="594360" cy="162763"/>
          </a:xfrm>
          <a:prstGeom prst="rect">
            <a:avLst/>
          </a:prstGeom>
          <a:solidFill>
            <a:srgbClr val="F5F5F5"/>
          </a:solidFill>
          <a:ln w="3810">
            <a:solidFill>
              <a:srgbClr val="F0F0F0"/>
            </a:solidFill>
            <a:prstDash val="solid"/>
          </a:ln>
        </p:spPr>
        <p:txBody>
          <a:bodyPr/>
          <a:lstStyle/>
          <a:p>
            <a:endParaRPr lang="en-US"/>
          </a:p>
        </p:txBody>
      </p:sp>
      <p:sp>
        <p:nvSpPr>
          <p:cNvPr id="48" name="Text 46"/>
          <p:cNvSpPr/>
          <p:nvPr/>
        </p:nvSpPr>
        <p:spPr>
          <a:xfrm>
            <a:off x="2980944" y="1944014"/>
            <a:ext cx="48463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GET</a:t>
            </a:r>
            <a:endParaRPr lang="en-US" sz="800" dirty="0"/>
          </a:p>
        </p:txBody>
      </p:sp>
      <p:sp>
        <p:nvSpPr>
          <p:cNvPr id="49" name="Shape 47"/>
          <p:cNvSpPr/>
          <p:nvPr/>
        </p:nvSpPr>
        <p:spPr>
          <a:xfrm>
            <a:off x="3520440" y="1944014"/>
            <a:ext cx="5577840" cy="162763"/>
          </a:xfrm>
          <a:prstGeom prst="rect">
            <a:avLst/>
          </a:prstGeom>
          <a:solidFill>
            <a:srgbClr val="F5F5F5"/>
          </a:solidFill>
          <a:ln w="3810">
            <a:solidFill>
              <a:srgbClr val="F0F0F0"/>
            </a:solidFill>
            <a:prstDash val="solid"/>
          </a:ln>
        </p:spPr>
        <p:txBody>
          <a:bodyPr/>
          <a:lstStyle/>
          <a:p>
            <a:endParaRPr lang="en-US"/>
          </a:p>
        </p:txBody>
      </p:sp>
      <p:sp>
        <p:nvSpPr>
          <p:cNvPr id="50" name="Text 48"/>
          <p:cNvSpPr/>
          <p:nvPr/>
        </p:nvSpPr>
        <p:spPr>
          <a:xfrm>
            <a:off x="3575304" y="1944014"/>
            <a:ext cx="546811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List available agents (OpenAI model list format)</a:t>
            </a:r>
            <a:endParaRPr lang="en-US" sz="800" dirty="0"/>
          </a:p>
        </p:txBody>
      </p:sp>
      <p:sp>
        <p:nvSpPr>
          <p:cNvPr id="51" name="Shape 49"/>
          <p:cNvSpPr/>
          <p:nvPr/>
        </p:nvSpPr>
        <p:spPr>
          <a:xfrm>
            <a:off x="502920" y="2106778"/>
            <a:ext cx="2423160" cy="162763"/>
          </a:xfrm>
          <a:prstGeom prst="rect">
            <a:avLst/>
          </a:prstGeom>
          <a:solidFill>
            <a:srgbClr val="FFF8E1"/>
          </a:solidFill>
          <a:ln w="3810">
            <a:solidFill>
              <a:srgbClr val="F0F0F0"/>
            </a:solidFill>
            <a:prstDash val="solid"/>
          </a:ln>
        </p:spPr>
        <p:txBody>
          <a:bodyPr/>
          <a:lstStyle/>
          <a:p>
            <a:endParaRPr lang="en-US"/>
          </a:p>
        </p:txBody>
      </p:sp>
      <p:sp>
        <p:nvSpPr>
          <p:cNvPr id="52" name="Text 50"/>
          <p:cNvSpPr/>
          <p:nvPr/>
        </p:nvSpPr>
        <p:spPr>
          <a:xfrm>
            <a:off x="557784" y="2106778"/>
            <a:ext cx="2313432" cy="162763"/>
          </a:xfrm>
          <a:prstGeom prst="rect">
            <a:avLst/>
          </a:prstGeom>
          <a:noFill/>
          <a:ln/>
        </p:spPr>
        <p:txBody>
          <a:bodyPr wrap="square" lIns="0" tIns="0" rIns="0" bIns="0" rtlCol="0" anchor="ctr"/>
          <a:lstStyle/>
          <a:p>
            <a:pPr marL="0" indent="0">
              <a:buNone/>
            </a:pPr>
            <a:r>
              <a:rPr lang="en-US" sz="800" b="1" dirty="0">
                <a:solidFill>
                  <a:srgbClr val="00796B"/>
                </a:solidFill>
                <a:latin typeface="Courier New" pitchFamily="34" charset="0"/>
                <a:ea typeface="Courier New" pitchFamily="34" charset="-122"/>
                <a:cs typeface="Courier New" pitchFamily="34" charset="-120"/>
              </a:rPr>
              <a:t>/v1/agents</a:t>
            </a:r>
            <a:endParaRPr lang="en-US" sz="800" dirty="0"/>
          </a:p>
        </p:txBody>
      </p:sp>
      <p:sp>
        <p:nvSpPr>
          <p:cNvPr id="53" name="Shape 51"/>
          <p:cNvSpPr/>
          <p:nvPr/>
        </p:nvSpPr>
        <p:spPr>
          <a:xfrm>
            <a:off x="2926080" y="2106778"/>
            <a:ext cx="594360" cy="162763"/>
          </a:xfrm>
          <a:prstGeom prst="rect">
            <a:avLst/>
          </a:prstGeom>
          <a:solidFill>
            <a:srgbClr val="FFF8E1"/>
          </a:solidFill>
          <a:ln w="3810">
            <a:solidFill>
              <a:srgbClr val="F0F0F0"/>
            </a:solidFill>
            <a:prstDash val="solid"/>
          </a:ln>
        </p:spPr>
        <p:txBody>
          <a:bodyPr/>
          <a:lstStyle/>
          <a:p>
            <a:endParaRPr lang="en-US"/>
          </a:p>
        </p:txBody>
      </p:sp>
      <p:sp>
        <p:nvSpPr>
          <p:cNvPr id="54" name="Text 52"/>
          <p:cNvSpPr/>
          <p:nvPr/>
        </p:nvSpPr>
        <p:spPr>
          <a:xfrm>
            <a:off x="2980944" y="2106778"/>
            <a:ext cx="484632" cy="162763"/>
          </a:xfrm>
          <a:prstGeom prst="rect">
            <a:avLst/>
          </a:prstGeom>
          <a:noFill/>
          <a:ln/>
        </p:spPr>
        <p:txBody>
          <a:bodyPr wrap="square" lIns="0" tIns="0" rIns="0" bIns="0" rtlCol="0" anchor="ctr"/>
          <a:lstStyle/>
          <a:p>
            <a:pPr marL="0" indent="0">
              <a:buNone/>
            </a:pPr>
            <a:r>
              <a:rPr lang="en-US" sz="800" dirty="0">
                <a:solidFill>
                  <a:srgbClr val="00796B"/>
                </a:solidFill>
                <a:latin typeface="Arial" pitchFamily="34" charset="0"/>
                <a:ea typeface="Arial" pitchFamily="34" charset="-122"/>
                <a:cs typeface="Arial" pitchFamily="34" charset="-120"/>
              </a:rPr>
              <a:t>GET</a:t>
            </a:r>
            <a:endParaRPr lang="en-US" sz="800" dirty="0"/>
          </a:p>
        </p:txBody>
      </p:sp>
      <p:sp>
        <p:nvSpPr>
          <p:cNvPr id="55" name="Shape 53"/>
          <p:cNvSpPr/>
          <p:nvPr/>
        </p:nvSpPr>
        <p:spPr>
          <a:xfrm>
            <a:off x="3520440" y="2106778"/>
            <a:ext cx="5577840" cy="162763"/>
          </a:xfrm>
          <a:prstGeom prst="rect">
            <a:avLst/>
          </a:prstGeom>
          <a:solidFill>
            <a:srgbClr val="FFF8E1"/>
          </a:solidFill>
          <a:ln w="3810">
            <a:solidFill>
              <a:srgbClr val="F0F0F0"/>
            </a:solidFill>
            <a:prstDash val="solid"/>
          </a:ln>
        </p:spPr>
        <p:txBody>
          <a:bodyPr/>
          <a:lstStyle/>
          <a:p>
            <a:endParaRPr lang="en-US"/>
          </a:p>
        </p:txBody>
      </p:sp>
      <p:sp>
        <p:nvSpPr>
          <p:cNvPr id="56" name="Text 54"/>
          <p:cNvSpPr/>
          <p:nvPr/>
        </p:nvSpPr>
        <p:spPr>
          <a:xfrm>
            <a:off x="3575304" y="2106778"/>
            <a:ext cx="5468112" cy="162763"/>
          </a:xfrm>
          <a:prstGeom prst="rect">
            <a:avLst/>
          </a:prstGeom>
          <a:noFill/>
          <a:ln/>
        </p:spPr>
        <p:txBody>
          <a:bodyPr wrap="square" lIns="0" tIns="0" rIns="0" bIns="0" rtlCol="0" anchor="ctr"/>
          <a:lstStyle/>
          <a:p>
            <a:pPr marL="0" indent="0">
              <a:buNone/>
            </a:pPr>
            <a:r>
              <a:rPr lang="en-US" sz="800" dirty="0">
                <a:solidFill>
                  <a:srgbClr val="00796B"/>
                </a:solidFill>
                <a:latin typeface="Arial" pitchFamily="34" charset="0"/>
                <a:ea typeface="Arial" pitchFamily="34" charset="-122"/>
                <a:cs typeface="Arial" pitchFamily="34" charset="-120"/>
              </a:rPr>
              <a:t>List agent configs with modes, tools, and entry paths</a:t>
            </a:r>
            <a:endParaRPr lang="en-US" sz="800" dirty="0"/>
          </a:p>
        </p:txBody>
      </p:sp>
      <p:sp>
        <p:nvSpPr>
          <p:cNvPr id="57" name="Shape 55"/>
          <p:cNvSpPr/>
          <p:nvPr/>
        </p:nvSpPr>
        <p:spPr>
          <a:xfrm>
            <a:off x="502920" y="2269541"/>
            <a:ext cx="2423160" cy="162763"/>
          </a:xfrm>
          <a:prstGeom prst="rect">
            <a:avLst/>
          </a:prstGeom>
          <a:solidFill>
            <a:srgbClr val="F5F5F5"/>
          </a:solidFill>
          <a:ln w="3810">
            <a:solidFill>
              <a:srgbClr val="F0F0F0"/>
            </a:solidFill>
            <a:prstDash val="solid"/>
          </a:ln>
        </p:spPr>
        <p:txBody>
          <a:bodyPr/>
          <a:lstStyle/>
          <a:p>
            <a:endParaRPr lang="en-US"/>
          </a:p>
        </p:txBody>
      </p:sp>
      <p:sp>
        <p:nvSpPr>
          <p:cNvPr id="58" name="Text 56"/>
          <p:cNvSpPr/>
          <p:nvPr/>
        </p:nvSpPr>
        <p:spPr>
          <a:xfrm>
            <a:off x="557784" y="2269541"/>
            <a:ext cx="2313432" cy="162763"/>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/v1/skills</a:t>
            </a:r>
            <a:endParaRPr lang="en-US" sz="800" dirty="0"/>
          </a:p>
        </p:txBody>
      </p:sp>
      <p:sp>
        <p:nvSpPr>
          <p:cNvPr id="59" name="Shape 57"/>
          <p:cNvSpPr/>
          <p:nvPr/>
        </p:nvSpPr>
        <p:spPr>
          <a:xfrm>
            <a:off x="2926080" y="2269541"/>
            <a:ext cx="594360" cy="162763"/>
          </a:xfrm>
          <a:prstGeom prst="rect">
            <a:avLst/>
          </a:prstGeom>
          <a:solidFill>
            <a:srgbClr val="F5F5F5"/>
          </a:solidFill>
          <a:ln w="3810">
            <a:solidFill>
              <a:srgbClr val="F0F0F0"/>
            </a:solidFill>
            <a:prstDash val="solid"/>
          </a:ln>
        </p:spPr>
        <p:txBody>
          <a:bodyPr/>
          <a:lstStyle/>
          <a:p>
            <a:endParaRPr lang="en-US"/>
          </a:p>
        </p:txBody>
      </p:sp>
      <p:sp>
        <p:nvSpPr>
          <p:cNvPr id="60" name="Text 58"/>
          <p:cNvSpPr/>
          <p:nvPr/>
        </p:nvSpPr>
        <p:spPr>
          <a:xfrm>
            <a:off x="2980944" y="2269541"/>
            <a:ext cx="48463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GET</a:t>
            </a:r>
            <a:endParaRPr lang="en-US" sz="800" dirty="0"/>
          </a:p>
        </p:txBody>
      </p:sp>
      <p:sp>
        <p:nvSpPr>
          <p:cNvPr id="61" name="Shape 59"/>
          <p:cNvSpPr/>
          <p:nvPr/>
        </p:nvSpPr>
        <p:spPr>
          <a:xfrm>
            <a:off x="3520440" y="2269541"/>
            <a:ext cx="5577840" cy="162763"/>
          </a:xfrm>
          <a:prstGeom prst="rect">
            <a:avLst/>
          </a:prstGeom>
          <a:solidFill>
            <a:srgbClr val="F5F5F5"/>
          </a:solidFill>
          <a:ln w="3810">
            <a:solidFill>
              <a:srgbClr val="F0F0F0"/>
            </a:solidFill>
            <a:prstDash val="solid"/>
          </a:ln>
        </p:spPr>
        <p:txBody>
          <a:bodyPr/>
          <a:lstStyle/>
          <a:p>
            <a:endParaRPr lang="en-US"/>
          </a:p>
        </p:txBody>
      </p:sp>
      <p:sp>
        <p:nvSpPr>
          <p:cNvPr id="62" name="Text 60"/>
          <p:cNvSpPr/>
          <p:nvPr/>
        </p:nvSpPr>
        <p:spPr>
          <a:xfrm>
            <a:off x="3575304" y="2269541"/>
            <a:ext cx="546811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List all indexed skill packs with status, scope, metadata</a:t>
            </a:r>
            <a:endParaRPr lang="en-US" sz="800" dirty="0"/>
          </a:p>
        </p:txBody>
      </p:sp>
      <p:sp>
        <p:nvSpPr>
          <p:cNvPr id="63" name="Shape 61"/>
          <p:cNvSpPr/>
          <p:nvPr/>
        </p:nvSpPr>
        <p:spPr>
          <a:xfrm>
            <a:off x="502920" y="2432304"/>
            <a:ext cx="2423160" cy="162763"/>
          </a:xfrm>
          <a:prstGeom prst="rect">
            <a:avLst/>
          </a:prstGeom>
          <a:solidFill>
            <a:srgbClr val="FFFFFF"/>
          </a:solidFill>
          <a:ln w="3810">
            <a:solidFill>
              <a:srgbClr val="F0F0F0"/>
            </a:solidFill>
            <a:prstDash val="solid"/>
          </a:ln>
        </p:spPr>
        <p:txBody>
          <a:bodyPr/>
          <a:lstStyle/>
          <a:p>
            <a:endParaRPr lang="en-US"/>
          </a:p>
        </p:txBody>
      </p:sp>
      <p:sp>
        <p:nvSpPr>
          <p:cNvPr id="64" name="Text 62"/>
          <p:cNvSpPr/>
          <p:nvPr/>
        </p:nvSpPr>
        <p:spPr>
          <a:xfrm>
            <a:off x="557784" y="2432304"/>
            <a:ext cx="2313432" cy="162763"/>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/v1/skills/{skill_id}</a:t>
            </a:r>
            <a:endParaRPr lang="en-US" sz="800" dirty="0"/>
          </a:p>
        </p:txBody>
      </p:sp>
      <p:sp>
        <p:nvSpPr>
          <p:cNvPr id="65" name="Shape 63"/>
          <p:cNvSpPr/>
          <p:nvPr/>
        </p:nvSpPr>
        <p:spPr>
          <a:xfrm>
            <a:off x="2926080" y="2432304"/>
            <a:ext cx="594360" cy="162763"/>
          </a:xfrm>
          <a:prstGeom prst="rect">
            <a:avLst/>
          </a:prstGeom>
          <a:solidFill>
            <a:srgbClr val="FFFFFF"/>
          </a:solidFill>
          <a:ln w="3810">
            <a:solidFill>
              <a:srgbClr val="F0F0F0"/>
            </a:solidFill>
            <a:prstDash val="solid"/>
          </a:ln>
        </p:spPr>
        <p:txBody>
          <a:bodyPr/>
          <a:lstStyle/>
          <a:p>
            <a:endParaRPr lang="en-US"/>
          </a:p>
        </p:txBody>
      </p:sp>
      <p:sp>
        <p:nvSpPr>
          <p:cNvPr id="66" name="Text 64"/>
          <p:cNvSpPr/>
          <p:nvPr/>
        </p:nvSpPr>
        <p:spPr>
          <a:xfrm>
            <a:off x="2980944" y="2432304"/>
            <a:ext cx="48463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GET</a:t>
            </a:r>
            <a:endParaRPr lang="en-US" sz="800" dirty="0"/>
          </a:p>
        </p:txBody>
      </p:sp>
      <p:sp>
        <p:nvSpPr>
          <p:cNvPr id="67" name="Shape 65"/>
          <p:cNvSpPr/>
          <p:nvPr/>
        </p:nvSpPr>
        <p:spPr>
          <a:xfrm>
            <a:off x="3520440" y="2432304"/>
            <a:ext cx="5577840" cy="162763"/>
          </a:xfrm>
          <a:prstGeom prst="rect">
            <a:avLst/>
          </a:prstGeom>
          <a:solidFill>
            <a:srgbClr val="FFFFFF"/>
          </a:solidFill>
          <a:ln w="3810">
            <a:solidFill>
              <a:srgbClr val="F0F0F0"/>
            </a:solidFill>
            <a:prstDash val="solid"/>
          </a:ln>
        </p:spPr>
        <p:txBody>
          <a:bodyPr/>
          <a:lstStyle/>
          <a:p>
            <a:endParaRPr lang="en-US"/>
          </a:p>
        </p:txBody>
      </p:sp>
      <p:sp>
        <p:nvSpPr>
          <p:cNvPr id="68" name="Text 66"/>
          <p:cNvSpPr/>
          <p:nvPr/>
        </p:nvSpPr>
        <p:spPr>
          <a:xfrm>
            <a:off x="3575304" y="2432304"/>
            <a:ext cx="546811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Get one skill pack by ID</a:t>
            </a:r>
            <a:endParaRPr lang="en-US" sz="800" dirty="0"/>
          </a:p>
        </p:txBody>
      </p:sp>
      <p:sp>
        <p:nvSpPr>
          <p:cNvPr id="69" name="Shape 67"/>
          <p:cNvSpPr/>
          <p:nvPr/>
        </p:nvSpPr>
        <p:spPr>
          <a:xfrm>
            <a:off x="502920" y="2595067"/>
            <a:ext cx="2423160" cy="162763"/>
          </a:xfrm>
          <a:prstGeom prst="rect">
            <a:avLst/>
          </a:prstGeom>
          <a:solidFill>
            <a:srgbClr val="F5F5F5"/>
          </a:solidFill>
          <a:ln w="3810">
            <a:solidFill>
              <a:srgbClr val="F0F0F0"/>
            </a:solidFill>
            <a:prstDash val="solid"/>
          </a:ln>
        </p:spPr>
        <p:txBody>
          <a:bodyPr/>
          <a:lstStyle/>
          <a:p>
            <a:endParaRPr lang="en-US"/>
          </a:p>
        </p:txBody>
      </p:sp>
      <p:sp>
        <p:nvSpPr>
          <p:cNvPr id="70" name="Text 68"/>
          <p:cNvSpPr/>
          <p:nvPr/>
        </p:nvSpPr>
        <p:spPr>
          <a:xfrm>
            <a:off x="557784" y="2595067"/>
            <a:ext cx="2313432" cy="162763"/>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/v1/skills</a:t>
            </a:r>
            <a:endParaRPr lang="en-US" sz="800" dirty="0"/>
          </a:p>
        </p:txBody>
      </p:sp>
      <p:sp>
        <p:nvSpPr>
          <p:cNvPr id="71" name="Shape 69"/>
          <p:cNvSpPr/>
          <p:nvPr/>
        </p:nvSpPr>
        <p:spPr>
          <a:xfrm>
            <a:off x="2926080" y="2595067"/>
            <a:ext cx="594360" cy="162763"/>
          </a:xfrm>
          <a:prstGeom prst="rect">
            <a:avLst/>
          </a:prstGeom>
          <a:solidFill>
            <a:srgbClr val="F5F5F5"/>
          </a:solidFill>
          <a:ln w="3810">
            <a:solidFill>
              <a:srgbClr val="F0F0F0"/>
            </a:solidFill>
            <a:prstDash val="solid"/>
          </a:ln>
        </p:spPr>
        <p:txBody>
          <a:bodyPr/>
          <a:lstStyle/>
          <a:p>
            <a:endParaRPr lang="en-US"/>
          </a:p>
        </p:txBody>
      </p:sp>
      <p:sp>
        <p:nvSpPr>
          <p:cNvPr id="72" name="Text 70"/>
          <p:cNvSpPr/>
          <p:nvPr/>
        </p:nvSpPr>
        <p:spPr>
          <a:xfrm>
            <a:off x="2980944" y="2595067"/>
            <a:ext cx="48463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POST</a:t>
            </a:r>
            <a:endParaRPr lang="en-US" sz="800" dirty="0"/>
          </a:p>
        </p:txBody>
      </p:sp>
      <p:sp>
        <p:nvSpPr>
          <p:cNvPr id="73" name="Shape 71"/>
          <p:cNvSpPr/>
          <p:nvPr/>
        </p:nvSpPr>
        <p:spPr>
          <a:xfrm>
            <a:off x="3520440" y="2595067"/>
            <a:ext cx="5577840" cy="162763"/>
          </a:xfrm>
          <a:prstGeom prst="rect">
            <a:avLst/>
          </a:prstGeom>
          <a:solidFill>
            <a:srgbClr val="F5F5F5"/>
          </a:solidFill>
          <a:ln w="3810">
            <a:solidFill>
              <a:srgbClr val="F0F0F0"/>
            </a:solidFill>
            <a:prstDash val="solid"/>
          </a:ln>
        </p:spPr>
        <p:txBody>
          <a:bodyPr/>
          <a:lstStyle/>
          <a:p>
            <a:endParaRPr lang="en-US"/>
          </a:p>
        </p:txBody>
      </p:sp>
      <p:sp>
        <p:nvSpPr>
          <p:cNvPr id="74" name="Text 72"/>
          <p:cNvSpPr/>
          <p:nvPr/>
        </p:nvSpPr>
        <p:spPr>
          <a:xfrm>
            <a:off x="3575304" y="2595067"/>
            <a:ext cx="546811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Create / index a new skill pack</a:t>
            </a:r>
            <a:endParaRPr lang="en-US" sz="800" dirty="0"/>
          </a:p>
        </p:txBody>
      </p:sp>
      <p:sp>
        <p:nvSpPr>
          <p:cNvPr id="75" name="Shape 73"/>
          <p:cNvSpPr/>
          <p:nvPr/>
        </p:nvSpPr>
        <p:spPr>
          <a:xfrm>
            <a:off x="502920" y="2757830"/>
            <a:ext cx="2423160" cy="162763"/>
          </a:xfrm>
          <a:prstGeom prst="rect">
            <a:avLst/>
          </a:prstGeom>
          <a:solidFill>
            <a:srgbClr val="FFFFFF"/>
          </a:solidFill>
          <a:ln w="3810">
            <a:solidFill>
              <a:srgbClr val="F0F0F0"/>
            </a:solidFill>
            <a:prstDash val="solid"/>
          </a:ln>
        </p:spPr>
        <p:txBody>
          <a:bodyPr/>
          <a:lstStyle/>
          <a:p>
            <a:endParaRPr lang="en-US"/>
          </a:p>
        </p:txBody>
      </p:sp>
      <p:sp>
        <p:nvSpPr>
          <p:cNvPr id="76" name="Text 74"/>
          <p:cNvSpPr/>
          <p:nvPr/>
        </p:nvSpPr>
        <p:spPr>
          <a:xfrm>
            <a:off x="557784" y="2757830"/>
            <a:ext cx="2313432" cy="162763"/>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/v1/skills/{skill_id}</a:t>
            </a:r>
            <a:endParaRPr lang="en-US" sz="800" dirty="0"/>
          </a:p>
        </p:txBody>
      </p:sp>
      <p:sp>
        <p:nvSpPr>
          <p:cNvPr id="77" name="Shape 75"/>
          <p:cNvSpPr/>
          <p:nvPr/>
        </p:nvSpPr>
        <p:spPr>
          <a:xfrm>
            <a:off x="2926080" y="2757830"/>
            <a:ext cx="594360" cy="162763"/>
          </a:xfrm>
          <a:prstGeom prst="rect">
            <a:avLst/>
          </a:prstGeom>
          <a:solidFill>
            <a:srgbClr val="FFFFFF"/>
          </a:solidFill>
          <a:ln w="3810">
            <a:solidFill>
              <a:srgbClr val="F0F0F0"/>
            </a:solidFill>
            <a:prstDash val="solid"/>
          </a:ln>
        </p:spPr>
        <p:txBody>
          <a:bodyPr/>
          <a:lstStyle/>
          <a:p>
            <a:endParaRPr lang="en-US"/>
          </a:p>
        </p:txBody>
      </p:sp>
      <p:sp>
        <p:nvSpPr>
          <p:cNvPr id="78" name="Text 76"/>
          <p:cNvSpPr/>
          <p:nvPr/>
        </p:nvSpPr>
        <p:spPr>
          <a:xfrm>
            <a:off x="2980944" y="2757830"/>
            <a:ext cx="48463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PUT</a:t>
            </a:r>
            <a:endParaRPr lang="en-US" sz="800" dirty="0"/>
          </a:p>
        </p:txBody>
      </p:sp>
      <p:sp>
        <p:nvSpPr>
          <p:cNvPr id="79" name="Shape 77"/>
          <p:cNvSpPr/>
          <p:nvPr/>
        </p:nvSpPr>
        <p:spPr>
          <a:xfrm>
            <a:off x="3520440" y="2757830"/>
            <a:ext cx="5577840" cy="162763"/>
          </a:xfrm>
          <a:prstGeom prst="rect">
            <a:avLst/>
          </a:prstGeom>
          <a:solidFill>
            <a:srgbClr val="FFFFFF"/>
          </a:solidFill>
          <a:ln w="3810">
            <a:solidFill>
              <a:srgbClr val="F0F0F0"/>
            </a:solidFill>
            <a:prstDash val="solid"/>
          </a:ln>
        </p:spPr>
        <p:txBody>
          <a:bodyPr/>
          <a:lstStyle/>
          <a:p>
            <a:endParaRPr lang="en-US"/>
          </a:p>
        </p:txBody>
      </p:sp>
      <p:sp>
        <p:nvSpPr>
          <p:cNvPr id="80" name="Text 78"/>
          <p:cNvSpPr/>
          <p:nvPr/>
        </p:nvSpPr>
        <p:spPr>
          <a:xfrm>
            <a:off x="3575304" y="2757830"/>
            <a:ext cx="546811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Update skill pack fields</a:t>
            </a:r>
            <a:endParaRPr lang="en-US" sz="800" dirty="0"/>
          </a:p>
        </p:txBody>
      </p:sp>
      <p:sp>
        <p:nvSpPr>
          <p:cNvPr id="81" name="Shape 79"/>
          <p:cNvSpPr/>
          <p:nvPr/>
        </p:nvSpPr>
        <p:spPr>
          <a:xfrm>
            <a:off x="502920" y="2920594"/>
            <a:ext cx="2423160" cy="162763"/>
          </a:xfrm>
          <a:prstGeom prst="rect">
            <a:avLst/>
          </a:prstGeom>
          <a:solidFill>
            <a:srgbClr val="F5F5F5"/>
          </a:solidFill>
          <a:ln w="3810">
            <a:solidFill>
              <a:srgbClr val="F0F0F0"/>
            </a:solidFill>
            <a:prstDash val="solid"/>
          </a:ln>
        </p:spPr>
        <p:txBody>
          <a:bodyPr/>
          <a:lstStyle/>
          <a:p>
            <a:endParaRPr lang="en-US"/>
          </a:p>
        </p:txBody>
      </p:sp>
      <p:sp>
        <p:nvSpPr>
          <p:cNvPr id="82" name="Text 80"/>
          <p:cNvSpPr/>
          <p:nvPr/>
        </p:nvSpPr>
        <p:spPr>
          <a:xfrm>
            <a:off x="557784" y="2920594"/>
            <a:ext cx="2313432" cy="162763"/>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/v1/skills/{skill_id}/activate</a:t>
            </a:r>
            <a:endParaRPr lang="en-US" sz="800" dirty="0"/>
          </a:p>
        </p:txBody>
      </p:sp>
      <p:sp>
        <p:nvSpPr>
          <p:cNvPr id="83" name="Shape 81"/>
          <p:cNvSpPr/>
          <p:nvPr/>
        </p:nvSpPr>
        <p:spPr>
          <a:xfrm>
            <a:off x="2926080" y="2920594"/>
            <a:ext cx="594360" cy="162763"/>
          </a:xfrm>
          <a:prstGeom prst="rect">
            <a:avLst/>
          </a:prstGeom>
          <a:solidFill>
            <a:srgbClr val="F5F5F5"/>
          </a:solidFill>
          <a:ln w="3810">
            <a:solidFill>
              <a:srgbClr val="F0F0F0"/>
            </a:solidFill>
            <a:prstDash val="solid"/>
          </a:ln>
        </p:spPr>
        <p:txBody>
          <a:bodyPr/>
          <a:lstStyle/>
          <a:p>
            <a:endParaRPr lang="en-US"/>
          </a:p>
        </p:txBody>
      </p:sp>
      <p:sp>
        <p:nvSpPr>
          <p:cNvPr id="84" name="Text 82"/>
          <p:cNvSpPr/>
          <p:nvPr/>
        </p:nvSpPr>
        <p:spPr>
          <a:xfrm>
            <a:off x="2980944" y="2920594"/>
            <a:ext cx="48463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POST</a:t>
            </a:r>
            <a:endParaRPr lang="en-US" sz="800" dirty="0"/>
          </a:p>
        </p:txBody>
      </p:sp>
      <p:sp>
        <p:nvSpPr>
          <p:cNvPr id="85" name="Shape 83"/>
          <p:cNvSpPr/>
          <p:nvPr/>
        </p:nvSpPr>
        <p:spPr>
          <a:xfrm>
            <a:off x="3520440" y="2920594"/>
            <a:ext cx="5577840" cy="162763"/>
          </a:xfrm>
          <a:prstGeom prst="rect">
            <a:avLst/>
          </a:prstGeom>
          <a:solidFill>
            <a:srgbClr val="F5F5F5"/>
          </a:solidFill>
          <a:ln w="3810">
            <a:solidFill>
              <a:srgbClr val="F0F0F0"/>
            </a:solidFill>
            <a:prstDash val="solid"/>
          </a:ln>
        </p:spPr>
        <p:txBody>
          <a:bodyPr/>
          <a:lstStyle/>
          <a:p>
            <a:endParaRPr lang="en-US"/>
          </a:p>
        </p:txBody>
      </p:sp>
      <p:sp>
        <p:nvSpPr>
          <p:cNvPr id="86" name="Text 84"/>
          <p:cNvSpPr/>
          <p:nvPr/>
        </p:nvSpPr>
        <p:spPr>
          <a:xfrm>
            <a:off x="3575304" y="2920594"/>
            <a:ext cx="546811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Activate skill (sets status=active)</a:t>
            </a:r>
            <a:endParaRPr lang="en-US" sz="800" dirty="0"/>
          </a:p>
        </p:txBody>
      </p:sp>
      <p:sp>
        <p:nvSpPr>
          <p:cNvPr id="87" name="Shape 85"/>
          <p:cNvSpPr/>
          <p:nvPr/>
        </p:nvSpPr>
        <p:spPr>
          <a:xfrm>
            <a:off x="502920" y="3083357"/>
            <a:ext cx="2423160" cy="162763"/>
          </a:xfrm>
          <a:prstGeom prst="rect">
            <a:avLst/>
          </a:prstGeom>
          <a:solidFill>
            <a:srgbClr val="FFFFFF"/>
          </a:solidFill>
          <a:ln w="3810">
            <a:solidFill>
              <a:srgbClr val="F0F0F0"/>
            </a:solidFill>
            <a:prstDash val="solid"/>
          </a:ln>
        </p:spPr>
        <p:txBody>
          <a:bodyPr/>
          <a:lstStyle/>
          <a:p>
            <a:endParaRPr lang="en-US"/>
          </a:p>
        </p:txBody>
      </p:sp>
      <p:sp>
        <p:nvSpPr>
          <p:cNvPr id="88" name="Text 86"/>
          <p:cNvSpPr/>
          <p:nvPr/>
        </p:nvSpPr>
        <p:spPr>
          <a:xfrm>
            <a:off x="557784" y="3083357"/>
            <a:ext cx="2313432" cy="162763"/>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/v1/skills/{skill_id}/deactivate</a:t>
            </a:r>
            <a:endParaRPr lang="en-US" sz="800" dirty="0"/>
          </a:p>
        </p:txBody>
      </p:sp>
      <p:sp>
        <p:nvSpPr>
          <p:cNvPr id="89" name="Shape 87"/>
          <p:cNvSpPr/>
          <p:nvPr/>
        </p:nvSpPr>
        <p:spPr>
          <a:xfrm>
            <a:off x="2926080" y="3083357"/>
            <a:ext cx="594360" cy="162763"/>
          </a:xfrm>
          <a:prstGeom prst="rect">
            <a:avLst/>
          </a:prstGeom>
          <a:solidFill>
            <a:srgbClr val="FFFFFF"/>
          </a:solidFill>
          <a:ln w="3810">
            <a:solidFill>
              <a:srgbClr val="F0F0F0"/>
            </a:solidFill>
            <a:prstDash val="solid"/>
          </a:ln>
        </p:spPr>
        <p:txBody>
          <a:bodyPr/>
          <a:lstStyle/>
          <a:p>
            <a:endParaRPr lang="en-US"/>
          </a:p>
        </p:txBody>
      </p:sp>
      <p:sp>
        <p:nvSpPr>
          <p:cNvPr id="90" name="Text 88"/>
          <p:cNvSpPr/>
          <p:nvPr/>
        </p:nvSpPr>
        <p:spPr>
          <a:xfrm>
            <a:off x="2980944" y="3083357"/>
            <a:ext cx="48463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POST</a:t>
            </a:r>
            <a:endParaRPr lang="en-US" sz="800" dirty="0"/>
          </a:p>
        </p:txBody>
      </p:sp>
      <p:sp>
        <p:nvSpPr>
          <p:cNvPr id="91" name="Shape 89"/>
          <p:cNvSpPr/>
          <p:nvPr/>
        </p:nvSpPr>
        <p:spPr>
          <a:xfrm>
            <a:off x="3520440" y="3083357"/>
            <a:ext cx="5577840" cy="162763"/>
          </a:xfrm>
          <a:prstGeom prst="rect">
            <a:avLst/>
          </a:prstGeom>
          <a:solidFill>
            <a:srgbClr val="FFFFFF"/>
          </a:solidFill>
          <a:ln w="3810">
            <a:solidFill>
              <a:srgbClr val="F0F0F0"/>
            </a:solidFill>
            <a:prstDash val="solid"/>
          </a:ln>
        </p:spPr>
        <p:txBody>
          <a:bodyPr/>
          <a:lstStyle/>
          <a:p>
            <a:endParaRPr lang="en-US"/>
          </a:p>
        </p:txBody>
      </p:sp>
      <p:sp>
        <p:nvSpPr>
          <p:cNvPr id="92" name="Text 90"/>
          <p:cNvSpPr/>
          <p:nvPr/>
        </p:nvSpPr>
        <p:spPr>
          <a:xfrm>
            <a:off x="3575304" y="3083357"/>
            <a:ext cx="546811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Deactivate skill (excludes from SkillResolver results)</a:t>
            </a:r>
            <a:endParaRPr lang="en-US" sz="800" dirty="0"/>
          </a:p>
        </p:txBody>
      </p:sp>
      <p:sp>
        <p:nvSpPr>
          <p:cNvPr id="93" name="Shape 91"/>
          <p:cNvSpPr/>
          <p:nvPr/>
        </p:nvSpPr>
        <p:spPr>
          <a:xfrm>
            <a:off x="502920" y="3246120"/>
            <a:ext cx="2423160" cy="162763"/>
          </a:xfrm>
          <a:prstGeom prst="rect">
            <a:avLst/>
          </a:prstGeom>
          <a:solidFill>
            <a:srgbClr val="F5F5F5"/>
          </a:solidFill>
          <a:ln w="3810">
            <a:solidFill>
              <a:srgbClr val="F0F0F0"/>
            </a:solidFill>
            <a:prstDash val="solid"/>
          </a:ln>
        </p:spPr>
        <p:txBody>
          <a:bodyPr/>
          <a:lstStyle/>
          <a:p>
            <a:endParaRPr lang="en-US"/>
          </a:p>
        </p:txBody>
      </p:sp>
      <p:sp>
        <p:nvSpPr>
          <p:cNvPr id="94" name="Text 92"/>
          <p:cNvSpPr/>
          <p:nvPr/>
        </p:nvSpPr>
        <p:spPr>
          <a:xfrm>
            <a:off x="557784" y="3246120"/>
            <a:ext cx="2313432" cy="162763"/>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/v1/skills/{skill_id}/rollback</a:t>
            </a:r>
            <a:endParaRPr lang="en-US" sz="800" dirty="0"/>
          </a:p>
        </p:txBody>
      </p:sp>
      <p:sp>
        <p:nvSpPr>
          <p:cNvPr id="95" name="Shape 93"/>
          <p:cNvSpPr/>
          <p:nvPr/>
        </p:nvSpPr>
        <p:spPr>
          <a:xfrm>
            <a:off x="2926080" y="3246120"/>
            <a:ext cx="594360" cy="162763"/>
          </a:xfrm>
          <a:prstGeom prst="rect">
            <a:avLst/>
          </a:prstGeom>
          <a:solidFill>
            <a:srgbClr val="F5F5F5"/>
          </a:solidFill>
          <a:ln w="3810">
            <a:solidFill>
              <a:srgbClr val="F0F0F0"/>
            </a:solidFill>
            <a:prstDash val="solid"/>
          </a:ln>
        </p:spPr>
        <p:txBody>
          <a:bodyPr/>
          <a:lstStyle/>
          <a:p>
            <a:endParaRPr lang="en-US"/>
          </a:p>
        </p:txBody>
      </p:sp>
      <p:sp>
        <p:nvSpPr>
          <p:cNvPr id="96" name="Text 94"/>
          <p:cNvSpPr/>
          <p:nvPr/>
        </p:nvSpPr>
        <p:spPr>
          <a:xfrm>
            <a:off x="2980944" y="3246120"/>
            <a:ext cx="48463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POST</a:t>
            </a:r>
            <a:endParaRPr lang="en-US" sz="800" dirty="0"/>
          </a:p>
        </p:txBody>
      </p:sp>
      <p:sp>
        <p:nvSpPr>
          <p:cNvPr id="97" name="Shape 95"/>
          <p:cNvSpPr/>
          <p:nvPr/>
        </p:nvSpPr>
        <p:spPr>
          <a:xfrm>
            <a:off x="3520440" y="3246120"/>
            <a:ext cx="5577840" cy="162763"/>
          </a:xfrm>
          <a:prstGeom prst="rect">
            <a:avLst/>
          </a:prstGeom>
          <a:solidFill>
            <a:srgbClr val="F5F5F5"/>
          </a:solidFill>
          <a:ln w="3810">
            <a:solidFill>
              <a:srgbClr val="F0F0F0"/>
            </a:solidFill>
            <a:prstDash val="solid"/>
          </a:ln>
        </p:spPr>
        <p:txBody>
          <a:bodyPr/>
          <a:lstStyle/>
          <a:p>
            <a:endParaRPr lang="en-US"/>
          </a:p>
        </p:txBody>
      </p:sp>
      <p:sp>
        <p:nvSpPr>
          <p:cNvPr id="98" name="Text 96"/>
          <p:cNvSpPr/>
          <p:nvPr/>
        </p:nvSpPr>
        <p:spPr>
          <a:xfrm>
            <a:off x="3575304" y="3246120"/>
            <a:ext cx="546811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Roll back skill to previous version</a:t>
            </a:r>
            <a:endParaRPr lang="en-US" sz="800" dirty="0"/>
          </a:p>
        </p:txBody>
      </p:sp>
      <p:sp>
        <p:nvSpPr>
          <p:cNvPr id="99" name="Shape 97"/>
          <p:cNvSpPr/>
          <p:nvPr/>
        </p:nvSpPr>
        <p:spPr>
          <a:xfrm>
            <a:off x="502920" y="3408883"/>
            <a:ext cx="2423160" cy="162763"/>
          </a:xfrm>
          <a:prstGeom prst="rect">
            <a:avLst/>
          </a:prstGeom>
          <a:solidFill>
            <a:srgbClr val="FFFFFF"/>
          </a:solidFill>
          <a:ln w="3810">
            <a:solidFill>
              <a:srgbClr val="F0F0F0"/>
            </a:solidFill>
            <a:prstDash val="solid"/>
          </a:ln>
        </p:spPr>
        <p:txBody>
          <a:bodyPr/>
          <a:lstStyle/>
          <a:p>
            <a:endParaRPr lang="en-US"/>
          </a:p>
        </p:txBody>
      </p:sp>
      <p:sp>
        <p:nvSpPr>
          <p:cNvPr id="100" name="Text 98"/>
          <p:cNvSpPr/>
          <p:nvPr/>
        </p:nvSpPr>
        <p:spPr>
          <a:xfrm>
            <a:off x="557784" y="3408883"/>
            <a:ext cx="2313432" cy="162763"/>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/v1/skills/preview</a:t>
            </a:r>
            <a:endParaRPr lang="en-US" sz="800" dirty="0"/>
          </a:p>
        </p:txBody>
      </p:sp>
      <p:sp>
        <p:nvSpPr>
          <p:cNvPr id="101" name="Shape 99"/>
          <p:cNvSpPr/>
          <p:nvPr/>
        </p:nvSpPr>
        <p:spPr>
          <a:xfrm>
            <a:off x="2926080" y="3408883"/>
            <a:ext cx="594360" cy="162763"/>
          </a:xfrm>
          <a:prstGeom prst="rect">
            <a:avLst/>
          </a:prstGeom>
          <a:solidFill>
            <a:srgbClr val="FFFFFF"/>
          </a:solidFill>
          <a:ln w="3810">
            <a:solidFill>
              <a:srgbClr val="F0F0F0"/>
            </a:solidFill>
            <a:prstDash val="solid"/>
          </a:ln>
        </p:spPr>
        <p:txBody>
          <a:bodyPr/>
          <a:lstStyle/>
          <a:p>
            <a:endParaRPr lang="en-US"/>
          </a:p>
        </p:txBody>
      </p:sp>
      <p:sp>
        <p:nvSpPr>
          <p:cNvPr id="102" name="Text 100"/>
          <p:cNvSpPr/>
          <p:nvPr/>
        </p:nvSpPr>
        <p:spPr>
          <a:xfrm>
            <a:off x="2980944" y="3408883"/>
            <a:ext cx="48463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POST</a:t>
            </a:r>
            <a:endParaRPr lang="en-US" sz="800" dirty="0"/>
          </a:p>
        </p:txBody>
      </p:sp>
      <p:sp>
        <p:nvSpPr>
          <p:cNvPr id="103" name="Shape 101"/>
          <p:cNvSpPr/>
          <p:nvPr/>
        </p:nvSpPr>
        <p:spPr>
          <a:xfrm>
            <a:off x="3520440" y="3408883"/>
            <a:ext cx="5577840" cy="162763"/>
          </a:xfrm>
          <a:prstGeom prst="rect">
            <a:avLst/>
          </a:prstGeom>
          <a:solidFill>
            <a:srgbClr val="FFFFFF"/>
          </a:solidFill>
          <a:ln w="3810">
            <a:solidFill>
              <a:srgbClr val="F0F0F0"/>
            </a:solidFill>
            <a:prstDash val="solid"/>
          </a:ln>
        </p:spPr>
        <p:txBody>
          <a:bodyPr/>
          <a:lstStyle/>
          <a:p>
            <a:endParaRPr lang="en-US"/>
          </a:p>
        </p:txBody>
      </p:sp>
      <p:sp>
        <p:nvSpPr>
          <p:cNvPr id="104" name="Text 102"/>
          <p:cNvSpPr/>
          <p:nvPr/>
        </p:nvSpPr>
        <p:spPr>
          <a:xfrm>
            <a:off x="3575304" y="3408883"/>
            <a:ext cx="546811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Preview which skills would match a given query (no side effects)</a:t>
            </a:r>
            <a:endParaRPr lang="en-US" sz="800" dirty="0"/>
          </a:p>
        </p:txBody>
      </p:sp>
      <p:sp>
        <p:nvSpPr>
          <p:cNvPr id="105" name="Shape 103"/>
          <p:cNvSpPr/>
          <p:nvPr/>
        </p:nvSpPr>
        <p:spPr>
          <a:xfrm>
            <a:off x="502920" y="3571646"/>
            <a:ext cx="2423160" cy="162763"/>
          </a:xfrm>
          <a:prstGeom prst="rect">
            <a:avLst/>
          </a:prstGeom>
          <a:solidFill>
            <a:srgbClr val="FFF8E1"/>
          </a:solidFill>
          <a:ln w="3810">
            <a:solidFill>
              <a:srgbClr val="F0F0F0"/>
            </a:solidFill>
            <a:prstDash val="solid"/>
          </a:ln>
        </p:spPr>
        <p:txBody>
          <a:bodyPr/>
          <a:lstStyle/>
          <a:p>
            <a:endParaRPr lang="en-US"/>
          </a:p>
        </p:txBody>
      </p:sp>
      <p:sp>
        <p:nvSpPr>
          <p:cNvPr id="106" name="Text 104"/>
          <p:cNvSpPr/>
          <p:nvPr/>
        </p:nvSpPr>
        <p:spPr>
          <a:xfrm>
            <a:off x="557784" y="3571646"/>
            <a:ext cx="2313432" cy="162763"/>
          </a:xfrm>
          <a:prstGeom prst="rect">
            <a:avLst/>
          </a:prstGeom>
          <a:noFill/>
          <a:ln/>
        </p:spPr>
        <p:txBody>
          <a:bodyPr wrap="square" lIns="0" tIns="0" rIns="0" bIns="0" rtlCol="0" anchor="ctr"/>
          <a:lstStyle/>
          <a:p>
            <a:pPr marL="0" indent="0">
              <a:buNone/>
            </a:pPr>
            <a:r>
              <a:rPr lang="en-US" sz="800" b="1" dirty="0">
                <a:solidFill>
                  <a:srgbClr val="00796B"/>
                </a:solidFill>
                <a:latin typeface="Courier New" pitchFamily="34" charset="0"/>
                <a:ea typeface="Courier New" pitchFamily="34" charset="-122"/>
                <a:cs typeface="Courier New" pitchFamily="34" charset="-120"/>
              </a:rPr>
              <a:t>/v1/graphs</a:t>
            </a:r>
            <a:endParaRPr lang="en-US" sz="800" dirty="0"/>
          </a:p>
        </p:txBody>
      </p:sp>
      <p:sp>
        <p:nvSpPr>
          <p:cNvPr id="107" name="Shape 105"/>
          <p:cNvSpPr/>
          <p:nvPr/>
        </p:nvSpPr>
        <p:spPr>
          <a:xfrm>
            <a:off x="2926080" y="3571646"/>
            <a:ext cx="594360" cy="162763"/>
          </a:xfrm>
          <a:prstGeom prst="rect">
            <a:avLst/>
          </a:prstGeom>
          <a:solidFill>
            <a:srgbClr val="FFF8E1"/>
          </a:solidFill>
          <a:ln w="3810">
            <a:solidFill>
              <a:srgbClr val="F0F0F0"/>
            </a:solidFill>
            <a:prstDash val="solid"/>
          </a:ln>
        </p:spPr>
        <p:txBody>
          <a:bodyPr/>
          <a:lstStyle/>
          <a:p>
            <a:endParaRPr lang="en-US"/>
          </a:p>
        </p:txBody>
      </p:sp>
      <p:sp>
        <p:nvSpPr>
          <p:cNvPr id="108" name="Text 106"/>
          <p:cNvSpPr/>
          <p:nvPr/>
        </p:nvSpPr>
        <p:spPr>
          <a:xfrm>
            <a:off x="2980944" y="3571646"/>
            <a:ext cx="484632" cy="162763"/>
          </a:xfrm>
          <a:prstGeom prst="rect">
            <a:avLst/>
          </a:prstGeom>
          <a:noFill/>
          <a:ln/>
        </p:spPr>
        <p:txBody>
          <a:bodyPr wrap="square" lIns="0" tIns="0" rIns="0" bIns="0" rtlCol="0" anchor="ctr"/>
          <a:lstStyle/>
          <a:p>
            <a:pPr marL="0" indent="0">
              <a:buNone/>
            </a:pPr>
            <a:r>
              <a:rPr lang="en-US" sz="800" dirty="0">
                <a:solidFill>
                  <a:srgbClr val="00796B"/>
                </a:solidFill>
                <a:latin typeface="Arial" pitchFamily="34" charset="0"/>
                <a:ea typeface="Arial" pitchFamily="34" charset="-122"/>
                <a:cs typeface="Arial" pitchFamily="34" charset="-120"/>
              </a:rPr>
              <a:t>GET</a:t>
            </a:r>
            <a:endParaRPr lang="en-US" sz="800" dirty="0"/>
          </a:p>
        </p:txBody>
      </p:sp>
      <p:sp>
        <p:nvSpPr>
          <p:cNvPr id="109" name="Shape 107"/>
          <p:cNvSpPr/>
          <p:nvPr/>
        </p:nvSpPr>
        <p:spPr>
          <a:xfrm>
            <a:off x="3520440" y="3571646"/>
            <a:ext cx="5577840" cy="162763"/>
          </a:xfrm>
          <a:prstGeom prst="rect">
            <a:avLst/>
          </a:prstGeom>
          <a:solidFill>
            <a:srgbClr val="FFF8E1"/>
          </a:solidFill>
          <a:ln w="3810">
            <a:solidFill>
              <a:srgbClr val="F0F0F0"/>
            </a:solidFill>
            <a:prstDash val="solid"/>
          </a:ln>
        </p:spPr>
        <p:txBody>
          <a:bodyPr/>
          <a:lstStyle/>
          <a:p>
            <a:endParaRPr lang="en-US"/>
          </a:p>
        </p:txBody>
      </p:sp>
      <p:sp>
        <p:nvSpPr>
          <p:cNvPr id="110" name="Text 108"/>
          <p:cNvSpPr/>
          <p:nvPr/>
        </p:nvSpPr>
        <p:spPr>
          <a:xfrm>
            <a:off x="3575304" y="3571646"/>
            <a:ext cx="5468112" cy="162763"/>
          </a:xfrm>
          <a:prstGeom prst="rect">
            <a:avLst/>
          </a:prstGeom>
          <a:noFill/>
          <a:ln/>
        </p:spPr>
        <p:txBody>
          <a:bodyPr wrap="square" lIns="0" tIns="0" rIns="0" bIns="0" rtlCol="0" anchor="ctr"/>
          <a:lstStyle/>
          <a:p>
            <a:pPr marL="0" indent="0">
              <a:buNone/>
            </a:pPr>
            <a:r>
              <a:rPr lang="en-US" sz="800" dirty="0">
                <a:solidFill>
                  <a:srgbClr val="00796B"/>
                </a:solidFill>
                <a:latin typeface="Arial" pitchFamily="34" charset="0"/>
                <a:ea typeface="Arial" pitchFamily="34" charset="-122"/>
                <a:cs typeface="Arial" pitchFamily="34" charset="-120"/>
              </a:rPr>
              <a:t>List all indexed graph knowledge bases for the tenant</a:t>
            </a:r>
            <a:endParaRPr lang="en-US" sz="800" dirty="0"/>
          </a:p>
        </p:txBody>
      </p:sp>
      <p:sp>
        <p:nvSpPr>
          <p:cNvPr id="111" name="Shape 109"/>
          <p:cNvSpPr/>
          <p:nvPr/>
        </p:nvSpPr>
        <p:spPr>
          <a:xfrm>
            <a:off x="502920" y="3734410"/>
            <a:ext cx="2423160" cy="162763"/>
          </a:xfrm>
          <a:prstGeom prst="rect">
            <a:avLst/>
          </a:prstGeom>
          <a:solidFill>
            <a:srgbClr val="FFF8E1"/>
          </a:solidFill>
          <a:ln w="3810">
            <a:solidFill>
              <a:srgbClr val="F0F0F0"/>
            </a:solidFill>
            <a:prstDash val="solid"/>
          </a:ln>
        </p:spPr>
        <p:txBody>
          <a:bodyPr/>
          <a:lstStyle/>
          <a:p>
            <a:endParaRPr lang="en-US"/>
          </a:p>
        </p:txBody>
      </p:sp>
      <p:sp>
        <p:nvSpPr>
          <p:cNvPr id="112" name="Text 110"/>
          <p:cNvSpPr/>
          <p:nvPr/>
        </p:nvSpPr>
        <p:spPr>
          <a:xfrm>
            <a:off x="557784" y="3734410"/>
            <a:ext cx="2313432" cy="162763"/>
          </a:xfrm>
          <a:prstGeom prst="rect">
            <a:avLst/>
          </a:prstGeom>
          <a:noFill/>
          <a:ln/>
        </p:spPr>
        <p:txBody>
          <a:bodyPr wrap="square" lIns="0" tIns="0" rIns="0" bIns="0" rtlCol="0" anchor="ctr"/>
          <a:lstStyle/>
          <a:p>
            <a:pPr marL="0" indent="0">
              <a:buNone/>
            </a:pPr>
            <a:r>
              <a:rPr lang="en-US" sz="800" b="1" dirty="0">
                <a:solidFill>
                  <a:srgbClr val="00796B"/>
                </a:solidFill>
                <a:latin typeface="Courier New" pitchFamily="34" charset="0"/>
                <a:ea typeface="Courier New" pitchFamily="34" charset="-122"/>
                <a:cs typeface="Courier New" pitchFamily="34" charset="-120"/>
              </a:rPr>
              <a:t>/v1/graphs/{graph_id}</a:t>
            </a:r>
            <a:endParaRPr lang="en-US" sz="800" dirty="0"/>
          </a:p>
        </p:txBody>
      </p:sp>
      <p:sp>
        <p:nvSpPr>
          <p:cNvPr id="113" name="Shape 111"/>
          <p:cNvSpPr/>
          <p:nvPr/>
        </p:nvSpPr>
        <p:spPr>
          <a:xfrm>
            <a:off x="2926080" y="3734410"/>
            <a:ext cx="594360" cy="162763"/>
          </a:xfrm>
          <a:prstGeom prst="rect">
            <a:avLst/>
          </a:prstGeom>
          <a:solidFill>
            <a:srgbClr val="FFF8E1"/>
          </a:solidFill>
          <a:ln w="3810">
            <a:solidFill>
              <a:srgbClr val="F0F0F0"/>
            </a:solidFill>
            <a:prstDash val="solid"/>
          </a:ln>
        </p:spPr>
        <p:txBody>
          <a:bodyPr/>
          <a:lstStyle/>
          <a:p>
            <a:endParaRPr lang="en-US"/>
          </a:p>
        </p:txBody>
      </p:sp>
      <p:sp>
        <p:nvSpPr>
          <p:cNvPr id="114" name="Text 112"/>
          <p:cNvSpPr/>
          <p:nvPr/>
        </p:nvSpPr>
        <p:spPr>
          <a:xfrm>
            <a:off x="2980944" y="3734410"/>
            <a:ext cx="484632" cy="162763"/>
          </a:xfrm>
          <a:prstGeom prst="rect">
            <a:avLst/>
          </a:prstGeom>
          <a:noFill/>
          <a:ln/>
        </p:spPr>
        <p:txBody>
          <a:bodyPr wrap="square" lIns="0" tIns="0" rIns="0" bIns="0" rtlCol="0" anchor="ctr"/>
          <a:lstStyle/>
          <a:p>
            <a:pPr marL="0" indent="0">
              <a:buNone/>
            </a:pPr>
            <a:r>
              <a:rPr lang="en-US" sz="800" dirty="0">
                <a:solidFill>
                  <a:srgbClr val="00796B"/>
                </a:solidFill>
                <a:latin typeface="Arial" pitchFamily="34" charset="0"/>
                <a:ea typeface="Arial" pitchFamily="34" charset="-122"/>
                <a:cs typeface="Arial" pitchFamily="34" charset="-120"/>
              </a:rPr>
              <a:t>GET</a:t>
            </a:r>
            <a:endParaRPr lang="en-US" sz="800" dirty="0"/>
          </a:p>
        </p:txBody>
      </p:sp>
      <p:sp>
        <p:nvSpPr>
          <p:cNvPr id="115" name="Shape 113"/>
          <p:cNvSpPr/>
          <p:nvPr/>
        </p:nvSpPr>
        <p:spPr>
          <a:xfrm>
            <a:off x="3520440" y="3734410"/>
            <a:ext cx="5577840" cy="162763"/>
          </a:xfrm>
          <a:prstGeom prst="rect">
            <a:avLst/>
          </a:prstGeom>
          <a:solidFill>
            <a:srgbClr val="FFF8E1"/>
          </a:solidFill>
          <a:ln w="3810">
            <a:solidFill>
              <a:srgbClr val="F0F0F0"/>
            </a:solidFill>
            <a:prstDash val="solid"/>
          </a:ln>
        </p:spPr>
        <p:txBody>
          <a:bodyPr/>
          <a:lstStyle/>
          <a:p>
            <a:endParaRPr lang="en-US"/>
          </a:p>
        </p:txBody>
      </p:sp>
      <p:sp>
        <p:nvSpPr>
          <p:cNvPr id="116" name="Text 114"/>
          <p:cNvSpPr/>
          <p:nvPr/>
        </p:nvSpPr>
        <p:spPr>
          <a:xfrm>
            <a:off x="3575304" y="3734410"/>
            <a:ext cx="5468112" cy="162763"/>
          </a:xfrm>
          <a:prstGeom prst="rect">
            <a:avLst/>
          </a:prstGeom>
          <a:noFill/>
          <a:ln/>
        </p:spPr>
        <p:txBody>
          <a:bodyPr wrap="square" lIns="0" tIns="0" rIns="0" bIns="0" rtlCol="0" anchor="ctr"/>
          <a:lstStyle/>
          <a:p>
            <a:pPr marL="0" indent="0">
              <a:buNone/>
            </a:pPr>
            <a:r>
              <a:rPr lang="en-US" sz="800" dirty="0">
                <a:solidFill>
                  <a:srgbClr val="00796B"/>
                </a:solidFill>
                <a:latin typeface="Arial" pitchFamily="34" charset="0"/>
                <a:ea typeface="Arial" pitchFamily="34" charset="-122"/>
                <a:cs typeface="Arial" pitchFamily="34" charset="-120"/>
              </a:rPr>
              <a:t>Get metadata and status for a specific graph index</a:t>
            </a:r>
            <a:endParaRPr lang="en-US" sz="800" dirty="0"/>
          </a:p>
        </p:txBody>
      </p:sp>
      <p:sp>
        <p:nvSpPr>
          <p:cNvPr id="117" name="Shape 115"/>
          <p:cNvSpPr/>
          <p:nvPr/>
        </p:nvSpPr>
        <p:spPr>
          <a:xfrm>
            <a:off x="502920" y="3897173"/>
            <a:ext cx="2423160" cy="162763"/>
          </a:xfrm>
          <a:prstGeom prst="rect">
            <a:avLst/>
          </a:prstGeom>
          <a:solidFill>
            <a:srgbClr val="FFF8E1"/>
          </a:solidFill>
          <a:ln w="3810">
            <a:solidFill>
              <a:srgbClr val="F0F0F0"/>
            </a:solidFill>
            <a:prstDash val="solid"/>
          </a:ln>
        </p:spPr>
        <p:txBody>
          <a:bodyPr/>
          <a:lstStyle/>
          <a:p>
            <a:endParaRPr lang="en-US"/>
          </a:p>
        </p:txBody>
      </p:sp>
      <p:sp>
        <p:nvSpPr>
          <p:cNvPr id="118" name="Text 116"/>
          <p:cNvSpPr/>
          <p:nvPr/>
        </p:nvSpPr>
        <p:spPr>
          <a:xfrm>
            <a:off x="557784" y="3897173"/>
            <a:ext cx="2313432" cy="162763"/>
          </a:xfrm>
          <a:prstGeom prst="rect">
            <a:avLst/>
          </a:prstGeom>
          <a:noFill/>
          <a:ln/>
        </p:spPr>
        <p:txBody>
          <a:bodyPr wrap="square" lIns="0" tIns="0" rIns="0" bIns="0" rtlCol="0" anchor="ctr"/>
          <a:lstStyle/>
          <a:p>
            <a:pPr marL="0" indent="0">
              <a:buNone/>
            </a:pPr>
            <a:r>
              <a:rPr lang="en-US" sz="800" b="1" dirty="0">
                <a:solidFill>
                  <a:srgbClr val="00796B"/>
                </a:solidFill>
                <a:latin typeface="Courier New" pitchFamily="34" charset="0"/>
                <a:ea typeface="Courier New" pitchFamily="34" charset="-122"/>
                <a:cs typeface="Courier New" pitchFamily="34" charset="-120"/>
              </a:rPr>
              <a:t>/v1/graphs/index</a:t>
            </a:r>
            <a:endParaRPr lang="en-US" sz="800" dirty="0"/>
          </a:p>
        </p:txBody>
      </p:sp>
      <p:sp>
        <p:nvSpPr>
          <p:cNvPr id="119" name="Shape 117"/>
          <p:cNvSpPr/>
          <p:nvPr/>
        </p:nvSpPr>
        <p:spPr>
          <a:xfrm>
            <a:off x="2926080" y="3897173"/>
            <a:ext cx="594360" cy="162763"/>
          </a:xfrm>
          <a:prstGeom prst="rect">
            <a:avLst/>
          </a:prstGeom>
          <a:solidFill>
            <a:srgbClr val="FFF8E1"/>
          </a:solidFill>
          <a:ln w="3810">
            <a:solidFill>
              <a:srgbClr val="F0F0F0"/>
            </a:solidFill>
            <a:prstDash val="solid"/>
          </a:ln>
        </p:spPr>
        <p:txBody>
          <a:bodyPr/>
          <a:lstStyle/>
          <a:p>
            <a:endParaRPr lang="en-US"/>
          </a:p>
        </p:txBody>
      </p:sp>
      <p:sp>
        <p:nvSpPr>
          <p:cNvPr id="120" name="Text 118"/>
          <p:cNvSpPr/>
          <p:nvPr/>
        </p:nvSpPr>
        <p:spPr>
          <a:xfrm>
            <a:off x="2980944" y="3897173"/>
            <a:ext cx="484632" cy="162763"/>
          </a:xfrm>
          <a:prstGeom prst="rect">
            <a:avLst/>
          </a:prstGeom>
          <a:noFill/>
          <a:ln/>
        </p:spPr>
        <p:txBody>
          <a:bodyPr wrap="square" lIns="0" tIns="0" rIns="0" bIns="0" rtlCol="0" anchor="ctr"/>
          <a:lstStyle/>
          <a:p>
            <a:pPr marL="0" indent="0">
              <a:buNone/>
            </a:pPr>
            <a:r>
              <a:rPr lang="en-US" sz="800" dirty="0">
                <a:solidFill>
                  <a:srgbClr val="00796B"/>
                </a:solidFill>
                <a:latin typeface="Arial" pitchFamily="34" charset="0"/>
                <a:ea typeface="Arial" pitchFamily="34" charset="-122"/>
                <a:cs typeface="Arial" pitchFamily="34" charset="-120"/>
              </a:rPr>
              <a:t>POST</a:t>
            </a:r>
            <a:endParaRPr lang="en-US" sz="800" dirty="0"/>
          </a:p>
        </p:txBody>
      </p:sp>
      <p:sp>
        <p:nvSpPr>
          <p:cNvPr id="121" name="Shape 119"/>
          <p:cNvSpPr/>
          <p:nvPr/>
        </p:nvSpPr>
        <p:spPr>
          <a:xfrm>
            <a:off x="3520440" y="3897173"/>
            <a:ext cx="5577840" cy="162763"/>
          </a:xfrm>
          <a:prstGeom prst="rect">
            <a:avLst/>
          </a:prstGeom>
          <a:solidFill>
            <a:srgbClr val="FFF8E1"/>
          </a:solidFill>
          <a:ln w="3810">
            <a:solidFill>
              <a:srgbClr val="F0F0F0"/>
            </a:solidFill>
            <a:prstDash val="solid"/>
          </a:ln>
        </p:spPr>
        <p:txBody>
          <a:bodyPr/>
          <a:lstStyle/>
          <a:p>
            <a:endParaRPr lang="en-US"/>
          </a:p>
        </p:txBody>
      </p:sp>
      <p:sp>
        <p:nvSpPr>
          <p:cNvPr id="122" name="Text 120"/>
          <p:cNvSpPr/>
          <p:nvPr/>
        </p:nvSpPr>
        <p:spPr>
          <a:xfrm>
            <a:off x="3575304" y="3897173"/>
            <a:ext cx="5468112" cy="162763"/>
          </a:xfrm>
          <a:prstGeom prst="rect">
            <a:avLst/>
          </a:prstGeom>
          <a:noFill/>
          <a:ln/>
        </p:spPr>
        <p:txBody>
          <a:bodyPr wrap="square" lIns="0" tIns="0" rIns="0" bIns="0" rtlCol="0" anchor="ctr"/>
          <a:lstStyle/>
          <a:p>
            <a:pPr marL="0" indent="0">
              <a:buNone/>
            </a:pPr>
            <a:r>
              <a:rPr lang="en-US" sz="800" dirty="0">
                <a:solidFill>
                  <a:srgbClr val="00796B"/>
                </a:solidFill>
                <a:latin typeface="Arial" pitchFamily="34" charset="0"/>
                <a:ea typeface="Arial" pitchFamily="34" charset="-122"/>
                <a:cs typeface="Arial" pitchFamily="34" charset="-120"/>
              </a:rPr>
              <a:t>Trigger GraphRAG indexing run on a document corpus</a:t>
            </a:r>
            <a:endParaRPr lang="en-US" sz="800" dirty="0"/>
          </a:p>
        </p:txBody>
      </p:sp>
      <p:sp>
        <p:nvSpPr>
          <p:cNvPr id="123" name="Shape 121"/>
          <p:cNvSpPr/>
          <p:nvPr/>
        </p:nvSpPr>
        <p:spPr>
          <a:xfrm>
            <a:off x="502920" y="4059936"/>
            <a:ext cx="2423160" cy="162763"/>
          </a:xfrm>
          <a:prstGeom prst="rect">
            <a:avLst/>
          </a:prstGeom>
          <a:solidFill>
            <a:srgbClr val="FFF8E1"/>
          </a:solidFill>
          <a:ln w="3810">
            <a:solidFill>
              <a:srgbClr val="F0F0F0"/>
            </a:solidFill>
            <a:prstDash val="solid"/>
          </a:ln>
        </p:spPr>
        <p:txBody>
          <a:bodyPr/>
          <a:lstStyle/>
          <a:p>
            <a:endParaRPr lang="en-US"/>
          </a:p>
        </p:txBody>
      </p:sp>
      <p:sp>
        <p:nvSpPr>
          <p:cNvPr id="124" name="Text 122"/>
          <p:cNvSpPr/>
          <p:nvPr/>
        </p:nvSpPr>
        <p:spPr>
          <a:xfrm>
            <a:off x="557784" y="4059936"/>
            <a:ext cx="2313432" cy="162763"/>
          </a:xfrm>
          <a:prstGeom prst="rect">
            <a:avLst/>
          </a:prstGeom>
          <a:noFill/>
          <a:ln/>
        </p:spPr>
        <p:txBody>
          <a:bodyPr wrap="square" lIns="0" tIns="0" rIns="0" bIns="0" rtlCol="0" anchor="ctr"/>
          <a:lstStyle/>
          <a:p>
            <a:pPr marL="0" indent="0">
              <a:buNone/>
            </a:pPr>
            <a:r>
              <a:rPr lang="en-US" sz="800" b="1" dirty="0">
                <a:solidFill>
                  <a:srgbClr val="00796B"/>
                </a:solidFill>
                <a:latin typeface="Courier New" pitchFamily="34" charset="0"/>
                <a:ea typeface="Courier New" pitchFamily="34" charset="-122"/>
                <a:cs typeface="Courier New" pitchFamily="34" charset="-120"/>
              </a:rPr>
              <a:t>/v1/graphs/import</a:t>
            </a:r>
            <a:endParaRPr lang="en-US" sz="800" dirty="0"/>
          </a:p>
        </p:txBody>
      </p:sp>
      <p:sp>
        <p:nvSpPr>
          <p:cNvPr id="125" name="Shape 123"/>
          <p:cNvSpPr/>
          <p:nvPr/>
        </p:nvSpPr>
        <p:spPr>
          <a:xfrm>
            <a:off x="2926080" y="4059936"/>
            <a:ext cx="594360" cy="162763"/>
          </a:xfrm>
          <a:prstGeom prst="rect">
            <a:avLst/>
          </a:prstGeom>
          <a:solidFill>
            <a:srgbClr val="FFF8E1"/>
          </a:solidFill>
          <a:ln w="3810">
            <a:solidFill>
              <a:srgbClr val="F0F0F0"/>
            </a:solidFill>
            <a:prstDash val="solid"/>
          </a:ln>
        </p:spPr>
        <p:txBody>
          <a:bodyPr/>
          <a:lstStyle/>
          <a:p>
            <a:endParaRPr lang="en-US"/>
          </a:p>
        </p:txBody>
      </p:sp>
      <p:sp>
        <p:nvSpPr>
          <p:cNvPr id="126" name="Text 124"/>
          <p:cNvSpPr/>
          <p:nvPr/>
        </p:nvSpPr>
        <p:spPr>
          <a:xfrm>
            <a:off x="2980944" y="4059936"/>
            <a:ext cx="484632" cy="162763"/>
          </a:xfrm>
          <a:prstGeom prst="rect">
            <a:avLst/>
          </a:prstGeom>
          <a:noFill/>
          <a:ln/>
        </p:spPr>
        <p:txBody>
          <a:bodyPr wrap="square" lIns="0" tIns="0" rIns="0" bIns="0" rtlCol="0" anchor="ctr"/>
          <a:lstStyle/>
          <a:p>
            <a:pPr marL="0" indent="0">
              <a:buNone/>
            </a:pPr>
            <a:r>
              <a:rPr lang="en-US" sz="800" dirty="0">
                <a:solidFill>
                  <a:srgbClr val="00796B"/>
                </a:solidFill>
                <a:latin typeface="Arial" pitchFamily="34" charset="0"/>
                <a:ea typeface="Arial" pitchFamily="34" charset="-122"/>
                <a:cs typeface="Arial" pitchFamily="34" charset="-120"/>
              </a:rPr>
              <a:t>POST</a:t>
            </a:r>
            <a:endParaRPr lang="en-US" sz="800" dirty="0"/>
          </a:p>
        </p:txBody>
      </p:sp>
      <p:sp>
        <p:nvSpPr>
          <p:cNvPr id="127" name="Shape 125"/>
          <p:cNvSpPr/>
          <p:nvPr/>
        </p:nvSpPr>
        <p:spPr>
          <a:xfrm>
            <a:off x="3520440" y="4059936"/>
            <a:ext cx="5577840" cy="162763"/>
          </a:xfrm>
          <a:prstGeom prst="rect">
            <a:avLst/>
          </a:prstGeom>
          <a:solidFill>
            <a:srgbClr val="FFF8E1"/>
          </a:solidFill>
          <a:ln w="3810">
            <a:solidFill>
              <a:srgbClr val="F0F0F0"/>
            </a:solidFill>
            <a:prstDash val="solid"/>
          </a:ln>
        </p:spPr>
        <p:txBody>
          <a:bodyPr/>
          <a:lstStyle/>
          <a:p>
            <a:endParaRPr lang="en-US"/>
          </a:p>
        </p:txBody>
      </p:sp>
      <p:sp>
        <p:nvSpPr>
          <p:cNvPr id="128" name="Text 126"/>
          <p:cNvSpPr/>
          <p:nvPr/>
        </p:nvSpPr>
        <p:spPr>
          <a:xfrm>
            <a:off x="3575304" y="4059936"/>
            <a:ext cx="5468112" cy="162763"/>
          </a:xfrm>
          <a:prstGeom prst="rect">
            <a:avLst/>
          </a:prstGeom>
          <a:noFill/>
          <a:ln/>
        </p:spPr>
        <p:txBody>
          <a:bodyPr wrap="square" lIns="0" tIns="0" rIns="0" bIns="0" rtlCol="0" anchor="ctr"/>
          <a:lstStyle/>
          <a:p>
            <a:pPr marL="0" indent="0">
              <a:buNone/>
            </a:pPr>
            <a:r>
              <a:rPr lang="en-US" sz="800" dirty="0">
                <a:solidFill>
                  <a:srgbClr val="00796B"/>
                </a:solidFill>
                <a:latin typeface="Arial" pitchFamily="34" charset="0"/>
                <a:ea typeface="Arial" pitchFamily="34" charset="-122"/>
                <a:cs typeface="Arial" pitchFamily="34" charset="-120"/>
              </a:rPr>
              <a:t>Import an existing graph (e.g. Neo4j export) into the system</a:t>
            </a:r>
            <a:endParaRPr lang="en-US" sz="800" dirty="0"/>
          </a:p>
        </p:txBody>
      </p:sp>
      <p:sp>
        <p:nvSpPr>
          <p:cNvPr id="129" name="Shape 127"/>
          <p:cNvSpPr/>
          <p:nvPr/>
        </p:nvSpPr>
        <p:spPr>
          <a:xfrm>
            <a:off x="502920" y="4222699"/>
            <a:ext cx="2423160" cy="162763"/>
          </a:xfrm>
          <a:prstGeom prst="rect">
            <a:avLst/>
          </a:prstGeom>
          <a:solidFill>
            <a:srgbClr val="FFF8E1"/>
          </a:solidFill>
          <a:ln w="3810">
            <a:solidFill>
              <a:srgbClr val="F0F0F0"/>
            </a:solidFill>
            <a:prstDash val="solid"/>
          </a:ln>
        </p:spPr>
        <p:txBody>
          <a:bodyPr/>
          <a:lstStyle/>
          <a:p>
            <a:endParaRPr lang="en-US"/>
          </a:p>
        </p:txBody>
      </p:sp>
      <p:sp>
        <p:nvSpPr>
          <p:cNvPr id="130" name="Text 128"/>
          <p:cNvSpPr/>
          <p:nvPr/>
        </p:nvSpPr>
        <p:spPr>
          <a:xfrm>
            <a:off x="557784" y="4222699"/>
            <a:ext cx="2313432" cy="162763"/>
          </a:xfrm>
          <a:prstGeom prst="rect">
            <a:avLst/>
          </a:prstGeom>
          <a:noFill/>
          <a:ln/>
        </p:spPr>
        <p:txBody>
          <a:bodyPr wrap="square" lIns="0" tIns="0" rIns="0" bIns="0" rtlCol="0" anchor="ctr"/>
          <a:lstStyle/>
          <a:p>
            <a:pPr marL="0" indent="0">
              <a:buNone/>
            </a:pPr>
            <a:r>
              <a:rPr lang="en-US" sz="800" b="1" dirty="0">
                <a:solidFill>
                  <a:srgbClr val="00796B"/>
                </a:solidFill>
                <a:latin typeface="Courier New" pitchFamily="34" charset="0"/>
                <a:ea typeface="Courier New" pitchFamily="34" charset="-122"/>
                <a:cs typeface="Courier New" pitchFamily="34" charset="-120"/>
              </a:rPr>
              <a:t>/v1/graphs/query</a:t>
            </a:r>
            <a:endParaRPr lang="en-US" sz="800" dirty="0"/>
          </a:p>
        </p:txBody>
      </p:sp>
      <p:sp>
        <p:nvSpPr>
          <p:cNvPr id="131" name="Shape 129"/>
          <p:cNvSpPr/>
          <p:nvPr/>
        </p:nvSpPr>
        <p:spPr>
          <a:xfrm>
            <a:off x="2926080" y="4222699"/>
            <a:ext cx="594360" cy="162763"/>
          </a:xfrm>
          <a:prstGeom prst="rect">
            <a:avLst/>
          </a:prstGeom>
          <a:solidFill>
            <a:srgbClr val="FFF8E1"/>
          </a:solidFill>
          <a:ln w="3810">
            <a:solidFill>
              <a:srgbClr val="F0F0F0"/>
            </a:solidFill>
            <a:prstDash val="solid"/>
          </a:ln>
        </p:spPr>
        <p:txBody>
          <a:bodyPr/>
          <a:lstStyle/>
          <a:p>
            <a:endParaRPr lang="en-US"/>
          </a:p>
        </p:txBody>
      </p:sp>
      <p:sp>
        <p:nvSpPr>
          <p:cNvPr id="132" name="Text 130"/>
          <p:cNvSpPr/>
          <p:nvPr/>
        </p:nvSpPr>
        <p:spPr>
          <a:xfrm>
            <a:off x="2980944" y="4222699"/>
            <a:ext cx="484632" cy="162763"/>
          </a:xfrm>
          <a:prstGeom prst="rect">
            <a:avLst/>
          </a:prstGeom>
          <a:noFill/>
          <a:ln/>
        </p:spPr>
        <p:txBody>
          <a:bodyPr wrap="square" lIns="0" tIns="0" rIns="0" bIns="0" rtlCol="0" anchor="ctr"/>
          <a:lstStyle/>
          <a:p>
            <a:pPr marL="0" indent="0">
              <a:buNone/>
            </a:pPr>
            <a:r>
              <a:rPr lang="en-US" sz="800" dirty="0">
                <a:solidFill>
                  <a:srgbClr val="00796B"/>
                </a:solidFill>
                <a:latin typeface="Arial" pitchFamily="34" charset="0"/>
                <a:ea typeface="Arial" pitchFamily="34" charset="-122"/>
                <a:cs typeface="Arial" pitchFamily="34" charset="-120"/>
              </a:rPr>
              <a:t>POST</a:t>
            </a:r>
            <a:endParaRPr lang="en-US" sz="800" dirty="0"/>
          </a:p>
        </p:txBody>
      </p:sp>
      <p:sp>
        <p:nvSpPr>
          <p:cNvPr id="133" name="Shape 131"/>
          <p:cNvSpPr/>
          <p:nvPr/>
        </p:nvSpPr>
        <p:spPr>
          <a:xfrm>
            <a:off x="3520440" y="4222699"/>
            <a:ext cx="5577840" cy="162763"/>
          </a:xfrm>
          <a:prstGeom prst="rect">
            <a:avLst/>
          </a:prstGeom>
          <a:solidFill>
            <a:srgbClr val="FFF8E1"/>
          </a:solidFill>
          <a:ln w="3810">
            <a:solidFill>
              <a:srgbClr val="F0F0F0"/>
            </a:solidFill>
            <a:prstDash val="solid"/>
          </a:ln>
        </p:spPr>
        <p:txBody>
          <a:bodyPr/>
          <a:lstStyle/>
          <a:p>
            <a:endParaRPr lang="en-US"/>
          </a:p>
        </p:txBody>
      </p:sp>
      <p:sp>
        <p:nvSpPr>
          <p:cNvPr id="134" name="Text 132"/>
          <p:cNvSpPr/>
          <p:nvPr/>
        </p:nvSpPr>
        <p:spPr>
          <a:xfrm>
            <a:off x="3575304" y="4222699"/>
            <a:ext cx="5468112" cy="162763"/>
          </a:xfrm>
          <a:prstGeom prst="rect">
            <a:avLst/>
          </a:prstGeom>
          <a:noFill/>
          <a:ln/>
        </p:spPr>
        <p:txBody>
          <a:bodyPr wrap="square" lIns="0" tIns="0" rIns="0" bIns="0" rtlCol="0" anchor="ctr"/>
          <a:lstStyle/>
          <a:p>
            <a:pPr marL="0" indent="0">
              <a:buNone/>
            </a:pPr>
            <a:r>
              <a:rPr lang="en-US" sz="800" dirty="0">
                <a:solidFill>
                  <a:srgbClr val="00796B"/>
                </a:solidFill>
                <a:latin typeface="Arial" pitchFamily="34" charset="0"/>
                <a:ea typeface="Arial" pitchFamily="34" charset="-122"/>
                <a:cs typeface="Arial" pitchFamily="34" charset="-120"/>
              </a:rPr>
              <a:t>Direct graph query — returns entities, relationships, context</a:t>
            </a:r>
            <a:endParaRPr lang="en-US" sz="800" dirty="0"/>
          </a:p>
        </p:txBody>
      </p:sp>
      <p:sp>
        <p:nvSpPr>
          <p:cNvPr id="135" name="Shape 133"/>
          <p:cNvSpPr/>
          <p:nvPr/>
        </p:nvSpPr>
        <p:spPr>
          <a:xfrm>
            <a:off x="502920" y="4385462"/>
            <a:ext cx="2423160" cy="162763"/>
          </a:xfrm>
          <a:prstGeom prst="rect">
            <a:avLst/>
          </a:prstGeom>
          <a:solidFill>
            <a:srgbClr val="FFFFFF"/>
          </a:solidFill>
          <a:ln w="3810">
            <a:solidFill>
              <a:srgbClr val="F0F0F0"/>
            </a:solidFill>
            <a:prstDash val="solid"/>
          </a:ln>
        </p:spPr>
        <p:txBody>
          <a:bodyPr/>
          <a:lstStyle/>
          <a:p>
            <a:endParaRPr lang="en-US"/>
          </a:p>
        </p:txBody>
      </p:sp>
      <p:sp>
        <p:nvSpPr>
          <p:cNvPr id="136" name="Text 134"/>
          <p:cNvSpPr/>
          <p:nvPr/>
        </p:nvSpPr>
        <p:spPr>
          <a:xfrm>
            <a:off x="557784" y="4385462"/>
            <a:ext cx="2313432" cy="162763"/>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/health/live</a:t>
            </a:r>
            <a:endParaRPr lang="en-US" sz="800" dirty="0"/>
          </a:p>
        </p:txBody>
      </p:sp>
      <p:sp>
        <p:nvSpPr>
          <p:cNvPr id="137" name="Shape 135"/>
          <p:cNvSpPr/>
          <p:nvPr/>
        </p:nvSpPr>
        <p:spPr>
          <a:xfrm>
            <a:off x="2926080" y="4385462"/>
            <a:ext cx="594360" cy="162763"/>
          </a:xfrm>
          <a:prstGeom prst="rect">
            <a:avLst/>
          </a:prstGeom>
          <a:solidFill>
            <a:srgbClr val="FFFFFF"/>
          </a:solidFill>
          <a:ln w="3810">
            <a:solidFill>
              <a:srgbClr val="F0F0F0"/>
            </a:solidFill>
            <a:prstDash val="solid"/>
          </a:ln>
        </p:spPr>
        <p:txBody>
          <a:bodyPr/>
          <a:lstStyle/>
          <a:p>
            <a:endParaRPr lang="en-US"/>
          </a:p>
        </p:txBody>
      </p:sp>
      <p:sp>
        <p:nvSpPr>
          <p:cNvPr id="138" name="Text 136"/>
          <p:cNvSpPr/>
          <p:nvPr/>
        </p:nvSpPr>
        <p:spPr>
          <a:xfrm>
            <a:off x="2980944" y="4385462"/>
            <a:ext cx="48463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GET</a:t>
            </a:r>
            <a:endParaRPr lang="en-US" sz="800" dirty="0"/>
          </a:p>
        </p:txBody>
      </p:sp>
      <p:sp>
        <p:nvSpPr>
          <p:cNvPr id="139" name="Shape 137"/>
          <p:cNvSpPr/>
          <p:nvPr/>
        </p:nvSpPr>
        <p:spPr>
          <a:xfrm>
            <a:off x="3520440" y="4385462"/>
            <a:ext cx="5577840" cy="162763"/>
          </a:xfrm>
          <a:prstGeom prst="rect">
            <a:avLst/>
          </a:prstGeom>
          <a:solidFill>
            <a:srgbClr val="FFFFFF"/>
          </a:solidFill>
          <a:ln w="3810">
            <a:solidFill>
              <a:srgbClr val="F0F0F0"/>
            </a:solidFill>
            <a:prstDash val="solid"/>
          </a:ln>
        </p:spPr>
        <p:txBody>
          <a:bodyPr/>
          <a:lstStyle/>
          <a:p>
            <a:endParaRPr lang="en-US"/>
          </a:p>
        </p:txBody>
      </p:sp>
      <p:sp>
        <p:nvSpPr>
          <p:cNvPr id="140" name="Text 138"/>
          <p:cNvSpPr/>
          <p:nvPr/>
        </p:nvSpPr>
        <p:spPr>
          <a:xfrm>
            <a:off x="3575304" y="4385462"/>
            <a:ext cx="546811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Liveness probe — returns 200 if process is running</a:t>
            </a:r>
            <a:endParaRPr lang="en-US" sz="800" dirty="0"/>
          </a:p>
        </p:txBody>
      </p:sp>
      <p:sp>
        <p:nvSpPr>
          <p:cNvPr id="141" name="Shape 139"/>
          <p:cNvSpPr/>
          <p:nvPr/>
        </p:nvSpPr>
        <p:spPr>
          <a:xfrm>
            <a:off x="502920" y="4548226"/>
            <a:ext cx="2423160" cy="162763"/>
          </a:xfrm>
          <a:prstGeom prst="rect">
            <a:avLst/>
          </a:prstGeom>
          <a:solidFill>
            <a:srgbClr val="F5F5F5"/>
          </a:solidFill>
          <a:ln w="3810">
            <a:solidFill>
              <a:srgbClr val="F0F0F0"/>
            </a:solidFill>
            <a:prstDash val="solid"/>
          </a:ln>
        </p:spPr>
        <p:txBody>
          <a:bodyPr/>
          <a:lstStyle/>
          <a:p>
            <a:endParaRPr lang="en-US"/>
          </a:p>
        </p:txBody>
      </p:sp>
      <p:sp>
        <p:nvSpPr>
          <p:cNvPr id="142" name="Text 140"/>
          <p:cNvSpPr/>
          <p:nvPr/>
        </p:nvSpPr>
        <p:spPr>
          <a:xfrm>
            <a:off x="557784" y="4548226"/>
            <a:ext cx="2313432" cy="162763"/>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/health/ready</a:t>
            </a:r>
            <a:endParaRPr lang="en-US" sz="800" dirty="0"/>
          </a:p>
        </p:txBody>
      </p:sp>
      <p:sp>
        <p:nvSpPr>
          <p:cNvPr id="143" name="Shape 141"/>
          <p:cNvSpPr/>
          <p:nvPr/>
        </p:nvSpPr>
        <p:spPr>
          <a:xfrm>
            <a:off x="2926080" y="4548226"/>
            <a:ext cx="594360" cy="162763"/>
          </a:xfrm>
          <a:prstGeom prst="rect">
            <a:avLst/>
          </a:prstGeom>
          <a:solidFill>
            <a:srgbClr val="F5F5F5"/>
          </a:solidFill>
          <a:ln w="3810">
            <a:solidFill>
              <a:srgbClr val="F0F0F0"/>
            </a:solidFill>
            <a:prstDash val="solid"/>
          </a:ln>
        </p:spPr>
        <p:txBody>
          <a:bodyPr/>
          <a:lstStyle/>
          <a:p>
            <a:endParaRPr lang="en-US"/>
          </a:p>
        </p:txBody>
      </p:sp>
      <p:sp>
        <p:nvSpPr>
          <p:cNvPr id="144" name="Text 142"/>
          <p:cNvSpPr/>
          <p:nvPr/>
        </p:nvSpPr>
        <p:spPr>
          <a:xfrm>
            <a:off x="2980944" y="4548226"/>
            <a:ext cx="48463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GET</a:t>
            </a:r>
            <a:endParaRPr lang="en-US" sz="800" dirty="0"/>
          </a:p>
        </p:txBody>
      </p:sp>
      <p:sp>
        <p:nvSpPr>
          <p:cNvPr id="145" name="Shape 143"/>
          <p:cNvSpPr/>
          <p:nvPr/>
        </p:nvSpPr>
        <p:spPr>
          <a:xfrm>
            <a:off x="3520440" y="4548226"/>
            <a:ext cx="5577840" cy="162763"/>
          </a:xfrm>
          <a:prstGeom prst="rect">
            <a:avLst/>
          </a:prstGeom>
          <a:solidFill>
            <a:srgbClr val="F5F5F5"/>
          </a:solidFill>
          <a:ln w="3810">
            <a:solidFill>
              <a:srgbClr val="F0F0F0"/>
            </a:solidFill>
            <a:prstDash val="solid"/>
          </a:ln>
        </p:spPr>
        <p:txBody>
          <a:bodyPr/>
          <a:lstStyle/>
          <a:p>
            <a:endParaRPr lang="en-US"/>
          </a:p>
        </p:txBody>
      </p:sp>
      <p:sp>
        <p:nvSpPr>
          <p:cNvPr id="146" name="Text 144"/>
          <p:cNvSpPr/>
          <p:nvPr/>
        </p:nvSpPr>
        <p:spPr>
          <a:xfrm>
            <a:off x="3575304" y="4548226"/>
            <a:ext cx="5468112" cy="162763"/>
          </a:xfrm>
          <a:prstGeom prst="rect">
            <a:avLst/>
          </a:prstGeom>
          <a:noFill/>
          <a:ln/>
        </p:spPr>
        <p:txBody>
          <a:bodyPr wrap="square" lIns="0" tIns="0" rIns="0" bIns="0" rtlCol="0" anchor="ctr"/>
          <a:lstStyle/>
          <a:p>
            <a:pPr marL="0" indent="0">
              <a:buNone/>
            </a:pPr>
            <a:r>
              <a:rPr lang="en-US" sz="800" dirty="0">
                <a:solidFill>
                  <a:srgbClr val="333333"/>
                </a:solidFill>
                <a:latin typeface="Arial" pitchFamily="34" charset="0"/>
                <a:ea typeface="Arial" pitchFamily="34" charset="-122"/>
                <a:cs typeface="Arial" pitchFamily="34" charset="-120"/>
              </a:rPr>
              <a:t>Readiness probe — checks KB indexed, providers up</a:t>
            </a:r>
            <a:endParaRPr lang="en-US" sz="800" dirty="0"/>
          </a:p>
        </p:txBody>
      </p:sp>
      <p:sp>
        <p:nvSpPr>
          <p:cNvPr id="147" name="Text 145"/>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api/main.py — 23 public endpoints. Highlighted rows = new graph, connector &amp; agents endpoints. Admin endpoints in control_panel/routes.py.</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Request Lifecycle — Gateway to RuntimeService</a:t>
            </a:r>
            <a:endParaRPr lang="en-US" sz="2600" dirty="0"/>
          </a:p>
        </p:txBody>
      </p:sp>
      <p:sp>
        <p:nvSpPr>
          <p:cNvPr id="3" name="Shape 1"/>
          <p:cNvSpPr/>
          <p:nvPr/>
        </p:nvSpPr>
        <p:spPr>
          <a:xfrm>
            <a:off x="571500" y="1188720"/>
            <a:ext cx="1828800" cy="109728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4" name="Text 2"/>
          <p:cNvSpPr/>
          <p:nvPr/>
        </p:nvSpPr>
        <p:spPr>
          <a:xfrm>
            <a:off x="571500" y="1188720"/>
            <a:ext cx="1828800" cy="10972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Client sends POST</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/v1/chat/completions</a:t>
            </a:r>
            <a:endParaRPr lang="en-US" sz="1000" dirty="0"/>
          </a:p>
        </p:txBody>
      </p:sp>
      <p:sp>
        <p:nvSpPr>
          <p:cNvPr id="5" name="Shape 3"/>
          <p:cNvSpPr/>
          <p:nvPr/>
        </p:nvSpPr>
        <p:spPr>
          <a:xfrm>
            <a:off x="2400300" y="1737360"/>
            <a:ext cx="228600" cy="0"/>
          </a:xfrm>
          <a:prstGeom prst="line">
            <a:avLst/>
          </a:prstGeom>
          <a:noFill/>
          <a:ln w="25400">
            <a:solidFill>
              <a:srgbClr val="0097A7"/>
            </a:solidFill>
            <a:prstDash val="solid"/>
          </a:ln>
        </p:spPr>
        <p:txBody>
          <a:bodyPr/>
          <a:lstStyle/>
          <a:p>
            <a:endParaRPr lang="en-US"/>
          </a:p>
        </p:txBody>
      </p:sp>
      <p:sp>
        <p:nvSpPr>
          <p:cNvPr id="6" name="Text 4"/>
          <p:cNvSpPr/>
          <p:nvPr/>
        </p:nvSpPr>
        <p:spPr>
          <a:xfrm>
            <a:off x="2519172" y="162763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7" name="Shape 5"/>
          <p:cNvSpPr/>
          <p:nvPr/>
        </p:nvSpPr>
        <p:spPr>
          <a:xfrm>
            <a:off x="2628900" y="1188720"/>
            <a:ext cx="1828800" cy="109728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8" name="Text 6"/>
          <p:cNvSpPr/>
          <p:nvPr/>
        </p:nvSpPr>
        <p:spPr>
          <a:xfrm>
            <a:off x="2628900" y="1188720"/>
            <a:ext cx="1828800" cy="10972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FastAPI handler</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extracts messages,</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creates/resumes session</a:t>
            </a:r>
            <a:endParaRPr lang="en-US" sz="1000" dirty="0"/>
          </a:p>
        </p:txBody>
      </p:sp>
      <p:sp>
        <p:nvSpPr>
          <p:cNvPr id="9" name="Shape 7"/>
          <p:cNvSpPr/>
          <p:nvPr/>
        </p:nvSpPr>
        <p:spPr>
          <a:xfrm>
            <a:off x="4457700" y="1737360"/>
            <a:ext cx="228600" cy="0"/>
          </a:xfrm>
          <a:prstGeom prst="line">
            <a:avLst/>
          </a:prstGeom>
          <a:noFill/>
          <a:ln w="25400">
            <a:solidFill>
              <a:srgbClr val="0097A7"/>
            </a:solidFill>
            <a:prstDash val="solid"/>
          </a:ln>
        </p:spPr>
        <p:txBody>
          <a:bodyPr/>
          <a:lstStyle/>
          <a:p>
            <a:endParaRPr lang="en-US"/>
          </a:p>
        </p:txBody>
      </p:sp>
      <p:sp>
        <p:nvSpPr>
          <p:cNvPr id="10" name="Text 8"/>
          <p:cNvSpPr/>
          <p:nvPr/>
        </p:nvSpPr>
        <p:spPr>
          <a:xfrm>
            <a:off x="4576572" y="162763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1" name="Shape 9"/>
          <p:cNvSpPr/>
          <p:nvPr/>
        </p:nvSpPr>
        <p:spPr>
          <a:xfrm>
            <a:off x="4686300" y="1188720"/>
            <a:ext cx="1828800" cy="109728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12" name="Text 10"/>
          <p:cNvSpPr/>
          <p:nvPr/>
        </p:nvSpPr>
        <p:spPr>
          <a:xfrm>
            <a:off x="4686300" y="1188720"/>
            <a:ext cx="1828800" cy="10972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RuntimeService</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.process_turn(</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  session, user_text,</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  upload_paths)</a:t>
            </a:r>
            <a:endParaRPr lang="en-US" sz="1000" dirty="0"/>
          </a:p>
        </p:txBody>
      </p:sp>
      <p:sp>
        <p:nvSpPr>
          <p:cNvPr id="13" name="Shape 11"/>
          <p:cNvSpPr/>
          <p:nvPr/>
        </p:nvSpPr>
        <p:spPr>
          <a:xfrm>
            <a:off x="6515100" y="1737360"/>
            <a:ext cx="228600" cy="0"/>
          </a:xfrm>
          <a:prstGeom prst="line">
            <a:avLst/>
          </a:prstGeom>
          <a:noFill/>
          <a:ln w="25400">
            <a:solidFill>
              <a:srgbClr val="0097A7"/>
            </a:solidFill>
            <a:prstDash val="solid"/>
          </a:ln>
        </p:spPr>
        <p:txBody>
          <a:bodyPr/>
          <a:lstStyle/>
          <a:p>
            <a:endParaRPr lang="en-US"/>
          </a:p>
        </p:txBody>
      </p:sp>
      <p:sp>
        <p:nvSpPr>
          <p:cNvPr id="14" name="Text 12"/>
          <p:cNvSpPr/>
          <p:nvPr/>
        </p:nvSpPr>
        <p:spPr>
          <a:xfrm>
            <a:off x="6633972" y="162763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5" name="Shape 13"/>
          <p:cNvSpPr/>
          <p:nvPr/>
        </p:nvSpPr>
        <p:spPr>
          <a:xfrm>
            <a:off x="6743700" y="1188720"/>
            <a:ext cx="1828800" cy="109728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16" name="Text 14"/>
          <p:cNvSpPr/>
          <p:nvPr/>
        </p:nvSpPr>
        <p:spPr>
          <a:xfrm>
            <a:off x="6743700" y="1188720"/>
            <a:ext cx="1828800" cy="10972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Response streamed</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back via SSE with</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progress callbacks</a:t>
            </a:r>
            <a:endParaRPr lang="en-US" sz="1000" dirty="0"/>
          </a:p>
        </p:txBody>
      </p:sp>
      <p:sp>
        <p:nvSpPr>
          <p:cNvPr id="17" name="Shape 15"/>
          <p:cNvSpPr/>
          <p:nvPr/>
        </p:nvSpPr>
        <p:spPr>
          <a:xfrm>
            <a:off x="502920" y="2606040"/>
            <a:ext cx="4114800" cy="822960"/>
          </a:xfrm>
          <a:prstGeom prst="rect">
            <a:avLst/>
          </a:prstGeom>
          <a:solidFill>
            <a:srgbClr val="2D2D2D"/>
          </a:solidFill>
          <a:ln/>
        </p:spPr>
        <p:txBody>
          <a:bodyPr/>
          <a:lstStyle/>
          <a:p>
            <a:endParaRPr lang="en-US"/>
          </a:p>
        </p:txBody>
      </p:sp>
      <p:sp>
        <p:nvSpPr>
          <p:cNvPr id="18" name="Text 16"/>
          <p:cNvSpPr/>
          <p:nvPr/>
        </p:nvSpPr>
        <p:spPr>
          <a:xfrm>
            <a:off x="612648" y="2660904"/>
            <a:ext cx="3895344" cy="713232"/>
          </a:xfrm>
          <a:prstGeom prst="rect">
            <a:avLst/>
          </a:prstGeom>
          <a:noFill/>
          <a:ln/>
        </p:spPr>
        <p:txBody>
          <a:bodyPr wrap="square" lIns="0" tIns="0" rIns="0" bIns="0" rtlCol="0" anchor="t"/>
          <a:lstStyle/>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"model": "enterprise-agent",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"messages": [</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{"role":"user",</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"content":"Analyze sales.csv"}</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a:t>
            </a:r>
            <a:endParaRPr lang="en-US" sz="900" dirty="0"/>
          </a:p>
        </p:txBody>
      </p:sp>
      <p:sp>
        <p:nvSpPr>
          <p:cNvPr id="19" name="Shape 17"/>
          <p:cNvSpPr/>
          <p:nvPr/>
        </p:nvSpPr>
        <p:spPr>
          <a:xfrm>
            <a:off x="4846320" y="2606040"/>
            <a:ext cx="3794760" cy="822960"/>
          </a:xfrm>
          <a:prstGeom prst="rect">
            <a:avLst/>
          </a:prstGeom>
          <a:solidFill>
            <a:srgbClr val="E0F7FA"/>
          </a:solidFill>
          <a:ln w="12700">
            <a:solidFill>
              <a:srgbClr val="0097A7"/>
            </a:solidFill>
            <a:prstDash val="solid"/>
          </a:ln>
        </p:spPr>
        <p:txBody>
          <a:bodyPr/>
          <a:lstStyle/>
          <a:p>
            <a:endParaRPr lang="en-US"/>
          </a:p>
        </p:txBody>
      </p:sp>
      <p:sp>
        <p:nvSpPr>
          <p:cNvPr id="20" name="Text 18"/>
          <p:cNvSpPr/>
          <p:nvPr/>
        </p:nvSpPr>
        <p:spPr>
          <a:xfrm>
            <a:off x="4937760" y="2606040"/>
            <a:ext cx="3611880" cy="82296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progress_sink recently added — enables real-time phase updates ('Routing...', 'Retrieving...', 'Generating...') streamed to client as the agent works.</a:t>
            </a:r>
            <a:endParaRPr lang="en-US" sz="1000" dirty="0"/>
          </a:p>
        </p:txBody>
      </p:sp>
      <p:sp>
        <p:nvSpPr>
          <p:cNvPr id="21" name="Text 19"/>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api/main.py, api/progress_callback.py</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02920" y="1463040"/>
            <a:ext cx="8138160" cy="73152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The Three-Layer Runtime</a:t>
            </a:r>
            <a:endParaRPr lang="en-US" sz="3200" dirty="0"/>
          </a:p>
        </p:txBody>
      </p:sp>
      <p:sp>
        <p:nvSpPr>
          <p:cNvPr id="3" name="Text 1"/>
          <p:cNvSpPr/>
          <p:nvPr/>
        </p:nvSpPr>
        <p:spPr>
          <a:xfrm>
            <a:off x="502920" y="2286000"/>
            <a:ext cx="8138160" cy="457200"/>
          </a:xfrm>
          <a:prstGeom prst="rect">
            <a:avLst/>
          </a:prstGeom>
          <a:noFill/>
          <a:ln/>
        </p:spPr>
        <p:txBody>
          <a:bodyPr wrap="square" lIns="0" tIns="0" rIns="0" bIns="0" rtlCol="0" anchor="ctr"/>
          <a:lstStyle/>
          <a:p>
            <a:pPr marL="0" indent="0">
              <a:buNone/>
            </a:pPr>
            <a:r>
              <a:rPr lang="en-US" sz="1600" dirty="0">
                <a:solidFill>
                  <a:srgbClr val="0097A7"/>
                </a:solidFill>
                <a:latin typeface="Arial" pitchFamily="34" charset="0"/>
                <a:ea typeface="Arial" pitchFamily="34" charset="-122"/>
                <a:cs typeface="Arial" pitchFamily="34" charset="-120"/>
              </a:rPr>
              <a:t>Slides 7-12: RuntimeService, RuntimeKernel, QueryLoop</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Three-Layer Runtime Architecture</a:t>
            </a:r>
            <a:endParaRPr lang="en-US" sz="2600" dirty="0"/>
          </a:p>
        </p:txBody>
      </p:sp>
      <p:sp>
        <p:nvSpPr>
          <p:cNvPr id="3" name="Shape 1"/>
          <p:cNvSpPr/>
          <p:nvPr/>
        </p:nvSpPr>
        <p:spPr>
          <a:xfrm>
            <a:off x="1828800" y="1051560"/>
            <a:ext cx="5486400" cy="91440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4" name="Text 2"/>
          <p:cNvSpPr/>
          <p:nvPr/>
        </p:nvSpPr>
        <p:spPr>
          <a:xfrm>
            <a:off x="1828800" y="1051560"/>
            <a:ext cx="5486400" cy="914400"/>
          </a:xfrm>
          <a:prstGeom prst="rect">
            <a:avLst/>
          </a:prstGeom>
          <a:noFill/>
          <a:ln/>
        </p:spPr>
        <p:txBody>
          <a:bodyPr wrap="square" lIns="0" tIns="0" rIns="0" bIns="0" rtlCol="0" anchor="ctr"/>
          <a:lstStyle/>
          <a:p>
            <a:pPr marL="0" indent="0" algn="ctr">
              <a:buNone/>
            </a:pPr>
            <a:endParaRPr lang="en-US" sz="1000" dirty="0"/>
          </a:p>
        </p:txBody>
      </p:sp>
      <p:sp>
        <p:nvSpPr>
          <p:cNvPr id="5" name="Text 3"/>
          <p:cNvSpPr/>
          <p:nvPr/>
        </p:nvSpPr>
        <p:spPr>
          <a:xfrm>
            <a:off x="1965960" y="1124712"/>
            <a:ext cx="5212080" cy="320040"/>
          </a:xfrm>
          <a:prstGeom prst="rect">
            <a:avLst/>
          </a:prstGeom>
          <a:noFill/>
          <a:ln/>
        </p:spPr>
        <p:txBody>
          <a:bodyPr wrap="square" lIns="0" tIns="0" rIns="0" bIns="0" rtlCol="0" anchor="ctr"/>
          <a:lstStyle/>
          <a:p>
            <a:pPr marL="0" indent="0">
              <a:buNone/>
            </a:pPr>
            <a:r>
              <a:rPr lang="en-US" sz="1600" b="1" dirty="0">
                <a:solidFill>
                  <a:srgbClr val="FFFFFF"/>
                </a:solidFill>
                <a:latin typeface="Arial" pitchFamily="34" charset="0"/>
                <a:ea typeface="Arial" pitchFamily="34" charset="-122"/>
                <a:cs typeface="Arial" pitchFamily="34" charset="-120"/>
              </a:rPr>
              <a:t>RuntimeService</a:t>
            </a:r>
            <a:endParaRPr lang="en-US" sz="1600" dirty="0"/>
          </a:p>
        </p:txBody>
      </p:sp>
      <p:sp>
        <p:nvSpPr>
          <p:cNvPr id="6" name="Text 4"/>
          <p:cNvSpPr/>
          <p:nvPr/>
        </p:nvSpPr>
        <p:spPr>
          <a:xfrm>
            <a:off x="1965960" y="1417320"/>
            <a:ext cx="3566160" cy="320040"/>
          </a:xfrm>
          <a:prstGeom prst="rect">
            <a:avLst/>
          </a:prstGeom>
          <a:noFill/>
          <a:ln/>
        </p:spPr>
        <p:txBody>
          <a:bodyPr wrap="square" lIns="0" tIns="0" rIns="0" bIns="0" rtlCol="0" anchor="ctr"/>
          <a:lstStyle/>
          <a:p>
            <a:pPr marL="0" indent="0">
              <a:buNone/>
            </a:pPr>
            <a:r>
              <a:rPr lang="en-US" sz="1000" dirty="0">
                <a:solidFill>
                  <a:srgbClr val="FFFFFF"/>
                </a:solidFill>
                <a:latin typeface="Arial" pitchFamily="34" charset="0"/>
                <a:ea typeface="Arial" pitchFamily="34" charset="-122"/>
                <a:cs typeface="Arial" pitchFamily="34" charset="-120"/>
              </a:rPr>
              <a:t>Orchestration entry point. Owns routing, workspace setup, KB readiness.</a:t>
            </a:r>
            <a:endParaRPr lang="en-US" sz="1000" dirty="0"/>
          </a:p>
        </p:txBody>
      </p:sp>
      <p:sp>
        <p:nvSpPr>
          <p:cNvPr id="7" name="Text 5"/>
          <p:cNvSpPr/>
          <p:nvPr/>
        </p:nvSpPr>
        <p:spPr>
          <a:xfrm>
            <a:off x="5532120" y="1417320"/>
            <a:ext cx="1645920" cy="320040"/>
          </a:xfrm>
          <a:prstGeom prst="rect">
            <a:avLst/>
          </a:prstGeom>
          <a:noFill/>
          <a:ln/>
        </p:spPr>
        <p:txBody>
          <a:bodyPr wrap="square" lIns="0" tIns="0" rIns="0" bIns="0" rtlCol="0" anchor="ctr"/>
          <a:lstStyle/>
          <a:p>
            <a:pPr marL="0" indent="0" algn="r">
              <a:buNone/>
            </a:pPr>
            <a:r>
              <a:rPr lang="en-US" sz="900" dirty="0">
                <a:solidFill>
                  <a:srgbClr val="FFFFFF"/>
                </a:solidFill>
                <a:latin typeface="Courier New" pitchFamily="34" charset="0"/>
                <a:ea typeface="Courier New" pitchFamily="34" charset="-122"/>
                <a:cs typeface="Courier New" pitchFamily="34" charset="-120"/>
              </a:rPr>
              <a:t>app/service.py</a:t>
            </a:r>
            <a:endParaRPr lang="en-US" sz="900" dirty="0"/>
          </a:p>
        </p:txBody>
      </p:sp>
      <p:sp>
        <p:nvSpPr>
          <p:cNvPr id="8" name="Shape 6"/>
          <p:cNvSpPr/>
          <p:nvPr/>
        </p:nvSpPr>
        <p:spPr>
          <a:xfrm>
            <a:off x="4572000" y="1965960"/>
            <a:ext cx="0" cy="228600"/>
          </a:xfrm>
          <a:prstGeom prst="line">
            <a:avLst/>
          </a:prstGeom>
          <a:noFill/>
          <a:ln w="25400">
            <a:solidFill>
              <a:srgbClr val="0097A7"/>
            </a:solidFill>
            <a:prstDash val="solid"/>
          </a:ln>
        </p:spPr>
        <p:txBody>
          <a:bodyPr/>
          <a:lstStyle/>
          <a:p>
            <a:endParaRPr lang="en-US"/>
          </a:p>
        </p:txBody>
      </p:sp>
      <p:sp>
        <p:nvSpPr>
          <p:cNvPr id="9" name="Text 7"/>
          <p:cNvSpPr/>
          <p:nvPr/>
        </p:nvSpPr>
        <p:spPr>
          <a:xfrm>
            <a:off x="4480560" y="2121408"/>
            <a:ext cx="182880" cy="164592"/>
          </a:xfrm>
          <a:prstGeom prst="rect">
            <a:avLst/>
          </a:prstGeom>
          <a:noFill/>
          <a:ln/>
        </p:spPr>
        <p:txBody>
          <a:bodyPr wrap="square" lIns="0" tIns="0" rIns="0" bIns="0" rtlCol="0" anchor="ctr"/>
          <a:lstStyle/>
          <a:p>
            <a:pPr marL="0" indent="0" algn="ctr">
              <a:buNone/>
            </a:pPr>
            <a:r>
              <a:rPr lang="en-US" sz="1000" b="1" dirty="0">
                <a:solidFill>
                  <a:srgbClr val="0097A7"/>
                </a:solidFill>
                <a:latin typeface="Arial" pitchFamily="34" charset="0"/>
                <a:ea typeface="Arial" pitchFamily="34" charset="-122"/>
                <a:cs typeface="Arial" pitchFamily="34" charset="-120"/>
              </a:rPr>
              <a:t>v</a:t>
            </a:r>
            <a:endParaRPr lang="en-US" sz="1000" dirty="0"/>
          </a:p>
        </p:txBody>
      </p:sp>
      <p:sp>
        <p:nvSpPr>
          <p:cNvPr id="10" name="Shape 8"/>
          <p:cNvSpPr/>
          <p:nvPr/>
        </p:nvSpPr>
        <p:spPr>
          <a:xfrm>
            <a:off x="1828800" y="2240280"/>
            <a:ext cx="5486400" cy="91440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11" name="Text 9"/>
          <p:cNvSpPr/>
          <p:nvPr/>
        </p:nvSpPr>
        <p:spPr>
          <a:xfrm>
            <a:off x="1828800" y="2240280"/>
            <a:ext cx="5486400" cy="914400"/>
          </a:xfrm>
          <a:prstGeom prst="rect">
            <a:avLst/>
          </a:prstGeom>
          <a:noFill/>
          <a:ln/>
        </p:spPr>
        <p:txBody>
          <a:bodyPr wrap="square" lIns="0" tIns="0" rIns="0" bIns="0" rtlCol="0" anchor="ctr"/>
          <a:lstStyle/>
          <a:p>
            <a:pPr marL="0" indent="0" algn="ctr">
              <a:buNone/>
            </a:pPr>
            <a:endParaRPr lang="en-US" sz="1000" dirty="0"/>
          </a:p>
        </p:txBody>
      </p:sp>
      <p:sp>
        <p:nvSpPr>
          <p:cNvPr id="12" name="Text 10"/>
          <p:cNvSpPr/>
          <p:nvPr/>
        </p:nvSpPr>
        <p:spPr>
          <a:xfrm>
            <a:off x="1965960" y="2313432"/>
            <a:ext cx="5212080" cy="320040"/>
          </a:xfrm>
          <a:prstGeom prst="rect">
            <a:avLst/>
          </a:prstGeom>
          <a:noFill/>
          <a:ln/>
        </p:spPr>
        <p:txBody>
          <a:bodyPr wrap="square" lIns="0" tIns="0" rIns="0" bIns="0" rtlCol="0" anchor="ctr"/>
          <a:lstStyle/>
          <a:p>
            <a:pPr marL="0" indent="0">
              <a:buNone/>
            </a:pPr>
            <a:r>
              <a:rPr lang="en-US" sz="1600" b="1" dirty="0">
                <a:solidFill>
                  <a:srgbClr val="FFFFFF"/>
                </a:solidFill>
                <a:latin typeface="Arial" pitchFamily="34" charset="0"/>
                <a:ea typeface="Arial" pitchFamily="34" charset="-122"/>
                <a:cs typeface="Arial" pitchFamily="34" charset="-120"/>
              </a:rPr>
              <a:t>RuntimeKernel</a:t>
            </a:r>
            <a:endParaRPr lang="en-US" sz="1600" dirty="0"/>
          </a:p>
        </p:txBody>
      </p:sp>
      <p:sp>
        <p:nvSpPr>
          <p:cNvPr id="13" name="Text 11"/>
          <p:cNvSpPr/>
          <p:nvPr/>
        </p:nvSpPr>
        <p:spPr>
          <a:xfrm>
            <a:off x="1965960" y="2606040"/>
            <a:ext cx="3566160" cy="320040"/>
          </a:xfrm>
          <a:prstGeom prst="rect">
            <a:avLst/>
          </a:prstGeom>
          <a:noFill/>
          <a:ln/>
        </p:spPr>
        <p:txBody>
          <a:bodyPr wrap="square" lIns="0" tIns="0" rIns="0" bIns="0" rtlCol="0" anchor="ctr"/>
          <a:lstStyle/>
          <a:p>
            <a:pPr marL="0" indent="0">
              <a:buNone/>
            </a:pPr>
            <a:r>
              <a:rPr lang="en-US" sz="1000" dirty="0">
                <a:solidFill>
                  <a:srgbClr val="FFFFFF"/>
                </a:solidFill>
                <a:latin typeface="Arial" pitchFamily="34" charset="0"/>
                <a:ea typeface="Arial" pitchFamily="34" charset="-122"/>
                <a:cs typeface="Arial" pitchFamily="34" charset="-120"/>
              </a:rPr>
              <a:t>Session state, persistence, event emission, job management. Delegates to 3 controller classes.</a:t>
            </a:r>
            <a:endParaRPr lang="en-US" sz="1000" dirty="0"/>
          </a:p>
        </p:txBody>
      </p:sp>
      <p:sp>
        <p:nvSpPr>
          <p:cNvPr id="14" name="Text 12"/>
          <p:cNvSpPr/>
          <p:nvPr/>
        </p:nvSpPr>
        <p:spPr>
          <a:xfrm>
            <a:off x="5532120" y="2606040"/>
            <a:ext cx="1645920" cy="320040"/>
          </a:xfrm>
          <a:prstGeom prst="rect">
            <a:avLst/>
          </a:prstGeom>
          <a:noFill/>
          <a:ln/>
        </p:spPr>
        <p:txBody>
          <a:bodyPr wrap="square" lIns="0" tIns="0" rIns="0" bIns="0" rtlCol="0" anchor="ctr"/>
          <a:lstStyle/>
          <a:p>
            <a:pPr marL="0" indent="0" algn="r">
              <a:buNone/>
            </a:pPr>
            <a:r>
              <a:rPr lang="en-US" sz="900" dirty="0">
                <a:solidFill>
                  <a:srgbClr val="FFFFFF"/>
                </a:solidFill>
                <a:latin typeface="Courier New" pitchFamily="34" charset="0"/>
                <a:ea typeface="Courier New" pitchFamily="34" charset="-122"/>
                <a:cs typeface="Courier New" pitchFamily="34" charset="-120"/>
              </a:rPr>
              <a:t>runtime/kernel.py (~1780 lines)</a:t>
            </a:r>
            <a:endParaRPr lang="en-US" sz="900" dirty="0"/>
          </a:p>
        </p:txBody>
      </p:sp>
      <p:sp>
        <p:nvSpPr>
          <p:cNvPr id="15" name="Shape 13"/>
          <p:cNvSpPr/>
          <p:nvPr/>
        </p:nvSpPr>
        <p:spPr>
          <a:xfrm>
            <a:off x="4572000" y="3154680"/>
            <a:ext cx="0" cy="228600"/>
          </a:xfrm>
          <a:prstGeom prst="line">
            <a:avLst/>
          </a:prstGeom>
          <a:noFill/>
          <a:ln w="25400">
            <a:solidFill>
              <a:srgbClr val="0097A7"/>
            </a:solidFill>
            <a:prstDash val="solid"/>
          </a:ln>
        </p:spPr>
        <p:txBody>
          <a:bodyPr/>
          <a:lstStyle/>
          <a:p>
            <a:endParaRPr lang="en-US"/>
          </a:p>
        </p:txBody>
      </p:sp>
      <p:sp>
        <p:nvSpPr>
          <p:cNvPr id="16" name="Text 14"/>
          <p:cNvSpPr/>
          <p:nvPr/>
        </p:nvSpPr>
        <p:spPr>
          <a:xfrm>
            <a:off x="4480560" y="3310128"/>
            <a:ext cx="182880" cy="164592"/>
          </a:xfrm>
          <a:prstGeom prst="rect">
            <a:avLst/>
          </a:prstGeom>
          <a:noFill/>
          <a:ln/>
        </p:spPr>
        <p:txBody>
          <a:bodyPr wrap="square" lIns="0" tIns="0" rIns="0" bIns="0" rtlCol="0" anchor="ctr"/>
          <a:lstStyle/>
          <a:p>
            <a:pPr marL="0" indent="0" algn="ctr">
              <a:buNone/>
            </a:pPr>
            <a:r>
              <a:rPr lang="en-US" sz="1000" b="1" dirty="0">
                <a:solidFill>
                  <a:srgbClr val="0097A7"/>
                </a:solidFill>
                <a:latin typeface="Arial" pitchFamily="34" charset="0"/>
                <a:ea typeface="Arial" pitchFamily="34" charset="-122"/>
                <a:cs typeface="Arial" pitchFamily="34" charset="-120"/>
              </a:rPr>
              <a:t>v</a:t>
            </a:r>
            <a:endParaRPr lang="en-US" sz="1000" dirty="0"/>
          </a:p>
        </p:txBody>
      </p:sp>
      <p:sp>
        <p:nvSpPr>
          <p:cNvPr id="17" name="Shape 15"/>
          <p:cNvSpPr/>
          <p:nvPr/>
        </p:nvSpPr>
        <p:spPr>
          <a:xfrm>
            <a:off x="1828800" y="3429000"/>
            <a:ext cx="5486400" cy="91440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18" name="Text 16"/>
          <p:cNvSpPr/>
          <p:nvPr/>
        </p:nvSpPr>
        <p:spPr>
          <a:xfrm>
            <a:off x="1828800" y="3429000"/>
            <a:ext cx="5486400" cy="914400"/>
          </a:xfrm>
          <a:prstGeom prst="rect">
            <a:avLst/>
          </a:prstGeom>
          <a:noFill/>
          <a:ln/>
        </p:spPr>
        <p:txBody>
          <a:bodyPr wrap="square" lIns="0" tIns="0" rIns="0" bIns="0" rtlCol="0" anchor="ctr"/>
          <a:lstStyle/>
          <a:p>
            <a:pPr marL="0" indent="0" algn="ctr">
              <a:buNone/>
            </a:pPr>
            <a:endParaRPr lang="en-US" sz="1000" dirty="0"/>
          </a:p>
        </p:txBody>
      </p:sp>
      <p:sp>
        <p:nvSpPr>
          <p:cNvPr id="19" name="Text 17"/>
          <p:cNvSpPr/>
          <p:nvPr/>
        </p:nvSpPr>
        <p:spPr>
          <a:xfrm>
            <a:off x="1965960" y="3502152"/>
            <a:ext cx="5212080" cy="320040"/>
          </a:xfrm>
          <a:prstGeom prst="rect">
            <a:avLst/>
          </a:prstGeom>
          <a:noFill/>
          <a:ln/>
        </p:spPr>
        <p:txBody>
          <a:bodyPr wrap="square" lIns="0" tIns="0" rIns="0" bIns="0" rtlCol="0" anchor="ctr"/>
          <a:lstStyle/>
          <a:p>
            <a:pPr marL="0" indent="0">
              <a:buNone/>
            </a:pPr>
            <a:r>
              <a:rPr lang="en-US" sz="1600" b="1" dirty="0">
                <a:solidFill>
                  <a:srgbClr val="FFFFFF"/>
                </a:solidFill>
                <a:latin typeface="Arial" pitchFamily="34" charset="0"/>
                <a:ea typeface="Arial" pitchFamily="34" charset="-122"/>
                <a:cs typeface="Arial" pitchFamily="34" charset="-120"/>
              </a:rPr>
              <a:t>QueryLoop</a:t>
            </a:r>
            <a:endParaRPr lang="en-US" sz="1600" dirty="0"/>
          </a:p>
        </p:txBody>
      </p:sp>
      <p:sp>
        <p:nvSpPr>
          <p:cNvPr id="20" name="Text 18"/>
          <p:cNvSpPr/>
          <p:nvPr/>
        </p:nvSpPr>
        <p:spPr>
          <a:xfrm>
            <a:off x="1965960" y="3794760"/>
            <a:ext cx="3566160" cy="320040"/>
          </a:xfrm>
          <a:prstGeom prst="rect">
            <a:avLst/>
          </a:prstGeom>
          <a:noFill/>
          <a:ln/>
        </p:spPr>
        <p:txBody>
          <a:bodyPr wrap="square" lIns="0" tIns="0" rIns="0" bIns="0" rtlCol="0" anchor="ctr"/>
          <a:lstStyle/>
          <a:p>
            <a:pPr marL="0" indent="0">
              <a:buNone/>
            </a:pPr>
            <a:r>
              <a:rPr lang="en-US" sz="1000" dirty="0">
                <a:solidFill>
                  <a:srgbClr val="FFFFFF"/>
                </a:solidFill>
                <a:latin typeface="Arial" pitchFamily="34" charset="0"/>
                <a:ea typeface="Arial" pitchFamily="34" charset="-122"/>
                <a:cs typeface="Arial" pitchFamily="34" charset="-120"/>
              </a:rPr>
              <a:t>Mode dispatcher. Runs LLM calls in the correct mode.</a:t>
            </a:r>
            <a:endParaRPr lang="en-US" sz="1000" dirty="0"/>
          </a:p>
        </p:txBody>
      </p:sp>
      <p:sp>
        <p:nvSpPr>
          <p:cNvPr id="21" name="Text 19"/>
          <p:cNvSpPr/>
          <p:nvPr/>
        </p:nvSpPr>
        <p:spPr>
          <a:xfrm>
            <a:off x="5532120" y="3794760"/>
            <a:ext cx="1645920" cy="320040"/>
          </a:xfrm>
          <a:prstGeom prst="rect">
            <a:avLst/>
          </a:prstGeom>
          <a:noFill/>
          <a:ln/>
        </p:spPr>
        <p:txBody>
          <a:bodyPr wrap="square" lIns="0" tIns="0" rIns="0" bIns="0" rtlCol="0" anchor="ctr"/>
          <a:lstStyle/>
          <a:p>
            <a:pPr marL="0" indent="0" algn="r">
              <a:buNone/>
            </a:pPr>
            <a:r>
              <a:rPr lang="en-US" sz="900" dirty="0">
                <a:solidFill>
                  <a:srgbClr val="FFFFFF"/>
                </a:solidFill>
                <a:latin typeface="Courier New" pitchFamily="34" charset="0"/>
                <a:ea typeface="Courier New" pitchFamily="34" charset="-122"/>
                <a:cs typeface="Courier New" pitchFamily="34" charset="-120"/>
              </a:rPr>
              <a:t>runtime/query_loop.py</a:t>
            </a:r>
            <a:endParaRPr lang="en-US" sz="900" dirty="0"/>
          </a:p>
        </p:txBody>
      </p:sp>
      <p:sp>
        <p:nvSpPr>
          <p:cNvPr id="22" name="Shape 20"/>
          <p:cNvSpPr/>
          <p:nvPr/>
        </p:nvSpPr>
        <p:spPr>
          <a:xfrm>
            <a:off x="502920" y="4572000"/>
            <a:ext cx="8138160" cy="457200"/>
          </a:xfrm>
          <a:prstGeom prst="rect">
            <a:avLst/>
          </a:prstGeom>
          <a:solidFill>
            <a:srgbClr val="E0F7FA"/>
          </a:solidFill>
          <a:ln w="12700">
            <a:solidFill>
              <a:srgbClr val="0097A7"/>
            </a:solidFill>
            <a:prstDash val="solid"/>
          </a:ln>
        </p:spPr>
        <p:txBody>
          <a:bodyPr/>
          <a:lstStyle/>
          <a:p>
            <a:endParaRPr lang="en-US"/>
          </a:p>
        </p:txBody>
      </p:sp>
      <p:sp>
        <p:nvSpPr>
          <p:cNvPr id="23" name="Text 21"/>
          <p:cNvSpPr/>
          <p:nvPr/>
        </p:nvSpPr>
        <p:spPr>
          <a:xfrm>
            <a:off x="594360" y="4572000"/>
            <a:ext cx="7955280" cy="45720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Service = receptionist (what does the user need?)   |   Kernel = operations manager (setup, track, persist)   |   QueryLoop = specialist (do the work)</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Layer 1: RuntimeService — The Orchestrator</a:t>
            </a:r>
            <a:endParaRPr lang="en-US" sz="2600" dirty="0"/>
          </a:p>
        </p:txBody>
      </p:sp>
      <p:sp>
        <p:nvSpPr>
          <p:cNvPr id="3" name="Text 1"/>
          <p:cNvSpPr/>
          <p:nvPr/>
        </p:nvSpPr>
        <p:spPr>
          <a:xfrm>
            <a:off x="502920" y="1005840"/>
            <a:ext cx="3840480" cy="2377440"/>
          </a:xfrm>
          <a:prstGeom prst="rect">
            <a:avLst/>
          </a:prstGeom>
          <a:noFill/>
          <a:ln/>
        </p:spPr>
        <p:txBody>
          <a:bodyPr wrap="square" lIns="0" tIns="0" rIns="0" bIns="0" rtlCol="0" anchor="t"/>
          <a:lstStyle/>
          <a:p>
            <a:pPr marL="0" indent="0">
              <a:lnSpc>
                <a:spcPct val="135000"/>
              </a:lnSpc>
              <a:buNone/>
            </a:pPr>
            <a:r>
              <a:rPr lang="en-US" sz="1000" dirty="0">
                <a:solidFill>
                  <a:srgbClr val="333333"/>
                </a:solidFill>
                <a:latin typeface="Arial" pitchFamily="34" charset="0"/>
                <a:ea typeface="Arial" pitchFamily="34" charset="-122"/>
                <a:cs typeface="Arial" pitchFamily="34" charset="-120"/>
              </a:rPr>
              <a:t>1. Opens/ensures SessionWorkspace for each session</a:t>
            </a:r>
            <a:endParaRPr lang="en-US" sz="1000" dirty="0"/>
          </a:p>
          <a:p>
            <a:pPr marL="0" indent="0">
              <a:lnSpc>
                <a:spcPct val="135000"/>
              </a:lnSpc>
              <a:buNone/>
            </a:pPr>
            <a:r>
              <a:rPr lang="en-US" sz="1000" dirty="0">
                <a:solidFill>
                  <a:srgbClr val="333333"/>
                </a:solidFill>
                <a:latin typeface="Arial" pitchFamily="34" charset="0"/>
                <a:ea typeface="Arial" pitchFamily="34" charset="-122"/>
                <a:cs typeface="Arial" pitchFamily="34" charset="-120"/>
              </a:rPr>
              <a:t>2. Checks KB readiness via ensure_kb_indexed()</a:t>
            </a:r>
            <a:endParaRPr lang="en-US" sz="1000" dirty="0"/>
          </a:p>
          <a:p>
            <a:pPr marL="0" indent="0">
              <a:lnSpc>
                <a:spcPct val="135000"/>
              </a:lnSpc>
              <a:buNone/>
            </a:pPr>
            <a:r>
              <a:rPr lang="en-US" sz="1000" dirty="0">
                <a:solidFill>
                  <a:srgbClr val="333333"/>
                </a:solidFill>
                <a:latin typeface="Arial" pitchFamily="34" charset="0"/>
                <a:ea typeface="Arial" pitchFamily="34" charset="-122"/>
                <a:cs typeface="Arial" pitchFamily="34" charset="-120"/>
              </a:rPr>
              <a:t>3. Ingests uploaded files via ingest_and_summarize_uploads()</a:t>
            </a:r>
            <a:endParaRPr lang="en-US" sz="1000" dirty="0"/>
          </a:p>
          <a:p>
            <a:pPr marL="0" indent="0">
              <a:lnSpc>
                <a:spcPct val="135000"/>
              </a:lnSpc>
              <a:buNone/>
            </a:pPr>
            <a:r>
              <a:rPr lang="en-US" sz="1000" dirty="0">
                <a:solidFill>
                  <a:srgbClr val="333333"/>
                </a:solidFill>
                <a:latin typeface="Arial" pitchFamily="34" charset="0"/>
                <a:ea typeface="Arial" pitchFamily="34" charset="-122"/>
                <a:cs typeface="Arial" pitchFamily="34" charset="-120"/>
              </a:rPr>
              <a:t>4. Calls router -&gt; gets RouterDecision(route, confidence, reasons, suggested_agent)</a:t>
            </a:r>
            <a:endParaRPr lang="en-US" sz="1000" dirty="0"/>
          </a:p>
          <a:p>
            <a:pPr marL="0" indent="0">
              <a:lnSpc>
                <a:spcPct val="135000"/>
              </a:lnSpc>
              <a:buNone/>
            </a:pPr>
            <a:r>
              <a:rPr lang="en-US" sz="1000" dirty="0">
                <a:solidFill>
                  <a:srgbClr val="333333"/>
                </a:solidFill>
                <a:latin typeface="Arial" pitchFamily="34" charset="0"/>
                <a:ea typeface="Arial" pitchFamily="34" charset="-122"/>
                <a:cs typeface="Arial" pitchFamily="34" charset="-120"/>
              </a:rPr>
              <a:t>5. If BASIC -&gt; delegates to kernel.process_basic_turn()</a:t>
            </a:r>
            <a:endParaRPr lang="en-US" sz="1000" dirty="0"/>
          </a:p>
          <a:p>
            <a:pPr marL="0" indent="0">
              <a:lnSpc>
                <a:spcPct val="135000"/>
              </a:lnSpc>
              <a:buNone/>
            </a:pPr>
            <a:r>
              <a:rPr lang="en-US" sz="1000" dirty="0">
                <a:solidFill>
                  <a:srgbClr val="333333"/>
                </a:solidFill>
                <a:latin typeface="Arial" pitchFamily="34" charset="0"/>
                <a:ea typeface="Arial" pitchFamily="34" charset="-122"/>
                <a:cs typeface="Arial" pitchFamily="34" charset="-120"/>
              </a:rPr>
              <a:t>6. If AGENT -&gt; choose_agent_name() -&gt; kernel.process_agent_turn()</a:t>
            </a:r>
            <a:endParaRPr lang="en-US" sz="1000" dirty="0"/>
          </a:p>
          <a:p>
            <a:pPr marL="0" indent="0">
              <a:lnSpc>
                <a:spcPct val="135000"/>
              </a:lnSpc>
              <a:buNone/>
            </a:pPr>
            <a:r>
              <a:rPr lang="en-US" sz="1000" dirty="0">
                <a:solidFill>
                  <a:srgbClr val="333333"/>
                </a:solidFill>
                <a:latin typeface="Arial" pitchFamily="34" charset="0"/>
                <a:ea typeface="Arial" pitchFamily="34" charset="-122"/>
                <a:cs typeface="Arial" pitchFamily="34" charset="-120"/>
              </a:rPr>
              <a:t>7. Handles requested_agent_override for manual agent selection</a:t>
            </a:r>
            <a:endParaRPr lang="en-US" sz="1000" dirty="0"/>
          </a:p>
          <a:p>
            <a:pPr marL="0" indent="0">
              <a:lnSpc>
                <a:spcPct val="135000"/>
              </a:lnSpc>
              <a:buNone/>
            </a:pPr>
            <a:r>
              <a:rPr lang="en-US" sz="1000" dirty="0">
                <a:solidFill>
                  <a:srgbClr val="333333"/>
                </a:solidFill>
                <a:latin typeface="Arial" pitchFamily="34" charset="0"/>
                <a:ea typeface="Arial" pitchFamily="34" charset="-122"/>
                <a:cs typeface="Arial" pitchFamily="34" charset="-120"/>
              </a:rPr>
              <a:t>8. Circuit breaker: degrades to basic mode if agent LLM fails</a:t>
            </a:r>
            <a:endParaRPr lang="en-US" sz="1000" dirty="0"/>
          </a:p>
          <a:p>
            <a:pPr marL="0" indent="0">
              <a:lnSpc>
                <a:spcPct val="135000"/>
              </a:lnSpc>
              <a:buNone/>
            </a:pPr>
            <a:r>
              <a:rPr lang="en-US" sz="1000" dirty="0">
                <a:solidFill>
                  <a:srgbClr val="333333"/>
                </a:solidFill>
                <a:latin typeface="Arial" pitchFamily="34" charset="0"/>
                <a:ea typeface="Arial" pitchFamily="34" charset="-122"/>
                <a:cs typeface="Arial" pitchFamily="34" charset="-120"/>
              </a:rPr>
              <a:t>9. Registers/unregisters progress sinks in try/finally</a:t>
            </a:r>
            <a:endParaRPr lang="en-US" sz="1000" dirty="0"/>
          </a:p>
        </p:txBody>
      </p:sp>
      <p:sp>
        <p:nvSpPr>
          <p:cNvPr id="4" name="Shape 2"/>
          <p:cNvSpPr/>
          <p:nvPr/>
        </p:nvSpPr>
        <p:spPr>
          <a:xfrm>
            <a:off x="4572000" y="1005840"/>
            <a:ext cx="4114800" cy="2377440"/>
          </a:xfrm>
          <a:prstGeom prst="rect">
            <a:avLst/>
          </a:prstGeom>
          <a:solidFill>
            <a:srgbClr val="2D2D2D"/>
          </a:solidFill>
          <a:ln/>
        </p:spPr>
        <p:txBody>
          <a:bodyPr/>
          <a:lstStyle/>
          <a:p>
            <a:endParaRPr lang="en-US"/>
          </a:p>
        </p:txBody>
      </p:sp>
      <p:sp>
        <p:nvSpPr>
          <p:cNvPr id="5" name="Text 3"/>
          <p:cNvSpPr/>
          <p:nvPr/>
        </p:nvSpPr>
        <p:spPr>
          <a:xfrm>
            <a:off x="4681728" y="1060704"/>
            <a:ext cx="3895344" cy="2267712"/>
          </a:xfrm>
          <a:prstGeom prst="rect">
            <a:avLst/>
          </a:prstGeom>
          <a:noFill/>
          <a:ln/>
        </p:spPr>
        <p:txBody>
          <a:bodyPr wrap="square" lIns="0" tIns="0" rIns="0" bIns="0" rtlCol="0" anchor="t"/>
          <a:lstStyle/>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def process_turn(session, user_text,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upload_paths, ...):</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self._ensure_workspace(session)</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self._ensure_kb_ready(tenant_id)</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if upload_paths: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self.ingest_and_summarize_uploads(...)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decision = route_turn(...)  # Router</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if decision.route == "BASIC":</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return kernel.process_basic_turn(...)</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agent = choose_agent_name(decision)</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return kernel.process_agent_turn(</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agent_name=agent, ...)</a:t>
            </a:r>
            <a:endParaRPr lang="en-US" sz="900" dirty="0"/>
          </a:p>
        </p:txBody>
      </p:sp>
      <p:sp>
        <p:nvSpPr>
          <p:cNvPr id="6" name="Text 4"/>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app/service.py — process_turn() at line ~298</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Layer 2: RuntimeKernel — The Engine Room</a:t>
            </a:r>
            <a:endParaRPr lang="en-US" sz="2600" dirty="0"/>
          </a:p>
        </p:txBody>
      </p:sp>
      <p:sp>
        <p:nvSpPr>
          <p:cNvPr id="3" name="Shape 1"/>
          <p:cNvSpPr/>
          <p:nvPr/>
        </p:nvSpPr>
        <p:spPr>
          <a:xfrm>
            <a:off x="502920" y="1005840"/>
            <a:ext cx="3840480" cy="13716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4" name="Shape 2"/>
          <p:cNvSpPr/>
          <p:nvPr/>
        </p:nvSpPr>
        <p:spPr>
          <a:xfrm>
            <a:off x="502920" y="1005840"/>
            <a:ext cx="3840480" cy="320040"/>
          </a:xfrm>
          <a:prstGeom prst="rect">
            <a:avLst/>
          </a:prstGeom>
          <a:solidFill>
            <a:srgbClr val="1B2A4A"/>
          </a:solidFill>
          <a:ln/>
        </p:spPr>
        <p:txBody>
          <a:bodyPr/>
          <a:lstStyle/>
          <a:p>
            <a:endParaRPr lang="en-US"/>
          </a:p>
        </p:txBody>
      </p:sp>
      <p:sp>
        <p:nvSpPr>
          <p:cNvPr id="5" name="Text 3"/>
          <p:cNvSpPr/>
          <p:nvPr/>
        </p:nvSpPr>
        <p:spPr>
          <a:xfrm>
            <a:off x="612648" y="1033272"/>
            <a:ext cx="362102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Session Hydration</a:t>
            </a:r>
            <a:endParaRPr lang="en-US" sz="1200" dirty="0"/>
          </a:p>
        </p:txBody>
      </p:sp>
      <p:sp>
        <p:nvSpPr>
          <p:cNvPr id="6" name="Text 4"/>
          <p:cNvSpPr/>
          <p:nvPr/>
        </p:nvSpPr>
        <p:spPr>
          <a:xfrm>
            <a:off x="612648" y="1389888"/>
            <a:ext cx="3621024" cy="89611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Loads persisted session state (messages, scratchpad, uploaded docs, memory) from transcript store. Rehydrates on resume.</a:t>
            </a:r>
            <a:endParaRPr lang="en-US" sz="1000" dirty="0"/>
          </a:p>
        </p:txBody>
      </p:sp>
      <p:sp>
        <p:nvSpPr>
          <p:cNvPr id="7" name="Shape 5"/>
          <p:cNvSpPr/>
          <p:nvPr/>
        </p:nvSpPr>
        <p:spPr>
          <a:xfrm>
            <a:off x="4526280" y="1005840"/>
            <a:ext cx="3840480" cy="13716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8" name="Shape 6"/>
          <p:cNvSpPr/>
          <p:nvPr/>
        </p:nvSpPr>
        <p:spPr>
          <a:xfrm>
            <a:off x="4526280" y="1005840"/>
            <a:ext cx="3840480" cy="320040"/>
          </a:xfrm>
          <a:prstGeom prst="rect">
            <a:avLst/>
          </a:prstGeom>
          <a:solidFill>
            <a:srgbClr val="1B2A4A"/>
          </a:solidFill>
          <a:ln/>
        </p:spPr>
        <p:txBody>
          <a:bodyPr/>
          <a:lstStyle/>
          <a:p>
            <a:endParaRPr lang="en-US"/>
          </a:p>
        </p:txBody>
      </p:sp>
      <p:sp>
        <p:nvSpPr>
          <p:cNvPr id="9" name="Text 7"/>
          <p:cNvSpPr/>
          <p:nvPr/>
        </p:nvSpPr>
        <p:spPr>
          <a:xfrm>
            <a:off x="4636008" y="1033272"/>
            <a:ext cx="362102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Provider Resolution</a:t>
            </a:r>
            <a:endParaRPr lang="en-US" sz="1200" dirty="0"/>
          </a:p>
        </p:txBody>
      </p:sp>
      <p:sp>
        <p:nvSpPr>
          <p:cNvPr id="10" name="Text 8"/>
          <p:cNvSpPr/>
          <p:nvPr/>
        </p:nvSpPr>
        <p:spPr>
          <a:xfrm>
            <a:off x="4636008" y="1389888"/>
            <a:ext cx="3621024" cy="89611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Each agent can have its own LLM provider override (different model, temperature). Falls back to global config.</a:t>
            </a:r>
            <a:endParaRPr lang="en-US" sz="1000" dirty="0"/>
          </a:p>
        </p:txBody>
      </p:sp>
      <p:sp>
        <p:nvSpPr>
          <p:cNvPr id="11" name="Shape 9"/>
          <p:cNvSpPr/>
          <p:nvPr/>
        </p:nvSpPr>
        <p:spPr>
          <a:xfrm>
            <a:off x="502920" y="2560320"/>
            <a:ext cx="3840480" cy="13716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2" name="Shape 10"/>
          <p:cNvSpPr/>
          <p:nvPr/>
        </p:nvSpPr>
        <p:spPr>
          <a:xfrm>
            <a:off x="502920" y="2560320"/>
            <a:ext cx="3840480" cy="320040"/>
          </a:xfrm>
          <a:prstGeom prst="rect">
            <a:avLst/>
          </a:prstGeom>
          <a:solidFill>
            <a:srgbClr val="1B2A4A"/>
          </a:solidFill>
          <a:ln/>
        </p:spPr>
        <p:txBody>
          <a:bodyPr/>
          <a:lstStyle/>
          <a:p>
            <a:endParaRPr lang="en-US"/>
          </a:p>
        </p:txBody>
      </p:sp>
      <p:sp>
        <p:nvSpPr>
          <p:cNvPr id="13" name="Text 11"/>
          <p:cNvSpPr/>
          <p:nvPr/>
        </p:nvSpPr>
        <p:spPr>
          <a:xfrm>
            <a:off x="612648" y="2587752"/>
            <a:ext cx="362102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Event Emission</a:t>
            </a:r>
            <a:endParaRPr lang="en-US" sz="1200" dirty="0"/>
          </a:p>
        </p:txBody>
      </p:sp>
      <p:sp>
        <p:nvSpPr>
          <p:cNvPr id="14" name="Text 12"/>
          <p:cNvSpPr/>
          <p:nvPr/>
        </p:nvSpPr>
        <p:spPr>
          <a:xfrm>
            <a:off x="612648" y="2944368"/>
            <a:ext cx="3621024" cy="89611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Every router decision, tool call, and agent turn emits events to RuntimeEventSink -&gt; events.jsonl + Langfuse.</a:t>
            </a:r>
            <a:endParaRPr lang="en-US" sz="1000" dirty="0"/>
          </a:p>
        </p:txBody>
      </p:sp>
      <p:sp>
        <p:nvSpPr>
          <p:cNvPr id="15" name="Shape 13"/>
          <p:cNvSpPr/>
          <p:nvPr/>
        </p:nvSpPr>
        <p:spPr>
          <a:xfrm>
            <a:off x="4526280" y="2560320"/>
            <a:ext cx="3840480" cy="13716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6" name="Shape 14"/>
          <p:cNvSpPr/>
          <p:nvPr/>
        </p:nvSpPr>
        <p:spPr>
          <a:xfrm>
            <a:off x="4526280" y="2560320"/>
            <a:ext cx="3840480" cy="320040"/>
          </a:xfrm>
          <a:prstGeom prst="rect">
            <a:avLst/>
          </a:prstGeom>
          <a:solidFill>
            <a:srgbClr val="1B2A4A"/>
          </a:solidFill>
          <a:ln/>
        </p:spPr>
        <p:txBody>
          <a:bodyPr/>
          <a:lstStyle/>
          <a:p>
            <a:endParaRPr lang="en-US"/>
          </a:p>
        </p:txBody>
      </p:sp>
      <p:sp>
        <p:nvSpPr>
          <p:cNvPr id="17" name="Text 15"/>
          <p:cNvSpPr/>
          <p:nvPr/>
        </p:nvSpPr>
        <p:spPr>
          <a:xfrm>
            <a:off x="4636008" y="2587752"/>
            <a:ext cx="362102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Coordinator Orchestration</a:t>
            </a:r>
            <a:endParaRPr lang="en-US" sz="1200" dirty="0"/>
          </a:p>
        </p:txBody>
      </p:sp>
      <p:sp>
        <p:nvSpPr>
          <p:cNvPr id="18" name="Text 16"/>
          <p:cNvSpPr/>
          <p:nvPr/>
        </p:nvSpPr>
        <p:spPr>
          <a:xfrm>
            <a:off x="4636008" y="2944368"/>
            <a:ext cx="3621024" cy="89611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Manages planner -&gt; worker batch -&gt; finalizer -&gt; verifier pipeline. Durable jobs via RuntimeJobManager.</a:t>
            </a:r>
            <a:endParaRPr lang="en-US" sz="1000" dirty="0"/>
          </a:p>
        </p:txBody>
      </p:sp>
      <p:sp>
        <p:nvSpPr>
          <p:cNvPr id="19" name="Shape 17"/>
          <p:cNvSpPr/>
          <p:nvPr/>
        </p:nvSpPr>
        <p:spPr>
          <a:xfrm>
            <a:off x="502920" y="3977640"/>
            <a:ext cx="8138160" cy="320040"/>
          </a:xfrm>
          <a:prstGeom prst="rect">
            <a:avLst/>
          </a:prstGeom>
          <a:solidFill>
            <a:srgbClr val="E0F7FA"/>
          </a:solidFill>
          <a:ln w="12700">
            <a:solidFill>
              <a:srgbClr val="0097A7"/>
            </a:solidFill>
            <a:prstDash val="solid"/>
          </a:ln>
        </p:spPr>
        <p:txBody>
          <a:bodyPr/>
          <a:lstStyle/>
          <a:p>
            <a:endParaRPr lang="en-US"/>
          </a:p>
        </p:txBody>
      </p:sp>
      <p:sp>
        <p:nvSpPr>
          <p:cNvPr id="20" name="Text 18"/>
          <p:cNvSpPr/>
          <p:nvPr/>
        </p:nvSpPr>
        <p:spPr>
          <a:xfrm>
            <a:off x="594360" y="3977640"/>
            <a:ext cx="7955280" cy="32004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The kernel delegates to 3 controllers: KernelCoordinatorController, KernelProviderController, KernelEventController — clean separation of concerns.</a:t>
            </a:r>
            <a:endParaRPr lang="en-US" sz="1000" dirty="0"/>
          </a:p>
        </p:txBody>
      </p:sp>
      <p:sp>
        <p:nvSpPr>
          <p:cNvPr id="21" name="Text 19"/>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runtime/kernel.py, kernel_coordinator.py, kernel_events.py, kernel_providers.py</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Kernel Feature: Coordinator Orchestration</a:t>
            </a:r>
            <a:endParaRPr lang="en-US" sz="2600" dirty="0"/>
          </a:p>
        </p:txBody>
      </p:sp>
      <p:sp>
        <p:nvSpPr>
          <p:cNvPr id="3" name="Shape 1"/>
          <p:cNvSpPr/>
          <p:nvPr/>
        </p:nvSpPr>
        <p:spPr>
          <a:xfrm>
            <a:off x="274320" y="1371600"/>
            <a:ext cx="1645920" cy="64008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4" name="Text 2"/>
          <p:cNvSpPr/>
          <p:nvPr/>
        </p:nvSpPr>
        <p:spPr>
          <a:xfrm>
            <a:off x="274320" y="1371600"/>
            <a:ext cx="1645920" cy="6400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Planner</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Agent</a:t>
            </a:r>
            <a:endParaRPr lang="en-US" sz="1000" dirty="0"/>
          </a:p>
        </p:txBody>
      </p:sp>
      <p:sp>
        <p:nvSpPr>
          <p:cNvPr id="5" name="Shape 3"/>
          <p:cNvSpPr/>
          <p:nvPr/>
        </p:nvSpPr>
        <p:spPr>
          <a:xfrm>
            <a:off x="1920240" y="1691640"/>
            <a:ext cx="320040" cy="0"/>
          </a:xfrm>
          <a:prstGeom prst="line">
            <a:avLst/>
          </a:prstGeom>
          <a:noFill/>
          <a:ln w="25400">
            <a:solidFill>
              <a:srgbClr val="0097A7"/>
            </a:solidFill>
            <a:prstDash val="solid"/>
          </a:ln>
        </p:spPr>
        <p:txBody>
          <a:bodyPr/>
          <a:lstStyle/>
          <a:p>
            <a:endParaRPr lang="en-US"/>
          </a:p>
        </p:txBody>
      </p:sp>
      <p:sp>
        <p:nvSpPr>
          <p:cNvPr id="6" name="Text 4"/>
          <p:cNvSpPr/>
          <p:nvPr/>
        </p:nvSpPr>
        <p:spPr>
          <a:xfrm>
            <a:off x="2130552" y="158191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7" name="Shape 5"/>
          <p:cNvSpPr/>
          <p:nvPr/>
        </p:nvSpPr>
        <p:spPr>
          <a:xfrm>
            <a:off x="2240280" y="1371600"/>
            <a:ext cx="1645920" cy="64008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8" name="Text 6"/>
          <p:cNvSpPr/>
          <p:nvPr/>
        </p:nvSpPr>
        <p:spPr>
          <a:xfrm>
            <a:off x="2240280" y="1371600"/>
            <a:ext cx="1645920" cy="6400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Worker Batch</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(parallel, max 4)</a:t>
            </a:r>
            <a:endParaRPr lang="en-US" sz="1000" dirty="0"/>
          </a:p>
        </p:txBody>
      </p:sp>
      <p:sp>
        <p:nvSpPr>
          <p:cNvPr id="9" name="Shape 7"/>
          <p:cNvSpPr/>
          <p:nvPr/>
        </p:nvSpPr>
        <p:spPr>
          <a:xfrm>
            <a:off x="3886200" y="1691640"/>
            <a:ext cx="320040" cy="0"/>
          </a:xfrm>
          <a:prstGeom prst="line">
            <a:avLst/>
          </a:prstGeom>
          <a:noFill/>
          <a:ln w="25400">
            <a:solidFill>
              <a:srgbClr val="0097A7"/>
            </a:solidFill>
            <a:prstDash val="solid"/>
          </a:ln>
        </p:spPr>
        <p:txBody>
          <a:bodyPr/>
          <a:lstStyle/>
          <a:p>
            <a:endParaRPr lang="en-US"/>
          </a:p>
        </p:txBody>
      </p:sp>
      <p:sp>
        <p:nvSpPr>
          <p:cNvPr id="10" name="Text 8"/>
          <p:cNvSpPr/>
          <p:nvPr/>
        </p:nvSpPr>
        <p:spPr>
          <a:xfrm>
            <a:off x="4096512" y="158191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1" name="Shape 9"/>
          <p:cNvSpPr/>
          <p:nvPr/>
        </p:nvSpPr>
        <p:spPr>
          <a:xfrm>
            <a:off x="4206240" y="1371600"/>
            <a:ext cx="1645920" cy="64008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12" name="Text 10"/>
          <p:cNvSpPr/>
          <p:nvPr/>
        </p:nvSpPr>
        <p:spPr>
          <a:xfrm>
            <a:off x="4206240" y="1371600"/>
            <a:ext cx="1645920" cy="6400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Finalizer</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Agent</a:t>
            </a:r>
            <a:endParaRPr lang="en-US" sz="1000" dirty="0"/>
          </a:p>
        </p:txBody>
      </p:sp>
      <p:sp>
        <p:nvSpPr>
          <p:cNvPr id="13" name="Shape 11"/>
          <p:cNvSpPr/>
          <p:nvPr/>
        </p:nvSpPr>
        <p:spPr>
          <a:xfrm>
            <a:off x="5852160" y="1691640"/>
            <a:ext cx="320040" cy="0"/>
          </a:xfrm>
          <a:prstGeom prst="line">
            <a:avLst/>
          </a:prstGeom>
          <a:noFill/>
          <a:ln w="25400">
            <a:solidFill>
              <a:srgbClr val="0097A7"/>
            </a:solidFill>
            <a:prstDash val="solid"/>
          </a:ln>
        </p:spPr>
        <p:txBody>
          <a:bodyPr/>
          <a:lstStyle/>
          <a:p>
            <a:endParaRPr lang="en-US"/>
          </a:p>
        </p:txBody>
      </p:sp>
      <p:sp>
        <p:nvSpPr>
          <p:cNvPr id="14" name="Text 12"/>
          <p:cNvSpPr/>
          <p:nvPr/>
        </p:nvSpPr>
        <p:spPr>
          <a:xfrm>
            <a:off x="6062472" y="158191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5" name="Shape 13"/>
          <p:cNvSpPr/>
          <p:nvPr/>
        </p:nvSpPr>
        <p:spPr>
          <a:xfrm>
            <a:off x="6172200" y="1371600"/>
            <a:ext cx="1645920" cy="64008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16" name="Text 14"/>
          <p:cNvSpPr/>
          <p:nvPr/>
        </p:nvSpPr>
        <p:spPr>
          <a:xfrm>
            <a:off x="6172200" y="1371600"/>
            <a:ext cx="1645920" cy="6400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Verifier</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Agent</a:t>
            </a:r>
            <a:endParaRPr lang="en-US" sz="1000" dirty="0"/>
          </a:p>
        </p:txBody>
      </p:sp>
      <p:sp>
        <p:nvSpPr>
          <p:cNvPr id="17" name="Shape 15"/>
          <p:cNvSpPr/>
          <p:nvPr/>
        </p:nvSpPr>
        <p:spPr>
          <a:xfrm>
            <a:off x="2331720" y="2148840"/>
            <a:ext cx="457200" cy="274320"/>
          </a:xfrm>
          <a:prstGeom prst="rect">
            <a:avLst/>
          </a:prstGeom>
          <a:solidFill>
            <a:srgbClr val="0097A7"/>
          </a:solidFill>
          <a:ln w="6350">
            <a:solidFill>
              <a:srgbClr val="FFFFFF"/>
            </a:solidFill>
            <a:prstDash val="solid"/>
          </a:ln>
        </p:spPr>
        <p:txBody>
          <a:bodyPr/>
          <a:lstStyle/>
          <a:p>
            <a:endParaRPr lang="en-US"/>
          </a:p>
        </p:txBody>
      </p:sp>
      <p:sp>
        <p:nvSpPr>
          <p:cNvPr id="18" name="Text 16"/>
          <p:cNvSpPr/>
          <p:nvPr/>
        </p:nvSpPr>
        <p:spPr>
          <a:xfrm>
            <a:off x="2331720" y="2148840"/>
            <a:ext cx="457200" cy="274320"/>
          </a:xfrm>
          <a:prstGeom prst="rect">
            <a:avLst/>
          </a:prstGeom>
          <a:noFill/>
          <a:ln/>
        </p:spPr>
        <p:txBody>
          <a:bodyPr wrap="square" lIns="0" tIns="0" rIns="0" bIns="0" rtlCol="0" anchor="ctr"/>
          <a:lstStyle/>
          <a:p>
            <a:pPr marL="0" indent="0" algn="ctr">
              <a:buNone/>
            </a:pPr>
            <a:r>
              <a:rPr lang="en-US" sz="800" dirty="0">
                <a:solidFill>
                  <a:srgbClr val="FFFFFF"/>
                </a:solidFill>
                <a:latin typeface="Arial" pitchFamily="34" charset="0"/>
                <a:ea typeface="Arial" pitchFamily="34" charset="-122"/>
                <a:cs typeface="Arial" pitchFamily="34" charset="-120"/>
              </a:rPr>
              <a:t>W1</a:t>
            </a:r>
            <a:endParaRPr lang="en-US" sz="800" dirty="0"/>
          </a:p>
        </p:txBody>
      </p:sp>
      <p:sp>
        <p:nvSpPr>
          <p:cNvPr id="19" name="Shape 17"/>
          <p:cNvSpPr/>
          <p:nvPr/>
        </p:nvSpPr>
        <p:spPr>
          <a:xfrm>
            <a:off x="2834640" y="2148840"/>
            <a:ext cx="457200" cy="274320"/>
          </a:xfrm>
          <a:prstGeom prst="rect">
            <a:avLst/>
          </a:prstGeom>
          <a:solidFill>
            <a:srgbClr val="0097A7"/>
          </a:solidFill>
          <a:ln w="6350">
            <a:solidFill>
              <a:srgbClr val="FFFFFF"/>
            </a:solidFill>
            <a:prstDash val="solid"/>
          </a:ln>
        </p:spPr>
        <p:txBody>
          <a:bodyPr/>
          <a:lstStyle/>
          <a:p>
            <a:endParaRPr lang="en-US"/>
          </a:p>
        </p:txBody>
      </p:sp>
      <p:sp>
        <p:nvSpPr>
          <p:cNvPr id="20" name="Text 18"/>
          <p:cNvSpPr/>
          <p:nvPr/>
        </p:nvSpPr>
        <p:spPr>
          <a:xfrm>
            <a:off x="2834640" y="2148840"/>
            <a:ext cx="457200" cy="274320"/>
          </a:xfrm>
          <a:prstGeom prst="rect">
            <a:avLst/>
          </a:prstGeom>
          <a:noFill/>
          <a:ln/>
        </p:spPr>
        <p:txBody>
          <a:bodyPr wrap="square" lIns="0" tIns="0" rIns="0" bIns="0" rtlCol="0" anchor="ctr"/>
          <a:lstStyle/>
          <a:p>
            <a:pPr marL="0" indent="0" algn="ctr">
              <a:buNone/>
            </a:pPr>
            <a:r>
              <a:rPr lang="en-US" sz="800" dirty="0">
                <a:solidFill>
                  <a:srgbClr val="FFFFFF"/>
                </a:solidFill>
                <a:latin typeface="Arial" pitchFamily="34" charset="0"/>
                <a:ea typeface="Arial" pitchFamily="34" charset="-122"/>
                <a:cs typeface="Arial" pitchFamily="34" charset="-120"/>
              </a:rPr>
              <a:t>W2</a:t>
            </a:r>
            <a:endParaRPr lang="en-US" sz="800" dirty="0"/>
          </a:p>
        </p:txBody>
      </p:sp>
      <p:sp>
        <p:nvSpPr>
          <p:cNvPr id="21" name="Shape 19"/>
          <p:cNvSpPr/>
          <p:nvPr/>
        </p:nvSpPr>
        <p:spPr>
          <a:xfrm>
            <a:off x="3337560" y="2148840"/>
            <a:ext cx="457200" cy="274320"/>
          </a:xfrm>
          <a:prstGeom prst="rect">
            <a:avLst/>
          </a:prstGeom>
          <a:solidFill>
            <a:srgbClr val="0097A7"/>
          </a:solidFill>
          <a:ln w="6350">
            <a:solidFill>
              <a:srgbClr val="FFFFFF"/>
            </a:solidFill>
            <a:prstDash val="solid"/>
          </a:ln>
        </p:spPr>
        <p:txBody>
          <a:bodyPr/>
          <a:lstStyle/>
          <a:p>
            <a:endParaRPr lang="en-US"/>
          </a:p>
        </p:txBody>
      </p:sp>
      <p:sp>
        <p:nvSpPr>
          <p:cNvPr id="22" name="Text 20"/>
          <p:cNvSpPr/>
          <p:nvPr/>
        </p:nvSpPr>
        <p:spPr>
          <a:xfrm>
            <a:off x="3337560" y="2148840"/>
            <a:ext cx="457200" cy="274320"/>
          </a:xfrm>
          <a:prstGeom prst="rect">
            <a:avLst/>
          </a:prstGeom>
          <a:noFill/>
          <a:ln/>
        </p:spPr>
        <p:txBody>
          <a:bodyPr wrap="square" lIns="0" tIns="0" rIns="0" bIns="0" rtlCol="0" anchor="ctr"/>
          <a:lstStyle/>
          <a:p>
            <a:pPr marL="0" indent="0" algn="ctr">
              <a:buNone/>
            </a:pPr>
            <a:r>
              <a:rPr lang="en-US" sz="800" dirty="0">
                <a:solidFill>
                  <a:srgbClr val="FFFFFF"/>
                </a:solidFill>
                <a:latin typeface="Arial" pitchFamily="34" charset="0"/>
                <a:ea typeface="Arial" pitchFamily="34" charset="-122"/>
                <a:cs typeface="Arial" pitchFamily="34" charset="-120"/>
              </a:rPr>
              <a:t>W3</a:t>
            </a:r>
            <a:endParaRPr lang="en-US" sz="800" dirty="0"/>
          </a:p>
        </p:txBody>
      </p:sp>
      <p:sp>
        <p:nvSpPr>
          <p:cNvPr id="23" name="Shape 21"/>
          <p:cNvSpPr/>
          <p:nvPr/>
        </p:nvSpPr>
        <p:spPr>
          <a:xfrm>
            <a:off x="7818120" y="2514600"/>
            <a:ext cx="0" cy="0"/>
          </a:xfrm>
          <a:prstGeom prst="line">
            <a:avLst/>
          </a:prstGeom>
          <a:noFill/>
          <a:ln w="19050">
            <a:solidFill>
              <a:srgbClr val="C62828"/>
            </a:solidFill>
            <a:prstDash val="dash"/>
          </a:ln>
        </p:spPr>
        <p:txBody>
          <a:bodyPr/>
          <a:lstStyle/>
          <a:p>
            <a:endParaRPr lang="en-US"/>
          </a:p>
        </p:txBody>
      </p:sp>
      <p:sp>
        <p:nvSpPr>
          <p:cNvPr id="24" name="Text 22"/>
          <p:cNvSpPr/>
          <p:nvPr/>
        </p:nvSpPr>
        <p:spPr>
          <a:xfrm>
            <a:off x="2560320" y="2542032"/>
            <a:ext cx="3200400" cy="182880"/>
          </a:xfrm>
          <a:prstGeom prst="rect">
            <a:avLst/>
          </a:prstGeom>
          <a:noFill/>
          <a:ln/>
        </p:spPr>
        <p:txBody>
          <a:bodyPr wrap="square" lIns="0" tIns="0" rIns="0" bIns="0" rtlCol="0" anchor="ctr"/>
          <a:lstStyle/>
          <a:p>
            <a:pPr marL="0" indent="0">
              <a:buNone/>
            </a:pPr>
            <a:r>
              <a:rPr lang="en-US" sz="800" dirty="0">
                <a:solidFill>
                  <a:srgbClr val="C62828"/>
                </a:solidFill>
                <a:latin typeface="Arial" pitchFamily="34" charset="0"/>
                <a:ea typeface="Arial" pitchFamily="34" charset="-122"/>
                <a:cs typeface="Arial" pitchFamily="34" charset="-120"/>
              </a:rPr>
              <a:t>revision loop (if verifier flags issues)</a:t>
            </a:r>
            <a:endParaRPr lang="en-US" sz="800" dirty="0"/>
          </a:p>
        </p:txBody>
      </p:sp>
      <p:sp>
        <p:nvSpPr>
          <p:cNvPr id="25" name="Shape 23"/>
          <p:cNvSpPr/>
          <p:nvPr/>
        </p:nvSpPr>
        <p:spPr>
          <a:xfrm>
            <a:off x="502920" y="2926080"/>
            <a:ext cx="8138160" cy="457200"/>
          </a:xfrm>
          <a:prstGeom prst="rect">
            <a:avLst/>
          </a:prstGeom>
          <a:solidFill>
            <a:srgbClr val="E0F7FA"/>
          </a:solidFill>
          <a:ln w="12700">
            <a:solidFill>
              <a:srgbClr val="0097A7"/>
            </a:solidFill>
            <a:prstDash val="solid"/>
          </a:ln>
        </p:spPr>
        <p:txBody>
          <a:bodyPr/>
          <a:lstStyle/>
          <a:p>
            <a:endParaRPr lang="en-US"/>
          </a:p>
        </p:txBody>
      </p:sp>
      <p:sp>
        <p:nvSpPr>
          <p:cNvPr id="26" name="Text 24"/>
          <p:cNvSpPr/>
          <p:nvPr/>
        </p:nvSpPr>
        <p:spPr>
          <a:xfrm>
            <a:off x="594360" y="2926080"/>
            <a:ext cx="7955280" cy="45720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Workers are durable jobs with transcripts, mailboxes, and handoff artifacts. Workers can pass typed artifacts (analysis_summary, entity_candidates, doc_focus, evidence) between each other.</a:t>
            </a:r>
            <a:endParaRPr lang="en-US" sz="1000" dirty="0"/>
          </a:p>
        </p:txBody>
      </p:sp>
      <p:sp>
        <p:nvSpPr>
          <p:cNvPr id="27" name="Text 25"/>
          <p:cNvSpPr/>
          <p:nvPr/>
        </p:nvSpPr>
        <p:spPr>
          <a:xfrm>
            <a:off x="502920" y="3520440"/>
            <a:ext cx="8138160" cy="640080"/>
          </a:xfrm>
          <a:prstGeom prst="rect">
            <a:avLst/>
          </a:prstGeom>
          <a:noFill/>
          <a:ln/>
        </p:spPr>
        <p:txBody>
          <a:bodyPr wrap="square" lIns="0" tIns="0" rIns="0" bIns="0" rtlCol="0" anchor="t"/>
          <a:lstStyle/>
          <a:p>
            <a:pPr marL="0" indent="0">
              <a:buNone/>
            </a:pPr>
            <a:r>
              <a:rPr lang="en-US" sz="1000" b="1" dirty="0">
                <a:solidFill>
                  <a:srgbClr val="333333"/>
                </a:solidFill>
                <a:latin typeface="Arial" pitchFamily="34" charset="0"/>
                <a:ea typeface="Arial" pitchFamily="34" charset="-122"/>
                <a:cs typeface="Arial" pitchFamily="34" charset="-120"/>
              </a:rPr>
              <a:t>How it works: </a:t>
            </a:r>
            <a:r>
              <a:rPr lang="en-US" sz="1000" dirty="0">
                <a:solidFill>
                  <a:srgbClr val="333333"/>
                </a:solidFill>
                <a:latin typeface="Arial" pitchFamily="34" charset="0"/>
                <a:ea typeface="Arial" pitchFamily="34" charset="-122"/>
                <a:cs typeface="Arial" pitchFamily="34" charset="-120"/>
              </a:rPr>
              <a:t>The coordinator never does work itself. It plans, dispatches to parallel workers (via RuntimeJobManager with semaphore max=4), collects results, has the finalizer synthesize a unified answer, and the verifier fact-check it against the KB. max_revision_rounds (default 4) prevents infinite loops.</a:t>
            </a:r>
            <a:endParaRPr lang="en-US" sz="1000" dirty="0"/>
          </a:p>
        </p:txBody>
      </p:sp>
      <p:sp>
        <p:nvSpPr>
          <p:cNvPr id="28" name="Text 26"/>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runtime/kernel_coordinator.py (~3040 lines), runtime/job_manager.py</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Layer 3: QueryLoop — The Mode Dispatcher</a:t>
            </a:r>
            <a:endParaRPr lang="en-US" sz="2600" dirty="0"/>
          </a:p>
        </p:txBody>
      </p:sp>
      <p:sp>
        <p:nvSpPr>
          <p:cNvPr id="3" name="Shape 1"/>
          <p:cNvSpPr/>
          <p:nvPr/>
        </p:nvSpPr>
        <p:spPr>
          <a:xfrm>
            <a:off x="1097280" y="1828800"/>
            <a:ext cx="1828800" cy="73152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4" name="Text 2"/>
          <p:cNvSpPr/>
          <p:nvPr/>
        </p:nvSpPr>
        <p:spPr>
          <a:xfrm>
            <a:off x="1097280" y="1828800"/>
            <a:ext cx="1828800" cy="73152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QueryLoop</a:t>
            </a:r>
            <a:endParaRPr lang="en-US" sz="1000" dirty="0"/>
          </a:p>
        </p:txBody>
      </p:sp>
      <p:sp>
        <p:nvSpPr>
          <p:cNvPr id="5" name="Shape 3"/>
          <p:cNvSpPr/>
          <p:nvPr/>
        </p:nvSpPr>
        <p:spPr>
          <a:xfrm>
            <a:off x="3840480" y="868680"/>
            <a:ext cx="2011680" cy="411480"/>
          </a:xfrm>
          <a:prstGeom prst="rect">
            <a:avLst/>
          </a:prstGeom>
          <a:solidFill>
            <a:srgbClr val="0097A7"/>
          </a:solidFill>
          <a:ln/>
        </p:spPr>
        <p:txBody>
          <a:bodyPr/>
          <a:lstStyle/>
          <a:p>
            <a:endParaRPr lang="en-US"/>
          </a:p>
        </p:txBody>
      </p:sp>
      <p:sp>
        <p:nvSpPr>
          <p:cNvPr id="6" name="Text 4"/>
          <p:cNvSpPr/>
          <p:nvPr/>
        </p:nvSpPr>
        <p:spPr>
          <a:xfrm>
            <a:off x="3913632" y="868680"/>
            <a:ext cx="1865376" cy="411480"/>
          </a:xfrm>
          <a:prstGeom prst="rect">
            <a:avLst/>
          </a:prstGeom>
          <a:noFill/>
          <a:ln/>
        </p:spPr>
        <p:txBody>
          <a:bodyPr wrap="square" lIns="0" tIns="0" rIns="0" bIns="0" rtlCol="0" anchor="ctr"/>
          <a:lstStyle/>
          <a:p>
            <a:pPr marL="0" indent="0">
              <a:buNone/>
            </a:pPr>
            <a:r>
              <a:rPr lang="en-US" sz="900" dirty="0">
                <a:solidFill>
                  <a:srgbClr val="FFFFFF"/>
                </a:solidFill>
                <a:latin typeface="Courier New" pitchFamily="34" charset="0"/>
                <a:ea typeface="Courier New" pitchFamily="34" charset="-122"/>
                <a:cs typeface="Courier New" pitchFamily="34" charset="-120"/>
              </a:rPr>
              <a:t>_run_basic</a:t>
            </a:r>
            <a:endParaRPr lang="en-US" sz="900" dirty="0"/>
          </a:p>
        </p:txBody>
      </p:sp>
      <p:sp>
        <p:nvSpPr>
          <p:cNvPr id="7" name="Text 5"/>
          <p:cNvSpPr/>
          <p:nvPr/>
        </p:nvSpPr>
        <p:spPr>
          <a:xfrm>
            <a:off x="5989320" y="868680"/>
            <a:ext cx="2743200" cy="41148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Direct LLM, no tools</a:t>
            </a:r>
            <a:endParaRPr lang="en-US" sz="950" dirty="0"/>
          </a:p>
        </p:txBody>
      </p:sp>
      <p:sp>
        <p:nvSpPr>
          <p:cNvPr id="8" name="Shape 6"/>
          <p:cNvSpPr/>
          <p:nvPr/>
        </p:nvSpPr>
        <p:spPr>
          <a:xfrm>
            <a:off x="2926080" y="2194560"/>
            <a:ext cx="914400" cy="0"/>
          </a:xfrm>
          <a:prstGeom prst="line">
            <a:avLst/>
          </a:prstGeom>
          <a:noFill/>
          <a:ln w="8890">
            <a:solidFill>
              <a:srgbClr val="999999"/>
            </a:solidFill>
            <a:prstDash val="solid"/>
          </a:ln>
        </p:spPr>
        <p:txBody>
          <a:bodyPr/>
          <a:lstStyle/>
          <a:p>
            <a:endParaRPr lang="en-US"/>
          </a:p>
        </p:txBody>
      </p:sp>
      <p:sp>
        <p:nvSpPr>
          <p:cNvPr id="9" name="Shape 7"/>
          <p:cNvSpPr/>
          <p:nvPr/>
        </p:nvSpPr>
        <p:spPr>
          <a:xfrm>
            <a:off x="3840480" y="1417320"/>
            <a:ext cx="2011680" cy="411480"/>
          </a:xfrm>
          <a:prstGeom prst="rect">
            <a:avLst/>
          </a:prstGeom>
          <a:solidFill>
            <a:srgbClr val="0097A7"/>
          </a:solidFill>
          <a:ln/>
        </p:spPr>
        <p:txBody>
          <a:bodyPr/>
          <a:lstStyle/>
          <a:p>
            <a:endParaRPr lang="en-US"/>
          </a:p>
        </p:txBody>
      </p:sp>
      <p:sp>
        <p:nvSpPr>
          <p:cNvPr id="10" name="Text 8"/>
          <p:cNvSpPr/>
          <p:nvPr/>
        </p:nvSpPr>
        <p:spPr>
          <a:xfrm>
            <a:off x="3913632" y="1417320"/>
            <a:ext cx="1865376" cy="411480"/>
          </a:xfrm>
          <a:prstGeom prst="rect">
            <a:avLst/>
          </a:prstGeom>
          <a:noFill/>
          <a:ln/>
        </p:spPr>
        <p:txBody>
          <a:bodyPr wrap="square" lIns="0" tIns="0" rIns="0" bIns="0" rtlCol="0" anchor="ctr"/>
          <a:lstStyle/>
          <a:p>
            <a:pPr marL="0" indent="0">
              <a:buNone/>
            </a:pPr>
            <a:r>
              <a:rPr lang="en-US" sz="900" dirty="0">
                <a:solidFill>
                  <a:srgbClr val="FFFFFF"/>
                </a:solidFill>
                <a:latin typeface="Courier New" pitchFamily="34" charset="0"/>
                <a:ea typeface="Courier New" pitchFamily="34" charset="-122"/>
                <a:cs typeface="Courier New" pitchFamily="34" charset="-120"/>
              </a:rPr>
              <a:t>_run_react</a:t>
            </a:r>
            <a:endParaRPr lang="en-US" sz="900" dirty="0"/>
          </a:p>
        </p:txBody>
      </p:sp>
      <p:sp>
        <p:nvSpPr>
          <p:cNvPr id="11" name="Text 9"/>
          <p:cNvSpPr/>
          <p:nvPr/>
        </p:nvSpPr>
        <p:spPr>
          <a:xfrm>
            <a:off x="5989320" y="1417320"/>
            <a:ext cx="2743200" cy="41148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LangGraph ReAct + tools</a:t>
            </a:r>
            <a:endParaRPr lang="en-US" sz="950" dirty="0"/>
          </a:p>
        </p:txBody>
      </p:sp>
      <p:sp>
        <p:nvSpPr>
          <p:cNvPr id="12" name="Shape 10"/>
          <p:cNvSpPr/>
          <p:nvPr/>
        </p:nvSpPr>
        <p:spPr>
          <a:xfrm>
            <a:off x="2926080" y="2194560"/>
            <a:ext cx="914400" cy="0"/>
          </a:xfrm>
          <a:prstGeom prst="line">
            <a:avLst/>
          </a:prstGeom>
          <a:noFill/>
          <a:ln w="8890">
            <a:solidFill>
              <a:srgbClr val="999999"/>
            </a:solidFill>
            <a:prstDash val="solid"/>
          </a:ln>
        </p:spPr>
        <p:txBody>
          <a:bodyPr/>
          <a:lstStyle/>
          <a:p>
            <a:endParaRPr lang="en-US"/>
          </a:p>
        </p:txBody>
      </p:sp>
      <p:sp>
        <p:nvSpPr>
          <p:cNvPr id="13" name="Shape 11"/>
          <p:cNvSpPr/>
          <p:nvPr/>
        </p:nvSpPr>
        <p:spPr>
          <a:xfrm>
            <a:off x="3840480" y="1965960"/>
            <a:ext cx="2011680" cy="411480"/>
          </a:xfrm>
          <a:prstGeom prst="rect">
            <a:avLst/>
          </a:prstGeom>
          <a:solidFill>
            <a:srgbClr val="0097A7"/>
          </a:solidFill>
          <a:ln/>
        </p:spPr>
        <p:txBody>
          <a:bodyPr/>
          <a:lstStyle/>
          <a:p>
            <a:endParaRPr lang="en-US"/>
          </a:p>
        </p:txBody>
      </p:sp>
      <p:sp>
        <p:nvSpPr>
          <p:cNvPr id="14" name="Text 12"/>
          <p:cNvSpPr/>
          <p:nvPr/>
        </p:nvSpPr>
        <p:spPr>
          <a:xfrm>
            <a:off x="3913632" y="1965960"/>
            <a:ext cx="1865376" cy="411480"/>
          </a:xfrm>
          <a:prstGeom prst="rect">
            <a:avLst/>
          </a:prstGeom>
          <a:noFill/>
          <a:ln/>
        </p:spPr>
        <p:txBody>
          <a:bodyPr wrap="square" lIns="0" tIns="0" rIns="0" bIns="0" rtlCol="0" anchor="ctr"/>
          <a:lstStyle/>
          <a:p>
            <a:pPr marL="0" indent="0">
              <a:buNone/>
            </a:pPr>
            <a:r>
              <a:rPr lang="en-US" sz="900" dirty="0">
                <a:solidFill>
                  <a:srgbClr val="FFFFFF"/>
                </a:solidFill>
                <a:latin typeface="Courier New" pitchFamily="34" charset="0"/>
                <a:ea typeface="Courier New" pitchFamily="34" charset="-122"/>
                <a:cs typeface="Courier New" pitchFamily="34" charset="-120"/>
              </a:rPr>
              <a:t>_run_rag</a:t>
            </a:r>
            <a:endParaRPr lang="en-US" sz="900" dirty="0"/>
          </a:p>
        </p:txBody>
      </p:sp>
      <p:sp>
        <p:nvSpPr>
          <p:cNvPr id="15" name="Text 13"/>
          <p:cNvSpPr/>
          <p:nvPr/>
        </p:nvSpPr>
        <p:spPr>
          <a:xfrm>
            <a:off x="5989320" y="1965960"/>
            <a:ext cx="2743200" cy="41148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Retrieve &gt; Synthesize &gt; Cite</a:t>
            </a:r>
            <a:endParaRPr lang="en-US" sz="950" dirty="0"/>
          </a:p>
        </p:txBody>
      </p:sp>
      <p:sp>
        <p:nvSpPr>
          <p:cNvPr id="16" name="Shape 14"/>
          <p:cNvSpPr/>
          <p:nvPr/>
        </p:nvSpPr>
        <p:spPr>
          <a:xfrm>
            <a:off x="2926080" y="2194560"/>
            <a:ext cx="914400" cy="0"/>
          </a:xfrm>
          <a:prstGeom prst="line">
            <a:avLst/>
          </a:prstGeom>
          <a:noFill/>
          <a:ln w="8890">
            <a:solidFill>
              <a:srgbClr val="999999"/>
            </a:solidFill>
            <a:prstDash val="solid"/>
          </a:ln>
        </p:spPr>
        <p:txBody>
          <a:bodyPr/>
          <a:lstStyle/>
          <a:p>
            <a:endParaRPr lang="en-US"/>
          </a:p>
        </p:txBody>
      </p:sp>
      <p:sp>
        <p:nvSpPr>
          <p:cNvPr id="17" name="Shape 15"/>
          <p:cNvSpPr/>
          <p:nvPr/>
        </p:nvSpPr>
        <p:spPr>
          <a:xfrm>
            <a:off x="3840480" y="2514600"/>
            <a:ext cx="2011680" cy="411480"/>
          </a:xfrm>
          <a:prstGeom prst="rect">
            <a:avLst/>
          </a:prstGeom>
          <a:solidFill>
            <a:srgbClr val="0097A7"/>
          </a:solidFill>
          <a:ln/>
        </p:spPr>
        <p:txBody>
          <a:bodyPr/>
          <a:lstStyle/>
          <a:p>
            <a:endParaRPr lang="en-US"/>
          </a:p>
        </p:txBody>
      </p:sp>
      <p:sp>
        <p:nvSpPr>
          <p:cNvPr id="18" name="Text 16"/>
          <p:cNvSpPr/>
          <p:nvPr/>
        </p:nvSpPr>
        <p:spPr>
          <a:xfrm>
            <a:off x="3913632" y="2514600"/>
            <a:ext cx="1865376" cy="411480"/>
          </a:xfrm>
          <a:prstGeom prst="rect">
            <a:avLst/>
          </a:prstGeom>
          <a:noFill/>
          <a:ln/>
        </p:spPr>
        <p:txBody>
          <a:bodyPr wrap="square" lIns="0" tIns="0" rIns="0" bIns="0" rtlCol="0" anchor="ctr"/>
          <a:lstStyle/>
          <a:p>
            <a:pPr marL="0" indent="0">
              <a:buNone/>
            </a:pPr>
            <a:r>
              <a:rPr lang="en-US" sz="900" dirty="0">
                <a:solidFill>
                  <a:srgbClr val="FFFFFF"/>
                </a:solidFill>
                <a:latin typeface="Courier New" pitchFamily="34" charset="0"/>
                <a:ea typeface="Courier New" pitchFamily="34" charset="-122"/>
                <a:cs typeface="Courier New" pitchFamily="34" charset="-120"/>
              </a:rPr>
              <a:t>_run_planner</a:t>
            </a:r>
            <a:endParaRPr lang="en-US" sz="900" dirty="0"/>
          </a:p>
        </p:txBody>
      </p:sp>
      <p:sp>
        <p:nvSpPr>
          <p:cNvPr id="19" name="Text 17"/>
          <p:cNvSpPr/>
          <p:nvPr/>
        </p:nvSpPr>
        <p:spPr>
          <a:xfrm>
            <a:off x="5989320" y="2514600"/>
            <a:ext cx="2743200" cy="41148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Structured task plan</a:t>
            </a:r>
            <a:endParaRPr lang="en-US" sz="950" dirty="0"/>
          </a:p>
        </p:txBody>
      </p:sp>
      <p:sp>
        <p:nvSpPr>
          <p:cNvPr id="20" name="Shape 18"/>
          <p:cNvSpPr/>
          <p:nvPr/>
        </p:nvSpPr>
        <p:spPr>
          <a:xfrm>
            <a:off x="2926080" y="2194560"/>
            <a:ext cx="914400" cy="521208"/>
          </a:xfrm>
          <a:prstGeom prst="line">
            <a:avLst/>
          </a:prstGeom>
          <a:noFill/>
          <a:ln w="8890">
            <a:solidFill>
              <a:srgbClr val="999999"/>
            </a:solidFill>
            <a:prstDash val="solid"/>
          </a:ln>
        </p:spPr>
        <p:txBody>
          <a:bodyPr/>
          <a:lstStyle/>
          <a:p>
            <a:endParaRPr lang="en-US"/>
          </a:p>
        </p:txBody>
      </p:sp>
      <p:sp>
        <p:nvSpPr>
          <p:cNvPr id="21" name="Shape 19"/>
          <p:cNvSpPr/>
          <p:nvPr/>
        </p:nvSpPr>
        <p:spPr>
          <a:xfrm>
            <a:off x="3840480" y="3063240"/>
            <a:ext cx="2011680" cy="411480"/>
          </a:xfrm>
          <a:prstGeom prst="rect">
            <a:avLst/>
          </a:prstGeom>
          <a:solidFill>
            <a:srgbClr val="0097A7"/>
          </a:solidFill>
          <a:ln/>
        </p:spPr>
        <p:txBody>
          <a:bodyPr/>
          <a:lstStyle/>
          <a:p>
            <a:endParaRPr lang="en-US"/>
          </a:p>
        </p:txBody>
      </p:sp>
      <p:sp>
        <p:nvSpPr>
          <p:cNvPr id="22" name="Text 20"/>
          <p:cNvSpPr/>
          <p:nvPr/>
        </p:nvSpPr>
        <p:spPr>
          <a:xfrm>
            <a:off x="3913632" y="3063240"/>
            <a:ext cx="1865376" cy="411480"/>
          </a:xfrm>
          <a:prstGeom prst="rect">
            <a:avLst/>
          </a:prstGeom>
          <a:noFill/>
          <a:ln/>
        </p:spPr>
        <p:txBody>
          <a:bodyPr wrap="square" lIns="0" tIns="0" rIns="0" bIns="0" rtlCol="0" anchor="ctr"/>
          <a:lstStyle/>
          <a:p>
            <a:pPr marL="0" indent="0">
              <a:buNone/>
            </a:pPr>
            <a:r>
              <a:rPr lang="en-US" sz="900" dirty="0">
                <a:solidFill>
                  <a:srgbClr val="FFFFFF"/>
                </a:solidFill>
                <a:latin typeface="Courier New" pitchFamily="34" charset="0"/>
                <a:ea typeface="Courier New" pitchFamily="34" charset="-122"/>
                <a:cs typeface="Courier New" pitchFamily="34" charset="-120"/>
              </a:rPr>
              <a:t>_run_finalizer</a:t>
            </a:r>
            <a:endParaRPr lang="en-US" sz="900" dirty="0"/>
          </a:p>
        </p:txBody>
      </p:sp>
      <p:sp>
        <p:nvSpPr>
          <p:cNvPr id="23" name="Text 21"/>
          <p:cNvSpPr/>
          <p:nvPr/>
        </p:nvSpPr>
        <p:spPr>
          <a:xfrm>
            <a:off x="5989320" y="3063240"/>
            <a:ext cx="2743200" cy="41148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Synthesize worker outputs</a:t>
            </a:r>
            <a:endParaRPr lang="en-US" sz="950" dirty="0"/>
          </a:p>
        </p:txBody>
      </p:sp>
      <p:sp>
        <p:nvSpPr>
          <p:cNvPr id="24" name="Shape 22"/>
          <p:cNvSpPr/>
          <p:nvPr/>
        </p:nvSpPr>
        <p:spPr>
          <a:xfrm>
            <a:off x="2926080" y="2194560"/>
            <a:ext cx="914400" cy="1069848"/>
          </a:xfrm>
          <a:prstGeom prst="line">
            <a:avLst/>
          </a:prstGeom>
          <a:noFill/>
          <a:ln w="8890">
            <a:solidFill>
              <a:srgbClr val="999999"/>
            </a:solidFill>
            <a:prstDash val="solid"/>
          </a:ln>
        </p:spPr>
        <p:txBody>
          <a:bodyPr/>
          <a:lstStyle/>
          <a:p>
            <a:endParaRPr lang="en-US"/>
          </a:p>
        </p:txBody>
      </p:sp>
      <p:sp>
        <p:nvSpPr>
          <p:cNvPr id="25" name="Shape 23"/>
          <p:cNvSpPr/>
          <p:nvPr/>
        </p:nvSpPr>
        <p:spPr>
          <a:xfrm>
            <a:off x="3840480" y="3611880"/>
            <a:ext cx="2011680" cy="411480"/>
          </a:xfrm>
          <a:prstGeom prst="rect">
            <a:avLst/>
          </a:prstGeom>
          <a:solidFill>
            <a:srgbClr val="0097A7"/>
          </a:solidFill>
          <a:ln/>
        </p:spPr>
        <p:txBody>
          <a:bodyPr/>
          <a:lstStyle/>
          <a:p>
            <a:endParaRPr lang="en-US"/>
          </a:p>
        </p:txBody>
      </p:sp>
      <p:sp>
        <p:nvSpPr>
          <p:cNvPr id="26" name="Text 24"/>
          <p:cNvSpPr/>
          <p:nvPr/>
        </p:nvSpPr>
        <p:spPr>
          <a:xfrm>
            <a:off x="3913632" y="3611880"/>
            <a:ext cx="1865376" cy="411480"/>
          </a:xfrm>
          <a:prstGeom prst="rect">
            <a:avLst/>
          </a:prstGeom>
          <a:noFill/>
          <a:ln/>
        </p:spPr>
        <p:txBody>
          <a:bodyPr wrap="square" lIns="0" tIns="0" rIns="0" bIns="0" rtlCol="0" anchor="ctr"/>
          <a:lstStyle/>
          <a:p>
            <a:pPr marL="0" indent="0">
              <a:buNone/>
            </a:pPr>
            <a:r>
              <a:rPr lang="en-US" sz="900" dirty="0">
                <a:solidFill>
                  <a:srgbClr val="FFFFFF"/>
                </a:solidFill>
                <a:latin typeface="Courier New" pitchFamily="34" charset="0"/>
                <a:ea typeface="Courier New" pitchFamily="34" charset="-122"/>
                <a:cs typeface="Courier New" pitchFamily="34" charset="-120"/>
              </a:rPr>
              <a:t>_run_verifier</a:t>
            </a:r>
            <a:endParaRPr lang="en-US" sz="900" dirty="0"/>
          </a:p>
        </p:txBody>
      </p:sp>
      <p:sp>
        <p:nvSpPr>
          <p:cNvPr id="27" name="Text 25"/>
          <p:cNvSpPr/>
          <p:nvPr/>
        </p:nvSpPr>
        <p:spPr>
          <a:xfrm>
            <a:off x="5989320" y="3611880"/>
            <a:ext cx="2743200" cy="41148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Cross-check vs KB</a:t>
            </a:r>
            <a:endParaRPr lang="en-US" sz="950" dirty="0"/>
          </a:p>
        </p:txBody>
      </p:sp>
      <p:sp>
        <p:nvSpPr>
          <p:cNvPr id="28" name="Shape 26"/>
          <p:cNvSpPr/>
          <p:nvPr/>
        </p:nvSpPr>
        <p:spPr>
          <a:xfrm>
            <a:off x="2926080" y="2194560"/>
            <a:ext cx="914400" cy="1618488"/>
          </a:xfrm>
          <a:prstGeom prst="line">
            <a:avLst/>
          </a:prstGeom>
          <a:noFill/>
          <a:ln w="8890">
            <a:solidFill>
              <a:srgbClr val="999999"/>
            </a:solidFill>
            <a:prstDash val="solid"/>
          </a:ln>
        </p:spPr>
        <p:txBody>
          <a:bodyPr/>
          <a:lstStyle/>
          <a:p>
            <a:endParaRPr lang="en-US"/>
          </a:p>
        </p:txBody>
      </p:sp>
      <p:sp>
        <p:nvSpPr>
          <p:cNvPr id="29" name="Shape 27"/>
          <p:cNvSpPr/>
          <p:nvPr/>
        </p:nvSpPr>
        <p:spPr>
          <a:xfrm>
            <a:off x="3840480" y="4160520"/>
            <a:ext cx="2011680" cy="411480"/>
          </a:xfrm>
          <a:prstGeom prst="rect">
            <a:avLst/>
          </a:prstGeom>
          <a:solidFill>
            <a:srgbClr val="0097A7"/>
          </a:solidFill>
          <a:ln/>
        </p:spPr>
        <p:txBody>
          <a:bodyPr/>
          <a:lstStyle/>
          <a:p>
            <a:endParaRPr lang="en-US"/>
          </a:p>
        </p:txBody>
      </p:sp>
      <p:sp>
        <p:nvSpPr>
          <p:cNvPr id="30" name="Text 28"/>
          <p:cNvSpPr/>
          <p:nvPr/>
        </p:nvSpPr>
        <p:spPr>
          <a:xfrm>
            <a:off x="3913632" y="4160520"/>
            <a:ext cx="1865376" cy="411480"/>
          </a:xfrm>
          <a:prstGeom prst="rect">
            <a:avLst/>
          </a:prstGeom>
          <a:noFill/>
          <a:ln/>
        </p:spPr>
        <p:txBody>
          <a:bodyPr wrap="square" lIns="0" tIns="0" rIns="0" bIns="0" rtlCol="0" anchor="ctr"/>
          <a:lstStyle/>
          <a:p>
            <a:pPr marL="0" indent="0">
              <a:buNone/>
            </a:pPr>
            <a:r>
              <a:rPr lang="en-US" sz="900" dirty="0">
                <a:solidFill>
                  <a:srgbClr val="FFFFFF"/>
                </a:solidFill>
                <a:latin typeface="Courier New" pitchFamily="34" charset="0"/>
                <a:ea typeface="Courier New" pitchFamily="34" charset="-122"/>
                <a:cs typeface="Courier New" pitchFamily="34" charset="-120"/>
              </a:rPr>
              <a:t>_run_memory_maintainer</a:t>
            </a:r>
            <a:endParaRPr lang="en-US" sz="900" dirty="0"/>
          </a:p>
        </p:txBody>
      </p:sp>
      <p:sp>
        <p:nvSpPr>
          <p:cNvPr id="31" name="Text 29"/>
          <p:cNvSpPr/>
          <p:nvPr/>
        </p:nvSpPr>
        <p:spPr>
          <a:xfrm>
            <a:off x="5989320" y="4160520"/>
            <a:ext cx="2743200" cy="41148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Extract + persist memory</a:t>
            </a:r>
            <a:endParaRPr lang="en-US" sz="950" dirty="0"/>
          </a:p>
        </p:txBody>
      </p:sp>
      <p:sp>
        <p:nvSpPr>
          <p:cNvPr id="32" name="Shape 30"/>
          <p:cNvSpPr/>
          <p:nvPr/>
        </p:nvSpPr>
        <p:spPr>
          <a:xfrm>
            <a:off x="2926080" y="2194560"/>
            <a:ext cx="914400" cy="2167128"/>
          </a:xfrm>
          <a:prstGeom prst="line">
            <a:avLst/>
          </a:prstGeom>
          <a:noFill/>
          <a:ln w="8890">
            <a:solidFill>
              <a:srgbClr val="999999"/>
            </a:solidFill>
            <a:prstDash val="solid"/>
          </a:ln>
        </p:spPr>
        <p:txBody>
          <a:bodyPr/>
          <a:lstStyle/>
          <a:p>
            <a:endParaRPr lang="en-US"/>
          </a:p>
        </p:txBody>
      </p:sp>
      <p:sp>
        <p:nvSpPr>
          <p:cNvPr id="33" name="Shape 31"/>
          <p:cNvSpPr/>
          <p:nvPr/>
        </p:nvSpPr>
        <p:spPr>
          <a:xfrm>
            <a:off x="502920" y="4457700"/>
            <a:ext cx="8138160" cy="365760"/>
          </a:xfrm>
          <a:prstGeom prst="rect">
            <a:avLst/>
          </a:prstGeom>
          <a:solidFill>
            <a:srgbClr val="E0F7FA"/>
          </a:solidFill>
          <a:ln w="12700">
            <a:solidFill>
              <a:srgbClr val="0097A7"/>
            </a:solidFill>
            <a:prstDash val="solid"/>
          </a:ln>
        </p:spPr>
        <p:txBody>
          <a:bodyPr/>
          <a:lstStyle/>
          <a:p>
            <a:endParaRPr lang="en-US"/>
          </a:p>
        </p:txBody>
      </p:sp>
      <p:sp>
        <p:nvSpPr>
          <p:cNvPr id="34" name="Text 32"/>
          <p:cNvSpPr/>
          <p:nvPr/>
        </p:nvSpPr>
        <p:spPr>
          <a:xfrm>
            <a:off x="594360" y="4457700"/>
            <a:ext cx="7955280" cy="36576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Mode is set by the agent definition's 'mode' field in data/agents/*.md — NOT by code. Adding a new mode = new _run_* method + new frontmatter value.</a:t>
            </a:r>
            <a:endParaRPr lang="en-US" sz="1000" dirty="0"/>
          </a:p>
        </p:txBody>
      </p:sp>
      <p:sp>
        <p:nvSpPr>
          <p:cNvPr id="35" name="Text 33"/>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runtime/query_loop.py</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How QueryLoop Builds System Prompts</a:t>
            </a:r>
            <a:endParaRPr lang="en-US" sz="2600" dirty="0"/>
          </a:p>
        </p:txBody>
      </p:sp>
      <p:sp>
        <p:nvSpPr>
          <p:cNvPr id="3" name="Shape 1"/>
          <p:cNvSpPr/>
          <p:nvPr/>
        </p:nvSpPr>
        <p:spPr>
          <a:xfrm>
            <a:off x="914400" y="1005840"/>
            <a:ext cx="7315200" cy="502920"/>
          </a:xfrm>
          <a:prstGeom prst="rect">
            <a:avLst/>
          </a:prstGeom>
          <a:solidFill>
            <a:srgbClr val="1B2A4A"/>
          </a:solidFill>
          <a:ln/>
        </p:spPr>
        <p:txBody>
          <a:bodyPr/>
          <a:lstStyle/>
          <a:p>
            <a:endParaRPr lang="en-US"/>
          </a:p>
        </p:txBody>
      </p:sp>
      <p:sp>
        <p:nvSpPr>
          <p:cNvPr id="4" name="Text 2"/>
          <p:cNvSpPr/>
          <p:nvPr/>
        </p:nvSpPr>
        <p:spPr>
          <a:xfrm>
            <a:off x="1051560" y="1005840"/>
            <a:ext cx="2011680" cy="50292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Base Prompt</a:t>
            </a:r>
            <a:endParaRPr lang="en-US" sz="1100" dirty="0"/>
          </a:p>
        </p:txBody>
      </p:sp>
      <p:sp>
        <p:nvSpPr>
          <p:cNvPr id="5" name="Text 3"/>
          <p:cNvSpPr/>
          <p:nvPr/>
        </p:nvSpPr>
        <p:spPr>
          <a:xfrm>
            <a:off x="3200400" y="1005840"/>
            <a:ext cx="4846320" cy="502920"/>
          </a:xfrm>
          <a:prstGeom prst="rect">
            <a:avLst/>
          </a:prstGeom>
          <a:noFill/>
          <a:ln/>
        </p:spPr>
        <p:txBody>
          <a:bodyPr wrap="square" lIns="0" tIns="0" rIns="0" bIns="0" rtlCol="0" anchor="ctr"/>
          <a:lstStyle/>
          <a:p>
            <a:pPr marL="0" indent="0">
              <a:buNone/>
            </a:pPr>
            <a:r>
              <a:rPr lang="en-US" sz="1000" dirty="0">
                <a:solidFill>
                  <a:srgbClr val="FFFFFF"/>
                </a:solidFill>
                <a:latin typeface="Arial" pitchFamily="34" charset="0"/>
                <a:ea typeface="Arial" pitchFamily="34" charset="-122"/>
                <a:cs typeface="Arial" pitchFamily="34" charset="-120"/>
              </a:rPr>
              <a:t>From agent definition's system_prompt_file</a:t>
            </a:r>
            <a:endParaRPr lang="en-US" sz="1000" dirty="0"/>
          </a:p>
        </p:txBody>
      </p:sp>
      <p:sp>
        <p:nvSpPr>
          <p:cNvPr id="6" name="Shape 4"/>
          <p:cNvSpPr/>
          <p:nvPr/>
        </p:nvSpPr>
        <p:spPr>
          <a:xfrm>
            <a:off x="914400" y="1581912"/>
            <a:ext cx="7315200" cy="502920"/>
          </a:xfrm>
          <a:prstGeom prst="rect">
            <a:avLst/>
          </a:prstGeom>
          <a:solidFill>
            <a:srgbClr val="0097A7"/>
          </a:solidFill>
          <a:ln/>
        </p:spPr>
        <p:txBody>
          <a:bodyPr/>
          <a:lstStyle/>
          <a:p>
            <a:endParaRPr lang="en-US"/>
          </a:p>
        </p:txBody>
      </p:sp>
      <p:sp>
        <p:nvSpPr>
          <p:cNvPr id="7" name="Text 5"/>
          <p:cNvSpPr/>
          <p:nvPr/>
        </p:nvSpPr>
        <p:spPr>
          <a:xfrm>
            <a:off x="1051560" y="1581912"/>
            <a:ext cx="2011680" cy="50292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Task Context</a:t>
            </a:r>
            <a:endParaRPr lang="en-US" sz="1100" dirty="0"/>
          </a:p>
        </p:txBody>
      </p:sp>
      <p:sp>
        <p:nvSpPr>
          <p:cNvPr id="8" name="Text 6"/>
          <p:cNvSpPr/>
          <p:nvPr/>
        </p:nvSpPr>
        <p:spPr>
          <a:xfrm>
            <a:off x="3200400" y="1581912"/>
            <a:ext cx="4846320" cy="502920"/>
          </a:xfrm>
          <a:prstGeom prst="rect">
            <a:avLst/>
          </a:prstGeom>
          <a:noFill/>
          <a:ln/>
        </p:spPr>
        <p:txBody>
          <a:bodyPr wrap="square" lIns="0" tIns="0" rIns="0" bIns="0" rtlCol="0" anchor="ctr"/>
          <a:lstStyle/>
          <a:p>
            <a:pPr marL="0" indent="0">
              <a:buNone/>
            </a:pPr>
            <a:r>
              <a:rPr lang="en-US" sz="1000" dirty="0">
                <a:solidFill>
                  <a:srgbClr val="FFFFFF"/>
                </a:solidFill>
                <a:latin typeface="Arial" pitchFamily="34" charset="0"/>
                <a:ea typeface="Arial" pitchFamily="34" charset="-122"/>
                <a:cs typeface="Arial" pitchFamily="34" charset="-120"/>
              </a:rPr>
              <a:t>User query, conversation history, route metadata</a:t>
            </a:r>
            <a:endParaRPr lang="en-US" sz="1000" dirty="0"/>
          </a:p>
        </p:txBody>
      </p:sp>
      <p:sp>
        <p:nvSpPr>
          <p:cNvPr id="9" name="Shape 7"/>
          <p:cNvSpPr/>
          <p:nvPr/>
        </p:nvSpPr>
        <p:spPr>
          <a:xfrm>
            <a:off x="914400" y="2157984"/>
            <a:ext cx="7315200" cy="502920"/>
          </a:xfrm>
          <a:prstGeom prst="rect">
            <a:avLst/>
          </a:prstGeom>
          <a:solidFill>
            <a:srgbClr val="00796B"/>
          </a:solidFill>
          <a:ln/>
        </p:spPr>
        <p:txBody>
          <a:bodyPr/>
          <a:lstStyle/>
          <a:p>
            <a:endParaRPr lang="en-US"/>
          </a:p>
        </p:txBody>
      </p:sp>
      <p:sp>
        <p:nvSpPr>
          <p:cNvPr id="10" name="Text 8"/>
          <p:cNvSpPr/>
          <p:nvPr/>
        </p:nvSpPr>
        <p:spPr>
          <a:xfrm>
            <a:off x="1051560" y="2157984"/>
            <a:ext cx="2011680" cy="50292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Skill Injections</a:t>
            </a:r>
            <a:endParaRPr lang="en-US" sz="1100" dirty="0"/>
          </a:p>
        </p:txBody>
      </p:sp>
      <p:sp>
        <p:nvSpPr>
          <p:cNvPr id="11" name="Text 9"/>
          <p:cNvSpPr/>
          <p:nvPr/>
        </p:nvSpPr>
        <p:spPr>
          <a:xfrm>
            <a:off x="3200400" y="2157984"/>
            <a:ext cx="4846320" cy="502920"/>
          </a:xfrm>
          <a:prstGeom prst="rect">
            <a:avLst/>
          </a:prstGeom>
          <a:noFill/>
          <a:ln/>
        </p:spPr>
        <p:txBody>
          <a:bodyPr wrap="square" lIns="0" tIns="0" rIns="0" bIns="0" rtlCol="0" anchor="ctr"/>
          <a:lstStyle/>
          <a:p>
            <a:pPr marL="0" indent="0">
              <a:buNone/>
            </a:pPr>
            <a:r>
              <a:rPr lang="en-US" sz="1000" dirty="0">
                <a:solidFill>
                  <a:srgbClr val="FFFFFF"/>
                </a:solidFill>
                <a:latin typeface="Arial" pitchFamily="34" charset="0"/>
                <a:ea typeface="Arial" pitchFamily="34" charset="-122"/>
                <a:cs typeface="Arial" pitchFamily="34" charset="-120"/>
              </a:rPr>
              <a:t>Retrieved skill docs matched to query (SkillRuntime)</a:t>
            </a:r>
            <a:endParaRPr lang="en-US" sz="1000" dirty="0"/>
          </a:p>
        </p:txBody>
      </p:sp>
      <p:sp>
        <p:nvSpPr>
          <p:cNvPr id="12" name="Shape 10"/>
          <p:cNvSpPr/>
          <p:nvPr/>
        </p:nvSpPr>
        <p:spPr>
          <a:xfrm>
            <a:off x="914400" y="2734056"/>
            <a:ext cx="7315200" cy="502920"/>
          </a:xfrm>
          <a:prstGeom prst="rect">
            <a:avLst/>
          </a:prstGeom>
          <a:solidFill>
            <a:srgbClr val="5C6BC0"/>
          </a:solidFill>
          <a:ln/>
        </p:spPr>
        <p:txBody>
          <a:bodyPr/>
          <a:lstStyle/>
          <a:p>
            <a:endParaRPr lang="en-US"/>
          </a:p>
        </p:txBody>
      </p:sp>
      <p:sp>
        <p:nvSpPr>
          <p:cNvPr id="13" name="Text 11"/>
          <p:cNvSpPr/>
          <p:nvPr/>
        </p:nvSpPr>
        <p:spPr>
          <a:xfrm>
            <a:off x="1051560" y="2734056"/>
            <a:ext cx="2011680" cy="50292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Memory Context</a:t>
            </a:r>
            <a:endParaRPr lang="en-US" sz="1100" dirty="0"/>
          </a:p>
        </p:txBody>
      </p:sp>
      <p:sp>
        <p:nvSpPr>
          <p:cNvPr id="14" name="Text 12"/>
          <p:cNvSpPr/>
          <p:nvPr/>
        </p:nvSpPr>
        <p:spPr>
          <a:xfrm>
            <a:off x="3200400" y="2734056"/>
            <a:ext cx="4846320" cy="502920"/>
          </a:xfrm>
          <a:prstGeom prst="rect">
            <a:avLst/>
          </a:prstGeom>
          <a:noFill/>
          <a:ln/>
        </p:spPr>
        <p:txBody>
          <a:bodyPr wrap="square" lIns="0" tIns="0" rIns="0" bIns="0" rtlCol="0" anchor="ctr"/>
          <a:lstStyle/>
          <a:p>
            <a:pPr marL="0" indent="0">
              <a:buNone/>
            </a:pPr>
            <a:r>
              <a:rPr lang="en-US" sz="1000" dirty="0">
                <a:solidFill>
                  <a:srgbClr val="FFFFFF"/>
                </a:solidFill>
                <a:latin typeface="Arial" pitchFamily="34" charset="0"/>
                <a:ea typeface="Arial" pitchFamily="34" charset="-122"/>
                <a:cs typeface="Arial" pitchFamily="34" charset="-120"/>
              </a:rPr>
              <a:t>User/conversation memories (MemoryContextBuilder, max 2000 chars)</a:t>
            </a:r>
            <a:endParaRPr lang="en-US" sz="1000" dirty="0"/>
          </a:p>
        </p:txBody>
      </p:sp>
      <p:sp>
        <p:nvSpPr>
          <p:cNvPr id="15" name="Shape 13"/>
          <p:cNvSpPr/>
          <p:nvPr/>
        </p:nvSpPr>
        <p:spPr>
          <a:xfrm>
            <a:off x="914400" y="3310128"/>
            <a:ext cx="7315200" cy="502920"/>
          </a:xfrm>
          <a:prstGeom prst="rect">
            <a:avLst/>
          </a:prstGeom>
          <a:solidFill>
            <a:srgbClr val="7B1FA2"/>
          </a:solidFill>
          <a:ln/>
        </p:spPr>
        <p:txBody>
          <a:bodyPr/>
          <a:lstStyle/>
          <a:p>
            <a:endParaRPr lang="en-US"/>
          </a:p>
        </p:txBody>
      </p:sp>
      <p:sp>
        <p:nvSpPr>
          <p:cNvPr id="16" name="Text 14"/>
          <p:cNvSpPr/>
          <p:nvPr/>
        </p:nvSpPr>
        <p:spPr>
          <a:xfrm>
            <a:off x="1051560" y="3310128"/>
            <a:ext cx="2011680" cy="50292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Tool Descriptions</a:t>
            </a:r>
            <a:endParaRPr lang="en-US" sz="1100" dirty="0"/>
          </a:p>
        </p:txBody>
      </p:sp>
      <p:sp>
        <p:nvSpPr>
          <p:cNvPr id="17" name="Text 15"/>
          <p:cNvSpPr/>
          <p:nvPr/>
        </p:nvSpPr>
        <p:spPr>
          <a:xfrm>
            <a:off x="3200400" y="3310128"/>
            <a:ext cx="4846320" cy="502920"/>
          </a:xfrm>
          <a:prstGeom prst="rect">
            <a:avLst/>
          </a:prstGeom>
          <a:noFill/>
          <a:ln/>
        </p:spPr>
        <p:txBody>
          <a:bodyPr wrap="square" lIns="0" tIns="0" rIns="0" bIns="0" rtlCol="0" anchor="ctr"/>
          <a:lstStyle/>
          <a:p>
            <a:pPr marL="0" indent="0">
              <a:buNone/>
            </a:pPr>
            <a:r>
              <a:rPr lang="en-US" sz="1000" dirty="0">
                <a:solidFill>
                  <a:srgbClr val="FFFFFF"/>
                </a:solidFill>
                <a:latin typeface="Arial" pitchFamily="34" charset="0"/>
                <a:ea typeface="Arial" pitchFamily="34" charset="-122"/>
                <a:cs typeface="Arial" pitchFamily="34" charset="-120"/>
              </a:rPr>
              <a:t>Auto-generated from agent's allowed tool list</a:t>
            </a:r>
            <a:endParaRPr lang="en-US" sz="1000" dirty="0"/>
          </a:p>
        </p:txBody>
      </p:sp>
      <p:sp>
        <p:nvSpPr>
          <p:cNvPr id="18" name="Shape 16"/>
          <p:cNvSpPr/>
          <p:nvPr/>
        </p:nvSpPr>
        <p:spPr>
          <a:xfrm>
            <a:off x="914400" y="3886200"/>
            <a:ext cx="7315200" cy="502920"/>
          </a:xfrm>
          <a:prstGeom prst="rect">
            <a:avLst/>
          </a:prstGeom>
          <a:solidFill>
            <a:srgbClr val="F9A825"/>
          </a:solidFill>
          <a:ln/>
        </p:spPr>
        <p:txBody>
          <a:bodyPr/>
          <a:lstStyle/>
          <a:p>
            <a:endParaRPr lang="en-US"/>
          </a:p>
        </p:txBody>
      </p:sp>
      <p:sp>
        <p:nvSpPr>
          <p:cNvPr id="19" name="Text 17"/>
          <p:cNvSpPr/>
          <p:nvPr/>
        </p:nvSpPr>
        <p:spPr>
          <a:xfrm>
            <a:off x="1051560" y="3886200"/>
            <a:ext cx="2011680" cy="50292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Evidence Context</a:t>
            </a:r>
            <a:endParaRPr lang="en-US" sz="1100" dirty="0"/>
          </a:p>
        </p:txBody>
      </p:sp>
      <p:sp>
        <p:nvSpPr>
          <p:cNvPr id="20" name="Text 18"/>
          <p:cNvSpPr/>
          <p:nvPr/>
        </p:nvSpPr>
        <p:spPr>
          <a:xfrm>
            <a:off x="3200400" y="3886200"/>
            <a:ext cx="4846320" cy="502920"/>
          </a:xfrm>
          <a:prstGeom prst="rect">
            <a:avLst/>
          </a:prstGeom>
          <a:noFill/>
          <a:ln/>
        </p:spPr>
        <p:txBody>
          <a:bodyPr wrap="square" lIns="0" tIns="0" rIns="0" bIns="0" rtlCol="0" anchor="ctr"/>
          <a:lstStyle/>
          <a:p>
            <a:pPr marL="0" indent="0">
              <a:buNone/>
            </a:pPr>
            <a:r>
              <a:rPr lang="en-US" sz="1000" dirty="0">
                <a:solidFill>
                  <a:srgbClr val="FFFFFF"/>
                </a:solidFill>
                <a:latin typeface="Arial" pitchFamily="34" charset="0"/>
                <a:ea typeface="Arial" pitchFamily="34" charset="-122"/>
                <a:cs typeface="Arial" pitchFamily="34" charset="-120"/>
              </a:rPr>
              <a:t>For RAG mode: retrieved doc chunks with citation IDs</a:t>
            </a:r>
            <a:endParaRPr lang="en-US" sz="1000" dirty="0"/>
          </a:p>
        </p:txBody>
      </p:sp>
      <p:sp>
        <p:nvSpPr>
          <p:cNvPr id="21" name="Shape 19"/>
          <p:cNvSpPr/>
          <p:nvPr/>
        </p:nvSpPr>
        <p:spPr>
          <a:xfrm>
            <a:off x="502920" y="4599432"/>
            <a:ext cx="8138160" cy="411480"/>
          </a:xfrm>
          <a:prstGeom prst="rect">
            <a:avLst/>
          </a:prstGeom>
          <a:solidFill>
            <a:srgbClr val="E0F7FA"/>
          </a:solidFill>
          <a:ln w="12700">
            <a:solidFill>
              <a:srgbClr val="0097A7"/>
            </a:solidFill>
            <a:prstDash val="solid"/>
          </a:ln>
        </p:spPr>
        <p:txBody>
          <a:bodyPr/>
          <a:lstStyle/>
          <a:p>
            <a:endParaRPr lang="en-US"/>
          </a:p>
        </p:txBody>
      </p:sp>
      <p:sp>
        <p:nvSpPr>
          <p:cNvPr id="22" name="Text 20"/>
          <p:cNvSpPr/>
          <p:nvPr/>
        </p:nvSpPr>
        <p:spPr>
          <a:xfrm>
            <a:off x="594360" y="4599432"/>
            <a:ext cx="7955280" cy="41148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The prompt is assembled dynamically every turn — not a static string. Skills and memory are retrieved fresh each time, so the agent's capabilities evolve as more skills and memories are added.</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PromptBuilder — Overlay-Driven Prompt Loading</a:t>
            </a:r>
            <a:endParaRPr lang="en-US" sz="2600" dirty="0"/>
          </a:p>
        </p:txBody>
      </p:sp>
      <p:sp>
        <p:nvSpPr>
          <p:cNvPr id="3" name="Text 1"/>
          <p:cNvSpPr/>
          <p:nvPr/>
        </p:nvSpPr>
        <p:spPr>
          <a:xfrm>
            <a:off x="502920" y="841248"/>
            <a:ext cx="8138160" cy="365760"/>
          </a:xfrm>
          <a:prstGeom prst="rect">
            <a:avLst/>
          </a:prstGeom>
          <a:noFill/>
          <a:ln/>
        </p:spPr>
        <p:txBody>
          <a:bodyPr wrap="square" lIns="0" tIns="0" rIns="0" bIns="0" rtlCol="0" anchor="ctr"/>
          <a:lstStyle/>
          <a:p>
            <a:pPr marL="0" indent="0">
              <a:buNone/>
            </a:pPr>
            <a:r>
              <a:rPr lang="en-US" sz="1050" dirty="0">
                <a:solidFill>
                  <a:srgbClr val="1B2A4A"/>
                </a:solidFill>
                <a:latin typeface="Arial" pitchFamily="34" charset="0"/>
                <a:ea typeface="Arial" pitchFamily="34" charset="-122"/>
                <a:cs typeface="Arial" pitchFamily="34" charset="-120"/>
              </a:rPr>
              <a:t>agents/prompt_builder.py provides template-driven prompt loading with a two-layer fallback: operator overlays first, then default skills. No code changes needed to customize agent behavior in production.</a:t>
            </a:r>
            <a:endParaRPr lang="en-US" sz="1050" dirty="0"/>
          </a:p>
        </p:txBody>
      </p:sp>
      <p:sp>
        <p:nvSpPr>
          <p:cNvPr id="4" name="Shape 2"/>
          <p:cNvSpPr/>
          <p:nvPr/>
        </p:nvSpPr>
        <p:spPr>
          <a:xfrm>
            <a:off x="960120" y="1325880"/>
            <a:ext cx="7772400" cy="45720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5" name="Text 3"/>
          <p:cNvSpPr/>
          <p:nvPr/>
        </p:nvSpPr>
        <p:spPr>
          <a:xfrm>
            <a:off x="960120" y="1325880"/>
            <a:ext cx="777240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PromptBuilder.load_prompt(prompt_file)</a:t>
            </a:r>
            <a:endParaRPr lang="en-US" sz="1000" dirty="0"/>
          </a:p>
        </p:txBody>
      </p:sp>
      <p:sp>
        <p:nvSpPr>
          <p:cNvPr id="6" name="Shape 4"/>
          <p:cNvSpPr/>
          <p:nvPr/>
        </p:nvSpPr>
        <p:spPr>
          <a:xfrm>
            <a:off x="4572000" y="1783080"/>
            <a:ext cx="0" cy="182880"/>
          </a:xfrm>
          <a:prstGeom prst="line">
            <a:avLst/>
          </a:prstGeom>
          <a:noFill/>
          <a:ln w="25400">
            <a:solidFill>
              <a:srgbClr val="0097A7"/>
            </a:solidFill>
            <a:prstDash val="solid"/>
          </a:ln>
        </p:spPr>
        <p:txBody>
          <a:bodyPr/>
          <a:lstStyle/>
          <a:p>
            <a:endParaRPr lang="en-US"/>
          </a:p>
        </p:txBody>
      </p:sp>
      <p:sp>
        <p:nvSpPr>
          <p:cNvPr id="7" name="Text 5"/>
          <p:cNvSpPr/>
          <p:nvPr/>
        </p:nvSpPr>
        <p:spPr>
          <a:xfrm>
            <a:off x="4480560" y="1892808"/>
            <a:ext cx="182880" cy="164592"/>
          </a:xfrm>
          <a:prstGeom prst="rect">
            <a:avLst/>
          </a:prstGeom>
          <a:noFill/>
          <a:ln/>
        </p:spPr>
        <p:txBody>
          <a:bodyPr wrap="square" lIns="0" tIns="0" rIns="0" bIns="0" rtlCol="0" anchor="ctr"/>
          <a:lstStyle/>
          <a:p>
            <a:pPr marL="0" indent="0" algn="ctr">
              <a:buNone/>
            </a:pPr>
            <a:r>
              <a:rPr lang="en-US" sz="1000" b="1" dirty="0">
                <a:solidFill>
                  <a:srgbClr val="0097A7"/>
                </a:solidFill>
                <a:latin typeface="Arial" pitchFamily="34" charset="0"/>
                <a:ea typeface="Arial" pitchFamily="34" charset="-122"/>
                <a:cs typeface="Arial" pitchFamily="34" charset="-120"/>
              </a:rPr>
              <a:t>v</a:t>
            </a:r>
            <a:endParaRPr lang="en-US" sz="1000" dirty="0"/>
          </a:p>
        </p:txBody>
      </p:sp>
      <p:sp>
        <p:nvSpPr>
          <p:cNvPr id="8" name="Shape 6"/>
          <p:cNvSpPr/>
          <p:nvPr/>
        </p:nvSpPr>
        <p:spPr>
          <a:xfrm>
            <a:off x="502920" y="2011680"/>
            <a:ext cx="3749040" cy="1188720"/>
          </a:xfrm>
          <a:prstGeom prst="rect">
            <a:avLst/>
          </a:prstGeom>
          <a:solidFill>
            <a:srgbClr val="0097A7"/>
          </a:solidFill>
          <a:ln/>
        </p:spPr>
        <p:txBody>
          <a:bodyPr/>
          <a:lstStyle/>
          <a:p>
            <a:endParaRPr lang="en-US"/>
          </a:p>
        </p:txBody>
      </p:sp>
      <p:sp>
        <p:nvSpPr>
          <p:cNvPr id="9" name="Text 7"/>
          <p:cNvSpPr/>
          <p:nvPr/>
        </p:nvSpPr>
        <p:spPr>
          <a:xfrm>
            <a:off x="612648" y="2011680"/>
            <a:ext cx="3529584" cy="32004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1. Check overlay_dir first</a:t>
            </a:r>
            <a:endParaRPr lang="en-US" sz="1100" dirty="0"/>
          </a:p>
        </p:txBody>
      </p:sp>
      <p:sp>
        <p:nvSpPr>
          <p:cNvPr id="10" name="Text 8"/>
          <p:cNvSpPr/>
          <p:nvPr/>
        </p:nvSpPr>
        <p:spPr>
          <a:xfrm>
            <a:off x="612648" y="2350008"/>
            <a:ext cx="3529584" cy="822960"/>
          </a:xfrm>
          <a:prstGeom prst="rect">
            <a:avLst/>
          </a:prstGeom>
          <a:noFill/>
          <a:ln/>
        </p:spPr>
        <p:txBody>
          <a:bodyPr wrap="square" lIns="0" tIns="0" rIns="0" bIns="0" rtlCol="0" anchor="ctr"/>
          <a:lstStyle/>
          <a:p>
            <a:pPr marL="0" indent="0">
              <a:buNone/>
            </a:pPr>
            <a:r>
              <a:rPr lang="en-US" sz="950" dirty="0">
                <a:solidFill>
                  <a:srgbClr val="FFFFFF"/>
                </a:solidFill>
                <a:latin typeface="Arial" pitchFamily="34" charset="0"/>
                <a:ea typeface="Arial" pitchFamily="34" charset="-122"/>
                <a:cs typeface="Arial" pitchFamily="34" charset="-120"/>
              </a:rPr>
              <a:t>data/control_panel/overlays/prompts/</a:t>
            </a:r>
            <a:endParaRPr lang="en-US" sz="950" dirty="0"/>
          </a:p>
          <a:p>
            <a:pPr marL="0" indent="0">
              <a:buNone/>
            </a:pPr>
            <a:r>
              <a:rPr lang="en-US" sz="950" dirty="0">
                <a:solidFill>
                  <a:srgbClr val="FFFFFF"/>
                </a:solidFill>
                <a:latin typeface="Arial" pitchFamily="34" charset="0"/>
                <a:ea typeface="Arial" pitchFamily="34" charset="-122"/>
                <a:cs typeface="Arial" pitchFamily="34" charset="-120"/>
              </a:rPr>
              <a:t>Operator-customized version of the prompt.</a:t>
            </a:r>
            <a:endParaRPr lang="en-US" sz="950" dirty="0"/>
          </a:p>
          <a:p>
            <a:pPr marL="0" indent="0">
              <a:buNone/>
            </a:pPr>
            <a:r>
              <a:rPr lang="en-US" sz="950" dirty="0">
                <a:solidFill>
                  <a:srgbClr val="FFFFFF"/>
                </a:solidFill>
                <a:latin typeface="Arial" pitchFamily="34" charset="0"/>
                <a:ea typeface="Arial" pitchFamily="34" charset="-122"/>
                <a:cs typeface="Arial" pitchFamily="34" charset="-120"/>
              </a:rPr>
              <a:t>If file exists here → use it, return immediately.</a:t>
            </a:r>
            <a:endParaRPr lang="en-US" sz="950" dirty="0"/>
          </a:p>
        </p:txBody>
      </p:sp>
      <p:sp>
        <p:nvSpPr>
          <p:cNvPr id="11" name="Shape 9"/>
          <p:cNvSpPr/>
          <p:nvPr/>
        </p:nvSpPr>
        <p:spPr>
          <a:xfrm>
            <a:off x="4526280" y="2011680"/>
            <a:ext cx="3749040" cy="1188720"/>
          </a:xfrm>
          <a:prstGeom prst="rect">
            <a:avLst/>
          </a:prstGeom>
          <a:solidFill>
            <a:srgbClr val="00796B"/>
          </a:solidFill>
          <a:ln/>
        </p:spPr>
        <p:txBody>
          <a:bodyPr/>
          <a:lstStyle/>
          <a:p>
            <a:endParaRPr lang="en-US"/>
          </a:p>
        </p:txBody>
      </p:sp>
      <p:sp>
        <p:nvSpPr>
          <p:cNvPr id="12" name="Text 10"/>
          <p:cNvSpPr/>
          <p:nvPr/>
        </p:nvSpPr>
        <p:spPr>
          <a:xfrm>
            <a:off x="4636008" y="2011680"/>
            <a:ext cx="3529584" cy="32004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2. Fall back to skills_dir</a:t>
            </a:r>
            <a:endParaRPr lang="en-US" sz="1100" dirty="0"/>
          </a:p>
        </p:txBody>
      </p:sp>
      <p:sp>
        <p:nvSpPr>
          <p:cNvPr id="13" name="Text 11"/>
          <p:cNvSpPr/>
          <p:nvPr/>
        </p:nvSpPr>
        <p:spPr>
          <a:xfrm>
            <a:off x="4636008" y="2350008"/>
            <a:ext cx="3529584" cy="822960"/>
          </a:xfrm>
          <a:prstGeom prst="rect">
            <a:avLst/>
          </a:prstGeom>
          <a:noFill/>
          <a:ln/>
        </p:spPr>
        <p:txBody>
          <a:bodyPr wrap="square" lIns="0" tIns="0" rIns="0" bIns="0" rtlCol="0" anchor="ctr"/>
          <a:lstStyle/>
          <a:p>
            <a:pPr marL="0" indent="0">
              <a:buNone/>
            </a:pPr>
            <a:r>
              <a:rPr lang="en-US" sz="950" dirty="0">
                <a:solidFill>
                  <a:srgbClr val="FFFFFF"/>
                </a:solidFill>
                <a:latin typeface="Arial" pitchFamily="34" charset="0"/>
                <a:ea typeface="Arial" pitchFamily="34" charset="-122"/>
                <a:cs typeface="Arial" pitchFamily="34" charset="-120"/>
              </a:rPr>
              <a:t>data/skills/ — shipped defaults.</a:t>
            </a:r>
            <a:endParaRPr lang="en-US" sz="950" dirty="0"/>
          </a:p>
          <a:p>
            <a:pPr marL="0" indent="0">
              <a:buNone/>
            </a:pPr>
            <a:r>
              <a:rPr lang="en-US" sz="950" dirty="0">
                <a:solidFill>
                  <a:srgbClr val="FFFFFF"/>
                </a:solidFill>
                <a:latin typeface="Arial" pitchFamily="34" charset="0"/>
                <a:ea typeface="Arial" pitchFamily="34" charset="-122"/>
                <a:cs typeface="Arial" pitchFamily="34" charset="-120"/>
              </a:rPr>
              <a:t>All agent prompts live here by default.</a:t>
            </a:r>
            <a:endParaRPr lang="en-US" sz="950" dirty="0"/>
          </a:p>
          <a:p>
            <a:pPr marL="0" indent="0">
              <a:buNone/>
            </a:pPr>
            <a:r>
              <a:rPr lang="en-US" sz="950" dirty="0">
                <a:solidFill>
                  <a:srgbClr val="FFFFFF"/>
                </a:solidFill>
                <a:latin typeface="Arial" pitchFamily="34" charset="0"/>
                <a:ea typeface="Arial" pitchFamily="34" charset="-122"/>
                <a:cs typeface="Arial" pitchFamily="34" charset="-120"/>
              </a:rPr>
              <a:t>FileNotFoundError if missing from both dirs.</a:t>
            </a:r>
            <a:endParaRPr lang="en-US" sz="950" dirty="0"/>
          </a:p>
        </p:txBody>
      </p:sp>
      <p:sp>
        <p:nvSpPr>
          <p:cNvPr id="14" name="Shape 12"/>
          <p:cNvSpPr/>
          <p:nvPr/>
        </p:nvSpPr>
        <p:spPr>
          <a:xfrm>
            <a:off x="502920" y="3401568"/>
            <a:ext cx="8138160" cy="502920"/>
          </a:xfrm>
          <a:prstGeom prst="rect">
            <a:avLst/>
          </a:prstGeom>
          <a:solidFill>
            <a:srgbClr val="E0F7FA"/>
          </a:solidFill>
          <a:ln w="12700">
            <a:solidFill>
              <a:srgbClr val="0097A7"/>
            </a:solidFill>
            <a:prstDash val="solid"/>
          </a:ln>
        </p:spPr>
        <p:txBody>
          <a:bodyPr/>
          <a:lstStyle/>
          <a:p>
            <a:endParaRPr lang="en-US"/>
          </a:p>
        </p:txBody>
      </p:sp>
      <p:sp>
        <p:nvSpPr>
          <p:cNvPr id="15" name="Text 13"/>
          <p:cNvSpPr/>
          <p:nvPr/>
        </p:nvSpPr>
        <p:spPr>
          <a:xfrm>
            <a:off x="594360" y="3401568"/>
            <a:ext cx="7955280" cy="50292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The overlay system is how the Control Panel's 'Edit Prompt' feature works: PUT /v1/admin/prompts/{file} writes to the overlay_dir. On next request, PromptBuilder picks up the override automatically — no restart needed.</a:t>
            </a:r>
            <a:endParaRPr lang="en-US" sz="1000" dirty="0"/>
          </a:p>
        </p:txBody>
      </p:sp>
      <p:sp>
        <p:nvSpPr>
          <p:cNvPr id="16" name="Text 14"/>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agents/prompt_builder.py — PromptBuilder.load_prompt(), data/skills/ (defaults), data/control_panel/overlays/prompts/ (overrides)</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Long Output Composer — runtime/long_output.py</a:t>
            </a:r>
            <a:endParaRPr lang="en-US" sz="2600" dirty="0"/>
          </a:p>
        </p:txBody>
      </p:sp>
      <p:sp>
        <p:nvSpPr>
          <p:cNvPr id="3" name="Text 1"/>
          <p:cNvSpPr/>
          <p:nvPr/>
        </p:nvSpPr>
        <p:spPr>
          <a:xfrm>
            <a:off x="502920" y="841248"/>
            <a:ext cx="8138160" cy="365760"/>
          </a:xfrm>
          <a:prstGeom prst="rect">
            <a:avLst/>
          </a:prstGeom>
          <a:noFill/>
          <a:ln/>
        </p:spPr>
        <p:txBody>
          <a:bodyPr wrap="square" lIns="0" tIns="0" rIns="0" bIns="0" rtlCol="0" anchor="ctr"/>
          <a:lstStyle/>
          <a:p>
            <a:pPr marL="0" indent="0">
              <a:buNone/>
            </a:pPr>
            <a:r>
              <a:rPr lang="en-US" sz="1050" dirty="0">
                <a:solidFill>
                  <a:srgbClr val="1B2A4A"/>
                </a:solidFill>
                <a:latin typeface="Arial" pitchFamily="34" charset="0"/>
                <a:ea typeface="Arial" pitchFamily="34" charset="-122"/>
                <a:cs typeface="Arial" pitchFamily="34" charset="-120"/>
              </a:rPr>
              <a:t>LongOutputComposer handles requests for outputs too large for a single LLM call (reports, documentation, multi-section analyses). It breaks the task into sections and composes them sequentially or in background.</a:t>
            </a:r>
            <a:endParaRPr lang="en-US" sz="1050" dirty="0"/>
          </a:p>
        </p:txBody>
      </p:sp>
      <p:sp>
        <p:nvSpPr>
          <p:cNvPr id="4" name="Shape 2"/>
          <p:cNvSpPr/>
          <p:nvPr/>
        </p:nvSpPr>
        <p:spPr>
          <a:xfrm>
            <a:off x="502920" y="1298448"/>
            <a:ext cx="3931920" cy="2487168"/>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298448"/>
            <a:ext cx="3931920" cy="320040"/>
          </a:xfrm>
          <a:prstGeom prst="rect">
            <a:avLst/>
          </a:prstGeom>
          <a:solidFill>
            <a:srgbClr val="0097A7"/>
          </a:solidFill>
          <a:ln/>
        </p:spPr>
        <p:txBody>
          <a:bodyPr/>
          <a:lstStyle/>
          <a:p>
            <a:endParaRPr lang="en-US"/>
          </a:p>
        </p:txBody>
      </p:sp>
      <p:sp>
        <p:nvSpPr>
          <p:cNvPr id="6" name="Text 4"/>
          <p:cNvSpPr/>
          <p:nvPr/>
        </p:nvSpPr>
        <p:spPr>
          <a:xfrm>
            <a:off x="612648" y="1325880"/>
            <a:ext cx="371246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LongOutputOptions</a:t>
            </a:r>
            <a:endParaRPr lang="en-US" sz="1200" dirty="0"/>
          </a:p>
        </p:txBody>
      </p:sp>
      <p:sp>
        <p:nvSpPr>
          <p:cNvPr id="7" name="Text 5"/>
          <p:cNvSpPr/>
          <p:nvPr/>
        </p:nvSpPr>
        <p:spPr>
          <a:xfrm>
            <a:off x="612648" y="1682496"/>
            <a:ext cx="3712464" cy="2011680"/>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enabled: bool — opt-in per request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target_words: int — default 1800, max 20k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target_sections: int — default 4, max 16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delivery_mode: chat | file | hybrid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background_ok: bool — allow async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output_format: markdown | text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async_requested: bool — force background</a:t>
            </a:r>
            <a:endParaRPr lang="en-US" sz="1000" dirty="0"/>
          </a:p>
        </p:txBody>
      </p:sp>
      <p:sp>
        <p:nvSpPr>
          <p:cNvPr id="8" name="Shape 6"/>
          <p:cNvSpPr/>
          <p:nvPr/>
        </p:nvSpPr>
        <p:spPr>
          <a:xfrm>
            <a:off x="4617720" y="1298448"/>
            <a:ext cx="4572000" cy="2487168"/>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4617720" y="1298448"/>
            <a:ext cx="4572000" cy="320040"/>
          </a:xfrm>
          <a:prstGeom prst="rect">
            <a:avLst/>
          </a:prstGeom>
          <a:solidFill>
            <a:srgbClr val="1B2A4A"/>
          </a:solidFill>
          <a:ln/>
        </p:spPr>
        <p:txBody>
          <a:bodyPr/>
          <a:lstStyle/>
          <a:p>
            <a:endParaRPr lang="en-US"/>
          </a:p>
        </p:txBody>
      </p:sp>
      <p:sp>
        <p:nvSpPr>
          <p:cNvPr id="10" name="Text 8"/>
          <p:cNvSpPr/>
          <p:nvPr/>
        </p:nvSpPr>
        <p:spPr>
          <a:xfrm>
            <a:off x="4727448" y="1325880"/>
            <a:ext cx="43525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Background Trigger Thresholds</a:t>
            </a:r>
            <a:endParaRPr lang="en-US" sz="1200" dirty="0"/>
          </a:p>
        </p:txBody>
      </p:sp>
      <p:sp>
        <p:nvSpPr>
          <p:cNvPr id="11" name="Text 9"/>
          <p:cNvSpPr/>
          <p:nvPr/>
        </p:nvSpPr>
        <p:spPr>
          <a:xfrm>
            <a:off x="4727448" y="1682496"/>
            <a:ext cx="4352544" cy="2011680"/>
          </a:xfrm>
          <a:prstGeom prst="rect">
            <a:avLst/>
          </a:prstGeom>
          <a:noFill/>
          <a:ln/>
        </p:spPr>
        <p:txBody>
          <a:bodyPr wrap="square" lIns="0" tIns="0" rIns="0" bIns="0" rtlCol="0" anchor="t"/>
          <a:lstStyle/>
          <a:p>
            <a:pPr marL="0" indent="0">
              <a:lnSpc>
                <a:spcPct val="110000"/>
              </a:lnSpc>
              <a:buNone/>
            </a:pPr>
            <a:r>
              <a:rPr lang="en-US" sz="1000" b="1" dirty="0">
                <a:solidFill>
                  <a:srgbClr val="333333"/>
                </a:solidFill>
                <a:latin typeface="Arial" pitchFamily="34" charset="0"/>
                <a:ea typeface="Arial" pitchFamily="34" charset="-122"/>
                <a:cs typeface="Arial" pitchFamily="34" charset="-120"/>
              </a:rPr>
              <a:t>Runs in background if ANY of: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 target_words &gt; 3000  (_BACKGROUND_WORD_THRESHOLD)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 target_sections &gt; 5  (_BACKGROUND_SECTION_THRESHOLD)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 async_requested = True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Per-section retries: up to 2  (_MAX_SECTION_RETRIES)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File delivery: artifacts registered via register_workspace_artifact(). Client fetches via /v1/files/{id}.</a:t>
            </a:r>
            <a:endParaRPr lang="en-US" sz="1000" dirty="0"/>
          </a:p>
        </p:txBody>
      </p:sp>
      <p:sp>
        <p:nvSpPr>
          <p:cNvPr id="12" name="Shape 10"/>
          <p:cNvSpPr/>
          <p:nvPr/>
        </p:nvSpPr>
        <p:spPr>
          <a:xfrm>
            <a:off x="502920" y="3877056"/>
            <a:ext cx="2590800" cy="274320"/>
          </a:xfrm>
          <a:prstGeom prst="rect">
            <a:avLst/>
          </a:prstGeom>
          <a:solidFill>
            <a:srgbClr val="F9A825"/>
          </a:solidFill>
          <a:ln/>
        </p:spPr>
        <p:txBody>
          <a:bodyPr/>
          <a:lstStyle/>
          <a:p>
            <a:endParaRPr lang="en-US"/>
          </a:p>
        </p:txBody>
      </p:sp>
      <p:sp>
        <p:nvSpPr>
          <p:cNvPr id="13" name="Text 11"/>
          <p:cNvSpPr/>
          <p:nvPr/>
        </p:nvSpPr>
        <p:spPr>
          <a:xfrm>
            <a:off x="548640" y="3877056"/>
            <a:ext cx="249936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chat</a:t>
            </a:r>
            <a:endParaRPr lang="en-US" sz="1100" dirty="0"/>
          </a:p>
        </p:txBody>
      </p:sp>
      <p:sp>
        <p:nvSpPr>
          <p:cNvPr id="14" name="Shape 12"/>
          <p:cNvSpPr/>
          <p:nvPr/>
        </p:nvSpPr>
        <p:spPr>
          <a:xfrm>
            <a:off x="502920" y="4151376"/>
            <a:ext cx="2590800" cy="384048"/>
          </a:xfrm>
          <a:prstGeom prst="rect">
            <a:avLst/>
          </a:prstGeom>
          <a:solidFill>
            <a:srgbClr val="F5F5F5"/>
          </a:solidFill>
          <a:ln w="3810">
            <a:solidFill>
              <a:srgbClr val="F0F0F0"/>
            </a:solidFill>
            <a:prstDash val="solid"/>
          </a:ln>
        </p:spPr>
        <p:txBody>
          <a:bodyPr/>
          <a:lstStyle/>
          <a:p>
            <a:endParaRPr lang="en-US"/>
          </a:p>
        </p:txBody>
      </p:sp>
      <p:sp>
        <p:nvSpPr>
          <p:cNvPr id="15" name="Text 13"/>
          <p:cNvSpPr/>
          <p:nvPr/>
        </p:nvSpPr>
        <p:spPr>
          <a:xfrm>
            <a:off x="548640" y="4151376"/>
            <a:ext cx="2499360" cy="384048"/>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All sections streamed directly into conversation</a:t>
            </a:r>
            <a:endParaRPr lang="en-US" sz="950" dirty="0"/>
          </a:p>
        </p:txBody>
      </p:sp>
      <p:sp>
        <p:nvSpPr>
          <p:cNvPr id="16" name="Shape 14"/>
          <p:cNvSpPr/>
          <p:nvPr/>
        </p:nvSpPr>
        <p:spPr>
          <a:xfrm>
            <a:off x="3276600" y="3877056"/>
            <a:ext cx="2590800" cy="274320"/>
          </a:xfrm>
          <a:prstGeom prst="rect">
            <a:avLst/>
          </a:prstGeom>
          <a:solidFill>
            <a:srgbClr val="0097A7"/>
          </a:solidFill>
          <a:ln/>
        </p:spPr>
        <p:txBody>
          <a:bodyPr/>
          <a:lstStyle/>
          <a:p>
            <a:endParaRPr lang="en-US"/>
          </a:p>
        </p:txBody>
      </p:sp>
      <p:sp>
        <p:nvSpPr>
          <p:cNvPr id="17" name="Text 15"/>
          <p:cNvSpPr/>
          <p:nvPr/>
        </p:nvSpPr>
        <p:spPr>
          <a:xfrm>
            <a:off x="3322320" y="3877056"/>
            <a:ext cx="249936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file</a:t>
            </a:r>
            <a:endParaRPr lang="en-US" sz="1100" dirty="0"/>
          </a:p>
        </p:txBody>
      </p:sp>
      <p:sp>
        <p:nvSpPr>
          <p:cNvPr id="18" name="Shape 16"/>
          <p:cNvSpPr/>
          <p:nvPr/>
        </p:nvSpPr>
        <p:spPr>
          <a:xfrm>
            <a:off x="3276600" y="4151376"/>
            <a:ext cx="2590800" cy="384048"/>
          </a:xfrm>
          <a:prstGeom prst="rect">
            <a:avLst/>
          </a:prstGeom>
          <a:solidFill>
            <a:srgbClr val="F5F5F5"/>
          </a:solidFill>
          <a:ln w="3810">
            <a:solidFill>
              <a:srgbClr val="F0F0F0"/>
            </a:solidFill>
            <a:prstDash val="solid"/>
          </a:ln>
        </p:spPr>
        <p:txBody>
          <a:bodyPr/>
          <a:lstStyle/>
          <a:p>
            <a:endParaRPr lang="en-US"/>
          </a:p>
        </p:txBody>
      </p:sp>
      <p:sp>
        <p:nvSpPr>
          <p:cNvPr id="19" name="Text 17"/>
          <p:cNvSpPr/>
          <p:nvPr/>
        </p:nvSpPr>
        <p:spPr>
          <a:xfrm>
            <a:off x="3322320" y="4151376"/>
            <a:ext cx="2499360" cy="384048"/>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Written to a file artifact; client gets download link</a:t>
            </a:r>
            <a:endParaRPr lang="en-US" sz="950" dirty="0"/>
          </a:p>
        </p:txBody>
      </p:sp>
      <p:sp>
        <p:nvSpPr>
          <p:cNvPr id="20" name="Shape 18"/>
          <p:cNvSpPr/>
          <p:nvPr/>
        </p:nvSpPr>
        <p:spPr>
          <a:xfrm>
            <a:off x="6050280" y="3877056"/>
            <a:ext cx="2590800" cy="274320"/>
          </a:xfrm>
          <a:prstGeom prst="rect">
            <a:avLst/>
          </a:prstGeom>
          <a:solidFill>
            <a:srgbClr val="00796B"/>
          </a:solidFill>
          <a:ln/>
        </p:spPr>
        <p:txBody>
          <a:bodyPr/>
          <a:lstStyle/>
          <a:p>
            <a:endParaRPr lang="en-US"/>
          </a:p>
        </p:txBody>
      </p:sp>
      <p:sp>
        <p:nvSpPr>
          <p:cNvPr id="21" name="Text 19"/>
          <p:cNvSpPr/>
          <p:nvPr/>
        </p:nvSpPr>
        <p:spPr>
          <a:xfrm>
            <a:off x="6096000" y="3877056"/>
            <a:ext cx="249936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hybrid</a:t>
            </a:r>
            <a:endParaRPr lang="en-US" sz="1100" dirty="0"/>
          </a:p>
        </p:txBody>
      </p:sp>
      <p:sp>
        <p:nvSpPr>
          <p:cNvPr id="22" name="Shape 20"/>
          <p:cNvSpPr/>
          <p:nvPr/>
        </p:nvSpPr>
        <p:spPr>
          <a:xfrm>
            <a:off x="6050280" y="4151376"/>
            <a:ext cx="2590800" cy="384048"/>
          </a:xfrm>
          <a:prstGeom prst="rect">
            <a:avLst/>
          </a:prstGeom>
          <a:solidFill>
            <a:srgbClr val="F5F5F5"/>
          </a:solidFill>
          <a:ln w="3810">
            <a:solidFill>
              <a:srgbClr val="F0F0F0"/>
            </a:solidFill>
            <a:prstDash val="solid"/>
          </a:ln>
        </p:spPr>
        <p:txBody>
          <a:bodyPr/>
          <a:lstStyle/>
          <a:p>
            <a:endParaRPr lang="en-US"/>
          </a:p>
        </p:txBody>
      </p:sp>
      <p:sp>
        <p:nvSpPr>
          <p:cNvPr id="23" name="Text 21"/>
          <p:cNvSpPr/>
          <p:nvPr/>
        </p:nvSpPr>
        <p:spPr>
          <a:xfrm>
            <a:off x="6096000" y="4151376"/>
            <a:ext cx="2499360" cy="384048"/>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Short summary in chat + full content as file</a:t>
            </a:r>
            <a:endParaRPr lang="en-US" sz="950" dirty="0"/>
          </a:p>
        </p:txBody>
      </p:sp>
      <p:sp>
        <p:nvSpPr>
          <p:cNvPr id="24" name="Text 22"/>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runtime/long_output.py — LongOutputComposer, LongOutputOptions, LongOutputSection, LongOutputPlan, LongOutputResult</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02920" y="1463040"/>
            <a:ext cx="8138160" cy="73152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The Routing System</a:t>
            </a:r>
            <a:endParaRPr lang="en-US" sz="3200" dirty="0"/>
          </a:p>
        </p:txBody>
      </p:sp>
      <p:sp>
        <p:nvSpPr>
          <p:cNvPr id="3" name="Text 1"/>
          <p:cNvSpPr/>
          <p:nvPr/>
        </p:nvSpPr>
        <p:spPr>
          <a:xfrm>
            <a:off x="502920" y="2286000"/>
            <a:ext cx="8138160" cy="457200"/>
          </a:xfrm>
          <a:prstGeom prst="rect">
            <a:avLst/>
          </a:prstGeom>
          <a:noFill/>
          <a:ln/>
        </p:spPr>
        <p:txBody>
          <a:bodyPr wrap="square" lIns="0" tIns="0" rIns="0" bIns="0" rtlCol="0" anchor="ctr"/>
          <a:lstStyle/>
          <a:p>
            <a:pPr marL="0" indent="0">
              <a:buNone/>
            </a:pPr>
            <a:r>
              <a:rPr lang="en-US" sz="1600" dirty="0">
                <a:solidFill>
                  <a:srgbClr val="0097A7"/>
                </a:solidFill>
                <a:latin typeface="Arial" pitchFamily="34" charset="0"/>
                <a:ea typeface="Arial" pitchFamily="34" charset="-122"/>
                <a:cs typeface="Arial" pitchFamily="34" charset="-120"/>
              </a:rPr>
              <a:t>Slides 13-16: Deterministic regex + LLM judge escalation</a:t>
            </a:r>
            <a:endParaRPr lang="en-US" sz="1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The Router — How the System Decides What to Do</a:t>
            </a:r>
            <a:endParaRPr lang="en-US" sz="2600" dirty="0"/>
          </a:p>
        </p:txBody>
      </p:sp>
      <p:sp>
        <p:nvSpPr>
          <p:cNvPr id="3" name="Shape 1"/>
          <p:cNvSpPr/>
          <p:nvPr/>
        </p:nvSpPr>
        <p:spPr>
          <a:xfrm>
            <a:off x="502920" y="1005840"/>
            <a:ext cx="3840480" cy="16459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4" name="Shape 2"/>
          <p:cNvSpPr/>
          <p:nvPr/>
        </p:nvSpPr>
        <p:spPr>
          <a:xfrm>
            <a:off x="502920" y="1005840"/>
            <a:ext cx="3840480" cy="320040"/>
          </a:xfrm>
          <a:prstGeom prst="rect">
            <a:avLst/>
          </a:prstGeom>
          <a:solidFill>
            <a:srgbClr val="0097A7"/>
          </a:solidFill>
          <a:ln/>
        </p:spPr>
        <p:txBody>
          <a:bodyPr/>
          <a:lstStyle/>
          <a:p>
            <a:endParaRPr lang="en-US"/>
          </a:p>
        </p:txBody>
      </p:sp>
      <p:sp>
        <p:nvSpPr>
          <p:cNvPr id="5" name="Text 3"/>
          <p:cNvSpPr/>
          <p:nvPr/>
        </p:nvSpPr>
        <p:spPr>
          <a:xfrm>
            <a:off x="612648" y="1033272"/>
            <a:ext cx="362102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Phase 1: Deterministic Router</a:t>
            </a:r>
            <a:endParaRPr lang="en-US" sz="1200" dirty="0"/>
          </a:p>
        </p:txBody>
      </p:sp>
      <p:sp>
        <p:nvSpPr>
          <p:cNvPr id="6" name="Text 4"/>
          <p:cNvSpPr/>
          <p:nvPr/>
        </p:nvSpPr>
        <p:spPr>
          <a:xfrm>
            <a:off x="612648" y="1389888"/>
            <a:ext cx="3621024" cy="117043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Regex pattern matching on user text.
Fast, predictable, zero LLM cost.
Always runs first.
</a:t>
            </a:r>
            <a:endParaRPr lang="en-US" sz="1000" dirty="0"/>
          </a:p>
          <a:p>
            <a:pPr marL="0" indent="0">
              <a:lnSpc>
                <a:spcPct val="110000"/>
              </a:lnSpc>
              <a:buNone/>
            </a:pPr>
            <a:r>
              <a:rPr lang="en-US" sz="900" dirty="0">
                <a:solidFill>
                  <a:srgbClr val="333333"/>
                </a:solidFill>
                <a:latin typeface="Courier New" pitchFamily="34" charset="0"/>
                <a:ea typeface="Courier New" pitchFamily="34" charset="-122"/>
                <a:cs typeface="Courier New" pitchFamily="34" charset="-120"/>
              </a:rPr>
              <a:t>File: router/router.py</a:t>
            </a:r>
            <a:endParaRPr lang="en-US" sz="1000" dirty="0"/>
          </a:p>
        </p:txBody>
      </p:sp>
      <p:sp>
        <p:nvSpPr>
          <p:cNvPr id="7" name="Shape 5"/>
          <p:cNvSpPr/>
          <p:nvPr/>
        </p:nvSpPr>
        <p:spPr>
          <a:xfrm>
            <a:off x="4114800" y="1554480"/>
            <a:ext cx="914400" cy="457200"/>
          </a:xfrm>
          <a:prstGeom prst="rect">
            <a:avLst/>
          </a:prstGeom>
          <a:solidFill>
            <a:srgbClr val="F9A825"/>
          </a:solidFill>
          <a:ln/>
        </p:spPr>
        <p:txBody>
          <a:bodyPr/>
          <a:lstStyle/>
          <a:p>
            <a:endParaRPr lang="en-US"/>
          </a:p>
        </p:txBody>
      </p:sp>
      <p:sp>
        <p:nvSpPr>
          <p:cNvPr id="8" name="Text 6"/>
          <p:cNvSpPr/>
          <p:nvPr/>
        </p:nvSpPr>
        <p:spPr>
          <a:xfrm>
            <a:off x="4114800" y="1554480"/>
            <a:ext cx="914400" cy="457200"/>
          </a:xfrm>
          <a:prstGeom prst="rect">
            <a:avLst/>
          </a:prstGeom>
          <a:noFill/>
          <a:ln/>
        </p:spPr>
        <p:txBody>
          <a:bodyPr wrap="square" lIns="0" tIns="0" rIns="0" bIns="0" rtlCol="0" anchor="ctr"/>
          <a:lstStyle/>
          <a:p>
            <a:pPr marL="0" indent="0" algn="ctr">
              <a:buNone/>
            </a:pPr>
            <a:r>
              <a:rPr lang="en-US" sz="1000" b="1" dirty="0">
                <a:solidFill>
                  <a:srgbClr val="1B2A4A"/>
                </a:solidFill>
                <a:latin typeface="Arial" pitchFamily="34" charset="0"/>
                <a:ea typeface="Arial" pitchFamily="34" charset="-122"/>
                <a:cs typeface="Arial" pitchFamily="34" charset="-120"/>
              </a:rPr>
              <a:t>&lt; 0.70?</a:t>
            </a:r>
            <a:endParaRPr lang="en-US" sz="1000" dirty="0"/>
          </a:p>
        </p:txBody>
      </p:sp>
      <p:sp>
        <p:nvSpPr>
          <p:cNvPr id="9" name="Shape 7"/>
          <p:cNvSpPr/>
          <p:nvPr/>
        </p:nvSpPr>
        <p:spPr>
          <a:xfrm>
            <a:off x="3977640" y="1783080"/>
            <a:ext cx="137160" cy="0"/>
          </a:xfrm>
          <a:prstGeom prst="line">
            <a:avLst/>
          </a:prstGeom>
          <a:noFill/>
          <a:ln w="25400">
            <a:solidFill>
              <a:srgbClr val="0097A7"/>
            </a:solidFill>
            <a:prstDash val="solid"/>
          </a:ln>
        </p:spPr>
        <p:txBody>
          <a:bodyPr/>
          <a:lstStyle/>
          <a:p>
            <a:endParaRPr lang="en-US"/>
          </a:p>
        </p:txBody>
      </p:sp>
      <p:sp>
        <p:nvSpPr>
          <p:cNvPr id="10" name="Text 8"/>
          <p:cNvSpPr/>
          <p:nvPr/>
        </p:nvSpPr>
        <p:spPr>
          <a:xfrm>
            <a:off x="4005072" y="167335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1" name="Shape 9"/>
          <p:cNvSpPr/>
          <p:nvPr/>
        </p:nvSpPr>
        <p:spPr>
          <a:xfrm>
            <a:off x="5029200" y="1783080"/>
            <a:ext cx="137160" cy="0"/>
          </a:xfrm>
          <a:prstGeom prst="line">
            <a:avLst/>
          </a:prstGeom>
          <a:noFill/>
          <a:ln w="25400">
            <a:solidFill>
              <a:srgbClr val="0097A7"/>
            </a:solidFill>
            <a:prstDash val="solid"/>
          </a:ln>
        </p:spPr>
        <p:txBody>
          <a:bodyPr/>
          <a:lstStyle/>
          <a:p>
            <a:endParaRPr lang="en-US"/>
          </a:p>
        </p:txBody>
      </p:sp>
      <p:sp>
        <p:nvSpPr>
          <p:cNvPr id="12" name="Text 10"/>
          <p:cNvSpPr/>
          <p:nvPr/>
        </p:nvSpPr>
        <p:spPr>
          <a:xfrm>
            <a:off x="5056632" y="167335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3" name="Shape 11"/>
          <p:cNvSpPr/>
          <p:nvPr/>
        </p:nvSpPr>
        <p:spPr>
          <a:xfrm>
            <a:off x="5212080" y="1005840"/>
            <a:ext cx="3474720" cy="16459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4" name="Shape 12"/>
          <p:cNvSpPr/>
          <p:nvPr/>
        </p:nvSpPr>
        <p:spPr>
          <a:xfrm>
            <a:off x="5212080" y="1005840"/>
            <a:ext cx="3474720" cy="320040"/>
          </a:xfrm>
          <a:prstGeom prst="rect">
            <a:avLst/>
          </a:prstGeom>
          <a:solidFill>
            <a:srgbClr val="1B2A4A"/>
          </a:solidFill>
          <a:ln/>
        </p:spPr>
        <p:txBody>
          <a:bodyPr/>
          <a:lstStyle/>
          <a:p>
            <a:endParaRPr lang="en-US"/>
          </a:p>
        </p:txBody>
      </p:sp>
      <p:sp>
        <p:nvSpPr>
          <p:cNvPr id="15" name="Text 13"/>
          <p:cNvSpPr/>
          <p:nvPr/>
        </p:nvSpPr>
        <p:spPr>
          <a:xfrm>
            <a:off x="5321808" y="1033272"/>
            <a:ext cx="325526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Phase 2: LLM Judge (Conditional)</a:t>
            </a:r>
            <a:endParaRPr lang="en-US" sz="1200" dirty="0"/>
          </a:p>
        </p:txBody>
      </p:sp>
      <p:sp>
        <p:nvSpPr>
          <p:cNvPr id="16" name="Text 14"/>
          <p:cNvSpPr/>
          <p:nvPr/>
        </p:nvSpPr>
        <p:spPr>
          <a:xfrm>
            <a:off x="5321808" y="1389888"/>
            <a:ext cx="3255264" cy="117043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Only fires when deterministic confidence &lt; 0.70.
Uses small fast LLM to re-evaluate.
Sees full agent list.
</a:t>
            </a:r>
            <a:endParaRPr lang="en-US" sz="1000" dirty="0"/>
          </a:p>
          <a:p>
            <a:pPr marL="0" indent="0">
              <a:lnSpc>
                <a:spcPct val="110000"/>
              </a:lnSpc>
              <a:buNone/>
            </a:pPr>
            <a:r>
              <a:rPr lang="en-US" sz="900" dirty="0">
                <a:solidFill>
                  <a:srgbClr val="333333"/>
                </a:solidFill>
                <a:latin typeface="Courier New" pitchFamily="34" charset="0"/>
                <a:ea typeface="Courier New" pitchFamily="34" charset="-122"/>
                <a:cs typeface="Courier New" pitchFamily="34" charset="-120"/>
              </a:rPr>
              <a:t>File: router/llm_router.py</a:t>
            </a:r>
            <a:endParaRPr lang="en-US" sz="1000" dirty="0"/>
          </a:p>
        </p:txBody>
      </p:sp>
      <p:sp>
        <p:nvSpPr>
          <p:cNvPr id="17" name="Shape 15"/>
          <p:cNvSpPr/>
          <p:nvPr/>
        </p:nvSpPr>
        <p:spPr>
          <a:xfrm>
            <a:off x="502920" y="2926080"/>
            <a:ext cx="8138160" cy="502920"/>
          </a:xfrm>
          <a:prstGeom prst="rect">
            <a:avLst/>
          </a:prstGeom>
          <a:solidFill>
            <a:srgbClr val="F5F5F5"/>
          </a:solidFill>
          <a:ln w="12700">
            <a:solidFill>
              <a:srgbClr val="0097A7"/>
            </a:solidFill>
            <a:prstDash val="solid"/>
          </a:ln>
        </p:spPr>
        <p:txBody>
          <a:bodyPr/>
          <a:lstStyle/>
          <a:p>
            <a:endParaRPr lang="en-US"/>
          </a:p>
        </p:txBody>
      </p:sp>
      <p:sp>
        <p:nvSpPr>
          <p:cNvPr id="18" name="Text 16"/>
          <p:cNvSpPr/>
          <p:nvPr/>
        </p:nvSpPr>
        <p:spPr>
          <a:xfrm>
            <a:off x="640080" y="2926080"/>
            <a:ext cx="7863840" cy="502920"/>
          </a:xfrm>
          <a:prstGeom prst="rect">
            <a:avLst/>
          </a:prstGeom>
          <a:noFill/>
          <a:ln/>
        </p:spPr>
        <p:txBody>
          <a:bodyPr wrap="square" lIns="0" tIns="0" rIns="0" bIns="0" rtlCol="0" anchor="ctr"/>
          <a:lstStyle/>
          <a:p>
            <a:pPr marL="0" indent="0">
              <a:buNone/>
            </a:pPr>
            <a:r>
              <a:rPr lang="en-US" sz="1100" b="1" dirty="0">
                <a:solidFill>
                  <a:srgbClr val="1B2A4A"/>
                </a:solidFill>
                <a:latin typeface="Arial" pitchFamily="34" charset="0"/>
                <a:ea typeface="Arial" pitchFamily="34" charset="-122"/>
                <a:cs typeface="Arial" pitchFamily="34" charset="-120"/>
              </a:rPr>
              <a:t>Output: </a:t>
            </a:r>
            <a:r>
              <a:rPr lang="en-US" sz="1000" dirty="0">
                <a:solidFill>
                  <a:srgbClr val="1B2A4A"/>
                </a:solidFill>
                <a:latin typeface="Courier New" pitchFamily="34" charset="0"/>
                <a:ea typeface="Courier New" pitchFamily="34" charset="-122"/>
                <a:cs typeface="Courier New" pitchFamily="34" charset="-120"/>
              </a:rPr>
              <a:t>RouterDecision(route="BASIC"|"AGENT", confidence=0.0-1.0, reasons=[...], suggested_agent="...")</a:t>
            </a:r>
            <a:endParaRPr lang="en-US" sz="1100" dirty="0"/>
          </a:p>
        </p:txBody>
      </p:sp>
      <p:sp>
        <p:nvSpPr>
          <p:cNvPr id="19" name="Shape 17"/>
          <p:cNvSpPr/>
          <p:nvPr/>
        </p:nvSpPr>
        <p:spPr>
          <a:xfrm>
            <a:off x="502920" y="3657600"/>
            <a:ext cx="8138160" cy="365760"/>
          </a:xfrm>
          <a:prstGeom prst="rect">
            <a:avLst/>
          </a:prstGeom>
          <a:solidFill>
            <a:srgbClr val="E0F7FA"/>
          </a:solidFill>
          <a:ln w="12700">
            <a:solidFill>
              <a:srgbClr val="0097A7"/>
            </a:solidFill>
            <a:prstDash val="solid"/>
          </a:ln>
        </p:spPr>
        <p:txBody>
          <a:bodyPr/>
          <a:lstStyle/>
          <a:p>
            <a:endParaRPr lang="en-US"/>
          </a:p>
        </p:txBody>
      </p:sp>
      <p:sp>
        <p:nvSpPr>
          <p:cNvPr id="20" name="Text 18"/>
          <p:cNvSpPr/>
          <p:nvPr/>
        </p:nvSpPr>
        <p:spPr>
          <a:xfrm>
            <a:off x="594360" y="3657600"/>
            <a:ext cx="7955280" cy="36576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Three modes via llm_router_mode: 'hybrid' (default), 'llm_only', or disabled. build_router_targets() dynamically discovers agents from registry.</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Deterministic Router — The Regex Patterns</a:t>
            </a:r>
            <a:endParaRPr lang="en-US" sz="2600" dirty="0"/>
          </a:p>
        </p:txBody>
      </p:sp>
      <p:sp>
        <p:nvSpPr>
          <p:cNvPr id="3" name="Shape 1"/>
          <p:cNvSpPr/>
          <p:nvPr/>
        </p:nvSpPr>
        <p:spPr>
          <a:xfrm>
            <a:off x="502920" y="868680"/>
            <a:ext cx="1417320" cy="274320"/>
          </a:xfrm>
          <a:prstGeom prst="rect">
            <a:avLst/>
          </a:prstGeom>
          <a:solidFill>
            <a:srgbClr val="1B2A4A"/>
          </a:solidFill>
          <a:ln w="3810">
            <a:solidFill>
              <a:srgbClr val="F0F0F0"/>
            </a:solidFill>
            <a:prstDash val="solid"/>
          </a:ln>
        </p:spPr>
        <p:txBody>
          <a:bodyPr/>
          <a:lstStyle/>
          <a:p>
            <a:endParaRPr lang="en-US"/>
          </a:p>
        </p:txBody>
      </p:sp>
      <p:sp>
        <p:nvSpPr>
          <p:cNvPr id="4" name="Text 2"/>
          <p:cNvSpPr/>
          <p:nvPr/>
        </p:nvSpPr>
        <p:spPr>
          <a:xfrm>
            <a:off x="557784" y="868680"/>
            <a:ext cx="1307592" cy="274320"/>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Pattern</a:t>
            </a:r>
            <a:endParaRPr lang="en-US" sz="900" dirty="0"/>
          </a:p>
        </p:txBody>
      </p:sp>
      <p:sp>
        <p:nvSpPr>
          <p:cNvPr id="5" name="Shape 3"/>
          <p:cNvSpPr/>
          <p:nvPr/>
        </p:nvSpPr>
        <p:spPr>
          <a:xfrm>
            <a:off x="1920240" y="868680"/>
            <a:ext cx="2103120" cy="274320"/>
          </a:xfrm>
          <a:prstGeom prst="rect">
            <a:avLst/>
          </a:prstGeom>
          <a:solidFill>
            <a:srgbClr val="1B2A4A"/>
          </a:solidFill>
          <a:ln w="3810">
            <a:solidFill>
              <a:srgbClr val="F0F0F0"/>
            </a:solidFill>
            <a:prstDash val="solid"/>
          </a:ln>
        </p:spPr>
        <p:txBody>
          <a:bodyPr/>
          <a:lstStyle/>
          <a:p>
            <a:endParaRPr lang="en-US"/>
          </a:p>
        </p:txBody>
      </p:sp>
      <p:sp>
        <p:nvSpPr>
          <p:cNvPr id="6" name="Text 4"/>
          <p:cNvSpPr/>
          <p:nvPr/>
        </p:nvSpPr>
        <p:spPr>
          <a:xfrm>
            <a:off x="1975104" y="868680"/>
            <a:ext cx="1993392" cy="274320"/>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Regex Variable</a:t>
            </a:r>
            <a:endParaRPr lang="en-US" sz="900" dirty="0"/>
          </a:p>
        </p:txBody>
      </p:sp>
      <p:sp>
        <p:nvSpPr>
          <p:cNvPr id="7" name="Shape 5"/>
          <p:cNvSpPr/>
          <p:nvPr/>
        </p:nvSpPr>
        <p:spPr>
          <a:xfrm>
            <a:off x="4023360" y="868680"/>
            <a:ext cx="2468880" cy="274320"/>
          </a:xfrm>
          <a:prstGeom prst="rect">
            <a:avLst/>
          </a:prstGeom>
          <a:solidFill>
            <a:srgbClr val="1B2A4A"/>
          </a:solidFill>
          <a:ln w="3810">
            <a:solidFill>
              <a:srgbClr val="F0F0F0"/>
            </a:solidFill>
            <a:prstDash val="solid"/>
          </a:ln>
        </p:spPr>
        <p:txBody>
          <a:bodyPr/>
          <a:lstStyle/>
          <a:p>
            <a:endParaRPr lang="en-US"/>
          </a:p>
        </p:txBody>
      </p:sp>
      <p:sp>
        <p:nvSpPr>
          <p:cNvPr id="8" name="Text 6"/>
          <p:cNvSpPr/>
          <p:nvPr/>
        </p:nvSpPr>
        <p:spPr>
          <a:xfrm>
            <a:off x="4078224" y="868680"/>
            <a:ext cx="2359152" cy="274320"/>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What It Catches</a:t>
            </a:r>
            <a:endParaRPr lang="en-US" sz="900" dirty="0"/>
          </a:p>
        </p:txBody>
      </p:sp>
      <p:sp>
        <p:nvSpPr>
          <p:cNvPr id="9" name="Shape 7"/>
          <p:cNvSpPr/>
          <p:nvPr/>
        </p:nvSpPr>
        <p:spPr>
          <a:xfrm>
            <a:off x="6492240" y="868680"/>
            <a:ext cx="2148840" cy="274320"/>
          </a:xfrm>
          <a:prstGeom prst="rect">
            <a:avLst/>
          </a:prstGeom>
          <a:solidFill>
            <a:srgbClr val="1B2A4A"/>
          </a:solidFill>
          <a:ln w="3810">
            <a:solidFill>
              <a:srgbClr val="F0F0F0"/>
            </a:solidFill>
            <a:prstDash val="solid"/>
          </a:ln>
        </p:spPr>
        <p:txBody>
          <a:bodyPr/>
          <a:lstStyle/>
          <a:p>
            <a:endParaRPr lang="en-US"/>
          </a:p>
        </p:txBody>
      </p:sp>
      <p:sp>
        <p:nvSpPr>
          <p:cNvPr id="10" name="Text 8"/>
          <p:cNvSpPr/>
          <p:nvPr/>
        </p:nvSpPr>
        <p:spPr>
          <a:xfrm>
            <a:off x="6547104" y="868680"/>
            <a:ext cx="2039112" cy="274320"/>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Route Effect</a:t>
            </a:r>
            <a:endParaRPr lang="en-US" sz="900" dirty="0"/>
          </a:p>
        </p:txBody>
      </p:sp>
      <p:sp>
        <p:nvSpPr>
          <p:cNvPr id="11" name="Shape 9"/>
          <p:cNvSpPr/>
          <p:nvPr/>
        </p:nvSpPr>
        <p:spPr>
          <a:xfrm>
            <a:off x="502920" y="1143000"/>
            <a:ext cx="1417320" cy="274320"/>
          </a:xfrm>
          <a:prstGeom prst="rect">
            <a:avLst/>
          </a:prstGeom>
          <a:solidFill>
            <a:srgbClr val="F5F5F5"/>
          </a:solidFill>
          <a:ln w="3810">
            <a:solidFill>
              <a:srgbClr val="F0F0F0"/>
            </a:solidFill>
            <a:prstDash val="solid"/>
          </a:ln>
        </p:spPr>
        <p:txBody>
          <a:bodyPr/>
          <a:lstStyle/>
          <a:p>
            <a:endParaRPr lang="en-US"/>
          </a:p>
        </p:txBody>
      </p:sp>
      <p:sp>
        <p:nvSpPr>
          <p:cNvPr id="12" name="Text 10"/>
          <p:cNvSpPr/>
          <p:nvPr/>
        </p:nvSpPr>
        <p:spPr>
          <a:xfrm>
            <a:off x="557784" y="1143000"/>
            <a:ext cx="1307592" cy="274320"/>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Tool Verbs</a:t>
            </a:r>
            <a:endParaRPr lang="en-US" sz="850" dirty="0"/>
          </a:p>
        </p:txBody>
      </p:sp>
      <p:sp>
        <p:nvSpPr>
          <p:cNvPr id="13" name="Shape 11"/>
          <p:cNvSpPr/>
          <p:nvPr/>
        </p:nvSpPr>
        <p:spPr>
          <a:xfrm>
            <a:off x="1920240" y="1143000"/>
            <a:ext cx="2103120" cy="274320"/>
          </a:xfrm>
          <a:prstGeom prst="rect">
            <a:avLst/>
          </a:prstGeom>
          <a:solidFill>
            <a:srgbClr val="F5F5F5"/>
          </a:solidFill>
          <a:ln w="3810">
            <a:solidFill>
              <a:srgbClr val="F0F0F0"/>
            </a:solidFill>
            <a:prstDash val="solid"/>
          </a:ln>
        </p:spPr>
        <p:txBody>
          <a:bodyPr/>
          <a:lstStyle/>
          <a:p>
            <a:endParaRPr lang="en-US"/>
          </a:p>
        </p:txBody>
      </p:sp>
      <p:sp>
        <p:nvSpPr>
          <p:cNvPr id="14" name="Text 12"/>
          <p:cNvSpPr/>
          <p:nvPr/>
        </p:nvSpPr>
        <p:spPr>
          <a:xfrm>
            <a:off x="1975104" y="1143000"/>
            <a:ext cx="1993392" cy="274320"/>
          </a:xfrm>
          <a:prstGeom prst="rect">
            <a:avLst/>
          </a:prstGeom>
          <a:noFill/>
          <a:ln/>
        </p:spPr>
        <p:txBody>
          <a:bodyPr wrap="square" lIns="0" tIns="0" rIns="0" bIns="0" rtlCol="0" anchor="ctr"/>
          <a:lstStyle/>
          <a:p>
            <a:pPr marL="0" indent="0">
              <a:buNone/>
            </a:pPr>
            <a:r>
              <a:rPr lang="en-US" sz="850" dirty="0">
                <a:solidFill>
                  <a:srgbClr val="333333"/>
                </a:solidFill>
                <a:latin typeface="Courier New" pitchFamily="34" charset="0"/>
                <a:ea typeface="Courier New" pitchFamily="34" charset="-122"/>
                <a:cs typeface="Courier New" pitchFamily="34" charset="-120"/>
              </a:rPr>
              <a:t>tool_or_multistep_intent</a:t>
            </a:r>
            <a:endParaRPr lang="en-US" sz="850" dirty="0"/>
          </a:p>
        </p:txBody>
      </p:sp>
      <p:sp>
        <p:nvSpPr>
          <p:cNvPr id="15" name="Shape 13"/>
          <p:cNvSpPr/>
          <p:nvPr/>
        </p:nvSpPr>
        <p:spPr>
          <a:xfrm>
            <a:off x="4023360" y="1143000"/>
            <a:ext cx="2468880" cy="274320"/>
          </a:xfrm>
          <a:prstGeom prst="rect">
            <a:avLst/>
          </a:prstGeom>
          <a:solidFill>
            <a:srgbClr val="F5F5F5"/>
          </a:solidFill>
          <a:ln w="3810">
            <a:solidFill>
              <a:srgbClr val="F0F0F0"/>
            </a:solidFill>
            <a:prstDash val="solid"/>
          </a:ln>
        </p:spPr>
        <p:txBody>
          <a:bodyPr/>
          <a:lstStyle/>
          <a:p>
            <a:endParaRPr lang="en-US"/>
          </a:p>
        </p:txBody>
      </p:sp>
      <p:sp>
        <p:nvSpPr>
          <p:cNvPr id="16" name="Text 14"/>
          <p:cNvSpPr/>
          <p:nvPr/>
        </p:nvSpPr>
        <p:spPr>
          <a:xfrm>
            <a:off x="4078224" y="1143000"/>
            <a:ext cx="2359152" cy="274320"/>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"use tool","search","upload"</a:t>
            </a:r>
            <a:endParaRPr lang="en-US" sz="850" dirty="0"/>
          </a:p>
        </p:txBody>
      </p:sp>
      <p:sp>
        <p:nvSpPr>
          <p:cNvPr id="17" name="Shape 15"/>
          <p:cNvSpPr/>
          <p:nvPr/>
        </p:nvSpPr>
        <p:spPr>
          <a:xfrm>
            <a:off x="6492240" y="1143000"/>
            <a:ext cx="2148840" cy="274320"/>
          </a:xfrm>
          <a:prstGeom prst="rect">
            <a:avLst/>
          </a:prstGeom>
          <a:solidFill>
            <a:srgbClr val="F5F5F5"/>
          </a:solidFill>
          <a:ln w="3810">
            <a:solidFill>
              <a:srgbClr val="F0F0F0"/>
            </a:solidFill>
            <a:prstDash val="solid"/>
          </a:ln>
        </p:spPr>
        <p:txBody>
          <a:bodyPr/>
          <a:lstStyle/>
          <a:p>
            <a:endParaRPr lang="en-US"/>
          </a:p>
        </p:txBody>
      </p:sp>
      <p:sp>
        <p:nvSpPr>
          <p:cNvPr id="18" name="Text 16"/>
          <p:cNvSpPr/>
          <p:nvPr/>
        </p:nvSpPr>
        <p:spPr>
          <a:xfrm>
            <a:off x="6547104" y="1143000"/>
            <a:ext cx="2039112" cy="274320"/>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-&gt; AGENT</a:t>
            </a:r>
            <a:endParaRPr lang="en-US" sz="850" dirty="0"/>
          </a:p>
        </p:txBody>
      </p:sp>
      <p:sp>
        <p:nvSpPr>
          <p:cNvPr id="19" name="Shape 17"/>
          <p:cNvSpPr/>
          <p:nvPr/>
        </p:nvSpPr>
        <p:spPr>
          <a:xfrm>
            <a:off x="502920" y="1417320"/>
            <a:ext cx="1417320" cy="274320"/>
          </a:xfrm>
          <a:prstGeom prst="rect">
            <a:avLst/>
          </a:prstGeom>
          <a:solidFill>
            <a:srgbClr val="FFFFFF"/>
          </a:solidFill>
          <a:ln w="3810">
            <a:solidFill>
              <a:srgbClr val="F0F0F0"/>
            </a:solidFill>
            <a:prstDash val="solid"/>
          </a:ln>
        </p:spPr>
        <p:txBody>
          <a:bodyPr/>
          <a:lstStyle/>
          <a:p>
            <a:endParaRPr lang="en-US"/>
          </a:p>
        </p:txBody>
      </p:sp>
      <p:sp>
        <p:nvSpPr>
          <p:cNvPr id="20" name="Text 18"/>
          <p:cNvSpPr/>
          <p:nvPr/>
        </p:nvSpPr>
        <p:spPr>
          <a:xfrm>
            <a:off x="557784" y="1417320"/>
            <a:ext cx="1307592" cy="274320"/>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Data Analysis</a:t>
            </a:r>
            <a:endParaRPr lang="en-US" sz="850" dirty="0"/>
          </a:p>
        </p:txBody>
      </p:sp>
      <p:sp>
        <p:nvSpPr>
          <p:cNvPr id="21" name="Shape 19"/>
          <p:cNvSpPr/>
          <p:nvPr/>
        </p:nvSpPr>
        <p:spPr>
          <a:xfrm>
            <a:off x="1920240" y="1417320"/>
            <a:ext cx="2103120" cy="274320"/>
          </a:xfrm>
          <a:prstGeom prst="rect">
            <a:avLst/>
          </a:prstGeom>
          <a:solidFill>
            <a:srgbClr val="FFFFFF"/>
          </a:solidFill>
          <a:ln w="3810">
            <a:solidFill>
              <a:srgbClr val="F0F0F0"/>
            </a:solidFill>
            <a:prstDash val="solid"/>
          </a:ln>
        </p:spPr>
        <p:txBody>
          <a:bodyPr/>
          <a:lstStyle/>
          <a:p>
            <a:endParaRPr lang="en-US"/>
          </a:p>
        </p:txBody>
      </p:sp>
      <p:sp>
        <p:nvSpPr>
          <p:cNvPr id="22" name="Text 20"/>
          <p:cNvSpPr/>
          <p:nvPr/>
        </p:nvSpPr>
        <p:spPr>
          <a:xfrm>
            <a:off x="1975104" y="1417320"/>
            <a:ext cx="1993392" cy="274320"/>
          </a:xfrm>
          <a:prstGeom prst="rect">
            <a:avLst/>
          </a:prstGeom>
          <a:noFill/>
          <a:ln/>
        </p:spPr>
        <p:txBody>
          <a:bodyPr wrap="square" lIns="0" tIns="0" rIns="0" bIns="0" rtlCol="0" anchor="ctr"/>
          <a:lstStyle/>
          <a:p>
            <a:pPr marL="0" indent="0">
              <a:buNone/>
            </a:pPr>
            <a:r>
              <a:rPr lang="en-US" sz="850" dirty="0">
                <a:solidFill>
                  <a:srgbClr val="333333"/>
                </a:solidFill>
                <a:latin typeface="Courier New" pitchFamily="34" charset="0"/>
                <a:ea typeface="Courier New" pitchFamily="34" charset="-122"/>
                <a:cs typeface="Courier New" pitchFamily="34" charset="-120"/>
              </a:rPr>
              <a:t>data_analysis_intent</a:t>
            </a:r>
            <a:endParaRPr lang="en-US" sz="850" dirty="0"/>
          </a:p>
        </p:txBody>
      </p:sp>
      <p:sp>
        <p:nvSpPr>
          <p:cNvPr id="23" name="Shape 21"/>
          <p:cNvSpPr/>
          <p:nvPr/>
        </p:nvSpPr>
        <p:spPr>
          <a:xfrm>
            <a:off x="4023360" y="1417320"/>
            <a:ext cx="2468880" cy="274320"/>
          </a:xfrm>
          <a:prstGeom prst="rect">
            <a:avLst/>
          </a:prstGeom>
          <a:solidFill>
            <a:srgbClr val="FFFFFF"/>
          </a:solidFill>
          <a:ln w="3810">
            <a:solidFill>
              <a:srgbClr val="F0F0F0"/>
            </a:solidFill>
            <a:prstDash val="solid"/>
          </a:ln>
        </p:spPr>
        <p:txBody>
          <a:bodyPr/>
          <a:lstStyle/>
          <a:p>
            <a:endParaRPr lang="en-US"/>
          </a:p>
        </p:txBody>
      </p:sp>
      <p:sp>
        <p:nvSpPr>
          <p:cNvPr id="24" name="Text 22"/>
          <p:cNvSpPr/>
          <p:nvPr/>
        </p:nvSpPr>
        <p:spPr>
          <a:xfrm>
            <a:off x="4078224" y="1417320"/>
            <a:ext cx="2359152" cy="274320"/>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"analyze","csv","pandas"</a:t>
            </a:r>
            <a:endParaRPr lang="en-US" sz="850" dirty="0"/>
          </a:p>
        </p:txBody>
      </p:sp>
      <p:sp>
        <p:nvSpPr>
          <p:cNvPr id="25" name="Shape 23"/>
          <p:cNvSpPr/>
          <p:nvPr/>
        </p:nvSpPr>
        <p:spPr>
          <a:xfrm>
            <a:off x="6492240" y="1417320"/>
            <a:ext cx="2148840" cy="274320"/>
          </a:xfrm>
          <a:prstGeom prst="rect">
            <a:avLst/>
          </a:prstGeom>
          <a:solidFill>
            <a:srgbClr val="FFFFFF"/>
          </a:solidFill>
          <a:ln w="3810">
            <a:solidFill>
              <a:srgbClr val="F0F0F0"/>
            </a:solidFill>
            <a:prstDash val="solid"/>
          </a:ln>
        </p:spPr>
        <p:txBody>
          <a:bodyPr/>
          <a:lstStyle/>
          <a:p>
            <a:endParaRPr lang="en-US"/>
          </a:p>
        </p:txBody>
      </p:sp>
      <p:sp>
        <p:nvSpPr>
          <p:cNvPr id="26" name="Text 24"/>
          <p:cNvSpPr/>
          <p:nvPr/>
        </p:nvSpPr>
        <p:spPr>
          <a:xfrm>
            <a:off x="6547104" y="1417320"/>
            <a:ext cx="2039112" cy="274320"/>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-&gt; data_analyst</a:t>
            </a:r>
            <a:endParaRPr lang="en-US" sz="850" dirty="0"/>
          </a:p>
        </p:txBody>
      </p:sp>
      <p:sp>
        <p:nvSpPr>
          <p:cNvPr id="27" name="Shape 25"/>
          <p:cNvSpPr/>
          <p:nvPr/>
        </p:nvSpPr>
        <p:spPr>
          <a:xfrm>
            <a:off x="502920" y="1691640"/>
            <a:ext cx="1417320" cy="274320"/>
          </a:xfrm>
          <a:prstGeom prst="rect">
            <a:avLst/>
          </a:prstGeom>
          <a:solidFill>
            <a:srgbClr val="F5F5F5"/>
          </a:solidFill>
          <a:ln w="3810">
            <a:solidFill>
              <a:srgbClr val="F0F0F0"/>
            </a:solidFill>
            <a:prstDash val="solid"/>
          </a:ln>
        </p:spPr>
        <p:txBody>
          <a:bodyPr/>
          <a:lstStyle/>
          <a:p>
            <a:endParaRPr lang="en-US"/>
          </a:p>
        </p:txBody>
      </p:sp>
      <p:sp>
        <p:nvSpPr>
          <p:cNvPr id="28" name="Text 26"/>
          <p:cNvSpPr/>
          <p:nvPr/>
        </p:nvSpPr>
        <p:spPr>
          <a:xfrm>
            <a:off x="557784" y="1691640"/>
            <a:ext cx="1307592" cy="274320"/>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Citation</a:t>
            </a:r>
            <a:endParaRPr lang="en-US" sz="850" dirty="0"/>
          </a:p>
        </p:txBody>
      </p:sp>
      <p:sp>
        <p:nvSpPr>
          <p:cNvPr id="29" name="Shape 27"/>
          <p:cNvSpPr/>
          <p:nvPr/>
        </p:nvSpPr>
        <p:spPr>
          <a:xfrm>
            <a:off x="1920240" y="1691640"/>
            <a:ext cx="2103120" cy="274320"/>
          </a:xfrm>
          <a:prstGeom prst="rect">
            <a:avLst/>
          </a:prstGeom>
          <a:solidFill>
            <a:srgbClr val="F5F5F5"/>
          </a:solidFill>
          <a:ln w="3810">
            <a:solidFill>
              <a:srgbClr val="F0F0F0"/>
            </a:solidFill>
            <a:prstDash val="solid"/>
          </a:ln>
        </p:spPr>
        <p:txBody>
          <a:bodyPr/>
          <a:lstStyle/>
          <a:p>
            <a:endParaRPr lang="en-US"/>
          </a:p>
        </p:txBody>
      </p:sp>
      <p:sp>
        <p:nvSpPr>
          <p:cNvPr id="30" name="Text 28"/>
          <p:cNvSpPr/>
          <p:nvPr/>
        </p:nvSpPr>
        <p:spPr>
          <a:xfrm>
            <a:off x="1975104" y="1691640"/>
            <a:ext cx="1993392" cy="274320"/>
          </a:xfrm>
          <a:prstGeom prst="rect">
            <a:avLst/>
          </a:prstGeom>
          <a:noFill/>
          <a:ln/>
        </p:spPr>
        <p:txBody>
          <a:bodyPr wrap="square" lIns="0" tIns="0" rIns="0" bIns="0" rtlCol="0" anchor="ctr"/>
          <a:lstStyle/>
          <a:p>
            <a:pPr marL="0" indent="0">
              <a:buNone/>
            </a:pPr>
            <a:r>
              <a:rPr lang="en-US" sz="850" dirty="0">
                <a:solidFill>
                  <a:srgbClr val="333333"/>
                </a:solidFill>
                <a:latin typeface="Courier New" pitchFamily="34" charset="0"/>
                <a:ea typeface="Courier New" pitchFamily="34" charset="-122"/>
                <a:cs typeface="Courier New" pitchFamily="34" charset="-120"/>
              </a:rPr>
              <a:t>citation_grounding_intent</a:t>
            </a:r>
            <a:endParaRPr lang="en-US" sz="850" dirty="0"/>
          </a:p>
        </p:txBody>
      </p:sp>
      <p:sp>
        <p:nvSpPr>
          <p:cNvPr id="31" name="Shape 29"/>
          <p:cNvSpPr/>
          <p:nvPr/>
        </p:nvSpPr>
        <p:spPr>
          <a:xfrm>
            <a:off x="4023360" y="1691640"/>
            <a:ext cx="2468880" cy="274320"/>
          </a:xfrm>
          <a:prstGeom prst="rect">
            <a:avLst/>
          </a:prstGeom>
          <a:solidFill>
            <a:srgbClr val="F5F5F5"/>
          </a:solidFill>
          <a:ln w="3810">
            <a:solidFill>
              <a:srgbClr val="F0F0F0"/>
            </a:solidFill>
            <a:prstDash val="solid"/>
          </a:ln>
        </p:spPr>
        <p:txBody>
          <a:bodyPr/>
          <a:lstStyle/>
          <a:p>
            <a:endParaRPr lang="en-US"/>
          </a:p>
        </p:txBody>
      </p:sp>
      <p:sp>
        <p:nvSpPr>
          <p:cNvPr id="32" name="Text 30"/>
          <p:cNvSpPr/>
          <p:nvPr/>
        </p:nvSpPr>
        <p:spPr>
          <a:xfrm>
            <a:off x="4078224" y="1691640"/>
            <a:ext cx="2359152" cy="274320"/>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"cite","sources","evidence"</a:t>
            </a:r>
            <a:endParaRPr lang="en-US" sz="850" dirty="0"/>
          </a:p>
        </p:txBody>
      </p:sp>
      <p:sp>
        <p:nvSpPr>
          <p:cNvPr id="33" name="Shape 31"/>
          <p:cNvSpPr/>
          <p:nvPr/>
        </p:nvSpPr>
        <p:spPr>
          <a:xfrm>
            <a:off x="6492240" y="1691640"/>
            <a:ext cx="2148840" cy="274320"/>
          </a:xfrm>
          <a:prstGeom prst="rect">
            <a:avLst/>
          </a:prstGeom>
          <a:solidFill>
            <a:srgbClr val="F5F5F5"/>
          </a:solidFill>
          <a:ln w="3810">
            <a:solidFill>
              <a:srgbClr val="F0F0F0"/>
            </a:solidFill>
            <a:prstDash val="solid"/>
          </a:ln>
        </p:spPr>
        <p:txBody>
          <a:bodyPr/>
          <a:lstStyle/>
          <a:p>
            <a:endParaRPr lang="en-US"/>
          </a:p>
        </p:txBody>
      </p:sp>
      <p:sp>
        <p:nvSpPr>
          <p:cNvPr id="34" name="Text 32"/>
          <p:cNvSpPr/>
          <p:nvPr/>
        </p:nvSpPr>
        <p:spPr>
          <a:xfrm>
            <a:off x="6547104" y="1691640"/>
            <a:ext cx="2039112" cy="274320"/>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-&gt; AGENT</a:t>
            </a:r>
            <a:endParaRPr lang="en-US" sz="850" dirty="0"/>
          </a:p>
        </p:txBody>
      </p:sp>
      <p:sp>
        <p:nvSpPr>
          <p:cNvPr id="35" name="Shape 33"/>
          <p:cNvSpPr/>
          <p:nvPr/>
        </p:nvSpPr>
        <p:spPr>
          <a:xfrm>
            <a:off x="502920" y="1965960"/>
            <a:ext cx="1417320" cy="274320"/>
          </a:xfrm>
          <a:prstGeom prst="rect">
            <a:avLst/>
          </a:prstGeom>
          <a:solidFill>
            <a:srgbClr val="FFFFFF"/>
          </a:solidFill>
          <a:ln w="3810">
            <a:solidFill>
              <a:srgbClr val="F0F0F0"/>
            </a:solidFill>
            <a:prstDash val="solid"/>
          </a:ln>
        </p:spPr>
        <p:txBody>
          <a:bodyPr/>
          <a:lstStyle/>
          <a:p>
            <a:endParaRPr lang="en-US"/>
          </a:p>
        </p:txBody>
      </p:sp>
      <p:sp>
        <p:nvSpPr>
          <p:cNvPr id="36" name="Text 34"/>
          <p:cNvSpPr/>
          <p:nvPr/>
        </p:nvSpPr>
        <p:spPr>
          <a:xfrm>
            <a:off x="557784" y="1965960"/>
            <a:ext cx="1307592" cy="274320"/>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High Stakes</a:t>
            </a:r>
            <a:endParaRPr lang="en-US" sz="850" dirty="0"/>
          </a:p>
        </p:txBody>
      </p:sp>
      <p:sp>
        <p:nvSpPr>
          <p:cNvPr id="37" name="Shape 35"/>
          <p:cNvSpPr/>
          <p:nvPr/>
        </p:nvSpPr>
        <p:spPr>
          <a:xfrm>
            <a:off x="1920240" y="1965960"/>
            <a:ext cx="2103120" cy="274320"/>
          </a:xfrm>
          <a:prstGeom prst="rect">
            <a:avLst/>
          </a:prstGeom>
          <a:solidFill>
            <a:srgbClr val="FFFFFF"/>
          </a:solidFill>
          <a:ln w="3810">
            <a:solidFill>
              <a:srgbClr val="F0F0F0"/>
            </a:solidFill>
            <a:prstDash val="solid"/>
          </a:ln>
        </p:spPr>
        <p:txBody>
          <a:bodyPr/>
          <a:lstStyle/>
          <a:p>
            <a:endParaRPr lang="en-US"/>
          </a:p>
        </p:txBody>
      </p:sp>
      <p:sp>
        <p:nvSpPr>
          <p:cNvPr id="38" name="Text 36"/>
          <p:cNvSpPr/>
          <p:nvPr/>
        </p:nvSpPr>
        <p:spPr>
          <a:xfrm>
            <a:off x="1975104" y="1965960"/>
            <a:ext cx="1993392" cy="274320"/>
          </a:xfrm>
          <a:prstGeom prst="rect">
            <a:avLst/>
          </a:prstGeom>
          <a:noFill/>
          <a:ln/>
        </p:spPr>
        <p:txBody>
          <a:bodyPr wrap="square" lIns="0" tIns="0" rIns="0" bIns="0" rtlCol="0" anchor="ctr"/>
          <a:lstStyle/>
          <a:p>
            <a:pPr marL="0" indent="0">
              <a:buNone/>
            </a:pPr>
            <a:r>
              <a:rPr lang="en-US" sz="850" dirty="0">
                <a:solidFill>
                  <a:srgbClr val="333333"/>
                </a:solidFill>
                <a:latin typeface="Courier New" pitchFamily="34" charset="0"/>
                <a:ea typeface="Courier New" pitchFamily="34" charset="-122"/>
                <a:cs typeface="Courier New" pitchFamily="34" charset="-120"/>
              </a:rPr>
              <a:t>high_stakes_intent</a:t>
            </a:r>
            <a:endParaRPr lang="en-US" sz="850" dirty="0"/>
          </a:p>
        </p:txBody>
      </p:sp>
      <p:sp>
        <p:nvSpPr>
          <p:cNvPr id="39" name="Shape 37"/>
          <p:cNvSpPr/>
          <p:nvPr/>
        </p:nvSpPr>
        <p:spPr>
          <a:xfrm>
            <a:off x="4023360" y="1965960"/>
            <a:ext cx="2468880" cy="274320"/>
          </a:xfrm>
          <a:prstGeom prst="rect">
            <a:avLst/>
          </a:prstGeom>
          <a:solidFill>
            <a:srgbClr val="FFFFFF"/>
          </a:solidFill>
          <a:ln w="3810">
            <a:solidFill>
              <a:srgbClr val="F0F0F0"/>
            </a:solidFill>
            <a:prstDash val="solid"/>
          </a:ln>
        </p:spPr>
        <p:txBody>
          <a:bodyPr/>
          <a:lstStyle/>
          <a:p>
            <a:endParaRPr lang="en-US"/>
          </a:p>
        </p:txBody>
      </p:sp>
      <p:sp>
        <p:nvSpPr>
          <p:cNvPr id="40" name="Text 38"/>
          <p:cNvSpPr/>
          <p:nvPr/>
        </p:nvSpPr>
        <p:spPr>
          <a:xfrm>
            <a:off x="4078224" y="1965960"/>
            <a:ext cx="2359152" cy="274320"/>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"medical","legal","financial"</a:t>
            </a:r>
            <a:endParaRPr lang="en-US" sz="850" dirty="0"/>
          </a:p>
        </p:txBody>
      </p:sp>
      <p:sp>
        <p:nvSpPr>
          <p:cNvPr id="41" name="Shape 39"/>
          <p:cNvSpPr/>
          <p:nvPr/>
        </p:nvSpPr>
        <p:spPr>
          <a:xfrm>
            <a:off x="6492240" y="1965960"/>
            <a:ext cx="2148840" cy="274320"/>
          </a:xfrm>
          <a:prstGeom prst="rect">
            <a:avLst/>
          </a:prstGeom>
          <a:solidFill>
            <a:srgbClr val="FFFFFF"/>
          </a:solidFill>
          <a:ln w="3810">
            <a:solidFill>
              <a:srgbClr val="F0F0F0"/>
            </a:solidFill>
            <a:prstDash val="solid"/>
          </a:ln>
        </p:spPr>
        <p:txBody>
          <a:bodyPr/>
          <a:lstStyle/>
          <a:p>
            <a:endParaRPr lang="en-US"/>
          </a:p>
        </p:txBody>
      </p:sp>
      <p:sp>
        <p:nvSpPr>
          <p:cNvPr id="42" name="Text 40"/>
          <p:cNvSpPr/>
          <p:nvPr/>
        </p:nvSpPr>
        <p:spPr>
          <a:xfrm>
            <a:off x="6547104" y="1965960"/>
            <a:ext cx="2039112" cy="274320"/>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-&gt; AGENT (high conf)</a:t>
            </a:r>
            <a:endParaRPr lang="en-US" sz="850" dirty="0"/>
          </a:p>
        </p:txBody>
      </p:sp>
      <p:sp>
        <p:nvSpPr>
          <p:cNvPr id="43" name="Shape 41"/>
          <p:cNvSpPr/>
          <p:nvPr/>
        </p:nvSpPr>
        <p:spPr>
          <a:xfrm>
            <a:off x="502920" y="2240280"/>
            <a:ext cx="1417320" cy="274320"/>
          </a:xfrm>
          <a:prstGeom prst="rect">
            <a:avLst/>
          </a:prstGeom>
          <a:solidFill>
            <a:srgbClr val="F5F5F5"/>
          </a:solidFill>
          <a:ln w="3810">
            <a:solidFill>
              <a:srgbClr val="F0F0F0"/>
            </a:solidFill>
            <a:prstDash val="solid"/>
          </a:ln>
        </p:spPr>
        <p:txBody>
          <a:bodyPr/>
          <a:lstStyle/>
          <a:p>
            <a:endParaRPr lang="en-US"/>
          </a:p>
        </p:txBody>
      </p:sp>
      <p:sp>
        <p:nvSpPr>
          <p:cNvPr id="44" name="Text 42"/>
          <p:cNvSpPr/>
          <p:nvPr/>
        </p:nvSpPr>
        <p:spPr>
          <a:xfrm>
            <a:off x="557784" y="2240280"/>
            <a:ext cx="1307592" cy="274320"/>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Coordinator</a:t>
            </a:r>
            <a:endParaRPr lang="en-US" sz="850" dirty="0"/>
          </a:p>
        </p:txBody>
      </p:sp>
      <p:sp>
        <p:nvSpPr>
          <p:cNvPr id="45" name="Shape 43"/>
          <p:cNvSpPr/>
          <p:nvPr/>
        </p:nvSpPr>
        <p:spPr>
          <a:xfrm>
            <a:off x="1920240" y="2240280"/>
            <a:ext cx="2103120" cy="274320"/>
          </a:xfrm>
          <a:prstGeom prst="rect">
            <a:avLst/>
          </a:prstGeom>
          <a:solidFill>
            <a:srgbClr val="F5F5F5"/>
          </a:solidFill>
          <a:ln w="3810">
            <a:solidFill>
              <a:srgbClr val="F0F0F0"/>
            </a:solidFill>
            <a:prstDash val="solid"/>
          </a:ln>
        </p:spPr>
        <p:txBody>
          <a:bodyPr/>
          <a:lstStyle/>
          <a:p>
            <a:endParaRPr lang="en-US"/>
          </a:p>
        </p:txBody>
      </p:sp>
      <p:sp>
        <p:nvSpPr>
          <p:cNvPr id="46" name="Text 44"/>
          <p:cNvSpPr/>
          <p:nvPr/>
        </p:nvSpPr>
        <p:spPr>
          <a:xfrm>
            <a:off x="1975104" y="2240280"/>
            <a:ext cx="1993392" cy="274320"/>
          </a:xfrm>
          <a:prstGeom prst="rect">
            <a:avLst/>
          </a:prstGeom>
          <a:noFill/>
          <a:ln/>
        </p:spPr>
        <p:txBody>
          <a:bodyPr wrap="square" lIns="0" tIns="0" rIns="0" bIns="0" rtlCol="0" anchor="ctr"/>
          <a:lstStyle/>
          <a:p>
            <a:pPr marL="0" indent="0">
              <a:buNone/>
            </a:pPr>
            <a:r>
              <a:rPr lang="en-US" sz="850" dirty="0">
                <a:solidFill>
                  <a:srgbClr val="333333"/>
                </a:solidFill>
                <a:latin typeface="Courier New" pitchFamily="34" charset="0"/>
                <a:ea typeface="Courier New" pitchFamily="34" charset="-122"/>
                <a:cs typeface="Courier New" pitchFamily="34" charset="-120"/>
              </a:rPr>
              <a:t>coordinator_campaign_intent</a:t>
            </a:r>
            <a:endParaRPr lang="en-US" sz="850" dirty="0"/>
          </a:p>
        </p:txBody>
      </p:sp>
      <p:sp>
        <p:nvSpPr>
          <p:cNvPr id="47" name="Shape 45"/>
          <p:cNvSpPr/>
          <p:nvPr/>
        </p:nvSpPr>
        <p:spPr>
          <a:xfrm>
            <a:off x="4023360" y="2240280"/>
            <a:ext cx="2468880" cy="274320"/>
          </a:xfrm>
          <a:prstGeom prst="rect">
            <a:avLst/>
          </a:prstGeom>
          <a:solidFill>
            <a:srgbClr val="F5F5F5"/>
          </a:solidFill>
          <a:ln w="3810">
            <a:solidFill>
              <a:srgbClr val="F0F0F0"/>
            </a:solidFill>
            <a:prstDash val="solid"/>
          </a:ln>
        </p:spPr>
        <p:txBody>
          <a:bodyPr/>
          <a:lstStyle/>
          <a:p>
            <a:endParaRPr lang="en-US"/>
          </a:p>
        </p:txBody>
      </p:sp>
      <p:sp>
        <p:nvSpPr>
          <p:cNvPr id="48" name="Text 46"/>
          <p:cNvSpPr/>
          <p:nvPr/>
        </p:nvSpPr>
        <p:spPr>
          <a:xfrm>
            <a:off x="4078224" y="2240280"/>
            <a:ext cx="2359152" cy="274320"/>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"compare","multi-step"</a:t>
            </a:r>
            <a:endParaRPr lang="en-US" sz="850" dirty="0"/>
          </a:p>
        </p:txBody>
      </p:sp>
      <p:sp>
        <p:nvSpPr>
          <p:cNvPr id="49" name="Shape 47"/>
          <p:cNvSpPr/>
          <p:nvPr/>
        </p:nvSpPr>
        <p:spPr>
          <a:xfrm>
            <a:off x="6492240" y="2240280"/>
            <a:ext cx="2148840" cy="274320"/>
          </a:xfrm>
          <a:prstGeom prst="rect">
            <a:avLst/>
          </a:prstGeom>
          <a:solidFill>
            <a:srgbClr val="F5F5F5"/>
          </a:solidFill>
          <a:ln w="3810">
            <a:solidFill>
              <a:srgbClr val="F0F0F0"/>
            </a:solidFill>
            <a:prstDash val="solid"/>
          </a:ln>
        </p:spPr>
        <p:txBody>
          <a:bodyPr/>
          <a:lstStyle/>
          <a:p>
            <a:endParaRPr lang="en-US"/>
          </a:p>
        </p:txBody>
      </p:sp>
      <p:sp>
        <p:nvSpPr>
          <p:cNvPr id="50" name="Text 48"/>
          <p:cNvSpPr/>
          <p:nvPr/>
        </p:nvSpPr>
        <p:spPr>
          <a:xfrm>
            <a:off x="6547104" y="2240280"/>
            <a:ext cx="2039112" cy="274320"/>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-&gt; coordinator</a:t>
            </a:r>
            <a:endParaRPr lang="en-US" sz="850" dirty="0"/>
          </a:p>
        </p:txBody>
      </p:sp>
      <p:sp>
        <p:nvSpPr>
          <p:cNvPr id="51" name="Shape 49"/>
          <p:cNvSpPr/>
          <p:nvPr/>
        </p:nvSpPr>
        <p:spPr>
          <a:xfrm>
            <a:off x="502920" y="2514600"/>
            <a:ext cx="1417320" cy="274320"/>
          </a:xfrm>
          <a:prstGeom prst="rect">
            <a:avLst/>
          </a:prstGeom>
          <a:solidFill>
            <a:srgbClr val="FFFFFF"/>
          </a:solidFill>
          <a:ln w="3810">
            <a:solidFill>
              <a:srgbClr val="F0F0F0"/>
            </a:solidFill>
            <a:prstDash val="solid"/>
          </a:ln>
        </p:spPr>
        <p:txBody>
          <a:bodyPr/>
          <a:lstStyle/>
          <a:p>
            <a:endParaRPr lang="en-US"/>
          </a:p>
        </p:txBody>
      </p:sp>
      <p:sp>
        <p:nvSpPr>
          <p:cNvPr id="52" name="Text 50"/>
          <p:cNvSpPr/>
          <p:nvPr/>
        </p:nvSpPr>
        <p:spPr>
          <a:xfrm>
            <a:off x="557784" y="2514600"/>
            <a:ext cx="1307592" cy="274320"/>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RAG</a:t>
            </a:r>
            <a:endParaRPr lang="en-US" sz="850" dirty="0"/>
          </a:p>
        </p:txBody>
      </p:sp>
      <p:sp>
        <p:nvSpPr>
          <p:cNvPr id="53" name="Shape 51"/>
          <p:cNvSpPr/>
          <p:nvPr/>
        </p:nvSpPr>
        <p:spPr>
          <a:xfrm>
            <a:off x="1920240" y="2514600"/>
            <a:ext cx="2103120" cy="274320"/>
          </a:xfrm>
          <a:prstGeom prst="rect">
            <a:avLst/>
          </a:prstGeom>
          <a:solidFill>
            <a:srgbClr val="FFFFFF"/>
          </a:solidFill>
          <a:ln w="3810">
            <a:solidFill>
              <a:srgbClr val="F0F0F0"/>
            </a:solidFill>
            <a:prstDash val="solid"/>
          </a:ln>
        </p:spPr>
        <p:txBody>
          <a:bodyPr/>
          <a:lstStyle/>
          <a:p>
            <a:endParaRPr lang="en-US"/>
          </a:p>
        </p:txBody>
      </p:sp>
      <p:sp>
        <p:nvSpPr>
          <p:cNvPr id="54" name="Text 52"/>
          <p:cNvSpPr/>
          <p:nvPr/>
        </p:nvSpPr>
        <p:spPr>
          <a:xfrm>
            <a:off x="1975104" y="2514600"/>
            <a:ext cx="1993392" cy="274320"/>
          </a:xfrm>
          <a:prstGeom prst="rect">
            <a:avLst/>
          </a:prstGeom>
          <a:noFill/>
          <a:ln/>
        </p:spPr>
        <p:txBody>
          <a:bodyPr wrap="square" lIns="0" tIns="0" rIns="0" bIns="0" rtlCol="0" anchor="ctr"/>
          <a:lstStyle/>
          <a:p>
            <a:pPr marL="0" indent="0">
              <a:buNone/>
            </a:pPr>
            <a:r>
              <a:rPr lang="en-US" sz="850" dirty="0">
                <a:solidFill>
                  <a:srgbClr val="333333"/>
                </a:solidFill>
                <a:latin typeface="Courier New" pitchFamily="34" charset="0"/>
                <a:ea typeface="Courier New" pitchFamily="34" charset="-122"/>
                <a:cs typeface="Courier New" pitchFamily="34" charset="-120"/>
              </a:rPr>
              <a:t>rag_grounding_intent</a:t>
            </a:r>
            <a:endParaRPr lang="en-US" sz="850" dirty="0"/>
          </a:p>
        </p:txBody>
      </p:sp>
      <p:sp>
        <p:nvSpPr>
          <p:cNvPr id="55" name="Shape 53"/>
          <p:cNvSpPr/>
          <p:nvPr/>
        </p:nvSpPr>
        <p:spPr>
          <a:xfrm>
            <a:off x="4023360" y="2514600"/>
            <a:ext cx="2468880" cy="274320"/>
          </a:xfrm>
          <a:prstGeom prst="rect">
            <a:avLst/>
          </a:prstGeom>
          <a:solidFill>
            <a:srgbClr val="FFFFFF"/>
          </a:solidFill>
          <a:ln w="3810">
            <a:solidFill>
              <a:srgbClr val="F0F0F0"/>
            </a:solidFill>
            <a:prstDash val="solid"/>
          </a:ln>
        </p:spPr>
        <p:txBody>
          <a:bodyPr/>
          <a:lstStyle/>
          <a:p>
            <a:endParaRPr lang="en-US"/>
          </a:p>
        </p:txBody>
      </p:sp>
      <p:sp>
        <p:nvSpPr>
          <p:cNvPr id="56" name="Text 54"/>
          <p:cNvSpPr/>
          <p:nvPr/>
        </p:nvSpPr>
        <p:spPr>
          <a:xfrm>
            <a:off x="4078224" y="2514600"/>
            <a:ext cx="2359152" cy="274320"/>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"document","policy","playbook"</a:t>
            </a:r>
            <a:endParaRPr lang="en-US" sz="850" dirty="0"/>
          </a:p>
        </p:txBody>
      </p:sp>
      <p:sp>
        <p:nvSpPr>
          <p:cNvPr id="57" name="Shape 55"/>
          <p:cNvSpPr/>
          <p:nvPr/>
        </p:nvSpPr>
        <p:spPr>
          <a:xfrm>
            <a:off x="6492240" y="2514600"/>
            <a:ext cx="2148840" cy="274320"/>
          </a:xfrm>
          <a:prstGeom prst="rect">
            <a:avLst/>
          </a:prstGeom>
          <a:solidFill>
            <a:srgbClr val="FFFFFF"/>
          </a:solidFill>
          <a:ln w="3810">
            <a:solidFill>
              <a:srgbClr val="F0F0F0"/>
            </a:solidFill>
            <a:prstDash val="solid"/>
          </a:ln>
        </p:spPr>
        <p:txBody>
          <a:bodyPr/>
          <a:lstStyle/>
          <a:p>
            <a:endParaRPr lang="en-US"/>
          </a:p>
        </p:txBody>
      </p:sp>
      <p:sp>
        <p:nvSpPr>
          <p:cNvPr id="58" name="Text 56"/>
          <p:cNvSpPr/>
          <p:nvPr/>
        </p:nvSpPr>
        <p:spPr>
          <a:xfrm>
            <a:off x="6547104" y="2514600"/>
            <a:ext cx="2039112" cy="274320"/>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-&gt; rag_worker</a:t>
            </a:r>
            <a:endParaRPr lang="en-US" sz="850" dirty="0"/>
          </a:p>
        </p:txBody>
      </p:sp>
      <p:sp>
        <p:nvSpPr>
          <p:cNvPr id="59" name="Shape 57"/>
          <p:cNvSpPr/>
          <p:nvPr/>
        </p:nvSpPr>
        <p:spPr>
          <a:xfrm>
            <a:off x="502920" y="2788920"/>
            <a:ext cx="1417320" cy="274320"/>
          </a:xfrm>
          <a:prstGeom prst="rect">
            <a:avLst/>
          </a:prstGeom>
          <a:solidFill>
            <a:srgbClr val="F5F5F5"/>
          </a:solidFill>
          <a:ln w="3810">
            <a:solidFill>
              <a:srgbClr val="F0F0F0"/>
            </a:solidFill>
            <a:prstDash val="solid"/>
          </a:ln>
        </p:spPr>
        <p:txBody>
          <a:bodyPr/>
          <a:lstStyle/>
          <a:p>
            <a:endParaRPr lang="en-US"/>
          </a:p>
        </p:txBody>
      </p:sp>
      <p:sp>
        <p:nvSpPr>
          <p:cNvPr id="60" name="Text 58"/>
          <p:cNvSpPr/>
          <p:nvPr/>
        </p:nvSpPr>
        <p:spPr>
          <a:xfrm>
            <a:off x="557784" y="2788920"/>
            <a:ext cx="1307592" cy="274320"/>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KB Inventory</a:t>
            </a:r>
            <a:endParaRPr lang="en-US" sz="850" dirty="0"/>
          </a:p>
        </p:txBody>
      </p:sp>
      <p:sp>
        <p:nvSpPr>
          <p:cNvPr id="61" name="Shape 59"/>
          <p:cNvSpPr/>
          <p:nvPr/>
        </p:nvSpPr>
        <p:spPr>
          <a:xfrm>
            <a:off x="1920240" y="2788920"/>
            <a:ext cx="2103120" cy="274320"/>
          </a:xfrm>
          <a:prstGeom prst="rect">
            <a:avLst/>
          </a:prstGeom>
          <a:solidFill>
            <a:srgbClr val="F5F5F5"/>
          </a:solidFill>
          <a:ln w="3810">
            <a:solidFill>
              <a:srgbClr val="F0F0F0"/>
            </a:solidFill>
            <a:prstDash val="solid"/>
          </a:ln>
        </p:spPr>
        <p:txBody>
          <a:bodyPr/>
          <a:lstStyle/>
          <a:p>
            <a:endParaRPr lang="en-US"/>
          </a:p>
        </p:txBody>
      </p:sp>
      <p:sp>
        <p:nvSpPr>
          <p:cNvPr id="62" name="Text 60"/>
          <p:cNvSpPr/>
          <p:nvPr/>
        </p:nvSpPr>
        <p:spPr>
          <a:xfrm>
            <a:off x="1975104" y="2788920"/>
            <a:ext cx="1993392" cy="274320"/>
          </a:xfrm>
          <a:prstGeom prst="rect">
            <a:avLst/>
          </a:prstGeom>
          <a:noFill/>
          <a:ln/>
        </p:spPr>
        <p:txBody>
          <a:bodyPr wrap="square" lIns="0" tIns="0" rIns="0" bIns="0" rtlCol="0" anchor="ctr"/>
          <a:lstStyle/>
          <a:p>
            <a:pPr marL="0" indent="0">
              <a:buNone/>
            </a:pPr>
            <a:r>
              <a:rPr lang="en-US" sz="850" dirty="0">
                <a:solidFill>
                  <a:srgbClr val="333333"/>
                </a:solidFill>
                <a:latin typeface="Courier New" pitchFamily="34" charset="0"/>
                <a:ea typeface="Courier New" pitchFamily="34" charset="-122"/>
                <a:cs typeface="Courier New" pitchFamily="34" charset="-120"/>
              </a:rPr>
              <a:t>kb_inventory_intent</a:t>
            </a:r>
            <a:endParaRPr lang="en-US" sz="850" dirty="0"/>
          </a:p>
        </p:txBody>
      </p:sp>
      <p:sp>
        <p:nvSpPr>
          <p:cNvPr id="63" name="Shape 61"/>
          <p:cNvSpPr/>
          <p:nvPr/>
        </p:nvSpPr>
        <p:spPr>
          <a:xfrm>
            <a:off x="4023360" y="2788920"/>
            <a:ext cx="2468880" cy="274320"/>
          </a:xfrm>
          <a:prstGeom prst="rect">
            <a:avLst/>
          </a:prstGeom>
          <a:solidFill>
            <a:srgbClr val="F5F5F5"/>
          </a:solidFill>
          <a:ln w="3810">
            <a:solidFill>
              <a:srgbClr val="F0F0F0"/>
            </a:solidFill>
            <a:prstDash val="solid"/>
          </a:ln>
        </p:spPr>
        <p:txBody>
          <a:bodyPr/>
          <a:lstStyle/>
          <a:p>
            <a:endParaRPr lang="en-US"/>
          </a:p>
        </p:txBody>
      </p:sp>
      <p:sp>
        <p:nvSpPr>
          <p:cNvPr id="64" name="Text 62"/>
          <p:cNvSpPr/>
          <p:nvPr/>
        </p:nvSpPr>
        <p:spPr>
          <a:xfrm>
            <a:off x="4078224" y="2788920"/>
            <a:ext cx="2359152" cy="274320"/>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"list docs","what documents"</a:t>
            </a:r>
            <a:endParaRPr lang="en-US" sz="850" dirty="0"/>
          </a:p>
        </p:txBody>
      </p:sp>
      <p:sp>
        <p:nvSpPr>
          <p:cNvPr id="65" name="Shape 63"/>
          <p:cNvSpPr/>
          <p:nvPr/>
        </p:nvSpPr>
        <p:spPr>
          <a:xfrm>
            <a:off x="6492240" y="2788920"/>
            <a:ext cx="2148840" cy="274320"/>
          </a:xfrm>
          <a:prstGeom prst="rect">
            <a:avLst/>
          </a:prstGeom>
          <a:solidFill>
            <a:srgbClr val="F5F5F5"/>
          </a:solidFill>
          <a:ln w="3810">
            <a:solidFill>
              <a:srgbClr val="F0F0F0"/>
            </a:solidFill>
            <a:prstDash val="solid"/>
          </a:ln>
        </p:spPr>
        <p:txBody>
          <a:bodyPr/>
          <a:lstStyle/>
          <a:p>
            <a:endParaRPr lang="en-US"/>
          </a:p>
        </p:txBody>
      </p:sp>
      <p:sp>
        <p:nvSpPr>
          <p:cNvPr id="66" name="Text 64"/>
          <p:cNvSpPr/>
          <p:nvPr/>
        </p:nvSpPr>
        <p:spPr>
          <a:xfrm>
            <a:off x="6547104" y="2788920"/>
            <a:ext cx="2039112" cy="274320"/>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-&gt; rag_worker</a:t>
            </a:r>
            <a:endParaRPr lang="en-US" sz="850" dirty="0"/>
          </a:p>
        </p:txBody>
      </p:sp>
      <p:sp>
        <p:nvSpPr>
          <p:cNvPr id="67" name="Shape 65"/>
          <p:cNvSpPr/>
          <p:nvPr/>
        </p:nvSpPr>
        <p:spPr>
          <a:xfrm>
            <a:off x="502920" y="3154680"/>
            <a:ext cx="8138160" cy="347472"/>
          </a:xfrm>
          <a:prstGeom prst="rect">
            <a:avLst/>
          </a:prstGeom>
          <a:solidFill>
            <a:srgbClr val="E0F7FA"/>
          </a:solidFill>
          <a:ln w="12700">
            <a:solidFill>
              <a:srgbClr val="0097A7"/>
            </a:solidFill>
            <a:prstDash val="solid"/>
          </a:ln>
        </p:spPr>
        <p:txBody>
          <a:bodyPr/>
          <a:lstStyle/>
          <a:p>
            <a:endParaRPr lang="en-US"/>
          </a:p>
        </p:txBody>
      </p:sp>
      <p:sp>
        <p:nvSpPr>
          <p:cNvPr id="68" name="Text 66"/>
          <p:cNvSpPr/>
          <p:nvPr/>
        </p:nvSpPr>
        <p:spPr>
          <a:xfrm>
            <a:off x="594360" y="3154680"/>
            <a:ext cx="7955280" cy="347472"/>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If no patterns match AND text &lt; 600 chars -&gt; BASIC route with 0.85 confidence. Attachments always route to AGENT (confidence=1.0).</a:t>
            </a:r>
            <a:endParaRPr lang="en-US" sz="1000" dirty="0"/>
          </a:p>
        </p:txBody>
      </p:sp>
      <p:sp>
        <p:nvSpPr>
          <p:cNvPr id="69" name="Text 67"/>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router/patterns.py, router/router.py</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LLM Judge — When Regex Isn't Enough</a:t>
            </a:r>
            <a:endParaRPr lang="en-US" sz="2600" dirty="0"/>
          </a:p>
        </p:txBody>
      </p:sp>
      <p:sp>
        <p:nvSpPr>
          <p:cNvPr id="3" name="Shape 1"/>
          <p:cNvSpPr/>
          <p:nvPr/>
        </p:nvSpPr>
        <p:spPr>
          <a:xfrm>
            <a:off x="365760" y="1280160"/>
            <a:ext cx="2011680" cy="731520"/>
          </a:xfrm>
          <a:prstGeom prst="rect">
            <a:avLst/>
          </a:prstGeom>
          <a:solidFill>
            <a:srgbClr val="F9A825"/>
          </a:solidFill>
          <a:ln/>
          <a:effectLst>
            <a:outerShdw blurRad="50800" dist="25400" dir="8100000" algn="bl" rotWithShape="0">
              <a:srgbClr val="000000">
                <a:alpha val="12000"/>
              </a:srgbClr>
            </a:outerShdw>
          </a:effectLst>
        </p:spPr>
        <p:txBody>
          <a:bodyPr/>
          <a:lstStyle/>
          <a:p>
            <a:endParaRPr lang="en-US"/>
          </a:p>
        </p:txBody>
      </p:sp>
      <p:sp>
        <p:nvSpPr>
          <p:cNvPr id="4" name="Text 2"/>
          <p:cNvSpPr/>
          <p:nvPr/>
        </p:nvSpPr>
        <p:spPr>
          <a:xfrm>
            <a:off x="365760" y="1280160"/>
            <a:ext cx="2011680" cy="73152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Deterministic</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confidence &lt; 0.70</a:t>
            </a:r>
            <a:endParaRPr lang="en-US" sz="1000" dirty="0"/>
          </a:p>
        </p:txBody>
      </p:sp>
      <p:sp>
        <p:nvSpPr>
          <p:cNvPr id="5" name="Shape 3"/>
          <p:cNvSpPr/>
          <p:nvPr/>
        </p:nvSpPr>
        <p:spPr>
          <a:xfrm>
            <a:off x="2377440" y="1645920"/>
            <a:ext cx="274320" cy="0"/>
          </a:xfrm>
          <a:prstGeom prst="line">
            <a:avLst/>
          </a:prstGeom>
          <a:noFill/>
          <a:ln w="25400">
            <a:solidFill>
              <a:srgbClr val="0097A7"/>
            </a:solidFill>
            <a:prstDash val="solid"/>
          </a:ln>
        </p:spPr>
        <p:txBody>
          <a:bodyPr/>
          <a:lstStyle/>
          <a:p>
            <a:endParaRPr lang="en-US"/>
          </a:p>
        </p:txBody>
      </p:sp>
      <p:sp>
        <p:nvSpPr>
          <p:cNvPr id="6" name="Text 4"/>
          <p:cNvSpPr/>
          <p:nvPr/>
        </p:nvSpPr>
        <p:spPr>
          <a:xfrm>
            <a:off x="2542032" y="153619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7" name="Shape 5"/>
          <p:cNvSpPr/>
          <p:nvPr/>
        </p:nvSpPr>
        <p:spPr>
          <a:xfrm>
            <a:off x="2651760" y="1280160"/>
            <a:ext cx="2011680" cy="73152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8" name="Text 6"/>
          <p:cNvSpPr/>
          <p:nvPr/>
        </p:nvSpPr>
        <p:spPr>
          <a:xfrm>
            <a:off x="2651760" y="1280160"/>
            <a:ext cx="2011680" cy="73152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LLM receives:</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user_text +</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history_summary +</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agent descriptions</a:t>
            </a:r>
            <a:endParaRPr lang="en-US" sz="1000" dirty="0"/>
          </a:p>
        </p:txBody>
      </p:sp>
      <p:sp>
        <p:nvSpPr>
          <p:cNvPr id="9" name="Shape 7"/>
          <p:cNvSpPr/>
          <p:nvPr/>
        </p:nvSpPr>
        <p:spPr>
          <a:xfrm>
            <a:off x="4663440" y="1645920"/>
            <a:ext cx="274320" cy="0"/>
          </a:xfrm>
          <a:prstGeom prst="line">
            <a:avLst/>
          </a:prstGeom>
          <a:noFill/>
          <a:ln w="25400">
            <a:solidFill>
              <a:srgbClr val="0097A7"/>
            </a:solidFill>
            <a:prstDash val="solid"/>
          </a:ln>
        </p:spPr>
        <p:txBody>
          <a:bodyPr/>
          <a:lstStyle/>
          <a:p>
            <a:endParaRPr lang="en-US"/>
          </a:p>
        </p:txBody>
      </p:sp>
      <p:sp>
        <p:nvSpPr>
          <p:cNvPr id="10" name="Text 8"/>
          <p:cNvSpPr/>
          <p:nvPr/>
        </p:nvSpPr>
        <p:spPr>
          <a:xfrm>
            <a:off x="4828032" y="153619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1" name="Shape 9"/>
          <p:cNvSpPr/>
          <p:nvPr/>
        </p:nvSpPr>
        <p:spPr>
          <a:xfrm>
            <a:off x="4937760" y="1280160"/>
            <a:ext cx="2011680" cy="73152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12" name="Text 10"/>
          <p:cNvSpPr/>
          <p:nvPr/>
        </p:nvSpPr>
        <p:spPr>
          <a:xfrm>
            <a:off x="4937760" y="1280160"/>
            <a:ext cx="2011680" cy="73152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LLM outputs:</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route + agent +</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confidence +</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reasoning</a:t>
            </a:r>
            <a:endParaRPr lang="en-US" sz="1000" dirty="0"/>
          </a:p>
        </p:txBody>
      </p:sp>
      <p:sp>
        <p:nvSpPr>
          <p:cNvPr id="13" name="Shape 11"/>
          <p:cNvSpPr/>
          <p:nvPr/>
        </p:nvSpPr>
        <p:spPr>
          <a:xfrm>
            <a:off x="6949440" y="1645920"/>
            <a:ext cx="274320" cy="0"/>
          </a:xfrm>
          <a:prstGeom prst="line">
            <a:avLst/>
          </a:prstGeom>
          <a:noFill/>
          <a:ln w="25400">
            <a:solidFill>
              <a:srgbClr val="0097A7"/>
            </a:solidFill>
            <a:prstDash val="solid"/>
          </a:ln>
        </p:spPr>
        <p:txBody>
          <a:bodyPr/>
          <a:lstStyle/>
          <a:p>
            <a:endParaRPr lang="en-US"/>
          </a:p>
        </p:txBody>
      </p:sp>
      <p:sp>
        <p:nvSpPr>
          <p:cNvPr id="14" name="Text 12"/>
          <p:cNvSpPr/>
          <p:nvPr/>
        </p:nvSpPr>
        <p:spPr>
          <a:xfrm>
            <a:off x="7114032" y="153619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5" name="Shape 13"/>
          <p:cNvSpPr/>
          <p:nvPr/>
        </p:nvSpPr>
        <p:spPr>
          <a:xfrm>
            <a:off x="7223760" y="1280160"/>
            <a:ext cx="2011680" cy="73152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16" name="Text 14"/>
          <p:cNvSpPr/>
          <p:nvPr/>
        </p:nvSpPr>
        <p:spPr>
          <a:xfrm>
            <a:off x="7223760" y="1280160"/>
            <a:ext cx="2011680" cy="73152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Final decision</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merges LLM +</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deterministic</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signals</a:t>
            </a:r>
            <a:endParaRPr lang="en-US" sz="1000" dirty="0"/>
          </a:p>
        </p:txBody>
      </p:sp>
      <p:sp>
        <p:nvSpPr>
          <p:cNvPr id="17" name="Shape 15"/>
          <p:cNvSpPr/>
          <p:nvPr/>
        </p:nvSpPr>
        <p:spPr>
          <a:xfrm>
            <a:off x="502920" y="2560320"/>
            <a:ext cx="8138160" cy="365760"/>
          </a:xfrm>
          <a:prstGeom prst="rect">
            <a:avLst/>
          </a:prstGeom>
          <a:solidFill>
            <a:srgbClr val="E0F7FA"/>
          </a:solidFill>
          <a:ln w="12700">
            <a:solidFill>
              <a:srgbClr val="0097A7"/>
            </a:solidFill>
            <a:prstDash val="solid"/>
          </a:ln>
        </p:spPr>
        <p:txBody>
          <a:bodyPr/>
          <a:lstStyle/>
          <a:p>
            <a:endParaRPr lang="en-US"/>
          </a:p>
        </p:txBody>
      </p:sp>
      <p:sp>
        <p:nvSpPr>
          <p:cNvPr id="18" name="Text 16"/>
          <p:cNvSpPr/>
          <p:nvPr/>
        </p:nvSpPr>
        <p:spPr>
          <a:xfrm>
            <a:off x="594360" y="2560320"/>
            <a:ext cx="7955280" cy="36576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Uses Pydantic LLMRouterOutput with structured output. Falls back to text parsing if provider doesn't support structured output.</a:t>
            </a:r>
            <a:endParaRPr lang="en-US" sz="1000" dirty="0"/>
          </a:p>
        </p:txBody>
      </p:sp>
      <p:sp>
        <p:nvSpPr>
          <p:cNvPr id="19" name="Text 17"/>
          <p:cNvSpPr/>
          <p:nvPr/>
        </p:nvSpPr>
        <p:spPr>
          <a:xfrm>
            <a:off x="502920" y="3108960"/>
            <a:ext cx="8138160" cy="457200"/>
          </a:xfrm>
          <a:prstGeom prst="rect">
            <a:avLst/>
          </a:prstGeom>
          <a:noFill/>
          <a:ln/>
        </p:spPr>
        <p:txBody>
          <a:bodyPr wrap="square" lIns="0" tIns="0" rIns="0" bIns="0" rtlCol="0" anchor="ctr"/>
          <a:lstStyle/>
          <a:p>
            <a:pPr marL="0" indent="0">
              <a:buNone/>
            </a:pPr>
            <a:r>
              <a:rPr lang="en-US" sz="1100" b="1" dirty="0">
                <a:solidFill>
                  <a:srgbClr val="333333"/>
                </a:solidFill>
                <a:latin typeface="Arial" pitchFamily="34" charset="0"/>
                <a:ea typeface="Arial" pitchFamily="34" charset="-122"/>
                <a:cs typeface="Arial" pitchFamily="34" charset="-120"/>
              </a:rPr>
              <a:t>Example: </a:t>
            </a:r>
            <a:r>
              <a:rPr lang="en-US" sz="1100" dirty="0">
                <a:solidFill>
                  <a:srgbClr val="333333"/>
                </a:solidFill>
                <a:latin typeface="Arial" pitchFamily="34" charset="0"/>
                <a:ea typeface="Arial" pitchFamily="34" charset="-122"/>
                <a:cs typeface="Arial" pitchFamily="34" charset="-120"/>
              </a:rPr>
              <a:t>'What happened in last quarter's board meeting?' — no regex matches, but LLM judge recognizes it needs RAG retrieval and routes to rag_worker.</a:t>
            </a:r>
            <a:endParaRPr lang="en-US" sz="1100" dirty="0"/>
          </a:p>
        </p:txBody>
      </p:sp>
      <p:sp>
        <p:nvSpPr>
          <p:cNvPr id="20" name="Text 18"/>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router/llm_router.py (~430 lines)</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From Router Decision to Agent Name</a:t>
            </a:r>
            <a:endParaRPr lang="en-US" sz="2600" dirty="0"/>
          </a:p>
        </p:txBody>
      </p:sp>
      <p:sp>
        <p:nvSpPr>
          <p:cNvPr id="3" name="Shape 1"/>
          <p:cNvSpPr/>
          <p:nvPr/>
        </p:nvSpPr>
        <p:spPr>
          <a:xfrm>
            <a:off x="2057400" y="1051560"/>
            <a:ext cx="5029200" cy="45720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4" name="Text 2"/>
          <p:cNvSpPr/>
          <p:nvPr/>
        </p:nvSpPr>
        <p:spPr>
          <a:xfrm>
            <a:off x="2057400" y="1051560"/>
            <a:ext cx="502920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Router returns suggested_agent</a:t>
            </a:r>
            <a:endParaRPr lang="en-US" sz="1000" dirty="0"/>
          </a:p>
        </p:txBody>
      </p:sp>
      <p:sp>
        <p:nvSpPr>
          <p:cNvPr id="5" name="Shape 3"/>
          <p:cNvSpPr/>
          <p:nvPr/>
        </p:nvSpPr>
        <p:spPr>
          <a:xfrm>
            <a:off x="4572000" y="1508760"/>
            <a:ext cx="0" cy="137160"/>
          </a:xfrm>
          <a:prstGeom prst="line">
            <a:avLst/>
          </a:prstGeom>
          <a:noFill/>
          <a:ln w="25400">
            <a:solidFill>
              <a:srgbClr val="0097A7"/>
            </a:solidFill>
            <a:prstDash val="solid"/>
          </a:ln>
        </p:spPr>
        <p:txBody>
          <a:bodyPr/>
          <a:lstStyle/>
          <a:p>
            <a:endParaRPr lang="en-US"/>
          </a:p>
        </p:txBody>
      </p:sp>
      <p:sp>
        <p:nvSpPr>
          <p:cNvPr id="6" name="Text 4"/>
          <p:cNvSpPr/>
          <p:nvPr/>
        </p:nvSpPr>
        <p:spPr>
          <a:xfrm>
            <a:off x="4480560" y="1572768"/>
            <a:ext cx="182880" cy="164592"/>
          </a:xfrm>
          <a:prstGeom prst="rect">
            <a:avLst/>
          </a:prstGeom>
          <a:noFill/>
          <a:ln/>
        </p:spPr>
        <p:txBody>
          <a:bodyPr wrap="square" lIns="0" tIns="0" rIns="0" bIns="0" rtlCol="0" anchor="ctr"/>
          <a:lstStyle/>
          <a:p>
            <a:pPr marL="0" indent="0" algn="ctr">
              <a:buNone/>
            </a:pPr>
            <a:r>
              <a:rPr lang="en-US" sz="1000" b="1" dirty="0">
                <a:solidFill>
                  <a:srgbClr val="0097A7"/>
                </a:solidFill>
                <a:latin typeface="Arial" pitchFamily="34" charset="0"/>
                <a:ea typeface="Arial" pitchFamily="34" charset="-122"/>
                <a:cs typeface="Arial" pitchFamily="34" charset="-120"/>
              </a:rPr>
              <a:t>v</a:t>
            </a:r>
            <a:endParaRPr lang="en-US" sz="1000" dirty="0"/>
          </a:p>
        </p:txBody>
      </p:sp>
      <p:sp>
        <p:nvSpPr>
          <p:cNvPr id="7" name="Shape 5"/>
          <p:cNvSpPr/>
          <p:nvPr/>
        </p:nvSpPr>
        <p:spPr>
          <a:xfrm>
            <a:off x="2057400" y="1691640"/>
            <a:ext cx="5029200" cy="45720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8" name="Text 6"/>
          <p:cNvSpPr/>
          <p:nvPr/>
        </p:nvSpPr>
        <p:spPr>
          <a:xfrm>
            <a:off x="2057400" y="1691640"/>
            <a:ext cx="502920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Policy checks: does agent exist in registry?</a:t>
            </a:r>
            <a:endParaRPr lang="en-US" sz="1000" dirty="0"/>
          </a:p>
        </p:txBody>
      </p:sp>
      <p:sp>
        <p:nvSpPr>
          <p:cNvPr id="9" name="Shape 7"/>
          <p:cNvSpPr/>
          <p:nvPr/>
        </p:nvSpPr>
        <p:spPr>
          <a:xfrm>
            <a:off x="4572000" y="2148840"/>
            <a:ext cx="0" cy="137160"/>
          </a:xfrm>
          <a:prstGeom prst="line">
            <a:avLst/>
          </a:prstGeom>
          <a:noFill/>
          <a:ln w="25400">
            <a:solidFill>
              <a:srgbClr val="0097A7"/>
            </a:solidFill>
            <a:prstDash val="solid"/>
          </a:ln>
        </p:spPr>
        <p:txBody>
          <a:bodyPr/>
          <a:lstStyle/>
          <a:p>
            <a:endParaRPr lang="en-US"/>
          </a:p>
        </p:txBody>
      </p:sp>
      <p:sp>
        <p:nvSpPr>
          <p:cNvPr id="10" name="Text 8"/>
          <p:cNvSpPr/>
          <p:nvPr/>
        </p:nvSpPr>
        <p:spPr>
          <a:xfrm>
            <a:off x="4480560" y="2212848"/>
            <a:ext cx="182880" cy="164592"/>
          </a:xfrm>
          <a:prstGeom prst="rect">
            <a:avLst/>
          </a:prstGeom>
          <a:noFill/>
          <a:ln/>
        </p:spPr>
        <p:txBody>
          <a:bodyPr wrap="square" lIns="0" tIns="0" rIns="0" bIns="0" rtlCol="0" anchor="ctr"/>
          <a:lstStyle/>
          <a:p>
            <a:pPr marL="0" indent="0" algn="ctr">
              <a:buNone/>
            </a:pPr>
            <a:r>
              <a:rPr lang="en-US" sz="1000" b="1" dirty="0">
                <a:solidFill>
                  <a:srgbClr val="0097A7"/>
                </a:solidFill>
                <a:latin typeface="Arial" pitchFamily="34" charset="0"/>
                <a:ea typeface="Arial" pitchFamily="34" charset="-122"/>
                <a:cs typeface="Arial" pitchFamily="34" charset="-120"/>
              </a:rPr>
              <a:t>v</a:t>
            </a:r>
            <a:endParaRPr lang="en-US" sz="1000" dirty="0"/>
          </a:p>
        </p:txBody>
      </p:sp>
      <p:sp>
        <p:nvSpPr>
          <p:cNvPr id="11" name="Shape 9"/>
          <p:cNvSpPr/>
          <p:nvPr/>
        </p:nvSpPr>
        <p:spPr>
          <a:xfrm>
            <a:off x="2057400" y="2331720"/>
            <a:ext cx="5029200" cy="45720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12" name="Text 10"/>
          <p:cNvSpPr/>
          <p:nvPr/>
        </p:nvSpPr>
        <p:spPr>
          <a:xfrm>
            <a:off x="2057400" y="2331720"/>
            <a:ext cx="502920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If exists and routable -&gt; use it</a:t>
            </a:r>
            <a:endParaRPr lang="en-US" sz="1000" dirty="0"/>
          </a:p>
        </p:txBody>
      </p:sp>
      <p:sp>
        <p:nvSpPr>
          <p:cNvPr id="13" name="Shape 11"/>
          <p:cNvSpPr/>
          <p:nvPr/>
        </p:nvSpPr>
        <p:spPr>
          <a:xfrm>
            <a:off x="4572000" y="2788920"/>
            <a:ext cx="0" cy="137160"/>
          </a:xfrm>
          <a:prstGeom prst="line">
            <a:avLst/>
          </a:prstGeom>
          <a:noFill/>
          <a:ln w="25400">
            <a:solidFill>
              <a:srgbClr val="0097A7"/>
            </a:solidFill>
            <a:prstDash val="solid"/>
          </a:ln>
        </p:spPr>
        <p:txBody>
          <a:bodyPr/>
          <a:lstStyle/>
          <a:p>
            <a:endParaRPr lang="en-US"/>
          </a:p>
        </p:txBody>
      </p:sp>
      <p:sp>
        <p:nvSpPr>
          <p:cNvPr id="14" name="Text 12"/>
          <p:cNvSpPr/>
          <p:nvPr/>
        </p:nvSpPr>
        <p:spPr>
          <a:xfrm>
            <a:off x="4480560" y="2852928"/>
            <a:ext cx="182880" cy="164592"/>
          </a:xfrm>
          <a:prstGeom prst="rect">
            <a:avLst/>
          </a:prstGeom>
          <a:noFill/>
          <a:ln/>
        </p:spPr>
        <p:txBody>
          <a:bodyPr wrap="square" lIns="0" tIns="0" rIns="0" bIns="0" rtlCol="0" anchor="ctr"/>
          <a:lstStyle/>
          <a:p>
            <a:pPr marL="0" indent="0" algn="ctr">
              <a:buNone/>
            </a:pPr>
            <a:r>
              <a:rPr lang="en-US" sz="1000" b="1" dirty="0">
                <a:solidFill>
                  <a:srgbClr val="0097A7"/>
                </a:solidFill>
                <a:latin typeface="Arial" pitchFamily="34" charset="0"/>
                <a:ea typeface="Arial" pitchFamily="34" charset="-122"/>
                <a:cs typeface="Arial" pitchFamily="34" charset="-120"/>
              </a:rPr>
              <a:t>v</a:t>
            </a:r>
            <a:endParaRPr lang="en-US" sz="1000" dirty="0"/>
          </a:p>
        </p:txBody>
      </p:sp>
      <p:sp>
        <p:nvSpPr>
          <p:cNvPr id="15" name="Shape 13"/>
          <p:cNvSpPr/>
          <p:nvPr/>
        </p:nvSpPr>
        <p:spPr>
          <a:xfrm>
            <a:off x="2057400" y="2971800"/>
            <a:ext cx="5029200" cy="457200"/>
          </a:xfrm>
          <a:prstGeom prst="rect">
            <a:avLst/>
          </a:prstGeom>
          <a:solidFill>
            <a:srgbClr val="F9A825"/>
          </a:solidFill>
          <a:ln/>
          <a:effectLst>
            <a:outerShdw blurRad="50800" dist="25400" dir="8100000" algn="bl" rotWithShape="0">
              <a:srgbClr val="000000">
                <a:alpha val="12000"/>
              </a:srgbClr>
            </a:outerShdw>
          </a:effectLst>
        </p:spPr>
        <p:txBody>
          <a:bodyPr/>
          <a:lstStyle/>
          <a:p>
            <a:endParaRPr lang="en-US"/>
          </a:p>
        </p:txBody>
      </p:sp>
      <p:sp>
        <p:nvSpPr>
          <p:cNvPr id="16" name="Text 14"/>
          <p:cNvSpPr/>
          <p:nvPr/>
        </p:nvSpPr>
        <p:spPr>
          <a:xfrm>
            <a:off x="2057400" y="2971800"/>
            <a:ext cx="5029200" cy="457200"/>
          </a:xfrm>
          <a:prstGeom prst="rect">
            <a:avLst/>
          </a:prstGeom>
          <a:noFill/>
          <a:ln/>
        </p:spPr>
        <p:txBody>
          <a:bodyPr wrap="square" lIns="0" tIns="0" rIns="0" bIns="0" rtlCol="0" anchor="ctr"/>
          <a:lstStyle/>
          <a:p>
            <a:pPr marL="0" indent="0" algn="ctr">
              <a:buNone/>
            </a:pPr>
            <a:r>
              <a:rPr lang="en-US" sz="1000" dirty="0">
                <a:solidFill>
                  <a:srgbClr val="1B2A4A"/>
                </a:solidFill>
                <a:latin typeface="Arial" pitchFamily="34" charset="0"/>
                <a:ea typeface="Arial" pitchFamily="34" charset="-122"/>
                <a:cs typeface="Arial" pitchFamily="34" charset="-120"/>
              </a:rPr>
              <a:t>If coordinator mode forced (settings) -&gt; override</a:t>
            </a:r>
            <a:endParaRPr lang="en-US" sz="1000" dirty="0"/>
          </a:p>
        </p:txBody>
      </p:sp>
      <p:sp>
        <p:nvSpPr>
          <p:cNvPr id="17" name="Shape 15"/>
          <p:cNvSpPr/>
          <p:nvPr/>
        </p:nvSpPr>
        <p:spPr>
          <a:xfrm>
            <a:off x="4572000" y="3429000"/>
            <a:ext cx="0" cy="137160"/>
          </a:xfrm>
          <a:prstGeom prst="line">
            <a:avLst/>
          </a:prstGeom>
          <a:noFill/>
          <a:ln w="25400">
            <a:solidFill>
              <a:srgbClr val="0097A7"/>
            </a:solidFill>
            <a:prstDash val="solid"/>
          </a:ln>
        </p:spPr>
        <p:txBody>
          <a:bodyPr/>
          <a:lstStyle/>
          <a:p>
            <a:endParaRPr lang="en-US"/>
          </a:p>
        </p:txBody>
      </p:sp>
      <p:sp>
        <p:nvSpPr>
          <p:cNvPr id="18" name="Text 16"/>
          <p:cNvSpPr/>
          <p:nvPr/>
        </p:nvSpPr>
        <p:spPr>
          <a:xfrm>
            <a:off x="4480560" y="3493008"/>
            <a:ext cx="182880" cy="164592"/>
          </a:xfrm>
          <a:prstGeom prst="rect">
            <a:avLst/>
          </a:prstGeom>
          <a:noFill/>
          <a:ln/>
        </p:spPr>
        <p:txBody>
          <a:bodyPr wrap="square" lIns="0" tIns="0" rIns="0" bIns="0" rtlCol="0" anchor="ctr"/>
          <a:lstStyle/>
          <a:p>
            <a:pPr marL="0" indent="0" algn="ctr">
              <a:buNone/>
            </a:pPr>
            <a:r>
              <a:rPr lang="en-US" sz="1000" b="1" dirty="0">
                <a:solidFill>
                  <a:srgbClr val="0097A7"/>
                </a:solidFill>
                <a:latin typeface="Arial" pitchFamily="34" charset="0"/>
                <a:ea typeface="Arial" pitchFamily="34" charset="-122"/>
                <a:cs typeface="Arial" pitchFamily="34" charset="-120"/>
              </a:rPr>
              <a:t>v</a:t>
            </a:r>
            <a:endParaRPr lang="en-US" sz="1000" dirty="0"/>
          </a:p>
        </p:txBody>
      </p:sp>
      <p:sp>
        <p:nvSpPr>
          <p:cNvPr id="19" name="Shape 17"/>
          <p:cNvSpPr/>
          <p:nvPr/>
        </p:nvSpPr>
        <p:spPr>
          <a:xfrm>
            <a:off x="2057400" y="3611880"/>
            <a:ext cx="5029200" cy="457200"/>
          </a:xfrm>
          <a:prstGeom prst="rect">
            <a:avLst/>
          </a:prstGeom>
          <a:solidFill>
            <a:srgbClr val="999999"/>
          </a:solidFill>
          <a:ln/>
          <a:effectLst>
            <a:outerShdw blurRad="50800" dist="25400" dir="8100000" algn="bl" rotWithShape="0">
              <a:srgbClr val="000000">
                <a:alpha val="12000"/>
              </a:srgbClr>
            </a:outerShdw>
          </a:effectLst>
        </p:spPr>
        <p:txBody>
          <a:bodyPr/>
          <a:lstStyle/>
          <a:p>
            <a:endParaRPr lang="en-US"/>
          </a:p>
        </p:txBody>
      </p:sp>
      <p:sp>
        <p:nvSpPr>
          <p:cNvPr id="20" name="Text 18"/>
          <p:cNvSpPr/>
          <p:nvPr/>
        </p:nvSpPr>
        <p:spPr>
          <a:xfrm>
            <a:off x="2057400" y="3611880"/>
            <a:ext cx="502920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Fallback: 'general' agent</a:t>
            </a:r>
            <a:endParaRPr lang="en-US" sz="1000" dirty="0"/>
          </a:p>
        </p:txBody>
      </p:sp>
      <p:sp>
        <p:nvSpPr>
          <p:cNvPr id="21" name="Shape 19"/>
          <p:cNvSpPr/>
          <p:nvPr/>
        </p:nvSpPr>
        <p:spPr>
          <a:xfrm>
            <a:off x="502920" y="3931920"/>
            <a:ext cx="8138160" cy="365760"/>
          </a:xfrm>
          <a:prstGeom prst="rect">
            <a:avLst/>
          </a:prstGeom>
          <a:solidFill>
            <a:srgbClr val="E0F7FA"/>
          </a:solidFill>
          <a:ln w="12700">
            <a:solidFill>
              <a:srgbClr val="0097A7"/>
            </a:solidFill>
            <a:prstDash val="solid"/>
          </a:ln>
        </p:spPr>
        <p:txBody>
          <a:bodyPr/>
          <a:lstStyle/>
          <a:p>
            <a:endParaRPr lang="en-US"/>
          </a:p>
        </p:txBody>
      </p:sp>
      <p:sp>
        <p:nvSpPr>
          <p:cNvPr id="22" name="Text 20"/>
          <p:cNvSpPr/>
          <p:nvPr/>
        </p:nvSpPr>
        <p:spPr>
          <a:xfrm>
            <a:off x="594360" y="3931920"/>
            <a:ext cx="7955280" cy="36576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choose_agent_name() returns the agent name string -&gt; passed to kernel.process_agent_turn(). The policy prevents routing to non-existent agents.</a:t>
            </a:r>
            <a:endParaRPr lang="en-US" sz="1000" dirty="0"/>
          </a:p>
        </p:txBody>
      </p:sp>
      <p:sp>
        <p:nvSpPr>
          <p:cNvPr id="23" name="Text 21"/>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router/policy.py — choose_agent_name()</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02920" y="1463040"/>
            <a:ext cx="8138160" cy="73152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Agent Definitions as Data</a:t>
            </a:r>
            <a:endParaRPr lang="en-US" sz="3200" dirty="0"/>
          </a:p>
        </p:txBody>
      </p:sp>
      <p:sp>
        <p:nvSpPr>
          <p:cNvPr id="3" name="Text 1"/>
          <p:cNvSpPr/>
          <p:nvPr/>
        </p:nvSpPr>
        <p:spPr>
          <a:xfrm>
            <a:off x="502920" y="2286000"/>
            <a:ext cx="8138160" cy="457200"/>
          </a:xfrm>
          <a:prstGeom prst="rect">
            <a:avLst/>
          </a:prstGeom>
          <a:noFill/>
          <a:ln/>
        </p:spPr>
        <p:txBody>
          <a:bodyPr wrap="square" lIns="0" tIns="0" rIns="0" bIns="0" rtlCol="0" anchor="ctr"/>
          <a:lstStyle/>
          <a:p>
            <a:pPr marL="0" indent="0">
              <a:buNone/>
            </a:pPr>
            <a:r>
              <a:rPr lang="en-US" sz="1600" dirty="0">
                <a:solidFill>
                  <a:srgbClr val="0097A7"/>
                </a:solidFill>
                <a:latin typeface="Arial" pitchFamily="34" charset="0"/>
                <a:ea typeface="Arial" pitchFamily="34" charset="-122"/>
                <a:cs typeface="Arial" pitchFamily="34" charset="-120"/>
              </a:rPr>
              <a:t>Slides 17-20: Markdown files, not hard-coded classes</a:t>
            </a:r>
            <a:endParaRPr lang="en-US" sz="16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Agent Definitions — Data, Not Hard-Coded Classes</a:t>
            </a:r>
            <a:endParaRPr lang="en-US" sz="2600" dirty="0"/>
          </a:p>
        </p:txBody>
      </p:sp>
      <p:sp>
        <p:nvSpPr>
          <p:cNvPr id="3" name="Shape 1"/>
          <p:cNvSpPr/>
          <p:nvPr/>
        </p:nvSpPr>
        <p:spPr>
          <a:xfrm>
            <a:off x="502920" y="914400"/>
            <a:ext cx="8138160" cy="502920"/>
          </a:xfrm>
          <a:prstGeom prst="rect">
            <a:avLst/>
          </a:prstGeom>
          <a:solidFill>
            <a:srgbClr val="E0F7FA"/>
          </a:solidFill>
          <a:ln w="12700">
            <a:solidFill>
              <a:srgbClr val="0097A7"/>
            </a:solidFill>
            <a:prstDash val="solid"/>
          </a:ln>
        </p:spPr>
        <p:txBody>
          <a:bodyPr/>
          <a:lstStyle/>
          <a:p>
            <a:endParaRPr lang="en-US"/>
          </a:p>
        </p:txBody>
      </p:sp>
      <p:sp>
        <p:nvSpPr>
          <p:cNvPr id="4" name="Text 2"/>
          <p:cNvSpPr/>
          <p:nvPr/>
        </p:nvSpPr>
        <p:spPr>
          <a:xfrm>
            <a:off x="594360" y="914400"/>
            <a:ext cx="7955280" cy="50292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Every agent is defined by a markdown file in data/agents/*.md. There is NO CoordinatorAgent class, NO DataAnalystAgent class. The runtime reads these files and configures generic execution modes.</a:t>
            </a:r>
            <a:endParaRPr lang="en-US" sz="1000" dirty="0"/>
          </a:p>
        </p:txBody>
      </p:sp>
      <p:sp>
        <p:nvSpPr>
          <p:cNvPr id="5" name="Shape 3"/>
          <p:cNvSpPr/>
          <p:nvPr/>
        </p:nvSpPr>
        <p:spPr>
          <a:xfrm>
            <a:off x="502920" y="1600200"/>
            <a:ext cx="4114800" cy="2011680"/>
          </a:xfrm>
          <a:prstGeom prst="rect">
            <a:avLst/>
          </a:prstGeom>
          <a:solidFill>
            <a:srgbClr val="2D2D2D"/>
          </a:solidFill>
          <a:ln/>
        </p:spPr>
        <p:txBody>
          <a:bodyPr/>
          <a:lstStyle/>
          <a:p>
            <a:endParaRPr lang="en-US"/>
          </a:p>
        </p:txBody>
      </p:sp>
      <p:sp>
        <p:nvSpPr>
          <p:cNvPr id="6" name="Text 4"/>
          <p:cNvSpPr/>
          <p:nvPr/>
        </p:nvSpPr>
        <p:spPr>
          <a:xfrm>
            <a:off x="612648" y="1655064"/>
            <a:ext cx="3895344" cy="1901952"/>
          </a:xfrm>
          <a:prstGeom prst="rect">
            <a:avLst/>
          </a:prstGeom>
          <a:noFill/>
          <a:ln/>
        </p:spPr>
        <p:txBody>
          <a:bodyPr wrap="square" lIns="0" tIns="0" rIns="0" bIns="0" rtlCol="0" anchor="t"/>
          <a:lstStyle/>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data/agents/general.md</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name: general</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mode: react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description: General-purpose assistant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max_steps: 10</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allowed_tools: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calculator</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list_indexed_docs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search_skills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memory_save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memory_load</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memory_list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rag_agent_tool</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system_prompt_file: data/skills/general_agent.md</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role_kind: top_level</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a:t>
            </a:r>
            <a:endParaRPr lang="en-US" sz="900" dirty="0"/>
          </a:p>
        </p:txBody>
      </p:sp>
      <p:sp>
        <p:nvSpPr>
          <p:cNvPr id="7" name="Shape 5"/>
          <p:cNvSpPr/>
          <p:nvPr/>
        </p:nvSpPr>
        <p:spPr>
          <a:xfrm>
            <a:off x="4846320" y="1600200"/>
            <a:ext cx="1828800" cy="45720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8" name="Text 6"/>
          <p:cNvSpPr/>
          <p:nvPr/>
        </p:nvSpPr>
        <p:spPr>
          <a:xfrm>
            <a:off x="4846320" y="1600200"/>
            <a:ext cx="182880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Markdown file</a:t>
            </a:r>
            <a:endParaRPr lang="en-US" sz="1000" dirty="0"/>
          </a:p>
        </p:txBody>
      </p:sp>
      <p:sp>
        <p:nvSpPr>
          <p:cNvPr id="9" name="Shape 7"/>
          <p:cNvSpPr/>
          <p:nvPr/>
        </p:nvSpPr>
        <p:spPr>
          <a:xfrm>
            <a:off x="5760720" y="2057400"/>
            <a:ext cx="0" cy="274320"/>
          </a:xfrm>
          <a:prstGeom prst="line">
            <a:avLst/>
          </a:prstGeom>
          <a:noFill/>
          <a:ln w="25400">
            <a:solidFill>
              <a:srgbClr val="0097A7"/>
            </a:solidFill>
            <a:prstDash val="solid"/>
          </a:ln>
        </p:spPr>
        <p:txBody>
          <a:bodyPr/>
          <a:lstStyle/>
          <a:p>
            <a:endParaRPr lang="en-US"/>
          </a:p>
        </p:txBody>
      </p:sp>
      <p:sp>
        <p:nvSpPr>
          <p:cNvPr id="10" name="Text 8"/>
          <p:cNvSpPr/>
          <p:nvPr/>
        </p:nvSpPr>
        <p:spPr>
          <a:xfrm>
            <a:off x="5669280" y="2258568"/>
            <a:ext cx="182880" cy="164592"/>
          </a:xfrm>
          <a:prstGeom prst="rect">
            <a:avLst/>
          </a:prstGeom>
          <a:noFill/>
          <a:ln/>
        </p:spPr>
        <p:txBody>
          <a:bodyPr wrap="square" lIns="0" tIns="0" rIns="0" bIns="0" rtlCol="0" anchor="ctr"/>
          <a:lstStyle/>
          <a:p>
            <a:pPr marL="0" indent="0" algn="ctr">
              <a:buNone/>
            </a:pPr>
            <a:r>
              <a:rPr lang="en-US" sz="1000" b="1" dirty="0">
                <a:solidFill>
                  <a:srgbClr val="0097A7"/>
                </a:solidFill>
                <a:latin typeface="Arial" pitchFamily="34" charset="0"/>
                <a:ea typeface="Arial" pitchFamily="34" charset="-122"/>
                <a:cs typeface="Arial" pitchFamily="34" charset="-120"/>
              </a:rPr>
              <a:t>v</a:t>
            </a:r>
            <a:endParaRPr lang="en-US" sz="1000" dirty="0"/>
          </a:p>
        </p:txBody>
      </p:sp>
      <p:sp>
        <p:nvSpPr>
          <p:cNvPr id="11" name="Shape 9"/>
          <p:cNvSpPr/>
          <p:nvPr/>
        </p:nvSpPr>
        <p:spPr>
          <a:xfrm>
            <a:off x="4846320" y="2377440"/>
            <a:ext cx="1828800" cy="45720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12" name="Text 10"/>
          <p:cNvSpPr/>
          <p:nvPr/>
        </p:nvSpPr>
        <p:spPr>
          <a:xfrm>
            <a:off x="4846320" y="2377440"/>
            <a:ext cx="182880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Kernel reads it</a:t>
            </a:r>
            <a:endParaRPr lang="en-US" sz="1000" dirty="0"/>
          </a:p>
        </p:txBody>
      </p:sp>
      <p:sp>
        <p:nvSpPr>
          <p:cNvPr id="13" name="Shape 11"/>
          <p:cNvSpPr/>
          <p:nvPr/>
        </p:nvSpPr>
        <p:spPr>
          <a:xfrm>
            <a:off x="5760720" y="2834640"/>
            <a:ext cx="0" cy="274320"/>
          </a:xfrm>
          <a:prstGeom prst="line">
            <a:avLst/>
          </a:prstGeom>
          <a:noFill/>
          <a:ln w="25400">
            <a:solidFill>
              <a:srgbClr val="0097A7"/>
            </a:solidFill>
            <a:prstDash val="solid"/>
          </a:ln>
        </p:spPr>
        <p:txBody>
          <a:bodyPr/>
          <a:lstStyle/>
          <a:p>
            <a:endParaRPr lang="en-US"/>
          </a:p>
        </p:txBody>
      </p:sp>
      <p:sp>
        <p:nvSpPr>
          <p:cNvPr id="14" name="Text 12"/>
          <p:cNvSpPr/>
          <p:nvPr/>
        </p:nvSpPr>
        <p:spPr>
          <a:xfrm>
            <a:off x="5669280" y="3035808"/>
            <a:ext cx="182880" cy="164592"/>
          </a:xfrm>
          <a:prstGeom prst="rect">
            <a:avLst/>
          </a:prstGeom>
          <a:noFill/>
          <a:ln/>
        </p:spPr>
        <p:txBody>
          <a:bodyPr wrap="square" lIns="0" tIns="0" rIns="0" bIns="0" rtlCol="0" anchor="ctr"/>
          <a:lstStyle/>
          <a:p>
            <a:pPr marL="0" indent="0" algn="ctr">
              <a:buNone/>
            </a:pPr>
            <a:r>
              <a:rPr lang="en-US" sz="1000" b="1" dirty="0">
                <a:solidFill>
                  <a:srgbClr val="0097A7"/>
                </a:solidFill>
                <a:latin typeface="Arial" pitchFamily="34" charset="0"/>
                <a:ea typeface="Arial" pitchFamily="34" charset="-122"/>
                <a:cs typeface="Arial" pitchFamily="34" charset="-120"/>
              </a:rPr>
              <a:t>v</a:t>
            </a:r>
            <a:endParaRPr lang="en-US" sz="1000" dirty="0"/>
          </a:p>
        </p:txBody>
      </p:sp>
      <p:sp>
        <p:nvSpPr>
          <p:cNvPr id="15" name="Shape 13"/>
          <p:cNvSpPr/>
          <p:nvPr/>
        </p:nvSpPr>
        <p:spPr>
          <a:xfrm>
            <a:off x="4846320" y="3154680"/>
            <a:ext cx="2103120" cy="45720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16" name="Text 14"/>
          <p:cNvSpPr/>
          <p:nvPr/>
        </p:nvSpPr>
        <p:spPr>
          <a:xfrm>
            <a:off x="4846320" y="3154680"/>
            <a:ext cx="210312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QueryLoop executes</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in 'react' mode</a:t>
            </a:r>
            <a:endParaRPr lang="en-US" sz="1000" dirty="0"/>
          </a:p>
        </p:txBody>
      </p:sp>
      <p:sp>
        <p:nvSpPr>
          <p:cNvPr id="17" name="Text 15"/>
          <p:cNvSpPr/>
          <p:nvPr/>
        </p:nvSpPr>
        <p:spPr>
          <a:xfrm>
            <a:off x="7132320" y="1600200"/>
            <a:ext cx="1645920" cy="2011680"/>
          </a:xfrm>
          <a:prstGeom prst="rect">
            <a:avLst/>
          </a:prstGeom>
          <a:noFill/>
          <a:ln/>
        </p:spPr>
        <p:txBody>
          <a:bodyPr wrap="square" lIns="0" tIns="0" rIns="0" bIns="0" rtlCol="0" anchor="t"/>
          <a:lstStyle/>
          <a:p>
            <a:pPr marL="0" indent="0">
              <a:lnSpc>
                <a:spcPct val="120000"/>
              </a:lnSpc>
              <a:buNone/>
            </a:pPr>
            <a:r>
              <a:rPr lang="en-US" sz="1000" dirty="0">
                <a:solidFill>
                  <a:srgbClr val="1B2A4A"/>
                </a:solidFill>
                <a:latin typeface="Arial" pitchFamily="34" charset="0"/>
                <a:ea typeface="Arial" pitchFamily="34" charset="-122"/>
                <a:cs typeface="Arial" pitchFamily="34" charset="-120"/>
              </a:rPr>
              <a:t>Want to add a new agent?</a:t>
            </a:r>
            <a:endParaRPr lang="en-US" sz="1000" dirty="0"/>
          </a:p>
          <a:p>
            <a:pPr marL="0" indent="0">
              <a:lnSpc>
                <a:spcPct val="120000"/>
              </a:lnSpc>
              <a:buNone/>
            </a:pPr>
            <a:r>
              <a:rPr lang="en-US" sz="1000" dirty="0">
                <a:solidFill>
                  <a:srgbClr val="1B2A4A"/>
                </a:solidFill>
                <a:latin typeface="Arial" pitchFamily="34" charset="0"/>
                <a:ea typeface="Arial" pitchFamily="34" charset="-122"/>
                <a:cs typeface="Arial" pitchFamily="34" charset="-120"/>
              </a:rPr>
              <a:t>Create a .md file.</a:t>
            </a:r>
            <a:endParaRPr lang="en-US" sz="1000" dirty="0"/>
          </a:p>
          <a:p>
            <a:pPr marL="0" indent="0">
              <a:lnSpc>
                <a:spcPct val="120000"/>
              </a:lnSpc>
              <a:buNone/>
            </a:pPr>
            <a:endParaRPr lang="en-US" sz="1000" dirty="0"/>
          </a:p>
          <a:p>
            <a:pPr marL="0" indent="0">
              <a:lnSpc>
                <a:spcPct val="120000"/>
              </a:lnSpc>
              <a:buNone/>
            </a:pPr>
            <a:r>
              <a:rPr lang="en-US" sz="1000" dirty="0">
                <a:solidFill>
                  <a:srgbClr val="1B2A4A"/>
                </a:solidFill>
                <a:latin typeface="Arial" pitchFamily="34" charset="0"/>
                <a:ea typeface="Arial" pitchFamily="34" charset="-122"/>
                <a:cs typeface="Arial" pitchFamily="34" charset="-120"/>
              </a:rPr>
              <a:t>Want to change tools?</a:t>
            </a:r>
            <a:endParaRPr lang="en-US" sz="1000" dirty="0"/>
          </a:p>
          <a:p>
            <a:pPr marL="0" indent="0">
              <a:lnSpc>
                <a:spcPct val="120000"/>
              </a:lnSpc>
              <a:buNone/>
            </a:pPr>
            <a:r>
              <a:rPr lang="en-US" sz="1000" dirty="0">
                <a:solidFill>
                  <a:srgbClr val="1B2A4A"/>
                </a:solidFill>
                <a:latin typeface="Arial" pitchFamily="34" charset="0"/>
                <a:ea typeface="Arial" pitchFamily="34" charset="-122"/>
                <a:cs typeface="Arial" pitchFamily="34" charset="-120"/>
              </a:rPr>
              <a:t>Edit the frontmatter.</a:t>
            </a:r>
            <a:endParaRPr lang="en-US" sz="1000" dirty="0"/>
          </a:p>
          <a:p>
            <a:pPr marL="0" indent="0">
              <a:lnSpc>
                <a:spcPct val="120000"/>
              </a:lnSpc>
              <a:buNone/>
            </a:pPr>
            <a:endParaRPr lang="en-US" sz="1000" dirty="0"/>
          </a:p>
          <a:p>
            <a:pPr marL="0" indent="0">
              <a:lnSpc>
                <a:spcPct val="120000"/>
              </a:lnSpc>
              <a:buNone/>
            </a:pPr>
            <a:r>
              <a:rPr lang="en-US" sz="1000" dirty="0">
                <a:solidFill>
                  <a:srgbClr val="1B2A4A"/>
                </a:solidFill>
                <a:latin typeface="Arial" pitchFamily="34" charset="0"/>
                <a:ea typeface="Arial" pitchFamily="34" charset="-122"/>
                <a:cs typeface="Arial" pitchFamily="34" charset="-120"/>
              </a:rPr>
              <a:t>No code changes needed.</a:t>
            </a:r>
            <a:endParaRPr lang="en-US" sz="1000" dirty="0"/>
          </a:p>
        </p:txBody>
      </p:sp>
      <p:sp>
        <p:nvSpPr>
          <p:cNvPr id="18" name="Text 16"/>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data/agents/*.md</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All 11 Agent Roles at a Glance</a:t>
            </a:r>
            <a:endParaRPr lang="en-US" sz="2600" dirty="0"/>
          </a:p>
        </p:txBody>
      </p:sp>
      <p:sp>
        <p:nvSpPr>
          <p:cNvPr id="3" name="Shape 1"/>
          <p:cNvSpPr/>
          <p:nvPr/>
        </p:nvSpPr>
        <p:spPr>
          <a:xfrm>
            <a:off x="594360" y="914400"/>
            <a:ext cx="1920240" cy="914400"/>
          </a:xfrm>
          <a:prstGeom prst="rect">
            <a:avLst/>
          </a:prstGeom>
          <a:solidFill>
            <a:srgbClr val="FFFFFF"/>
          </a:solidFill>
          <a:ln w="19050">
            <a:solidFill>
              <a:srgbClr val="0097A7"/>
            </a:solidFill>
            <a:prstDash val="solid"/>
          </a:ln>
          <a:effectLst>
            <a:outerShdw blurRad="50800" dist="25400" dir="8100000" algn="bl" rotWithShape="0">
              <a:srgbClr val="000000">
                <a:alpha val="12000"/>
              </a:srgbClr>
            </a:outerShdw>
          </a:effectLst>
        </p:spPr>
        <p:txBody>
          <a:bodyPr/>
          <a:lstStyle/>
          <a:p>
            <a:endParaRPr lang="en-US"/>
          </a:p>
        </p:txBody>
      </p:sp>
      <p:sp>
        <p:nvSpPr>
          <p:cNvPr id="4" name="Text 2"/>
          <p:cNvSpPr/>
          <p:nvPr/>
        </p:nvSpPr>
        <p:spPr>
          <a:xfrm>
            <a:off x="658368" y="950976"/>
            <a:ext cx="1792224" cy="201168"/>
          </a:xfrm>
          <a:prstGeom prst="rect">
            <a:avLst/>
          </a:prstGeom>
          <a:noFill/>
          <a:ln/>
        </p:spPr>
        <p:txBody>
          <a:bodyPr wrap="square" lIns="0" tIns="0" rIns="0" bIns="0" rtlCol="0" anchor="ctr"/>
          <a:lstStyle/>
          <a:p>
            <a:pPr marL="0" indent="0">
              <a:buNone/>
            </a:pPr>
            <a:r>
              <a:rPr lang="en-US" sz="1000" b="1" dirty="0">
                <a:solidFill>
                  <a:srgbClr val="0097A7"/>
                </a:solidFill>
                <a:latin typeface="Courier New" pitchFamily="34" charset="0"/>
                <a:ea typeface="Courier New" pitchFamily="34" charset="-122"/>
                <a:cs typeface="Courier New" pitchFamily="34" charset="-120"/>
              </a:rPr>
              <a:t>basic</a:t>
            </a:r>
            <a:endParaRPr lang="en-US" sz="1000" dirty="0"/>
          </a:p>
        </p:txBody>
      </p:sp>
      <p:sp>
        <p:nvSpPr>
          <p:cNvPr id="5" name="Text 3"/>
          <p:cNvSpPr/>
          <p:nvPr/>
        </p:nvSpPr>
        <p:spPr>
          <a:xfrm>
            <a:off x="658368" y="1170432"/>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mode:basic</a:t>
            </a:r>
            <a:endParaRPr lang="en-US" sz="750" dirty="0"/>
          </a:p>
        </p:txBody>
      </p:sp>
      <p:sp>
        <p:nvSpPr>
          <p:cNvPr id="6" name="Text 4"/>
          <p:cNvSpPr/>
          <p:nvPr/>
        </p:nvSpPr>
        <p:spPr>
          <a:xfrm>
            <a:off x="658368" y="1325880"/>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0 tools</a:t>
            </a:r>
            <a:endParaRPr lang="en-US" sz="750" dirty="0"/>
          </a:p>
        </p:txBody>
      </p:sp>
      <p:sp>
        <p:nvSpPr>
          <p:cNvPr id="7" name="Text 5"/>
          <p:cNvSpPr/>
          <p:nvPr/>
        </p:nvSpPr>
        <p:spPr>
          <a:xfrm>
            <a:off x="658368" y="1481328"/>
            <a:ext cx="1792224" cy="164592"/>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Direct LLM, no tools</a:t>
            </a:r>
            <a:endParaRPr lang="en-US" sz="850" dirty="0"/>
          </a:p>
        </p:txBody>
      </p:sp>
      <p:sp>
        <p:nvSpPr>
          <p:cNvPr id="8" name="Text 6"/>
          <p:cNvSpPr/>
          <p:nvPr/>
        </p:nvSpPr>
        <p:spPr>
          <a:xfrm>
            <a:off x="658368" y="1655064"/>
            <a:ext cx="1792224" cy="146304"/>
          </a:xfrm>
          <a:prstGeom prst="rect">
            <a:avLst/>
          </a:prstGeom>
          <a:noFill/>
          <a:ln/>
        </p:spPr>
        <p:txBody>
          <a:bodyPr wrap="square" lIns="0" tIns="0" rIns="0" bIns="0" rtlCol="0" anchor="ctr"/>
          <a:lstStyle/>
          <a:p>
            <a:pPr marL="0" indent="0">
              <a:buNone/>
            </a:pPr>
            <a:r>
              <a:rPr lang="en-US" sz="700" dirty="0">
                <a:solidFill>
                  <a:srgbClr val="999999"/>
                </a:solidFill>
                <a:latin typeface="Arial" pitchFamily="34" charset="0"/>
                <a:ea typeface="Arial" pitchFamily="34" charset="-122"/>
                <a:cs typeface="Arial" pitchFamily="34" charset="-120"/>
              </a:rPr>
              <a:t>top_level</a:t>
            </a:r>
            <a:endParaRPr lang="en-US" sz="700" dirty="0"/>
          </a:p>
        </p:txBody>
      </p:sp>
      <p:sp>
        <p:nvSpPr>
          <p:cNvPr id="9" name="Shape 7"/>
          <p:cNvSpPr/>
          <p:nvPr/>
        </p:nvSpPr>
        <p:spPr>
          <a:xfrm>
            <a:off x="2606040" y="914400"/>
            <a:ext cx="1920240" cy="914400"/>
          </a:xfrm>
          <a:prstGeom prst="rect">
            <a:avLst/>
          </a:prstGeom>
          <a:solidFill>
            <a:srgbClr val="FFFFFF"/>
          </a:solidFill>
          <a:ln w="19050">
            <a:solidFill>
              <a:srgbClr val="0097A7"/>
            </a:solidFill>
            <a:prstDash val="solid"/>
          </a:ln>
          <a:effectLst>
            <a:outerShdw blurRad="50800" dist="25400" dir="8100000" algn="bl" rotWithShape="0">
              <a:srgbClr val="000000">
                <a:alpha val="12000"/>
              </a:srgbClr>
            </a:outerShdw>
          </a:effectLst>
        </p:spPr>
        <p:txBody>
          <a:bodyPr/>
          <a:lstStyle/>
          <a:p>
            <a:endParaRPr lang="en-US"/>
          </a:p>
        </p:txBody>
      </p:sp>
      <p:sp>
        <p:nvSpPr>
          <p:cNvPr id="10" name="Text 8"/>
          <p:cNvSpPr/>
          <p:nvPr/>
        </p:nvSpPr>
        <p:spPr>
          <a:xfrm>
            <a:off x="2670048" y="950976"/>
            <a:ext cx="1792224" cy="201168"/>
          </a:xfrm>
          <a:prstGeom prst="rect">
            <a:avLst/>
          </a:prstGeom>
          <a:noFill/>
          <a:ln/>
        </p:spPr>
        <p:txBody>
          <a:bodyPr wrap="square" lIns="0" tIns="0" rIns="0" bIns="0" rtlCol="0" anchor="ctr"/>
          <a:lstStyle/>
          <a:p>
            <a:pPr marL="0" indent="0">
              <a:buNone/>
            </a:pPr>
            <a:r>
              <a:rPr lang="en-US" sz="1000" b="1" dirty="0">
                <a:solidFill>
                  <a:srgbClr val="0097A7"/>
                </a:solidFill>
                <a:latin typeface="Courier New" pitchFamily="34" charset="0"/>
                <a:ea typeface="Courier New" pitchFamily="34" charset="-122"/>
                <a:cs typeface="Courier New" pitchFamily="34" charset="-120"/>
              </a:rPr>
              <a:t>general</a:t>
            </a:r>
            <a:endParaRPr lang="en-US" sz="1000" dirty="0"/>
          </a:p>
        </p:txBody>
      </p:sp>
      <p:sp>
        <p:nvSpPr>
          <p:cNvPr id="11" name="Text 9"/>
          <p:cNvSpPr/>
          <p:nvPr/>
        </p:nvSpPr>
        <p:spPr>
          <a:xfrm>
            <a:off x="2670048" y="1170432"/>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mode:react</a:t>
            </a:r>
            <a:endParaRPr lang="en-US" sz="750" dirty="0"/>
          </a:p>
        </p:txBody>
      </p:sp>
      <p:sp>
        <p:nvSpPr>
          <p:cNvPr id="12" name="Text 10"/>
          <p:cNvSpPr/>
          <p:nvPr/>
        </p:nvSpPr>
        <p:spPr>
          <a:xfrm>
            <a:off x="2670048" y="1325880"/>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19 tools</a:t>
            </a:r>
            <a:endParaRPr lang="en-US" sz="750" dirty="0"/>
          </a:p>
        </p:txBody>
      </p:sp>
      <p:sp>
        <p:nvSpPr>
          <p:cNvPr id="13" name="Text 11"/>
          <p:cNvSpPr/>
          <p:nvPr/>
        </p:nvSpPr>
        <p:spPr>
          <a:xfrm>
            <a:off x="2670048" y="1481328"/>
            <a:ext cx="1792224" cy="164592"/>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Swiss army knife + graph</a:t>
            </a:r>
            <a:endParaRPr lang="en-US" sz="850" dirty="0"/>
          </a:p>
        </p:txBody>
      </p:sp>
      <p:sp>
        <p:nvSpPr>
          <p:cNvPr id="14" name="Text 12"/>
          <p:cNvSpPr/>
          <p:nvPr/>
        </p:nvSpPr>
        <p:spPr>
          <a:xfrm>
            <a:off x="2670048" y="1655064"/>
            <a:ext cx="1792224" cy="146304"/>
          </a:xfrm>
          <a:prstGeom prst="rect">
            <a:avLst/>
          </a:prstGeom>
          <a:noFill/>
          <a:ln/>
        </p:spPr>
        <p:txBody>
          <a:bodyPr wrap="square" lIns="0" tIns="0" rIns="0" bIns="0" rtlCol="0" anchor="ctr"/>
          <a:lstStyle/>
          <a:p>
            <a:pPr marL="0" indent="0">
              <a:buNone/>
            </a:pPr>
            <a:r>
              <a:rPr lang="en-US" sz="700" dirty="0">
                <a:solidFill>
                  <a:srgbClr val="999999"/>
                </a:solidFill>
                <a:latin typeface="Arial" pitchFamily="34" charset="0"/>
                <a:ea typeface="Arial" pitchFamily="34" charset="-122"/>
                <a:cs typeface="Arial" pitchFamily="34" charset="-120"/>
              </a:rPr>
              <a:t>top_level</a:t>
            </a:r>
            <a:endParaRPr lang="en-US" sz="700" dirty="0"/>
          </a:p>
        </p:txBody>
      </p:sp>
      <p:sp>
        <p:nvSpPr>
          <p:cNvPr id="15" name="Shape 13"/>
          <p:cNvSpPr/>
          <p:nvPr/>
        </p:nvSpPr>
        <p:spPr>
          <a:xfrm>
            <a:off x="4617720" y="914400"/>
            <a:ext cx="1920240" cy="914400"/>
          </a:xfrm>
          <a:prstGeom prst="rect">
            <a:avLst/>
          </a:prstGeom>
          <a:solidFill>
            <a:srgbClr val="FFFFFF"/>
          </a:solidFill>
          <a:ln w="19050">
            <a:solidFill>
              <a:srgbClr val="1B2A4A"/>
            </a:solidFill>
            <a:prstDash val="solid"/>
          </a:ln>
          <a:effectLst>
            <a:outerShdw blurRad="50800" dist="25400" dir="8100000" algn="bl" rotWithShape="0">
              <a:srgbClr val="000000">
                <a:alpha val="12000"/>
              </a:srgbClr>
            </a:outerShdw>
          </a:effectLst>
        </p:spPr>
        <p:txBody>
          <a:bodyPr/>
          <a:lstStyle/>
          <a:p>
            <a:endParaRPr lang="en-US"/>
          </a:p>
        </p:txBody>
      </p:sp>
      <p:sp>
        <p:nvSpPr>
          <p:cNvPr id="16" name="Text 14"/>
          <p:cNvSpPr/>
          <p:nvPr/>
        </p:nvSpPr>
        <p:spPr>
          <a:xfrm>
            <a:off x="4681728" y="950976"/>
            <a:ext cx="1792224" cy="201168"/>
          </a:xfrm>
          <a:prstGeom prst="rect">
            <a:avLst/>
          </a:prstGeom>
          <a:noFill/>
          <a:ln/>
        </p:spPr>
        <p:txBody>
          <a:bodyPr wrap="square" lIns="0" tIns="0" rIns="0" bIns="0" rtlCol="0" anchor="ctr"/>
          <a:lstStyle/>
          <a:p>
            <a:pPr marL="0" indent="0">
              <a:buNone/>
            </a:pPr>
            <a:r>
              <a:rPr lang="en-US" sz="1000" b="1" dirty="0">
                <a:solidFill>
                  <a:srgbClr val="1B2A4A"/>
                </a:solidFill>
                <a:latin typeface="Courier New" pitchFamily="34" charset="0"/>
                <a:ea typeface="Courier New" pitchFamily="34" charset="-122"/>
                <a:cs typeface="Courier New" pitchFamily="34" charset="-120"/>
              </a:rPr>
              <a:t>coordinator</a:t>
            </a:r>
            <a:endParaRPr lang="en-US" sz="1000" dirty="0"/>
          </a:p>
        </p:txBody>
      </p:sp>
      <p:sp>
        <p:nvSpPr>
          <p:cNvPr id="17" name="Text 15"/>
          <p:cNvSpPr/>
          <p:nvPr/>
        </p:nvSpPr>
        <p:spPr>
          <a:xfrm>
            <a:off x="4681728" y="1170432"/>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mode:coordinator</a:t>
            </a:r>
            <a:endParaRPr lang="en-US" sz="750" dirty="0"/>
          </a:p>
        </p:txBody>
      </p:sp>
      <p:sp>
        <p:nvSpPr>
          <p:cNvPr id="18" name="Text 16"/>
          <p:cNvSpPr/>
          <p:nvPr/>
        </p:nvSpPr>
        <p:spPr>
          <a:xfrm>
            <a:off x="4681728" y="1325880"/>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4 tools</a:t>
            </a:r>
            <a:endParaRPr lang="en-US" sz="750" dirty="0"/>
          </a:p>
        </p:txBody>
      </p:sp>
      <p:sp>
        <p:nvSpPr>
          <p:cNvPr id="19" name="Text 17"/>
          <p:cNvSpPr/>
          <p:nvPr/>
        </p:nvSpPr>
        <p:spPr>
          <a:xfrm>
            <a:off x="4681728" y="1481328"/>
            <a:ext cx="1792224" cy="164592"/>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Project manager</a:t>
            </a:r>
            <a:endParaRPr lang="en-US" sz="850" dirty="0"/>
          </a:p>
        </p:txBody>
      </p:sp>
      <p:sp>
        <p:nvSpPr>
          <p:cNvPr id="20" name="Text 18"/>
          <p:cNvSpPr/>
          <p:nvPr/>
        </p:nvSpPr>
        <p:spPr>
          <a:xfrm>
            <a:off x="4681728" y="1655064"/>
            <a:ext cx="1792224" cy="146304"/>
          </a:xfrm>
          <a:prstGeom prst="rect">
            <a:avLst/>
          </a:prstGeom>
          <a:noFill/>
          <a:ln/>
        </p:spPr>
        <p:txBody>
          <a:bodyPr wrap="square" lIns="0" tIns="0" rIns="0" bIns="0" rtlCol="0" anchor="ctr"/>
          <a:lstStyle/>
          <a:p>
            <a:pPr marL="0" indent="0">
              <a:buNone/>
            </a:pPr>
            <a:r>
              <a:rPr lang="en-US" sz="700" dirty="0">
                <a:solidFill>
                  <a:srgbClr val="999999"/>
                </a:solidFill>
                <a:latin typeface="Arial" pitchFamily="34" charset="0"/>
                <a:ea typeface="Arial" pitchFamily="34" charset="-122"/>
                <a:cs typeface="Arial" pitchFamily="34" charset="-120"/>
              </a:rPr>
              <a:t>manager</a:t>
            </a:r>
            <a:endParaRPr lang="en-US" sz="700" dirty="0"/>
          </a:p>
        </p:txBody>
      </p:sp>
      <p:sp>
        <p:nvSpPr>
          <p:cNvPr id="21" name="Shape 19"/>
          <p:cNvSpPr/>
          <p:nvPr/>
        </p:nvSpPr>
        <p:spPr>
          <a:xfrm>
            <a:off x="6629400" y="914400"/>
            <a:ext cx="1920240" cy="914400"/>
          </a:xfrm>
          <a:prstGeom prst="rect">
            <a:avLst/>
          </a:prstGeom>
          <a:solidFill>
            <a:srgbClr val="FFFFFF"/>
          </a:solidFill>
          <a:ln w="19050">
            <a:solidFill>
              <a:srgbClr val="0097A7"/>
            </a:solidFill>
            <a:prstDash val="solid"/>
          </a:ln>
          <a:effectLst>
            <a:outerShdw blurRad="50800" dist="25400" dir="8100000" algn="bl" rotWithShape="0">
              <a:srgbClr val="000000">
                <a:alpha val="12000"/>
              </a:srgbClr>
            </a:outerShdw>
          </a:effectLst>
        </p:spPr>
        <p:txBody>
          <a:bodyPr/>
          <a:lstStyle/>
          <a:p>
            <a:endParaRPr lang="en-US"/>
          </a:p>
        </p:txBody>
      </p:sp>
      <p:sp>
        <p:nvSpPr>
          <p:cNvPr id="22" name="Text 20"/>
          <p:cNvSpPr/>
          <p:nvPr/>
        </p:nvSpPr>
        <p:spPr>
          <a:xfrm>
            <a:off x="6693408" y="950976"/>
            <a:ext cx="1792224" cy="201168"/>
          </a:xfrm>
          <a:prstGeom prst="rect">
            <a:avLst/>
          </a:prstGeom>
          <a:noFill/>
          <a:ln/>
        </p:spPr>
        <p:txBody>
          <a:bodyPr wrap="square" lIns="0" tIns="0" rIns="0" bIns="0" rtlCol="0" anchor="ctr"/>
          <a:lstStyle/>
          <a:p>
            <a:pPr marL="0" indent="0">
              <a:buNone/>
            </a:pPr>
            <a:r>
              <a:rPr lang="en-US" sz="1000" b="1" dirty="0">
                <a:solidFill>
                  <a:srgbClr val="0097A7"/>
                </a:solidFill>
                <a:latin typeface="Courier New" pitchFamily="34" charset="0"/>
                <a:ea typeface="Courier New" pitchFamily="34" charset="-122"/>
                <a:cs typeface="Courier New" pitchFamily="34" charset="-120"/>
              </a:rPr>
              <a:t>data_analyst</a:t>
            </a:r>
            <a:endParaRPr lang="en-US" sz="1000" dirty="0"/>
          </a:p>
        </p:txBody>
      </p:sp>
      <p:sp>
        <p:nvSpPr>
          <p:cNvPr id="23" name="Text 21"/>
          <p:cNvSpPr/>
          <p:nvPr/>
        </p:nvSpPr>
        <p:spPr>
          <a:xfrm>
            <a:off x="6693408" y="1170432"/>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mode:react</a:t>
            </a:r>
            <a:endParaRPr lang="en-US" sz="750" dirty="0"/>
          </a:p>
        </p:txBody>
      </p:sp>
      <p:sp>
        <p:nvSpPr>
          <p:cNvPr id="24" name="Text 22"/>
          <p:cNvSpPr/>
          <p:nvPr/>
        </p:nvSpPr>
        <p:spPr>
          <a:xfrm>
            <a:off x="6693408" y="1325880"/>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14 tools</a:t>
            </a:r>
            <a:endParaRPr lang="en-US" sz="750" dirty="0"/>
          </a:p>
        </p:txBody>
      </p:sp>
      <p:sp>
        <p:nvSpPr>
          <p:cNvPr id="25" name="Text 23"/>
          <p:cNvSpPr/>
          <p:nvPr/>
        </p:nvSpPr>
        <p:spPr>
          <a:xfrm>
            <a:off x="6693408" y="1481328"/>
            <a:ext cx="1792224" cy="164592"/>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Sandbox specialist</a:t>
            </a:r>
            <a:endParaRPr lang="en-US" sz="850" dirty="0"/>
          </a:p>
        </p:txBody>
      </p:sp>
      <p:sp>
        <p:nvSpPr>
          <p:cNvPr id="26" name="Text 24"/>
          <p:cNvSpPr/>
          <p:nvPr/>
        </p:nvSpPr>
        <p:spPr>
          <a:xfrm>
            <a:off x="6693408" y="1655064"/>
            <a:ext cx="1792224" cy="146304"/>
          </a:xfrm>
          <a:prstGeom prst="rect">
            <a:avLst/>
          </a:prstGeom>
          <a:noFill/>
          <a:ln/>
        </p:spPr>
        <p:txBody>
          <a:bodyPr wrap="square" lIns="0" tIns="0" rIns="0" bIns="0" rtlCol="0" anchor="ctr"/>
          <a:lstStyle/>
          <a:p>
            <a:pPr marL="0" indent="0">
              <a:buNone/>
            </a:pPr>
            <a:r>
              <a:rPr lang="en-US" sz="700" dirty="0">
                <a:solidFill>
                  <a:srgbClr val="999999"/>
                </a:solidFill>
                <a:latin typeface="Arial" pitchFamily="34" charset="0"/>
                <a:ea typeface="Arial" pitchFamily="34" charset="-122"/>
                <a:cs typeface="Arial" pitchFamily="34" charset="-120"/>
              </a:rPr>
              <a:t>top_level_or_worker</a:t>
            </a:r>
            <a:endParaRPr lang="en-US" sz="700" dirty="0"/>
          </a:p>
        </p:txBody>
      </p:sp>
      <p:sp>
        <p:nvSpPr>
          <p:cNvPr id="27" name="Shape 25"/>
          <p:cNvSpPr/>
          <p:nvPr/>
        </p:nvSpPr>
        <p:spPr>
          <a:xfrm>
            <a:off x="594360" y="1920240"/>
            <a:ext cx="1920240" cy="914400"/>
          </a:xfrm>
          <a:prstGeom prst="rect">
            <a:avLst/>
          </a:prstGeom>
          <a:solidFill>
            <a:srgbClr val="FFFFFF"/>
          </a:solidFill>
          <a:ln w="19050">
            <a:solidFill>
              <a:srgbClr val="0097A7"/>
            </a:solidFill>
            <a:prstDash val="solid"/>
          </a:ln>
          <a:effectLst>
            <a:outerShdw blurRad="50800" dist="25400" dir="8100000" algn="bl" rotWithShape="0">
              <a:srgbClr val="000000">
                <a:alpha val="12000"/>
              </a:srgbClr>
            </a:outerShdw>
          </a:effectLst>
        </p:spPr>
        <p:txBody>
          <a:bodyPr/>
          <a:lstStyle/>
          <a:p>
            <a:endParaRPr lang="en-US"/>
          </a:p>
        </p:txBody>
      </p:sp>
      <p:sp>
        <p:nvSpPr>
          <p:cNvPr id="28" name="Text 26"/>
          <p:cNvSpPr/>
          <p:nvPr/>
        </p:nvSpPr>
        <p:spPr>
          <a:xfrm>
            <a:off x="658368" y="1956816"/>
            <a:ext cx="1792224" cy="201168"/>
          </a:xfrm>
          <a:prstGeom prst="rect">
            <a:avLst/>
          </a:prstGeom>
          <a:noFill/>
          <a:ln/>
        </p:spPr>
        <p:txBody>
          <a:bodyPr wrap="square" lIns="0" tIns="0" rIns="0" bIns="0" rtlCol="0" anchor="ctr"/>
          <a:lstStyle/>
          <a:p>
            <a:pPr marL="0" indent="0">
              <a:buNone/>
            </a:pPr>
            <a:r>
              <a:rPr lang="en-US" sz="1000" b="1" dirty="0">
                <a:solidFill>
                  <a:srgbClr val="0097A7"/>
                </a:solidFill>
                <a:latin typeface="Courier New" pitchFamily="34" charset="0"/>
                <a:ea typeface="Courier New" pitchFamily="34" charset="-122"/>
                <a:cs typeface="Courier New" pitchFamily="34" charset="-120"/>
              </a:rPr>
              <a:t>rag_worker</a:t>
            </a:r>
            <a:endParaRPr lang="en-US" sz="1000" dirty="0"/>
          </a:p>
        </p:txBody>
      </p:sp>
      <p:sp>
        <p:nvSpPr>
          <p:cNvPr id="29" name="Text 27"/>
          <p:cNvSpPr/>
          <p:nvPr/>
        </p:nvSpPr>
        <p:spPr>
          <a:xfrm>
            <a:off x="658368" y="2176272"/>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mode:rag</a:t>
            </a:r>
            <a:endParaRPr lang="en-US" sz="750" dirty="0"/>
          </a:p>
        </p:txBody>
      </p:sp>
      <p:sp>
        <p:nvSpPr>
          <p:cNvPr id="30" name="Text 28"/>
          <p:cNvSpPr/>
          <p:nvPr/>
        </p:nvSpPr>
        <p:spPr>
          <a:xfrm>
            <a:off x="658368" y="2331720"/>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0 tools</a:t>
            </a:r>
            <a:endParaRPr lang="en-US" sz="750" dirty="0"/>
          </a:p>
        </p:txBody>
      </p:sp>
      <p:sp>
        <p:nvSpPr>
          <p:cNvPr id="31" name="Text 29"/>
          <p:cNvSpPr/>
          <p:nvPr/>
        </p:nvSpPr>
        <p:spPr>
          <a:xfrm>
            <a:off x="658368" y="2487168"/>
            <a:ext cx="1792224" cy="164592"/>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Evidence machine</a:t>
            </a:r>
            <a:endParaRPr lang="en-US" sz="850" dirty="0"/>
          </a:p>
        </p:txBody>
      </p:sp>
      <p:sp>
        <p:nvSpPr>
          <p:cNvPr id="32" name="Text 30"/>
          <p:cNvSpPr/>
          <p:nvPr/>
        </p:nvSpPr>
        <p:spPr>
          <a:xfrm>
            <a:off x="658368" y="2660904"/>
            <a:ext cx="1792224" cy="146304"/>
          </a:xfrm>
          <a:prstGeom prst="rect">
            <a:avLst/>
          </a:prstGeom>
          <a:noFill/>
          <a:ln/>
        </p:spPr>
        <p:txBody>
          <a:bodyPr wrap="square" lIns="0" tIns="0" rIns="0" bIns="0" rtlCol="0" anchor="ctr"/>
          <a:lstStyle/>
          <a:p>
            <a:pPr marL="0" indent="0">
              <a:buNone/>
            </a:pPr>
            <a:r>
              <a:rPr lang="en-US" sz="700" dirty="0">
                <a:solidFill>
                  <a:srgbClr val="999999"/>
                </a:solidFill>
                <a:latin typeface="Arial" pitchFamily="34" charset="0"/>
                <a:ea typeface="Arial" pitchFamily="34" charset="-122"/>
                <a:cs typeface="Arial" pitchFamily="34" charset="-120"/>
              </a:rPr>
              <a:t>top_level_or_worker</a:t>
            </a:r>
            <a:endParaRPr lang="en-US" sz="700" dirty="0"/>
          </a:p>
        </p:txBody>
      </p:sp>
      <p:sp>
        <p:nvSpPr>
          <p:cNvPr id="33" name="Shape 31"/>
          <p:cNvSpPr/>
          <p:nvPr/>
        </p:nvSpPr>
        <p:spPr>
          <a:xfrm>
            <a:off x="2606040" y="1920240"/>
            <a:ext cx="1920240" cy="914400"/>
          </a:xfrm>
          <a:prstGeom prst="rect">
            <a:avLst/>
          </a:prstGeom>
          <a:solidFill>
            <a:srgbClr val="FFFFFF"/>
          </a:solidFill>
          <a:ln w="19050">
            <a:solidFill>
              <a:srgbClr val="1B2A4A"/>
            </a:solidFill>
            <a:prstDash val="solid"/>
          </a:ln>
          <a:effectLst>
            <a:outerShdw blurRad="50800" dist="25400" dir="8100000" algn="bl" rotWithShape="0">
              <a:srgbClr val="000000">
                <a:alpha val="12000"/>
              </a:srgbClr>
            </a:outerShdw>
          </a:effectLst>
        </p:spPr>
        <p:txBody>
          <a:bodyPr/>
          <a:lstStyle/>
          <a:p>
            <a:endParaRPr lang="en-US"/>
          </a:p>
        </p:txBody>
      </p:sp>
      <p:sp>
        <p:nvSpPr>
          <p:cNvPr id="34" name="Text 32"/>
          <p:cNvSpPr/>
          <p:nvPr/>
        </p:nvSpPr>
        <p:spPr>
          <a:xfrm>
            <a:off x="2670048" y="1956816"/>
            <a:ext cx="1792224" cy="201168"/>
          </a:xfrm>
          <a:prstGeom prst="rect">
            <a:avLst/>
          </a:prstGeom>
          <a:noFill/>
          <a:ln/>
        </p:spPr>
        <p:txBody>
          <a:bodyPr wrap="square" lIns="0" tIns="0" rIns="0" bIns="0" rtlCol="0" anchor="ctr"/>
          <a:lstStyle/>
          <a:p>
            <a:pPr marL="0" indent="0">
              <a:buNone/>
            </a:pPr>
            <a:r>
              <a:rPr lang="en-US" sz="1000" b="1" dirty="0">
                <a:solidFill>
                  <a:srgbClr val="1B2A4A"/>
                </a:solidFill>
                <a:latin typeface="Courier New" pitchFamily="34" charset="0"/>
                <a:ea typeface="Courier New" pitchFamily="34" charset="-122"/>
                <a:cs typeface="Courier New" pitchFamily="34" charset="-120"/>
              </a:rPr>
              <a:t>utility</a:t>
            </a:r>
            <a:endParaRPr lang="en-US" sz="1000" dirty="0"/>
          </a:p>
        </p:txBody>
      </p:sp>
      <p:sp>
        <p:nvSpPr>
          <p:cNvPr id="35" name="Text 33"/>
          <p:cNvSpPr/>
          <p:nvPr/>
        </p:nvSpPr>
        <p:spPr>
          <a:xfrm>
            <a:off x="2670048" y="2176272"/>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mode:react</a:t>
            </a:r>
            <a:endParaRPr lang="en-US" sz="750" dirty="0"/>
          </a:p>
        </p:txBody>
      </p:sp>
      <p:sp>
        <p:nvSpPr>
          <p:cNvPr id="36" name="Text 34"/>
          <p:cNvSpPr/>
          <p:nvPr/>
        </p:nvSpPr>
        <p:spPr>
          <a:xfrm>
            <a:off x="2670048" y="2331720"/>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7 tools</a:t>
            </a:r>
            <a:endParaRPr lang="en-US" sz="750" dirty="0"/>
          </a:p>
        </p:txBody>
      </p:sp>
      <p:sp>
        <p:nvSpPr>
          <p:cNvPr id="37" name="Text 35"/>
          <p:cNvSpPr/>
          <p:nvPr/>
        </p:nvSpPr>
        <p:spPr>
          <a:xfrm>
            <a:off x="2670048" y="2487168"/>
            <a:ext cx="1792224" cy="164592"/>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Lightweight worker</a:t>
            </a:r>
            <a:endParaRPr lang="en-US" sz="850" dirty="0"/>
          </a:p>
        </p:txBody>
      </p:sp>
      <p:sp>
        <p:nvSpPr>
          <p:cNvPr id="38" name="Text 36"/>
          <p:cNvSpPr/>
          <p:nvPr/>
        </p:nvSpPr>
        <p:spPr>
          <a:xfrm>
            <a:off x="2670048" y="2660904"/>
            <a:ext cx="1792224" cy="146304"/>
          </a:xfrm>
          <a:prstGeom prst="rect">
            <a:avLst/>
          </a:prstGeom>
          <a:noFill/>
          <a:ln/>
        </p:spPr>
        <p:txBody>
          <a:bodyPr wrap="square" lIns="0" tIns="0" rIns="0" bIns="0" rtlCol="0" anchor="ctr"/>
          <a:lstStyle/>
          <a:p>
            <a:pPr marL="0" indent="0">
              <a:buNone/>
            </a:pPr>
            <a:r>
              <a:rPr lang="en-US" sz="700" dirty="0">
                <a:solidFill>
                  <a:srgbClr val="999999"/>
                </a:solidFill>
                <a:latin typeface="Arial" pitchFamily="34" charset="0"/>
                <a:ea typeface="Arial" pitchFamily="34" charset="-122"/>
                <a:cs typeface="Arial" pitchFamily="34" charset="-120"/>
              </a:rPr>
              <a:t>worker</a:t>
            </a:r>
            <a:endParaRPr lang="en-US" sz="700" dirty="0"/>
          </a:p>
        </p:txBody>
      </p:sp>
      <p:sp>
        <p:nvSpPr>
          <p:cNvPr id="39" name="Shape 37"/>
          <p:cNvSpPr/>
          <p:nvPr/>
        </p:nvSpPr>
        <p:spPr>
          <a:xfrm>
            <a:off x="4617720" y="1920240"/>
            <a:ext cx="1920240" cy="914400"/>
          </a:xfrm>
          <a:prstGeom prst="rect">
            <a:avLst/>
          </a:prstGeom>
          <a:solidFill>
            <a:srgbClr val="FFFFFF"/>
          </a:solidFill>
          <a:ln w="19050">
            <a:solidFill>
              <a:srgbClr val="666666"/>
            </a:solidFill>
            <a:prstDash val="solid"/>
          </a:ln>
          <a:effectLst>
            <a:outerShdw blurRad="50800" dist="25400" dir="8100000" algn="bl" rotWithShape="0">
              <a:srgbClr val="000000">
                <a:alpha val="12000"/>
              </a:srgbClr>
            </a:outerShdw>
          </a:effectLst>
        </p:spPr>
        <p:txBody>
          <a:bodyPr/>
          <a:lstStyle/>
          <a:p>
            <a:endParaRPr lang="en-US"/>
          </a:p>
        </p:txBody>
      </p:sp>
      <p:sp>
        <p:nvSpPr>
          <p:cNvPr id="40" name="Text 38"/>
          <p:cNvSpPr/>
          <p:nvPr/>
        </p:nvSpPr>
        <p:spPr>
          <a:xfrm>
            <a:off x="4681728" y="1956816"/>
            <a:ext cx="1792224" cy="201168"/>
          </a:xfrm>
          <a:prstGeom prst="rect">
            <a:avLst/>
          </a:prstGeom>
          <a:noFill/>
          <a:ln/>
        </p:spPr>
        <p:txBody>
          <a:bodyPr wrap="square" lIns="0" tIns="0" rIns="0" bIns="0" rtlCol="0" anchor="ctr"/>
          <a:lstStyle/>
          <a:p>
            <a:pPr marL="0" indent="0">
              <a:buNone/>
            </a:pPr>
            <a:r>
              <a:rPr lang="en-US" sz="1000" b="1" dirty="0">
                <a:solidFill>
                  <a:srgbClr val="666666"/>
                </a:solidFill>
                <a:latin typeface="Courier New" pitchFamily="34" charset="0"/>
                <a:ea typeface="Courier New" pitchFamily="34" charset="-122"/>
                <a:cs typeface="Courier New" pitchFamily="34" charset="-120"/>
              </a:rPr>
              <a:t>planner</a:t>
            </a:r>
            <a:endParaRPr lang="en-US" sz="1000" dirty="0"/>
          </a:p>
        </p:txBody>
      </p:sp>
      <p:sp>
        <p:nvSpPr>
          <p:cNvPr id="41" name="Text 39"/>
          <p:cNvSpPr/>
          <p:nvPr/>
        </p:nvSpPr>
        <p:spPr>
          <a:xfrm>
            <a:off x="4681728" y="2176272"/>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mode:planner</a:t>
            </a:r>
            <a:endParaRPr lang="en-US" sz="750" dirty="0"/>
          </a:p>
        </p:txBody>
      </p:sp>
      <p:sp>
        <p:nvSpPr>
          <p:cNvPr id="42" name="Text 40"/>
          <p:cNvSpPr/>
          <p:nvPr/>
        </p:nvSpPr>
        <p:spPr>
          <a:xfrm>
            <a:off x="4681728" y="2331720"/>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0 tools</a:t>
            </a:r>
            <a:endParaRPr lang="en-US" sz="750" dirty="0"/>
          </a:p>
        </p:txBody>
      </p:sp>
      <p:sp>
        <p:nvSpPr>
          <p:cNvPr id="43" name="Text 41"/>
          <p:cNvSpPr/>
          <p:nvPr/>
        </p:nvSpPr>
        <p:spPr>
          <a:xfrm>
            <a:off x="4681728" y="2487168"/>
            <a:ext cx="1792224" cy="164592"/>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Task planner</a:t>
            </a:r>
            <a:endParaRPr lang="en-US" sz="850" dirty="0"/>
          </a:p>
        </p:txBody>
      </p:sp>
      <p:sp>
        <p:nvSpPr>
          <p:cNvPr id="44" name="Text 42"/>
          <p:cNvSpPr/>
          <p:nvPr/>
        </p:nvSpPr>
        <p:spPr>
          <a:xfrm>
            <a:off x="4681728" y="2660904"/>
            <a:ext cx="1792224" cy="146304"/>
          </a:xfrm>
          <a:prstGeom prst="rect">
            <a:avLst/>
          </a:prstGeom>
          <a:noFill/>
          <a:ln/>
        </p:spPr>
        <p:txBody>
          <a:bodyPr wrap="square" lIns="0" tIns="0" rIns="0" bIns="0" rtlCol="0" anchor="ctr"/>
          <a:lstStyle/>
          <a:p>
            <a:pPr marL="0" indent="0">
              <a:buNone/>
            </a:pPr>
            <a:r>
              <a:rPr lang="en-US" sz="700" dirty="0">
                <a:solidFill>
                  <a:srgbClr val="999999"/>
                </a:solidFill>
                <a:latin typeface="Arial" pitchFamily="34" charset="0"/>
                <a:ea typeface="Arial" pitchFamily="34" charset="-122"/>
                <a:cs typeface="Arial" pitchFamily="34" charset="-120"/>
              </a:rPr>
              <a:t>coord_only</a:t>
            </a:r>
            <a:endParaRPr lang="en-US" sz="700" dirty="0"/>
          </a:p>
        </p:txBody>
      </p:sp>
      <p:sp>
        <p:nvSpPr>
          <p:cNvPr id="45" name="Shape 43"/>
          <p:cNvSpPr/>
          <p:nvPr/>
        </p:nvSpPr>
        <p:spPr>
          <a:xfrm>
            <a:off x="6629400" y="1920240"/>
            <a:ext cx="1920240" cy="914400"/>
          </a:xfrm>
          <a:prstGeom prst="rect">
            <a:avLst/>
          </a:prstGeom>
          <a:solidFill>
            <a:srgbClr val="FFFFFF"/>
          </a:solidFill>
          <a:ln w="19050">
            <a:solidFill>
              <a:srgbClr val="666666"/>
            </a:solidFill>
            <a:prstDash val="solid"/>
          </a:ln>
          <a:effectLst>
            <a:outerShdw blurRad="50800" dist="25400" dir="8100000" algn="bl" rotWithShape="0">
              <a:srgbClr val="000000">
                <a:alpha val="12000"/>
              </a:srgbClr>
            </a:outerShdw>
          </a:effectLst>
        </p:spPr>
        <p:txBody>
          <a:bodyPr/>
          <a:lstStyle/>
          <a:p>
            <a:endParaRPr lang="en-US"/>
          </a:p>
        </p:txBody>
      </p:sp>
      <p:sp>
        <p:nvSpPr>
          <p:cNvPr id="46" name="Text 44"/>
          <p:cNvSpPr/>
          <p:nvPr/>
        </p:nvSpPr>
        <p:spPr>
          <a:xfrm>
            <a:off x="6693408" y="1956816"/>
            <a:ext cx="1792224" cy="201168"/>
          </a:xfrm>
          <a:prstGeom prst="rect">
            <a:avLst/>
          </a:prstGeom>
          <a:noFill/>
          <a:ln/>
        </p:spPr>
        <p:txBody>
          <a:bodyPr wrap="square" lIns="0" tIns="0" rIns="0" bIns="0" rtlCol="0" anchor="ctr"/>
          <a:lstStyle/>
          <a:p>
            <a:pPr marL="0" indent="0">
              <a:buNone/>
            </a:pPr>
            <a:r>
              <a:rPr lang="en-US" sz="1000" b="1" dirty="0">
                <a:solidFill>
                  <a:srgbClr val="666666"/>
                </a:solidFill>
                <a:latin typeface="Courier New" pitchFamily="34" charset="0"/>
                <a:ea typeface="Courier New" pitchFamily="34" charset="-122"/>
                <a:cs typeface="Courier New" pitchFamily="34" charset="-120"/>
              </a:rPr>
              <a:t>finalizer</a:t>
            </a:r>
            <a:endParaRPr lang="en-US" sz="1000" dirty="0"/>
          </a:p>
        </p:txBody>
      </p:sp>
      <p:sp>
        <p:nvSpPr>
          <p:cNvPr id="47" name="Text 45"/>
          <p:cNvSpPr/>
          <p:nvPr/>
        </p:nvSpPr>
        <p:spPr>
          <a:xfrm>
            <a:off x="6693408" y="2176272"/>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mode:finalizer</a:t>
            </a:r>
            <a:endParaRPr lang="en-US" sz="750" dirty="0"/>
          </a:p>
        </p:txBody>
      </p:sp>
      <p:sp>
        <p:nvSpPr>
          <p:cNvPr id="48" name="Text 46"/>
          <p:cNvSpPr/>
          <p:nvPr/>
        </p:nvSpPr>
        <p:spPr>
          <a:xfrm>
            <a:off x="6693408" y="2331720"/>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0 tools</a:t>
            </a:r>
            <a:endParaRPr lang="en-US" sz="750" dirty="0"/>
          </a:p>
        </p:txBody>
      </p:sp>
      <p:sp>
        <p:nvSpPr>
          <p:cNvPr id="49" name="Text 47"/>
          <p:cNvSpPr/>
          <p:nvPr/>
        </p:nvSpPr>
        <p:spPr>
          <a:xfrm>
            <a:off x="6693408" y="2487168"/>
            <a:ext cx="1792224" cy="164592"/>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Output synthesizer</a:t>
            </a:r>
            <a:endParaRPr lang="en-US" sz="850" dirty="0"/>
          </a:p>
        </p:txBody>
      </p:sp>
      <p:sp>
        <p:nvSpPr>
          <p:cNvPr id="50" name="Text 48"/>
          <p:cNvSpPr/>
          <p:nvPr/>
        </p:nvSpPr>
        <p:spPr>
          <a:xfrm>
            <a:off x="6693408" y="2660904"/>
            <a:ext cx="1792224" cy="146304"/>
          </a:xfrm>
          <a:prstGeom prst="rect">
            <a:avLst/>
          </a:prstGeom>
          <a:noFill/>
          <a:ln/>
        </p:spPr>
        <p:txBody>
          <a:bodyPr wrap="square" lIns="0" tIns="0" rIns="0" bIns="0" rtlCol="0" anchor="ctr"/>
          <a:lstStyle/>
          <a:p>
            <a:pPr marL="0" indent="0">
              <a:buNone/>
            </a:pPr>
            <a:r>
              <a:rPr lang="en-US" sz="700" dirty="0">
                <a:solidFill>
                  <a:srgbClr val="999999"/>
                </a:solidFill>
                <a:latin typeface="Arial" pitchFamily="34" charset="0"/>
                <a:ea typeface="Arial" pitchFamily="34" charset="-122"/>
                <a:cs typeface="Arial" pitchFamily="34" charset="-120"/>
              </a:rPr>
              <a:t>coord_only</a:t>
            </a:r>
            <a:endParaRPr lang="en-US" sz="700" dirty="0"/>
          </a:p>
        </p:txBody>
      </p:sp>
      <p:sp>
        <p:nvSpPr>
          <p:cNvPr id="51" name="Shape 49"/>
          <p:cNvSpPr/>
          <p:nvPr/>
        </p:nvSpPr>
        <p:spPr>
          <a:xfrm>
            <a:off x="1600200" y="2926080"/>
            <a:ext cx="1920240" cy="914400"/>
          </a:xfrm>
          <a:prstGeom prst="rect">
            <a:avLst/>
          </a:prstGeom>
          <a:solidFill>
            <a:srgbClr val="FFFFFF"/>
          </a:solidFill>
          <a:ln w="19050">
            <a:solidFill>
              <a:srgbClr val="666666"/>
            </a:solidFill>
            <a:prstDash val="solid"/>
          </a:ln>
          <a:effectLst>
            <a:outerShdw blurRad="50800" dist="25400" dir="8100000" algn="bl" rotWithShape="0">
              <a:srgbClr val="000000">
                <a:alpha val="12000"/>
              </a:srgbClr>
            </a:outerShdw>
          </a:effectLst>
        </p:spPr>
        <p:txBody>
          <a:bodyPr/>
          <a:lstStyle/>
          <a:p>
            <a:endParaRPr lang="en-US"/>
          </a:p>
        </p:txBody>
      </p:sp>
      <p:sp>
        <p:nvSpPr>
          <p:cNvPr id="52" name="Text 50"/>
          <p:cNvSpPr/>
          <p:nvPr/>
        </p:nvSpPr>
        <p:spPr>
          <a:xfrm>
            <a:off x="1664208" y="2962656"/>
            <a:ext cx="1792224" cy="201168"/>
          </a:xfrm>
          <a:prstGeom prst="rect">
            <a:avLst/>
          </a:prstGeom>
          <a:noFill/>
          <a:ln/>
        </p:spPr>
        <p:txBody>
          <a:bodyPr wrap="square" lIns="0" tIns="0" rIns="0" bIns="0" rtlCol="0" anchor="ctr"/>
          <a:lstStyle/>
          <a:p>
            <a:pPr marL="0" indent="0">
              <a:buNone/>
            </a:pPr>
            <a:r>
              <a:rPr lang="en-US" sz="1000" b="1" dirty="0">
                <a:solidFill>
                  <a:srgbClr val="666666"/>
                </a:solidFill>
                <a:latin typeface="Courier New" pitchFamily="34" charset="0"/>
                <a:ea typeface="Courier New" pitchFamily="34" charset="-122"/>
                <a:cs typeface="Courier New" pitchFamily="34" charset="-120"/>
              </a:rPr>
              <a:t>verifier</a:t>
            </a:r>
            <a:endParaRPr lang="en-US" sz="1000" dirty="0"/>
          </a:p>
        </p:txBody>
      </p:sp>
      <p:sp>
        <p:nvSpPr>
          <p:cNvPr id="53" name="Text 51"/>
          <p:cNvSpPr/>
          <p:nvPr/>
        </p:nvSpPr>
        <p:spPr>
          <a:xfrm>
            <a:off x="1664208" y="3182112"/>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mode:verifier</a:t>
            </a:r>
            <a:endParaRPr lang="en-US" sz="750" dirty="0"/>
          </a:p>
        </p:txBody>
      </p:sp>
      <p:sp>
        <p:nvSpPr>
          <p:cNvPr id="54" name="Text 52"/>
          <p:cNvSpPr/>
          <p:nvPr/>
        </p:nvSpPr>
        <p:spPr>
          <a:xfrm>
            <a:off x="1664208" y="3337560"/>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10 tools</a:t>
            </a:r>
            <a:endParaRPr lang="en-US" sz="750" dirty="0"/>
          </a:p>
        </p:txBody>
      </p:sp>
      <p:sp>
        <p:nvSpPr>
          <p:cNvPr id="55" name="Text 53"/>
          <p:cNvSpPr/>
          <p:nvPr/>
        </p:nvSpPr>
        <p:spPr>
          <a:xfrm>
            <a:off x="1664208" y="3493008"/>
            <a:ext cx="1792224" cy="164592"/>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Fact checker</a:t>
            </a:r>
            <a:endParaRPr lang="en-US" sz="850" dirty="0"/>
          </a:p>
        </p:txBody>
      </p:sp>
      <p:sp>
        <p:nvSpPr>
          <p:cNvPr id="56" name="Text 54"/>
          <p:cNvSpPr/>
          <p:nvPr/>
        </p:nvSpPr>
        <p:spPr>
          <a:xfrm>
            <a:off x="1664208" y="3666744"/>
            <a:ext cx="1792224" cy="146304"/>
          </a:xfrm>
          <a:prstGeom prst="rect">
            <a:avLst/>
          </a:prstGeom>
          <a:noFill/>
          <a:ln/>
        </p:spPr>
        <p:txBody>
          <a:bodyPr wrap="square" lIns="0" tIns="0" rIns="0" bIns="0" rtlCol="0" anchor="ctr"/>
          <a:lstStyle/>
          <a:p>
            <a:pPr marL="0" indent="0">
              <a:buNone/>
            </a:pPr>
            <a:r>
              <a:rPr lang="en-US" sz="700" dirty="0">
                <a:solidFill>
                  <a:srgbClr val="999999"/>
                </a:solidFill>
                <a:latin typeface="Arial" pitchFamily="34" charset="0"/>
                <a:ea typeface="Arial" pitchFamily="34" charset="-122"/>
                <a:cs typeface="Arial" pitchFamily="34" charset="-120"/>
              </a:rPr>
              <a:t>coord_only</a:t>
            </a:r>
            <a:endParaRPr lang="en-US" sz="700" dirty="0"/>
          </a:p>
        </p:txBody>
      </p:sp>
      <p:sp>
        <p:nvSpPr>
          <p:cNvPr id="57" name="Shape 55"/>
          <p:cNvSpPr/>
          <p:nvPr/>
        </p:nvSpPr>
        <p:spPr>
          <a:xfrm>
            <a:off x="3611880" y="2926080"/>
            <a:ext cx="1920240" cy="914400"/>
          </a:xfrm>
          <a:prstGeom prst="rect">
            <a:avLst/>
          </a:prstGeom>
          <a:solidFill>
            <a:srgbClr val="FFFFFF"/>
          </a:solidFill>
          <a:ln w="19050">
            <a:solidFill>
              <a:srgbClr val="666666"/>
            </a:solidFill>
            <a:prstDash val="solid"/>
          </a:ln>
          <a:effectLst>
            <a:outerShdw blurRad="50800" dist="25400" dir="8100000" algn="bl" rotWithShape="0">
              <a:srgbClr val="000000">
                <a:alpha val="12000"/>
              </a:srgbClr>
            </a:outerShdw>
          </a:effectLst>
        </p:spPr>
        <p:txBody>
          <a:bodyPr/>
          <a:lstStyle/>
          <a:p>
            <a:endParaRPr lang="en-US"/>
          </a:p>
        </p:txBody>
      </p:sp>
      <p:sp>
        <p:nvSpPr>
          <p:cNvPr id="58" name="Text 56"/>
          <p:cNvSpPr/>
          <p:nvPr/>
        </p:nvSpPr>
        <p:spPr>
          <a:xfrm>
            <a:off x="3675888" y="2962656"/>
            <a:ext cx="1792224" cy="201168"/>
          </a:xfrm>
          <a:prstGeom prst="rect">
            <a:avLst/>
          </a:prstGeom>
          <a:noFill/>
          <a:ln/>
        </p:spPr>
        <p:txBody>
          <a:bodyPr wrap="square" lIns="0" tIns="0" rIns="0" bIns="0" rtlCol="0" anchor="ctr"/>
          <a:lstStyle/>
          <a:p>
            <a:pPr marL="0" indent="0">
              <a:buNone/>
            </a:pPr>
            <a:r>
              <a:rPr lang="en-US" sz="1000" b="1" dirty="0">
                <a:solidFill>
                  <a:srgbClr val="666666"/>
                </a:solidFill>
                <a:latin typeface="Courier New" pitchFamily="34" charset="0"/>
                <a:ea typeface="Courier New" pitchFamily="34" charset="-122"/>
                <a:cs typeface="Courier New" pitchFamily="34" charset="-120"/>
              </a:rPr>
              <a:t>memory_maint.</a:t>
            </a:r>
            <a:endParaRPr lang="en-US" sz="1000" dirty="0"/>
          </a:p>
        </p:txBody>
      </p:sp>
      <p:sp>
        <p:nvSpPr>
          <p:cNvPr id="59" name="Text 57"/>
          <p:cNvSpPr/>
          <p:nvPr/>
        </p:nvSpPr>
        <p:spPr>
          <a:xfrm>
            <a:off x="3675888" y="3182112"/>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mode:memory_maint.</a:t>
            </a:r>
            <a:endParaRPr lang="en-US" sz="750" dirty="0"/>
          </a:p>
        </p:txBody>
      </p:sp>
      <p:sp>
        <p:nvSpPr>
          <p:cNvPr id="60" name="Text 58"/>
          <p:cNvSpPr/>
          <p:nvPr/>
        </p:nvSpPr>
        <p:spPr>
          <a:xfrm>
            <a:off x="3675888" y="3337560"/>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3 tools</a:t>
            </a:r>
            <a:endParaRPr lang="en-US" sz="750" dirty="0"/>
          </a:p>
        </p:txBody>
      </p:sp>
      <p:sp>
        <p:nvSpPr>
          <p:cNvPr id="61" name="Text 59"/>
          <p:cNvSpPr/>
          <p:nvPr/>
        </p:nvSpPr>
        <p:spPr>
          <a:xfrm>
            <a:off x="3675888" y="3493008"/>
            <a:ext cx="1792224" cy="164592"/>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Memory extractor</a:t>
            </a:r>
            <a:endParaRPr lang="en-US" sz="850" dirty="0"/>
          </a:p>
        </p:txBody>
      </p:sp>
      <p:sp>
        <p:nvSpPr>
          <p:cNvPr id="62" name="Text 60"/>
          <p:cNvSpPr/>
          <p:nvPr/>
        </p:nvSpPr>
        <p:spPr>
          <a:xfrm>
            <a:off x="3675888" y="3666744"/>
            <a:ext cx="1792224" cy="146304"/>
          </a:xfrm>
          <a:prstGeom prst="rect">
            <a:avLst/>
          </a:prstGeom>
          <a:noFill/>
          <a:ln/>
        </p:spPr>
        <p:txBody>
          <a:bodyPr wrap="square" lIns="0" tIns="0" rIns="0" bIns="0" rtlCol="0" anchor="ctr"/>
          <a:lstStyle/>
          <a:p>
            <a:pPr marL="0" indent="0">
              <a:buNone/>
            </a:pPr>
            <a:r>
              <a:rPr lang="en-US" sz="700" dirty="0">
                <a:solidFill>
                  <a:srgbClr val="999999"/>
                </a:solidFill>
                <a:latin typeface="Arial" pitchFamily="34" charset="0"/>
                <a:ea typeface="Arial" pitchFamily="34" charset="-122"/>
                <a:cs typeface="Arial" pitchFamily="34" charset="-120"/>
              </a:rPr>
              <a:t>maintenance</a:t>
            </a:r>
            <a:endParaRPr lang="en-US" sz="700" dirty="0"/>
          </a:p>
        </p:txBody>
      </p:sp>
      <p:sp>
        <p:nvSpPr>
          <p:cNvPr id="63" name="Shape 61"/>
          <p:cNvSpPr/>
          <p:nvPr/>
        </p:nvSpPr>
        <p:spPr>
          <a:xfrm>
            <a:off x="5623560" y="2926080"/>
            <a:ext cx="1920240" cy="914400"/>
          </a:xfrm>
          <a:prstGeom prst="rect">
            <a:avLst/>
          </a:prstGeom>
          <a:solidFill>
            <a:srgbClr val="FFFFFF"/>
          </a:solidFill>
          <a:ln w="19050">
            <a:solidFill>
              <a:srgbClr val="F9A825"/>
            </a:solidFill>
            <a:prstDash val="solid"/>
          </a:ln>
          <a:effectLst>
            <a:outerShdw blurRad="50800" dist="25400" dir="8100000" algn="bl" rotWithShape="0">
              <a:srgbClr val="000000">
                <a:alpha val="12000"/>
              </a:srgbClr>
            </a:outerShdw>
          </a:effectLst>
        </p:spPr>
        <p:txBody>
          <a:bodyPr/>
          <a:lstStyle/>
          <a:p>
            <a:endParaRPr lang="en-US"/>
          </a:p>
        </p:txBody>
      </p:sp>
      <p:sp>
        <p:nvSpPr>
          <p:cNvPr id="64" name="Text 62"/>
          <p:cNvSpPr/>
          <p:nvPr/>
        </p:nvSpPr>
        <p:spPr>
          <a:xfrm>
            <a:off x="5687568" y="2962656"/>
            <a:ext cx="1792224" cy="201168"/>
          </a:xfrm>
          <a:prstGeom prst="rect">
            <a:avLst/>
          </a:prstGeom>
          <a:noFill/>
          <a:ln/>
        </p:spPr>
        <p:txBody>
          <a:bodyPr wrap="square" lIns="0" tIns="0" rIns="0" bIns="0" rtlCol="0" anchor="ctr"/>
          <a:lstStyle/>
          <a:p>
            <a:pPr marL="0" indent="0">
              <a:buNone/>
            </a:pPr>
            <a:r>
              <a:rPr lang="en-US" sz="1000" b="1" dirty="0">
                <a:solidFill>
                  <a:srgbClr val="F9A825"/>
                </a:solidFill>
                <a:latin typeface="Courier New" pitchFamily="34" charset="0"/>
                <a:ea typeface="Courier New" pitchFamily="34" charset="-122"/>
                <a:cs typeface="Courier New" pitchFamily="34" charset="-120"/>
              </a:rPr>
              <a:t>graph_manager</a:t>
            </a:r>
            <a:endParaRPr lang="en-US" sz="1000" dirty="0"/>
          </a:p>
        </p:txBody>
      </p:sp>
      <p:sp>
        <p:nvSpPr>
          <p:cNvPr id="65" name="Text 63"/>
          <p:cNvSpPr/>
          <p:nvPr/>
        </p:nvSpPr>
        <p:spPr>
          <a:xfrm>
            <a:off x="5687568" y="3182112"/>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mode:react</a:t>
            </a:r>
            <a:endParaRPr lang="en-US" sz="750" dirty="0"/>
          </a:p>
        </p:txBody>
      </p:sp>
      <p:sp>
        <p:nvSpPr>
          <p:cNvPr id="66" name="Text 64"/>
          <p:cNvSpPr/>
          <p:nvPr/>
        </p:nvSpPr>
        <p:spPr>
          <a:xfrm>
            <a:off x="5687568" y="3337560"/>
            <a:ext cx="1792224" cy="155448"/>
          </a:xfrm>
          <a:prstGeom prst="rect">
            <a:avLst/>
          </a:prstGeom>
          <a:noFill/>
          <a:ln/>
        </p:spPr>
        <p:txBody>
          <a:bodyPr wrap="square" lIns="0" tIns="0" rIns="0" bIns="0" rtlCol="0" anchor="ctr"/>
          <a:lstStyle/>
          <a:p>
            <a:pPr marL="0" indent="0">
              <a:buNone/>
            </a:pPr>
            <a:r>
              <a:rPr lang="en-US" sz="750" dirty="0">
                <a:solidFill>
                  <a:srgbClr val="666666"/>
                </a:solidFill>
                <a:latin typeface="Arial" pitchFamily="34" charset="0"/>
                <a:ea typeface="Arial" pitchFamily="34" charset="-122"/>
                <a:cs typeface="Arial" pitchFamily="34" charset="-120"/>
              </a:rPr>
              <a:t>5 tools</a:t>
            </a:r>
            <a:endParaRPr lang="en-US" sz="750" dirty="0"/>
          </a:p>
        </p:txBody>
      </p:sp>
      <p:sp>
        <p:nvSpPr>
          <p:cNvPr id="67" name="Text 65"/>
          <p:cNvSpPr/>
          <p:nvPr/>
        </p:nvSpPr>
        <p:spPr>
          <a:xfrm>
            <a:off x="5687568" y="3493008"/>
            <a:ext cx="1792224" cy="164592"/>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Graph retrieval worker</a:t>
            </a:r>
            <a:endParaRPr lang="en-US" sz="850" dirty="0"/>
          </a:p>
        </p:txBody>
      </p:sp>
      <p:sp>
        <p:nvSpPr>
          <p:cNvPr id="68" name="Text 66"/>
          <p:cNvSpPr/>
          <p:nvPr/>
        </p:nvSpPr>
        <p:spPr>
          <a:xfrm>
            <a:off x="5687568" y="3666744"/>
            <a:ext cx="1792224" cy="146304"/>
          </a:xfrm>
          <a:prstGeom prst="rect">
            <a:avLst/>
          </a:prstGeom>
          <a:noFill/>
          <a:ln/>
        </p:spPr>
        <p:txBody>
          <a:bodyPr wrap="square" lIns="0" tIns="0" rIns="0" bIns="0" rtlCol="0" anchor="ctr"/>
          <a:lstStyle/>
          <a:p>
            <a:pPr marL="0" indent="0">
              <a:buNone/>
            </a:pPr>
            <a:r>
              <a:rPr lang="en-US" sz="700" b="1" dirty="0">
                <a:solidFill>
                  <a:srgbClr val="F9A825"/>
                </a:solidFill>
                <a:latin typeface="Arial" pitchFamily="34" charset="0"/>
                <a:ea typeface="Arial" pitchFamily="34" charset="-122"/>
                <a:cs typeface="Arial" pitchFamily="34" charset="-120"/>
              </a:rPr>
              <a:t>worker (NEW)</a:t>
            </a:r>
            <a:endParaRPr lang="en-US" sz="700" dirty="0"/>
          </a:p>
        </p:txBody>
      </p:sp>
      <p:sp>
        <p:nvSpPr>
          <p:cNvPr id="69" name="Text 67"/>
          <p:cNvSpPr/>
          <p:nvPr/>
        </p:nvSpPr>
        <p:spPr>
          <a:xfrm>
            <a:off x="502920" y="3858768"/>
            <a:ext cx="8138160" cy="201168"/>
          </a:xfrm>
          <a:prstGeom prst="rect">
            <a:avLst/>
          </a:prstGeom>
          <a:noFill/>
          <a:ln/>
        </p:spPr>
        <p:txBody>
          <a:bodyPr wrap="square" lIns="0" tIns="0" rIns="0" bIns="0" rtlCol="0" anchor="ctr"/>
          <a:lstStyle/>
          <a:p>
            <a:pPr marL="0" indent="0" algn="ctr">
              <a:buNone/>
            </a:pPr>
            <a:r>
              <a:rPr lang="en-US" sz="900" dirty="0">
                <a:solidFill>
                  <a:srgbClr val="666666"/>
                </a:solidFill>
                <a:latin typeface="Arial" pitchFamily="34" charset="0"/>
                <a:ea typeface="Arial" pitchFamily="34" charset="-122"/>
                <a:cs typeface="Arial" pitchFamily="34" charset="-120"/>
              </a:rPr>
              <a:t>Teal = top-level   |   Navy = worker/manager   |   Gray = coordinator-only/maintenance   |   Amber = new</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How Agent Mode Maps to Execution</a:t>
            </a:r>
            <a:endParaRPr lang="en-US" sz="2600" dirty="0"/>
          </a:p>
        </p:txBody>
      </p:sp>
      <p:sp>
        <p:nvSpPr>
          <p:cNvPr id="3" name="Shape 1"/>
          <p:cNvSpPr/>
          <p:nvPr/>
        </p:nvSpPr>
        <p:spPr>
          <a:xfrm>
            <a:off x="502920" y="960120"/>
            <a:ext cx="1645920" cy="274320"/>
          </a:xfrm>
          <a:prstGeom prst="rect">
            <a:avLst/>
          </a:prstGeom>
          <a:solidFill>
            <a:srgbClr val="1B2A4A"/>
          </a:solidFill>
          <a:ln w="3810">
            <a:solidFill>
              <a:srgbClr val="F0F0F0"/>
            </a:solidFill>
            <a:prstDash val="solid"/>
          </a:ln>
        </p:spPr>
        <p:txBody>
          <a:bodyPr/>
          <a:lstStyle/>
          <a:p>
            <a:endParaRPr lang="en-US"/>
          </a:p>
        </p:txBody>
      </p:sp>
      <p:sp>
        <p:nvSpPr>
          <p:cNvPr id="4" name="Text 2"/>
          <p:cNvSpPr/>
          <p:nvPr/>
        </p:nvSpPr>
        <p:spPr>
          <a:xfrm>
            <a:off x="557784" y="960120"/>
            <a:ext cx="1536192" cy="274320"/>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Mode</a:t>
            </a:r>
            <a:endParaRPr lang="en-US" sz="900" dirty="0"/>
          </a:p>
        </p:txBody>
      </p:sp>
      <p:sp>
        <p:nvSpPr>
          <p:cNvPr id="5" name="Shape 3"/>
          <p:cNvSpPr/>
          <p:nvPr/>
        </p:nvSpPr>
        <p:spPr>
          <a:xfrm>
            <a:off x="2148840" y="960120"/>
            <a:ext cx="2011680" cy="274320"/>
          </a:xfrm>
          <a:prstGeom prst="rect">
            <a:avLst/>
          </a:prstGeom>
          <a:solidFill>
            <a:srgbClr val="1B2A4A"/>
          </a:solidFill>
          <a:ln w="3810">
            <a:solidFill>
              <a:srgbClr val="F0F0F0"/>
            </a:solidFill>
            <a:prstDash val="solid"/>
          </a:ln>
        </p:spPr>
        <p:txBody>
          <a:bodyPr/>
          <a:lstStyle/>
          <a:p>
            <a:endParaRPr lang="en-US"/>
          </a:p>
        </p:txBody>
      </p:sp>
      <p:sp>
        <p:nvSpPr>
          <p:cNvPr id="6" name="Text 4"/>
          <p:cNvSpPr/>
          <p:nvPr/>
        </p:nvSpPr>
        <p:spPr>
          <a:xfrm>
            <a:off x="2203704" y="960120"/>
            <a:ext cx="1901952" cy="274320"/>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QueryLoop Method</a:t>
            </a:r>
            <a:endParaRPr lang="en-US" sz="900" dirty="0"/>
          </a:p>
        </p:txBody>
      </p:sp>
      <p:sp>
        <p:nvSpPr>
          <p:cNvPr id="7" name="Shape 5"/>
          <p:cNvSpPr/>
          <p:nvPr/>
        </p:nvSpPr>
        <p:spPr>
          <a:xfrm>
            <a:off x="4160520" y="960120"/>
            <a:ext cx="4480560" cy="274320"/>
          </a:xfrm>
          <a:prstGeom prst="rect">
            <a:avLst/>
          </a:prstGeom>
          <a:solidFill>
            <a:srgbClr val="1B2A4A"/>
          </a:solidFill>
          <a:ln w="3810">
            <a:solidFill>
              <a:srgbClr val="F0F0F0"/>
            </a:solidFill>
            <a:prstDash val="solid"/>
          </a:ln>
        </p:spPr>
        <p:txBody>
          <a:bodyPr/>
          <a:lstStyle/>
          <a:p>
            <a:endParaRPr lang="en-US"/>
          </a:p>
        </p:txBody>
      </p:sp>
      <p:sp>
        <p:nvSpPr>
          <p:cNvPr id="8" name="Text 6"/>
          <p:cNvSpPr/>
          <p:nvPr/>
        </p:nvSpPr>
        <p:spPr>
          <a:xfrm>
            <a:off x="4215384" y="960120"/>
            <a:ext cx="4370832" cy="274320"/>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What Happens</a:t>
            </a:r>
            <a:endParaRPr lang="en-US" sz="900" dirty="0"/>
          </a:p>
        </p:txBody>
      </p:sp>
      <p:sp>
        <p:nvSpPr>
          <p:cNvPr id="9" name="Shape 7"/>
          <p:cNvSpPr/>
          <p:nvPr/>
        </p:nvSpPr>
        <p:spPr>
          <a:xfrm>
            <a:off x="502920" y="1234440"/>
            <a:ext cx="1645920" cy="274320"/>
          </a:xfrm>
          <a:prstGeom prst="rect">
            <a:avLst/>
          </a:prstGeom>
          <a:solidFill>
            <a:srgbClr val="F5F5F5"/>
          </a:solidFill>
          <a:ln w="3810">
            <a:solidFill>
              <a:srgbClr val="F0F0F0"/>
            </a:solidFill>
            <a:prstDash val="solid"/>
          </a:ln>
        </p:spPr>
        <p:txBody>
          <a:bodyPr/>
          <a:lstStyle/>
          <a:p>
            <a:endParaRPr lang="en-US"/>
          </a:p>
        </p:txBody>
      </p:sp>
      <p:sp>
        <p:nvSpPr>
          <p:cNvPr id="10" name="Text 8"/>
          <p:cNvSpPr/>
          <p:nvPr/>
        </p:nvSpPr>
        <p:spPr>
          <a:xfrm>
            <a:off x="557784" y="1234440"/>
            <a:ext cx="1536192" cy="274320"/>
          </a:xfrm>
          <a:prstGeom prst="rect">
            <a:avLst/>
          </a:prstGeom>
          <a:noFill/>
          <a:ln/>
        </p:spPr>
        <p:txBody>
          <a:bodyPr wrap="square" lIns="0" tIns="0" rIns="0" bIns="0" rtlCol="0" anchor="ctr"/>
          <a:lstStyle/>
          <a:p>
            <a:pPr marL="0" indent="0">
              <a:buNone/>
            </a:pPr>
            <a:r>
              <a:rPr lang="en-US" sz="900" dirty="0">
                <a:solidFill>
                  <a:srgbClr val="333333"/>
                </a:solidFill>
                <a:latin typeface="Courier New" pitchFamily="34" charset="0"/>
                <a:ea typeface="Courier New" pitchFamily="34" charset="-122"/>
                <a:cs typeface="Courier New" pitchFamily="34" charset="-120"/>
              </a:rPr>
              <a:t>basic</a:t>
            </a:r>
            <a:endParaRPr lang="en-US" sz="900" dirty="0"/>
          </a:p>
        </p:txBody>
      </p:sp>
      <p:sp>
        <p:nvSpPr>
          <p:cNvPr id="11" name="Shape 9"/>
          <p:cNvSpPr/>
          <p:nvPr/>
        </p:nvSpPr>
        <p:spPr>
          <a:xfrm>
            <a:off x="2148840" y="1234440"/>
            <a:ext cx="2011680" cy="274320"/>
          </a:xfrm>
          <a:prstGeom prst="rect">
            <a:avLst/>
          </a:prstGeom>
          <a:solidFill>
            <a:srgbClr val="F5F5F5"/>
          </a:solidFill>
          <a:ln w="3810">
            <a:solidFill>
              <a:srgbClr val="F0F0F0"/>
            </a:solidFill>
            <a:prstDash val="solid"/>
          </a:ln>
        </p:spPr>
        <p:txBody>
          <a:bodyPr/>
          <a:lstStyle/>
          <a:p>
            <a:endParaRPr lang="en-US"/>
          </a:p>
        </p:txBody>
      </p:sp>
      <p:sp>
        <p:nvSpPr>
          <p:cNvPr id="12" name="Text 10"/>
          <p:cNvSpPr/>
          <p:nvPr/>
        </p:nvSpPr>
        <p:spPr>
          <a:xfrm>
            <a:off x="2203704" y="1234440"/>
            <a:ext cx="1901952" cy="274320"/>
          </a:xfrm>
          <a:prstGeom prst="rect">
            <a:avLst/>
          </a:prstGeom>
          <a:noFill/>
          <a:ln/>
        </p:spPr>
        <p:txBody>
          <a:bodyPr wrap="square" lIns="0" tIns="0" rIns="0" bIns="0" rtlCol="0" anchor="ctr"/>
          <a:lstStyle/>
          <a:p>
            <a:pPr marL="0" indent="0">
              <a:buNone/>
            </a:pPr>
            <a:r>
              <a:rPr lang="en-US" sz="900" dirty="0">
                <a:solidFill>
                  <a:srgbClr val="333333"/>
                </a:solidFill>
                <a:latin typeface="Courier New" pitchFamily="34" charset="0"/>
                <a:ea typeface="Courier New" pitchFamily="34" charset="-122"/>
                <a:cs typeface="Courier New" pitchFamily="34" charset="-120"/>
              </a:rPr>
              <a:t>_run_basic()</a:t>
            </a:r>
            <a:endParaRPr lang="en-US" sz="900" dirty="0"/>
          </a:p>
        </p:txBody>
      </p:sp>
      <p:sp>
        <p:nvSpPr>
          <p:cNvPr id="13" name="Shape 11"/>
          <p:cNvSpPr/>
          <p:nvPr/>
        </p:nvSpPr>
        <p:spPr>
          <a:xfrm>
            <a:off x="4160520" y="1234440"/>
            <a:ext cx="4480560" cy="274320"/>
          </a:xfrm>
          <a:prstGeom prst="rect">
            <a:avLst/>
          </a:prstGeom>
          <a:solidFill>
            <a:srgbClr val="F5F5F5"/>
          </a:solidFill>
          <a:ln w="3810">
            <a:solidFill>
              <a:srgbClr val="F0F0F0"/>
            </a:solidFill>
            <a:prstDash val="solid"/>
          </a:ln>
        </p:spPr>
        <p:txBody>
          <a:bodyPr/>
          <a:lstStyle/>
          <a:p>
            <a:endParaRPr lang="en-US"/>
          </a:p>
        </p:txBody>
      </p:sp>
      <p:sp>
        <p:nvSpPr>
          <p:cNvPr id="14" name="Text 12"/>
          <p:cNvSpPr/>
          <p:nvPr/>
        </p:nvSpPr>
        <p:spPr>
          <a:xfrm>
            <a:off x="4215384" y="1234440"/>
            <a:ext cx="4370832" cy="274320"/>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Single LLM call, no tool loop</a:t>
            </a:r>
            <a:endParaRPr lang="en-US" sz="900" dirty="0"/>
          </a:p>
        </p:txBody>
      </p:sp>
      <p:sp>
        <p:nvSpPr>
          <p:cNvPr id="15" name="Shape 13"/>
          <p:cNvSpPr/>
          <p:nvPr/>
        </p:nvSpPr>
        <p:spPr>
          <a:xfrm>
            <a:off x="502920" y="1508760"/>
            <a:ext cx="1645920" cy="274320"/>
          </a:xfrm>
          <a:prstGeom prst="rect">
            <a:avLst/>
          </a:prstGeom>
          <a:solidFill>
            <a:srgbClr val="FFFFFF"/>
          </a:solidFill>
          <a:ln w="3810">
            <a:solidFill>
              <a:srgbClr val="F0F0F0"/>
            </a:solidFill>
            <a:prstDash val="solid"/>
          </a:ln>
        </p:spPr>
        <p:txBody>
          <a:bodyPr/>
          <a:lstStyle/>
          <a:p>
            <a:endParaRPr lang="en-US"/>
          </a:p>
        </p:txBody>
      </p:sp>
      <p:sp>
        <p:nvSpPr>
          <p:cNvPr id="16" name="Text 14"/>
          <p:cNvSpPr/>
          <p:nvPr/>
        </p:nvSpPr>
        <p:spPr>
          <a:xfrm>
            <a:off x="557784" y="1508760"/>
            <a:ext cx="1536192" cy="274320"/>
          </a:xfrm>
          <a:prstGeom prst="rect">
            <a:avLst/>
          </a:prstGeom>
          <a:noFill/>
          <a:ln/>
        </p:spPr>
        <p:txBody>
          <a:bodyPr wrap="square" lIns="0" tIns="0" rIns="0" bIns="0" rtlCol="0" anchor="ctr"/>
          <a:lstStyle/>
          <a:p>
            <a:pPr marL="0" indent="0">
              <a:buNone/>
            </a:pPr>
            <a:r>
              <a:rPr lang="en-US" sz="900" dirty="0">
                <a:solidFill>
                  <a:srgbClr val="333333"/>
                </a:solidFill>
                <a:latin typeface="Courier New" pitchFamily="34" charset="0"/>
                <a:ea typeface="Courier New" pitchFamily="34" charset="-122"/>
                <a:cs typeface="Courier New" pitchFamily="34" charset="-120"/>
              </a:rPr>
              <a:t>react</a:t>
            </a:r>
            <a:endParaRPr lang="en-US" sz="900" dirty="0"/>
          </a:p>
        </p:txBody>
      </p:sp>
      <p:sp>
        <p:nvSpPr>
          <p:cNvPr id="17" name="Shape 15"/>
          <p:cNvSpPr/>
          <p:nvPr/>
        </p:nvSpPr>
        <p:spPr>
          <a:xfrm>
            <a:off x="2148840" y="1508760"/>
            <a:ext cx="2011680" cy="274320"/>
          </a:xfrm>
          <a:prstGeom prst="rect">
            <a:avLst/>
          </a:prstGeom>
          <a:solidFill>
            <a:srgbClr val="FFFFFF"/>
          </a:solidFill>
          <a:ln w="3810">
            <a:solidFill>
              <a:srgbClr val="F0F0F0"/>
            </a:solidFill>
            <a:prstDash val="solid"/>
          </a:ln>
        </p:spPr>
        <p:txBody>
          <a:bodyPr/>
          <a:lstStyle/>
          <a:p>
            <a:endParaRPr lang="en-US"/>
          </a:p>
        </p:txBody>
      </p:sp>
      <p:sp>
        <p:nvSpPr>
          <p:cNvPr id="18" name="Text 16"/>
          <p:cNvSpPr/>
          <p:nvPr/>
        </p:nvSpPr>
        <p:spPr>
          <a:xfrm>
            <a:off x="2203704" y="1508760"/>
            <a:ext cx="1901952" cy="274320"/>
          </a:xfrm>
          <a:prstGeom prst="rect">
            <a:avLst/>
          </a:prstGeom>
          <a:noFill/>
          <a:ln/>
        </p:spPr>
        <p:txBody>
          <a:bodyPr wrap="square" lIns="0" tIns="0" rIns="0" bIns="0" rtlCol="0" anchor="ctr"/>
          <a:lstStyle/>
          <a:p>
            <a:pPr marL="0" indent="0">
              <a:buNone/>
            </a:pPr>
            <a:r>
              <a:rPr lang="en-US" sz="900" dirty="0">
                <a:solidFill>
                  <a:srgbClr val="333333"/>
                </a:solidFill>
                <a:latin typeface="Courier New" pitchFamily="34" charset="0"/>
                <a:ea typeface="Courier New" pitchFamily="34" charset="-122"/>
                <a:cs typeface="Courier New" pitchFamily="34" charset="-120"/>
              </a:rPr>
              <a:t>_run_react()</a:t>
            </a:r>
            <a:endParaRPr lang="en-US" sz="900" dirty="0"/>
          </a:p>
        </p:txBody>
      </p:sp>
      <p:sp>
        <p:nvSpPr>
          <p:cNvPr id="19" name="Shape 17"/>
          <p:cNvSpPr/>
          <p:nvPr/>
        </p:nvSpPr>
        <p:spPr>
          <a:xfrm>
            <a:off x="4160520" y="1508760"/>
            <a:ext cx="4480560" cy="274320"/>
          </a:xfrm>
          <a:prstGeom prst="rect">
            <a:avLst/>
          </a:prstGeom>
          <a:solidFill>
            <a:srgbClr val="FFFFFF"/>
          </a:solidFill>
          <a:ln w="3810">
            <a:solidFill>
              <a:srgbClr val="F0F0F0"/>
            </a:solidFill>
            <a:prstDash val="solid"/>
          </a:ln>
        </p:spPr>
        <p:txBody>
          <a:bodyPr/>
          <a:lstStyle/>
          <a:p>
            <a:endParaRPr lang="en-US"/>
          </a:p>
        </p:txBody>
      </p:sp>
      <p:sp>
        <p:nvSpPr>
          <p:cNvPr id="20" name="Text 18"/>
          <p:cNvSpPr/>
          <p:nvPr/>
        </p:nvSpPr>
        <p:spPr>
          <a:xfrm>
            <a:off x="4215384" y="1508760"/>
            <a:ext cx="4370832" cy="274320"/>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LangGraph ReAct with tool calling, up to max_steps</a:t>
            </a:r>
            <a:endParaRPr lang="en-US" sz="900" dirty="0"/>
          </a:p>
        </p:txBody>
      </p:sp>
      <p:sp>
        <p:nvSpPr>
          <p:cNvPr id="21" name="Shape 19"/>
          <p:cNvSpPr/>
          <p:nvPr/>
        </p:nvSpPr>
        <p:spPr>
          <a:xfrm>
            <a:off x="502920" y="1783080"/>
            <a:ext cx="1645920" cy="274320"/>
          </a:xfrm>
          <a:prstGeom prst="rect">
            <a:avLst/>
          </a:prstGeom>
          <a:solidFill>
            <a:srgbClr val="F5F5F5"/>
          </a:solidFill>
          <a:ln w="3810">
            <a:solidFill>
              <a:srgbClr val="F0F0F0"/>
            </a:solidFill>
            <a:prstDash val="solid"/>
          </a:ln>
        </p:spPr>
        <p:txBody>
          <a:bodyPr/>
          <a:lstStyle/>
          <a:p>
            <a:endParaRPr lang="en-US"/>
          </a:p>
        </p:txBody>
      </p:sp>
      <p:sp>
        <p:nvSpPr>
          <p:cNvPr id="22" name="Text 20"/>
          <p:cNvSpPr/>
          <p:nvPr/>
        </p:nvSpPr>
        <p:spPr>
          <a:xfrm>
            <a:off x="557784" y="1783080"/>
            <a:ext cx="1536192" cy="274320"/>
          </a:xfrm>
          <a:prstGeom prst="rect">
            <a:avLst/>
          </a:prstGeom>
          <a:noFill/>
          <a:ln/>
        </p:spPr>
        <p:txBody>
          <a:bodyPr wrap="square" lIns="0" tIns="0" rIns="0" bIns="0" rtlCol="0" anchor="ctr"/>
          <a:lstStyle/>
          <a:p>
            <a:pPr marL="0" indent="0">
              <a:buNone/>
            </a:pPr>
            <a:r>
              <a:rPr lang="en-US" sz="900" dirty="0">
                <a:solidFill>
                  <a:srgbClr val="333333"/>
                </a:solidFill>
                <a:latin typeface="Courier New" pitchFamily="34" charset="0"/>
                <a:ea typeface="Courier New" pitchFamily="34" charset="-122"/>
                <a:cs typeface="Courier New" pitchFamily="34" charset="-120"/>
              </a:rPr>
              <a:t>rag</a:t>
            </a:r>
            <a:endParaRPr lang="en-US" sz="900" dirty="0"/>
          </a:p>
        </p:txBody>
      </p:sp>
      <p:sp>
        <p:nvSpPr>
          <p:cNvPr id="23" name="Shape 21"/>
          <p:cNvSpPr/>
          <p:nvPr/>
        </p:nvSpPr>
        <p:spPr>
          <a:xfrm>
            <a:off x="2148840" y="1783080"/>
            <a:ext cx="2011680" cy="274320"/>
          </a:xfrm>
          <a:prstGeom prst="rect">
            <a:avLst/>
          </a:prstGeom>
          <a:solidFill>
            <a:srgbClr val="F5F5F5"/>
          </a:solidFill>
          <a:ln w="3810">
            <a:solidFill>
              <a:srgbClr val="F0F0F0"/>
            </a:solidFill>
            <a:prstDash val="solid"/>
          </a:ln>
        </p:spPr>
        <p:txBody>
          <a:bodyPr/>
          <a:lstStyle/>
          <a:p>
            <a:endParaRPr lang="en-US"/>
          </a:p>
        </p:txBody>
      </p:sp>
      <p:sp>
        <p:nvSpPr>
          <p:cNvPr id="24" name="Text 22"/>
          <p:cNvSpPr/>
          <p:nvPr/>
        </p:nvSpPr>
        <p:spPr>
          <a:xfrm>
            <a:off x="2203704" y="1783080"/>
            <a:ext cx="1901952" cy="274320"/>
          </a:xfrm>
          <a:prstGeom prst="rect">
            <a:avLst/>
          </a:prstGeom>
          <a:noFill/>
          <a:ln/>
        </p:spPr>
        <p:txBody>
          <a:bodyPr wrap="square" lIns="0" tIns="0" rIns="0" bIns="0" rtlCol="0" anchor="ctr"/>
          <a:lstStyle/>
          <a:p>
            <a:pPr marL="0" indent="0">
              <a:buNone/>
            </a:pPr>
            <a:r>
              <a:rPr lang="en-US" sz="900" dirty="0">
                <a:solidFill>
                  <a:srgbClr val="333333"/>
                </a:solidFill>
                <a:latin typeface="Courier New" pitchFamily="34" charset="0"/>
                <a:ea typeface="Courier New" pitchFamily="34" charset="-122"/>
                <a:cs typeface="Courier New" pitchFamily="34" charset="-120"/>
              </a:rPr>
              <a:t>_run_rag()</a:t>
            </a:r>
            <a:endParaRPr lang="en-US" sz="900" dirty="0"/>
          </a:p>
        </p:txBody>
      </p:sp>
      <p:sp>
        <p:nvSpPr>
          <p:cNvPr id="25" name="Shape 23"/>
          <p:cNvSpPr/>
          <p:nvPr/>
        </p:nvSpPr>
        <p:spPr>
          <a:xfrm>
            <a:off x="4160520" y="1783080"/>
            <a:ext cx="4480560" cy="274320"/>
          </a:xfrm>
          <a:prstGeom prst="rect">
            <a:avLst/>
          </a:prstGeom>
          <a:solidFill>
            <a:srgbClr val="F5F5F5"/>
          </a:solidFill>
          <a:ln w="3810">
            <a:solidFill>
              <a:srgbClr val="F0F0F0"/>
            </a:solidFill>
            <a:prstDash val="solid"/>
          </a:ln>
        </p:spPr>
        <p:txBody>
          <a:bodyPr/>
          <a:lstStyle/>
          <a:p>
            <a:endParaRPr lang="en-US"/>
          </a:p>
        </p:txBody>
      </p:sp>
      <p:sp>
        <p:nvSpPr>
          <p:cNvPr id="26" name="Text 24"/>
          <p:cNvSpPr/>
          <p:nvPr/>
        </p:nvSpPr>
        <p:spPr>
          <a:xfrm>
            <a:off x="4215384" y="1783080"/>
            <a:ext cx="4370832" cy="274320"/>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RAG contract: retrieve &gt; synthesize &gt; cite</a:t>
            </a:r>
            <a:endParaRPr lang="en-US" sz="900" dirty="0"/>
          </a:p>
        </p:txBody>
      </p:sp>
      <p:sp>
        <p:nvSpPr>
          <p:cNvPr id="27" name="Shape 25"/>
          <p:cNvSpPr/>
          <p:nvPr/>
        </p:nvSpPr>
        <p:spPr>
          <a:xfrm>
            <a:off x="502920" y="2057400"/>
            <a:ext cx="1645920" cy="274320"/>
          </a:xfrm>
          <a:prstGeom prst="rect">
            <a:avLst/>
          </a:prstGeom>
          <a:solidFill>
            <a:srgbClr val="FFFFFF"/>
          </a:solidFill>
          <a:ln w="3810">
            <a:solidFill>
              <a:srgbClr val="F0F0F0"/>
            </a:solidFill>
            <a:prstDash val="solid"/>
          </a:ln>
        </p:spPr>
        <p:txBody>
          <a:bodyPr/>
          <a:lstStyle/>
          <a:p>
            <a:endParaRPr lang="en-US"/>
          </a:p>
        </p:txBody>
      </p:sp>
      <p:sp>
        <p:nvSpPr>
          <p:cNvPr id="28" name="Text 26"/>
          <p:cNvSpPr/>
          <p:nvPr/>
        </p:nvSpPr>
        <p:spPr>
          <a:xfrm>
            <a:off x="557784" y="2057400"/>
            <a:ext cx="1536192" cy="274320"/>
          </a:xfrm>
          <a:prstGeom prst="rect">
            <a:avLst/>
          </a:prstGeom>
          <a:noFill/>
          <a:ln/>
        </p:spPr>
        <p:txBody>
          <a:bodyPr wrap="square" lIns="0" tIns="0" rIns="0" bIns="0" rtlCol="0" anchor="ctr"/>
          <a:lstStyle/>
          <a:p>
            <a:pPr marL="0" indent="0">
              <a:buNone/>
            </a:pPr>
            <a:r>
              <a:rPr lang="en-US" sz="900" dirty="0">
                <a:solidFill>
                  <a:srgbClr val="333333"/>
                </a:solidFill>
                <a:latin typeface="Courier New" pitchFamily="34" charset="0"/>
                <a:ea typeface="Courier New" pitchFamily="34" charset="-122"/>
                <a:cs typeface="Courier New" pitchFamily="34" charset="-120"/>
              </a:rPr>
              <a:t>planner</a:t>
            </a:r>
            <a:endParaRPr lang="en-US" sz="900" dirty="0"/>
          </a:p>
        </p:txBody>
      </p:sp>
      <p:sp>
        <p:nvSpPr>
          <p:cNvPr id="29" name="Shape 27"/>
          <p:cNvSpPr/>
          <p:nvPr/>
        </p:nvSpPr>
        <p:spPr>
          <a:xfrm>
            <a:off x="2148840" y="2057400"/>
            <a:ext cx="2011680" cy="274320"/>
          </a:xfrm>
          <a:prstGeom prst="rect">
            <a:avLst/>
          </a:prstGeom>
          <a:solidFill>
            <a:srgbClr val="FFFFFF"/>
          </a:solidFill>
          <a:ln w="3810">
            <a:solidFill>
              <a:srgbClr val="F0F0F0"/>
            </a:solidFill>
            <a:prstDash val="solid"/>
          </a:ln>
        </p:spPr>
        <p:txBody>
          <a:bodyPr/>
          <a:lstStyle/>
          <a:p>
            <a:endParaRPr lang="en-US"/>
          </a:p>
        </p:txBody>
      </p:sp>
      <p:sp>
        <p:nvSpPr>
          <p:cNvPr id="30" name="Text 28"/>
          <p:cNvSpPr/>
          <p:nvPr/>
        </p:nvSpPr>
        <p:spPr>
          <a:xfrm>
            <a:off x="2203704" y="2057400"/>
            <a:ext cx="1901952" cy="274320"/>
          </a:xfrm>
          <a:prstGeom prst="rect">
            <a:avLst/>
          </a:prstGeom>
          <a:noFill/>
          <a:ln/>
        </p:spPr>
        <p:txBody>
          <a:bodyPr wrap="square" lIns="0" tIns="0" rIns="0" bIns="0" rtlCol="0" anchor="ctr"/>
          <a:lstStyle/>
          <a:p>
            <a:pPr marL="0" indent="0">
              <a:buNone/>
            </a:pPr>
            <a:r>
              <a:rPr lang="en-US" sz="900" dirty="0">
                <a:solidFill>
                  <a:srgbClr val="333333"/>
                </a:solidFill>
                <a:latin typeface="Courier New" pitchFamily="34" charset="0"/>
                <a:ea typeface="Courier New" pitchFamily="34" charset="-122"/>
                <a:cs typeface="Courier New" pitchFamily="34" charset="-120"/>
              </a:rPr>
              <a:t>_run_planner()</a:t>
            </a:r>
            <a:endParaRPr lang="en-US" sz="900" dirty="0"/>
          </a:p>
        </p:txBody>
      </p:sp>
      <p:sp>
        <p:nvSpPr>
          <p:cNvPr id="31" name="Shape 29"/>
          <p:cNvSpPr/>
          <p:nvPr/>
        </p:nvSpPr>
        <p:spPr>
          <a:xfrm>
            <a:off x="4160520" y="2057400"/>
            <a:ext cx="4480560" cy="274320"/>
          </a:xfrm>
          <a:prstGeom prst="rect">
            <a:avLst/>
          </a:prstGeom>
          <a:solidFill>
            <a:srgbClr val="FFFFFF"/>
          </a:solidFill>
          <a:ln w="3810">
            <a:solidFill>
              <a:srgbClr val="F0F0F0"/>
            </a:solidFill>
            <a:prstDash val="solid"/>
          </a:ln>
        </p:spPr>
        <p:txBody>
          <a:bodyPr/>
          <a:lstStyle/>
          <a:p>
            <a:endParaRPr lang="en-US"/>
          </a:p>
        </p:txBody>
      </p:sp>
      <p:sp>
        <p:nvSpPr>
          <p:cNvPr id="32" name="Text 30"/>
          <p:cNvSpPr/>
          <p:nvPr/>
        </p:nvSpPr>
        <p:spPr>
          <a:xfrm>
            <a:off x="4215384" y="2057400"/>
            <a:ext cx="4370832" cy="274320"/>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Outputs structured JSON plan for coordinator</a:t>
            </a:r>
            <a:endParaRPr lang="en-US" sz="900" dirty="0"/>
          </a:p>
        </p:txBody>
      </p:sp>
      <p:sp>
        <p:nvSpPr>
          <p:cNvPr id="33" name="Shape 31"/>
          <p:cNvSpPr/>
          <p:nvPr/>
        </p:nvSpPr>
        <p:spPr>
          <a:xfrm>
            <a:off x="502920" y="2331720"/>
            <a:ext cx="1645920" cy="274320"/>
          </a:xfrm>
          <a:prstGeom prst="rect">
            <a:avLst/>
          </a:prstGeom>
          <a:solidFill>
            <a:srgbClr val="F5F5F5"/>
          </a:solidFill>
          <a:ln w="3810">
            <a:solidFill>
              <a:srgbClr val="F0F0F0"/>
            </a:solidFill>
            <a:prstDash val="solid"/>
          </a:ln>
        </p:spPr>
        <p:txBody>
          <a:bodyPr/>
          <a:lstStyle/>
          <a:p>
            <a:endParaRPr lang="en-US"/>
          </a:p>
        </p:txBody>
      </p:sp>
      <p:sp>
        <p:nvSpPr>
          <p:cNvPr id="34" name="Text 32"/>
          <p:cNvSpPr/>
          <p:nvPr/>
        </p:nvSpPr>
        <p:spPr>
          <a:xfrm>
            <a:off x="557784" y="2331720"/>
            <a:ext cx="1536192" cy="274320"/>
          </a:xfrm>
          <a:prstGeom prst="rect">
            <a:avLst/>
          </a:prstGeom>
          <a:noFill/>
          <a:ln/>
        </p:spPr>
        <p:txBody>
          <a:bodyPr wrap="square" lIns="0" tIns="0" rIns="0" bIns="0" rtlCol="0" anchor="ctr"/>
          <a:lstStyle/>
          <a:p>
            <a:pPr marL="0" indent="0">
              <a:buNone/>
            </a:pPr>
            <a:r>
              <a:rPr lang="en-US" sz="900" dirty="0">
                <a:solidFill>
                  <a:srgbClr val="333333"/>
                </a:solidFill>
                <a:latin typeface="Courier New" pitchFamily="34" charset="0"/>
                <a:ea typeface="Courier New" pitchFamily="34" charset="-122"/>
                <a:cs typeface="Courier New" pitchFamily="34" charset="-120"/>
              </a:rPr>
              <a:t>finalizer</a:t>
            </a:r>
            <a:endParaRPr lang="en-US" sz="900" dirty="0"/>
          </a:p>
        </p:txBody>
      </p:sp>
      <p:sp>
        <p:nvSpPr>
          <p:cNvPr id="35" name="Shape 33"/>
          <p:cNvSpPr/>
          <p:nvPr/>
        </p:nvSpPr>
        <p:spPr>
          <a:xfrm>
            <a:off x="2148840" y="2331720"/>
            <a:ext cx="2011680" cy="274320"/>
          </a:xfrm>
          <a:prstGeom prst="rect">
            <a:avLst/>
          </a:prstGeom>
          <a:solidFill>
            <a:srgbClr val="F5F5F5"/>
          </a:solidFill>
          <a:ln w="3810">
            <a:solidFill>
              <a:srgbClr val="F0F0F0"/>
            </a:solidFill>
            <a:prstDash val="solid"/>
          </a:ln>
        </p:spPr>
        <p:txBody>
          <a:bodyPr/>
          <a:lstStyle/>
          <a:p>
            <a:endParaRPr lang="en-US"/>
          </a:p>
        </p:txBody>
      </p:sp>
      <p:sp>
        <p:nvSpPr>
          <p:cNvPr id="36" name="Text 34"/>
          <p:cNvSpPr/>
          <p:nvPr/>
        </p:nvSpPr>
        <p:spPr>
          <a:xfrm>
            <a:off x="2203704" y="2331720"/>
            <a:ext cx="1901952" cy="274320"/>
          </a:xfrm>
          <a:prstGeom prst="rect">
            <a:avLst/>
          </a:prstGeom>
          <a:noFill/>
          <a:ln/>
        </p:spPr>
        <p:txBody>
          <a:bodyPr wrap="square" lIns="0" tIns="0" rIns="0" bIns="0" rtlCol="0" anchor="ctr"/>
          <a:lstStyle/>
          <a:p>
            <a:pPr marL="0" indent="0">
              <a:buNone/>
            </a:pPr>
            <a:r>
              <a:rPr lang="en-US" sz="900" dirty="0">
                <a:solidFill>
                  <a:srgbClr val="333333"/>
                </a:solidFill>
                <a:latin typeface="Courier New" pitchFamily="34" charset="0"/>
                <a:ea typeface="Courier New" pitchFamily="34" charset="-122"/>
                <a:cs typeface="Courier New" pitchFamily="34" charset="-120"/>
              </a:rPr>
              <a:t>_run_finalizer()</a:t>
            </a:r>
            <a:endParaRPr lang="en-US" sz="900" dirty="0"/>
          </a:p>
        </p:txBody>
      </p:sp>
      <p:sp>
        <p:nvSpPr>
          <p:cNvPr id="37" name="Shape 35"/>
          <p:cNvSpPr/>
          <p:nvPr/>
        </p:nvSpPr>
        <p:spPr>
          <a:xfrm>
            <a:off x="4160520" y="2331720"/>
            <a:ext cx="4480560" cy="274320"/>
          </a:xfrm>
          <a:prstGeom prst="rect">
            <a:avLst/>
          </a:prstGeom>
          <a:solidFill>
            <a:srgbClr val="F5F5F5"/>
          </a:solidFill>
          <a:ln w="3810">
            <a:solidFill>
              <a:srgbClr val="F0F0F0"/>
            </a:solidFill>
            <a:prstDash val="solid"/>
          </a:ln>
        </p:spPr>
        <p:txBody>
          <a:bodyPr/>
          <a:lstStyle/>
          <a:p>
            <a:endParaRPr lang="en-US"/>
          </a:p>
        </p:txBody>
      </p:sp>
      <p:sp>
        <p:nvSpPr>
          <p:cNvPr id="38" name="Text 36"/>
          <p:cNvSpPr/>
          <p:nvPr/>
        </p:nvSpPr>
        <p:spPr>
          <a:xfrm>
            <a:off x="4215384" y="2331720"/>
            <a:ext cx="4370832" cy="274320"/>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Synthesizes worker outputs into unified answer</a:t>
            </a:r>
            <a:endParaRPr lang="en-US" sz="900" dirty="0"/>
          </a:p>
        </p:txBody>
      </p:sp>
      <p:sp>
        <p:nvSpPr>
          <p:cNvPr id="39" name="Shape 37"/>
          <p:cNvSpPr/>
          <p:nvPr/>
        </p:nvSpPr>
        <p:spPr>
          <a:xfrm>
            <a:off x="502920" y="2606040"/>
            <a:ext cx="1645920" cy="274320"/>
          </a:xfrm>
          <a:prstGeom prst="rect">
            <a:avLst/>
          </a:prstGeom>
          <a:solidFill>
            <a:srgbClr val="FFFFFF"/>
          </a:solidFill>
          <a:ln w="3810">
            <a:solidFill>
              <a:srgbClr val="F0F0F0"/>
            </a:solidFill>
            <a:prstDash val="solid"/>
          </a:ln>
        </p:spPr>
        <p:txBody>
          <a:bodyPr/>
          <a:lstStyle/>
          <a:p>
            <a:endParaRPr lang="en-US"/>
          </a:p>
        </p:txBody>
      </p:sp>
      <p:sp>
        <p:nvSpPr>
          <p:cNvPr id="40" name="Text 38"/>
          <p:cNvSpPr/>
          <p:nvPr/>
        </p:nvSpPr>
        <p:spPr>
          <a:xfrm>
            <a:off x="557784" y="2606040"/>
            <a:ext cx="1536192" cy="274320"/>
          </a:xfrm>
          <a:prstGeom prst="rect">
            <a:avLst/>
          </a:prstGeom>
          <a:noFill/>
          <a:ln/>
        </p:spPr>
        <p:txBody>
          <a:bodyPr wrap="square" lIns="0" tIns="0" rIns="0" bIns="0" rtlCol="0" anchor="ctr"/>
          <a:lstStyle/>
          <a:p>
            <a:pPr marL="0" indent="0">
              <a:buNone/>
            </a:pPr>
            <a:r>
              <a:rPr lang="en-US" sz="900" dirty="0">
                <a:solidFill>
                  <a:srgbClr val="333333"/>
                </a:solidFill>
                <a:latin typeface="Courier New" pitchFamily="34" charset="0"/>
                <a:ea typeface="Courier New" pitchFamily="34" charset="-122"/>
                <a:cs typeface="Courier New" pitchFamily="34" charset="-120"/>
              </a:rPr>
              <a:t>verifier</a:t>
            </a:r>
            <a:endParaRPr lang="en-US" sz="900" dirty="0"/>
          </a:p>
        </p:txBody>
      </p:sp>
      <p:sp>
        <p:nvSpPr>
          <p:cNvPr id="41" name="Shape 39"/>
          <p:cNvSpPr/>
          <p:nvPr/>
        </p:nvSpPr>
        <p:spPr>
          <a:xfrm>
            <a:off x="2148840" y="2606040"/>
            <a:ext cx="2011680" cy="274320"/>
          </a:xfrm>
          <a:prstGeom prst="rect">
            <a:avLst/>
          </a:prstGeom>
          <a:solidFill>
            <a:srgbClr val="FFFFFF"/>
          </a:solidFill>
          <a:ln w="3810">
            <a:solidFill>
              <a:srgbClr val="F0F0F0"/>
            </a:solidFill>
            <a:prstDash val="solid"/>
          </a:ln>
        </p:spPr>
        <p:txBody>
          <a:bodyPr/>
          <a:lstStyle/>
          <a:p>
            <a:endParaRPr lang="en-US"/>
          </a:p>
        </p:txBody>
      </p:sp>
      <p:sp>
        <p:nvSpPr>
          <p:cNvPr id="42" name="Text 40"/>
          <p:cNvSpPr/>
          <p:nvPr/>
        </p:nvSpPr>
        <p:spPr>
          <a:xfrm>
            <a:off x="2203704" y="2606040"/>
            <a:ext cx="1901952" cy="274320"/>
          </a:xfrm>
          <a:prstGeom prst="rect">
            <a:avLst/>
          </a:prstGeom>
          <a:noFill/>
          <a:ln/>
        </p:spPr>
        <p:txBody>
          <a:bodyPr wrap="square" lIns="0" tIns="0" rIns="0" bIns="0" rtlCol="0" anchor="ctr"/>
          <a:lstStyle/>
          <a:p>
            <a:pPr marL="0" indent="0">
              <a:buNone/>
            </a:pPr>
            <a:r>
              <a:rPr lang="en-US" sz="900" dirty="0">
                <a:solidFill>
                  <a:srgbClr val="333333"/>
                </a:solidFill>
                <a:latin typeface="Courier New" pitchFamily="34" charset="0"/>
                <a:ea typeface="Courier New" pitchFamily="34" charset="-122"/>
                <a:cs typeface="Courier New" pitchFamily="34" charset="-120"/>
              </a:rPr>
              <a:t>_run_verifier()</a:t>
            </a:r>
            <a:endParaRPr lang="en-US" sz="900" dirty="0"/>
          </a:p>
        </p:txBody>
      </p:sp>
      <p:sp>
        <p:nvSpPr>
          <p:cNvPr id="43" name="Shape 41"/>
          <p:cNvSpPr/>
          <p:nvPr/>
        </p:nvSpPr>
        <p:spPr>
          <a:xfrm>
            <a:off x="4160520" y="2606040"/>
            <a:ext cx="4480560" cy="274320"/>
          </a:xfrm>
          <a:prstGeom prst="rect">
            <a:avLst/>
          </a:prstGeom>
          <a:solidFill>
            <a:srgbClr val="FFFFFF"/>
          </a:solidFill>
          <a:ln w="3810">
            <a:solidFill>
              <a:srgbClr val="F0F0F0"/>
            </a:solidFill>
            <a:prstDash val="solid"/>
          </a:ln>
        </p:spPr>
        <p:txBody>
          <a:bodyPr/>
          <a:lstStyle/>
          <a:p>
            <a:endParaRPr lang="en-US"/>
          </a:p>
        </p:txBody>
      </p:sp>
      <p:sp>
        <p:nvSpPr>
          <p:cNvPr id="44" name="Text 42"/>
          <p:cNvSpPr/>
          <p:nvPr/>
        </p:nvSpPr>
        <p:spPr>
          <a:xfrm>
            <a:off x="4215384" y="2606040"/>
            <a:ext cx="4370832" cy="274320"/>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Cross-checks claims against KB evidence</a:t>
            </a:r>
            <a:endParaRPr lang="en-US" sz="900" dirty="0"/>
          </a:p>
        </p:txBody>
      </p:sp>
      <p:sp>
        <p:nvSpPr>
          <p:cNvPr id="45" name="Shape 43"/>
          <p:cNvSpPr/>
          <p:nvPr/>
        </p:nvSpPr>
        <p:spPr>
          <a:xfrm>
            <a:off x="502920" y="2880360"/>
            <a:ext cx="1645920" cy="274320"/>
          </a:xfrm>
          <a:prstGeom prst="rect">
            <a:avLst/>
          </a:prstGeom>
          <a:solidFill>
            <a:srgbClr val="F5F5F5"/>
          </a:solidFill>
          <a:ln w="3810">
            <a:solidFill>
              <a:srgbClr val="F0F0F0"/>
            </a:solidFill>
            <a:prstDash val="solid"/>
          </a:ln>
        </p:spPr>
        <p:txBody>
          <a:bodyPr/>
          <a:lstStyle/>
          <a:p>
            <a:endParaRPr lang="en-US"/>
          </a:p>
        </p:txBody>
      </p:sp>
      <p:sp>
        <p:nvSpPr>
          <p:cNvPr id="46" name="Text 44"/>
          <p:cNvSpPr/>
          <p:nvPr/>
        </p:nvSpPr>
        <p:spPr>
          <a:xfrm>
            <a:off x="557784" y="2880360"/>
            <a:ext cx="1536192" cy="274320"/>
          </a:xfrm>
          <a:prstGeom prst="rect">
            <a:avLst/>
          </a:prstGeom>
          <a:noFill/>
          <a:ln/>
        </p:spPr>
        <p:txBody>
          <a:bodyPr wrap="square" lIns="0" tIns="0" rIns="0" bIns="0" rtlCol="0" anchor="ctr"/>
          <a:lstStyle/>
          <a:p>
            <a:pPr marL="0" indent="0">
              <a:buNone/>
            </a:pPr>
            <a:r>
              <a:rPr lang="en-US" sz="900" dirty="0">
                <a:solidFill>
                  <a:srgbClr val="333333"/>
                </a:solidFill>
                <a:latin typeface="Courier New" pitchFamily="34" charset="0"/>
                <a:ea typeface="Courier New" pitchFamily="34" charset="-122"/>
                <a:cs typeface="Courier New" pitchFamily="34" charset="-120"/>
              </a:rPr>
              <a:t>memory_maint.</a:t>
            </a:r>
            <a:endParaRPr lang="en-US" sz="900" dirty="0"/>
          </a:p>
        </p:txBody>
      </p:sp>
      <p:sp>
        <p:nvSpPr>
          <p:cNvPr id="47" name="Shape 45"/>
          <p:cNvSpPr/>
          <p:nvPr/>
        </p:nvSpPr>
        <p:spPr>
          <a:xfrm>
            <a:off x="2148840" y="2880360"/>
            <a:ext cx="2011680" cy="274320"/>
          </a:xfrm>
          <a:prstGeom prst="rect">
            <a:avLst/>
          </a:prstGeom>
          <a:solidFill>
            <a:srgbClr val="F5F5F5"/>
          </a:solidFill>
          <a:ln w="3810">
            <a:solidFill>
              <a:srgbClr val="F0F0F0"/>
            </a:solidFill>
            <a:prstDash val="solid"/>
          </a:ln>
        </p:spPr>
        <p:txBody>
          <a:bodyPr/>
          <a:lstStyle/>
          <a:p>
            <a:endParaRPr lang="en-US"/>
          </a:p>
        </p:txBody>
      </p:sp>
      <p:sp>
        <p:nvSpPr>
          <p:cNvPr id="48" name="Text 46"/>
          <p:cNvSpPr/>
          <p:nvPr/>
        </p:nvSpPr>
        <p:spPr>
          <a:xfrm>
            <a:off x="2203704" y="2880360"/>
            <a:ext cx="1901952" cy="274320"/>
          </a:xfrm>
          <a:prstGeom prst="rect">
            <a:avLst/>
          </a:prstGeom>
          <a:noFill/>
          <a:ln/>
        </p:spPr>
        <p:txBody>
          <a:bodyPr wrap="square" lIns="0" tIns="0" rIns="0" bIns="0" rtlCol="0" anchor="ctr"/>
          <a:lstStyle/>
          <a:p>
            <a:pPr marL="0" indent="0">
              <a:buNone/>
            </a:pPr>
            <a:r>
              <a:rPr lang="en-US" sz="900" dirty="0">
                <a:solidFill>
                  <a:srgbClr val="333333"/>
                </a:solidFill>
                <a:latin typeface="Courier New" pitchFamily="34" charset="0"/>
                <a:ea typeface="Courier New" pitchFamily="34" charset="-122"/>
                <a:cs typeface="Courier New" pitchFamily="34" charset="-120"/>
              </a:rPr>
              <a:t>_run_memory_maintainer()</a:t>
            </a:r>
            <a:endParaRPr lang="en-US" sz="900" dirty="0"/>
          </a:p>
        </p:txBody>
      </p:sp>
      <p:sp>
        <p:nvSpPr>
          <p:cNvPr id="49" name="Shape 47"/>
          <p:cNvSpPr/>
          <p:nvPr/>
        </p:nvSpPr>
        <p:spPr>
          <a:xfrm>
            <a:off x="4160520" y="2880360"/>
            <a:ext cx="4480560" cy="274320"/>
          </a:xfrm>
          <a:prstGeom prst="rect">
            <a:avLst/>
          </a:prstGeom>
          <a:solidFill>
            <a:srgbClr val="F5F5F5"/>
          </a:solidFill>
          <a:ln w="3810">
            <a:solidFill>
              <a:srgbClr val="F0F0F0"/>
            </a:solidFill>
            <a:prstDash val="solid"/>
          </a:ln>
        </p:spPr>
        <p:txBody>
          <a:bodyPr/>
          <a:lstStyle/>
          <a:p>
            <a:endParaRPr lang="en-US"/>
          </a:p>
        </p:txBody>
      </p:sp>
      <p:sp>
        <p:nvSpPr>
          <p:cNvPr id="50" name="Text 48"/>
          <p:cNvSpPr/>
          <p:nvPr/>
        </p:nvSpPr>
        <p:spPr>
          <a:xfrm>
            <a:off x="4215384" y="2880360"/>
            <a:ext cx="4370832" cy="274320"/>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Extracts + persists memory entries</a:t>
            </a:r>
            <a:endParaRPr lang="en-US" sz="900" dirty="0"/>
          </a:p>
        </p:txBody>
      </p:sp>
      <p:sp>
        <p:nvSpPr>
          <p:cNvPr id="51" name="Shape 49"/>
          <p:cNvSpPr/>
          <p:nvPr/>
        </p:nvSpPr>
        <p:spPr>
          <a:xfrm>
            <a:off x="502920" y="3154680"/>
            <a:ext cx="1645920" cy="274320"/>
          </a:xfrm>
          <a:prstGeom prst="rect">
            <a:avLst/>
          </a:prstGeom>
          <a:solidFill>
            <a:srgbClr val="FFFFFF"/>
          </a:solidFill>
          <a:ln w="3810">
            <a:solidFill>
              <a:srgbClr val="F0F0F0"/>
            </a:solidFill>
            <a:prstDash val="solid"/>
          </a:ln>
        </p:spPr>
        <p:txBody>
          <a:bodyPr/>
          <a:lstStyle/>
          <a:p>
            <a:endParaRPr lang="en-US"/>
          </a:p>
        </p:txBody>
      </p:sp>
      <p:sp>
        <p:nvSpPr>
          <p:cNvPr id="52" name="Text 50"/>
          <p:cNvSpPr/>
          <p:nvPr/>
        </p:nvSpPr>
        <p:spPr>
          <a:xfrm>
            <a:off x="557784" y="3154680"/>
            <a:ext cx="1536192" cy="274320"/>
          </a:xfrm>
          <a:prstGeom prst="rect">
            <a:avLst/>
          </a:prstGeom>
          <a:noFill/>
          <a:ln/>
        </p:spPr>
        <p:txBody>
          <a:bodyPr wrap="square" lIns="0" tIns="0" rIns="0" bIns="0" rtlCol="0" anchor="ctr"/>
          <a:lstStyle/>
          <a:p>
            <a:pPr marL="0" indent="0">
              <a:buNone/>
            </a:pPr>
            <a:r>
              <a:rPr lang="en-US" sz="900" dirty="0">
                <a:solidFill>
                  <a:srgbClr val="333333"/>
                </a:solidFill>
                <a:latin typeface="Courier New" pitchFamily="34" charset="0"/>
                <a:ea typeface="Courier New" pitchFamily="34" charset="-122"/>
                <a:cs typeface="Courier New" pitchFamily="34" charset="-120"/>
              </a:rPr>
              <a:t>coordinator</a:t>
            </a:r>
            <a:endParaRPr lang="en-US" sz="900" dirty="0"/>
          </a:p>
        </p:txBody>
      </p:sp>
      <p:sp>
        <p:nvSpPr>
          <p:cNvPr id="53" name="Shape 51"/>
          <p:cNvSpPr/>
          <p:nvPr/>
        </p:nvSpPr>
        <p:spPr>
          <a:xfrm>
            <a:off x="2148840" y="3154680"/>
            <a:ext cx="2011680" cy="274320"/>
          </a:xfrm>
          <a:prstGeom prst="rect">
            <a:avLst/>
          </a:prstGeom>
          <a:solidFill>
            <a:srgbClr val="FFFFFF"/>
          </a:solidFill>
          <a:ln w="3810">
            <a:solidFill>
              <a:srgbClr val="F0F0F0"/>
            </a:solidFill>
            <a:prstDash val="solid"/>
          </a:ln>
        </p:spPr>
        <p:txBody>
          <a:bodyPr/>
          <a:lstStyle/>
          <a:p>
            <a:endParaRPr lang="en-US"/>
          </a:p>
        </p:txBody>
      </p:sp>
      <p:sp>
        <p:nvSpPr>
          <p:cNvPr id="54" name="Text 52"/>
          <p:cNvSpPr/>
          <p:nvPr/>
        </p:nvSpPr>
        <p:spPr>
          <a:xfrm>
            <a:off x="2203704" y="3154680"/>
            <a:ext cx="1901952" cy="274320"/>
          </a:xfrm>
          <a:prstGeom prst="rect">
            <a:avLst/>
          </a:prstGeom>
          <a:noFill/>
          <a:ln/>
        </p:spPr>
        <p:txBody>
          <a:bodyPr wrap="square" lIns="0" tIns="0" rIns="0" bIns="0" rtlCol="0" anchor="ctr"/>
          <a:lstStyle/>
          <a:p>
            <a:pPr marL="0" indent="0">
              <a:buNone/>
            </a:pPr>
            <a:r>
              <a:rPr lang="en-US" sz="900" dirty="0">
                <a:solidFill>
                  <a:srgbClr val="333333"/>
                </a:solidFill>
                <a:latin typeface="Courier New" pitchFamily="34" charset="0"/>
                <a:ea typeface="Courier New" pitchFamily="34" charset="-122"/>
                <a:cs typeface="Courier New" pitchFamily="34" charset="-120"/>
              </a:rPr>
              <a:t>Handled by Kernel</a:t>
            </a:r>
            <a:endParaRPr lang="en-US" sz="900" dirty="0"/>
          </a:p>
        </p:txBody>
      </p:sp>
      <p:sp>
        <p:nvSpPr>
          <p:cNvPr id="55" name="Shape 53"/>
          <p:cNvSpPr/>
          <p:nvPr/>
        </p:nvSpPr>
        <p:spPr>
          <a:xfrm>
            <a:off x="4160520" y="3154680"/>
            <a:ext cx="4480560" cy="274320"/>
          </a:xfrm>
          <a:prstGeom prst="rect">
            <a:avLst/>
          </a:prstGeom>
          <a:solidFill>
            <a:srgbClr val="FFFFFF"/>
          </a:solidFill>
          <a:ln w="3810">
            <a:solidFill>
              <a:srgbClr val="F0F0F0"/>
            </a:solidFill>
            <a:prstDash val="solid"/>
          </a:ln>
        </p:spPr>
        <p:txBody>
          <a:bodyPr/>
          <a:lstStyle/>
          <a:p>
            <a:endParaRPr lang="en-US"/>
          </a:p>
        </p:txBody>
      </p:sp>
      <p:sp>
        <p:nvSpPr>
          <p:cNvPr id="56" name="Text 54"/>
          <p:cNvSpPr/>
          <p:nvPr/>
        </p:nvSpPr>
        <p:spPr>
          <a:xfrm>
            <a:off x="4215384" y="3154680"/>
            <a:ext cx="4370832" cy="274320"/>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Planner&gt;Workers&gt;Finalizer&gt;Verifier pipeline</a:t>
            </a:r>
            <a:endParaRPr lang="en-US" sz="900" dirty="0"/>
          </a:p>
        </p:txBody>
      </p:sp>
      <p:sp>
        <p:nvSpPr>
          <p:cNvPr id="57" name="Shape 55"/>
          <p:cNvSpPr/>
          <p:nvPr/>
        </p:nvSpPr>
        <p:spPr>
          <a:xfrm>
            <a:off x="502920" y="3520440"/>
            <a:ext cx="8138160" cy="365760"/>
          </a:xfrm>
          <a:prstGeom prst="rect">
            <a:avLst/>
          </a:prstGeom>
          <a:solidFill>
            <a:srgbClr val="E0F7FA"/>
          </a:solidFill>
          <a:ln w="12700">
            <a:solidFill>
              <a:srgbClr val="0097A7"/>
            </a:solidFill>
            <a:prstDash val="solid"/>
          </a:ln>
        </p:spPr>
        <p:txBody>
          <a:bodyPr/>
          <a:lstStyle/>
          <a:p>
            <a:endParaRPr lang="en-US"/>
          </a:p>
        </p:txBody>
      </p:sp>
      <p:sp>
        <p:nvSpPr>
          <p:cNvPr id="58" name="Text 56"/>
          <p:cNvSpPr/>
          <p:nvPr/>
        </p:nvSpPr>
        <p:spPr>
          <a:xfrm>
            <a:off x="594360" y="3520440"/>
            <a:ext cx="7955280" cy="36576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The mode field is the single most important property. Coordinator is special — handled by Kernel, not QueryLoop, because it manages multiple sub-agents.</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Anatomy of an Agent Definition File</a:t>
            </a:r>
            <a:endParaRPr lang="en-US" sz="2600" dirty="0"/>
          </a:p>
        </p:txBody>
      </p:sp>
      <p:sp>
        <p:nvSpPr>
          <p:cNvPr id="3" name="Shape 1"/>
          <p:cNvSpPr/>
          <p:nvPr/>
        </p:nvSpPr>
        <p:spPr>
          <a:xfrm>
            <a:off x="502920" y="914400"/>
            <a:ext cx="4572000" cy="3474720"/>
          </a:xfrm>
          <a:prstGeom prst="rect">
            <a:avLst/>
          </a:prstGeom>
          <a:solidFill>
            <a:srgbClr val="2D2D2D"/>
          </a:solidFill>
          <a:ln/>
        </p:spPr>
        <p:txBody>
          <a:bodyPr/>
          <a:lstStyle/>
          <a:p>
            <a:endParaRPr lang="en-US"/>
          </a:p>
        </p:txBody>
      </p:sp>
      <p:sp>
        <p:nvSpPr>
          <p:cNvPr id="4" name="Text 2"/>
          <p:cNvSpPr/>
          <p:nvPr/>
        </p:nvSpPr>
        <p:spPr>
          <a:xfrm>
            <a:off x="612648" y="969264"/>
            <a:ext cx="4352544" cy="3364992"/>
          </a:xfrm>
          <a:prstGeom prst="rect">
            <a:avLst/>
          </a:prstGeom>
          <a:noFill/>
          <a:ln/>
        </p:spPr>
        <p:txBody>
          <a:bodyPr wrap="square" lIns="0" tIns="0" rIns="0" bIns="0" rtlCol="0" anchor="t"/>
          <a:lstStyle/>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data/agents/data_analyst.md</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name: data_analyst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mode: react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execution_strategy: plan_execute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max_steps: 28</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max_tool_calls: 36</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allowed_tools: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load_dataset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inspect_columns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execute_code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run_nlp_column_task</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return_file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calculator</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scratchpad_write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scratchpad_read</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scratchpad_list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workspace_write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workspace_read</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workspace_list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search_skills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invoke_agent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prompt_file: data_analyst_agent.md</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role_kind: top_level_or_worker</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a:t>
            </a:r>
            <a:endParaRPr lang="en-US" sz="900" dirty="0"/>
          </a:p>
        </p:txBody>
      </p:sp>
      <p:sp>
        <p:nvSpPr>
          <p:cNvPr id="5" name="Shape 3"/>
          <p:cNvSpPr/>
          <p:nvPr/>
        </p:nvSpPr>
        <p:spPr>
          <a:xfrm>
            <a:off x="5120640" y="1051560"/>
            <a:ext cx="3566160" cy="256032"/>
          </a:xfrm>
          <a:prstGeom prst="rect">
            <a:avLst/>
          </a:prstGeom>
          <a:solidFill>
            <a:srgbClr val="E0F7FA"/>
          </a:solidFill>
          <a:ln/>
        </p:spPr>
        <p:txBody>
          <a:bodyPr/>
          <a:lstStyle/>
          <a:p>
            <a:endParaRPr lang="en-US"/>
          </a:p>
        </p:txBody>
      </p:sp>
      <p:sp>
        <p:nvSpPr>
          <p:cNvPr id="6" name="Text 4"/>
          <p:cNvSpPr/>
          <p:nvPr/>
        </p:nvSpPr>
        <p:spPr>
          <a:xfrm>
            <a:off x="5193792" y="1051560"/>
            <a:ext cx="3419856" cy="256032"/>
          </a:xfrm>
          <a:prstGeom prst="rect">
            <a:avLst/>
          </a:prstGeom>
          <a:noFill/>
          <a:ln/>
        </p:spPr>
        <p:txBody>
          <a:bodyPr wrap="square" lIns="0" tIns="0" rIns="0" bIns="0" rtlCol="0" anchor="ctr"/>
          <a:lstStyle/>
          <a:p>
            <a:pPr marL="0" indent="0">
              <a:buNone/>
            </a:pPr>
            <a:r>
              <a:rPr lang="en-US" sz="900" dirty="0">
                <a:solidFill>
                  <a:srgbClr val="1B2A4A"/>
                </a:solidFill>
                <a:latin typeface="Arial" pitchFamily="34" charset="0"/>
                <a:ea typeface="Arial" pitchFamily="34" charset="-122"/>
                <a:cs typeface="Arial" pitchFamily="34" charset="-120"/>
              </a:rPr>
              <a:t>name -&gt; unique identifier used by router</a:t>
            </a:r>
            <a:endParaRPr lang="en-US" sz="900" dirty="0"/>
          </a:p>
        </p:txBody>
      </p:sp>
      <p:sp>
        <p:nvSpPr>
          <p:cNvPr id="7" name="Shape 5"/>
          <p:cNvSpPr/>
          <p:nvPr/>
        </p:nvSpPr>
        <p:spPr>
          <a:xfrm>
            <a:off x="5120640" y="1417320"/>
            <a:ext cx="3566160" cy="256032"/>
          </a:xfrm>
          <a:prstGeom prst="rect">
            <a:avLst/>
          </a:prstGeom>
          <a:solidFill>
            <a:srgbClr val="E0F7FA"/>
          </a:solidFill>
          <a:ln/>
        </p:spPr>
        <p:txBody>
          <a:bodyPr/>
          <a:lstStyle/>
          <a:p>
            <a:endParaRPr lang="en-US"/>
          </a:p>
        </p:txBody>
      </p:sp>
      <p:sp>
        <p:nvSpPr>
          <p:cNvPr id="8" name="Text 6"/>
          <p:cNvSpPr/>
          <p:nvPr/>
        </p:nvSpPr>
        <p:spPr>
          <a:xfrm>
            <a:off x="5193792" y="1417320"/>
            <a:ext cx="3419856" cy="256032"/>
          </a:xfrm>
          <a:prstGeom prst="rect">
            <a:avLst/>
          </a:prstGeom>
          <a:noFill/>
          <a:ln/>
        </p:spPr>
        <p:txBody>
          <a:bodyPr wrap="square" lIns="0" tIns="0" rIns="0" bIns="0" rtlCol="0" anchor="ctr"/>
          <a:lstStyle/>
          <a:p>
            <a:pPr marL="0" indent="0">
              <a:buNone/>
            </a:pPr>
            <a:r>
              <a:rPr lang="en-US" sz="900" dirty="0">
                <a:solidFill>
                  <a:srgbClr val="1B2A4A"/>
                </a:solidFill>
                <a:latin typeface="Arial" pitchFamily="34" charset="0"/>
                <a:ea typeface="Arial" pitchFamily="34" charset="-122"/>
                <a:cs typeface="Arial" pitchFamily="34" charset="-120"/>
              </a:rPr>
              <a:t>mode -&gt; execution path in QueryLoop (_run_react)</a:t>
            </a:r>
            <a:endParaRPr lang="en-US" sz="900" dirty="0"/>
          </a:p>
        </p:txBody>
      </p:sp>
      <p:sp>
        <p:nvSpPr>
          <p:cNvPr id="9" name="Shape 7"/>
          <p:cNvSpPr/>
          <p:nvPr/>
        </p:nvSpPr>
        <p:spPr>
          <a:xfrm>
            <a:off x="5120640" y="1783080"/>
            <a:ext cx="3566160" cy="256032"/>
          </a:xfrm>
          <a:prstGeom prst="rect">
            <a:avLst/>
          </a:prstGeom>
          <a:solidFill>
            <a:srgbClr val="E0F7FA"/>
          </a:solidFill>
          <a:ln/>
        </p:spPr>
        <p:txBody>
          <a:bodyPr/>
          <a:lstStyle/>
          <a:p>
            <a:endParaRPr lang="en-US"/>
          </a:p>
        </p:txBody>
      </p:sp>
      <p:sp>
        <p:nvSpPr>
          <p:cNvPr id="10" name="Text 8"/>
          <p:cNvSpPr/>
          <p:nvPr/>
        </p:nvSpPr>
        <p:spPr>
          <a:xfrm>
            <a:off x="5193792" y="1783080"/>
            <a:ext cx="3419856" cy="256032"/>
          </a:xfrm>
          <a:prstGeom prst="rect">
            <a:avLst/>
          </a:prstGeom>
          <a:noFill/>
          <a:ln/>
        </p:spPr>
        <p:txBody>
          <a:bodyPr wrap="square" lIns="0" tIns="0" rIns="0" bIns="0" rtlCol="0" anchor="ctr"/>
          <a:lstStyle/>
          <a:p>
            <a:pPr marL="0" indent="0">
              <a:buNone/>
            </a:pPr>
            <a:r>
              <a:rPr lang="en-US" sz="900" dirty="0">
                <a:solidFill>
                  <a:srgbClr val="1B2A4A"/>
                </a:solidFill>
                <a:latin typeface="Arial" pitchFamily="34" charset="0"/>
                <a:ea typeface="Arial" pitchFamily="34" charset="-122"/>
                <a:cs typeface="Arial" pitchFamily="34" charset="-120"/>
              </a:rPr>
              <a:t>execution_strategy -&gt; plan_execute variant of ReAct</a:t>
            </a:r>
            <a:endParaRPr lang="en-US" sz="900" dirty="0"/>
          </a:p>
        </p:txBody>
      </p:sp>
      <p:sp>
        <p:nvSpPr>
          <p:cNvPr id="11" name="Shape 9"/>
          <p:cNvSpPr/>
          <p:nvPr/>
        </p:nvSpPr>
        <p:spPr>
          <a:xfrm>
            <a:off x="5120640" y="2103120"/>
            <a:ext cx="3566160" cy="256032"/>
          </a:xfrm>
          <a:prstGeom prst="rect">
            <a:avLst/>
          </a:prstGeom>
          <a:solidFill>
            <a:srgbClr val="E0F7FA"/>
          </a:solidFill>
          <a:ln/>
        </p:spPr>
        <p:txBody>
          <a:bodyPr/>
          <a:lstStyle/>
          <a:p>
            <a:endParaRPr lang="en-US"/>
          </a:p>
        </p:txBody>
      </p:sp>
      <p:sp>
        <p:nvSpPr>
          <p:cNvPr id="12" name="Text 10"/>
          <p:cNvSpPr/>
          <p:nvPr/>
        </p:nvSpPr>
        <p:spPr>
          <a:xfrm>
            <a:off x="5193792" y="2103120"/>
            <a:ext cx="3419856" cy="256032"/>
          </a:xfrm>
          <a:prstGeom prst="rect">
            <a:avLst/>
          </a:prstGeom>
          <a:noFill/>
          <a:ln/>
        </p:spPr>
        <p:txBody>
          <a:bodyPr wrap="square" lIns="0" tIns="0" rIns="0" bIns="0" rtlCol="0" anchor="ctr"/>
          <a:lstStyle/>
          <a:p>
            <a:pPr marL="0" indent="0">
              <a:buNone/>
            </a:pPr>
            <a:r>
              <a:rPr lang="en-US" sz="900" dirty="0">
                <a:solidFill>
                  <a:srgbClr val="1B2A4A"/>
                </a:solidFill>
                <a:latin typeface="Arial" pitchFamily="34" charset="0"/>
                <a:ea typeface="Arial" pitchFamily="34" charset="-122"/>
                <a:cs typeface="Arial" pitchFamily="34" charset="-120"/>
              </a:rPr>
              <a:t>max_steps -&gt; safety limit on tool iterations</a:t>
            </a:r>
            <a:endParaRPr lang="en-US" sz="900" dirty="0"/>
          </a:p>
        </p:txBody>
      </p:sp>
      <p:sp>
        <p:nvSpPr>
          <p:cNvPr id="13" name="Shape 11"/>
          <p:cNvSpPr/>
          <p:nvPr/>
        </p:nvSpPr>
        <p:spPr>
          <a:xfrm>
            <a:off x="5120640" y="2423160"/>
            <a:ext cx="3566160" cy="256032"/>
          </a:xfrm>
          <a:prstGeom prst="rect">
            <a:avLst/>
          </a:prstGeom>
          <a:solidFill>
            <a:srgbClr val="E0F7FA"/>
          </a:solidFill>
          <a:ln/>
        </p:spPr>
        <p:txBody>
          <a:bodyPr/>
          <a:lstStyle/>
          <a:p>
            <a:endParaRPr lang="en-US"/>
          </a:p>
        </p:txBody>
      </p:sp>
      <p:sp>
        <p:nvSpPr>
          <p:cNvPr id="14" name="Text 12"/>
          <p:cNvSpPr/>
          <p:nvPr/>
        </p:nvSpPr>
        <p:spPr>
          <a:xfrm>
            <a:off x="5193792" y="2423160"/>
            <a:ext cx="3419856" cy="256032"/>
          </a:xfrm>
          <a:prstGeom prst="rect">
            <a:avLst/>
          </a:prstGeom>
          <a:noFill/>
          <a:ln/>
        </p:spPr>
        <p:txBody>
          <a:bodyPr wrap="square" lIns="0" tIns="0" rIns="0" bIns="0" rtlCol="0" anchor="ctr"/>
          <a:lstStyle/>
          <a:p>
            <a:pPr marL="0" indent="0">
              <a:buNone/>
            </a:pPr>
            <a:r>
              <a:rPr lang="en-US" sz="900" dirty="0">
                <a:solidFill>
                  <a:srgbClr val="1B2A4A"/>
                </a:solidFill>
                <a:latin typeface="Arial" pitchFamily="34" charset="0"/>
                <a:ea typeface="Arial" pitchFamily="34" charset="-122"/>
                <a:cs typeface="Arial" pitchFamily="34" charset="-120"/>
              </a:rPr>
              <a:t>allowed_tools -&gt; ENFORCED allowlist. LLM cannot call tools outside this list.</a:t>
            </a:r>
            <a:endParaRPr lang="en-US" sz="900" dirty="0"/>
          </a:p>
        </p:txBody>
      </p:sp>
      <p:sp>
        <p:nvSpPr>
          <p:cNvPr id="15" name="Shape 13"/>
          <p:cNvSpPr/>
          <p:nvPr/>
        </p:nvSpPr>
        <p:spPr>
          <a:xfrm>
            <a:off x="5120640" y="3154680"/>
            <a:ext cx="3566160" cy="256032"/>
          </a:xfrm>
          <a:prstGeom prst="rect">
            <a:avLst/>
          </a:prstGeom>
          <a:solidFill>
            <a:srgbClr val="E0F7FA"/>
          </a:solidFill>
          <a:ln/>
        </p:spPr>
        <p:txBody>
          <a:bodyPr/>
          <a:lstStyle/>
          <a:p>
            <a:endParaRPr lang="en-US"/>
          </a:p>
        </p:txBody>
      </p:sp>
      <p:sp>
        <p:nvSpPr>
          <p:cNvPr id="16" name="Text 14"/>
          <p:cNvSpPr/>
          <p:nvPr/>
        </p:nvSpPr>
        <p:spPr>
          <a:xfrm>
            <a:off x="5193792" y="3154680"/>
            <a:ext cx="3419856" cy="256032"/>
          </a:xfrm>
          <a:prstGeom prst="rect">
            <a:avLst/>
          </a:prstGeom>
          <a:noFill/>
          <a:ln/>
        </p:spPr>
        <p:txBody>
          <a:bodyPr wrap="square" lIns="0" tIns="0" rIns="0" bIns="0" rtlCol="0" anchor="ctr"/>
          <a:lstStyle/>
          <a:p>
            <a:pPr marL="0" indent="0">
              <a:buNone/>
            </a:pPr>
            <a:r>
              <a:rPr lang="en-US" sz="900" dirty="0">
                <a:solidFill>
                  <a:srgbClr val="1B2A4A"/>
                </a:solidFill>
                <a:latin typeface="Arial" pitchFamily="34" charset="0"/>
                <a:ea typeface="Arial" pitchFamily="34" charset="-122"/>
                <a:cs typeface="Arial" pitchFamily="34" charset="-120"/>
              </a:rPr>
              <a:t>system_prompt_file -&gt; base prompt loaded from skill</a:t>
            </a:r>
            <a:endParaRPr lang="en-US" sz="900" dirty="0"/>
          </a:p>
        </p:txBody>
      </p:sp>
      <p:sp>
        <p:nvSpPr>
          <p:cNvPr id="17" name="Shape 15"/>
          <p:cNvSpPr/>
          <p:nvPr/>
        </p:nvSpPr>
        <p:spPr>
          <a:xfrm>
            <a:off x="5120640" y="3520440"/>
            <a:ext cx="3566160" cy="256032"/>
          </a:xfrm>
          <a:prstGeom prst="rect">
            <a:avLst/>
          </a:prstGeom>
          <a:solidFill>
            <a:srgbClr val="E0F7FA"/>
          </a:solidFill>
          <a:ln/>
        </p:spPr>
        <p:txBody>
          <a:bodyPr/>
          <a:lstStyle/>
          <a:p>
            <a:endParaRPr lang="en-US"/>
          </a:p>
        </p:txBody>
      </p:sp>
      <p:sp>
        <p:nvSpPr>
          <p:cNvPr id="18" name="Text 16"/>
          <p:cNvSpPr/>
          <p:nvPr/>
        </p:nvSpPr>
        <p:spPr>
          <a:xfrm>
            <a:off x="5193792" y="3520440"/>
            <a:ext cx="3419856" cy="256032"/>
          </a:xfrm>
          <a:prstGeom prst="rect">
            <a:avLst/>
          </a:prstGeom>
          <a:noFill/>
          <a:ln/>
        </p:spPr>
        <p:txBody>
          <a:bodyPr wrap="square" lIns="0" tIns="0" rIns="0" bIns="0" rtlCol="0" anchor="ctr"/>
          <a:lstStyle/>
          <a:p>
            <a:pPr marL="0" indent="0">
              <a:buNone/>
            </a:pPr>
            <a:r>
              <a:rPr lang="en-US" sz="900" dirty="0">
                <a:solidFill>
                  <a:srgbClr val="1B2A4A"/>
                </a:solidFill>
                <a:latin typeface="Arial" pitchFamily="34" charset="0"/>
                <a:ea typeface="Arial" pitchFamily="34" charset="-122"/>
                <a:cs typeface="Arial" pitchFamily="34" charset="-120"/>
              </a:rPr>
              <a:t>role_kind -&gt; can run standalone OR as coord worker</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02920" y="1463040"/>
            <a:ext cx="8138160" cy="73152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Execution Flow Examples</a:t>
            </a:r>
            <a:endParaRPr lang="en-US" sz="3200" dirty="0"/>
          </a:p>
        </p:txBody>
      </p:sp>
      <p:sp>
        <p:nvSpPr>
          <p:cNvPr id="3" name="Text 1"/>
          <p:cNvSpPr/>
          <p:nvPr/>
        </p:nvSpPr>
        <p:spPr>
          <a:xfrm>
            <a:off x="502920" y="2286000"/>
            <a:ext cx="8138160" cy="457200"/>
          </a:xfrm>
          <a:prstGeom prst="rect">
            <a:avLst/>
          </a:prstGeom>
          <a:noFill/>
          <a:ln/>
        </p:spPr>
        <p:txBody>
          <a:bodyPr wrap="square" lIns="0" tIns="0" rIns="0" bIns="0" rtlCol="0" anchor="ctr"/>
          <a:lstStyle/>
          <a:p>
            <a:pPr marL="0" indent="0">
              <a:buNone/>
            </a:pPr>
            <a:r>
              <a:rPr lang="en-US" sz="1600" dirty="0">
                <a:solidFill>
                  <a:srgbClr val="0097A7"/>
                </a:solidFill>
                <a:latin typeface="Arial" pitchFamily="34" charset="0"/>
                <a:ea typeface="Arial" pitchFamily="34" charset="-122"/>
                <a:cs typeface="Arial" pitchFamily="34" charset="-120"/>
              </a:rPr>
              <a:t>Slides 21-26: Five real scenarios traced end-to-end</a:t>
            </a:r>
            <a:endParaRPr lang="en-US" sz="16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Flow 1: "What is machine learning?"</a:t>
            </a:r>
            <a:endParaRPr lang="en-US" sz="2600" dirty="0"/>
          </a:p>
        </p:txBody>
      </p:sp>
      <p:sp>
        <p:nvSpPr>
          <p:cNvPr id="3" name="Shape 1"/>
          <p:cNvSpPr/>
          <p:nvPr/>
        </p:nvSpPr>
        <p:spPr>
          <a:xfrm>
            <a:off x="594360" y="1188720"/>
            <a:ext cx="1234440" cy="77724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4" name="Text 2"/>
          <p:cNvSpPr/>
          <p:nvPr/>
        </p:nvSpPr>
        <p:spPr>
          <a:xfrm>
            <a:off x="594360" y="1188720"/>
            <a:ext cx="1234440" cy="77724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User sends:</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"What is ML?"</a:t>
            </a:r>
            <a:endParaRPr lang="en-US" sz="1000" dirty="0"/>
          </a:p>
        </p:txBody>
      </p:sp>
      <p:sp>
        <p:nvSpPr>
          <p:cNvPr id="5" name="Shape 3"/>
          <p:cNvSpPr/>
          <p:nvPr/>
        </p:nvSpPr>
        <p:spPr>
          <a:xfrm>
            <a:off x="1828800" y="1577340"/>
            <a:ext cx="109728" cy="0"/>
          </a:xfrm>
          <a:prstGeom prst="line">
            <a:avLst/>
          </a:prstGeom>
          <a:noFill/>
          <a:ln w="25400">
            <a:solidFill>
              <a:srgbClr val="0097A7"/>
            </a:solidFill>
            <a:prstDash val="solid"/>
          </a:ln>
        </p:spPr>
        <p:txBody>
          <a:bodyPr/>
          <a:lstStyle/>
          <a:p>
            <a:endParaRPr lang="en-US"/>
          </a:p>
        </p:txBody>
      </p:sp>
      <p:sp>
        <p:nvSpPr>
          <p:cNvPr id="6" name="Text 4"/>
          <p:cNvSpPr/>
          <p:nvPr/>
        </p:nvSpPr>
        <p:spPr>
          <a:xfrm>
            <a:off x="1828800" y="146761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7" name="Shape 5"/>
          <p:cNvSpPr/>
          <p:nvPr/>
        </p:nvSpPr>
        <p:spPr>
          <a:xfrm>
            <a:off x="1938528" y="1188720"/>
            <a:ext cx="1234440" cy="777240"/>
          </a:xfrm>
          <a:prstGeom prst="rect">
            <a:avLst/>
          </a:prstGeom>
          <a:solidFill>
            <a:srgbClr val="F9A825"/>
          </a:solidFill>
          <a:ln/>
          <a:effectLst>
            <a:outerShdw blurRad="50800" dist="25400" dir="8100000" algn="bl" rotWithShape="0">
              <a:srgbClr val="000000">
                <a:alpha val="12000"/>
              </a:srgbClr>
            </a:outerShdw>
          </a:effectLst>
        </p:spPr>
        <p:txBody>
          <a:bodyPr/>
          <a:lstStyle/>
          <a:p>
            <a:endParaRPr lang="en-US"/>
          </a:p>
        </p:txBody>
      </p:sp>
      <p:sp>
        <p:nvSpPr>
          <p:cNvPr id="8" name="Text 6"/>
          <p:cNvSpPr/>
          <p:nvPr/>
        </p:nvSpPr>
        <p:spPr>
          <a:xfrm>
            <a:off x="1938528" y="1188720"/>
            <a:ext cx="1234440" cy="77724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route_message()</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No regex match</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text &lt; 600 chars</a:t>
            </a:r>
            <a:endParaRPr lang="en-US" sz="1000" dirty="0"/>
          </a:p>
        </p:txBody>
      </p:sp>
      <p:sp>
        <p:nvSpPr>
          <p:cNvPr id="9" name="Shape 7"/>
          <p:cNvSpPr/>
          <p:nvPr/>
        </p:nvSpPr>
        <p:spPr>
          <a:xfrm>
            <a:off x="3172968" y="1577340"/>
            <a:ext cx="109728" cy="0"/>
          </a:xfrm>
          <a:prstGeom prst="line">
            <a:avLst/>
          </a:prstGeom>
          <a:noFill/>
          <a:ln w="25400">
            <a:solidFill>
              <a:srgbClr val="0097A7"/>
            </a:solidFill>
            <a:prstDash val="solid"/>
          </a:ln>
        </p:spPr>
        <p:txBody>
          <a:bodyPr/>
          <a:lstStyle/>
          <a:p>
            <a:endParaRPr lang="en-US"/>
          </a:p>
        </p:txBody>
      </p:sp>
      <p:sp>
        <p:nvSpPr>
          <p:cNvPr id="10" name="Text 8"/>
          <p:cNvSpPr/>
          <p:nvPr/>
        </p:nvSpPr>
        <p:spPr>
          <a:xfrm>
            <a:off x="3172968" y="146761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1" name="Shape 9"/>
          <p:cNvSpPr/>
          <p:nvPr/>
        </p:nvSpPr>
        <p:spPr>
          <a:xfrm>
            <a:off x="3282696" y="1188720"/>
            <a:ext cx="1234440" cy="77724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12" name="Text 10"/>
          <p:cNvSpPr/>
          <p:nvPr/>
        </p:nvSpPr>
        <p:spPr>
          <a:xfrm>
            <a:off x="3282696" y="1188720"/>
            <a:ext cx="1234440" cy="77724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RouterDecision:</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route=BASIC</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conf=0.85</a:t>
            </a:r>
            <a:endParaRPr lang="en-US" sz="1000" dirty="0"/>
          </a:p>
        </p:txBody>
      </p:sp>
      <p:sp>
        <p:nvSpPr>
          <p:cNvPr id="13" name="Shape 11"/>
          <p:cNvSpPr/>
          <p:nvPr/>
        </p:nvSpPr>
        <p:spPr>
          <a:xfrm>
            <a:off x="4517136" y="1577340"/>
            <a:ext cx="109728" cy="0"/>
          </a:xfrm>
          <a:prstGeom prst="line">
            <a:avLst/>
          </a:prstGeom>
          <a:noFill/>
          <a:ln w="25400">
            <a:solidFill>
              <a:srgbClr val="0097A7"/>
            </a:solidFill>
            <a:prstDash val="solid"/>
          </a:ln>
        </p:spPr>
        <p:txBody>
          <a:bodyPr/>
          <a:lstStyle/>
          <a:p>
            <a:endParaRPr lang="en-US"/>
          </a:p>
        </p:txBody>
      </p:sp>
      <p:sp>
        <p:nvSpPr>
          <p:cNvPr id="14" name="Text 12"/>
          <p:cNvSpPr/>
          <p:nvPr/>
        </p:nvSpPr>
        <p:spPr>
          <a:xfrm>
            <a:off x="4517136" y="146761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5" name="Shape 13"/>
          <p:cNvSpPr/>
          <p:nvPr/>
        </p:nvSpPr>
        <p:spPr>
          <a:xfrm>
            <a:off x="4626864" y="1188720"/>
            <a:ext cx="1234440" cy="77724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16" name="Text 14"/>
          <p:cNvSpPr/>
          <p:nvPr/>
        </p:nvSpPr>
        <p:spPr>
          <a:xfrm>
            <a:off x="4626864" y="1188720"/>
            <a:ext cx="1234440" cy="77724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kernel</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.process_basic_turn()</a:t>
            </a:r>
            <a:endParaRPr lang="en-US" sz="1000" dirty="0"/>
          </a:p>
        </p:txBody>
      </p:sp>
      <p:sp>
        <p:nvSpPr>
          <p:cNvPr id="17" name="Shape 15"/>
          <p:cNvSpPr/>
          <p:nvPr/>
        </p:nvSpPr>
        <p:spPr>
          <a:xfrm>
            <a:off x="5861304" y="1577340"/>
            <a:ext cx="109728" cy="0"/>
          </a:xfrm>
          <a:prstGeom prst="line">
            <a:avLst/>
          </a:prstGeom>
          <a:noFill/>
          <a:ln w="25400">
            <a:solidFill>
              <a:srgbClr val="0097A7"/>
            </a:solidFill>
            <a:prstDash val="solid"/>
          </a:ln>
        </p:spPr>
        <p:txBody>
          <a:bodyPr/>
          <a:lstStyle/>
          <a:p>
            <a:endParaRPr lang="en-US"/>
          </a:p>
        </p:txBody>
      </p:sp>
      <p:sp>
        <p:nvSpPr>
          <p:cNvPr id="18" name="Text 16"/>
          <p:cNvSpPr/>
          <p:nvPr/>
        </p:nvSpPr>
        <p:spPr>
          <a:xfrm>
            <a:off x="5861304" y="146761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9" name="Shape 17"/>
          <p:cNvSpPr/>
          <p:nvPr/>
        </p:nvSpPr>
        <p:spPr>
          <a:xfrm>
            <a:off x="5971032" y="1188720"/>
            <a:ext cx="1234440" cy="77724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20" name="Text 18"/>
          <p:cNvSpPr/>
          <p:nvPr/>
        </p:nvSpPr>
        <p:spPr>
          <a:xfrm>
            <a:off x="5971032" y="1188720"/>
            <a:ext cx="1234440" cy="77724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QueryLoop</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._run_basic()</a:t>
            </a:r>
            <a:endParaRPr lang="en-US" sz="1000" dirty="0"/>
          </a:p>
        </p:txBody>
      </p:sp>
      <p:sp>
        <p:nvSpPr>
          <p:cNvPr id="21" name="Shape 19"/>
          <p:cNvSpPr/>
          <p:nvPr/>
        </p:nvSpPr>
        <p:spPr>
          <a:xfrm>
            <a:off x="7205472" y="1577340"/>
            <a:ext cx="109728" cy="0"/>
          </a:xfrm>
          <a:prstGeom prst="line">
            <a:avLst/>
          </a:prstGeom>
          <a:noFill/>
          <a:ln w="25400">
            <a:solidFill>
              <a:srgbClr val="0097A7"/>
            </a:solidFill>
            <a:prstDash val="solid"/>
          </a:ln>
        </p:spPr>
        <p:txBody>
          <a:bodyPr/>
          <a:lstStyle/>
          <a:p>
            <a:endParaRPr lang="en-US"/>
          </a:p>
        </p:txBody>
      </p:sp>
      <p:sp>
        <p:nvSpPr>
          <p:cNvPr id="22" name="Text 20"/>
          <p:cNvSpPr/>
          <p:nvPr/>
        </p:nvSpPr>
        <p:spPr>
          <a:xfrm>
            <a:off x="7205472" y="146761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23" name="Shape 21"/>
          <p:cNvSpPr/>
          <p:nvPr/>
        </p:nvSpPr>
        <p:spPr>
          <a:xfrm>
            <a:off x="7315200" y="1188720"/>
            <a:ext cx="1234440" cy="777240"/>
          </a:xfrm>
          <a:prstGeom prst="rect">
            <a:avLst/>
          </a:prstGeom>
          <a:solidFill>
            <a:srgbClr val="2E7D32"/>
          </a:solidFill>
          <a:ln/>
          <a:effectLst>
            <a:outerShdw blurRad="50800" dist="25400" dir="8100000" algn="bl" rotWithShape="0">
              <a:srgbClr val="000000">
                <a:alpha val="12000"/>
              </a:srgbClr>
            </a:outerShdw>
          </a:effectLst>
        </p:spPr>
        <p:txBody>
          <a:bodyPr/>
          <a:lstStyle/>
          <a:p>
            <a:endParaRPr lang="en-US"/>
          </a:p>
        </p:txBody>
      </p:sp>
      <p:sp>
        <p:nvSpPr>
          <p:cNvPr id="24" name="Text 22"/>
          <p:cNvSpPr/>
          <p:nvPr/>
        </p:nvSpPr>
        <p:spPr>
          <a:xfrm>
            <a:off x="7315200" y="1188720"/>
            <a:ext cx="1234440" cy="77724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Single LLM call</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-&gt; text response</a:t>
            </a:r>
            <a:endParaRPr lang="en-US" sz="1000" dirty="0"/>
          </a:p>
        </p:txBody>
      </p:sp>
      <p:sp>
        <p:nvSpPr>
          <p:cNvPr id="25" name="Shape 23"/>
          <p:cNvSpPr/>
          <p:nvPr/>
        </p:nvSpPr>
        <p:spPr>
          <a:xfrm>
            <a:off x="502920" y="2286000"/>
            <a:ext cx="8138160" cy="365760"/>
          </a:xfrm>
          <a:prstGeom prst="rect">
            <a:avLst/>
          </a:prstGeom>
          <a:solidFill>
            <a:srgbClr val="E0F7FA"/>
          </a:solidFill>
          <a:ln w="12700">
            <a:solidFill>
              <a:srgbClr val="0097A7"/>
            </a:solidFill>
            <a:prstDash val="solid"/>
          </a:ln>
        </p:spPr>
        <p:txBody>
          <a:bodyPr/>
          <a:lstStyle/>
          <a:p>
            <a:endParaRPr lang="en-US"/>
          </a:p>
        </p:txBody>
      </p:sp>
      <p:sp>
        <p:nvSpPr>
          <p:cNvPr id="26" name="Text 24"/>
          <p:cNvSpPr/>
          <p:nvPr/>
        </p:nvSpPr>
        <p:spPr>
          <a:xfrm>
            <a:off x="594360" y="2286000"/>
            <a:ext cx="7955280" cy="36576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BASIC route = fastest path. ~200ms latency. Zero tool overhead. No RAG, no persistence beyond message history.</a:t>
            </a:r>
            <a:endParaRPr lang="en-US" sz="1000" dirty="0"/>
          </a:p>
        </p:txBody>
      </p:sp>
      <p:sp>
        <p:nvSpPr>
          <p:cNvPr id="27" name="Text 25"/>
          <p:cNvSpPr/>
          <p:nvPr/>
        </p:nvSpPr>
        <p:spPr>
          <a:xfrm>
            <a:off x="502920" y="2880360"/>
            <a:ext cx="8138160" cy="548640"/>
          </a:xfrm>
          <a:prstGeom prst="rect">
            <a:avLst/>
          </a:prstGeom>
          <a:noFill/>
          <a:ln/>
        </p:spPr>
        <p:txBody>
          <a:bodyPr wrap="square" lIns="0" tIns="0" rIns="0" bIns="0" rtlCol="0" anchor="ctr"/>
          <a:lstStyle/>
          <a:p>
            <a:pPr marL="0" indent="0">
              <a:buNone/>
            </a:pPr>
            <a:r>
              <a:rPr lang="en-US" sz="1100" dirty="0">
                <a:solidFill>
                  <a:srgbClr val="333333"/>
                </a:solidFill>
                <a:latin typeface="Arial" pitchFamily="34" charset="0"/>
                <a:ea typeface="Arial" pitchFamily="34" charset="-122"/>
                <a:cs typeface="Arial" pitchFamily="34" charset="-120"/>
              </a:rPr>
              <a:t>This is the simplest flow. General knowledge questions that don't need documents or tools take the fast path. The system prompt for basic mode comes from skill files loaded at startup.</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Flow 2: "Analyze sales.csv — top 10 products"</a:t>
            </a:r>
            <a:endParaRPr lang="en-US" sz="2600" dirty="0"/>
          </a:p>
        </p:txBody>
      </p:sp>
      <p:sp>
        <p:nvSpPr>
          <p:cNvPr id="3" name="Shape 1"/>
          <p:cNvSpPr/>
          <p:nvPr/>
        </p:nvSpPr>
        <p:spPr>
          <a:xfrm>
            <a:off x="274320" y="914400"/>
            <a:ext cx="2468880" cy="777240"/>
          </a:xfrm>
          <a:prstGeom prst="rect">
            <a:avLst/>
          </a:prstGeom>
          <a:solidFill>
            <a:srgbClr val="F9A825"/>
          </a:solidFill>
          <a:ln/>
          <a:effectLst>
            <a:outerShdw blurRad="50800" dist="25400" dir="8100000" algn="bl" rotWithShape="0">
              <a:srgbClr val="000000">
                <a:alpha val="12000"/>
              </a:srgbClr>
            </a:outerShdw>
          </a:effectLst>
        </p:spPr>
        <p:txBody>
          <a:bodyPr/>
          <a:lstStyle/>
          <a:p>
            <a:endParaRPr lang="en-US"/>
          </a:p>
        </p:txBody>
      </p:sp>
      <p:sp>
        <p:nvSpPr>
          <p:cNvPr id="4" name="Text 2"/>
          <p:cNvSpPr/>
          <p:nvPr/>
        </p:nvSpPr>
        <p:spPr>
          <a:xfrm>
            <a:off x="274320" y="914400"/>
            <a:ext cx="2468880" cy="77724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Upload -&gt; has_attachments=True</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route=AGENT, conf=1.0</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suggested=data_analyst</a:t>
            </a:r>
            <a:endParaRPr lang="en-US" sz="1000" dirty="0"/>
          </a:p>
        </p:txBody>
      </p:sp>
      <p:sp>
        <p:nvSpPr>
          <p:cNvPr id="5" name="Shape 3"/>
          <p:cNvSpPr/>
          <p:nvPr/>
        </p:nvSpPr>
        <p:spPr>
          <a:xfrm>
            <a:off x="2743200" y="1303020"/>
            <a:ext cx="274320" cy="0"/>
          </a:xfrm>
          <a:prstGeom prst="line">
            <a:avLst/>
          </a:prstGeom>
          <a:noFill/>
          <a:ln w="25400">
            <a:solidFill>
              <a:srgbClr val="0097A7"/>
            </a:solidFill>
            <a:prstDash val="solid"/>
          </a:ln>
        </p:spPr>
        <p:txBody>
          <a:bodyPr/>
          <a:lstStyle/>
          <a:p>
            <a:endParaRPr lang="en-US"/>
          </a:p>
        </p:txBody>
      </p:sp>
      <p:sp>
        <p:nvSpPr>
          <p:cNvPr id="6" name="Text 4"/>
          <p:cNvSpPr/>
          <p:nvPr/>
        </p:nvSpPr>
        <p:spPr>
          <a:xfrm>
            <a:off x="2907792" y="119329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7" name="Shape 5"/>
          <p:cNvSpPr/>
          <p:nvPr/>
        </p:nvSpPr>
        <p:spPr>
          <a:xfrm>
            <a:off x="3017520" y="914400"/>
            <a:ext cx="2468880" cy="77724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8" name="Text 6"/>
          <p:cNvSpPr/>
          <p:nvPr/>
        </p:nvSpPr>
        <p:spPr>
          <a:xfrm>
            <a:off x="3017520" y="914400"/>
            <a:ext cx="2468880" cy="77724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load_dataset('sales.csv')</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-&gt; sees shape, dtypes</a:t>
            </a:r>
            <a:endParaRPr lang="en-US" sz="1000" dirty="0"/>
          </a:p>
        </p:txBody>
      </p:sp>
      <p:sp>
        <p:nvSpPr>
          <p:cNvPr id="9" name="Shape 7"/>
          <p:cNvSpPr/>
          <p:nvPr/>
        </p:nvSpPr>
        <p:spPr>
          <a:xfrm>
            <a:off x="5486400" y="1303020"/>
            <a:ext cx="274320" cy="0"/>
          </a:xfrm>
          <a:prstGeom prst="line">
            <a:avLst/>
          </a:prstGeom>
          <a:noFill/>
          <a:ln w="25400">
            <a:solidFill>
              <a:srgbClr val="0097A7"/>
            </a:solidFill>
            <a:prstDash val="solid"/>
          </a:ln>
        </p:spPr>
        <p:txBody>
          <a:bodyPr/>
          <a:lstStyle/>
          <a:p>
            <a:endParaRPr lang="en-US"/>
          </a:p>
        </p:txBody>
      </p:sp>
      <p:sp>
        <p:nvSpPr>
          <p:cNvPr id="10" name="Text 8"/>
          <p:cNvSpPr/>
          <p:nvPr/>
        </p:nvSpPr>
        <p:spPr>
          <a:xfrm>
            <a:off x="5650992" y="119329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1" name="Shape 9"/>
          <p:cNvSpPr/>
          <p:nvPr/>
        </p:nvSpPr>
        <p:spPr>
          <a:xfrm>
            <a:off x="5760720" y="914400"/>
            <a:ext cx="2468880" cy="77724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12" name="Text 10"/>
          <p:cNvSpPr/>
          <p:nvPr/>
        </p:nvSpPr>
        <p:spPr>
          <a:xfrm>
            <a:off x="5760720" y="914400"/>
            <a:ext cx="2468880" cy="77724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inspect_columns()</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-&gt; understands data</a:t>
            </a:r>
            <a:endParaRPr lang="en-US" sz="1000" dirty="0"/>
          </a:p>
        </p:txBody>
      </p:sp>
      <p:sp>
        <p:nvSpPr>
          <p:cNvPr id="13" name="Shape 11"/>
          <p:cNvSpPr/>
          <p:nvPr/>
        </p:nvSpPr>
        <p:spPr>
          <a:xfrm>
            <a:off x="6995160" y="1691640"/>
            <a:ext cx="0" cy="365760"/>
          </a:xfrm>
          <a:prstGeom prst="line">
            <a:avLst/>
          </a:prstGeom>
          <a:noFill/>
          <a:ln w="25400">
            <a:solidFill>
              <a:srgbClr val="0097A7"/>
            </a:solidFill>
            <a:prstDash val="solid"/>
          </a:ln>
        </p:spPr>
        <p:txBody>
          <a:bodyPr/>
          <a:lstStyle/>
          <a:p>
            <a:endParaRPr lang="en-US"/>
          </a:p>
        </p:txBody>
      </p:sp>
      <p:sp>
        <p:nvSpPr>
          <p:cNvPr id="14" name="Text 12"/>
          <p:cNvSpPr/>
          <p:nvPr/>
        </p:nvSpPr>
        <p:spPr>
          <a:xfrm>
            <a:off x="6903720" y="1984248"/>
            <a:ext cx="182880" cy="164592"/>
          </a:xfrm>
          <a:prstGeom prst="rect">
            <a:avLst/>
          </a:prstGeom>
          <a:noFill/>
          <a:ln/>
        </p:spPr>
        <p:txBody>
          <a:bodyPr wrap="square" lIns="0" tIns="0" rIns="0" bIns="0" rtlCol="0" anchor="ctr"/>
          <a:lstStyle/>
          <a:p>
            <a:pPr marL="0" indent="0" algn="ctr">
              <a:buNone/>
            </a:pPr>
            <a:r>
              <a:rPr lang="en-US" sz="1000" b="1" dirty="0">
                <a:solidFill>
                  <a:srgbClr val="0097A7"/>
                </a:solidFill>
                <a:latin typeface="Arial" pitchFamily="34" charset="0"/>
                <a:ea typeface="Arial" pitchFamily="34" charset="-122"/>
                <a:cs typeface="Arial" pitchFamily="34" charset="-120"/>
              </a:rPr>
              <a:t>v</a:t>
            </a:r>
            <a:endParaRPr lang="en-US" sz="1000" dirty="0"/>
          </a:p>
        </p:txBody>
      </p:sp>
      <p:sp>
        <p:nvSpPr>
          <p:cNvPr id="15" name="Shape 13"/>
          <p:cNvSpPr/>
          <p:nvPr/>
        </p:nvSpPr>
        <p:spPr>
          <a:xfrm>
            <a:off x="274320" y="2103120"/>
            <a:ext cx="2468880" cy="77724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16" name="Text 14"/>
          <p:cNvSpPr/>
          <p:nvPr/>
        </p:nvSpPr>
        <p:spPr>
          <a:xfrm>
            <a:off x="274320" y="2103120"/>
            <a:ext cx="2468880" cy="77724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scratchpad_write()</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-&gt; writes analysis plan</a:t>
            </a:r>
            <a:endParaRPr lang="en-US" sz="1000" dirty="0"/>
          </a:p>
        </p:txBody>
      </p:sp>
      <p:sp>
        <p:nvSpPr>
          <p:cNvPr id="17" name="Shape 15"/>
          <p:cNvSpPr/>
          <p:nvPr/>
        </p:nvSpPr>
        <p:spPr>
          <a:xfrm>
            <a:off x="3017520" y="2103120"/>
            <a:ext cx="2468880" cy="77724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18" name="Text 16"/>
          <p:cNvSpPr/>
          <p:nvPr/>
        </p:nvSpPr>
        <p:spPr>
          <a:xfrm>
            <a:off x="3017520" y="2103120"/>
            <a:ext cx="2468880" cy="77724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execute_code(pandas...)</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-&gt; runs in Docker sandbox</a:t>
            </a:r>
            <a:endParaRPr lang="en-US" sz="1000" dirty="0"/>
          </a:p>
        </p:txBody>
      </p:sp>
      <p:sp>
        <p:nvSpPr>
          <p:cNvPr id="19" name="Shape 17"/>
          <p:cNvSpPr/>
          <p:nvPr/>
        </p:nvSpPr>
        <p:spPr>
          <a:xfrm>
            <a:off x="5486400" y="2491740"/>
            <a:ext cx="274320" cy="0"/>
          </a:xfrm>
          <a:prstGeom prst="line">
            <a:avLst/>
          </a:prstGeom>
          <a:noFill/>
          <a:ln w="25400">
            <a:solidFill>
              <a:srgbClr val="0097A7"/>
            </a:solidFill>
            <a:prstDash val="solid"/>
          </a:ln>
        </p:spPr>
        <p:txBody>
          <a:bodyPr/>
          <a:lstStyle/>
          <a:p>
            <a:endParaRPr lang="en-US"/>
          </a:p>
        </p:txBody>
      </p:sp>
      <p:sp>
        <p:nvSpPr>
          <p:cNvPr id="20" name="Text 18"/>
          <p:cNvSpPr/>
          <p:nvPr/>
        </p:nvSpPr>
        <p:spPr>
          <a:xfrm>
            <a:off x="5650992" y="238201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21" name="Shape 19"/>
          <p:cNvSpPr/>
          <p:nvPr/>
        </p:nvSpPr>
        <p:spPr>
          <a:xfrm>
            <a:off x="5760720" y="2103120"/>
            <a:ext cx="2468880" cy="777240"/>
          </a:xfrm>
          <a:prstGeom prst="rect">
            <a:avLst/>
          </a:prstGeom>
          <a:solidFill>
            <a:srgbClr val="2E7D32"/>
          </a:solidFill>
          <a:ln/>
          <a:effectLst>
            <a:outerShdw blurRad="50800" dist="25400" dir="8100000" algn="bl" rotWithShape="0">
              <a:srgbClr val="000000">
                <a:alpha val="12000"/>
              </a:srgbClr>
            </a:outerShdw>
          </a:effectLst>
        </p:spPr>
        <p:txBody>
          <a:bodyPr/>
          <a:lstStyle/>
          <a:p>
            <a:endParaRPr lang="en-US"/>
          </a:p>
        </p:txBody>
      </p:sp>
      <p:sp>
        <p:nvSpPr>
          <p:cNvPr id="22" name="Text 20"/>
          <p:cNvSpPr/>
          <p:nvPr/>
        </p:nvSpPr>
        <p:spPr>
          <a:xfrm>
            <a:off x="5760720" y="2103120"/>
            <a:ext cx="2468880" cy="77724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return_file('chart.png')</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-&gt; artifact registered</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-&gt; download link returned</a:t>
            </a:r>
            <a:endParaRPr lang="en-US" sz="1000" dirty="0"/>
          </a:p>
        </p:txBody>
      </p:sp>
      <p:sp>
        <p:nvSpPr>
          <p:cNvPr id="23" name="Shape 21"/>
          <p:cNvSpPr/>
          <p:nvPr/>
        </p:nvSpPr>
        <p:spPr>
          <a:xfrm>
            <a:off x="1508760" y="2880360"/>
            <a:ext cx="0" cy="0"/>
          </a:xfrm>
          <a:prstGeom prst="line">
            <a:avLst/>
          </a:prstGeom>
          <a:noFill/>
          <a:ln w="12700">
            <a:solidFill>
              <a:srgbClr val="999999"/>
            </a:solidFill>
            <a:prstDash val="solid"/>
          </a:ln>
        </p:spPr>
        <p:txBody>
          <a:bodyPr/>
          <a:lstStyle/>
          <a:p>
            <a:endParaRPr lang="en-US"/>
          </a:p>
        </p:txBody>
      </p:sp>
      <p:sp>
        <p:nvSpPr>
          <p:cNvPr id="24" name="Shape 22"/>
          <p:cNvSpPr/>
          <p:nvPr/>
        </p:nvSpPr>
        <p:spPr>
          <a:xfrm>
            <a:off x="2743200" y="2491740"/>
            <a:ext cx="274320" cy="0"/>
          </a:xfrm>
          <a:prstGeom prst="line">
            <a:avLst/>
          </a:prstGeom>
          <a:noFill/>
          <a:ln w="25400">
            <a:solidFill>
              <a:srgbClr val="0097A7"/>
            </a:solidFill>
            <a:prstDash val="solid"/>
          </a:ln>
        </p:spPr>
        <p:txBody>
          <a:bodyPr/>
          <a:lstStyle/>
          <a:p>
            <a:endParaRPr lang="en-US"/>
          </a:p>
        </p:txBody>
      </p:sp>
      <p:sp>
        <p:nvSpPr>
          <p:cNvPr id="25" name="Text 23"/>
          <p:cNvSpPr/>
          <p:nvPr/>
        </p:nvSpPr>
        <p:spPr>
          <a:xfrm>
            <a:off x="2907792" y="238201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26" name="Shape 24"/>
          <p:cNvSpPr/>
          <p:nvPr/>
        </p:nvSpPr>
        <p:spPr>
          <a:xfrm>
            <a:off x="502920" y="3200400"/>
            <a:ext cx="8138160" cy="457200"/>
          </a:xfrm>
          <a:prstGeom prst="rect">
            <a:avLst/>
          </a:prstGeom>
          <a:solidFill>
            <a:srgbClr val="E0F7FA"/>
          </a:solidFill>
          <a:ln w="12700">
            <a:solidFill>
              <a:srgbClr val="0097A7"/>
            </a:solidFill>
            <a:prstDash val="solid"/>
          </a:ln>
        </p:spPr>
        <p:txBody>
          <a:bodyPr/>
          <a:lstStyle/>
          <a:p>
            <a:endParaRPr lang="en-US"/>
          </a:p>
        </p:txBody>
      </p:sp>
      <p:sp>
        <p:nvSpPr>
          <p:cNvPr id="27" name="Text 25"/>
          <p:cNvSpPr/>
          <p:nvPr/>
        </p:nvSpPr>
        <p:spPr>
          <a:xfrm>
            <a:off x="594360" y="3200400"/>
            <a:ext cx="7955280" cy="45720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Docker sandbox: python:3.12-slim, no network, 512MB RAM, 60s timeout, 50KB output. The plan_execute strategy means the agent plans before executing.</a:t>
            </a:r>
            <a:endParaRPr lang="en-US" sz="1000" dirty="0"/>
          </a:p>
        </p:txBody>
      </p:sp>
      <p:sp>
        <p:nvSpPr>
          <p:cNvPr id="28" name="Text 26"/>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data/agents/data_analyst.md, tools/data_analyst_tools.py, sandbox/docker_exec.py</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Flow 3: "What does the policy say about remote work?"</a:t>
            </a:r>
            <a:endParaRPr lang="en-US" sz="2600" dirty="0"/>
          </a:p>
        </p:txBody>
      </p:sp>
      <p:sp>
        <p:nvSpPr>
          <p:cNvPr id="3" name="Shape 1"/>
          <p:cNvSpPr/>
          <p:nvPr/>
        </p:nvSpPr>
        <p:spPr>
          <a:xfrm>
            <a:off x="411480" y="1097280"/>
            <a:ext cx="1554480" cy="822960"/>
          </a:xfrm>
          <a:prstGeom prst="rect">
            <a:avLst/>
          </a:prstGeom>
          <a:solidFill>
            <a:srgbClr val="F9A825"/>
          </a:solidFill>
          <a:ln/>
          <a:effectLst>
            <a:outerShdw blurRad="50800" dist="25400" dir="8100000" algn="bl" rotWithShape="0">
              <a:srgbClr val="000000">
                <a:alpha val="12000"/>
              </a:srgbClr>
            </a:outerShdw>
          </a:effectLst>
        </p:spPr>
        <p:txBody>
          <a:bodyPr/>
          <a:lstStyle/>
          <a:p>
            <a:endParaRPr lang="en-US"/>
          </a:p>
        </p:txBody>
      </p:sp>
      <p:sp>
        <p:nvSpPr>
          <p:cNvPr id="4" name="Text 2"/>
          <p:cNvSpPr/>
          <p:nvPr/>
        </p:nvSpPr>
        <p:spPr>
          <a:xfrm>
            <a:off x="411480" y="1097280"/>
            <a:ext cx="1554480" cy="82296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RAG_HINTS match</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'policy'</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route -&gt; rag_worker</a:t>
            </a:r>
            <a:endParaRPr lang="en-US" sz="1000" dirty="0"/>
          </a:p>
        </p:txBody>
      </p:sp>
      <p:sp>
        <p:nvSpPr>
          <p:cNvPr id="5" name="Shape 3"/>
          <p:cNvSpPr/>
          <p:nvPr/>
        </p:nvSpPr>
        <p:spPr>
          <a:xfrm>
            <a:off x="1965960" y="1508760"/>
            <a:ext cx="137160" cy="0"/>
          </a:xfrm>
          <a:prstGeom prst="line">
            <a:avLst/>
          </a:prstGeom>
          <a:noFill/>
          <a:ln w="25400">
            <a:solidFill>
              <a:srgbClr val="0097A7"/>
            </a:solidFill>
            <a:prstDash val="solid"/>
          </a:ln>
        </p:spPr>
        <p:txBody>
          <a:bodyPr/>
          <a:lstStyle/>
          <a:p>
            <a:endParaRPr lang="en-US"/>
          </a:p>
        </p:txBody>
      </p:sp>
      <p:sp>
        <p:nvSpPr>
          <p:cNvPr id="6" name="Text 4"/>
          <p:cNvSpPr/>
          <p:nvPr/>
        </p:nvSpPr>
        <p:spPr>
          <a:xfrm>
            <a:off x="1993392" y="139903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7" name="Shape 5"/>
          <p:cNvSpPr/>
          <p:nvPr/>
        </p:nvSpPr>
        <p:spPr>
          <a:xfrm>
            <a:off x="2103120" y="1097280"/>
            <a:ext cx="1554480" cy="82296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8" name="Text 6"/>
          <p:cNvSpPr/>
          <p:nvPr/>
        </p:nvSpPr>
        <p:spPr>
          <a:xfrm>
            <a:off x="2103120" y="1097280"/>
            <a:ext cx="1554480" cy="82296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Hybrid Retrieval</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vector + BM25</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top_k candidates</a:t>
            </a:r>
            <a:endParaRPr lang="en-US" sz="1000" dirty="0"/>
          </a:p>
        </p:txBody>
      </p:sp>
      <p:sp>
        <p:nvSpPr>
          <p:cNvPr id="9" name="Shape 7"/>
          <p:cNvSpPr/>
          <p:nvPr/>
        </p:nvSpPr>
        <p:spPr>
          <a:xfrm>
            <a:off x="3657600" y="1508760"/>
            <a:ext cx="137160" cy="0"/>
          </a:xfrm>
          <a:prstGeom prst="line">
            <a:avLst/>
          </a:prstGeom>
          <a:noFill/>
          <a:ln w="25400">
            <a:solidFill>
              <a:srgbClr val="0097A7"/>
            </a:solidFill>
            <a:prstDash val="solid"/>
          </a:ln>
        </p:spPr>
        <p:txBody>
          <a:bodyPr/>
          <a:lstStyle/>
          <a:p>
            <a:endParaRPr lang="en-US"/>
          </a:p>
        </p:txBody>
      </p:sp>
      <p:sp>
        <p:nvSpPr>
          <p:cNvPr id="10" name="Text 8"/>
          <p:cNvSpPr/>
          <p:nvPr/>
        </p:nvSpPr>
        <p:spPr>
          <a:xfrm>
            <a:off x="3685032" y="139903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1" name="Shape 9"/>
          <p:cNvSpPr/>
          <p:nvPr/>
        </p:nvSpPr>
        <p:spPr>
          <a:xfrm>
            <a:off x="3794760" y="1097280"/>
            <a:ext cx="1554480" cy="82296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12" name="Text 10"/>
          <p:cNvSpPr/>
          <p:nvPr/>
        </p:nvSpPr>
        <p:spPr>
          <a:xfrm>
            <a:off x="3794760" y="1097280"/>
            <a:ext cx="1554480" cy="82296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Judge Grading</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small LLM scores</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each chunk 0-1</a:t>
            </a:r>
            <a:endParaRPr lang="en-US" sz="1000" dirty="0"/>
          </a:p>
        </p:txBody>
      </p:sp>
      <p:sp>
        <p:nvSpPr>
          <p:cNvPr id="13" name="Shape 11"/>
          <p:cNvSpPr/>
          <p:nvPr/>
        </p:nvSpPr>
        <p:spPr>
          <a:xfrm>
            <a:off x="5349240" y="1508760"/>
            <a:ext cx="137160" cy="0"/>
          </a:xfrm>
          <a:prstGeom prst="line">
            <a:avLst/>
          </a:prstGeom>
          <a:noFill/>
          <a:ln w="25400">
            <a:solidFill>
              <a:srgbClr val="0097A7"/>
            </a:solidFill>
            <a:prstDash val="solid"/>
          </a:ln>
        </p:spPr>
        <p:txBody>
          <a:bodyPr/>
          <a:lstStyle/>
          <a:p>
            <a:endParaRPr lang="en-US"/>
          </a:p>
        </p:txBody>
      </p:sp>
      <p:sp>
        <p:nvSpPr>
          <p:cNvPr id="14" name="Text 12"/>
          <p:cNvSpPr/>
          <p:nvPr/>
        </p:nvSpPr>
        <p:spPr>
          <a:xfrm>
            <a:off x="5376672" y="139903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5" name="Shape 13"/>
          <p:cNvSpPr/>
          <p:nvPr/>
        </p:nvSpPr>
        <p:spPr>
          <a:xfrm>
            <a:off x="5486400" y="1097280"/>
            <a:ext cx="1554480" cy="82296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16" name="Text 14"/>
          <p:cNvSpPr/>
          <p:nvPr/>
        </p:nvSpPr>
        <p:spPr>
          <a:xfrm>
            <a:off x="5486400" y="1097280"/>
            <a:ext cx="1554480" cy="82296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Synthesis</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generate_grounded_answer()</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cite evidence inline</a:t>
            </a:r>
            <a:endParaRPr lang="en-US" sz="1000" dirty="0"/>
          </a:p>
        </p:txBody>
      </p:sp>
      <p:sp>
        <p:nvSpPr>
          <p:cNvPr id="17" name="Shape 15"/>
          <p:cNvSpPr/>
          <p:nvPr/>
        </p:nvSpPr>
        <p:spPr>
          <a:xfrm>
            <a:off x="7040880" y="1508760"/>
            <a:ext cx="137160" cy="0"/>
          </a:xfrm>
          <a:prstGeom prst="line">
            <a:avLst/>
          </a:prstGeom>
          <a:noFill/>
          <a:ln w="25400">
            <a:solidFill>
              <a:srgbClr val="0097A7"/>
            </a:solidFill>
            <a:prstDash val="solid"/>
          </a:ln>
        </p:spPr>
        <p:txBody>
          <a:bodyPr/>
          <a:lstStyle/>
          <a:p>
            <a:endParaRPr lang="en-US"/>
          </a:p>
        </p:txBody>
      </p:sp>
      <p:sp>
        <p:nvSpPr>
          <p:cNvPr id="18" name="Text 16"/>
          <p:cNvSpPr/>
          <p:nvPr/>
        </p:nvSpPr>
        <p:spPr>
          <a:xfrm>
            <a:off x="7068312" y="139903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9" name="Shape 17"/>
          <p:cNvSpPr/>
          <p:nvPr/>
        </p:nvSpPr>
        <p:spPr>
          <a:xfrm>
            <a:off x="7178040" y="1097280"/>
            <a:ext cx="1554480" cy="82296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20" name="Text 18"/>
          <p:cNvSpPr/>
          <p:nvPr/>
        </p:nvSpPr>
        <p:spPr>
          <a:xfrm>
            <a:off x="7178040" y="1097280"/>
            <a:ext cx="1554480" cy="82296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Citation Building</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build_citations()</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320-char snippets</a:t>
            </a:r>
            <a:endParaRPr lang="en-US" sz="1000" dirty="0"/>
          </a:p>
        </p:txBody>
      </p:sp>
      <p:sp>
        <p:nvSpPr>
          <p:cNvPr id="21" name="Shape 19"/>
          <p:cNvSpPr/>
          <p:nvPr/>
        </p:nvSpPr>
        <p:spPr>
          <a:xfrm>
            <a:off x="502920" y="2286000"/>
            <a:ext cx="8138160" cy="1097280"/>
          </a:xfrm>
          <a:prstGeom prst="rect">
            <a:avLst/>
          </a:prstGeom>
          <a:solidFill>
            <a:srgbClr val="2D2D2D"/>
          </a:solidFill>
          <a:ln/>
        </p:spPr>
        <p:txBody>
          <a:bodyPr/>
          <a:lstStyle/>
          <a:p>
            <a:endParaRPr lang="en-US"/>
          </a:p>
        </p:txBody>
      </p:sp>
      <p:sp>
        <p:nvSpPr>
          <p:cNvPr id="22" name="Text 20"/>
          <p:cNvSpPr/>
          <p:nvPr/>
        </p:nvSpPr>
        <p:spPr>
          <a:xfrm>
            <a:off x="612648" y="2340864"/>
            <a:ext cx="7918704" cy="987552"/>
          </a:xfrm>
          <a:prstGeom prst="rect">
            <a:avLst/>
          </a:prstGeom>
          <a:noFill/>
          <a:ln/>
        </p:spPr>
        <p:txBody>
          <a:bodyPr wrap="square" lIns="0" tIns="0" rIns="0" bIns="0" rtlCol="0" anchor="t"/>
          <a:lstStyle/>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RAG Contract Output: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answer: "The policy states that employees may work remotely up to 3 days...",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citations: [{citation_id: 1, source: "HR-Policy-2024.pdf", snippet: "...", score: 0.92}],</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used_citation_ids: [1, 3],</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confidence: "high",</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retrieval_summary: {chunks_retrieved: 12, chunks_graded: 12, chunks_used: 4},</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followups: ["What are the exceptions to the remote work policy?"],</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warnings: []</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a:t>
            </a:r>
            <a:endParaRPr lang="en-US" sz="900" dirty="0"/>
          </a:p>
        </p:txBody>
      </p:sp>
      <p:sp>
        <p:nvSpPr>
          <p:cNvPr id="23" name="Shape 21"/>
          <p:cNvSpPr/>
          <p:nvPr/>
        </p:nvSpPr>
        <p:spPr>
          <a:xfrm>
            <a:off x="502920" y="3611880"/>
            <a:ext cx="8138160" cy="365760"/>
          </a:xfrm>
          <a:prstGeom prst="rect">
            <a:avLst/>
          </a:prstGeom>
          <a:solidFill>
            <a:srgbClr val="E0F7FA"/>
          </a:solidFill>
          <a:ln w="12700">
            <a:solidFill>
              <a:srgbClr val="0097A7"/>
            </a:solidFill>
            <a:prstDash val="solid"/>
          </a:ln>
        </p:spPr>
        <p:txBody>
          <a:bodyPr/>
          <a:lstStyle/>
          <a:p>
            <a:endParaRPr lang="en-US"/>
          </a:p>
        </p:txBody>
      </p:sp>
      <p:sp>
        <p:nvSpPr>
          <p:cNvPr id="24" name="Text 22"/>
          <p:cNvSpPr/>
          <p:nvPr/>
        </p:nvSpPr>
        <p:spPr>
          <a:xfrm>
            <a:off x="594360" y="3611880"/>
            <a:ext cx="7955280" cy="36576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RAG worker doesn't use ReAct. It has its own pipeline guaranteeing structured, citable output. New: evidence_only mode returns raw evidence without synthesis.</a:t>
            </a:r>
            <a:endParaRPr lang="en-US" sz="1000" dirty="0"/>
          </a:p>
        </p:txBody>
      </p:sp>
      <p:sp>
        <p:nvSpPr>
          <p:cNvPr id="25" name="Text 23"/>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rag/engine.py, rag/retrieval.py, rag/synthesis.py, rag/citations.py</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Flow 4: "Compare Q1/Q2 sales, research trends, write report"</a:t>
            </a:r>
            <a:endParaRPr lang="en-US" sz="2600" dirty="0"/>
          </a:p>
        </p:txBody>
      </p:sp>
      <p:sp>
        <p:nvSpPr>
          <p:cNvPr id="3" name="Shape 1"/>
          <p:cNvSpPr/>
          <p:nvPr/>
        </p:nvSpPr>
        <p:spPr>
          <a:xfrm>
            <a:off x="274320" y="1051560"/>
            <a:ext cx="1463040" cy="50292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4" name="Text 2"/>
          <p:cNvSpPr/>
          <p:nvPr/>
        </p:nvSpPr>
        <p:spPr>
          <a:xfrm>
            <a:off x="274320" y="1051560"/>
            <a:ext cx="1463040" cy="50292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1. Planner</a:t>
            </a:r>
            <a:endParaRPr lang="en-US" sz="1000" dirty="0"/>
          </a:p>
        </p:txBody>
      </p:sp>
      <p:sp>
        <p:nvSpPr>
          <p:cNvPr id="5" name="Shape 3"/>
          <p:cNvSpPr/>
          <p:nvPr/>
        </p:nvSpPr>
        <p:spPr>
          <a:xfrm>
            <a:off x="1737360" y="1303020"/>
            <a:ext cx="182880" cy="0"/>
          </a:xfrm>
          <a:prstGeom prst="line">
            <a:avLst/>
          </a:prstGeom>
          <a:noFill/>
          <a:ln w="25400">
            <a:solidFill>
              <a:srgbClr val="0097A7"/>
            </a:solidFill>
            <a:prstDash val="solid"/>
          </a:ln>
        </p:spPr>
        <p:txBody>
          <a:bodyPr/>
          <a:lstStyle/>
          <a:p>
            <a:endParaRPr lang="en-US"/>
          </a:p>
        </p:txBody>
      </p:sp>
      <p:sp>
        <p:nvSpPr>
          <p:cNvPr id="6" name="Text 4"/>
          <p:cNvSpPr/>
          <p:nvPr/>
        </p:nvSpPr>
        <p:spPr>
          <a:xfrm>
            <a:off x="1810512" y="119329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7" name="Shape 5"/>
          <p:cNvSpPr/>
          <p:nvPr/>
        </p:nvSpPr>
        <p:spPr>
          <a:xfrm>
            <a:off x="1920240" y="960120"/>
            <a:ext cx="3200400" cy="1280160"/>
          </a:xfrm>
          <a:prstGeom prst="rect">
            <a:avLst/>
          </a:prstGeom>
          <a:solidFill>
            <a:srgbClr val="F5F5F5"/>
          </a:solidFill>
          <a:ln w="12700">
            <a:solidFill>
              <a:srgbClr val="1B2A4A"/>
            </a:solidFill>
            <a:prstDash val="solid"/>
          </a:ln>
        </p:spPr>
        <p:txBody>
          <a:bodyPr/>
          <a:lstStyle/>
          <a:p>
            <a:endParaRPr lang="en-US"/>
          </a:p>
        </p:txBody>
      </p:sp>
      <p:sp>
        <p:nvSpPr>
          <p:cNvPr id="8" name="Text 6"/>
          <p:cNvSpPr/>
          <p:nvPr/>
        </p:nvSpPr>
        <p:spPr>
          <a:xfrm>
            <a:off x="2011680" y="978408"/>
            <a:ext cx="3017520" cy="228600"/>
          </a:xfrm>
          <a:prstGeom prst="rect">
            <a:avLst/>
          </a:prstGeom>
          <a:noFill/>
          <a:ln/>
        </p:spPr>
        <p:txBody>
          <a:bodyPr wrap="square" lIns="0" tIns="0" rIns="0" bIns="0" rtlCol="0" anchor="ctr"/>
          <a:lstStyle/>
          <a:p>
            <a:pPr marL="0" indent="0">
              <a:buNone/>
            </a:pPr>
            <a:r>
              <a:rPr lang="en-US" sz="900" b="1" dirty="0">
                <a:solidFill>
                  <a:srgbClr val="1B2A4A"/>
                </a:solidFill>
                <a:latin typeface="Arial" pitchFamily="34" charset="0"/>
                <a:ea typeface="Arial" pitchFamily="34" charset="-122"/>
                <a:cs typeface="Arial" pitchFamily="34" charset="-120"/>
              </a:rPr>
              <a:t>2. Parallel Workers (max 4 concurrent)</a:t>
            </a:r>
            <a:endParaRPr lang="en-US" sz="900" dirty="0"/>
          </a:p>
        </p:txBody>
      </p:sp>
      <p:sp>
        <p:nvSpPr>
          <p:cNvPr id="9" name="Shape 7"/>
          <p:cNvSpPr/>
          <p:nvPr/>
        </p:nvSpPr>
        <p:spPr>
          <a:xfrm>
            <a:off x="2011680" y="1280160"/>
            <a:ext cx="960120" cy="45720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10" name="Text 8"/>
          <p:cNvSpPr/>
          <p:nvPr/>
        </p:nvSpPr>
        <p:spPr>
          <a:xfrm>
            <a:off x="2011680" y="1280160"/>
            <a:ext cx="96012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data_analyst:</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Compare Q1 vs Q2</a:t>
            </a:r>
            <a:endParaRPr lang="en-US" sz="1000" dirty="0"/>
          </a:p>
        </p:txBody>
      </p:sp>
      <p:sp>
        <p:nvSpPr>
          <p:cNvPr id="11" name="Shape 9"/>
          <p:cNvSpPr/>
          <p:nvPr/>
        </p:nvSpPr>
        <p:spPr>
          <a:xfrm>
            <a:off x="3063240" y="1280160"/>
            <a:ext cx="960120" cy="45720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12" name="Text 10"/>
          <p:cNvSpPr/>
          <p:nvPr/>
        </p:nvSpPr>
        <p:spPr>
          <a:xfrm>
            <a:off x="3063240" y="1280160"/>
            <a:ext cx="96012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rag_worker:</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Research trends</a:t>
            </a:r>
            <a:endParaRPr lang="en-US" sz="1000" dirty="0"/>
          </a:p>
        </p:txBody>
      </p:sp>
      <p:sp>
        <p:nvSpPr>
          <p:cNvPr id="13" name="Shape 11"/>
          <p:cNvSpPr/>
          <p:nvPr/>
        </p:nvSpPr>
        <p:spPr>
          <a:xfrm>
            <a:off x="4114800" y="1280160"/>
            <a:ext cx="960120" cy="45720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14" name="Text 12"/>
          <p:cNvSpPr/>
          <p:nvPr/>
        </p:nvSpPr>
        <p:spPr>
          <a:xfrm>
            <a:off x="4114800" y="1280160"/>
            <a:ext cx="96012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utility:</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Skill guidance</a:t>
            </a:r>
            <a:endParaRPr lang="en-US" sz="1000" dirty="0"/>
          </a:p>
        </p:txBody>
      </p:sp>
      <p:sp>
        <p:nvSpPr>
          <p:cNvPr id="15" name="Shape 13"/>
          <p:cNvSpPr/>
          <p:nvPr/>
        </p:nvSpPr>
        <p:spPr>
          <a:xfrm>
            <a:off x="5120640" y="1303020"/>
            <a:ext cx="182880" cy="0"/>
          </a:xfrm>
          <a:prstGeom prst="line">
            <a:avLst/>
          </a:prstGeom>
          <a:noFill/>
          <a:ln w="25400">
            <a:solidFill>
              <a:srgbClr val="0097A7"/>
            </a:solidFill>
            <a:prstDash val="solid"/>
          </a:ln>
        </p:spPr>
        <p:txBody>
          <a:bodyPr/>
          <a:lstStyle/>
          <a:p>
            <a:endParaRPr lang="en-US"/>
          </a:p>
        </p:txBody>
      </p:sp>
      <p:sp>
        <p:nvSpPr>
          <p:cNvPr id="16" name="Text 14"/>
          <p:cNvSpPr/>
          <p:nvPr/>
        </p:nvSpPr>
        <p:spPr>
          <a:xfrm>
            <a:off x="5193792" y="119329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7" name="Shape 15"/>
          <p:cNvSpPr/>
          <p:nvPr/>
        </p:nvSpPr>
        <p:spPr>
          <a:xfrm>
            <a:off x="5303520" y="1051560"/>
            <a:ext cx="1280160" cy="50292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18" name="Text 16"/>
          <p:cNvSpPr/>
          <p:nvPr/>
        </p:nvSpPr>
        <p:spPr>
          <a:xfrm>
            <a:off x="5303520" y="1051560"/>
            <a:ext cx="1280160" cy="50292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3. Finalizer</a:t>
            </a:r>
            <a:endParaRPr lang="en-US" sz="1000" dirty="0"/>
          </a:p>
        </p:txBody>
      </p:sp>
      <p:sp>
        <p:nvSpPr>
          <p:cNvPr id="19" name="Shape 17"/>
          <p:cNvSpPr/>
          <p:nvPr/>
        </p:nvSpPr>
        <p:spPr>
          <a:xfrm>
            <a:off x="6583680" y="1303020"/>
            <a:ext cx="182880" cy="0"/>
          </a:xfrm>
          <a:prstGeom prst="line">
            <a:avLst/>
          </a:prstGeom>
          <a:noFill/>
          <a:ln w="25400">
            <a:solidFill>
              <a:srgbClr val="0097A7"/>
            </a:solidFill>
            <a:prstDash val="solid"/>
          </a:ln>
        </p:spPr>
        <p:txBody>
          <a:bodyPr/>
          <a:lstStyle/>
          <a:p>
            <a:endParaRPr lang="en-US"/>
          </a:p>
        </p:txBody>
      </p:sp>
      <p:sp>
        <p:nvSpPr>
          <p:cNvPr id="20" name="Text 18"/>
          <p:cNvSpPr/>
          <p:nvPr/>
        </p:nvSpPr>
        <p:spPr>
          <a:xfrm>
            <a:off x="6656832" y="119329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21" name="Shape 19"/>
          <p:cNvSpPr/>
          <p:nvPr/>
        </p:nvSpPr>
        <p:spPr>
          <a:xfrm>
            <a:off x="6766560" y="1051560"/>
            <a:ext cx="1188720" cy="50292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22" name="Text 20"/>
          <p:cNvSpPr/>
          <p:nvPr/>
        </p:nvSpPr>
        <p:spPr>
          <a:xfrm>
            <a:off x="6766560" y="1051560"/>
            <a:ext cx="1188720" cy="50292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4. Verifier</a:t>
            </a:r>
            <a:endParaRPr lang="en-US" sz="1000" dirty="0"/>
          </a:p>
        </p:txBody>
      </p:sp>
      <p:sp>
        <p:nvSpPr>
          <p:cNvPr id="23" name="Shape 21"/>
          <p:cNvSpPr/>
          <p:nvPr/>
        </p:nvSpPr>
        <p:spPr>
          <a:xfrm>
            <a:off x="502920" y="2057400"/>
            <a:ext cx="4389120" cy="1005840"/>
          </a:xfrm>
          <a:prstGeom prst="rect">
            <a:avLst/>
          </a:prstGeom>
          <a:solidFill>
            <a:srgbClr val="2D2D2D"/>
          </a:solidFill>
          <a:ln/>
        </p:spPr>
        <p:txBody>
          <a:bodyPr/>
          <a:lstStyle/>
          <a:p>
            <a:endParaRPr lang="en-US"/>
          </a:p>
        </p:txBody>
      </p:sp>
      <p:sp>
        <p:nvSpPr>
          <p:cNvPr id="24" name="Text 22"/>
          <p:cNvSpPr/>
          <p:nvPr/>
        </p:nvSpPr>
        <p:spPr>
          <a:xfrm>
            <a:off x="612648" y="2112264"/>
            <a:ext cx="4169664" cy="896112"/>
          </a:xfrm>
          <a:prstGeom prst="rect">
            <a:avLst/>
          </a:prstGeom>
          <a:noFill/>
          <a:ln/>
        </p:spPr>
        <p:txBody>
          <a:bodyPr wrap="square" lIns="0" tIns="0" rIns="0" bIns="0" rtlCol="0" anchor="t"/>
          <a:lstStyle/>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{"tasks": [</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{"id":1, "worker":"data_analyst",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"instruction":"Compare Q1 vs Q2 metrics"},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{"id":2, "worker":"rag_worker",</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"instruction":"Research market trends"},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{"id":3, "worker":"utility",</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"instruction":"Search for skill guidance"}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a:t>
            </a:r>
            <a:endParaRPr lang="en-US" sz="900" dirty="0"/>
          </a:p>
        </p:txBody>
      </p:sp>
      <p:sp>
        <p:nvSpPr>
          <p:cNvPr id="25" name="Text 23"/>
          <p:cNvSpPr/>
          <p:nvPr/>
        </p:nvSpPr>
        <p:spPr>
          <a:xfrm>
            <a:off x="4846320" y="2057400"/>
            <a:ext cx="3840480" cy="1005840"/>
          </a:xfrm>
          <a:prstGeom prst="rect">
            <a:avLst/>
          </a:prstGeom>
          <a:noFill/>
          <a:ln/>
        </p:spPr>
        <p:txBody>
          <a:bodyPr wrap="square" lIns="0" tIns="0" rIns="0" bIns="0" rtlCol="0" anchor="t"/>
          <a:lstStyle/>
          <a:p>
            <a:pPr marL="0" indent="0">
              <a:buNone/>
            </a:pPr>
            <a:r>
              <a:rPr lang="en-US" sz="1000" b="1" dirty="0">
                <a:solidFill>
                  <a:srgbClr val="333333"/>
                </a:solidFill>
                <a:latin typeface="Arial" pitchFamily="34" charset="0"/>
                <a:ea typeface="Arial" pitchFamily="34" charset="-122"/>
                <a:cs typeface="Arial" pitchFamily="34" charset="-120"/>
              </a:rPr>
              <a:t>Key Design: </a:t>
            </a:r>
            <a:r>
              <a:rPr lang="en-US" sz="1000" dirty="0">
                <a:solidFill>
                  <a:srgbClr val="333333"/>
                </a:solidFill>
                <a:latin typeface="Arial" pitchFamily="34" charset="0"/>
                <a:ea typeface="Arial" pitchFamily="34" charset="-122"/>
                <a:cs typeface="Arial" pitchFamily="34" charset="-120"/>
              </a:rPr>
              <a:t>Coordinator NEVER does work itself. It plans, delegates, and quality-checks. Workers run on separate threads with their own QueryLoop instances. Durable jobs survive server restarts.</a:t>
            </a:r>
            <a:endParaRPr lang="en-US" sz="1000" dirty="0"/>
          </a:p>
        </p:txBody>
      </p:sp>
      <p:sp>
        <p:nvSpPr>
          <p:cNvPr id="26" name="Shape 24"/>
          <p:cNvSpPr/>
          <p:nvPr/>
        </p:nvSpPr>
        <p:spPr>
          <a:xfrm>
            <a:off x="502920" y="3291840"/>
            <a:ext cx="8138160" cy="320040"/>
          </a:xfrm>
          <a:prstGeom prst="rect">
            <a:avLst/>
          </a:prstGeom>
          <a:solidFill>
            <a:srgbClr val="E0F7FA"/>
          </a:solidFill>
          <a:ln w="12700">
            <a:solidFill>
              <a:srgbClr val="0097A7"/>
            </a:solidFill>
            <a:prstDash val="solid"/>
          </a:ln>
        </p:spPr>
        <p:txBody>
          <a:bodyPr/>
          <a:lstStyle/>
          <a:p>
            <a:endParaRPr lang="en-US"/>
          </a:p>
        </p:txBody>
      </p:sp>
      <p:sp>
        <p:nvSpPr>
          <p:cNvPr id="27" name="Text 25"/>
          <p:cNvSpPr/>
          <p:nvPr/>
        </p:nvSpPr>
        <p:spPr>
          <a:xfrm>
            <a:off x="594360" y="3291840"/>
            <a:ext cx="7955280" cy="32004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If verifier flags issues -&gt; revision loop back to planner. Optional Step 5 ensures factual accuracy.</a:t>
            </a:r>
            <a:endParaRPr lang="en-US" sz="1000" dirty="0"/>
          </a:p>
        </p:txBody>
      </p:sp>
      <p:sp>
        <p:nvSpPr>
          <p:cNvPr id="28" name="Text 26"/>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runtime/kernel.py, runtime/job_manager.py, data/agents/coordinator.md</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Flow 5: Memory in Action</a:t>
            </a:r>
            <a:endParaRPr lang="en-US" sz="2600" dirty="0"/>
          </a:p>
        </p:txBody>
      </p:sp>
      <p:sp>
        <p:nvSpPr>
          <p:cNvPr id="3" name="Shape 1"/>
          <p:cNvSpPr/>
          <p:nvPr/>
        </p:nvSpPr>
        <p:spPr>
          <a:xfrm>
            <a:off x="502920" y="960120"/>
            <a:ext cx="3840480" cy="18288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4" name="Shape 2"/>
          <p:cNvSpPr/>
          <p:nvPr/>
        </p:nvSpPr>
        <p:spPr>
          <a:xfrm>
            <a:off x="502920" y="960120"/>
            <a:ext cx="3840480" cy="320040"/>
          </a:xfrm>
          <a:prstGeom prst="rect">
            <a:avLst/>
          </a:prstGeom>
          <a:solidFill>
            <a:srgbClr val="0097A7"/>
          </a:solidFill>
          <a:ln/>
        </p:spPr>
        <p:txBody>
          <a:bodyPr/>
          <a:lstStyle/>
          <a:p>
            <a:endParaRPr lang="en-US"/>
          </a:p>
        </p:txBody>
      </p:sp>
      <p:sp>
        <p:nvSpPr>
          <p:cNvPr id="5" name="Text 3"/>
          <p:cNvSpPr/>
          <p:nvPr/>
        </p:nvSpPr>
        <p:spPr>
          <a:xfrm>
            <a:off x="612648" y="987552"/>
            <a:ext cx="362102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Part A: Memory Injection (Every Turn)</a:t>
            </a:r>
            <a:endParaRPr lang="en-US" sz="1200" dirty="0"/>
          </a:p>
        </p:txBody>
      </p:sp>
      <p:sp>
        <p:nvSpPr>
          <p:cNvPr id="6" name="Text 4"/>
          <p:cNvSpPr/>
          <p:nvPr/>
        </p:nvSpPr>
        <p:spPr>
          <a:xfrm>
            <a:off x="612648" y="1344168"/>
            <a:ext cx="3621024" cy="135331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MemoryContextBuilder injects relevant memories into the system prompt before each agent run.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 Scoped to user + conversation</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 Max 2000 characters</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 Retrieved by relevance</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 Refreshed every turn</a:t>
            </a:r>
            <a:endParaRPr lang="en-US" sz="1000" dirty="0"/>
          </a:p>
        </p:txBody>
      </p:sp>
      <p:sp>
        <p:nvSpPr>
          <p:cNvPr id="7" name="Shape 5"/>
          <p:cNvSpPr/>
          <p:nvPr/>
        </p:nvSpPr>
        <p:spPr>
          <a:xfrm>
            <a:off x="4754880" y="960120"/>
            <a:ext cx="3931920" cy="18288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8" name="Shape 6"/>
          <p:cNvSpPr/>
          <p:nvPr/>
        </p:nvSpPr>
        <p:spPr>
          <a:xfrm>
            <a:off x="4754880" y="960120"/>
            <a:ext cx="3931920" cy="320040"/>
          </a:xfrm>
          <a:prstGeom prst="rect">
            <a:avLst/>
          </a:prstGeom>
          <a:solidFill>
            <a:srgbClr val="1B2A4A"/>
          </a:solidFill>
          <a:ln/>
        </p:spPr>
        <p:txBody>
          <a:bodyPr/>
          <a:lstStyle/>
          <a:p>
            <a:endParaRPr lang="en-US"/>
          </a:p>
        </p:txBody>
      </p:sp>
      <p:sp>
        <p:nvSpPr>
          <p:cNvPr id="9" name="Text 7"/>
          <p:cNvSpPr/>
          <p:nvPr/>
        </p:nvSpPr>
        <p:spPr>
          <a:xfrm>
            <a:off x="4864608" y="987552"/>
            <a:ext cx="371246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Part B: Memory Extraction (Post-Turn)</a:t>
            </a:r>
            <a:endParaRPr lang="en-US" sz="1200" dirty="0"/>
          </a:p>
        </p:txBody>
      </p:sp>
      <p:sp>
        <p:nvSpPr>
          <p:cNvPr id="10" name="Text 8"/>
          <p:cNvSpPr/>
          <p:nvPr/>
        </p:nvSpPr>
        <p:spPr>
          <a:xfrm>
            <a:off x="4864608" y="1344168"/>
            <a:ext cx="3712464" cy="135331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memory_maintainer agent extracts new memories from conversation.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1. Pattern detection: 'remember that...', 'note that...'</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2. Saves to: data/memory/tenants/&lt;t&gt;/users/&lt;u&gt;/</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3. Updates: index.json (auth) -&gt; MEMORY.md + topics/*.md</a:t>
            </a:r>
            <a:endParaRPr lang="en-US" sz="1000" dirty="0"/>
          </a:p>
        </p:txBody>
      </p:sp>
      <p:sp>
        <p:nvSpPr>
          <p:cNvPr id="11" name="Text 9"/>
          <p:cNvSpPr/>
          <p:nvPr/>
        </p:nvSpPr>
        <p:spPr>
          <a:xfrm>
            <a:off x="502920" y="3017520"/>
            <a:ext cx="8138160" cy="548640"/>
          </a:xfrm>
          <a:prstGeom prst="rect">
            <a:avLst/>
          </a:prstGeom>
          <a:noFill/>
          <a:ln/>
        </p:spPr>
        <p:txBody>
          <a:bodyPr wrap="square" lIns="0" tIns="0" rIns="0" bIns="0" rtlCol="0" anchor="t"/>
          <a:lstStyle/>
          <a:p>
            <a:pPr marL="0" indent="0">
              <a:buNone/>
            </a:pPr>
            <a:r>
              <a:rPr lang="en-US" sz="1100" b="1" dirty="0">
                <a:solidFill>
                  <a:srgbClr val="333333"/>
                </a:solidFill>
                <a:latin typeface="Arial" pitchFamily="34" charset="0"/>
                <a:ea typeface="Arial" pitchFamily="34" charset="-122"/>
                <a:cs typeface="Arial" pitchFamily="34" charset="-120"/>
              </a:rPr>
              <a:t>Example: </a:t>
            </a:r>
            <a:r>
              <a:rPr lang="en-US" sz="1100" dirty="0">
                <a:solidFill>
                  <a:srgbClr val="333333"/>
                </a:solidFill>
                <a:latin typeface="Arial" pitchFamily="34" charset="0"/>
                <a:ea typeface="Arial" pitchFamily="34" charset="-122"/>
                <a:cs typeface="Arial" pitchFamily="34" charset="-120"/>
              </a:rPr>
              <a:t>User says 'I prefer charts in dark mode' -&gt; extracted and stored. Next data analysis request, this memory is injected into data_analyst prompt -&gt; dark-mode chart generated automatically.</a:t>
            </a:r>
            <a:endParaRPr lang="en-US" sz="1100" dirty="0"/>
          </a:p>
        </p:txBody>
      </p:sp>
      <p:sp>
        <p:nvSpPr>
          <p:cNvPr id="12" name="Shape 10"/>
          <p:cNvSpPr/>
          <p:nvPr/>
        </p:nvSpPr>
        <p:spPr>
          <a:xfrm>
            <a:off x="502920" y="3703320"/>
            <a:ext cx="8138160" cy="320040"/>
          </a:xfrm>
          <a:prstGeom prst="rect">
            <a:avLst/>
          </a:prstGeom>
          <a:solidFill>
            <a:srgbClr val="E0F7FA"/>
          </a:solidFill>
          <a:ln w="12700">
            <a:solidFill>
              <a:srgbClr val="0097A7"/>
            </a:solidFill>
            <a:prstDash val="solid"/>
          </a:ln>
        </p:spPr>
        <p:txBody>
          <a:bodyPr/>
          <a:lstStyle/>
          <a:p>
            <a:endParaRPr lang="en-US"/>
          </a:p>
        </p:txBody>
      </p:sp>
      <p:sp>
        <p:nvSpPr>
          <p:cNvPr id="13" name="Text 11"/>
          <p:cNvSpPr/>
          <p:nvPr/>
        </p:nvSpPr>
        <p:spPr>
          <a:xfrm>
            <a:off x="594360" y="3703320"/>
            <a:ext cx="7955280" cy="32004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Memory extraction still uses heuristic pattern detection. Storage is backed by the PostgreSQL persistence layer via KnowledgeStores.</a:t>
            </a:r>
            <a:endParaRPr lang="en-US" sz="1000" dirty="0"/>
          </a:p>
        </p:txBody>
      </p:sp>
      <p:sp>
        <p:nvSpPr>
          <p:cNvPr id="14" name="Text 12"/>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memory/context_builder.py, memory/file_store.py, memory/extractor.py</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Complete Routing Decision Tree</a:t>
            </a:r>
            <a:endParaRPr lang="en-US" sz="2600" dirty="0"/>
          </a:p>
        </p:txBody>
      </p:sp>
      <p:sp>
        <p:nvSpPr>
          <p:cNvPr id="3" name="Shape 1"/>
          <p:cNvSpPr/>
          <p:nvPr/>
        </p:nvSpPr>
        <p:spPr>
          <a:xfrm>
            <a:off x="731520" y="914400"/>
            <a:ext cx="7680960" cy="3200400"/>
          </a:xfrm>
          <a:prstGeom prst="rect">
            <a:avLst/>
          </a:prstGeom>
          <a:solidFill>
            <a:srgbClr val="2D2D2D"/>
          </a:solidFill>
          <a:ln/>
        </p:spPr>
        <p:txBody>
          <a:bodyPr/>
          <a:lstStyle/>
          <a:p>
            <a:endParaRPr lang="en-US"/>
          </a:p>
        </p:txBody>
      </p:sp>
      <p:sp>
        <p:nvSpPr>
          <p:cNvPr id="4" name="Text 2"/>
          <p:cNvSpPr/>
          <p:nvPr/>
        </p:nvSpPr>
        <p:spPr>
          <a:xfrm>
            <a:off x="841248" y="969264"/>
            <a:ext cx="7461504" cy="3090672"/>
          </a:xfrm>
          <a:prstGeom prst="rect">
            <a:avLst/>
          </a:prstGeom>
          <a:noFill/>
          <a:ln/>
        </p:spPr>
        <p:txBody>
          <a:bodyPr wrap="square" lIns="0" tIns="0" rIns="0" bIns="0" rtlCol="0" anchor="t"/>
          <a:lstStyle/>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User Message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has_attachments?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 data analysis hints? --&gt; data_analyst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 coordinator hints?   --&gt; coordinator</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 RAG hints?           --&gt; rag_worker</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 else                 --&gt; general</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tool verbs / citation / high-stakes hints? --&gt; AGENT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 (suggested agent based on pattern)</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text &gt; 600 chars? --&gt; AGENT (accumulated reasons)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deterministic confidence &lt; 0.70? --&gt; LLM judge escalation</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none of the above --&gt; BASIC (confidence=0.85)</a:t>
            </a:r>
            <a:endParaRPr lang="en-US" sz="900" dirty="0"/>
          </a:p>
        </p:txBody>
      </p:sp>
      <p:sp>
        <p:nvSpPr>
          <p:cNvPr id="5" name="Text 3"/>
          <p:cNvSpPr/>
          <p:nvPr/>
        </p:nvSpPr>
        <p:spPr>
          <a:xfrm>
            <a:off x="502920" y="4297680"/>
            <a:ext cx="8138160" cy="274320"/>
          </a:xfrm>
          <a:prstGeom prst="rect">
            <a:avLst/>
          </a:prstGeom>
          <a:noFill/>
          <a:ln/>
        </p:spPr>
        <p:txBody>
          <a:bodyPr wrap="square" lIns="0" tIns="0" rIns="0" bIns="0" rtlCol="0" anchor="ctr"/>
          <a:lstStyle/>
          <a:p>
            <a:pPr marL="0" indent="0" algn="ctr">
              <a:buNone/>
            </a:pPr>
            <a:r>
              <a:rPr lang="en-US" sz="1100" b="1" dirty="0">
                <a:solidFill>
                  <a:srgbClr val="1B2A4A"/>
                </a:solidFill>
                <a:latin typeface="Arial" pitchFamily="34" charset="0"/>
                <a:ea typeface="Arial" pitchFamily="34" charset="-122"/>
                <a:cs typeface="Arial" pitchFamily="34" charset="-120"/>
              </a:rPr>
              <a:t>This is the complete routing logic in one view — the roadmap for understanding every request flow.</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02920" y="1463040"/>
            <a:ext cx="8138160" cy="73152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The Tool System</a:t>
            </a:r>
            <a:endParaRPr lang="en-US" sz="3200" dirty="0"/>
          </a:p>
        </p:txBody>
      </p:sp>
      <p:sp>
        <p:nvSpPr>
          <p:cNvPr id="3" name="Text 1"/>
          <p:cNvSpPr/>
          <p:nvPr/>
        </p:nvSpPr>
        <p:spPr>
          <a:xfrm>
            <a:off x="502920" y="2286000"/>
            <a:ext cx="8138160" cy="457200"/>
          </a:xfrm>
          <a:prstGeom prst="rect">
            <a:avLst/>
          </a:prstGeom>
          <a:noFill/>
          <a:ln/>
        </p:spPr>
        <p:txBody>
          <a:bodyPr wrap="square" lIns="0" tIns="0" rIns="0" bIns="0" rtlCol="0" anchor="ctr"/>
          <a:lstStyle/>
          <a:p>
            <a:pPr marL="0" indent="0">
              <a:buNone/>
            </a:pPr>
            <a:r>
              <a:rPr lang="en-US" sz="1600" dirty="0">
                <a:solidFill>
                  <a:srgbClr val="0097A7"/>
                </a:solidFill>
                <a:latin typeface="Arial" pitchFamily="34" charset="0"/>
                <a:ea typeface="Arial" pitchFamily="34" charset="-122"/>
                <a:cs typeface="Arial" pitchFamily="34" charset="-120"/>
              </a:rPr>
              <a:t>Slides 27-30: Registry, policy, catalog, and the ReAct loop</a:t>
            </a:r>
            <a:endParaRPr lang="en-US" sz="16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The Tool System — Registry, Policy, and Execution</a:t>
            </a:r>
            <a:endParaRPr lang="en-US" sz="2600" dirty="0"/>
          </a:p>
        </p:txBody>
      </p:sp>
      <p:sp>
        <p:nvSpPr>
          <p:cNvPr id="3" name="Shape 1"/>
          <p:cNvSpPr/>
          <p:nvPr/>
        </p:nvSpPr>
        <p:spPr>
          <a:xfrm>
            <a:off x="1371600" y="1005840"/>
            <a:ext cx="6400800" cy="68580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4" name="Text 2"/>
          <p:cNvSpPr/>
          <p:nvPr/>
        </p:nvSpPr>
        <p:spPr>
          <a:xfrm>
            <a:off x="1371600" y="1005840"/>
            <a:ext cx="6400800" cy="685800"/>
          </a:xfrm>
          <a:prstGeom prst="rect">
            <a:avLst/>
          </a:prstGeom>
          <a:noFill/>
          <a:ln/>
        </p:spPr>
        <p:txBody>
          <a:bodyPr wrap="square" lIns="0" tIns="0" rIns="0" bIns="0" rtlCol="0" anchor="ctr"/>
          <a:lstStyle/>
          <a:p>
            <a:pPr marL="0" indent="0" algn="ctr">
              <a:buNone/>
            </a:pPr>
            <a:endParaRPr lang="en-US" sz="1000" dirty="0"/>
          </a:p>
        </p:txBody>
      </p:sp>
      <p:sp>
        <p:nvSpPr>
          <p:cNvPr id="5" name="Text 3"/>
          <p:cNvSpPr/>
          <p:nvPr/>
        </p:nvSpPr>
        <p:spPr>
          <a:xfrm>
            <a:off x="1508760" y="1051560"/>
            <a:ext cx="2286000" cy="274320"/>
          </a:xfrm>
          <a:prstGeom prst="rect">
            <a:avLst/>
          </a:prstGeom>
          <a:noFill/>
          <a:ln/>
        </p:spPr>
        <p:txBody>
          <a:bodyPr wrap="square" lIns="0" tIns="0" rIns="0" bIns="0" rtlCol="0" anchor="ctr"/>
          <a:lstStyle/>
          <a:p>
            <a:pPr marL="0" indent="0">
              <a:buNone/>
            </a:pPr>
            <a:r>
              <a:rPr lang="en-US" sz="1400" b="1" dirty="0">
                <a:solidFill>
                  <a:srgbClr val="FFFFFF"/>
                </a:solidFill>
                <a:latin typeface="Arial" pitchFamily="34" charset="0"/>
                <a:ea typeface="Arial" pitchFamily="34" charset="-122"/>
                <a:cs typeface="Arial" pitchFamily="34" charset="-120"/>
              </a:rPr>
              <a:t>Tool Registry</a:t>
            </a:r>
            <a:endParaRPr lang="en-US" sz="1400" dirty="0"/>
          </a:p>
        </p:txBody>
      </p:sp>
      <p:sp>
        <p:nvSpPr>
          <p:cNvPr id="6" name="Text 4"/>
          <p:cNvSpPr/>
          <p:nvPr/>
        </p:nvSpPr>
        <p:spPr>
          <a:xfrm>
            <a:off x="1508760" y="1325880"/>
            <a:ext cx="4160520" cy="274320"/>
          </a:xfrm>
          <a:prstGeom prst="rect">
            <a:avLst/>
          </a:prstGeom>
          <a:noFill/>
          <a:ln/>
        </p:spPr>
        <p:txBody>
          <a:bodyPr wrap="square" lIns="0" tIns="0" rIns="0" bIns="0" rtlCol="0" anchor="ctr"/>
          <a:lstStyle/>
          <a:p>
            <a:pPr marL="0" indent="0">
              <a:buNone/>
            </a:pPr>
            <a:r>
              <a:rPr lang="en-US" sz="1000" dirty="0">
                <a:solidFill>
                  <a:srgbClr val="FFFFFF"/>
                </a:solidFill>
                <a:latin typeface="Arial" pitchFamily="34" charset="0"/>
                <a:ea typeface="Arial" pitchFamily="34" charset="-122"/>
                <a:cs typeface="Arial" pitchFamily="34" charset="-120"/>
              </a:rPr>
              <a:t>Defines ALL available tools as Python functions with schemas. 20+ tools.</a:t>
            </a:r>
            <a:endParaRPr lang="en-US" sz="1000" dirty="0"/>
          </a:p>
        </p:txBody>
      </p:sp>
      <p:sp>
        <p:nvSpPr>
          <p:cNvPr id="7" name="Text 5"/>
          <p:cNvSpPr/>
          <p:nvPr/>
        </p:nvSpPr>
        <p:spPr>
          <a:xfrm>
            <a:off x="5669280" y="1325880"/>
            <a:ext cx="1920240" cy="274320"/>
          </a:xfrm>
          <a:prstGeom prst="rect">
            <a:avLst/>
          </a:prstGeom>
          <a:noFill/>
          <a:ln/>
        </p:spPr>
        <p:txBody>
          <a:bodyPr wrap="square" lIns="0" tIns="0" rIns="0" bIns="0" rtlCol="0" anchor="ctr"/>
          <a:lstStyle/>
          <a:p>
            <a:pPr marL="0" indent="0" algn="r">
              <a:buNone/>
            </a:pPr>
            <a:r>
              <a:rPr lang="en-US" sz="900" dirty="0">
                <a:solidFill>
                  <a:srgbClr val="FFFFFF"/>
                </a:solidFill>
                <a:latin typeface="Courier New" pitchFamily="34" charset="0"/>
                <a:ea typeface="Courier New" pitchFamily="34" charset="-122"/>
                <a:cs typeface="Courier New" pitchFamily="34" charset="-120"/>
              </a:rPr>
              <a:t>tools/registry.py</a:t>
            </a:r>
            <a:endParaRPr lang="en-US" sz="900" dirty="0"/>
          </a:p>
        </p:txBody>
      </p:sp>
      <p:sp>
        <p:nvSpPr>
          <p:cNvPr id="8" name="Shape 6"/>
          <p:cNvSpPr/>
          <p:nvPr/>
        </p:nvSpPr>
        <p:spPr>
          <a:xfrm>
            <a:off x="4572000" y="1691640"/>
            <a:ext cx="0" cy="182880"/>
          </a:xfrm>
          <a:prstGeom prst="line">
            <a:avLst/>
          </a:prstGeom>
          <a:noFill/>
          <a:ln w="25400">
            <a:solidFill>
              <a:srgbClr val="0097A7"/>
            </a:solidFill>
            <a:prstDash val="solid"/>
          </a:ln>
        </p:spPr>
        <p:txBody>
          <a:bodyPr/>
          <a:lstStyle/>
          <a:p>
            <a:endParaRPr lang="en-US"/>
          </a:p>
        </p:txBody>
      </p:sp>
      <p:sp>
        <p:nvSpPr>
          <p:cNvPr id="9" name="Text 7"/>
          <p:cNvSpPr/>
          <p:nvPr/>
        </p:nvSpPr>
        <p:spPr>
          <a:xfrm>
            <a:off x="4480560" y="1801368"/>
            <a:ext cx="182880" cy="164592"/>
          </a:xfrm>
          <a:prstGeom prst="rect">
            <a:avLst/>
          </a:prstGeom>
          <a:noFill/>
          <a:ln/>
        </p:spPr>
        <p:txBody>
          <a:bodyPr wrap="square" lIns="0" tIns="0" rIns="0" bIns="0" rtlCol="0" anchor="ctr"/>
          <a:lstStyle/>
          <a:p>
            <a:pPr marL="0" indent="0" algn="ctr">
              <a:buNone/>
            </a:pPr>
            <a:r>
              <a:rPr lang="en-US" sz="1000" b="1" dirty="0">
                <a:solidFill>
                  <a:srgbClr val="0097A7"/>
                </a:solidFill>
                <a:latin typeface="Arial" pitchFamily="34" charset="0"/>
                <a:ea typeface="Arial" pitchFamily="34" charset="-122"/>
                <a:cs typeface="Arial" pitchFamily="34" charset="-120"/>
              </a:rPr>
              <a:t>v</a:t>
            </a:r>
            <a:endParaRPr lang="en-US" sz="1000" dirty="0"/>
          </a:p>
        </p:txBody>
      </p:sp>
      <p:sp>
        <p:nvSpPr>
          <p:cNvPr id="10" name="Shape 8"/>
          <p:cNvSpPr/>
          <p:nvPr/>
        </p:nvSpPr>
        <p:spPr>
          <a:xfrm>
            <a:off x="1371600" y="1920240"/>
            <a:ext cx="6400800" cy="68580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11" name="Text 9"/>
          <p:cNvSpPr/>
          <p:nvPr/>
        </p:nvSpPr>
        <p:spPr>
          <a:xfrm>
            <a:off x="1371600" y="1920240"/>
            <a:ext cx="6400800" cy="685800"/>
          </a:xfrm>
          <a:prstGeom prst="rect">
            <a:avLst/>
          </a:prstGeom>
          <a:noFill/>
          <a:ln/>
        </p:spPr>
        <p:txBody>
          <a:bodyPr wrap="square" lIns="0" tIns="0" rIns="0" bIns="0" rtlCol="0" anchor="ctr"/>
          <a:lstStyle/>
          <a:p>
            <a:pPr marL="0" indent="0" algn="ctr">
              <a:buNone/>
            </a:pPr>
            <a:endParaRPr lang="en-US" sz="1000" dirty="0"/>
          </a:p>
        </p:txBody>
      </p:sp>
      <p:sp>
        <p:nvSpPr>
          <p:cNvPr id="12" name="Text 10"/>
          <p:cNvSpPr/>
          <p:nvPr/>
        </p:nvSpPr>
        <p:spPr>
          <a:xfrm>
            <a:off x="1508760" y="1965960"/>
            <a:ext cx="2286000" cy="274320"/>
          </a:xfrm>
          <a:prstGeom prst="rect">
            <a:avLst/>
          </a:prstGeom>
          <a:noFill/>
          <a:ln/>
        </p:spPr>
        <p:txBody>
          <a:bodyPr wrap="square" lIns="0" tIns="0" rIns="0" bIns="0" rtlCol="0" anchor="ctr"/>
          <a:lstStyle/>
          <a:p>
            <a:pPr marL="0" indent="0">
              <a:buNone/>
            </a:pPr>
            <a:r>
              <a:rPr lang="en-US" sz="1400" b="1" dirty="0">
                <a:solidFill>
                  <a:srgbClr val="FFFFFF"/>
                </a:solidFill>
                <a:latin typeface="Arial" pitchFamily="34" charset="0"/>
                <a:ea typeface="Arial" pitchFamily="34" charset="-122"/>
                <a:cs typeface="Arial" pitchFamily="34" charset="-120"/>
              </a:rPr>
              <a:t>Tool Executor</a:t>
            </a:r>
            <a:endParaRPr lang="en-US" sz="1400" dirty="0"/>
          </a:p>
        </p:txBody>
      </p:sp>
      <p:sp>
        <p:nvSpPr>
          <p:cNvPr id="13" name="Text 11"/>
          <p:cNvSpPr/>
          <p:nvPr/>
        </p:nvSpPr>
        <p:spPr>
          <a:xfrm>
            <a:off x="1508760" y="2240280"/>
            <a:ext cx="4160520" cy="274320"/>
          </a:xfrm>
          <a:prstGeom prst="rect">
            <a:avLst/>
          </a:prstGeom>
          <a:noFill/>
          <a:ln/>
        </p:spPr>
        <p:txBody>
          <a:bodyPr wrap="square" lIns="0" tIns="0" rIns="0" bIns="0" rtlCol="0" anchor="ctr"/>
          <a:lstStyle/>
          <a:p>
            <a:pPr marL="0" indent="0">
              <a:buNone/>
            </a:pPr>
            <a:r>
              <a:rPr lang="en-US" sz="1000" dirty="0">
                <a:solidFill>
                  <a:srgbClr val="FFFFFF"/>
                </a:solidFill>
                <a:latin typeface="Arial" pitchFamily="34" charset="0"/>
                <a:ea typeface="Arial" pitchFamily="34" charset="-122"/>
                <a:cs typeface="Arial" pitchFamily="34" charset="-120"/>
              </a:rPr>
              <a:t>build_agent_tools() assembles per-agent tool list. Policy: if not in allowlist -&gt; blocked.</a:t>
            </a:r>
            <a:endParaRPr lang="en-US" sz="1000" dirty="0"/>
          </a:p>
        </p:txBody>
      </p:sp>
      <p:sp>
        <p:nvSpPr>
          <p:cNvPr id="14" name="Text 12"/>
          <p:cNvSpPr/>
          <p:nvPr/>
        </p:nvSpPr>
        <p:spPr>
          <a:xfrm>
            <a:off x="5669280" y="2240280"/>
            <a:ext cx="1920240" cy="274320"/>
          </a:xfrm>
          <a:prstGeom prst="rect">
            <a:avLst/>
          </a:prstGeom>
          <a:noFill/>
          <a:ln/>
        </p:spPr>
        <p:txBody>
          <a:bodyPr wrap="square" lIns="0" tIns="0" rIns="0" bIns="0" rtlCol="0" anchor="ctr"/>
          <a:lstStyle/>
          <a:p>
            <a:pPr marL="0" indent="0" algn="r">
              <a:buNone/>
            </a:pPr>
            <a:r>
              <a:rPr lang="en-US" sz="900" dirty="0">
                <a:solidFill>
                  <a:srgbClr val="FFFFFF"/>
                </a:solidFill>
                <a:latin typeface="Courier New" pitchFamily="34" charset="0"/>
                <a:ea typeface="Courier New" pitchFamily="34" charset="-122"/>
                <a:cs typeface="Courier New" pitchFamily="34" charset="-120"/>
              </a:rPr>
              <a:t>tools/executor.py</a:t>
            </a:r>
            <a:endParaRPr lang="en-US" sz="900" dirty="0"/>
          </a:p>
        </p:txBody>
      </p:sp>
      <p:sp>
        <p:nvSpPr>
          <p:cNvPr id="15" name="Shape 13"/>
          <p:cNvSpPr/>
          <p:nvPr/>
        </p:nvSpPr>
        <p:spPr>
          <a:xfrm>
            <a:off x="4572000" y="2606040"/>
            <a:ext cx="0" cy="182880"/>
          </a:xfrm>
          <a:prstGeom prst="line">
            <a:avLst/>
          </a:prstGeom>
          <a:noFill/>
          <a:ln w="25400">
            <a:solidFill>
              <a:srgbClr val="0097A7"/>
            </a:solidFill>
            <a:prstDash val="solid"/>
          </a:ln>
        </p:spPr>
        <p:txBody>
          <a:bodyPr/>
          <a:lstStyle/>
          <a:p>
            <a:endParaRPr lang="en-US"/>
          </a:p>
        </p:txBody>
      </p:sp>
      <p:sp>
        <p:nvSpPr>
          <p:cNvPr id="16" name="Text 14"/>
          <p:cNvSpPr/>
          <p:nvPr/>
        </p:nvSpPr>
        <p:spPr>
          <a:xfrm>
            <a:off x="4480560" y="2715768"/>
            <a:ext cx="182880" cy="164592"/>
          </a:xfrm>
          <a:prstGeom prst="rect">
            <a:avLst/>
          </a:prstGeom>
          <a:noFill/>
          <a:ln/>
        </p:spPr>
        <p:txBody>
          <a:bodyPr wrap="square" lIns="0" tIns="0" rIns="0" bIns="0" rtlCol="0" anchor="ctr"/>
          <a:lstStyle/>
          <a:p>
            <a:pPr marL="0" indent="0" algn="ctr">
              <a:buNone/>
            </a:pPr>
            <a:r>
              <a:rPr lang="en-US" sz="1000" b="1" dirty="0">
                <a:solidFill>
                  <a:srgbClr val="0097A7"/>
                </a:solidFill>
                <a:latin typeface="Arial" pitchFamily="34" charset="0"/>
                <a:ea typeface="Arial" pitchFamily="34" charset="-122"/>
                <a:cs typeface="Arial" pitchFamily="34" charset="-120"/>
              </a:rPr>
              <a:t>v</a:t>
            </a:r>
            <a:endParaRPr lang="en-US" sz="1000" dirty="0"/>
          </a:p>
        </p:txBody>
      </p:sp>
      <p:sp>
        <p:nvSpPr>
          <p:cNvPr id="17" name="Shape 15"/>
          <p:cNvSpPr/>
          <p:nvPr/>
        </p:nvSpPr>
        <p:spPr>
          <a:xfrm>
            <a:off x="1371600" y="2834640"/>
            <a:ext cx="6400800" cy="68580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18" name="Text 16"/>
          <p:cNvSpPr/>
          <p:nvPr/>
        </p:nvSpPr>
        <p:spPr>
          <a:xfrm>
            <a:off x="1371600" y="2834640"/>
            <a:ext cx="6400800" cy="685800"/>
          </a:xfrm>
          <a:prstGeom prst="rect">
            <a:avLst/>
          </a:prstGeom>
          <a:noFill/>
          <a:ln/>
        </p:spPr>
        <p:txBody>
          <a:bodyPr wrap="square" lIns="0" tIns="0" rIns="0" bIns="0" rtlCol="0" anchor="ctr"/>
          <a:lstStyle/>
          <a:p>
            <a:pPr marL="0" indent="0" algn="ctr">
              <a:buNone/>
            </a:pPr>
            <a:endParaRPr lang="en-US" sz="1000" dirty="0"/>
          </a:p>
        </p:txBody>
      </p:sp>
      <p:sp>
        <p:nvSpPr>
          <p:cNvPr id="19" name="Text 17"/>
          <p:cNvSpPr/>
          <p:nvPr/>
        </p:nvSpPr>
        <p:spPr>
          <a:xfrm>
            <a:off x="1508760" y="2880360"/>
            <a:ext cx="2286000" cy="274320"/>
          </a:xfrm>
          <a:prstGeom prst="rect">
            <a:avLst/>
          </a:prstGeom>
          <a:noFill/>
          <a:ln/>
        </p:spPr>
        <p:txBody>
          <a:bodyPr wrap="square" lIns="0" tIns="0" rIns="0" bIns="0" rtlCol="0" anchor="ctr"/>
          <a:lstStyle/>
          <a:p>
            <a:pPr marL="0" indent="0">
              <a:buNone/>
            </a:pPr>
            <a:r>
              <a:rPr lang="en-US" sz="1400" b="1" dirty="0">
                <a:solidFill>
                  <a:srgbClr val="FFFFFF"/>
                </a:solidFill>
                <a:latin typeface="Arial" pitchFamily="34" charset="0"/>
                <a:ea typeface="Arial" pitchFamily="34" charset="-122"/>
                <a:cs typeface="Arial" pitchFamily="34" charset="-120"/>
              </a:rPr>
              <a:t>Tool Groups</a:t>
            </a:r>
            <a:endParaRPr lang="en-US" sz="1400" dirty="0"/>
          </a:p>
        </p:txBody>
      </p:sp>
      <p:sp>
        <p:nvSpPr>
          <p:cNvPr id="20" name="Text 18"/>
          <p:cNvSpPr/>
          <p:nvPr/>
        </p:nvSpPr>
        <p:spPr>
          <a:xfrm>
            <a:off x="1508760" y="3154680"/>
            <a:ext cx="4160520" cy="274320"/>
          </a:xfrm>
          <a:prstGeom prst="rect">
            <a:avLst/>
          </a:prstGeom>
          <a:noFill/>
          <a:ln/>
        </p:spPr>
        <p:txBody>
          <a:bodyPr wrap="square" lIns="0" tIns="0" rIns="0" bIns="0" rtlCol="0" anchor="ctr"/>
          <a:lstStyle/>
          <a:p>
            <a:pPr marL="0" indent="0">
              <a:buNone/>
            </a:pPr>
            <a:r>
              <a:rPr lang="en-US" sz="1000" dirty="0">
                <a:solidFill>
                  <a:srgbClr val="FFFFFF"/>
                </a:solidFill>
                <a:latin typeface="Arial" pitchFamily="34" charset="0"/>
                <a:ea typeface="Arial" pitchFamily="34" charset="-122"/>
                <a:cs typeface="Arial" pitchFamily="34" charset="-120"/>
              </a:rPr>
              <a:t>Organized by domain: orchestration, analyst, rag_gateway, memory, utility.</a:t>
            </a:r>
            <a:endParaRPr lang="en-US" sz="1000" dirty="0"/>
          </a:p>
        </p:txBody>
      </p:sp>
      <p:sp>
        <p:nvSpPr>
          <p:cNvPr id="21" name="Text 19"/>
          <p:cNvSpPr/>
          <p:nvPr/>
        </p:nvSpPr>
        <p:spPr>
          <a:xfrm>
            <a:off x="5669280" y="3154680"/>
            <a:ext cx="1920240" cy="274320"/>
          </a:xfrm>
          <a:prstGeom prst="rect">
            <a:avLst/>
          </a:prstGeom>
          <a:noFill/>
          <a:ln/>
        </p:spPr>
        <p:txBody>
          <a:bodyPr wrap="square" lIns="0" tIns="0" rIns="0" bIns="0" rtlCol="0" anchor="ctr"/>
          <a:lstStyle/>
          <a:p>
            <a:pPr marL="0" indent="0" algn="r">
              <a:buNone/>
            </a:pPr>
            <a:r>
              <a:rPr lang="en-US" sz="900" dirty="0">
                <a:solidFill>
                  <a:srgbClr val="FFFFFF"/>
                </a:solidFill>
                <a:latin typeface="Courier New" pitchFamily="34" charset="0"/>
                <a:ea typeface="Courier New" pitchFamily="34" charset="-122"/>
                <a:cs typeface="Courier New" pitchFamily="34" charset="-120"/>
              </a:rPr>
              <a:t>tools/groups/*.py</a:t>
            </a:r>
            <a:endParaRPr lang="en-US" sz="900" dirty="0"/>
          </a:p>
        </p:txBody>
      </p:sp>
      <p:sp>
        <p:nvSpPr>
          <p:cNvPr id="22" name="Shape 20"/>
          <p:cNvSpPr/>
          <p:nvPr/>
        </p:nvSpPr>
        <p:spPr>
          <a:xfrm>
            <a:off x="502920" y="3794760"/>
            <a:ext cx="8138160" cy="457200"/>
          </a:xfrm>
          <a:prstGeom prst="rect">
            <a:avLst/>
          </a:prstGeom>
          <a:solidFill>
            <a:srgbClr val="E0F7FA"/>
          </a:solidFill>
          <a:ln w="12700">
            <a:solidFill>
              <a:srgbClr val="0097A7"/>
            </a:solidFill>
            <a:prstDash val="solid"/>
          </a:ln>
        </p:spPr>
        <p:txBody>
          <a:bodyPr/>
          <a:lstStyle/>
          <a:p>
            <a:endParaRPr lang="en-US"/>
          </a:p>
        </p:txBody>
      </p:sp>
      <p:sp>
        <p:nvSpPr>
          <p:cNvPr id="23" name="Text 21"/>
          <p:cNvSpPr/>
          <p:nvPr/>
        </p:nvSpPr>
        <p:spPr>
          <a:xfrm>
            <a:off x="594360" y="3794760"/>
            <a:ext cx="7955280" cy="45720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Tools are Python functions, but which agent can call which tool is controlled by DATA (the agent .md file), not code. You can't escape the sandbox by convincing the LLM to call an unauthorized tool.</a:t>
            </a:r>
            <a:endParaRPr lang="en-US" sz="1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Complete Tool Inventory</a:t>
            </a:r>
            <a:endParaRPr lang="en-US" sz="2600" dirty="0"/>
          </a:p>
        </p:txBody>
      </p:sp>
      <p:sp>
        <p:nvSpPr>
          <p:cNvPr id="3" name="Shape 1"/>
          <p:cNvSpPr/>
          <p:nvPr/>
        </p:nvSpPr>
        <p:spPr>
          <a:xfrm>
            <a:off x="502920" y="1005840"/>
            <a:ext cx="2011680" cy="457200"/>
          </a:xfrm>
          <a:prstGeom prst="rect">
            <a:avLst/>
          </a:prstGeom>
          <a:solidFill>
            <a:srgbClr val="0097A7"/>
          </a:solidFill>
          <a:ln/>
        </p:spPr>
        <p:txBody>
          <a:bodyPr/>
          <a:lstStyle/>
          <a:p>
            <a:endParaRPr lang="en-US"/>
          </a:p>
        </p:txBody>
      </p:sp>
      <p:sp>
        <p:nvSpPr>
          <p:cNvPr id="4" name="Text 2"/>
          <p:cNvSpPr/>
          <p:nvPr/>
        </p:nvSpPr>
        <p:spPr>
          <a:xfrm>
            <a:off x="594360" y="1005840"/>
            <a:ext cx="1828800" cy="45720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Utility (3)</a:t>
            </a:r>
            <a:endParaRPr lang="en-US" sz="1100" dirty="0"/>
          </a:p>
        </p:txBody>
      </p:sp>
      <p:sp>
        <p:nvSpPr>
          <p:cNvPr id="5" name="Shape 3"/>
          <p:cNvSpPr/>
          <p:nvPr/>
        </p:nvSpPr>
        <p:spPr>
          <a:xfrm>
            <a:off x="2514600" y="1005840"/>
            <a:ext cx="6126480" cy="457200"/>
          </a:xfrm>
          <a:prstGeom prst="rect">
            <a:avLst/>
          </a:prstGeom>
          <a:solidFill>
            <a:srgbClr val="F5F5F5"/>
          </a:solidFill>
          <a:ln w="3810">
            <a:solidFill>
              <a:srgbClr val="F0F0F0"/>
            </a:solidFill>
            <a:prstDash val="solid"/>
          </a:ln>
        </p:spPr>
        <p:txBody>
          <a:bodyPr/>
          <a:lstStyle/>
          <a:p>
            <a:endParaRPr lang="en-US"/>
          </a:p>
        </p:txBody>
      </p:sp>
      <p:sp>
        <p:nvSpPr>
          <p:cNvPr id="6" name="Text 4"/>
          <p:cNvSpPr/>
          <p:nvPr/>
        </p:nvSpPr>
        <p:spPr>
          <a:xfrm>
            <a:off x="2651760" y="1005840"/>
            <a:ext cx="5852160" cy="457200"/>
          </a:xfrm>
          <a:prstGeom prst="rect">
            <a:avLst/>
          </a:prstGeom>
          <a:noFill/>
          <a:ln/>
        </p:spPr>
        <p:txBody>
          <a:bodyPr wrap="square" lIns="0" tIns="0" rIns="0" bIns="0" rtlCol="0" anchor="ctr"/>
          <a:lstStyle/>
          <a:p>
            <a:pPr marL="0" indent="0">
              <a:buNone/>
            </a:pPr>
            <a:r>
              <a:rPr lang="en-US" sz="1000" dirty="0">
                <a:solidFill>
                  <a:srgbClr val="333333"/>
                </a:solidFill>
                <a:latin typeface="Courier New" pitchFamily="34" charset="0"/>
                <a:ea typeface="Courier New" pitchFamily="34" charset="-122"/>
                <a:cs typeface="Courier New" pitchFamily="34" charset="-120"/>
              </a:rPr>
              <a:t>calculator, list_indexed_docs, search_skills</a:t>
            </a:r>
            <a:endParaRPr lang="en-US" sz="1000" dirty="0"/>
          </a:p>
        </p:txBody>
      </p:sp>
      <p:sp>
        <p:nvSpPr>
          <p:cNvPr id="7" name="Shape 5"/>
          <p:cNvSpPr/>
          <p:nvPr/>
        </p:nvSpPr>
        <p:spPr>
          <a:xfrm>
            <a:off x="502920" y="1554480"/>
            <a:ext cx="2011680" cy="457200"/>
          </a:xfrm>
          <a:prstGeom prst="rect">
            <a:avLst/>
          </a:prstGeom>
          <a:solidFill>
            <a:srgbClr val="5C6BC0"/>
          </a:solidFill>
          <a:ln/>
        </p:spPr>
        <p:txBody>
          <a:bodyPr/>
          <a:lstStyle/>
          <a:p>
            <a:endParaRPr lang="en-US"/>
          </a:p>
        </p:txBody>
      </p:sp>
      <p:sp>
        <p:nvSpPr>
          <p:cNvPr id="8" name="Text 6"/>
          <p:cNvSpPr/>
          <p:nvPr/>
        </p:nvSpPr>
        <p:spPr>
          <a:xfrm>
            <a:off x="594360" y="1554480"/>
            <a:ext cx="1828800" cy="45720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Memory (3)</a:t>
            </a:r>
            <a:endParaRPr lang="en-US" sz="1100" dirty="0"/>
          </a:p>
        </p:txBody>
      </p:sp>
      <p:sp>
        <p:nvSpPr>
          <p:cNvPr id="9" name="Shape 7"/>
          <p:cNvSpPr/>
          <p:nvPr/>
        </p:nvSpPr>
        <p:spPr>
          <a:xfrm>
            <a:off x="2514600" y="1554480"/>
            <a:ext cx="6126480" cy="457200"/>
          </a:xfrm>
          <a:prstGeom prst="rect">
            <a:avLst/>
          </a:prstGeom>
          <a:solidFill>
            <a:srgbClr val="F5F5F5"/>
          </a:solidFill>
          <a:ln w="3810">
            <a:solidFill>
              <a:srgbClr val="F0F0F0"/>
            </a:solidFill>
            <a:prstDash val="solid"/>
          </a:ln>
        </p:spPr>
        <p:txBody>
          <a:bodyPr/>
          <a:lstStyle/>
          <a:p>
            <a:endParaRPr lang="en-US"/>
          </a:p>
        </p:txBody>
      </p:sp>
      <p:sp>
        <p:nvSpPr>
          <p:cNvPr id="10" name="Text 8"/>
          <p:cNvSpPr/>
          <p:nvPr/>
        </p:nvSpPr>
        <p:spPr>
          <a:xfrm>
            <a:off x="2651760" y="1554480"/>
            <a:ext cx="5852160" cy="457200"/>
          </a:xfrm>
          <a:prstGeom prst="rect">
            <a:avLst/>
          </a:prstGeom>
          <a:noFill/>
          <a:ln/>
        </p:spPr>
        <p:txBody>
          <a:bodyPr wrap="square" lIns="0" tIns="0" rIns="0" bIns="0" rtlCol="0" anchor="ctr"/>
          <a:lstStyle/>
          <a:p>
            <a:pPr marL="0" indent="0">
              <a:buNone/>
            </a:pPr>
            <a:r>
              <a:rPr lang="en-US" sz="1000" dirty="0">
                <a:solidFill>
                  <a:srgbClr val="333333"/>
                </a:solidFill>
                <a:latin typeface="Courier New" pitchFamily="34" charset="0"/>
                <a:ea typeface="Courier New" pitchFamily="34" charset="-122"/>
                <a:cs typeface="Courier New" pitchFamily="34" charset="-120"/>
              </a:rPr>
              <a:t>memory_save, memory_load, memory_list</a:t>
            </a:r>
            <a:endParaRPr lang="en-US" sz="1000" dirty="0"/>
          </a:p>
        </p:txBody>
      </p:sp>
      <p:sp>
        <p:nvSpPr>
          <p:cNvPr id="11" name="Shape 9"/>
          <p:cNvSpPr/>
          <p:nvPr/>
        </p:nvSpPr>
        <p:spPr>
          <a:xfrm>
            <a:off x="502920" y="2103120"/>
            <a:ext cx="2011680" cy="457200"/>
          </a:xfrm>
          <a:prstGeom prst="rect">
            <a:avLst/>
          </a:prstGeom>
          <a:solidFill>
            <a:srgbClr val="00796B"/>
          </a:solidFill>
          <a:ln/>
        </p:spPr>
        <p:txBody>
          <a:bodyPr/>
          <a:lstStyle/>
          <a:p>
            <a:endParaRPr lang="en-US"/>
          </a:p>
        </p:txBody>
      </p:sp>
      <p:sp>
        <p:nvSpPr>
          <p:cNvPr id="12" name="Text 10"/>
          <p:cNvSpPr/>
          <p:nvPr/>
        </p:nvSpPr>
        <p:spPr>
          <a:xfrm>
            <a:off x="594360" y="2103120"/>
            <a:ext cx="1828800" cy="45720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RAG Gateway (1)</a:t>
            </a:r>
            <a:endParaRPr lang="en-US" sz="1100" dirty="0"/>
          </a:p>
        </p:txBody>
      </p:sp>
      <p:sp>
        <p:nvSpPr>
          <p:cNvPr id="13" name="Shape 11"/>
          <p:cNvSpPr/>
          <p:nvPr/>
        </p:nvSpPr>
        <p:spPr>
          <a:xfrm>
            <a:off x="2514600" y="2103120"/>
            <a:ext cx="6126480" cy="457200"/>
          </a:xfrm>
          <a:prstGeom prst="rect">
            <a:avLst/>
          </a:prstGeom>
          <a:solidFill>
            <a:srgbClr val="F5F5F5"/>
          </a:solidFill>
          <a:ln w="3810">
            <a:solidFill>
              <a:srgbClr val="F0F0F0"/>
            </a:solidFill>
            <a:prstDash val="solid"/>
          </a:ln>
        </p:spPr>
        <p:txBody>
          <a:bodyPr/>
          <a:lstStyle/>
          <a:p>
            <a:endParaRPr lang="en-US"/>
          </a:p>
        </p:txBody>
      </p:sp>
      <p:sp>
        <p:nvSpPr>
          <p:cNvPr id="14" name="Text 12"/>
          <p:cNvSpPr/>
          <p:nvPr/>
        </p:nvSpPr>
        <p:spPr>
          <a:xfrm>
            <a:off x="2651760" y="2103120"/>
            <a:ext cx="5852160" cy="457200"/>
          </a:xfrm>
          <a:prstGeom prst="rect">
            <a:avLst/>
          </a:prstGeom>
          <a:noFill/>
          <a:ln/>
        </p:spPr>
        <p:txBody>
          <a:bodyPr wrap="square" lIns="0" tIns="0" rIns="0" bIns="0" rtlCol="0" anchor="ctr"/>
          <a:lstStyle/>
          <a:p>
            <a:pPr marL="0" indent="0">
              <a:buNone/>
            </a:pPr>
            <a:r>
              <a:rPr lang="en-US" sz="1000" dirty="0">
                <a:solidFill>
                  <a:srgbClr val="333333"/>
                </a:solidFill>
                <a:latin typeface="Courier New" pitchFamily="34" charset="0"/>
                <a:ea typeface="Courier New" pitchFamily="34" charset="-122"/>
                <a:cs typeface="Courier New" pitchFamily="34" charset="-120"/>
              </a:rPr>
              <a:t>rag_agent_tool — wraps full RAG contract pipeline</a:t>
            </a:r>
            <a:endParaRPr lang="en-US" sz="1000" dirty="0"/>
          </a:p>
        </p:txBody>
      </p:sp>
      <p:sp>
        <p:nvSpPr>
          <p:cNvPr id="15" name="Shape 13"/>
          <p:cNvSpPr/>
          <p:nvPr/>
        </p:nvSpPr>
        <p:spPr>
          <a:xfrm>
            <a:off x="502920" y="2651760"/>
            <a:ext cx="2011680" cy="457200"/>
          </a:xfrm>
          <a:prstGeom prst="rect">
            <a:avLst/>
          </a:prstGeom>
          <a:solidFill>
            <a:srgbClr val="1B2A4A"/>
          </a:solidFill>
          <a:ln/>
        </p:spPr>
        <p:txBody>
          <a:bodyPr/>
          <a:lstStyle/>
          <a:p>
            <a:endParaRPr lang="en-US"/>
          </a:p>
        </p:txBody>
      </p:sp>
      <p:sp>
        <p:nvSpPr>
          <p:cNvPr id="16" name="Text 14"/>
          <p:cNvSpPr/>
          <p:nvPr/>
        </p:nvSpPr>
        <p:spPr>
          <a:xfrm>
            <a:off x="594360" y="2651760"/>
            <a:ext cx="1828800" cy="45720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Orchestration (4)</a:t>
            </a:r>
            <a:endParaRPr lang="en-US" sz="1100" dirty="0"/>
          </a:p>
        </p:txBody>
      </p:sp>
      <p:sp>
        <p:nvSpPr>
          <p:cNvPr id="17" name="Shape 15"/>
          <p:cNvSpPr/>
          <p:nvPr/>
        </p:nvSpPr>
        <p:spPr>
          <a:xfrm>
            <a:off x="2514600" y="2651760"/>
            <a:ext cx="6126480" cy="457200"/>
          </a:xfrm>
          <a:prstGeom prst="rect">
            <a:avLst/>
          </a:prstGeom>
          <a:solidFill>
            <a:srgbClr val="F5F5F5"/>
          </a:solidFill>
          <a:ln w="3810">
            <a:solidFill>
              <a:srgbClr val="F0F0F0"/>
            </a:solidFill>
            <a:prstDash val="solid"/>
          </a:ln>
        </p:spPr>
        <p:txBody>
          <a:bodyPr/>
          <a:lstStyle/>
          <a:p>
            <a:endParaRPr lang="en-US"/>
          </a:p>
        </p:txBody>
      </p:sp>
      <p:sp>
        <p:nvSpPr>
          <p:cNvPr id="18" name="Text 16"/>
          <p:cNvSpPr/>
          <p:nvPr/>
        </p:nvSpPr>
        <p:spPr>
          <a:xfrm>
            <a:off x="2651760" y="2651760"/>
            <a:ext cx="5852160" cy="457200"/>
          </a:xfrm>
          <a:prstGeom prst="rect">
            <a:avLst/>
          </a:prstGeom>
          <a:noFill/>
          <a:ln/>
        </p:spPr>
        <p:txBody>
          <a:bodyPr wrap="square" lIns="0" tIns="0" rIns="0" bIns="0" rtlCol="0" anchor="ctr"/>
          <a:lstStyle/>
          <a:p>
            <a:pPr marL="0" indent="0">
              <a:buNone/>
            </a:pPr>
            <a:r>
              <a:rPr lang="en-US" sz="1000" dirty="0">
                <a:solidFill>
                  <a:srgbClr val="333333"/>
                </a:solidFill>
                <a:latin typeface="Courier New" pitchFamily="34" charset="0"/>
                <a:ea typeface="Courier New" pitchFamily="34" charset="-122"/>
                <a:cs typeface="Courier New" pitchFamily="34" charset="-120"/>
              </a:rPr>
              <a:t>spawn_worker, message_worker, list_jobs, stop_job</a:t>
            </a:r>
            <a:endParaRPr lang="en-US" sz="1000" dirty="0"/>
          </a:p>
        </p:txBody>
      </p:sp>
      <p:sp>
        <p:nvSpPr>
          <p:cNvPr id="19" name="Shape 17"/>
          <p:cNvSpPr/>
          <p:nvPr/>
        </p:nvSpPr>
        <p:spPr>
          <a:xfrm>
            <a:off x="502920" y="3200400"/>
            <a:ext cx="2011680" cy="594360"/>
          </a:xfrm>
          <a:prstGeom prst="rect">
            <a:avLst/>
          </a:prstGeom>
          <a:solidFill>
            <a:srgbClr val="F9A825"/>
          </a:solidFill>
          <a:ln/>
        </p:spPr>
        <p:txBody>
          <a:bodyPr/>
          <a:lstStyle/>
          <a:p>
            <a:endParaRPr lang="en-US"/>
          </a:p>
        </p:txBody>
      </p:sp>
      <p:sp>
        <p:nvSpPr>
          <p:cNvPr id="20" name="Text 18"/>
          <p:cNvSpPr/>
          <p:nvPr/>
        </p:nvSpPr>
        <p:spPr>
          <a:xfrm>
            <a:off x="594360" y="3200400"/>
            <a:ext cx="1828800" cy="59436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Data Analyst (9)</a:t>
            </a:r>
            <a:endParaRPr lang="en-US" sz="1100" dirty="0"/>
          </a:p>
        </p:txBody>
      </p:sp>
      <p:sp>
        <p:nvSpPr>
          <p:cNvPr id="21" name="Shape 19"/>
          <p:cNvSpPr/>
          <p:nvPr/>
        </p:nvSpPr>
        <p:spPr>
          <a:xfrm>
            <a:off x="2514600" y="3200400"/>
            <a:ext cx="6126480" cy="594360"/>
          </a:xfrm>
          <a:prstGeom prst="rect">
            <a:avLst/>
          </a:prstGeom>
          <a:solidFill>
            <a:srgbClr val="F5F5F5"/>
          </a:solidFill>
          <a:ln w="3810">
            <a:solidFill>
              <a:srgbClr val="F0F0F0"/>
            </a:solidFill>
            <a:prstDash val="solid"/>
          </a:ln>
        </p:spPr>
        <p:txBody>
          <a:bodyPr/>
          <a:lstStyle/>
          <a:p>
            <a:endParaRPr lang="en-US"/>
          </a:p>
        </p:txBody>
      </p:sp>
      <p:sp>
        <p:nvSpPr>
          <p:cNvPr id="22" name="Text 20"/>
          <p:cNvSpPr/>
          <p:nvPr/>
        </p:nvSpPr>
        <p:spPr>
          <a:xfrm>
            <a:off x="2651760" y="3200400"/>
            <a:ext cx="5852160" cy="594360"/>
          </a:xfrm>
          <a:prstGeom prst="rect">
            <a:avLst/>
          </a:prstGeom>
          <a:noFill/>
          <a:ln/>
        </p:spPr>
        <p:txBody>
          <a:bodyPr wrap="square" lIns="0" tIns="0" rIns="0" bIns="0" rtlCol="0" anchor="ctr"/>
          <a:lstStyle/>
          <a:p>
            <a:pPr marL="0" indent="0">
              <a:buNone/>
            </a:pPr>
            <a:r>
              <a:rPr lang="en-US" sz="1000" dirty="0">
                <a:solidFill>
                  <a:srgbClr val="333333"/>
                </a:solidFill>
                <a:latin typeface="Courier New" pitchFamily="34" charset="0"/>
                <a:ea typeface="Courier New" pitchFamily="34" charset="-122"/>
                <a:cs typeface="Courier New" pitchFamily="34" charset="-120"/>
              </a:rPr>
              <a:t>load_dataset, inspect_columns, execute_code, run_nlp_column_task, return_file, scratchpad_r/w/clear, workspace_r/w/list</a:t>
            </a:r>
            <a:endParaRPr lang="en-US" sz="1000" dirty="0"/>
          </a:p>
        </p:txBody>
      </p:sp>
      <p:sp>
        <p:nvSpPr>
          <p:cNvPr id="23" name="Shape 21"/>
          <p:cNvSpPr/>
          <p:nvPr/>
        </p:nvSpPr>
        <p:spPr>
          <a:xfrm>
            <a:off x="502920" y="3886200"/>
            <a:ext cx="2011680" cy="594360"/>
          </a:xfrm>
          <a:prstGeom prst="rect">
            <a:avLst/>
          </a:prstGeom>
          <a:solidFill>
            <a:srgbClr val="C62828"/>
          </a:solidFill>
          <a:ln/>
        </p:spPr>
        <p:txBody>
          <a:bodyPr/>
          <a:lstStyle/>
          <a:p>
            <a:endParaRPr lang="en-US"/>
          </a:p>
        </p:txBody>
      </p:sp>
      <p:sp>
        <p:nvSpPr>
          <p:cNvPr id="24" name="Text 22"/>
          <p:cNvSpPr/>
          <p:nvPr/>
        </p:nvSpPr>
        <p:spPr>
          <a:xfrm>
            <a:off x="594360" y="3886200"/>
            <a:ext cx="1828800" cy="59436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Specialist RAG (19) NEW</a:t>
            </a:r>
            <a:endParaRPr lang="en-US" sz="1100" dirty="0"/>
          </a:p>
        </p:txBody>
      </p:sp>
      <p:sp>
        <p:nvSpPr>
          <p:cNvPr id="25" name="Shape 23"/>
          <p:cNvSpPr/>
          <p:nvPr/>
        </p:nvSpPr>
        <p:spPr>
          <a:xfrm>
            <a:off x="2514600" y="3886200"/>
            <a:ext cx="6126480" cy="594360"/>
          </a:xfrm>
          <a:prstGeom prst="rect">
            <a:avLst/>
          </a:prstGeom>
          <a:solidFill>
            <a:srgbClr val="F5F5F5"/>
          </a:solidFill>
          <a:ln w="3810">
            <a:solidFill>
              <a:srgbClr val="F0F0F0"/>
            </a:solidFill>
            <a:prstDash val="solid"/>
          </a:ln>
        </p:spPr>
        <p:txBody>
          <a:bodyPr/>
          <a:lstStyle/>
          <a:p>
            <a:endParaRPr lang="en-US"/>
          </a:p>
        </p:txBody>
      </p:sp>
      <p:sp>
        <p:nvSpPr>
          <p:cNvPr id="26" name="Text 24"/>
          <p:cNvSpPr/>
          <p:nvPr/>
        </p:nvSpPr>
        <p:spPr>
          <a:xfrm>
            <a:off x="2651760" y="3886200"/>
            <a:ext cx="5852160" cy="594360"/>
          </a:xfrm>
          <a:prstGeom prst="rect">
            <a:avLst/>
          </a:prstGeom>
          <a:noFill/>
          <a:ln/>
        </p:spPr>
        <p:txBody>
          <a:bodyPr wrap="square" lIns="0" tIns="0" rIns="0" bIns="0" rtlCol="0" anchor="ctr"/>
          <a:lstStyle/>
          <a:p>
            <a:pPr marL="0" indent="0">
              <a:buNone/>
            </a:pPr>
            <a:r>
              <a:rPr lang="en-US" sz="1000" dirty="0">
                <a:solidFill>
                  <a:srgbClr val="333333"/>
                </a:solidFill>
                <a:latin typeface="Courier New" pitchFamily="34" charset="0"/>
                <a:ea typeface="Courier New" pitchFamily="34" charset="-122"/>
                <a:cs typeface="Courier New" pitchFamily="34" charset="-120"/>
              </a:rPr>
              <a:t>resolve_document, search_document, search_all_documents, full_text_search_document, search_by_metadata, search_collection, extract_clauses, list_document_structure, extract_requirements, compare_clauses, diff_documents, fetch_chunk_window, list_collections, graph_search_local, graph_search_global, scratchpad_r/w/list</a:t>
            </a:r>
            <a:endParaRPr lang="en-US" sz="1000" dirty="0"/>
          </a:p>
        </p:txBody>
      </p:sp>
      <p:sp>
        <p:nvSpPr>
          <p:cNvPr id="27" name="Text 25"/>
          <p:cNvSpPr/>
          <p:nvPr/>
        </p:nvSpPr>
        <p:spPr>
          <a:xfrm>
            <a:off x="502920" y="4617720"/>
            <a:ext cx="8138160" cy="274320"/>
          </a:xfrm>
          <a:prstGeom prst="rect">
            <a:avLst/>
          </a:prstGeom>
          <a:noFill/>
          <a:ln/>
        </p:spPr>
        <p:txBody>
          <a:bodyPr wrap="square" lIns="0" tIns="0" rIns="0" bIns="0" rtlCol="0" anchor="ctr"/>
          <a:lstStyle/>
          <a:p>
            <a:pPr marL="0" indent="0">
              <a:buNone/>
            </a:pPr>
            <a:r>
              <a:rPr lang="en-US" sz="1000" b="1" dirty="0">
                <a:solidFill>
                  <a:srgbClr val="1B2A4A"/>
                </a:solidFill>
                <a:latin typeface="Arial" pitchFamily="34" charset="0"/>
                <a:ea typeface="Arial" pitchFamily="34" charset="-122"/>
                <a:cs typeface="Arial" pitchFamily="34" charset="-120"/>
              </a:rPr>
              <a:t>Total: 39+ tools in 6 domain groups. NEW: 19 specialist RAG tools backed by PostgreSQL give agents direct structured KB access.</a:t>
            </a:r>
            <a:endParaRPr lang="en-US" sz="1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Tool Groups — How Agent Tools Are Assembled</a:t>
            </a:r>
            <a:endParaRPr lang="en-US" sz="2600" dirty="0"/>
          </a:p>
        </p:txBody>
      </p:sp>
      <p:sp>
        <p:nvSpPr>
          <p:cNvPr id="3" name="Text 1"/>
          <p:cNvSpPr/>
          <p:nvPr/>
        </p:nvSpPr>
        <p:spPr>
          <a:xfrm>
            <a:off x="502920" y="822960"/>
            <a:ext cx="8138160" cy="320040"/>
          </a:xfrm>
          <a:prstGeom prst="rect">
            <a:avLst/>
          </a:prstGeom>
          <a:noFill/>
          <a:ln/>
        </p:spPr>
        <p:txBody>
          <a:bodyPr wrap="square" lIns="0" tIns="0" rIns="0" bIns="0" rtlCol="0" anchor="ctr"/>
          <a:lstStyle/>
          <a:p>
            <a:pPr marL="0" indent="0">
              <a:buNone/>
            </a:pPr>
            <a:r>
              <a:rPr lang="en-US" sz="1100" dirty="0">
                <a:solidFill>
                  <a:srgbClr val="1B2A4A"/>
                </a:solidFill>
                <a:latin typeface="Arial" pitchFamily="34" charset="0"/>
                <a:ea typeface="Arial" pitchFamily="34" charset="-122"/>
                <a:cs typeface="Arial" pitchFamily="34" charset="-120"/>
              </a:rPr>
              <a:t>Each agent's tool list is assembled at call time from tools/groups/. A ToolBuildContext (kernel, session, stores, providers) is passed to each builder:</a:t>
            </a:r>
            <a:endParaRPr lang="en-US" sz="1100" dirty="0"/>
          </a:p>
        </p:txBody>
      </p:sp>
      <p:sp>
        <p:nvSpPr>
          <p:cNvPr id="4" name="Shape 2"/>
          <p:cNvSpPr/>
          <p:nvPr/>
        </p:nvSpPr>
        <p:spPr>
          <a:xfrm>
            <a:off x="502920" y="1234440"/>
            <a:ext cx="2194560" cy="566928"/>
          </a:xfrm>
          <a:prstGeom prst="rect">
            <a:avLst/>
          </a:prstGeom>
          <a:solidFill>
            <a:srgbClr val="F9A825"/>
          </a:solidFill>
          <a:ln/>
        </p:spPr>
        <p:txBody>
          <a:bodyPr/>
          <a:lstStyle/>
          <a:p>
            <a:endParaRPr lang="en-US"/>
          </a:p>
        </p:txBody>
      </p:sp>
      <p:sp>
        <p:nvSpPr>
          <p:cNvPr id="5" name="Text 3"/>
          <p:cNvSpPr/>
          <p:nvPr/>
        </p:nvSpPr>
        <p:spPr>
          <a:xfrm>
            <a:off x="576072" y="1234440"/>
            <a:ext cx="2057400" cy="566928"/>
          </a:xfrm>
          <a:prstGeom prst="rect">
            <a:avLst/>
          </a:prstGeom>
          <a:noFill/>
          <a:ln/>
        </p:spPr>
        <p:txBody>
          <a:bodyPr wrap="square" lIns="0" tIns="0" rIns="0" bIns="0" rtlCol="0" anchor="ctr"/>
          <a:lstStyle/>
          <a:p>
            <a:pPr marL="0" indent="0">
              <a:buNone/>
            </a:pPr>
            <a:r>
              <a:rPr lang="en-US" sz="850" b="1" dirty="0">
                <a:solidFill>
                  <a:srgbClr val="FFFFFF"/>
                </a:solidFill>
                <a:latin typeface="Courier New" pitchFamily="34" charset="0"/>
                <a:ea typeface="Courier New" pitchFamily="34" charset="-122"/>
                <a:cs typeface="Courier New" pitchFamily="34" charset="-120"/>
              </a:rPr>
              <a:t>build_analyst_tools(ctx)</a:t>
            </a:r>
            <a:endParaRPr lang="en-US" sz="850" dirty="0"/>
          </a:p>
          <a:p>
            <a:pPr marL="0" indent="0">
              <a:buNone/>
            </a:pPr>
            <a:r>
              <a:rPr lang="en-US" sz="850" b="1" dirty="0">
                <a:solidFill>
                  <a:srgbClr val="FFFFFF"/>
                </a:solidFill>
                <a:latin typeface="Courier New" pitchFamily="34" charset="0"/>
                <a:ea typeface="Courier New" pitchFamily="34" charset="-122"/>
                <a:cs typeface="Courier New" pitchFamily="34" charset="-120"/>
              </a:rPr>
              <a:t>tools/groups/analyst.py</a:t>
            </a:r>
            <a:endParaRPr lang="en-US" sz="850" dirty="0"/>
          </a:p>
        </p:txBody>
      </p:sp>
      <p:sp>
        <p:nvSpPr>
          <p:cNvPr id="6" name="Shape 4"/>
          <p:cNvSpPr/>
          <p:nvPr/>
        </p:nvSpPr>
        <p:spPr>
          <a:xfrm>
            <a:off x="2697480" y="1234440"/>
            <a:ext cx="5943600" cy="566928"/>
          </a:xfrm>
          <a:prstGeom prst="rect">
            <a:avLst/>
          </a:prstGeom>
          <a:solidFill>
            <a:srgbClr val="F5F5F5"/>
          </a:solidFill>
          <a:ln w="3810">
            <a:solidFill>
              <a:srgbClr val="F0F0F0"/>
            </a:solidFill>
            <a:prstDash val="solid"/>
          </a:ln>
        </p:spPr>
        <p:txBody>
          <a:bodyPr/>
          <a:lstStyle/>
          <a:p>
            <a:endParaRPr lang="en-US"/>
          </a:p>
        </p:txBody>
      </p:sp>
      <p:sp>
        <p:nvSpPr>
          <p:cNvPr id="7" name="Text 5"/>
          <p:cNvSpPr/>
          <p:nvPr/>
        </p:nvSpPr>
        <p:spPr>
          <a:xfrm>
            <a:off x="2834640" y="1234440"/>
            <a:ext cx="5669280" cy="566928"/>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Delegates to make_data_analyst_tools(). Returns load_dataset, inspect_columns, execute_code (Docker sandbox), run_nlp_column_task, return_file, scratchpad_r/w/clear, workspace_r/w/list.</a:t>
            </a:r>
            <a:endParaRPr lang="en-US" sz="950" dirty="0"/>
          </a:p>
        </p:txBody>
      </p:sp>
      <p:sp>
        <p:nvSpPr>
          <p:cNvPr id="8" name="Shape 6"/>
          <p:cNvSpPr/>
          <p:nvPr/>
        </p:nvSpPr>
        <p:spPr>
          <a:xfrm>
            <a:off x="502920" y="1847088"/>
            <a:ext cx="2194560" cy="566928"/>
          </a:xfrm>
          <a:prstGeom prst="rect">
            <a:avLst/>
          </a:prstGeom>
          <a:solidFill>
            <a:srgbClr val="0097A7"/>
          </a:solidFill>
          <a:ln/>
        </p:spPr>
        <p:txBody>
          <a:bodyPr/>
          <a:lstStyle/>
          <a:p>
            <a:endParaRPr lang="en-US"/>
          </a:p>
        </p:txBody>
      </p:sp>
      <p:sp>
        <p:nvSpPr>
          <p:cNvPr id="9" name="Text 7"/>
          <p:cNvSpPr/>
          <p:nvPr/>
        </p:nvSpPr>
        <p:spPr>
          <a:xfrm>
            <a:off x="576072" y="1847088"/>
            <a:ext cx="2057400" cy="566928"/>
          </a:xfrm>
          <a:prstGeom prst="rect">
            <a:avLst/>
          </a:prstGeom>
          <a:noFill/>
          <a:ln/>
        </p:spPr>
        <p:txBody>
          <a:bodyPr wrap="square" lIns="0" tIns="0" rIns="0" bIns="0" rtlCol="0" anchor="ctr"/>
          <a:lstStyle/>
          <a:p>
            <a:pPr marL="0" indent="0">
              <a:buNone/>
            </a:pPr>
            <a:r>
              <a:rPr lang="en-US" sz="850" b="1" dirty="0">
                <a:solidFill>
                  <a:srgbClr val="FFFFFF"/>
                </a:solidFill>
                <a:latin typeface="Courier New" pitchFamily="34" charset="0"/>
                <a:ea typeface="Courier New" pitchFamily="34" charset="-122"/>
                <a:cs typeface="Courier New" pitchFamily="34" charset="-120"/>
              </a:rPr>
              <a:t>build_rag_gateway_tools(ctx)</a:t>
            </a:r>
            <a:endParaRPr lang="en-US" sz="850" dirty="0"/>
          </a:p>
          <a:p>
            <a:pPr marL="0" indent="0">
              <a:buNone/>
            </a:pPr>
            <a:r>
              <a:rPr lang="en-US" sz="850" b="1" dirty="0">
                <a:solidFill>
                  <a:srgbClr val="FFFFFF"/>
                </a:solidFill>
                <a:latin typeface="Courier New" pitchFamily="34" charset="0"/>
                <a:ea typeface="Courier New" pitchFamily="34" charset="-122"/>
                <a:cs typeface="Courier New" pitchFamily="34" charset="-120"/>
              </a:rPr>
              <a:t>tools/groups/rag_gateway.py</a:t>
            </a:r>
            <a:endParaRPr lang="en-US" sz="850" dirty="0"/>
          </a:p>
        </p:txBody>
      </p:sp>
      <p:sp>
        <p:nvSpPr>
          <p:cNvPr id="10" name="Shape 8"/>
          <p:cNvSpPr/>
          <p:nvPr/>
        </p:nvSpPr>
        <p:spPr>
          <a:xfrm>
            <a:off x="2697480" y="1847088"/>
            <a:ext cx="5943600" cy="566928"/>
          </a:xfrm>
          <a:prstGeom prst="rect">
            <a:avLst/>
          </a:prstGeom>
          <a:solidFill>
            <a:srgbClr val="F5F5F5"/>
          </a:solidFill>
          <a:ln w="3810">
            <a:solidFill>
              <a:srgbClr val="F0F0F0"/>
            </a:solidFill>
            <a:prstDash val="solid"/>
          </a:ln>
        </p:spPr>
        <p:txBody>
          <a:bodyPr/>
          <a:lstStyle/>
          <a:p>
            <a:endParaRPr lang="en-US"/>
          </a:p>
        </p:txBody>
      </p:sp>
      <p:sp>
        <p:nvSpPr>
          <p:cNvPr id="11" name="Text 9"/>
          <p:cNvSpPr/>
          <p:nvPr/>
        </p:nvSpPr>
        <p:spPr>
          <a:xfrm>
            <a:off x="2834640" y="1847088"/>
            <a:ext cx="5669280" cy="566928"/>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Returns [make_rag_agent_tool(...)]. One high-level RAG tool that wraps the full rag_engine contract pipeline (retrieve → grade → synthesize → cite).</a:t>
            </a:r>
            <a:endParaRPr lang="en-US" sz="950" dirty="0"/>
          </a:p>
        </p:txBody>
      </p:sp>
      <p:sp>
        <p:nvSpPr>
          <p:cNvPr id="12" name="Shape 10"/>
          <p:cNvSpPr/>
          <p:nvPr/>
        </p:nvSpPr>
        <p:spPr>
          <a:xfrm>
            <a:off x="502920" y="2459736"/>
            <a:ext cx="2194560" cy="566928"/>
          </a:xfrm>
          <a:prstGeom prst="rect">
            <a:avLst/>
          </a:prstGeom>
          <a:solidFill>
            <a:srgbClr val="1B2A4A"/>
          </a:solidFill>
          <a:ln/>
        </p:spPr>
        <p:txBody>
          <a:bodyPr/>
          <a:lstStyle/>
          <a:p>
            <a:endParaRPr lang="en-US"/>
          </a:p>
        </p:txBody>
      </p:sp>
      <p:sp>
        <p:nvSpPr>
          <p:cNvPr id="13" name="Text 11"/>
          <p:cNvSpPr/>
          <p:nvPr/>
        </p:nvSpPr>
        <p:spPr>
          <a:xfrm>
            <a:off x="576072" y="2459736"/>
            <a:ext cx="2057400" cy="566928"/>
          </a:xfrm>
          <a:prstGeom prst="rect">
            <a:avLst/>
          </a:prstGeom>
          <a:noFill/>
          <a:ln/>
        </p:spPr>
        <p:txBody>
          <a:bodyPr wrap="square" lIns="0" tIns="0" rIns="0" bIns="0" rtlCol="0" anchor="ctr"/>
          <a:lstStyle/>
          <a:p>
            <a:pPr marL="0" indent="0">
              <a:buNone/>
            </a:pPr>
            <a:r>
              <a:rPr lang="en-US" sz="850" b="1" dirty="0">
                <a:solidFill>
                  <a:srgbClr val="FFFFFF"/>
                </a:solidFill>
                <a:latin typeface="Courier New" pitchFamily="34" charset="0"/>
                <a:ea typeface="Courier New" pitchFamily="34" charset="-122"/>
                <a:cs typeface="Courier New" pitchFamily="34" charset="-120"/>
              </a:rPr>
              <a:t>build_orchestration_tools(ctx)</a:t>
            </a:r>
            <a:endParaRPr lang="en-US" sz="850" dirty="0"/>
          </a:p>
          <a:p>
            <a:pPr marL="0" indent="0">
              <a:buNone/>
            </a:pPr>
            <a:r>
              <a:rPr lang="en-US" sz="850" b="1" dirty="0">
                <a:solidFill>
                  <a:srgbClr val="FFFFFF"/>
                </a:solidFill>
                <a:latin typeface="Courier New" pitchFamily="34" charset="0"/>
                <a:ea typeface="Courier New" pitchFamily="34" charset="-122"/>
                <a:cs typeface="Courier New" pitchFamily="34" charset="-120"/>
              </a:rPr>
              <a:t>tools/groups/orchestration.py</a:t>
            </a:r>
            <a:endParaRPr lang="en-US" sz="850" dirty="0"/>
          </a:p>
        </p:txBody>
      </p:sp>
      <p:sp>
        <p:nvSpPr>
          <p:cNvPr id="14" name="Shape 12"/>
          <p:cNvSpPr/>
          <p:nvPr/>
        </p:nvSpPr>
        <p:spPr>
          <a:xfrm>
            <a:off x="2697480" y="2459736"/>
            <a:ext cx="5943600" cy="566928"/>
          </a:xfrm>
          <a:prstGeom prst="rect">
            <a:avLst/>
          </a:prstGeom>
          <a:solidFill>
            <a:srgbClr val="F5F5F5"/>
          </a:solidFill>
          <a:ln w="3810">
            <a:solidFill>
              <a:srgbClr val="F0F0F0"/>
            </a:solidFill>
            <a:prstDash val="solid"/>
          </a:ln>
        </p:spPr>
        <p:txBody>
          <a:bodyPr/>
          <a:lstStyle/>
          <a:p>
            <a:endParaRPr lang="en-US"/>
          </a:p>
        </p:txBody>
      </p:sp>
      <p:sp>
        <p:nvSpPr>
          <p:cNvPr id="15" name="Text 13"/>
          <p:cNvSpPr/>
          <p:nvPr/>
        </p:nvSpPr>
        <p:spPr>
          <a:xfrm>
            <a:off x="2834640" y="2459736"/>
            <a:ext cx="5669280" cy="566928"/>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Returns 4 tools — spawn_worker(prompt, agent_name, description, run_in_background), message_worker(job_id, message, resume), list_jobs(status_filter), stop_job(job_id). Requires kernel + active_definition.</a:t>
            </a:r>
            <a:endParaRPr lang="en-US" sz="950" dirty="0"/>
          </a:p>
        </p:txBody>
      </p:sp>
      <p:sp>
        <p:nvSpPr>
          <p:cNvPr id="16" name="Shape 14"/>
          <p:cNvSpPr/>
          <p:nvPr/>
        </p:nvSpPr>
        <p:spPr>
          <a:xfrm>
            <a:off x="502920" y="3072384"/>
            <a:ext cx="2194560" cy="566928"/>
          </a:xfrm>
          <a:prstGeom prst="rect">
            <a:avLst/>
          </a:prstGeom>
          <a:solidFill>
            <a:srgbClr val="00796B"/>
          </a:solidFill>
          <a:ln/>
        </p:spPr>
        <p:txBody>
          <a:bodyPr/>
          <a:lstStyle/>
          <a:p>
            <a:endParaRPr lang="en-US"/>
          </a:p>
        </p:txBody>
      </p:sp>
      <p:sp>
        <p:nvSpPr>
          <p:cNvPr id="17" name="Text 15"/>
          <p:cNvSpPr/>
          <p:nvPr/>
        </p:nvSpPr>
        <p:spPr>
          <a:xfrm>
            <a:off x="576072" y="3072384"/>
            <a:ext cx="2057400" cy="566928"/>
          </a:xfrm>
          <a:prstGeom prst="rect">
            <a:avLst/>
          </a:prstGeom>
          <a:noFill/>
          <a:ln/>
        </p:spPr>
        <p:txBody>
          <a:bodyPr wrap="square" lIns="0" tIns="0" rIns="0" bIns="0" rtlCol="0" anchor="ctr"/>
          <a:lstStyle/>
          <a:p>
            <a:pPr marL="0" indent="0">
              <a:buNone/>
            </a:pPr>
            <a:r>
              <a:rPr lang="en-US" sz="850" b="1" dirty="0">
                <a:solidFill>
                  <a:srgbClr val="FFFFFF"/>
                </a:solidFill>
                <a:latin typeface="Courier New" pitchFamily="34" charset="0"/>
                <a:ea typeface="Courier New" pitchFamily="34" charset="-122"/>
                <a:cs typeface="Courier New" pitchFamily="34" charset="-120"/>
              </a:rPr>
              <a:t>build_memory_tools(ctx)</a:t>
            </a:r>
            <a:endParaRPr lang="en-US" sz="850" dirty="0"/>
          </a:p>
          <a:p>
            <a:pPr marL="0" indent="0">
              <a:buNone/>
            </a:pPr>
            <a:r>
              <a:rPr lang="en-US" sz="850" b="1" dirty="0">
                <a:solidFill>
                  <a:srgbClr val="FFFFFF"/>
                </a:solidFill>
                <a:latin typeface="Courier New" pitchFamily="34" charset="0"/>
                <a:ea typeface="Courier New" pitchFamily="34" charset="-122"/>
                <a:cs typeface="Courier New" pitchFamily="34" charset="-120"/>
              </a:rPr>
              <a:t>tools/groups/memory.py</a:t>
            </a:r>
            <a:endParaRPr lang="en-US" sz="850" dirty="0"/>
          </a:p>
        </p:txBody>
      </p:sp>
      <p:sp>
        <p:nvSpPr>
          <p:cNvPr id="18" name="Shape 16"/>
          <p:cNvSpPr/>
          <p:nvPr/>
        </p:nvSpPr>
        <p:spPr>
          <a:xfrm>
            <a:off x="2697480" y="3072384"/>
            <a:ext cx="5943600" cy="566928"/>
          </a:xfrm>
          <a:prstGeom prst="rect">
            <a:avLst/>
          </a:prstGeom>
          <a:solidFill>
            <a:srgbClr val="F5F5F5"/>
          </a:solidFill>
          <a:ln w="3810">
            <a:solidFill>
              <a:srgbClr val="F0F0F0"/>
            </a:solidFill>
            <a:prstDash val="solid"/>
          </a:ln>
        </p:spPr>
        <p:txBody>
          <a:bodyPr/>
          <a:lstStyle/>
          <a:p>
            <a:endParaRPr lang="en-US"/>
          </a:p>
        </p:txBody>
      </p:sp>
      <p:sp>
        <p:nvSpPr>
          <p:cNvPr id="19" name="Text 17"/>
          <p:cNvSpPr/>
          <p:nvPr/>
        </p:nvSpPr>
        <p:spPr>
          <a:xfrm>
            <a:off x="2834640" y="3072384"/>
            <a:ext cx="5669280" cy="566928"/>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Returns memory_save, memory_load, memory_list tools backed by MemoryStore.</a:t>
            </a:r>
            <a:endParaRPr lang="en-US" sz="950" dirty="0"/>
          </a:p>
        </p:txBody>
      </p:sp>
      <p:sp>
        <p:nvSpPr>
          <p:cNvPr id="20" name="Shape 18"/>
          <p:cNvSpPr/>
          <p:nvPr/>
        </p:nvSpPr>
        <p:spPr>
          <a:xfrm>
            <a:off x="502920" y="3685032"/>
            <a:ext cx="2194560" cy="566928"/>
          </a:xfrm>
          <a:prstGeom prst="rect">
            <a:avLst/>
          </a:prstGeom>
          <a:solidFill>
            <a:srgbClr val="5C6BC0"/>
          </a:solidFill>
          <a:ln/>
        </p:spPr>
        <p:txBody>
          <a:bodyPr/>
          <a:lstStyle/>
          <a:p>
            <a:endParaRPr lang="en-US"/>
          </a:p>
        </p:txBody>
      </p:sp>
      <p:sp>
        <p:nvSpPr>
          <p:cNvPr id="21" name="Text 19"/>
          <p:cNvSpPr/>
          <p:nvPr/>
        </p:nvSpPr>
        <p:spPr>
          <a:xfrm>
            <a:off x="576072" y="3685032"/>
            <a:ext cx="2057400" cy="566928"/>
          </a:xfrm>
          <a:prstGeom prst="rect">
            <a:avLst/>
          </a:prstGeom>
          <a:noFill/>
          <a:ln/>
        </p:spPr>
        <p:txBody>
          <a:bodyPr wrap="square" lIns="0" tIns="0" rIns="0" bIns="0" rtlCol="0" anchor="ctr"/>
          <a:lstStyle/>
          <a:p>
            <a:pPr marL="0" indent="0">
              <a:buNone/>
            </a:pPr>
            <a:r>
              <a:rPr lang="en-US" sz="850" b="1" dirty="0">
                <a:solidFill>
                  <a:srgbClr val="FFFFFF"/>
                </a:solidFill>
                <a:latin typeface="Courier New" pitchFamily="34" charset="0"/>
                <a:ea typeface="Courier New" pitchFamily="34" charset="-122"/>
                <a:cs typeface="Courier New" pitchFamily="34" charset="-120"/>
              </a:rPr>
              <a:t>build_utility_tools(ctx)</a:t>
            </a:r>
            <a:endParaRPr lang="en-US" sz="850" dirty="0"/>
          </a:p>
          <a:p>
            <a:pPr marL="0" indent="0">
              <a:buNone/>
            </a:pPr>
            <a:r>
              <a:rPr lang="en-US" sz="850" b="1" dirty="0">
                <a:solidFill>
                  <a:srgbClr val="FFFFFF"/>
                </a:solidFill>
                <a:latin typeface="Courier New" pitchFamily="34" charset="0"/>
                <a:ea typeface="Courier New" pitchFamily="34" charset="-122"/>
                <a:cs typeface="Courier New" pitchFamily="34" charset="-120"/>
              </a:rPr>
              <a:t>tools/groups/utility.py</a:t>
            </a:r>
            <a:endParaRPr lang="en-US" sz="850" dirty="0"/>
          </a:p>
        </p:txBody>
      </p:sp>
      <p:sp>
        <p:nvSpPr>
          <p:cNvPr id="22" name="Shape 20"/>
          <p:cNvSpPr/>
          <p:nvPr/>
        </p:nvSpPr>
        <p:spPr>
          <a:xfrm>
            <a:off x="2697480" y="3685032"/>
            <a:ext cx="5943600" cy="566928"/>
          </a:xfrm>
          <a:prstGeom prst="rect">
            <a:avLst/>
          </a:prstGeom>
          <a:solidFill>
            <a:srgbClr val="F5F5F5"/>
          </a:solidFill>
          <a:ln w="3810">
            <a:solidFill>
              <a:srgbClr val="F0F0F0"/>
            </a:solidFill>
            <a:prstDash val="solid"/>
          </a:ln>
        </p:spPr>
        <p:txBody>
          <a:bodyPr/>
          <a:lstStyle/>
          <a:p>
            <a:endParaRPr lang="en-US"/>
          </a:p>
        </p:txBody>
      </p:sp>
      <p:sp>
        <p:nvSpPr>
          <p:cNvPr id="23" name="Text 21"/>
          <p:cNvSpPr/>
          <p:nvPr/>
        </p:nvSpPr>
        <p:spPr>
          <a:xfrm>
            <a:off x="2834640" y="3685032"/>
            <a:ext cx="5669280" cy="566928"/>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Returns calculator, list_indexed_docs, search_skills tools for general-purpose agents.</a:t>
            </a:r>
            <a:endParaRPr lang="en-US" sz="950" dirty="0"/>
          </a:p>
        </p:txBody>
      </p:sp>
      <p:sp>
        <p:nvSpPr>
          <p:cNvPr id="24" name="Text 22"/>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tools/groups/__init__.py, tools/groups/analyst.py, tools/groups/rag_gateway.py, tools/groups/orchestration.py</a:t>
            </a:r>
            <a:endParaRPr lang="en-US" sz="9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Skills vs. Tools — They're Different Things</a:t>
            </a:r>
            <a:endParaRPr lang="en-US" sz="2600" dirty="0"/>
          </a:p>
        </p:txBody>
      </p:sp>
      <p:sp>
        <p:nvSpPr>
          <p:cNvPr id="3" name="Shape 1"/>
          <p:cNvSpPr/>
          <p:nvPr/>
        </p:nvSpPr>
        <p:spPr>
          <a:xfrm>
            <a:off x="502920" y="1005840"/>
            <a:ext cx="3840480" cy="25603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4" name="Shape 2"/>
          <p:cNvSpPr/>
          <p:nvPr/>
        </p:nvSpPr>
        <p:spPr>
          <a:xfrm>
            <a:off x="502920" y="1005840"/>
            <a:ext cx="3840480" cy="320040"/>
          </a:xfrm>
          <a:prstGeom prst="rect">
            <a:avLst/>
          </a:prstGeom>
          <a:solidFill>
            <a:srgbClr val="0097A7"/>
          </a:solidFill>
          <a:ln/>
        </p:spPr>
        <p:txBody>
          <a:bodyPr/>
          <a:lstStyle/>
          <a:p>
            <a:endParaRPr lang="en-US"/>
          </a:p>
        </p:txBody>
      </p:sp>
      <p:sp>
        <p:nvSpPr>
          <p:cNvPr id="5" name="Text 3"/>
          <p:cNvSpPr/>
          <p:nvPr/>
        </p:nvSpPr>
        <p:spPr>
          <a:xfrm>
            <a:off x="612648" y="1033272"/>
            <a:ext cx="362102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SKILLS</a:t>
            </a:r>
            <a:endParaRPr lang="en-US" sz="1200" dirty="0"/>
          </a:p>
        </p:txBody>
      </p:sp>
      <p:sp>
        <p:nvSpPr>
          <p:cNvPr id="6" name="Text 4"/>
          <p:cNvSpPr/>
          <p:nvPr/>
        </p:nvSpPr>
        <p:spPr>
          <a:xfrm>
            <a:off x="612648" y="1389888"/>
            <a:ext cx="3621024" cy="2084832"/>
          </a:xfrm>
          <a:prstGeom prst="rect">
            <a:avLst/>
          </a:prstGeom>
          <a:noFill/>
          <a:ln/>
        </p:spPr>
        <p:txBody>
          <a:bodyPr wrap="square" lIns="0" tIns="0" rIns="0" bIns="0" rtlCol="0" anchor="t"/>
          <a:lstStyle/>
          <a:p>
            <a:pPr marL="0" indent="0">
              <a:lnSpc>
                <a:spcPct val="110000"/>
              </a:lnSpc>
              <a:buNone/>
            </a:pPr>
            <a:r>
              <a:rPr lang="en-US" sz="1000" b="1" dirty="0">
                <a:solidFill>
                  <a:srgbClr val="333333"/>
                </a:solidFill>
                <a:latin typeface="Arial" pitchFamily="34" charset="0"/>
                <a:ea typeface="Arial" pitchFamily="34" charset="-122"/>
                <a:cs typeface="Arial" pitchFamily="34" charset="-120"/>
              </a:rPr>
              <a:t>What: </a:t>
            </a:r>
            <a:r>
              <a:rPr lang="en-US" sz="1000" dirty="0">
                <a:solidFill>
                  <a:srgbClr val="333333"/>
                </a:solidFill>
                <a:latin typeface="Arial" pitchFamily="34" charset="0"/>
                <a:ea typeface="Arial" pitchFamily="34" charset="-122"/>
                <a:cs typeface="Arial" pitchFamily="34" charset="-120"/>
              </a:rPr>
              <a:t>Markdown docs with guidance
</a:t>
            </a:r>
            <a:endParaRPr lang="en-US" sz="1000" dirty="0"/>
          </a:p>
          <a:p>
            <a:pPr marL="0" indent="0">
              <a:lnSpc>
                <a:spcPct val="110000"/>
              </a:lnSpc>
              <a:buNone/>
            </a:pPr>
            <a:r>
              <a:rPr lang="en-US" sz="1000" b="1" dirty="0">
                <a:solidFill>
                  <a:srgbClr val="333333"/>
                </a:solidFill>
                <a:latin typeface="Arial" pitchFamily="34" charset="0"/>
                <a:ea typeface="Arial" pitchFamily="34" charset="-122"/>
                <a:cs typeface="Arial" pitchFamily="34" charset="-120"/>
              </a:rPr>
              <a:t>Where: </a:t>
            </a:r>
            <a:r>
              <a:rPr lang="en-US" sz="1000" dirty="0">
                <a:solidFill>
                  <a:srgbClr val="333333"/>
                </a:solidFill>
                <a:latin typeface="Arial" pitchFamily="34" charset="0"/>
                <a:ea typeface="Arial" pitchFamily="34" charset="-122"/>
                <a:cs typeface="Arial" pitchFamily="34" charset="-120"/>
              </a:rPr>
              <a:t>data/skills/, data/skill_packs/
</a:t>
            </a:r>
            <a:endParaRPr lang="en-US" sz="1000" dirty="0"/>
          </a:p>
          <a:p>
            <a:pPr marL="0" indent="0">
              <a:lnSpc>
                <a:spcPct val="110000"/>
              </a:lnSpc>
              <a:buNone/>
            </a:pPr>
            <a:r>
              <a:rPr lang="en-US" sz="1000" b="1" dirty="0">
                <a:solidFill>
                  <a:srgbClr val="333333"/>
                </a:solidFill>
                <a:latin typeface="Arial" pitchFamily="34" charset="0"/>
                <a:ea typeface="Arial" pitchFamily="34" charset="-122"/>
                <a:cs typeface="Arial" pitchFamily="34" charset="-120"/>
              </a:rPr>
              <a:t>How: </a:t>
            </a:r>
            <a:r>
              <a:rPr lang="en-US" sz="1000" dirty="0">
                <a:solidFill>
                  <a:srgbClr val="333333"/>
                </a:solidFill>
                <a:latin typeface="Arial" pitchFamily="34" charset="0"/>
                <a:ea typeface="Arial" pitchFamily="34" charset="-122"/>
                <a:cs typeface="Arial" pitchFamily="34" charset="-120"/>
              </a:rPr>
              <a:t>Retrieved by SkillRuntime -&gt; injected into system prompt
</a:t>
            </a:r>
            <a:endParaRPr lang="en-US" sz="1000" dirty="0"/>
          </a:p>
          <a:p>
            <a:pPr marL="0" indent="0">
              <a:lnSpc>
                <a:spcPct val="110000"/>
              </a:lnSpc>
              <a:buNone/>
            </a:pPr>
            <a:r>
              <a:rPr lang="en-US" sz="1000" b="1" dirty="0">
                <a:solidFill>
                  <a:srgbClr val="333333"/>
                </a:solidFill>
                <a:latin typeface="Arial" pitchFamily="34" charset="0"/>
                <a:ea typeface="Arial" pitchFamily="34" charset="-122"/>
                <a:cs typeface="Arial" pitchFamily="34" charset="-120"/>
              </a:rPr>
              <a:t>Effect: </a:t>
            </a:r>
            <a:r>
              <a:rPr lang="en-US" sz="1000" dirty="0">
                <a:solidFill>
                  <a:srgbClr val="333333"/>
                </a:solidFill>
                <a:latin typeface="Arial" pitchFamily="34" charset="0"/>
                <a:ea typeface="Arial" pitchFamily="34" charset="-122"/>
                <a:cs typeface="Arial" pitchFamily="34" charset="-120"/>
              </a:rPr>
              <a:t>Changes how the agent THINKS
</a:t>
            </a:r>
            <a:endParaRPr lang="en-US" sz="1000" dirty="0"/>
          </a:p>
          <a:p>
            <a:pPr marL="0" indent="0">
              <a:lnSpc>
                <a:spcPct val="110000"/>
              </a:lnSpc>
              <a:buNone/>
            </a:pPr>
            <a:r>
              <a:rPr lang="en-US" sz="1000" b="1" dirty="0">
                <a:solidFill>
                  <a:srgbClr val="333333"/>
                </a:solidFill>
                <a:latin typeface="Arial" pitchFamily="34" charset="0"/>
                <a:ea typeface="Arial" pitchFamily="34" charset="-122"/>
                <a:cs typeface="Arial" pitchFamily="34" charset="-120"/>
              </a:rPr>
              <a:t>Example: </a:t>
            </a:r>
            <a:r>
              <a:rPr lang="en-US" sz="1000" dirty="0">
                <a:solidFill>
                  <a:srgbClr val="333333"/>
                </a:solidFill>
                <a:latin typeface="Arial" pitchFamily="34" charset="0"/>
                <a:ea typeface="Arial" pitchFamily="34" charset="-122"/>
                <a:cs typeface="Arial" pitchFamily="34" charset="-120"/>
              </a:rPr>
              <a:t>'Always load_dataset before inspect_columns. Use Plan-Verify-Reflect.'</a:t>
            </a:r>
            <a:endParaRPr lang="en-US" sz="1000" dirty="0"/>
          </a:p>
        </p:txBody>
      </p:sp>
      <p:sp>
        <p:nvSpPr>
          <p:cNvPr id="7" name="Shape 5"/>
          <p:cNvSpPr/>
          <p:nvPr/>
        </p:nvSpPr>
        <p:spPr>
          <a:xfrm>
            <a:off x="4800600" y="1005840"/>
            <a:ext cx="3840480" cy="25603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8" name="Shape 6"/>
          <p:cNvSpPr/>
          <p:nvPr/>
        </p:nvSpPr>
        <p:spPr>
          <a:xfrm>
            <a:off x="4800600" y="1005840"/>
            <a:ext cx="3840480" cy="320040"/>
          </a:xfrm>
          <a:prstGeom prst="rect">
            <a:avLst/>
          </a:prstGeom>
          <a:solidFill>
            <a:srgbClr val="1B2A4A"/>
          </a:solidFill>
          <a:ln/>
        </p:spPr>
        <p:txBody>
          <a:bodyPr/>
          <a:lstStyle/>
          <a:p>
            <a:endParaRPr lang="en-US"/>
          </a:p>
        </p:txBody>
      </p:sp>
      <p:sp>
        <p:nvSpPr>
          <p:cNvPr id="9" name="Text 7"/>
          <p:cNvSpPr/>
          <p:nvPr/>
        </p:nvSpPr>
        <p:spPr>
          <a:xfrm>
            <a:off x="4910328" y="1033272"/>
            <a:ext cx="362102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TOOLS</a:t>
            </a:r>
            <a:endParaRPr lang="en-US" sz="1200" dirty="0"/>
          </a:p>
        </p:txBody>
      </p:sp>
      <p:sp>
        <p:nvSpPr>
          <p:cNvPr id="10" name="Text 8"/>
          <p:cNvSpPr/>
          <p:nvPr/>
        </p:nvSpPr>
        <p:spPr>
          <a:xfrm>
            <a:off x="4910328" y="1389888"/>
            <a:ext cx="3621024" cy="2084832"/>
          </a:xfrm>
          <a:prstGeom prst="rect">
            <a:avLst/>
          </a:prstGeom>
          <a:noFill/>
          <a:ln/>
        </p:spPr>
        <p:txBody>
          <a:bodyPr wrap="square" lIns="0" tIns="0" rIns="0" bIns="0" rtlCol="0" anchor="t"/>
          <a:lstStyle/>
          <a:p>
            <a:pPr marL="0" indent="0">
              <a:lnSpc>
                <a:spcPct val="110000"/>
              </a:lnSpc>
              <a:buNone/>
            </a:pPr>
            <a:r>
              <a:rPr lang="en-US" sz="1000" b="1" dirty="0">
                <a:solidFill>
                  <a:srgbClr val="333333"/>
                </a:solidFill>
                <a:latin typeface="Arial" pitchFamily="34" charset="0"/>
                <a:ea typeface="Arial" pitchFamily="34" charset="-122"/>
                <a:cs typeface="Arial" pitchFamily="34" charset="-120"/>
              </a:rPr>
              <a:t>What: </a:t>
            </a:r>
            <a:r>
              <a:rPr lang="en-US" sz="1000" dirty="0">
                <a:solidFill>
                  <a:srgbClr val="333333"/>
                </a:solidFill>
                <a:latin typeface="Arial" pitchFamily="34" charset="0"/>
                <a:ea typeface="Arial" pitchFamily="34" charset="-122"/>
                <a:cs typeface="Arial" pitchFamily="34" charset="-120"/>
              </a:rPr>
              <a:t>Python functions that act on the world
</a:t>
            </a:r>
            <a:endParaRPr lang="en-US" sz="1000" dirty="0"/>
          </a:p>
          <a:p>
            <a:pPr marL="0" indent="0">
              <a:lnSpc>
                <a:spcPct val="110000"/>
              </a:lnSpc>
              <a:buNone/>
            </a:pPr>
            <a:r>
              <a:rPr lang="en-US" sz="1000" b="1" dirty="0">
                <a:solidFill>
                  <a:srgbClr val="333333"/>
                </a:solidFill>
                <a:latin typeface="Arial" pitchFamily="34" charset="0"/>
                <a:ea typeface="Arial" pitchFamily="34" charset="-122"/>
                <a:cs typeface="Arial" pitchFamily="34" charset="-120"/>
              </a:rPr>
              <a:t>Where: </a:t>
            </a:r>
            <a:r>
              <a:rPr lang="en-US" sz="1000" dirty="0">
                <a:solidFill>
                  <a:srgbClr val="333333"/>
                </a:solidFill>
                <a:latin typeface="Arial" pitchFamily="34" charset="0"/>
                <a:ea typeface="Arial" pitchFamily="34" charset="-122"/>
                <a:cs typeface="Arial" pitchFamily="34" charset="-120"/>
              </a:rPr>
              <a:t>src/agentic_chatbot_next/tools/
</a:t>
            </a:r>
            <a:endParaRPr lang="en-US" sz="1000" dirty="0"/>
          </a:p>
          <a:p>
            <a:pPr marL="0" indent="0">
              <a:lnSpc>
                <a:spcPct val="110000"/>
              </a:lnSpc>
              <a:buNone/>
            </a:pPr>
            <a:r>
              <a:rPr lang="en-US" sz="1000" b="1" dirty="0">
                <a:solidFill>
                  <a:srgbClr val="333333"/>
                </a:solidFill>
                <a:latin typeface="Arial" pitchFamily="34" charset="0"/>
                <a:ea typeface="Arial" pitchFamily="34" charset="-122"/>
                <a:cs typeface="Arial" pitchFamily="34" charset="-120"/>
              </a:rPr>
              <a:t>How: </a:t>
            </a:r>
            <a:r>
              <a:rPr lang="en-US" sz="1000" dirty="0">
                <a:solidFill>
                  <a:srgbClr val="333333"/>
                </a:solidFill>
                <a:latin typeface="Arial" pitchFamily="34" charset="0"/>
                <a:ea typeface="Arial" pitchFamily="34" charset="-122"/>
                <a:cs typeface="Arial" pitchFamily="34" charset="-120"/>
              </a:rPr>
              <a:t>LLM generates tool calls -&gt; executor runs function
</a:t>
            </a:r>
            <a:endParaRPr lang="en-US" sz="1000" dirty="0"/>
          </a:p>
          <a:p>
            <a:pPr marL="0" indent="0">
              <a:lnSpc>
                <a:spcPct val="110000"/>
              </a:lnSpc>
              <a:buNone/>
            </a:pPr>
            <a:r>
              <a:rPr lang="en-US" sz="1000" b="1" dirty="0">
                <a:solidFill>
                  <a:srgbClr val="333333"/>
                </a:solidFill>
                <a:latin typeface="Arial" pitchFamily="34" charset="0"/>
                <a:ea typeface="Arial" pitchFamily="34" charset="-122"/>
                <a:cs typeface="Arial" pitchFamily="34" charset="-120"/>
              </a:rPr>
              <a:t>Effect: </a:t>
            </a:r>
            <a:r>
              <a:rPr lang="en-US" sz="1000" dirty="0">
                <a:solidFill>
                  <a:srgbClr val="333333"/>
                </a:solidFill>
                <a:latin typeface="Arial" pitchFamily="34" charset="0"/>
                <a:ea typeface="Arial" pitchFamily="34" charset="-122"/>
                <a:cs typeface="Arial" pitchFamily="34" charset="-120"/>
              </a:rPr>
              <a:t>Changes what the agent CAN DO
</a:t>
            </a:r>
            <a:endParaRPr lang="en-US" sz="1000" dirty="0"/>
          </a:p>
          <a:p>
            <a:pPr marL="0" indent="0">
              <a:lnSpc>
                <a:spcPct val="110000"/>
              </a:lnSpc>
              <a:buNone/>
            </a:pPr>
            <a:r>
              <a:rPr lang="en-US" sz="1000" b="1" dirty="0">
                <a:solidFill>
                  <a:srgbClr val="333333"/>
                </a:solidFill>
                <a:latin typeface="Arial" pitchFamily="34" charset="0"/>
                <a:ea typeface="Arial" pitchFamily="34" charset="-122"/>
                <a:cs typeface="Arial" pitchFamily="34" charset="-120"/>
              </a:rPr>
              <a:t>Example: </a:t>
            </a:r>
            <a:r>
              <a:rPr lang="en-US" sz="1000" dirty="0">
                <a:solidFill>
                  <a:srgbClr val="333333"/>
                </a:solidFill>
                <a:latin typeface="Arial" pitchFamily="34" charset="0"/>
                <a:ea typeface="Arial" pitchFamily="34" charset="-122"/>
                <a:cs typeface="Arial" pitchFamily="34" charset="-120"/>
              </a:rPr>
              <a:t>execute_code() runs Python in Docker sandbox.</a:t>
            </a:r>
            <a:endParaRPr lang="en-US" sz="1000" dirty="0"/>
          </a:p>
        </p:txBody>
      </p:sp>
      <p:sp>
        <p:nvSpPr>
          <p:cNvPr id="11" name="Shape 9"/>
          <p:cNvSpPr/>
          <p:nvPr/>
        </p:nvSpPr>
        <p:spPr>
          <a:xfrm>
            <a:off x="502920" y="3794760"/>
            <a:ext cx="8138160" cy="411480"/>
          </a:xfrm>
          <a:prstGeom prst="rect">
            <a:avLst/>
          </a:prstGeom>
          <a:solidFill>
            <a:srgbClr val="E0F7FA"/>
          </a:solidFill>
          <a:ln w="12700">
            <a:solidFill>
              <a:srgbClr val="0097A7"/>
            </a:solidFill>
            <a:prstDash val="solid"/>
          </a:ln>
        </p:spPr>
        <p:txBody>
          <a:bodyPr/>
          <a:lstStyle/>
          <a:p>
            <a:endParaRPr lang="en-US"/>
          </a:p>
        </p:txBody>
      </p:sp>
      <p:sp>
        <p:nvSpPr>
          <p:cNvPr id="12" name="Text 10"/>
          <p:cNvSpPr/>
          <p:nvPr/>
        </p:nvSpPr>
        <p:spPr>
          <a:xfrm>
            <a:off x="594360" y="3794760"/>
            <a:ext cx="7955280" cy="41148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Skills are wisdom; tools are hands. A skill says 'always inspect columns first' — the inspect_columns tool is what reads the metadata.</a:t>
            </a:r>
            <a:endParaRPr lang="en-US" sz="10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Skills System Architecture — SkillPackFile + SkillResolver + SkillRuntime</a:t>
            </a:r>
            <a:endParaRPr lang="en-US" sz="2600" dirty="0"/>
          </a:p>
        </p:txBody>
      </p:sp>
      <p:sp>
        <p:nvSpPr>
          <p:cNvPr id="3" name="Shape 1"/>
          <p:cNvSpPr/>
          <p:nvPr/>
        </p:nvSpPr>
        <p:spPr>
          <a:xfrm>
            <a:off x="502920" y="914400"/>
            <a:ext cx="1554480" cy="59436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4" name="Text 2"/>
          <p:cNvSpPr/>
          <p:nvPr/>
        </p:nvSpPr>
        <p:spPr>
          <a:xfrm>
            <a:off x="502920" y="914400"/>
            <a:ext cx="1554480" cy="59436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SkillPackFile</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(skills/pack_loader.py)</a:t>
            </a:r>
            <a:endParaRPr lang="en-US" sz="1000" dirty="0"/>
          </a:p>
        </p:txBody>
      </p:sp>
      <p:sp>
        <p:nvSpPr>
          <p:cNvPr id="5" name="Shape 3"/>
          <p:cNvSpPr/>
          <p:nvPr/>
        </p:nvSpPr>
        <p:spPr>
          <a:xfrm>
            <a:off x="2103120" y="1069848"/>
            <a:ext cx="91440" cy="274320"/>
          </a:xfrm>
          <a:prstGeom prst="rightArrow">
            <a:avLst/>
          </a:prstGeom>
          <a:solidFill>
            <a:srgbClr val="1B2A4A"/>
          </a:solidFill>
          <a:ln/>
        </p:spPr>
        <p:txBody>
          <a:bodyPr/>
          <a:lstStyle/>
          <a:p>
            <a:endParaRPr lang="en-US"/>
          </a:p>
        </p:txBody>
      </p:sp>
      <p:sp>
        <p:nvSpPr>
          <p:cNvPr id="6" name="Shape 4"/>
          <p:cNvSpPr/>
          <p:nvPr/>
        </p:nvSpPr>
        <p:spPr>
          <a:xfrm>
            <a:off x="2240280" y="914400"/>
            <a:ext cx="1554480" cy="59436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7" name="Text 5"/>
          <p:cNvSpPr/>
          <p:nvPr/>
        </p:nvSpPr>
        <p:spPr>
          <a:xfrm>
            <a:off x="2240280" y="914400"/>
            <a:ext cx="1554480" cy="59436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SkillStore</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(PostgreSQL)</a:t>
            </a:r>
            <a:endParaRPr lang="en-US" sz="1000" dirty="0"/>
          </a:p>
        </p:txBody>
      </p:sp>
      <p:sp>
        <p:nvSpPr>
          <p:cNvPr id="8" name="Shape 6"/>
          <p:cNvSpPr/>
          <p:nvPr/>
        </p:nvSpPr>
        <p:spPr>
          <a:xfrm>
            <a:off x="3840480" y="1069848"/>
            <a:ext cx="91440" cy="274320"/>
          </a:xfrm>
          <a:prstGeom prst="rightArrow">
            <a:avLst/>
          </a:prstGeom>
          <a:solidFill>
            <a:srgbClr val="1B2A4A"/>
          </a:solidFill>
          <a:ln/>
        </p:spPr>
        <p:txBody>
          <a:bodyPr/>
          <a:lstStyle/>
          <a:p>
            <a:endParaRPr lang="en-US"/>
          </a:p>
        </p:txBody>
      </p:sp>
      <p:sp>
        <p:nvSpPr>
          <p:cNvPr id="9" name="Shape 7"/>
          <p:cNvSpPr/>
          <p:nvPr/>
        </p:nvSpPr>
        <p:spPr>
          <a:xfrm>
            <a:off x="3977640" y="914400"/>
            <a:ext cx="1554480" cy="59436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10" name="Text 8"/>
          <p:cNvSpPr/>
          <p:nvPr/>
        </p:nvSpPr>
        <p:spPr>
          <a:xfrm>
            <a:off x="3977640" y="914400"/>
            <a:ext cx="1554480" cy="59436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SkillResolver</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(skills/resolver.py)</a:t>
            </a:r>
            <a:endParaRPr lang="en-US" sz="1000" dirty="0"/>
          </a:p>
        </p:txBody>
      </p:sp>
      <p:sp>
        <p:nvSpPr>
          <p:cNvPr id="11" name="Shape 9"/>
          <p:cNvSpPr/>
          <p:nvPr/>
        </p:nvSpPr>
        <p:spPr>
          <a:xfrm>
            <a:off x="5577840" y="1069848"/>
            <a:ext cx="91440" cy="274320"/>
          </a:xfrm>
          <a:prstGeom prst="rightArrow">
            <a:avLst/>
          </a:prstGeom>
          <a:solidFill>
            <a:srgbClr val="1B2A4A"/>
          </a:solidFill>
          <a:ln/>
        </p:spPr>
        <p:txBody>
          <a:bodyPr/>
          <a:lstStyle/>
          <a:p>
            <a:endParaRPr lang="en-US"/>
          </a:p>
        </p:txBody>
      </p:sp>
      <p:sp>
        <p:nvSpPr>
          <p:cNvPr id="12" name="Shape 10"/>
          <p:cNvSpPr/>
          <p:nvPr/>
        </p:nvSpPr>
        <p:spPr>
          <a:xfrm>
            <a:off x="5715000" y="914400"/>
            <a:ext cx="1554480" cy="594360"/>
          </a:xfrm>
          <a:prstGeom prst="rect">
            <a:avLst/>
          </a:prstGeom>
          <a:solidFill>
            <a:srgbClr val="2E7D32"/>
          </a:solidFill>
          <a:ln/>
          <a:effectLst>
            <a:outerShdw blurRad="50800" dist="25400" dir="8100000" algn="bl" rotWithShape="0">
              <a:srgbClr val="000000">
                <a:alpha val="12000"/>
              </a:srgbClr>
            </a:outerShdw>
          </a:effectLst>
        </p:spPr>
        <p:txBody>
          <a:bodyPr/>
          <a:lstStyle/>
          <a:p>
            <a:endParaRPr lang="en-US"/>
          </a:p>
        </p:txBody>
      </p:sp>
      <p:sp>
        <p:nvSpPr>
          <p:cNvPr id="13" name="Text 11"/>
          <p:cNvSpPr/>
          <p:nvPr/>
        </p:nvSpPr>
        <p:spPr>
          <a:xfrm>
            <a:off x="5715000" y="914400"/>
            <a:ext cx="1554480" cy="59436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SkillRuntime</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(skills/runtime.py)</a:t>
            </a:r>
            <a:endParaRPr lang="en-US" sz="1000" dirty="0"/>
          </a:p>
        </p:txBody>
      </p:sp>
      <p:sp>
        <p:nvSpPr>
          <p:cNvPr id="14" name="Shape 12"/>
          <p:cNvSpPr/>
          <p:nvPr/>
        </p:nvSpPr>
        <p:spPr>
          <a:xfrm>
            <a:off x="7315200" y="1069848"/>
            <a:ext cx="91440" cy="274320"/>
          </a:xfrm>
          <a:prstGeom prst="rightArrow">
            <a:avLst/>
          </a:prstGeom>
          <a:solidFill>
            <a:srgbClr val="1B2A4A"/>
          </a:solidFill>
          <a:ln/>
        </p:spPr>
        <p:txBody>
          <a:bodyPr/>
          <a:lstStyle/>
          <a:p>
            <a:endParaRPr lang="en-US"/>
          </a:p>
        </p:txBody>
      </p:sp>
      <p:sp>
        <p:nvSpPr>
          <p:cNvPr id="15" name="Shape 13"/>
          <p:cNvSpPr/>
          <p:nvPr/>
        </p:nvSpPr>
        <p:spPr>
          <a:xfrm>
            <a:off x="7452360" y="914400"/>
            <a:ext cx="1554480" cy="594360"/>
          </a:xfrm>
          <a:prstGeom prst="rect">
            <a:avLst/>
          </a:prstGeom>
          <a:solidFill>
            <a:srgbClr val="5C6BC0"/>
          </a:solidFill>
          <a:ln/>
          <a:effectLst>
            <a:outerShdw blurRad="50800" dist="25400" dir="8100000" algn="bl" rotWithShape="0">
              <a:srgbClr val="000000">
                <a:alpha val="12000"/>
              </a:srgbClr>
            </a:outerShdw>
          </a:effectLst>
        </p:spPr>
        <p:txBody>
          <a:bodyPr/>
          <a:lstStyle/>
          <a:p>
            <a:endParaRPr lang="en-US"/>
          </a:p>
        </p:txBody>
      </p:sp>
      <p:sp>
        <p:nvSpPr>
          <p:cNvPr id="16" name="Text 14"/>
          <p:cNvSpPr/>
          <p:nvPr/>
        </p:nvSpPr>
        <p:spPr>
          <a:xfrm>
            <a:off x="7452360" y="914400"/>
            <a:ext cx="1554480" cy="59436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System</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Prompt</a:t>
            </a:r>
            <a:endParaRPr lang="en-US" sz="1000" dirty="0"/>
          </a:p>
        </p:txBody>
      </p:sp>
      <p:sp>
        <p:nvSpPr>
          <p:cNvPr id="17" name="Shape 15"/>
          <p:cNvSpPr/>
          <p:nvPr/>
        </p:nvSpPr>
        <p:spPr>
          <a:xfrm>
            <a:off x="502920" y="1691640"/>
            <a:ext cx="3840480" cy="22860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8" name="Shape 16"/>
          <p:cNvSpPr/>
          <p:nvPr/>
        </p:nvSpPr>
        <p:spPr>
          <a:xfrm>
            <a:off x="502920" y="1691640"/>
            <a:ext cx="3840480" cy="320040"/>
          </a:xfrm>
          <a:prstGeom prst="rect">
            <a:avLst/>
          </a:prstGeom>
          <a:solidFill>
            <a:srgbClr val="0097A7"/>
          </a:solidFill>
          <a:ln/>
        </p:spPr>
        <p:txBody>
          <a:bodyPr/>
          <a:lstStyle/>
          <a:p>
            <a:endParaRPr lang="en-US"/>
          </a:p>
        </p:txBody>
      </p:sp>
      <p:sp>
        <p:nvSpPr>
          <p:cNvPr id="19" name="Text 17"/>
          <p:cNvSpPr/>
          <p:nvPr/>
        </p:nvSpPr>
        <p:spPr>
          <a:xfrm>
            <a:off x="612648" y="1719072"/>
            <a:ext cx="362102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SkillPackFile frontmatter fields</a:t>
            </a:r>
            <a:endParaRPr lang="en-US" sz="1200" dirty="0"/>
          </a:p>
        </p:txBody>
      </p:sp>
      <p:sp>
        <p:nvSpPr>
          <p:cNvPr id="20" name="Text 18"/>
          <p:cNvSpPr/>
          <p:nvPr/>
        </p:nvSpPr>
        <p:spPr>
          <a:xfrm>
            <a:off x="612648" y="2075688"/>
            <a:ext cx="3621024" cy="181051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skill_id, name, agent_scope (e.g. 'rag', 'general')
body_markdown — the guidance content
retrieval_profile — e.g. 'corpus_discovery'
coverage_goal — e.g. 'corpus_wide'
result_mode — e.g. 'inventory'
controller_hints — JSON dict of extra settings
tool_tags / task_tags — for filtering
visibility: 'global' | 'owner' | 'tenant'</a:t>
            </a:r>
            <a:endParaRPr lang="en-US" sz="1000" dirty="0"/>
          </a:p>
        </p:txBody>
      </p:sp>
      <p:sp>
        <p:nvSpPr>
          <p:cNvPr id="21" name="Shape 19"/>
          <p:cNvSpPr/>
          <p:nvPr/>
        </p:nvSpPr>
        <p:spPr>
          <a:xfrm>
            <a:off x="4572000" y="1691640"/>
            <a:ext cx="4114800" cy="22860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22" name="Shape 20"/>
          <p:cNvSpPr/>
          <p:nvPr/>
        </p:nvSpPr>
        <p:spPr>
          <a:xfrm>
            <a:off x="4572000" y="1691640"/>
            <a:ext cx="4114800" cy="320040"/>
          </a:xfrm>
          <a:prstGeom prst="rect">
            <a:avLst/>
          </a:prstGeom>
          <a:solidFill>
            <a:srgbClr val="1B2A4A"/>
          </a:solidFill>
          <a:ln/>
        </p:spPr>
        <p:txBody>
          <a:bodyPr/>
          <a:lstStyle/>
          <a:p>
            <a:endParaRPr lang="en-US"/>
          </a:p>
        </p:txBody>
      </p:sp>
      <p:sp>
        <p:nvSpPr>
          <p:cNvPr id="23" name="Text 21"/>
          <p:cNvSpPr/>
          <p:nvPr/>
        </p:nvSpPr>
        <p:spPr>
          <a:xfrm>
            <a:off x="4681728" y="1719072"/>
            <a:ext cx="3895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SkillResolver + SkillRuntime</a:t>
            </a:r>
            <a:endParaRPr lang="en-US" sz="1200" dirty="0"/>
          </a:p>
        </p:txBody>
      </p:sp>
      <p:sp>
        <p:nvSpPr>
          <p:cNvPr id="24" name="Text 22"/>
          <p:cNvSpPr/>
          <p:nvPr/>
        </p:nvSpPr>
        <p:spPr>
          <a:xfrm>
            <a:off x="4681728" y="2075688"/>
            <a:ext cx="3895344" cy="181051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SkillResolver.resolve(query, tenant_id, agent_scope, top_k)
→ vector search in SkillStore for relevant skills
→ Returns ResolvedSkillContext (text + SkillMatch list)
SkillMatch carries: score, retrieval_profile, controller_hints, coverage_goal, result_mode
SkillRuntime.resolve_context() merges query + skill_queries + pinned_skill_ids
Injected into system prompt as guidance text</a:t>
            </a:r>
            <a:endParaRPr lang="en-US" sz="1000" dirty="0"/>
          </a:p>
        </p:txBody>
      </p:sp>
      <p:sp>
        <p:nvSpPr>
          <p:cNvPr id="25" name="Text 23"/>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skills/pack_loader.py, skills/resolver.py, skills/runtime.py, skills/indexer.py</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Tool Execution — Inside the ReAct Loop</a:t>
            </a:r>
            <a:endParaRPr lang="en-US" sz="2600" dirty="0"/>
          </a:p>
        </p:txBody>
      </p:sp>
      <p:sp>
        <p:nvSpPr>
          <p:cNvPr id="3" name="Shape 1"/>
          <p:cNvSpPr/>
          <p:nvPr/>
        </p:nvSpPr>
        <p:spPr>
          <a:xfrm>
            <a:off x="2377440" y="731520"/>
            <a:ext cx="1645920" cy="73152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4" name="Text 2"/>
          <p:cNvSpPr/>
          <p:nvPr/>
        </p:nvSpPr>
        <p:spPr>
          <a:xfrm>
            <a:off x="2377440" y="731520"/>
            <a:ext cx="1645920" cy="73152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1. OBSERVE</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LLM receives prompt +</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history + tool results</a:t>
            </a:r>
            <a:endParaRPr lang="en-US" sz="1000" dirty="0"/>
          </a:p>
        </p:txBody>
      </p:sp>
      <p:sp>
        <p:nvSpPr>
          <p:cNvPr id="5" name="Shape 3"/>
          <p:cNvSpPr/>
          <p:nvPr/>
        </p:nvSpPr>
        <p:spPr>
          <a:xfrm>
            <a:off x="3566160" y="1920240"/>
            <a:ext cx="1645920" cy="73152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6" name="Text 4"/>
          <p:cNvSpPr/>
          <p:nvPr/>
        </p:nvSpPr>
        <p:spPr>
          <a:xfrm>
            <a:off x="3566160" y="1920240"/>
            <a:ext cx="1645920" cy="73152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2. THINK</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LLM decides:</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text or tool call?</a:t>
            </a:r>
            <a:endParaRPr lang="en-US" sz="1000" dirty="0"/>
          </a:p>
        </p:txBody>
      </p:sp>
      <p:sp>
        <p:nvSpPr>
          <p:cNvPr id="7" name="Shape 5"/>
          <p:cNvSpPr/>
          <p:nvPr/>
        </p:nvSpPr>
        <p:spPr>
          <a:xfrm>
            <a:off x="2377440" y="3108960"/>
            <a:ext cx="1645920" cy="73152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8" name="Text 6"/>
          <p:cNvSpPr/>
          <p:nvPr/>
        </p:nvSpPr>
        <p:spPr>
          <a:xfrm>
            <a:off x="2377440" y="3108960"/>
            <a:ext cx="1645920" cy="73152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3. ACT</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Executor validates</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allowlist + runs fn</a:t>
            </a:r>
            <a:endParaRPr lang="en-US" sz="1000" dirty="0"/>
          </a:p>
        </p:txBody>
      </p:sp>
      <p:sp>
        <p:nvSpPr>
          <p:cNvPr id="9" name="Shape 7"/>
          <p:cNvSpPr/>
          <p:nvPr/>
        </p:nvSpPr>
        <p:spPr>
          <a:xfrm>
            <a:off x="1188720" y="1920240"/>
            <a:ext cx="1645920" cy="731520"/>
          </a:xfrm>
          <a:prstGeom prst="rect">
            <a:avLst/>
          </a:prstGeom>
          <a:solidFill>
            <a:srgbClr val="F9A825"/>
          </a:solidFill>
          <a:ln/>
          <a:effectLst>
            <a:outerShdw blurRad="50800" dist="25400" dir="8100000" algn="bl" rotWithShape="0">
              <a:srgbClr val="000000">
                <a:alpha val="12000"/>
              </a:srgbClr>
            </a:outerShdw>
          </a:effectLst>
        </p:spPr>
        <p:txBody>
          <a:bodyPr/>
          <a:lstStyle/>
          <a:p>
            <a:endParaRPr lang="en-US"/>
          </a:p>
        </p:txBody>
      </p:sp>
      <p:sp>
        <p:nvSpPr>
          <p:cNvPr id="10" name="Text 8"/>
          <p:cNvSpPr/>
          <p:nvPr/>
        </p:nvSpPr>
        <p:spPr>
          <a:xfrm>
            <a:off x="1188720" y="1920240"/>
            <a:ext cx="1645920" cy="73152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4. LOOP</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Tool output appended</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back to step 1</a:t>
            </a:r>
            <a:endParaRPr lang="en-US" sz="1000" dirty="0"/>
          </a:p>
        </p:txBody>
      </p:sp>
      <p:sp>
        <p:nvSpPr>
          <p:cNvPr id="11" name="Shape 9"/>
          <p:cNvSpPr/>
          <p:nvPr/>
        </p:nvSpPr>
        <p:spPr>
          <a:xfrm>
            <a:off x="6217920" y="1188720"/>
            <a:ext cx="2286000" cy="640080"/>
          </a:xfrm>
          <a:prstGeom prst="rect">
            <a:avLst/>
          </a:prstGeom>
          <a:solidFill>
            <a:srgbClr val="2E7D32"/>
          </a:solidFill>
          <a:ln/>
          <a:effectLst>
            <a:outerShdw blurRad="50800" dist="25400" dir="8100000" algn="bl" rotWithShape="0">
              <a:srgbClr val="000000">
                <a:alpha val="12000"/>
              </a:srgbClr>
            </a:outerShdw>
          </a:effectLst>
        </p:spPr>
        <p:txBody>
          <a:bodyPr/>
          <a:lstStyle/>
          <a:p>
            <a:endParaRPr lang="en-US"/>
          </a:p>
        </p:txBody>
      </p:sp>
      <p:sp>
        <p:nvSpPr>
          <p:cNvPr id="12" name="Text 10"/>
          <p:cNvSpPr/>
          <p:nvPr/>
        </p:nvSpPr>
        <p:spPr>
          <a:xfrm>
            <a:off x="6217920" y="1188720"/>
            <a:ext cx="2286000" cy="6400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5. TERMINATE</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Final text response OR</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max_steps reached</a:t>
            </a:r>
            <a:endParaRPr lang="en-US" sz="1000" dirty="0"/>
          </a:p>
        </p:txBody>
      </p:sp>
      <p:sp>
        <p:nvSpPr>
          <p:cNvPr id="13" name="Text 11"/>
          <p:cNvSpPr/>
          <p:nvPr/>
        </p:nvSpPr>
        <p:spPr>
          <a:xfrm>
            <a:off x="6217920" y="2011680"/>
            <a:ext cx="2468880" cy="548640"/>
          </a:xfrm>
          <a:prstGeom prst="rect">
            <a:avLst/>
          </a:prstGeom>
          <a:noFill/>
          <a:ln/>
        </p:spPr>
        <p:txBody>
          <a:bodyPr wrap="square" lIns="0" tIns="0" rIns="0" bIns="0" rtlCol="0" anchor="t"/>
          <a:lstStyle/>
          <a:p>
            <a:pPr marL="0" indent="0">
              <a:buNone/>
            </a:pPr>
            <a:r>
              <a:rPr lang="en-US" sz="950" b="1" dirty="0">
                <a:solidFill>
                  <a:srgbClr val="333333"/>
                </a:solidFill>
                <a:latin typeface="Arial" pitchFamily="34" charset="0"/>
                <a:ea typeface="Arial" pitchFamily="34" charset="-122"/>
                <a:cs typeface="Arial" pitchFamily="34" charset="-120"/>
              </a:rPr>
              <a:t>Implementation: </a:t>
            </a:r>
            <a:r>
              <a:rPr lang="en-US" sz="950" dirty="0">
                <a:solidFill>
                  <a:srgbClr val="333333"/>
                </a:solidFill>
                <a:latin typeface="Arial" pitchFamily="34" charset="0"/>
                <a:ea typeface="Arial" pitchFamily="34" charset="-122"/>
                <a:cs typeface="Arial" pitchFamily="34" charset="-120"/>
              </a:rPr>
              <a:t>Uses LangGraph create_react_agent() when provider supports tool binding. Falls back to plan-execute pattern when not.</a:t>
            </a:r>
            <a:endParaRPr lang="en-US" sz="950" dirty="0"/>
          </a:p>
        </p:txBody>
      </p:sp>
      <p:sp>
        <p:nvSpPr>
          <p:cNvPr id="14" name="Shape 12"/>
          <p:cNvSpPr/>
          <p:nvPr/>
        </p:nvSpPr>
        <p:spPr>
          <a:xfrm>
            <a:off x="502920" y="3931920"/>
            <a:ext cx="5029200" cy="320040"/>
          </a:xfrm>
          <a:prstGeom prst="rect">
            <a:avLst/>
          </a:prstGeom>
          <a:solidFill>
            <a:srgbClr val="E0F7FA"/>
          </a:solidFill>
          <a:ln w="12700">
            <a:solidFill>
              <a:srgbClr val="0097A7"/>
            </a:solidFill>
            <a:prstDash val="solid"/>
          </a:ln>
        </p:spPr>
        <p:txBody>
          <a:bodyPr/>
          <a:lstStyle/>
          <a:p>
            <a:endParaRPr lang="en-US"/>
          </a:p>
        </p:txBody>
      </p:sp>
      <p:sp>
        <p:nvSpPr>
          <p:cNvPr id="15" name="Text 13"/>
          <p:cNvSpPr/>
          <p:nvPr/>
        </p:nvSpPr>
        <p:spPr>
          <a:xfrm>
            <a:off x="594360" y="3931920"/>
            <a:ext cx="4846320" cy="32004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ReAct = Reason + Act. max_steps prevents infinite loops.</a:t>
            </a:r>
            <a:endParaRPr lang="en-US" sz="1000" dirty="0"/>
          </a:p>
        </p:txBody>
      </p:sp>
      <p:sp>
        <p:nvSpPr>
          <p:cNvPr id="16" name="Text 14"/>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general_agent.py — run_general_agent()</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02920" y="1463040"/>
            <a:ext cx="8138160" cy="73152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Individual Agent Deep-Dives</a:t>
            </a:r>
            <a:endParaRPr lang="en-US" sz="3200" dirty="0"/>
          </a:p>
        </p:txBody>
      </p:sp>
      <p:sp>
        <p:nvSpPr>
          <p:cNvPr id="3" name="Text 1"/>
          <p:cNvSpPr/>
          <p:nvPr/>
        </p:nvSpPr>
        <p:spPr>
          <a:xfrm>
            <a:off x="502920" y="2286000"/>
            <a:ext cx="8138160" cy="457200"/>
          </a:xfrm>
          <a:prstGeom prst="rect">
            <a:avLst/>
          </a:prstGeom>
          <a:noFill/>
          <a:ln/>
        </p:spPr>
        <p:txBody>
          <a:bodyPr wrap="square" lIns="0" tIns="0" rIns="0" bIns="0" rtlCol="0" anchor="ctr"/>
          <a:lstStyle/>
          <a:p>
            <a:pPr marL="0" indent="0">
              <a:buNone/>
            </a:pPr>
            <a:r>
              <a:rPr lang="en-US" sz="1600" dirty="0">
                <a:solidFill>
                  <a:srgbClr val="0097A7"/>
                </a:solidFill>
                <a:latin typeface="Arial" pitchFamily="34" charset="0"/>
                <a:ea typeface="Arial" pitchFamily="34" charset="-122"/>
                <a:cs typeface="Arial" pitchFamily="34" charset="-120"/>
              </a:rPr>
              <a:t>Slides 31-38: Every agent examined in detail</a:t>
            </a:r>
            <a:endParaRPr lang="en-US" sz="16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Agent: basic — The Fast Path</a:t>
            </a:r>
            <a:endParaRPr lang="en-US" sz="2600" dirty="0"/>
          </a:p>
        </p:txBody>
      </p:sp>
      <p:sp>
        <p:nvSpPr>
          <p:cNvPr id="3" name="Shape 1"/>
          <p:cNvSpPr/>
          <p:nvPr/>
        </p:nvSpPr>
        <p:spPr>
          <a:xfrm>
            <a:off x="502920" y="914400"/>
            <a:ext cx="1920240" cy="320040"/>
          </a:xfrm>
          <a:prstGeom prst="rect">
            <a:avLst/>
          </a:prstGeom>
          <a:solidFill>
            <a:srgbClr val="0097A7"/>
          </a:solidFill>
          <a:ln/>
        </p:spPr>
        <p:txBody>
          <a:bodyPr/>
          <a:lstStyle/>
          <a:p>
            <a:endParaRPr lang="en-US"/>
          </a:p>
        </p:txBody>
      </p:sp>
      <p:sp>
        <p:nvSpPr>
          <p:cNvPr id="4" name="Text 2"/>
          <p:cNvSpPr/>
          <p:nvPr/>
        </p:nvSpPr>
        <p:spPr>
          <a:xfrm>
            <a:off x="576072" y="914400"/>
            <a:ext cx="1773936" cy="320040"/>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mode: basic</a:t>
            </a:r>
            <a:endParaRPr lang="en-US" sz="1000" dirty="0"/>
          </a:p>
        </p:txBody>
      </p:sp>
      <p:sp>
        <p:nvSpPr>
          <p:cNvPr id="5" name="Shape 3"/>
          <p:cNvSpPr/>
          <p:nvPr/>
        </p:nvSpPr>
        <p:spPr>
          <a:xfrm>
            <a:off x="2514600" y="914400"/>
            <a:ext cx="1920240" cy="320040"/>
          </a:xfrm>
          <a:prstGeom prst="rect">
            <a:avLst/>
          </a:prstGeom>
          <a:solidFill>
            <a:srgbClr val="0097A7"/>
          </a:solidFill>
          <a:ln/>
        </p:spPr>
        <p:txBody>
          <a:bodyPr/>
          <a:lstStyle/>
          <a:p>
            <a:endParaRPr lang="en-US"/>
          </a:p>
        </p:txBody>
      </p:sp>
      <p:sp>
        <p:nvSpPr>
          <p:cNvPr id="6" name="Text 4"/>
          <p:cNvSpPr/>
          <p:nvPr/>
        </p:nvSpPr>
        <p:spPr>
          <a:xfrm>
            <a:off x="2587752" y="914400"/>
            <a:ext cx="1773936" cy="320040"/>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Tools: 0</a:t>
            </a:r>
            <a:endParaRPr lang="en-US" sz="1000" dirty="0"/>
          </a:p>
        </p:txBody>
      </p:sp>
      <p:sp>
        <p:nvSpPr>
          <p:cNvPr id="7" name="Shape 5"/>
          <p:cNvSpPr/>
          <p:nvPr/>
        </p:nvSpPr>
        <p:spPr>
          <a:xfrm>
            <a:off x="4526280" y="914400"/>
            <a:ext cx="1920240" cy="320040"/>
          </a:xfrm>
          <a:prstGeom prst="rect">
            <a:avLst/>
          </a:prstGeom>
          <a:solidFill>
            <a:srgbClr val="0097A7"/>
          </a:solidFill>
          <a:ln/>
        </p:spPr>
        <p:txBody>
          <a:bodyPr/>
          <a:lstStyle/>
          <a:p>
            <a:endParaRPr lang="en-US"/>
          </a:p>
        </p:txBody>
      </p:sp>
      <p:sp>
        <p:nvSpPr>
          <p:cNvPr id="8" name="Text 6"/>
          <p:cNvSpPr/>
          <p:nvPr/>
        </p:nvSpPr>
        <p:spPr>
          <a:xfrm>
            <a:off x="4599432" y="914400"/>
            <a:ext cx="1773936" cy="320040"/>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Role: top_level</a:t>
            </a:r>
            <a:endParaRPr lang="en-US" sz="1000" dirty="0"/>
          </a:p>
        </p:txBody>
      </p:sp>
      <p:sp>
        <p:nvSpPr>
          <p:cNvPr id="9" name="Shape 7"/>
          <p:cNvSpPr/>
          <p:nvPr/>
        </p:nvSpPr>
        <p:spPr>
          <a:xfrm>
            <a:off x="6537960" y="914400"/>
            <a:ext cx="1920240" cy="320040"/>
          </a:xfrm>
          <a:prstGeom prst="rect">
            <a:avLst/>
          </a:prstGeom>
          <a:solidFill>
            <a:srgbClr val="0097A7"/>
          </a:solidFill>
          <a:ln/>
        </p:spPr>
        <p:txBody>
          <a:bodyPr/>
          <a:lstStyle/>
          <a:p>
            <a:endParaRPr lang="en-US"/>
          </a:p>
        </p:txBody>
      </p:sp>
      <p:sp>
        <p:nvSpPr>
          <p:cNvPr id="10" name="Text 8"/>
          <p:cNvSpPr/>
          <p:nvPr/>
        </p:nvSpPr>
        <p:spPr>
          <a:xfrm>
            <a:off x="6611112" y="914400"/>
            <a:ext cx="1773936" cy="320040"/>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Latency: ~200ms</a:t>
            </a:r>
            <a:endParaRPr lang="en-US" sz="1000" dirty="0"/>
          </a:p>
        </p:txBody>
      </p:sp>
      <p:sp>
        <p:nvSpPr>
          <p:cNvPr id="11" name="Text 9"/>
          <p:cNvSpPr/>
          <p:nvPr/>
        </p:nvSpPr>
        <p:spPr>
          <a:xfrm>
            <a:off x="502920" y="1417320"/>
            <a:ext cx="8138160" cy="2286000"/>
          </a:xfrm>
          <a:prstGeom prst="rect">
            <a:avLst/>
          </a:prstGeom>
          <a:noFill/>
          <a:ln/>
        </p:spPr>
        <p:txBody>
          <a:bodyPr wrap="square" lIns="0" tIns="0" rIns="0" bIns="0" rtlCol="0" anchor="t"/>
          <a:lstStyle/>
          <a:p>
            <a:pPr marL="0" indent="0">
              <a:lnSpc>
                <a:spcPct val="120000"/>
              </a:lnSpc>
              <a:buNone/>
            </a:pPr>
            <a:r>
              <a:rPr lang="en-US" sz="1100" b="1" dirty="0">
                <a:solidFill>
                  <a:srgbClr val="333333"/>
                </a:solidFill>
                <a:latin typeface="Arial" pitchFamily="34" charset="0"/>
                <a:ea typeface="Arial" pitchFamily="34" charset="-122"/>
                <a:cs typeface="Arial" pitchFamily="34" charset="-120"/>
              </a:rPr>
              <a:t>What it does:
</a:t>
            </a:r>
            <a:endParaRPr lang="en-US" sz="1100" dirty="0"/>
          </a:p>
          <a:p>
            <a:pPr marL="0" indent="0">
              <a:lnSpc>
                <a:spcPct val="120000"/>
              </a:lnSpc>
              <a:buNone/>
            </a:pPr>
            <a:r>
              <a:rPr lang="en-US" sz="1100" dirty="0">
                <a:solidFill>
                  <a:srgbClr val="333333"/>
                </a:solidFill>
                <a:latin typeface="Arial" pitchFamily="34" charset="0"/>
                <a:ea typeface="Arial" pitchFamily="34" charset="-122"/>
                <a:cs typeface="Arial" pitchFamily="34" charset="-120"/>
              </a:rPr>
              <a:t>Single LLM call with a static system prompt. No tool loop, no RAG, no memory injection.
</a:t>
            </a:r>
            <a:endParaRPr lang="en-US" sz="1100" dirty="0"/>
          </a:p>
          <a:p>
            <a:pPr marL="0" indent="0">
              <a:lnSpc>
                <a:spcPct val="120000"/>
              </a:lnSpc>
              <a:buNone/>
            </a:pPr>
            <a:r>
              <a:rPr lang="en-US" sz="1100" b="1" dirty="0">
                <a:solidFill>
                  <a:srgbClr val="333333"/>
                </a:solidFill>
                <a:latin typeface="Arial" pitchFamily="34" charset="0"/>
                <a:ea typeface="Arial" pitchFamily="34" charset="-122"/>
                <a:cs typeface="Arial" pitchFamily="34" charset="-120"/>
              </a:rPr>
              <a:t>When it runs:
</a:t>
            </a:r>
            <a:endParaRPr lang="en-US" sz="1100" dirty="0"/>
          </a:p>
          <a:p>
            <a:pPr marL="0" indent="0">
              <a:lnSpc>
                <a:spcPct val="120000"/>
              </a:lnSpc>
              <a:buNone/>
            </a:pPr>
            <a:r>
              <a:rPr lang="en-US" sz="1100" dirty="0">
                <a:solidFill>
                  <a:srgbClr val="333333"/>
                </a:solidFill>
                <a:latin typeface="Arial" pitchFamily="34" charset="0"/>
                <a:ea typeface="Arial" pitchFamily="34" charset="-122"/>
                <a:cs typeface="Arial" pitchFamily="34" charset="-120"/>
              </a:rPr>
              <a:t>Router returns route='BASIC' — general knowledge, small talk, simple questions.
</a:t>
            </a:r>
            <a:endParaRPr lang="en-US" sz="1100" dirty="0"/>
          </a:p>
          <a:p>
            <a:pPr marL="0" indent="0">
              <a:lnSpc>
                <a:spcPct val="120000"/>
              </a:lnSpc>
              <a:buNone/>
            </a:pPr>
            <a:r>
              <a:rPr lang="en-US" sz="1100" b="1" dirty="0">
                <a:solidFill>
                  <a:srgbClr val="333333"/>
                </a:solidFill>
                <a:latin typeface="Arial" pitchFamily="34" charset="0"/>
                <a:ea typeface="Arial" pitchFamily="34" charset="-122"/>
                <a:cs typeface="Arial" pitchFamily="34" charset="-120"/>
              </a:rPr>
              <a:t>System prompt:
</a:t>
            </a:r>
            <a:endParaRPr lang="en-US" sz="1100" dirty="0"/>
          </a:p>
          <a:p>
            <a:pPr marL="0" indent="0">
              <a:lnSpc>
                <a:spcPct val="120000"/>
              </a:lnSpc>
              <a:buNone/>
            </a:pPr>
            <a:r>
              <a:rPr lang="en-US" sz="1100" dirty="0">
                <a:solidFill>
                  <a:srgbClr val="333333"/>
                </a:solidFill>
                <a:latin typeface="Arial" pitchFamily="34" charset="0"/>
                <a:ea typeface="Arial" pitchFamily="34" charset="-122"/>
                <a:cs typeface="Arial" pitchFamily="34" charset="-120"/>
              </a:rPr>
              <a:t>load_basic_chat_skills() loads skill files at startup and caches them.
</a:t>
            </a:r>
            <a:endParaRPr lang="en-US" sz="1100" dirty="0"/>
          </a:p>
          <a:p>
            <a:pPr marL="0" indent="0">
              <a:lnSpc>
                <a:spcPct val="120000"/>
              </a:lnSpc>
              <a:buNone/>
            </a:pPr>
            <a:r>
              <a:rPr lang="en-US" sz="1100" dirty="0">
                <a:solidFill>
                  <a:srgbClr val="333333"/>
                </a:solidFill>
                <a:latin typeface="Arial" pitchFamily="34" charset="0"/>
                <a:ea typeface="Arial" pitchFamily="34" charset="-122"/>
                <a:cs typeface="Arial" pitchFamily="34" charset="-120"/>
              </a:rPr>
              <a:t>This is the default. If the system can't identify any reason to use tools or specialized processing, it falls back here.</a:t>
            </a:r>
            <a:endParaRPr lang="en-US" sz="1100" dirty="0"/>
          </a:p>
        </p:txBody>
      </p:sp>
      <p:sp>
        <p:nvSpPr>
          <p:cNvPr id="12" name="Text 10"/>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data/agents/basic.md, app/service.py</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Agent: general — The Swiss Army Knife</a:t>
            </a:r>
            <a:endParaRPr lang="en-US" sz="2600" dirty="0"/>
          </a:p>
        </p:txBody>
      </p:sp>
      <p:sp>
        <p:nvSpPr>
          <p:cNvPr id="3" name="Shape 1"/>
          <p:cNvSpPr/>
          <p:nvPr/>
        </p:nvSpPr>
        <p:spPr>
          <a:xfrm>
            <a:off x="502920" y="914400"/>
            <a:ext cx="1920240" cy="320040"/>
          </a:xfrm>
          <a:prstGeom prst="rect">
            <a:avLst/>
          </a:prstGeom>
          <a:solidFill>
            <a:srgbClr val="1B2A4A"/>
          </a:solidFill>
          <a:ln/>
        </p:spPr>
        <p:txBody>
          <a:bodyPr/>
          <a:lstStyle/>
          <a:p>
            <a:endParaRPr lang="en-US"/>
          </a:p>
        </p:txBody>
      </p:sp>
      <p:sp>
        <p:nvSpPr>
          <p:cNvPr id="4" name="Text 2"/>
          <p:cNvSpPr/>
          <p:nvPr/>
        </p:nvSpPr>
        <p:spPr>
          <a:xfrm>
            <a:off x="576072" y="914400"/>
            <a:ext cx="1773936" cy="320040"/>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mode: react</a:t>
            </a:r>
            <a:endParaRPr lang="en-US" sz="1000" dirty="0"/>
          </a:p>
        </p:txBody>
      </p:sp>
      <p:sp>
        <p:nvSpPr>
          <p:cNvPr id="5" name="Shape 3"/>
          <p:cNvSpPr/>
          <p:nvPr/>
        </p:nvSpPr>
        <p:spPr>
          <a:xfrm>
            <a:off x="2514600" y="914400"/>
            <a:ext cx="1920240" cy="320040"/>
          </a:xfrm>
          <a:prstGeom prst="rect">
            <a:avLst/>
          </a:prstGeom>
          <a:solidFill>
            <a:srgbClr val="1B2A4A"/>
          </a:solidFill>
          <a:ln/>
        </p:spPr>
        <p:txBody>
          <a:bodyPr/>
          <a:lstStyle/>
          <a:p>
            <a:endParaRPr lang="en-US"/>
          </a:p>
        </p:txBody>
      </p:sp>
      <p:sp>
        <p:nvSpPr>
          <p:cNvPr id="6" name="Text 4"/>
          <p:cNvSpPr/>
          <p:nvPr/>
        </p:nvSpPr>
        <p:spPr>
          <a:xfrm>
            <a:off x="2587752" y="914400"/>
            <a:ext cx="1773936" cy="320040"/>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Tools: 11</a:t>
            </a:r>
            <a:endParaRPr lang="en-US" sz="1000" dirty="0"/>
          </a:p>
        </p:txBody>
      </p:sp>
      <p:sp>
        <p:nvSpPr>
          <p:cNvPr id="7" name="Shape 5"/>
          <p:cNvSpPr/>
          <p:nvPr/>
        </p:nvSpPr>
        <p:spPr>
          <a:xfrm>
            <a:off x="4526280" y="914400"/>
            <a:ext cx="1920240" cy="320040"/>
          </a:xfrm>
          <a:prstGeom prst="rect">
            <a:avLst/>
          </a:prstGeom>
          <a:solidFill>
            <a:srgbClr val="1B2A4A"/>
          </a:solidFill>
          <a:ln/>
        </p:spPr>
        <p:txBody>
          <a:bodyPr/>
          <a:lstStyle/>
          <a:p>
            <a:endParaRPr lang="en-US"/>
          </a:p>
        </p:txBody>
      </p:sp>
      <p:sp>
        <p:nvSpPr>
          <p:cNvPr id="8" name="Text 6"/>
          <p:cNvSpPr/>
          <p:nvPr/>
        </p:nvSpPr>
        <p:spPr>
          <a:xfrm>
            <a:off x="4599432" y="914400"/>
            <a:ext cx="1773936" cy="320040"/>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Max steps: 10</a:t>
            </a:r>
            <a:endParaRPr lang="en-US" sz="1000" dirty="0"/>
          </a:p>
        </p:txBody>
      </p:sp>
      <p:sp>
        <p:nvSpPr>
          <p:cNvPr id="9" name="Shape 7"/>
          <p:cNvSpPr/>
          <p:nvPr/>
        </p:nvSpPr>
        <p:spPr>
          <a:xfrm>
            <a:off x="6537960" y="914400"/>
            <a:ext cx="1920240" cy="320040"/>
          </a:xfrm>
          <a:prstGeom prst="rect">
            <a:avLst/>
          </a:prstGeom>
          <a:solidFill>
            <a:srgbClr val="1B2A4A"/>
          </a:solidFill>
          <a:ln/>
        </p:spPr>
        <p:txBody>
          <a:bodyPr/>
          <a:lstStyle/>
          <a:p>
            <a:endParaRPr lang="en-US"/>
          </a:p>
        </p:txBody>
      </p:sp>
      <p:sp>
        <p:nvSpPr>
          <p:cNvPr id="10" name="Text 8"/>
          <p:cNvSpPr/>
          <p:nvPr/>
        </p:nvSpPr>
        <p:spPr>
          <a:xfrm>
            <a:off x="6611112" y="914400"/>
            <a:ext cx="1773936" cy="320040"/>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Role: top_level</a:t>
            </a:r>
            <a:endParaRPr lang="en-US" sz="1000" dirty="0"/>
          </a:p>
        </p:txBody>
      </p:sp>
      <p:sp>
        <p:nvSpPr>
          <p:cNvPr id="11" name="Text 9"/>
          <p:cNvSpPr/>
          <p:nvPr/>
        </p:nvSpPr>
        <p:spPr>
          <a:xfrm>
            <a:off x="502920" y="1417320"/>
            <a:ext cx="8138160" cy="2560320"/>
          </a:xfrm>
          <a:prstGeom prst="rect">
            <a:avLst/>
          </a:prstGeom>
          <a:noFill/>
          <a:ln/>
        </p:spPr>
        <p:txBody>
          <a:bodyPr wrap="square" lIns="0" tIns="0" rIns="0" bIns="0" rtlCol="0" anchor="t"/>
          <a:lstStyle/>
          <a:p>
            <a:pPr marL="0" indent="0">
              <a:lnSpc>
                <a:spcPct val="115000"/>
              </a:lnSpc>
              <a:buNone/>
            </a:pPr>
            <a:r>
              <a:rPr lang="en-US" sz="1050" b="1" dirty="0">
                <a:solidFill>
                  <a:srgbClr val="333333"/>
                </a:solidFill>
                <a:latin typeface="Arial" pitchFamily="34" charset="0"/>
                <a:ea typeface="Arial" pitchFamily="34" charset="-122"/>
                <a:cs typeface="Arial" pitchFamily="34" charset="-120"/>
              </a:rPr>
              <a:t>Tools: </a:t>
            </a:r>
            <a:r>
              <a:rPr lang="en-US" sz="900" dirty="0">
                <a:solidFill>
                  <a:srgbClr val="333333"/>
                </a:solidFill>
                <a:latin typeface="Courier New" pitchFamily="34" charset="0"/>
                <a:ea typeface="Courier New" pitchFamily="34" charset="-122"/>
                <a:cs typeface="Courier New" pitchFamily="34" charset="-120"/>
              </a:rPr>
              <a:t>calculator, list_indexed_docs, search_skills, memory_save/load/list, rag_agent_tool, spawn_worker, message_worker, list_jobs
</a:t>
            </a:r>
            <a:endParaRPr lang="en-US" sz="1050" dirty="0"/>
          </a:p>
          <a:p>
            <a:pPr marL="0" indent="0">
              <a:lnSpc>
                <a:spcPct val="115000"/>
              </a:lnSpc>
              <a:buNone/>
            </a:pPr>
            <a:r>
              <a:rPr lang="en-US" sz="1050" b="1" dirty="0">
                <a:solidFill>
                  <a:srgbClr val="333333"/>
                </a:solidFill>
                <a:latin typeface="Arial" pitchFamily="34" charset="0"/>
                <a:ea typeface="Arial" pitchFamily="34" charset="-122"/>
                <a:cs typeface="Arial" pitchFamily="34" charset="-120"/>
              </a:rPr>
              <a:t>Key behavior: </a:t>
            </a:r>
            <a:r>
              <a:rPr lang="en-US" sz="1050" dirty="0">
                <a:solidFill>
                  <a:srgbClr val="333333"/>
                </a:solidFill>
                <a:latin typeface="Arial" pitchFamily="34" charset="0"/>
                <a:ea typeface="Arial" pitchFamily="34" charset="-122"/>
                <a:cs typeface="Arial" pitchFamily="34" charset="-120"/>
              </a:rPr>
              <a:t>Can delegate to coordinator, call RAG tool, save/load memories, do computation.
</a:t>
            </a:r>
            <a:endParaRPr lang="en-US" sz="1050" dirty="0"/>
          </a:p>
          <a:p>
            <a:pPr marL="0" indent="0">
              <a:lnSpc>
                <a:spcPct val="115000"/>
              </a:lnSpc>
              <a:buNone/>
            </a:pPr>
            <a:r>
              <a:rPr lang="en-US" sz="1050" b="1" dirty="0">
                <a:solidFill>
                  <a:srgbClr val="333333"/>
                </a:solidFill>
                <a:latin typeface="Arial" pitchFamily="34" charset="0"/>
                <a:ea typeface="Arial" pitchFamily="34" charset="-122"/>
                <a:cs typeface="Arial" pitchFamily="34" charset="-120"/>
              </a:rPr>
              <a:t>Delegation rule: </a:t>
            </a:r>
            <a:r>
              <a:rPr lang="en-US" sz="1050" dirty="0">
                <a:solidFill>
                  <a:srgbClr val="333333"/>
                </a:solidFill>
                <a:latin typeface="Arial" pitchFamily="34" charset="0"/>
                <a:ea typeface="Arial" pitchFamily="34" charset="-122"/>
                <a:cs typeface="Arial" pitchFamily="34" charset="-120"/>
              </a:rPr>
              <a:t>'If the task involves comparing documents, multi-step research, or parallel work -&gt; delegate to coordinator via spawn_worker.'
</a:t>
            </a:r>
            <a:endParaRPr lang="en-US" sz="1050" dirty="0"/>
          </a:p>
          <a:p>
            <a:pPr marL="0" indent="0">
              <a:lnSpc>
                <a:spcPct val="115000"/>
              </a:lnSpc>
              <a:buNone/>
            </a:pPr>
            <a:r>
              <a:rPr lang="en-US" sz="1050" b="1" dirty="0">
                <a:solidFill>
                  <a:srgbClr val="333333"/>
                </a:solidFill>
                <a:latin typeface="Arial" pitchFamily="34" charset="0"/>
                <a:ea typeface="Arial" pitchFamily="34" charset="-122"/>
                <a:cs typeface="Arial" pitchFamily="34" charset="-120"/>
              </a:rPr>
              <a:t>Implementation: </a:t>
            </a:r>
            <a:r>
              <a:rPr lang="en-US" sz="1050" dirty="0">
                <a:solidFill>
                  <a:srgbClr val="333333"/>
                </a:solidFill>
                <a:latin typeface="Arial" pitchFamily="34" charset="0"/>
                <a:ea typeface="Arial" pitchFamily="34" charset="-122"/>
                <a:cs typeface="Arial" pitchFamily="34" charset="-120"/>
              </a:rPr>
              <a:t>run_general_agent() in general_agent.py (~605 lines). Handles truncated outputs, RAG tool fallback, data_analyst guided path.</a:t>
            </a:r>
            <a:endParaRPr lang="en-US" sz="1050" dirty="0"/>
          </a:p>
        </p:txBody>
      </p:sp>
      <p:sp>
        <p:nvSpPr>
          <p:cNvPr id="12" name="Text 10"/>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data/agents/general.md, general_agent.py</a:t>
            </a:r>
            <a:endParaRPr lang="en-US" sz="9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Agent: coordinator — The Project Manager</a:t>
            </a:r>
            <a:endParaRPr lang="en-US" sz="2600" dirty="0"/>
          </a:p>
        </p:txBody>
      </p:sp>
      <p:sp>
        <p:nvSpPr>
          <p:cNvPr id="3" name="Shape 1"/>
          <p:cNvSpPr/>
          <p:nvPr/>
        </p:nvSpPr>
        <p:spPr>
          <a:xfrm>
            <a:off x="502920" y="914400"/>
            <a:ext cx="1920240" cy="320040"/>
          </a:xfrm>
          <a:prstGeom prst="rect">
            <a:avLst/>
          </a:prstGeom>
          <a:solidFill>
            <a:srgbClr val="1B2A4A"/>
          </a:solidFill>
          <a:ln/>
        </p:spPr>
        <p:txBody>
          <a:bodyPr/>
          <a:lstStyle/>
          <a:p>
            <a:endParaRPr lang="en-US"/>
          </a:p>
        </p:txBody>
      </p:sp>
      <p:sp>
        <p:nvSpPr>
          <p:cNvPr id="4" name="Text 2"/>
          <p:cNvSpPr/>
          <p:nvPr/>
        </p:nvSpPr>
        <p:spPr>
          <a:xfrm>
            <a:off x="576072" y="914400"/>
            <a:ext cx="1773936" cy="320040"/>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mode: coordinator</a:t>
            </a:r>
            <a:endParaRPr lang="en-US" sz="950" dirty="0"/>
          </a:p>
        </p:txBody>
      </p:sp>
      <p:sp>
        <p:nvSpPr>
          <p:cNvPr id="5" name="Shape 3"/>
          <p:cNvSpPr/>
          <p:nvPr/>
        </p:nvSpPr>
        <p:spPr>
          <a:xfrm>
            <a:off x="2514600" y="914400"/>
            <a:ext cx="1920240" cy="320040"/>
          </a:xfrm>
          <a:prstGeom prst="rect">
            <a:avLst/>
          </a:prstGeom>
          <a:solidFill>
            <a:srgbClr val="1B2A4A"/>
          </a:solidFill>
          <a:ln/>
        </p:spPr>
        <p:txBody>
          <a:bodyPr/>
          <a:lstStyle/>
          <a:p>
            <a:endParaRPr lang="en-US"/>
          </a:p>
        </p:txBody>
      </p:sp>
      <p:sp>
        <p:nvSpPr>
          <p:cNvPr id="6" name="Text 4"/>
          <p:cNvSpPr/>
          <p:nvPr/>
        </p:nvSpPr>
        <p:spPr>
          <a:xfrm>
            <a:off x="2587752" y="914400"/>
            <a:ext cx="1773936" cy="320040"/>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Tools: 4 (orchestration)</a:t>
            </a:r>
            <a:endParaRPr lang="en-US" sz="950" dirty="0"/>
          </a:p>
        </p:txBody>
      </p:sp>
      <p:sp>
        <p:nvSpPr>
          <p:cNvPr id="7" name="Shape 5"/>
          <p:cNvSpPr/>
          <p:nvPr/>
        </p:nvSpPr>
        <p:spPr>
          <a:xfrm>
            <a:off x="4526280" y="914400"/>
            <a:ext cx="1920240" cy="320040"/>
          </a:xfrm>
          <a:prstGeom prst="rect">
            <a:avLst/>
          </a:prstGeom>
          <a:solidFill>
            <a:srgbClr val="1B2A4A"/>
          </a:solidFill>
          <a:ln/>
        </p:spPr>
        <p:txBody>
          <a:bodyPr/>
          <a:lstStyle/>
          <a:p>
            <a:endParaRPr lang="en-US"/>
          </a:p>
        </p:txBody>
      </p:sp>
      <p:sp>
        <p:nvSpPr>
          <p:cNvPr id="8" name="Text 6"/>
          <p:cNvSpPr/>
          <p:nvPr/>
        </p:nvSpPr>
        <p:spPr>
          <a:xfrm>
            <a:off x="4599432" y="914400"/>
            <a:ext cx="1773936" cy="320040"/>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Max steps: 12</a:t>
            </a:r>
            <a:endParaRPr lang="en-US" sz="950" dirty="0"/>
          </a:p>
        </p:txBody>
      </p:sp>
      <p:sp>
        <p:nvSpPr>
          <p:cNvPr id="9" name="Shape 7"/>
          <p:cNvSpPr/>
          <p:nvPr/>
        </p:nvSpPr>
        <p:spPr>
          <a:xfrm>
            <a:off x="6537960" y="914400"/>
            <a:ext cx="1920240" cy="320040"/>
          </a:xfrm>
          <a:prstGeom prst="rect">
            <a:avLst/>
          </a:prstGeom>
          <a:solidFill>
            <a:srgbClr val="1B2A4A"/>
          </a:solidFill>
          <a:ln/>
        </p:spPr>
        <p:txBody>
          <a:bodyPr/>
          <a:lstStyle/>
          <a:p>
            <a:endParaRPr lang="en-US"/>
          </a:p>
        </p:txBody>
      </p:sp>
      <p:sp>
        <p:nvSpPr>
          <p:cNvPr id="10" name="Text 8"/>
          <p:cNvSpPr/>
          <p:nvPr/>
        </p:nvSpPr>
        <p:spPr>
          <a:xfrm>
            <a:off x="6611112" y="914400"/>
            <a:ext cx="1773936" cy="320040"/>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8 allowed workers</a:t>
            </a:r>
            <a:endParaRPr lang="en-US" sz="950" dirty="0"/>
          </a:p>
        </p:txBody>
      </p:sp>
      <p:sp>
        <p:nvSpPr>
          <p:cNvPr id="11" name="Text 9"/>
          <p:cNvSpPr/>
          <p:nvPr/>
        </p:nvSpPr>
        <p:spPr>
          <a:xfrm>
            <a:off x="502920" y="1417320"/>
            <a:ext cx="8138160" cy="2560320"/>
          </a:xfrm>
          <a:prstGeom prst="rect">
            <a:avLst/>
          </a:prstGeom>
          <a:noFill/>
          <a:ln/>
        </p:spPr>
        <p:txBody>
          <a:bodyPr wrap="square" lIns="0" tIns="0" rIns="0" bIns="0" rtlCol="0" anchor="t"/>
          <a:lstStyle/>
          <a:p>
            <a:pPr marL="0" indent="0">
              <a:lnSpc>
                <a:spcPct val="115000"/>
              </a:lnSpc>
              <a:buNone/>
            </a:pPr>
            <a:r>
              <a:rPr lang="en-US" sz="1050" b="1" dirty="0">
                <a:solidFill>
                  <a:srgbClr val="333333"/>
                </a:solidFill>
                <a:latin typeface="Arial" pitchFamily="34" charset="0"/>
                <a:ea typeface="Arial" pitchFamily="34" charset="-122"/>
                <a:cs typeface="Arial" pitchFamily="34" charset="-120"/>
              </a:rPr>
              <a:t>Tools: </a:t>
            </a:r>
            <a:r>
              <a:rPr lang="en-US" sz="900" dirty="0">
                <a:solidFill>
                  <a:srgbClr val="333333"/>
                </a:solidFill>
                <a:latin typeface="Courier New" pitchFamily="34" charset="0"/>
                <a:ea typeface="Courier New" pitchFamily="34" charset="-122"/>
                <a:cs typeface="Courier New" pitchFamily="34" charset="-120"/>
              </a:rPr>
              <a:t>spawn_worker, message_worker, list_jobs, stop_job
</a:t>
            </a:r>
            <a:endParaRPr lang="en-US" sz="1050" dirty="0"/>
          </a:p>
          <a:p>
            <a:pPr marL="0" indent="0">
              <a:lnSpc>
                <a:spcPct val="115000"/>
              </a:lnSpc>
              <a:buNone/>
            </a:pPr>
            <a:r>
              <a:rPr lang="en-US" sz="1050" b="1" dirty="0">
                <a:solidFill>
                  <a:srgbClr val="333333"/>
                </a:solidFill>
                <a:latin typeface="Arial" pitchFamily="34" charset="0"/>
                <a:ea typeface="Arial" pitchFamily="34" charset="-122"/>
                <a:cs typeface="Arial" pitchFamily="34" charset="-120"/>
              </a:rPr>
              <a:t>Allowed workers: </a:t>
            </a:r>
            <a:r>
              <a:rPr lang="en-US" sz="1050" dirty="0">
                <a:solidFill>
                  <a:srgbClr val="333333"/>
                </a:solidFill>
                <a:latin typeface="Arial" pitchFamily="34" charset="0"/>
                <a:ea typeface="Arial" pitchFamily="34" charset="-122"/>
                <a:cs typeface="Arial" pitchFamily="34" charset="-120"/>
              </a:rPr>
              <a:t>general, utility, data_analyst, rag_worker, planner, finalizer, verifier, memory_maintainer
</a:t>
            </a:r>
            <a:endParaRPr lang="en-US" sz="1050" dirty="0"/>
          </a:p>
          <a:p>
            <a:pPr marL="0" indent="0">
              <a:lnSpc>
                <a:spcPct val="115000"/>
              </a:lnSpc>
              <a:buNone/>
            </a:pPr>
            <a:r>
              <a:rPr lang="en-US" sz="1050" b="1" dirty="0">
                <a:solidFill>
                  <a:srgbClr val="333333"/>
                </a:solidFill>
                <a:latin typeface="Arial" pitchFamily="34" charset="0"/>
                <a:ea typeface="Arial" pitchFamily="34" charset="-122"/>
                <a:cs typeface="Arial" pitchFamily="34" charset="-120"/>
              </a:rPr>
              <a:t>Pipeline: </a:t>
            </a:r>
            <a:r>
              <a:rPr lang="en-US" sz="1050" dirty="0">
                <a:solidFill>
                  <a:srgbClr val="333333"/>
                </a:solidFill>
                <a:latin typeface="Arial" pitchFamily="34" charset="0"/>
                <a:ea typeface="Arial" pitchFamily="34" charset="-122"/>
                <a:cs typeface="Arial" pitchFamily="34" charset="-120"/>
              </a:rPr>
              <a:t>planner -&gt; parallel workers -&gt; finalizer -&gt; verifier -&gt; optional revision
</a:t>
            </a:r>
            <a:endParaRPr lang="en-US" sz="1050" dirty="0"/>
          </a:p>
          <a:p>
            <a:pPr marL="0" indent="0">
              <a:lnSpc>
                <a:spcPct val="115000"/>
              </a:lnSpc>
              <a:buNone/>
            </a:pPr>
            <a:r>
              <a:rPr lang="en-US" sz="1050" b="1" dirty="0">
                <a:solidFill>
                  <a:srgbClr val="333333"/>
                </a:solidFill>
                <a:latin typeface="Arial" pitchFamily="34" charset="0"/>
                <a:ea typeface="Arial" pitchFamily="34" charset="-122"/>
                <a:cs typeface="Arial" pitchFamily="34" charset="-120"/>
              </a:rPr>
              <a:t>Key design: </a:t>
            </a:r>
            <a:r>
              <a:rPr lang="en-US" sz="1050" dirty="0">
                <a:solidFill>
                  <a:srgbClr val="333333"/>
                </a:solidFill>
                <a:latin typeface="Arial" pitchFamily="34" charset="0"/>
                <a:ea typeface="Arial" pitchFamily="34" charset="-122"/>
                <a:cs typeface="Arial" pitchFamily="34" charset="-120"/>
              </a:rPr>
              <a:t>Coordinator NEVER does work itself. Only plans, dispatches, and quality-checks.
</a:t>
            </a:r>
            <a:endParaRPr lang="en-US" sz="1050" dirty="0"/>
          </a:p>
          <a:p>
            <a:pPr marL="0" indent="0">
              <a:lnSpc>
                <a:spcPct val="115000"/>
              </a:lnSpc>
              <a:buNone/>
            </a:pPr>
            <a:r>
              <a:rPr lang="en-US" sz="1050" b="1" dirty="0">
                <a:solidFill>
                  <a:srgbClr val="333333"/>
                </a:solidFill>
                <a:latin typeface="Arial" pitchFamily="34" charset="0"/>
                <a:ea typeface="Arial" pitchFamily="34" charset="-122"/>
                <a:cs typeface="Arial" pitchFamily="34" charset="-120"/>
              </a:rPr>
              <a:t>Durable jobs: </a:t>
            </a:r>
            <a:r>
              <a:rPr lang="en-US" sz="1050" dirty="0">
                <a:solidFill>
                  <a:srgbClr val="333333"/>
                </a:solidFill>
                <a:latin typeface="Arial" pitchFamily="34" charset="0"/>
                <a:ea typeface="Arial" pitchFamily="34" charset="-122"/>
                <a:cs typeface="Arial" pitchFamily="34" charset="-120"/>
              </a:rPr>
              <a:t>Workers tracked as RuntimeJob objects with status, transcript, mailbox, events. Persisted to disk.</a:t>
            </a:r>
            <a:endParaRPr lang="en-US" sz="1050" dirty="0"/>
          </a:p>
        </p:txBody>
      </p:sp>
      <p:sp>
        <p:nvSpPr>
          <p:cNvPr id="12" name="Text 10"/>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data/agents/coordinator.md, data/skills/supervisor_agent.md, runtime/kernel.py</a:t>
            </a:r>
            <a:endParaRPr lang="en-US" sz="9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Agent: data_analyst — The Sandbox Specialist</a:t>
            </a:r>
            <a:endParaRPr lang="en-US" sz="2600" dirty="0"/>
          </a:p>
        </p:txBody>
      </p:sp>
      <p:sp>
        <p:nvSpPr>
          <p:cNvPr id="3" name="Shape 1"/>
          <p:cNvSpPr/>
          <p:nvPr/>
        </p:nvSpPr>
        <p:spPr>
          <a:xfrm>
            <a:off x="502920" y="914400"/>
            <a:ext cx="1920240" cy="320040"/>
          </a:xfrm>
          <a:prstGeom prst="rect">
            <a:avLst/>
          </a:prstGeom>
          <a:solidFill>
            <a:srgbClr val="00796B"/>
          </a:solidFill>
          <a:ln/>
        </p:spPr>
        <p:txBody>
          <a:bodyPr/>
          <a:lstStyle/>
          <a:p>
            <a:endParaRPr lang="en-US"/>
          </a:p>
        </p:txBody>
      </p:sp>
      <p:sp>
        <p:nvSpPr>
          <p:cNvPr id="4" name="Text 2"/>
          <p:cNvSpPr/>
          <p:nvPr/>
        </p:nvSpPr>
        <p:spPr>
          <a:xfrm>
            <a:off x="576072" y="914400"/>
            <a:ext cx="1773936" cy="320040"/>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mode: react</a:t>
            </a:r>
            <a:endParaRPr lang="en-US" sz="950" dirty="0"/>
          </a:p>
        </p:txBody>
      </p:sp>
      <p:sp>
        <p:nvSpPr>
          <p:cNvPr id="5" name="Shape 3"/>
          <p:cNvSpPr/>
          <p:nvPr/>
        </p:nvSpPr>
        <p:spPr>
          <a:xfrm>
            <a:off x="2514600" y="914400"/>
            <a:ext cx="1920240" cy="320040"/>
          </a:xfrm>
          <a:prstGeom prst="rect">
            <a:avLst/>
          </a:prstGeom>
          <a:solidFill>
            <a:srgbClr val="00796B"/>
          </a:solidFill>
          <a:ln/>
        </p:spPr>
        <p:txBody>
          <a:bodyPr/>
          <a:lstStyle/>
          <a:p>
            <a:endParaRPr lang="en-US"/>
          </a:p>
        </p:txBody>
      </p:sp>
      <p:sp>
        <p:nvSpPr>
          <p:cNvPr id="6" name="Text 4"/>
          <p:cNvSpPr/>
          <p:nvPr/>
        </p:nvSpPr>
        <p:spPr>
          <a:xfrm>
            <a:off x="2587752" y="914400"/>
            <a:ext cx="1773936" cy="320040"/>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Strategy: plan_execute</a:t>
            </a:r>
            <a:endParaRPr lang="en-US" sz="950" dirty="0"/>
          </a:p>
        </p:txBody>
      </p:sp>
      <p:sp>
        <p:nvSpPr>
          <p:cNvPr id="7" name="Shape 5"/>
          <p:cNvSpPr/>
          <p:nvPr/>
        </p:nvSpPr>
        <p:spPr>
          <a:xfrm>
            <a:off x="4526280" y="914400"/>
            <a:ext cx="1920240" cy="320040"/>
          </a:xfrm>
          <a:prstGeom prst="rect">
            <a:avLst/>
          </a:prstGeom>
          <a:solidFill>
            <a:srgbClr val="00796B"/>
          </a:solidFill>
          <a:ln/>
        </p:spPr>
        <p:txBody>
          <a:bodyPr/>
          <a:lstStyle/>
          <a:p>
            <a:endParaRPr lang="en-US"/>
          </a:p>
        </p:txBody>
      </p:sp>
      <p:sp>
        <p:nvSpPr>
          <p:cNvPr id="8" name="Text 6"/>
          <p:cNvSpPr/>
          <p:nvPr/>
        </p:nvSpPr>
        <p:spPr>
          <a:xfrm>
            <a:off x="4599432" y="914400"/>
            <a:ext cx="1773936" cy="320040"/>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Tools: 13</a:t>
            </a:r>
            <a:endParaRPr lang="en-US" sz="950" dirty="0"/>
          </a:p>
        </p:txBody>
      </p:sp>
      <p:sp>
        <p:nvSpPr>
          <p:cNvPr id="9" name="Shape 7"/>
          <p:cNvSpPr/>
          <p:nvPr/>
        </p:nvSpPr>
        <p:spPr>
          <a:xfrm>
            <a:off x="6537960" y="914400"/>
            <a:ext cx="1920240" cy="320040"/>
          </a:xfrm>
          <a:prstGeom prst="rect">
            <a:avLst/>
          </a:prstGeom>
          <a:solidFill>
            <a:srgbClr val="00796B"/>
          </a:solidFill>
          <a:ln/>
        </p:spPr>
        <p:txBody>
          <a:bodyPr/>
          <a:lstStyle/>
          <a:p>
            <a:endParaRPr lang="en-US"/>
          </a:p>
        </p:txBody>
      </p:sp>
      <p:sp>
        <p:nvSpPr>
          <p:cNvPr id="10" name="Text 8"/>
          <p:cNvSpPr/>
          <p:nvPr/>
        </p:nvSpPr>
        <p:spPr>
          <a:xfrm>
            <a:off x="6611112" y="914400"/>
            <a:ext cx="1773936" cy="320040"/>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Role: top_level_or_worker</a:t>
            </a:r>
            <a:endParaRPr lang="en-US" sz="950" dirty="0"/>
          </a:p>
        </p:txBody>
      </p:sp>
      <p:sp>
        <p:nvSpPr>
          <p:cNvPr id="11" name="Text 9"/>
          <p:cNvSpPr/>
          <p:nvPr/>
        </p:nvSpPr>
        <p:spPr>
          <a:xfrm>
            <a:off x="502920" y="1417320"/>
            <a:ext cx="4114800" cy="2103120"/>
          </a:xfrm>
          <a:prstGeom prst="rect">
            <a:avLst/>
          </a:prstGeom>
          <a:noFill/>
          <a:ln/>
        </p:spPr>
        <p:txBody>
          <a:bodyPr wrap="square" lIns="0" tIns="0" rIns="0" bIns="0" rtlCol="0" anchor="t"/>
          <a:lstStyle/>
          <a:p>
            <a:pPr marL="0" indent="0">
              <a:buNone/>
            </a:pPr>
            <a:r>
              <a:rPr lang="en-US" sz="1000" b="1" dirty="0">
                <a:solidFill>
                  <a:srgbClr val="333333"/>
                </a:solidFill>
                <a:latin typeface="Arial" pitchFamily="34" charset="0"/>
                <a:ea typeface="Arial" pitchFamily="34" charset="-122"/>
                <a:cs typeface="Arial" pitchFamily="34" charset="-120"/>
              </a:rPr>
              <a:t>Unique capabilities:
</a:t>
            </a:r>
            <a:endParaRPr lang="en-US" sz="1000" dirty="0"/>
          </a:p>
          <a:p>
            <a:pPr marL="0" indent="0">
              <a:buNone/>
            </a:pPr>
            <a:r>
              <a:rPr lang="en-US" sz="900" dirty="0">
                <a:solidFill>
                  <a:srgbClr val="333333"/>
                </a:solidFill>
                <a:latin typeface="Courier New" pitchFamily="34" charset="0"/>
                <a:ea typeface="Courier New" pitchFamily="34" charset="-122"/>
                <a:cs typeface="Courier New" pitchFamily="34" charset="-120"/>
              </a:rPr>
              <a:t>- execute_code() in Docker sandbox
  (no network, 512MB, 60s timeout)
- run_nlp_column_task() for column tagging
- return_file() registers download artifacts
- workspace_read/write/list for session files
</a:t>
            </a:r>
            <a:endParaRPr lang="en-US" sz="1000" dirty="0"/>
          </a:p>
          <a:p>
            <a:pPr marL="0" indent="0">
              <a:buNone/>
            </a:pPr>
            <a:r>
              <a:rPr lang="en-US" sz="1000" b="1" dirty="0">
                <a:solidFill>
                  <a:srgbClr val="333333"/>
                </a:solidFill>
                <a:latin typeface="Arial" pitchFamily="34" charset="0"/>
                <a:ea typeface="Arial" pitchFamily="34" charset="-122"/>
                <a:cs typeface="Arial" pitchFamily="34" charset="-120"/>
              </a:rPr>
              <a:t>Workflow (from skill): </a:t>
            </a:r>
            <a:r>
              <a:rPr lang="en-US" sz="1000" dirty="0">
                <a:solidFill>
                  <a:srgbClr val="333333"/>
                </a:solidFill>
                <a:latin typeface="Arial" pitchFamily="34" charset="0"/>
                <a:ea typeface="Arial" pitchFamily="34" charset="-122"/>
                <a:cs typeface="Arial" pitchFamily="34" charset="-120"/>
              </a:rPr>
              <a:t>Load -&gt; Inspect -&gt; Plan -&gt; Execute -&gt; Verify -&gt; Reflect</a:t>
            </a:r>
            <a:endParaRPr lang="en-US" sz="1000" dirty="0"/>
          </a:p>
        </p:txBody>
      </p:sp>
      <p:sp>
        <p:nvSpPr>
          <p:cNvPr id="12" name="Text 10"/>
          <p:cNvSpPr/>
          <p:nvPr/>
        </p:nvSpPr>
        <p:spPr>
          <a:xfrm>
            <a:off x="4754880" y="1417320"/>
            <a:ext cx="3931920" cy="2103120"/>
          </a:xfrm>
          <a:prstGeom prst="rect">
            <a:avLst/>
          </a:prstGeom>
          <a:noFill/>
          <a:ln/>
        </p:spPr>
        <p:txBody>
          <a:bodyPr wrap="square" lIns="0" tIns="0" rIns="0" bIns="0" rtlCol="0" anchor="t"/>
          <a:lstStyle/>
          <a:p>
            <a:pPr marL="0" indent="0">
              <a:buNone/>
            </a:pPr>
            <a:r>
              <a:rPr lang="en-US" sz="1000" b="1" dirty="0">
                <a:solidFill>
                  <a:srgbClr val="333333"/>
                </a:solidFill>
                <a:latin typeface="Arial" pitchFamily="34" charset="0"/>
                <a:ea typeface="Arial" pitchFamily="34" charset="-122"/>
                <a:cs typeface="Arial" pitchFamily="34" charset="-120"/>
              </a:rPr>
              <a:t>4 Dedicated Skill Packs:
</a:t>
            </a:r>
            <a:endParaRPr lang="en-US" sz="1000" dirty="0"/>
          </a:p>
          <a:p>
            <a:pPr marL="0" indent="0">
              <a:buNone/>
            </a:pPr>
            <a:r>
              <a:rPr lang="en-US" sz="1000" dirty="0">
                <a:solidFill>
                  <a:srgbClr val="333333"/>
                </a:solidFill>
                <a:latin typeface="Arial" pitchFamily="34" charset="0"/>
                <a:ea typeface="Arial" pitchFamily="34" charset="-122"/>
                <a:cs typeface="Arial" pitchFamily="34" charset="-120"/>
              </a:rPr>
              <a:t>1. dataset_workflow.md
2. return_file_handoff.md
3. chart_generation_and_export.md
4. workbook_mutation_copy_on_write.md
</a:t>
            </a:r>
            <a:endParaRPr lang="en-US" sz="1000" dirty="0"/>
          </a:p>
          <a:p>
            <a:pPr marL="0" indent="0">
              <a:buNone/>
            </a:pPr>
            <a:r>
              <a:rPr lang="en-US" sz="1000" b="1" dirty="0">
                <a:solidFill>
                  <a:srgbClr val="333333"/>
                </a:solidFill>
                <a:latin typeface="Arial" pitchFamily="34" charset="0"/>
                <a:ea typeface="Arial" pitchFamily="34" charset="-122"/>
                <a:cs typeface="Arial" pitchFamily="34" charset="-120"/>
              </a:rPr>
              <a:t>Docker Sandbox:
</a:t>
            </a:r>
            <a:r>
              <a:rPr lang="en-US" sz="1000" dirty="0">
                <a:solidFill>
                  <a:srgbClr val="333333"/>
                </a:solidFill>
                <a:latin typeface="Arial" pitchFamily="34" charset="0"/>
                <a:ea typeface="Arial" pitchFamily="34" charset="-122"/>
                <a:cs typeface="Arial" pitchFamily="34" charset="-120"/>
              </a:rPr>
              <a:t>python:3.12-slim, network disabled, 512MB RAM, 60s timeout, 50KB output limit. Workspace bind-mounted.</a:t>
            </a:r>
            <a:endParaRPr lang="en-US" sz="1000" dirty="0"/>
          </a:p>
        </p:txBody>
      </p:sp>
      <p:sp>
        <p:nvSpPr>
          <p:cNvPr id="13" name="Text 11"/>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data/agents/data_analyst.md, tools/data_analyst_tools.py, sandbox/docker_exec.py</a:t>
            </a: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Docker Sandbox — Secure Code Execution</a:t>
            </a:r>
            <a:endParaRPr lang="en-US" sz="2600" dirty="0"/>
          </a:p>
        </p:txBody>
      </p:sp>
      <p:sp>
        <p:nvSpPr>
          <p:cNvPr id="3" name="Text 1"/>
          <p:cNvSpPr/>
          <p:nvPr/>
        </p:nvSpPr>
        <p:spPr>
          <a:xfrm>
            <a:off x="502920" y="841248"/>
            <a:ext cx="8138160" cy="365760"/>
          </a:xfrm>
          <a:prstGeom prst="rect">
            <a:avLst/>
          </a:prstGeom>
          <a:noFill/>
          <a:ln/>
        </p:spPr>
        <p:txBody>
          <a:bodyPr wrap="square" lIns="0" tIns="0" rIns="0" bIns="0" rtlCol="0" anchor="ctr"/>
          <a:lstStyle/>
          <a:p>
            <a:pPr marL="0" indent="0">
              <a:buNone/>
            </a:pPr>
            <a:r>
              <a:rPr lang="en-US" sz="1050" dirty="0">
                <a:solidFill>
                  <a:srgbClr val="1B2A4A"/>
                </a:solidFill>
                <a:latin typeface="Arial" pitchFamily="34" charset="0"/>
                <a:ea typeface="Arial" pitchFamily="34" charset="-122"/>
                <a:cs typeface="Arial" pitchFamily="34" charset="-120"/>
              </a:rPr>
              <a:t>DockerSandboxExecutor (sandbox/docker_exec.py) runs data analyst Python code in an isolated container. Every execute_code() call creates a fresh container — no state leaks between runs.</a:t>
            </a:r>
            <a:endParaRPr lang="en-US" sz="1050" dirty="0"/>
          </a:p>
        </p:txBody>
      </p:sp>
      <p:sp>
        <p:nvSpPr>
          <p:cNvPr id="4" name="Shape 2"/>
          <p:cNvSpPr/>
          <p:nvPr/>
        </p:nvSpPr>
        <p:spPr>
          <a:xfrm>
            <a:off x="502920" y="1298448"/>
            <a:ext cx="4754880" cy="292608"/>
          </a:xfrm>
          <a:prstGeom prst="rect">
            <a:avLst/>
          </a:prstGeom>
          <a:solidFill>
            <a:srgbClr val="1B2A4A"/>
          </a:solidFill>
          <a:ln/>
        </p:spPr>
        <p:txBody>
          <a:bodyPr/>
          <a:lstStyle/>
          <a:p>
            <a:endParaRPr lang="en-US"/>
          </a:p>
        </p:txBody>
      </p:sp>
      <p:sp>
        <p:nvSpPr>
          <p:cNvPr id="5" name="Text 3"/>
          <p:cNvSpPr/>
          <p:nvPr/>
        </p:nvSpPr>
        <p:spPr>
          <a:xfrm>
            <a:off x="594360" y="1298448"/>
            <a:ext cx="4572000" cy="292608"/>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Security Constraints</a:t>
            </a:r>
            <a:endParaRPr lang="en-US" sz="1000" dirty="0"/>
          </a:p>
        </p:txBody>
      </p:sp>
      <p:sp>
        <p:nvSpPr>
          <p:cNvPr id="6" name="Shape 4"/>
          <p:cNvSpPr/>
          <p:nvPr/>
        </p:nvSpPr>
        <p:spPr>
          <a:xfrm>
            <a:off x="502920" y="1591056"/>
            <a:ext cx="4754880" cy="301752"/>
          </a:xfrm>
          <a:prstGeom prst="rect">
            <a:avLst/>
          </a:prstGeom>
          <a:solidFill>
            <a:srgbClr val="F5F5F5"/>
          </a:solidFill>
          <a:ln w="3810">
            <a:solidFill>
              <a:srgbClr val="F0F0F0"/>
            </a:solidFill>
            <a:prstDash val="solid"/>
          </a:ln>
        </p:spPr>
        <p:txBody>
          <a:bodyPr/>
          <a:lstStyle/>
          <a:p>
            <a:endParaRPr lang="en-US"/>
          </a:p>
        </p:txBody>
      </p:sp>
      <p:sp>
        <p:nvSpPr>
          <p:cNvPr id="7" name="Text 5"/>
          <p:cNvSpPr/>
          <p:nvPr/>
        </p:nvSpPr>
        <p:spPr>
          <a:xfrm>
            <a:off x="594360" y="1591056"/>
            <a:ext cx="914400" cy="301752"/>
          </a:xfrm>
          <a:prstGeom prst="rect">
            <a:avLst/>
          </a:prstGeom>
          <a:noFill/>
          <a:ln/>
        </p:spPr>
        <p:txBody>
          <a:bodyPr wrap="square" lIns="0" tIns="0" rIns="0" bIns="0" rtlCol="0" anchor="ctr"/>
          <a:lstStyle/>
          <a:p>
            <a:pPr marL="0" indent="0">
              <a:buNone/>
            </a:pPr>
            <a:r>
              <a:rPr lang="en-US" sz="950" b="1" dirty="0">
                <a:solidFill>
                  <a:srgbClr val="1B2A4A"/>
                </a:solidFill>
                <a:latin typeface="Arial" pitchFamily="34" charset="0"/>
                <a:ea typeface="Arial" pitchFamily="34" charset="-122"/>
                <a:cs typeface="Arial" pitchFamily="34" charset="-120"/>
              </a:rPr>
              <a:t>Network</a:t>
            </a:r>
            <a:endParaRPr lang="en-US" sz="950" dirty="0"/>
          </a:p>
        </p:txBody>
      </p:sp>
      <p:sp>
        <p:nvSpPr>
          <p:cNvPr id="8" name="Text 6"/>
          <p:cNvSpPr/>
          <p:nvPr/>
        </p:nvSpPr>
        <p:spPr>
          <a:xfrm>
            <a:off x="1508760" y="1591056"/>
            <a:ext cx="3566160" cy="30175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DISABLED — no internet access inside container</a:t>
            </a:r>
            <a:endParaRPr lang="en-US" sz="950" dirty="0"/>
          </a:p>
        </p:txBody>
      </p:sp>
      <p:sp>
        <p:nvSpPr>
          <p:cNvPr id="9" name="Shape 7"/>
          <p:cNvSpPr/>
          <p:nvPr/>
        </p:nvSpPr>
        <p:spPr>
          <a:xfrm>
            <a:off x="502920" y="1901952"/>
            <a:ext cx="4754880" cy="301752"/>
          </a:xfrm>
          <a:prstGeom prst="rect">
            <a:avLst/>
          </a:prstGeom>
          <a:solidFill>
            <a:srgbClr val="FFFFFF"/>
          </a:solidFill>
          <a:ln w="3810">
            <a:solidFill>
              <a:srgbClr val="F0F0F0"/>
            </a:solidFill>
            <a:prstDash val="solid"/>
          </a:ln>
        </p:spPr>
        <p:txBody>
          <a:bodyPr/>
          <a:lstStyle/>
          <a:p>
            <a:endParaRPr lang="en-US"/>
          </a:p>
        </p:txBody>
      </p:sp>
      <p:sp>
        <p:nvSpPr>
          <p:cNvPr id="10" name="Text 8"/>
          <p:cNvSpPr/>
          <p:nvPr/>
        </p:nvSpPr>
        <p:spPr>
          <a:xfrm>
            <a:off x="594360" y="1901952"/>
            <a:ext cx="914400" cy="301752"/>
          </a:xfrm>
          <a:prstGeom prst="rect">
            <a:avLst/>
          </a:prstGeom>
          <a:noFill/>
          <a:ln/>
        </p:spPr>
        <p:txBody>
          <a:bodyPr wrap="square" lIns="0" tIns="0" rIns="0" bIns="0" rtlCol="0" anchor="ctr"/>
          <a:lstStyle/>
          <a:p>
            <a:pPr marL="0" indent="0">
              <a:buNone/>
            </a:pPr>
            <a:r>
              <a:rPr lang="en-US" sz="950" b="1" dirty="0">
                <a:solidFill>
                  <a:srgbClr val="1B2A4A"/>
                </a:solidFill>
                <a:latin typeface="Arial" pitchFamily="34" charset="0"/>
                <a:ea typeface="Arial" pitchFamily="34" charset="-122"/>
                <a:cs typeface="Arial" pitchFamily="34" charset="-120"/>
              </a:rPr>
              <a:t>Memory</a:t>
            </a:r>
            <a:endParaRPr lang="en-US" sz="950" dirty="0"/>
          </a:p>
        </p:txBody>
      </p:sp>
      <p:sp>
        <p:nvSpPr>
          <p:cNvPr id="11" name="Text 9"/>
          <p:cNvSpPr/>
          <p:nvPr/>
        </p:nvSpPr>
        <p:spPr>
          <a:xfrm>
            <a:off x="1508760" y="1901952"/>
            <a:ext cx="3566160" cy="30175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512MB hard limit (OOM-kill enforced by Docker)</a:t>
            </a:r>
            <a:endParaRPr lang="en-US" sz="950" dirty="0"/>
          </a:p>
        </p:txBody>
      </p:sp>
      <p:sp>
        <p:nvSpPr>
          <p:cNvPr id="12" name="Shape 10"/>
          <p:cNvSpPr/>
          <p:nvPr/>
        </p:nvSpPr>
        <p:spPr>
          <a:xfrm>
            <a:off x="502920" y="2212848"/>
            <a:ext cx="4754880" cy="301752"/>
          </a:xfrm>
          <a:prstGeom prst="rect">
            <a:avLst/>
          </a:prstGeom>
          <a:solidFill>
            <a:srgbClr val="F5F5F5"/>
          </a:solidFill>
          <a:ln w="3810">
            <a:solidFill>
              <a:srgbClr val="F0F0F0"/>
            </a:solidFill>
            <a:prstDash val="solid"/>
          </a:ln>
        </p:spPr>
        <p:txBody>
          <a:bodyPr/>
          <a:lstStyle/>
          <a:p>
            <a:endParaRPr lang="en-US"/>
          </a:p>
        </p:txBody>
      </p:sp>
      <p:sp>
        <p:nvSpPr>
          <p:cNvPr id="13" name="Text 11"/>
          <p:cNvSpPr/>
          <p:nvPr/>
        </p:nvSpPr>
        <p:spPr>
          <a:xfrm>
            <a:off x="594360" y="2212848"/>
            <a:ext cx="914400" cy="301752"/>
          </a:xfrm>
          <a:prstGeom prst="rect">
            <a:avLst/>
          </a:prstGeom>
          <a:noFill/>
          <a:ln/>
        </p:spPr>
        <p:txBody>
          <a:bodyPr wrap="square" lIns="0" tIns="0" rIns="0" bIns="0" rtlCol="0" anchor="ctr"/>
          <a:lstStyle/>
          <a:p>
            <a:pPr marL="0" indent="0">
              <a:buNone/>
            </a:pPr>
            <a:r>
              <a:rPr lang="en-US" sz="950" b="1" dirty="0">
                <a:solidFill>
                  <a:srgbClr val="1B2A4A"/>
                </a:solidFill>
                <a:latin typeface="Arial" pitchFamily="34" charset="0"/>
                <a:ea typeface="Arial" pitchFamily="34" charset="-122"/>
                <a:cs typeface="Arial" pitchFamily="34" charset="-120"/>
              </a:rPr>
              <a:t>Timeout</a:t>
            </a:r>
            <a:endParaRPr lang="en-US" sz="950" dirty="0"/>
          </a:p>
        </p:txBody>
      </p:sp>
      <p:sp>
        <p:nvSpPr>
          <p:cNvPr id="14" name="Text 12"/>
          <p:cNvSpPr/>
          <p:nvPr/>
        </p:nvSpPr>
        <p:spPr>
          <a:xfrm>
            <a:off x="1508760" y="2212848"/>
            <a:ext cx="3566160" cy="30175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60 seconds — SIGKILL after deadline</a:t>
            </a:r>
            <a:endParaRPr lang="en-US" sz="950" dirty="0"/>
          </a:p>
        </p:txBody>
      </p:sp>
      <p:sp>
        <p:nvSpPr>
          <p:cNvPr id="15" name="Shape 13"/>
          <p:cNvSpPr/>
          <p:nvPr/>
        </p:nvSpPr>
        <p:spPr>
          <a:xfrm>
            <a:off x="502920" y="2523744"/>
            <a:ext cx="4754880" cy="301752"/>
          </a:xfrm>
          <a:prstGeom prst="rect">
            <a:avLst/>
          </a:prstGeom>
          <a:solidFill>
            <a:srgbClr val="FFFFFF"/>
          </a:solidFill>
          <a:ln w="3810">
            <a:solidFill>
              <a:srgbClr val="F0F0F0"/>
            </a:solidFill>
            <a:prstDash val="solid"/>
          </a:ln>
        </p:spPr>
        <p:txBody>
          <a:bodyPr/>
          <a:lstStyle/>
          <a:p>
            <a:endParaRPr lang="en-US"/>
          </a:p>
        </p:txBody>
      </p:sp>
      <p:sp>
        <p:nvSpPr>
          <p:cNvPr id="16" name="Text 14"/>
          <p:cNvSpPr/>
          <p:nvPr/>
        </p:nvSpPr>
        <p:spPr>
          <a:xfrm>
            <a:off x="594360" y="2523744"/>
            <a:ext cx="914400" cy="301752"/>
          </a:xfrm>
          <a:prstGeom prst="rect">
            <a:avLst/>
          </a:prstGeom>
          <a:noFill/>
          <a:ln/>
        </p:spPr>
        <p:txBody>
          <a:bodyPr wrap="square" lIns="0" tIns="0" rIns="0" bIns="0" rtlCol="0" anchor="ctr"/>
          <a:lstStyle/>
          <a:p>
            <a:pPr marL="0" indent="0">
              <a:buNone/>
            </a:pPr>
            <a:r>
              <a:rPr lang="en-US" sz="950" b="1" dirty="0">
                <a:solidFill>
                  <a:srgbClr val="1B2A4A"/>
                </a:solidFill>
                <a:latin typeface="Arial" pitchFamily="34" charset="0"/>
                <a:ea typeface="Arial" pitchFamily="34" charset="-122"/>
                <a:cs typeface="Arial" pitchFamily="34" charset="-120"/>
              </a:rPr>
              <a:t>Output</a:t>
            </a:r>
            <a:endParaRPr lang="en-US" sz="950" dirty="0"/>
          </a:p>
        </p:txBody>
      </p:sp>
      <p:sp>
        <p:nvSpPr>
          <p:cNvPr id="17" name="Text 15"/>
          <p:cNvSpPr/>
          <p:nvPr/>
        </p:nvSpPr>
        <p:spPr>
          <a:xfrm>
            <a:off x="1508760" y="2523744"/>
            <a:ext cx="3566160" cy="30175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50KB max (stdout + stderr). Truncated flag set if exceeded.</a:t>
            </a:r>
            <a:endParaRPr lang="en-US" sz="950" dirty="0"/>
          </a:p>
        </p:txBody>
      </p:sp>
      <p:sp>
        <p:nvSpPr>
          <p:cNvPr id="18" name="Shape 16"/>
          <p:cNvSpPr/>
          <p:nvPr/>
        </p:nvSpPr>
        <p:spPr>
          <a:xfrm>
            <a:off x="502920" y="2834640"/>
            <a:ext cx="4754880" cy="301752"/>
          </a:xfrm>
          <a:prstGeom prst="rect">
            <a:avLst/>
          </a:prstGeom>
          <a:solidFill>
            <a:srgbClr val="F5F5F5"/>
          </a:solidFill>
          <a:ln w="3810">
            <a:solidFill>
              <a:srgbClr val="F0F0F0"/>
            </a:solidFill>
            <a:prstDash val="solid"/>
          </a:ln>
        </p:spPr>
        <p:txBody>
          <a:bodyPr/>
          <a:lstStyle/>
          <a:p>
            <a:endParaRPr lang="en-US"/>
          </a:p>
        </p:txBody>
      </p:sp>
      <p:sp>
        <p:nvSpPr>
          <p:cNvPr id="19" name="Text 17"/>
          <p:cNvSpPr/>
          <p:nvPr/>
        </p:nvSpPr>
        <p:spPr>
          <a:xfrm>
            <a:off x="594360" y="2834640"/>
            <a:ext cx="914400" cy="301752"/>
          </a:xfrm>
          <a:prstGeom prst="rect">
            <a:avLst/>
          </a:prstGeom>
          <a:noFill/>
          <a:ln/>
        </p:spPr>
        <p:txBody>
          <a:bodyPr wrap="square" lIns="0" tIns="0" rIns="0" bIns="0" rtlCol="0" anchor="ctr"/>
          <a:lstStyle/>
          <a:p>
            <a:pPr marL="0" indent="0">
              <a:buNone/>
            </a:pPr>
            <a:r>
              <a:rPr lang="en-US" sz="950" b="1" dirty="0">
                <a:solidFill>
                  <a:srgbClr val="1B2A4A"/>
                </a:solidFill>
                <a:latin typeface="Arial" pitchFamily="34" charset="0"/>
                <a:ea typeface="Arial" pitchFamily="34" charset="-122"/>
                <a:cs typeface="Arial" pitchFamily="34" charset="-120"/>
              </a:rPr>
              <a:t>Image</a:t>
            </a:r>
            <a:endParaRPr lang="en-US" sz="950" dirty="0"/>
          </a:p>
        </p:txBody>
      </p:sp>
      <p:sp>
        <p:nvSpPr>
          <p:cNvPr id="20" name="Text 18"/>
          <p:cNvSpPr/>
          <p:nvPr/>
        </p:nvSpPr>
        <p:spPr>
          <a:xfrm>
            <a:off x="1508760" y="2834640"/>
            <a:ext cx="3566160" cy="30175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python:3.12-slim — minimal attack surface</a:t>
            </a:r>
            <a:endParaRPr lang="en-US" sz="950" dirty="0"/>
          </a:p>
        </p:txBody>
      </p:sp>
      <p:sp>
        <p:nvSpPr>
          <p:cNvPr id="21" name="Shape 19"/>
          <p:cNvSpPr/>
          <p:nvPr/>
        </p:nvSpPr>
        <p:spPr>
          <a:xfrm>
            <a:off x="502920" y="3145536"/>
            <a:ext cx="4754880" cy="301752"/>
          </a:xfrm>
          <a:prstGeom prst="rect">
            <a:avLst/>
          </a:prstGeom>
          <a:solidFill>
            <a:srgbClr val="FFFFFF"/>
          </a:solidFill>
          <a:ln w="3810">
            <a:solidFill>
              <a:srgbClr val="F0F0F0"/>
            </a:solidFill>
            <a:prstDash val="solid"/>
          </a:ln>
        </p:spPr>
        <p:txBody>
          <a:bodyPr/>
          <a:lstStyle/>
          <a:p>
            <a:endParaRPr lang="en-US"/>
          </a:p>
        </p:txBody>
      </p:sp>
      <p:sp>
        <p:nvSpPr>
          <p:cNvPr id="22" name="Text 20"/>
          <p:cNvSpPr/>
          <p:nvPr/>
        </p:nvSpPr>
        <p:spPr>
          <a:xfrm>
            <a:off x="594360" y="3145536"/>
            <a:ext cx="914400" cy="301752"/>
          </a:xfrm>
          <a:prstGeom prst="rect">
            <a:avLst/>
          </a:prstGeom>
          <a:noFill/>
          <a:ln/>
        </p:spPr>
        <p:txBody>
          <a:bodyPr wrap="square" lIns="0" tIns="0" rIns="0" bIns="0" rtlCol="0" anchor="ctr"/>
          <a:lstStyle/>
          <a:p>
            <a:pPr marL="0" indent="0">
              <a:buNone/>
            </a:pPr>
            <a:r>
              <a:rPr lang="en-US" sz="950" b="1" dirty="0">
                <a:solidFill>
                  <a:srgbClr val="1B2A4A"/>
                </a:solidFill>
                <a:latin typeface="Arial" pitchFamily="34" charset="0"/>
                <a:ea typeface="Arial" pitchFamily="34" charset="-122"/>
                <a:cs typeface="Arial" pitchFamily="34" charset="-120"/>
              </a:rPr>
              <a:t>Workspace</a:t>
            </a:r>
            <a:endParaRPr lang="en-US" sz="950" dirty="0"/>
          </a:p>
        </p:txBody>
      </p:sp>
      <p:sp>
        <p:nvSpPr>
          <p:cNvPr id="23" name="Text 21"/>
          <p:cNvSpPr/>
          <p:nvPr/>
        </p:nvSpPr>
        <p:spPr>
          <a:xfrm>
            <a:off x="1508760" y="3145536"/>
            <a:ext cx="3566160" cy="30175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Session workspace bind-mounted read-write at /workspace</a:t>
            </a:r>
            <a:endParaRPr lang="en-US" sz="950" dirty="0"/>
          </a:p>
        </p:txBody>
      </p:sp>
      <p:sp>
        <p:nvSpPr>
          <p:cNvPr id="24" name="Shape 22"/>
          <p:cNvSpPr/>
          <p:nvPr/>
        </p:nvSpPr>
        <p:spPr>
          <a:xfrm>
            <a:off x="5440680" y="1298448"/>
            <a:ext cx="3200400" cy="146304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25" name="Shape 23"/>
          <p:cNvSpPr/>
          <p:nvPr/>
        </p:nvSpPr>
        <p:spPr>
          <a:xfrm>
            <a:off x="5440680" y="1298448"/>
            <a:ext cx="3200400" cy="320040"/>
          </a:xfrm>
          <a:prstGeom prst="rect">
            <a:avLst/>
          </a:prstGeom>
          <a:solidFill>
            <a:srgbClr val="0097A7"/>
          </a:solidFill>
          <a:ln/>
        </p:spPr>
        <p:txBody>
          <a:bodyPr/>
          <a:lstStyle/>
          <a:p>
            <a:endParaRPr lang="en-US"/>
          </a:p>
        </p:txBody>
      </p:sp>
      <p:sp>
        <p:nvSpPr>
          <p:cNvPr id="26" name="Text 24"/>
          <p:cNvSpPr/>
          <p:nvPr/>
        </p:nvSpPr>
        <p:spPr>
          <a:xfrm>
            <a:off x="5550408" y="1325880"/>
            <a:ext cx="29809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SandboxResult</a:t>
            </a:r>
            <a:endParaRPr lang="en-US" sz="1200" dirty="0"/>
          </a:p>
        </p:txBody>
      </p:sp>
      <p:sp>
        <p:nvSpPr>
          <p:cNvPr id="27" name="Text 25"/>
          <p:cNvSpPr/>
          <p:nvPr/>
        </p:nvSpPr>
        <p:spPr>
          <a:xfrm>
            <a:off x="5550408" y="1682496"/>
            <a:ext cx="2980944" cy="98755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stdout, stderr — raw output strings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exit_code — 0 = success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execution_time_seconds — float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truncated — bool if output &gt; 50KB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success — property: exit_code == 0</a:t>
            </a:r>
            <a:endParaRPr lang="en-US" sz="1000" dirty="0"/>
          </a:p>
        </p:txBody>
      </p:sp>
      <p:sp>
        <p:nvSpPr>
          <p:cNvPr id="28" name="Shape 26"/>
          <p:cNvSpPr/>
          <p:nvPr/>
        </p:nvSpPr>
        <p:spPr>
          <a:xfrm>
            <a:off x="5440680" y="2852928"/>
            <a:ext cx="3200400" cy="109728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29" name="Shape 27"/>
          <p:cNvSpPr/>
          <p:nvPr/>
        </p:nvSpPr>
        <p:spPr>
          <a:xfrm>
            <a:off x="5440680" y="2852928"/>
            <a:ext cx="3200400" cy="320040"/>
          </a:xfrm>
          <a:prstGeom prst="rect">
            <a:avLst/>
          </a:prstGeom>
          <a:solidFill>
            <a:srgbClr val="00796B"/>
          </a:solidFill>
          <a:ln/>
        </p:spPr>
        <p:txBody>
          <a:bodyPr/>
          <a:lstStyle/>
          <a:p>
            <a:endParaRPr lang="en-US"/>
          </a:p>
        </p:txBody>
      </p:sp>
      <p:sp>
        <p:nvSpPr>
          <p:cNvPr id="30" name="Text 28"/>
          <p:cNvSpPr/>
          <p:nvPr/>
        </p:nvSpPr>
        <p:spPr>
          <a:xfrm>
            <a:off x="5550408" y="2880360"/>
            <a:ext cx="29809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Package Whitelist</a:t>
            </a:r>
            <a:endParaRPr lang="en-US" sz="1200" dirty="0"/>
          </a:p>
        </p:txBody>
      </p:sp>
      <p:sp>
        <p:nvSpPr>
          <p:cNvPr id="31" name="Text 29"/>
          <p:cNvSpPr/>
          <p:nvPr/>
        </p:nvSpPr>
        <p:spPr>
          <a:xfrm>
            <a:off x="5550408" y="3236976"/>
            <a:ext cx="2980944" cy="62179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Packages validated before run:</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pandas, numpy, matplotlib, seaborn, scipy, sklearn, openpyxl, xlrd, tabulate, json, csv, re, math, statistics, datetime</a:t>
            </a:r>
            <a:endParaRPr lang="en-US" sz="1000" dirty="0"/>
          </a:p>
        </p:txBody>
      </p:sp>
      <p:sp>
        <p:nvSpPr>
          <p:cNvPr id="32" name="Text 30"/>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sandbox/docker_exec.py — DockerSandboxExecutor, SandboxResult, sandbox/images.py, sandbox/workspace.py</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Agent: rag_worker — The Evidence Machine</a:t>
            </a:r>
            <a:endParaRPr lang="en-US" sz="2600" dirty="0"/>
          </a:p>
        </p:txBody>
      </p:sp>
      <p:sp>
        <p:nvSpPr>
          <p:cNvPr id="3" name="Shape 1"/>
          <p:cNvSpPr/>
          <p:nvPr/>
        </p:nvSpPr>
        <p:spPr>
          <a:xfrm>
            <a:off x="502920" y="914400"/>
            <a:ext cx="1920240" cy="320040"/>
          </a:xfrm>
          <a:prstGeom prst="rect">
            <a:avLst/>
          </a:prstGeom>
          <a:solidFill>
            <a:srgbClr val="0097A7"/>
          </a:solidFill>
          <a:ln/>
        </p:spPr>
        <p:txBody>
          <a:bodyPr/>
          <a:lstStyle/>
          <a:p>
            <a:endParaRPr lang="en-US"/>
          </a:p>
        </p:txBody>
      </p:sp>
      <p:sp>
        <p:nvSpPr>
          <p:cNvPr id="4" name="Text 2"/>
          <p:cNvSpPr/>
          <p:nvPr/>
        </p:nvSpPr>
        <p:spPr>
          <a:xfrm>
            <a:off x="576072" y="914400"/>
            <a:ext cx="1773936" cy="320040"/>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mode: rag</a:t>
            </a:r>
            <a:endParaRPr lang="en-US" sz="950" dirty="0"/>
          </a:p>
        </p:txBody>
      </p:sp>
      <p:sp>
        <p:nvSpPr>
          <p:cNvPr id="5" name="Shape 3"/>
          <p:cNvSpPr/>
          <p:nvPr/>
        </p:nvSpPr>
        <p:spPr>
          <a:xfrm>
            <a:off x="2514600" y="914400"/>
            <a:ext cx="1920240" cy="320040"/>
          </a:xfrm>
          <a:prstGeom prst="rect">
            <a:avLst/>
          </a:prstGeom>
          <a:solidFill>
            <a:srgbClr val="0097A7"/>
          </a:solidFill>
          <a:ln/>
        </p:spPr>
        <p:txBody>
          <a:bodyPr/>
          <a:lstStyle/>
          <a:p>
            <a:endParaRPr lang="en-US"/>
          </a:p>
        </p:txBody>
      </p:sp>
      <p:sp>
        <p:nvSpPr>
          <p:cNvPr id="6" name="Text 4"/>
          <p:cNvSpPr/>
          <p:nvPr/>
        </p:nvSpPr>
        <p:spPr>
          <a:xfrm>
            <a:off x="2587752" y="914400"/>
            <a:ext cx="1773936" cy="320040"/>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Tools: 0 (pipeline)</a:t>
            </a:r>
            <a:endParaRPr lang="en-US" sz="950" dirty="0"/>
          </a:p>
        </p:txBody>
      </p:sp>
      <p:sp>
        <p:nvSpPr>
          <p:cNvPr id="7" name="Shape 5"/>
          <p:cNvSpPr/>
          <p:nvPr/>
        </p:nvSpPr>
        <p:spPr>
          <a:xfrm>
            <a:off x="4526280" y="914400"/>
            <a:ext cx="1920240" cy="320040"/>
          </a:xfrm>
          <a:prstGeom prst="rect">
            <a:avLst/>
          </a:prstGeom>
          <a:solidFill>
            <a:srgbClr val="0097A7"/>
          </a:solidFill>
          <a:ln/>
        </p:spPr>
        <p:txBody>
          <a:bodyPr/>
          <a:lstStyle/>
          <a:p>
            <a:endParaRPr lang="en-US"/>
          </a:p>
        </p:txBody>
      </p:sp>
      <p:sp>
        <p:nvSpPr>
          <p:cNvPr id="8" name="Text 6"/>
          <p:cNvSpPr/>
          <p:nvPr/>
        </p:nvSpPr>
        <p:spPr>
          <a:xfrm>
            <a:off x="4599432" y="914400"/>
            <a:ext cx="1773936" cy="320040"/>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Role: top_level_or_worker</a:t>
            </a:r>
            <a:endParaRPr lang="en-US" sz="950" dirty="0"/>
          </a:p>
        </p:txBody>
      </p:sp>
      <p:sp>
        <p:nvSpPr>
          <p:cNvPr id="9" name="Shape 7"/>
          <p:cNvSpPr/>
          <p:nvPr/>
        </p:nvSpPr>
        <p:spPr>
          <a:xfrm>
            <a:off x="6537960" y="914400"/>
            <a:ext cx="1920240" cy="320040"/>
          </a:xfrm>
          <a:prstGeom prst="rect">
            <a:avLst/>
          </a:prstGeom>
          <a:solidFill>
            <a:srgbClr val="0097A7"/>
          </a:solidFill>
          <a:ln/>
        </p:spPr>
        <p:txBody>
          <a:bodyPr/>
          <a:lstStyle/>
          <a:p>
            <a:endParaRPr lang="en-US"/>
          </a:p>
        </p:txBody>
      </p:sp>
      <p:sp>
        <p:nvSpPr>
          <p:cNvPr id="10" name="Text 8"/>
          <p:cNvSpPr/>
          <p:nvPr/>
        </p:nvSpPr>
        <p:spPr>
          <a:xfrm>
            <a:off x="6611112" y="914400"/>
            <a:ext cx="1773936" cy="320040"/>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New: evidence_only mode</a:t>
            </a:r>
            <a:endParaRPr lang="en-US" sz="950" dirty="0"/>
          </a:p>
        </p:txBody>
      </p:sp>
      <p:sp>
        <p:nvSpPr>
          <p:cNvPr id="11" name="Text 9"/>
          <p:cNvSpPr/>
          <p:nvPr/>
        </p:nvSpPr>
        <p:spPr>
          <a:xfrm>
            <a:off x="502920" y="1417320"/>
            <a:ext cx="4572000" cy="274320"/>
          </a:xfrm>
          <a:prstGeom prst="rect">
            <a:avLst/>
          </a:prstGeom>
          <a:noFill/>
          <a:ln/>
        </p:spPr>
        <p:txBody>
          <a:bodyPr wrap="square" lIns="0" tIns="0" rIns="0" bIns="0" rtlCol="0" anchor="ctr"/>
          <a:lstStyle/>
          <a:p>
            <a:pPr marL="0" indent="0">
              <a:buNone/>
            </a:pPr>
            <a:r>
              <a:rPr lang="en-US" sz="1100" b="1" dirty="0">
                <a:solidFill>
                  <a:srgbClr val="1B2A4A"/>
                </a:solidFill>
                <a:latin typeface="Arial" pitchFamily="34" charset="0"/>
                <a:ea typeface="Arial" pitchFamily="34" charset="-122"/>
                <a:cs typeface="Arial" pitchFamily="34" charset="-120"/>
              </a:rPr>
              <a:t>run_rag_contract() returns structured output:</a:t>
            </a:r>
            <a:endParaRPr lang="en-US" sz="1100" dirty="0"/>
          </a:p>
        </p:txBody>
      </p:sp>
      <p:sp>
        <p:nvSpPr>
          <p:cNvPr id="12" name="Text 10"/>
          <p:cNvSpPr/>
          <p:nvPr/>
        </p:nvSpPr>
        <p:spPr>
          <a:xfrm>
            <a:off x="594360" y="1737360"/>
            <a:ext cx="4572000" cy="2011680"/>
          </a:xfrm>
          <a:prstGeom prst="rect">
            <a:avLst/>
          </a:prstGeom>
          <a:noFill/>
          <a:ln/>
        </p:spPr>
        <p:txBody>
          <a:bodyPr wrap="square" lIns="0" tIns="0" rIns="0" bIns="0" rtlCol="0" anchor="t"/>
          <a:lstStyle/>
          <a:p>
            <a:pPr marL="342900" indent="-342900">
              <a:buSzPct val="100000"/>
              <a:buChar char="•"/>
            </a:pPr>
            <a:r>
              <a:rPr lang="en-US" sz="1000" dirty="0">
                <a:solidFill>
                  <a:srgbClr val="333333"/>
                </a:solidFill>
                <a:latin typeface="Arial" pitchFamily="34" charset="0"/>
                <a:ea typeface="Arial" pitchFamily="34" charset="-122"/>
                <a:cs typeface="Arial" pitchFamily="34" charset="-120"/>
              </a:rPr>
              <a:t>answer — the grounded answer text</a:t>
            </a:r>
            <a:endParaRPr lang="en-US" sz="1000" dirty="0"/>
          </a:p>
          <a:p>
            <a:pPr marL="342900" indent="-342900">
              <a:buSzPct val="100000"/>
              <a:buChar char="•"/>
            </a:pPr>
            <a:r>
              <a:rPr lang="en-US" sz="1000" dirty="0">
                <a:solidFill>
                  <a:srgbClr val="333333"/>
                </a:solidFill>
                <a:latin typeface="Arial" pitchFamily="34" charset="0"/>
                <a:ea typeface="Arial" pitchFamily="34" charset="-122"/>
                <a:cs typeface="Arial" pitchFamily="34" charset="-120"/>
              </a:rPr>
              <a:t>citations — [{citation_id, source, snippet (320 chars), score}]</a:t>
            </a:r>
            <a:endParaRPr lang="en-US" sz="1000" dirty="0"/>
          </a:p>
          <a:p>
            <a:pPr marL="342900" indent="-342900">
              <a:buSzPct val="100000"/>
              <a:buChar char="•"/>
            </a:pPr>
            <a:r>
              <a:rPr lang="en-US" sz="1000" dirty="0">
                <a:solidFill>
                  <a:srgbClr val="333333"/>
                </a:solidFill>
                <a:latin typeface="Arial" pitchFamily="34" charset="0"/>
                <a:ea typeface="Arial" pitchFamily="34" charset="-122"/>
                <a:cs typeface="Arial" pitchFamily="34" charset="-120"/>
              </a:rPr>
              <a:t>used_citation_ids — which citations the answer references</a:t>
            </a:r>
            <a:endParaRPr lang="en-US" sz="1000" dirty="0"/>
          </a:p>
          <a:p>
            <a:pPr marL="342900" indent="-342900">
              <a:buSzPct val="100000"/>
              <a:buChar char="•"/>
            </a:pPr>
            <a:r>
              <a:rPr lang="en-US" sz="1000" dirty="0">
                <a:solidFill>
                  <a:srgbClr val="333333"/>
                </a:solidFill>
                <a:latin typeface="Arial" pitchFamily="34" charset="0"/>
                <a:ea typeface="Arial" pitchFamily="34" charset="-122"/>
                <a:cs typeface="Arial" pitchFamily="34" charset="-120"/>
              </a:rPr>
              <a:t>confidence — high / medium / low</a:t>
            </a:r>
            <a:endParaRPr lang="en-US" sz="1000" dirty="0"/>
          </a:p>
          <a:p>
            <a:pPr marL="342900" indent="-342900">
              <a:buSzPct val="100000"/>
              <a:buChar char="•"/>
            </a:pPr>
            <a:r>
              <a:rPr lang="en-US" sz="1000" dirty="0">
                <a:solidFill>
                  <a:srgbClr val="333333"/>
                </a:solidFill>
                <a:latin typeface="Arial" pitchFamily="34" charset="0"/>
                <a:ea typeface="Arial" pitchFamily="34" charset="-122"/>
                <a:cs typeface="Arial" pitchFamily="34" charset="-120"/>
              </a:rPr>
              <a:t>retrieval_summary — chunks retrieved, graded, used</a:t>
            </a:r>
            <a:endParaRPr lang="en-US" sz="1000" dirty="0"/>
          </a:p>
          <a:p>
            <a:pPr marL="342900" indent="-342900">
              <a:buSzPct val="100000"/>
              <a:buChar char="•"/>
            </a:pPr>
            <a:r>
              <a:rPr lang="en-US" sz="1000" dirty="0">
                <a:solidFill>
                  <a:srgbClr val="333333"/>
                </a:solidFill>
                <a:latin typeface="Arial" pitchFamily="34" charset="0"/>
                <a:ea typeface="Arial" pitchFamily="34" charset="-122"/>
                <a:cs typeface="Arial" pitchFamily="34" charset="-120"/>
              </a:rPr>
              <a:t>followups — suggested next questions</a:t>
            </a:r>
            <a:endParaRPr lang="en-US" sz="1000" dirty="0"/>
          </a:p>
          <a:p>
            <a:pPr marL="342900" indent="-342900">
              <a:buSzPct val="100000"/>
              <a:buChar char="•"/>
            </a:pPr>
            <a:r>
              <a:rPr lang="en-US" sz="1000" dirty="0">
                <a:solidFill>
                  <a:srgbClr val="333333"/>
                </a:solidFill>
                <a:latin typeface="Arial" pitchFamily="34" charset="0"/>
                <a:ea typeface="Arial" pitchFamily="34" charset="-122"/>
                <a:cs typeface="Arial" pitchFamily="34" charset="-120"/>
              </a:rPr>
              <a:t>warnings — quality issues flagged</a:t>
            </a:r>
            <a:endParaRPr lang="en-US" sz="1000" dirty="0"/>
          </a:p>
        </p:txBody>
      </p:sp>
      <p:sp>
        <p:nvSpPr>
          <p:cNvPr id="13" name="Text 11"/>
          <p:cNvSpPr/>
          <p:nvPr/>
        </p:nvSpPr>
        <p:spPr>
          <a:xfrm>
            <a:off x="5029200" y="1417320"/>
            <a:ext cx="3657600" cy="2286000"/>
          </a:xfrm>
          <a:prstGeom prst="rect">
            <a:avLst/>
          </a:prstGeom>
          <a:noFill/>
          <a:ln/>
        </p:spPr>
        <p:txBody>
          <a:bodyPr wrap="square" lIns="0" tIns="0" rIns="0" bIns="0" rtlCol="0" anchor="t"/>
          <a:lstStyle/>
          <a:p>
            <a:pPr marL="0" indent="0">
              <a:buNone/>
            </a:pPr>
            <a:r>
              <a:rPr lang="en-US" sz="1000" b="1" dirty="0">
                <a:solidFill>
                  <a:srgbClr val="333333"/>
                </a:solidFill>
                <a:latin typeface="Arial" pitchFamily="34" charset="0"/>
                <a:ea typeface="Arial" pitchFamily="34" charset="-122"/>
                <a:cs typeface="Arial" pitchFamily="34" charset="-120"/>
              </a:rPr>
              <a:t>Retrieval method:
</a:t>
            </a:r>
            <a:endParaRPr lang="en-US" sz="1000" dirty="0"/>
          </a:p>
          <a:p>
            <a:pPr marL="0" indent="0">
              <a:buNone/>
            </a:pPr>
            <a:r>
              <a:rPr lang="en-US" sz="1000" dirty="0">
                <a:solidFill>
                  <a:srgbClr val="333333"/>
                </a:solidFill>
                <a:latin typeface="Arial" pitchFamily="34" charset="0"/>
                <a:ea typeface="Arial" pitchFamily="34" charset="-122"/>
                <a:cs typeface="Arial" pitchFamily="34" charset="-120"/>
              </a:rPr>
              <a:t>Hybrid vector (semantic) + keyword (BM25) -&gt; judge model grades each chunk.
</a:t>
            </a:r>
            <a:endParaRPr lang="en-US" sz="1000" dirty="0"/>
          </a:p>
          <a:p>
            <a:pPr marL="0" indent="0">
              <a:buNone/>
            </a:pPr>
            <a:r>
              <a:rPr lang="en-US" sz="1000" b="1" dirty="0">
                <a:solidFill>
                  <a:srgbClr val="333333"/>
                </a:solidFill>
                <a:latin typeface="Arial" pitchFamily="34" charset="0"/>
                <a:ea typeface="Arial" pitchFamily="34" charset="-122"/>
                <a:cs typeface="Arial" pitchFamily="34" charset="-120"/>
              </a:rPr>
              <a:t>Key difference:
</a:t>
            </a:r>
            <a:endParaRPr lang="en-US" sz="1000" dirty="0"/>
          </a:p>
          <a:p>
            <a:pPr marL="0" indent="0">
              <a:buNone/>
            </a:pPr>
            <a:r>
              <a:rPr lang="en-US" sz="1000" dirty="0">
                <a:solidFill>
                  <a:srgbClr val="333333"/>
                </a:solidFill>
                <a:latin typeface="Arial" pitchFamily="34" charset="0"/>
                <a:ea typeface="Arial" pitchFamily="34" charset="-122"/>
                <a:cs typeface="Arial" pitchFamily="34" charset="-120"/>
              </a:rPr>
              <a:t>Doesn't use ReAct tool loop. Has its own dedicated pipeline guaranteeing structured, citable output.
</a:t>
            </a:r>
            <a:endParaRPr lang="en-US" sz="1000" dirty="0"/>
          </a:p>
          <a:p>
            <a:pPr marL="0" indent="0">
              <a:buNone/>
            </a:pPr>
            <a:r>
              <a:rPr lang="en-US" sz="1000" b="1" dirty="0">
                <a:solidFill>
                  <a:srgbClr val="333333"/>
                </a:solidFill>
                <a:latin typeface="Arial" pitchFamily="34" charset="0"/>
                <a:ea typeface="Arial" pitchFamily="34" charset="-122"/>
                <a:cs typeface="Arial" pitchFamily="34" charset="-120"/>
              </a:rPr>
              <a:t>evidence_only mode:
</a:t>
            </a:r>
            <a:endParaRPr lang="en-US" sz="1000" dirty="0"/>
          </a:p>
          <a:p>
            <a:pPr marL="0" indent="0">
              <a:buNone/>
            </a:pPr>
            <a:r>
              <a:rPr lang="en-US" sz="1000" dirty="0">
                <a:solidFill>
                  <a:srgbClr val="333333"/>
                </a:solidFill>
                <a:latin typeface="Arial" pitchFamily="34" charset="0"/>
                <a:ea typeface="Arial" pitchFamily="34" charset="-122"/>
                <a:cs typeface="Arial" pitchFamily="34" charset="-120"/>
              </a:rPr>
              <a:t>Returns raw evidence without synthesis — lets coordinator control output.</a:t>
            </a:r>
            <a:endParaRPr lang="en-US" sz="1000" dirty="0"/>
          </a:p>
        </p:txBody>
      </p:sp>
      <p:sp>
        <p:nvSpPr>
          <p:cNvPr id="14" name="Text 12"/>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rag/engine.py, rag/retrieval.py, rag/synthesis.py, rag/citations.py</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Coordinator-Only Agents: planner, finalizer, verifier</a:t>
            </a:r>
            <a:endParaRPr lang="en-US" sz="2600" dirty="0"/>
          </a:p>
        </p:txBody>
      </p:sp>
      <p:sp>
        <p:nvSpPr>
          <p:cNvPr id="3" name="Shape 1"/>
          <p:cNvSpPr/>
          <p:nvPr/>
        </p:nvSpPr>
        <p:spPr>
          <a:xfrm>
            <a:off x="502920" y="960120"/>
            <a:ext cx="2560320" cy="219456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4" name="Shape 2"/>
          <p:cNvSpPr/>
          <p:nvPr/>
        </p:nvSpPr>
        <p:spPr>
          <a:xfrm>
            <a:off x="502920" y="960120"/>
            <a:ext cx="2560320" cy="320040"/>
          </a:xfrm>
          <a:prstGeom prst="rect">
            <a:avLst/>
          </a:prstGeom>
          <a:solidFill>
            <a:srgbClr val="0097A7"/>
          </a:solidFill>
          <a:ln/>
        </p:spPr>
        <p:txBody>
          <a:bodyPr/>
          <a:lstStyle/>
          <a:p>
            <a:endParaRPr lang="en-US"/>
          </a:p>
        </p:txBody>
      </p:sp>
      <p:sp>
        <p:nvSpPr>
          <p:cNvPr id="5" name="Text 3"/>
          <p:cNvSpPr/>
          <p:nvPr/>
        </p:nvSpPr>
        <p:spPr>
          <a:xfrm>
            <a:off x="612648" y="987552"/>
            <a:ext cx="234086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Planner</a:t>
            </a:r>
            <a:endParaRPr lang="en-US" sz="1200" dirty="0"/>
          </a:p>
        </p:txBody>
      </p:sp>
      <p:sp>
        <p:nvSpPr>
          <p:cNvPr id="6" name="Text 4"/>
          <p:cNvSpPr/>
          <p:nvPr/>
        </p:nvSpPr>
        <p:spPr>
          <a:xfrm>
            <a:off x="612648" y="1344168"/>
            <a:ext cx="2340864" cy="171907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mode: planner | 0 tools</a:t>
            </a:r>
            <a:endParaRPr lang="en-US" sz="1000" dirty="0"/>
          </a:p>
          <a:p>
            <a:pPr marL="0" indent="0">
              <a:lnSpc>
                <a:spcPct val="110000"/>
              </a:lnSpc>
              <a:buNone/>
            </a:pP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Takes coordinator's task + available worker list -&gt; outputs structured JSON plan.</a:t>
            </a:r>
            <a:endParaRPr lang="en-US" sz="1000" dirty="0"/>
          </a:p>
          <a:p>
            <a:pPr marL="0" indent="0">
              <a:lnSpc>
                <a:spcPct val="110000"/>
              </a:lnSpc>
              <a:buNone/>
            </a:pP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Task breakdown, worker assignments, dependencies.</a:t>
            </a:r>
            <a:endParaRPr lang="en-US" sz="1000" dirty="0"/>
          </a:p>
          <a:p>
            <a:pPr marL="0" indent="0">
              <a:lnSpc>
                <a:spcPct val="110000"/>
              </a:lnSpc>
              <a:buNone/>
            </a:pP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Pure reasoning — cannot call tools.</a:t>
            </a:r>
            <a:endParaRPr lang="en-US" sz="1000" dirty="0"/>
          </a:p>
        </p:txBody>
      </p:sp>
      <p:sp>
        <p:nvSpPr>
          <p:cNvPr id="7" name="Shape 5"/>
          <p:cNvSpPr/>
          <p:nvPr/>
        </p:nvSpPr>
        <p:spPr>
          <a:xfrm>
            <a:off x="3246120" y="960120"/>
            <a:ext cx="2560320" cy="219456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8" name="Shape 6"/>
          <p:cNvSpPr/>
          <p:nvPr/>
        </p:nvSpPr>
        <p:spPr>
          <a:xfrm>
            <a:off x="3246120" y="960120"/>
            <a:ext cx="2560320" cy="320040"/>
          </a:xfrm>
          <a:prstGeom prst="rect">
            <a:avLst/>
          </a:prstGeom>
          <a:solidFill>
            <a:srgbClr val="00796B"/>
          </a:solidFill>
          <a:ln/>
        </p:spPr>
        <p:txBody>
          <a:bodyPr/>
          <a:lstStyle/>
          <a:p>
            <a:endParaRPr lang="en-US"/>
          </a:p>
        </p:txBody>
      </p:sp>
      <p:sp>
        <p:nvSpPr>
          <p:cNvPr id="9" name="Text 7"/>
          <p:cNvSpPr/>
          <p:nvPr/>
        </p:nvSpPr>
        <p:spPr>
          <a:xfrm>
            <a:off x="3355848" y="987552"/>
            <a:ext cx="234086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Finalizer</a:t>
            </a:r>
            <a:endParaRPr lang="en-US" sz="1200" dirty="0"/>
          </a:p>
        </p:txBody>
      </p:sp>
      <p:sp>
        <p:nvSpPr>
          <p:cNvPr id="10" name="Text 8"/>
          <p:cNvSpPr/>
          <p:nvPr/>
        </p:nvSpPr>
        <p:spPr>
          <a:xfrm>
            <a:off x="3355848" y="1344168"/>
            <a:ext cx="2340864" cy="171907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mode: finalizer | 0 tools</a:t>
            </a:r>
            <a:endParaRPr lang="en-US" sz="1000" dirty="0"/>
          </a:p>
          <a:p>
            <a:pPr marL="0" indent="0">
              <a:lnSpc>
                <a:spcPct val="110000"/>
              </a:lnSpc>
              <a:buNone/>
            </a:pP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Takes all worker outputs -&gt; synthesizes single coherent answer.</a:t>
            </a:r>
            <a:endParaRPr lang="en-US" sz="1000" dirty="0"/>
          </a:p>
          <a:p>
            <a:pPr marL="0" indent="0">
              <a:lnSpc>
                <a:spcPct val="110000"/>
              </a:lnSpc>
              <a:buNone/>
            </a:pP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Handles conflicting info, gaps, formatting.</a:t>
            </a:r>
            <a:endParaRPr lang="en-US" sz="1000" dirty="0"/>
          </a:p>
          <a:p>
            <a:pPr marL="0" indent="0">
              <a:lnSpc>
                <a:spcPct val="110000"/>
              </a:lnSpc>
              <a:buNone/>
            </a:pP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Pure synthesis — cannot call tools.</a:t>
            </a:r>
            <a:endParaRPr lang="en-US" sz="1000" dirty="0"/>
          </a:p>
        </p:txBody>
      </p:sp>
      <p:sp>
        <p:nvSpPr>
          <p:cNvPr id="11" name="Shape 9"/>
          <p:cNvSpPr/>
          <p:nvPr/>
        </p:nvSpPr>
        <p:spPr>
          <a:xfrm>
            <a:off x="5989320" y="960120"/>
            <a:ext cx="2560320" cy="219456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2" name="Shape 10"/>
          <p:cNvSpPr/>
          <p:nvPr/>
        </p:nvSpPr>
        <p:spPr>
          <a:xfrm>
            <a:off x="5989320" y="960120"/>
            <a:ext cx="2560320" cy="320040"/>
          </a:xfrm>
          <a:prstGeom prst="rect">
            <a:avLst/>
          </a:prstGeom>
          <a:solidFill>
            <a:srgbClr val="1B2A4A"/>
          </a:solidFill>
          <a:ln/>
        </p:spPr>
        <p:txBody>
          <a:bodyPr/>
          <a:lstStyle/>
          <a:p>
            <a:endParaRPr lang="en-US"/>
          </a:p>
        </p:txBody>
      </p:sp>
      <p:sp>
        <p:nvSpPr>
          <p:cNvPr id="13" name="Text 11"/>
          <p:cNvSpPr/>
          <p:nvPr/>
        </p:nvSpPr>
        <p:spPr>
          <a:xfrm>
            <a:off x="6099048" y="987552"/>
            <a:ext cx="234086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Verifier</a:t>
            </a:r>
            <a:endParaRPr lang="en-US" sz="1200" dirty="0"/>
          </a:p>
        </p:txBody>
      </p:sp>
      <p:sp>
        <p:nvSpPr>
          <p:cNvPr id="14" name="Text 12"/>
          <p:cNvSpPr/>
          <p:nvPr/>
        </p:nvSpPr>
        <p:spPr>
          <a:xfrm>
            <a:off x="6099048" y="1344168"/>
            <a:ext cx="2340864" cy="171907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mode: verifier | 3 tools</a:t>
            </a:r>
            <a:endParaRPr lang="en-US" sz="1000" dirty="0"/>
          </a:p>
          <a:p>
            <a:pPr marL="0" indent="0">
              <a:lnSpc>
                <a:spcPct val="110000"/>
              </a:lnSpc>
              <a:buNone/>
            </a:pP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Tools: rag_agent_tool, list_indexed_docs, search_skills</a:t>
            </a:r>
            <a:endParaRPr lang="en-US" sz="1000" dirty="0"/>
          </a:p>
          <a:p>
            <a:pPr marL="0" indent="0">
              <a:lnSpc>
                <a:spcPct val="110000"/>
              </a:lnSpc>
              <a:buNone/>
            </a:pP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Cross-checks finalizer's answer against KB.</a:t>
            </a:r>
            <a:endParaRPr lang="en-US" sz="1000" dirty="0"/>
          </a:p>
          <a:p>
            <a:pPr marL="0" indent="0">
              <a:lnSpc>
                <a:spcPct val="110000"/>
              </a:lnSpc>
              <a:buNone/>
            </a:pP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Outputs pass/fail with flagged claims.</a:t>
            </a:r>
            <a:endParaRPr lang="en-US" sz="1000" dirty="0"/>
          </a:p>
        </p:txBody>
      </p:sp>
      <p:sp>
        <p:nvSpPr>
          <p:cNvPr id="15" name="Shape 13"/>
          <p:cNvSpPr/>
          <p:nvPr/>
        </p:nvSpPr>
        <p:spPr>
          <a:xfrm>
            <a:off x="502920" y="3337560"/>
            <a:ext cx="8138160" cy="411480"/>
          </a:xfrm>
          <a:prstGeom prst="rect">
            <a:avLst/>
          </a:prstGeom>
          <a:solidFill>
            <a:srgbClr val="E0F7FA"/>
          </a:solidFill>
          <a:ln w="12700">
            <a:solidFill>
              <a:srgbClr val="0097A7"/>
            </a:solidFill>
            <a:prstDash val="solid"/>
          </a:ln>
        </p:spPr>
        <p:txBody>
          <a:bodyPr/>
          <a:lstStyle/>
          <a:p>
            <a:endParaRPr lang="en-US"/>
          </a:p>
        </p:txBody>
      </p:sp>
      <p:sp>
        <p:nvSpPr>
          <p:cNvPr id="16" name="Text 14"/>
          <p:cNvSpPr/>
          <p:nvPr/>
        </p:nvSpPr>
        <p:spPr>
          <a:xfrm>
            <a:off x="594360" y="3337560"/>
            <a:ext cx="7955280" cy="41148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Quality chain: Plan -&gt; Execute -&gt; Synthesize -&gt; Verify. The verifier is the only one with tools — it needs independent KB access to check facts. If it flags issues, coordinator loops back to planner.</a:t>
            </a:r>
            <a:endParaRPr lang="en-US" sz="10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Supporting Agents: utility &amp; memory_maintainer</a:t>
            </a:r>
            <a:endParaRPr lang="en-US" sz="2600" dirty="0"/>
          </a:p>
        </p:txBody>
      </p:sp>
      <p:sp>
        <p:nvSpPr>
          <p:cNvPr id="3" name="Shape 1"/>
          <p:cNvSpPr/>
          <p:nvPr/>
        </p:nvSpPr>
        <p:spPr>
          <a:xfrm>
            <a:off x="502920" y="960120"/>
            <a:ext cx="3840480" cy="22860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4" name="Shape 2"/>
          <p:cNvSpPr/>
          <p:nvPr/>
        </p:nvSpPr>
        <p:spPr>
          <a:xfrm>
            <a:off x="502920" y="960120"/>
            <a:ext cx="3840480" cy="320040"/>
          </a:xfrm>
          <a:prstGeom prst="rect">
            <a:avLst/>
          </a:prstGeom>
          <a:solidFill>
            <a:srgbClr val="0097A7"/>
          </a:solidFill>
          <a:ln/>
        </p:spPr>
        <p:txBody>
          <a:bodyPr/>
          <a:lstStyle/>
          <a:p>
            <a:endParaRPr lang="en-US"/>
          </a:p>
        </p:txBody>
      </p:sp>
      <p:sp>
        <p:nvSpPr>
          <p:cNvPr id="5" name="Text 3"/>
          <p:cNvSpPr/>
          <p:nvPr/>
        </p:nvSpPr>
        <p:spPr>
          <a:xfrm>
            <a:off x="612648" y="987552"/>
            <a:ext cx="362102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utility</a:t>
            </a:r>
            <a:endParaRPr lang="en-US" sz="1200" dirty="0"/>
          </a:p>
        </p:txBody>
      </p:sp>
      <p:sp>
        <p:nvSpPr>
          <p:cNvPr id="6" name="Text 4"/>
          <p:cNvSpPr/>
          <p:nvPr/>
        </p:nvSpPr>
        <p:spPr>
          <a:xfrm>
            <a:off x="612648" y="1344168"/>
            <a:ext cx="3621024" cy="1810512"/>
          </a:xfrm>
          <a:prstGeom prst="rect">
            <a:avLst/>
          </a:prstGeom>
          <a:noFill/>
          <a:ln/>
        </p:spPr>
        <p:txBody>
          <a:bodyPr wrap="square" lIns="0" tIns="0" rIns="0" bIns="0" rtlCol="0" anchor="t"/>
          <a:lstStyle/>
          <a:p>
            <a:pPr marL="0" indent="0">
              <a:lnSpc>
                <a:spcPct val="110000"/>
              </a:lnSpc>
              <a:buNone/>
            </a:pPr>
            <a:r>
              <a:rPr lang="en-US" sz="900" dirty="0">
                <a:solidFill>
                  <a:srgbClr val="333333"/>
                </a:solidFill>
                <a:latin typeface="Courier New" pitchFamily="34" charset="0"/>
                <a:ea typeface="Courier New" pitchFamily="34" charset="-122"/>
                <a:cs typeface="Courier New" pitchFamily="34" charset="-120"/>
              </a:rPr>
              <a:t>mode: react | 6 tools | role: worker | max 8 steps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Tools: calculator, list_indexed_docs, search_skills, scratchpad_read/write, workspace_read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Purpose: Lightweight worker for coordinator. Handles simple computations, skill lookups, document listing.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When used: Coordinator dispatches utility when a task doesn't need data analysis or full RAG.</a:t>
            </a:r>
            <a:endParaRPr lang="en-US" sz="1000" dirty="0"/>
          </a:p>
        </p:txBody>
      </p:sp>
      <p:sp>
        <p:nvSpPr>
          <p:cNvPr id="7" name="Shape 5"/>
          <p:cNvSpPr/>
          <p:nvPr/>
        </p:nvSpPr>
        <p:spPr>
          <a:xfrm>
            <a:off x="4754880" y="960120"/>
            <a:ext cx="3931920" cy="22860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8" name="Shape 6"/>
          <p:cNvSpPr/>
          <p:nvPr/>
        </p:nvSpPr>
        <p:spPr>
          <a:xfrm>
            <a:off x="4754880" y="960120"/>
            <a:ext cx="3931920" cy="320040"/>
          </a:xfrm>
          <a:prstGeom prst="rect">
            <a:avLst/>
          </a:prstGeom>
          <a:solidFill>
            <a:srgbClr val="1B2A4A"/>
          </a:solidFill>
          <a:ln/>
        </p:spPr>
        <p:txBody>
          <a:bodyPr/>
          <a:lstStyle/>
          <a:p>
            <a:endParaRPr lang="en-US"/>
          </a:p>
        </p:txBody>
      </p:sp>
      <p:sp>
        <p:nvSpPr>
          <p:cNvPr id="9" name="Text 7"/>
          <p:cNvSpPr/>
          <p:nvPr/>
        </p:nvSpPr>
        <p:spPr>
          <a:xfrm>
            <a:off x="4864608" y="987552"/>
            <a:ext cx="371246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memory_maintainer</a:t>
            </a:r>
            <a:endParaRPr lang="en-US" sz="1200" dirty="0"/>
          </a:p>
        </p:txBody>
      </p:sp>
      <p:sp>
        <p:nvSpPr>
          <p:cNvPr id="10" name="Text 8"/>
          <p:cNvSpPr/>
          <p:nvPr/>
        </p:nvSpPr>
        <p:spPr>
          <a:xfrm>
            <a:off x="4864608" y="1344168"/>
            <a:ext cx="3712464" cy="1810512"/>
          </a:xfrm>
          <a:prstGeom prst="rect">
            <a:avLst/>
          </a:prstGeom>
          <a:noFill/>
          <a:ln/>
        </p:spPr>
        <p:txBody>
          <a:bodyPr wrap="square" lIns="0" tIns="0" rIns="0" bIns="0" rtlCol="0" anchor="t"/>
          <a:lstStyle/>
          <a:p>
            <a:pPr marL="0" indent="0">
              <a:lnSpc>
                <a:spcPct val="110000"/>
              </a:lnSpc>
              <a:buNone/>
            </a:pPr>
            <a:r>
              <a:rPr lang="en-US" sz="900" dirty="0">
                <a:solidFill>
                  <a:srgbClr val="333333"/>
                </a:solidFill>
                <a:latin typeface="Courier New" pitchFamily="34" charset="0"/>
                <a:ea typeface="Courier New" pitchFamily="34" charset="-122"/>
                <a:cs typeface="Courier New" pitchFamily="34" charset="-120"/>
              </a:rPr>
              <a:t>mode: memory_maintainer | 3 tools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Tools: memory_save, memory_load, memory_list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Purpose: Extracts and persists user preferences, facts, and context after conversation turns.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Storage: data/memory/tenants/&lt;t&gt;/users/&lt;u&gt;/</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index.json (authoritative) + MEMORY.md + topics/*.md</a:t>
            </a:r>
            <a:endParaRPr lang="en-US" sz="1000" dirty="0"/>
          </a:p>
        </p:txBody>
      </p:sp>
      <p:sp>
        <p:nvSpPr>
          <p:cNvPr id="11" name="Text 9"/>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data/agents/utility.md, data/agents/memory_maintainer.md, memory/file_store.py</a:t>
            </a:r>
            <a:endParaRPr lang="en-US" sz="9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Agent Capabilities Matrix — Complete Reference</a:t>
            </a:r>
            <a:endParaRPr lang="en-US" sz="2600" dirty="0"/>
          </a:p>
        </p:txBody>
      </p:sp>
      <p:sp>
        <p:nvSpPr>
          <p:cNvPr id="3" name="Shape 1"/>
          <p:cNvSpPr/>
          <p:nvPr/>
        </p:nvSpPr>
        <p:spPr>
          <a:xfrm>
            <a:off x="502920" y="868680"/>
            <a:ext cx="1143000" cy="274320"/>
          </a:xfrm>
          <a:prstGeom prst="rect">
            <a:avLst/>
          </a:prstGeom>
          <a:solidFill>
            <a:srgbClr val="1B2A4A"/>
          </a:solidFill>
          <a:ln w="3810">
            <a:solidFill>
              <a:srgbClr val="F0F0F0"/>
            </a:solidFill>
            <a:prstDash val="solid"/>
          </a:ln>
        </p:spPr>
        <p:txBody>
          <a:bodyPr/>
          <a:lstStyle/>
          <a:p>
            <a:endParaRPr lang="en-US"/>
          </a:p>
        </p:txBody>
      </p:sp>
      <p:sp>
        <p:nvSpPr>
          <p:cNvPr id="4" name="Text 2"/>
          <p:cNvSpPr/>
          <p:nvPr/>
        </p:nvSpPr>
        <p:spPr>
          <a:xfrm>
            <a:off x="539496" y="868680"/>
            <a:ext cx="1069848" cy="274320"/>
          </a:xfrm>
          <a:prstGeom prst="rect">
            <a:avLst/>
          </a:prstGeom>
          <a:noFill/>
          <a:ln/>
        </p:spPr>
        <p:txBody>
          <a:bodyPr wrap="square" lIns="0" tIns="0" rIns="0" bIns="0" rtlCol="0" anchor="ctr"/>
          <a:lstStyle/>
          <a:p>
            <a:pPr marL="0" indent="0">
              <a:buNone/>
            </a:pPr>
            <a:r>
              <a:rPr lang="en-US" sz="800" b="1" dirty="0">
                <a:solidFill>
                  <a:srgbClr val="FFFFFF"/>
                </a:solidFill>
                <a:latin typeface="Arial" pitchFamily="34" charset="0"/>
                <a:ea typeface="Arial" pitchFamily="34" charset="-122"/>
                <a:cs typeface="Arial" pitchFamily="34" charset="-120"/>
              </a:rPr>
              <a:t>Agent</a:t>
            </a:r>
            <a:endParaRPr lang="en-US" sz="800" dirty="0"/>
          </a:p>
        </p:txBody>
      </p:sp>
      <p:sp>
        <p:nvSpPr>
          <p:cNvPr id="5" name="Shape 3"/>
          <p:cNvSpPr/>
          <p:nvPr/>
        </p:nvSpPr>
        <p:spPr>
          <a:xfrm>
            <a:off x="1645920" y="868680"/>
            <a:ext cx="822960" cy="274320"/>
          </a:xfrm>
          <a:prstGeom prst="rect">
            <a:avLst/>
          </a:prstGeom>
          <a:solidFill>
            <a:srgbClr val="1B2A4A"/>
          </a:solidFill>
          <a:ln w="3810">
            <a:solidFill>
              <a:srgbClr val="F0F0F0"/>
            </a:solidFill>
            <a:prstDash val="solid"/>
          </a:ln>
        </p:spPr>
        <p:txBody>
          <a:bodyPr/>
          <a:lstStyle/>
          <a:p>
            <a:endParaRPr lang="en-US"/>
          </a:p>
        </p:txBody>
      </p:sp>
      <p:sp>
        <p:nvSpPr>
          <p:cNvPr id="6" name="Text 4"/>
          <p:cNvSpPr/>
          <p:nvPr/>
        </p:nvSpPr>
        <p:spPr>
          <a:xfrm>
            <a:off x="1682496" y="868680"/>
            <a:ext cx="749808" cy="274320"/>
          </a:xfrm>
          <a:prstGeom prst="rect">
            <a:avLst/>
          </a:prstGeom>
          <a:noFill/>
          <a:ln/>
        </p:spPr>
        <p:txBody>
          <a:bodyPr wrap="square" lIns="0" tIns="0" rIns="0" bIns="0" rtlCol="0" anchor="ctr"/>
          <a:lstStyle/>
          <a:p>
            <a:pPr marL="0" indent="0">
              <a:buNone/>
            </a:pPr>
            <a:r>
              <a:rPr lang="en-US" sz="800" b="1" dirty="0">
                <a:solidFill>
                  <a:srgbClr val="FFFFFF"/>
                </a:solidFill>
                <a:latin typeface="Arial" pitchFamily="34" charset="0"/>
                <a:ea typeface="Arial" pitchFamily="34" charset="-122"/>
                <a:cs typeface="Arial" pitchFamily="34" charset="-120"/>
              </a:rPr>
              <a:t>Mode</a:t>
            </a:r>
            <a:endParaRPr lang="en-US" sz="800" dirty="0"/>
          </a:p>
        </p:txBody>
      </p:sp>
      <p:sp>
        <p:nvSpPr>
          <p:cNvPr id="7" name="Shape 5"/>
          <p:cNvSpPr/>
          <p:nvPr/>
        </p:nvSpPr>
        <p:spPr>
          <a:xfrm>
            <a:off x="2468880" y="868680"/>
            <a:ext cx="502920" cy="274320"/>
          </a:xfrm>
          <a:prstGeom prst="rect">
            <a:avLst/>
          </a:prstGeom>
          <a:solidFill>
            <a:srgbClr val="1B2A4A"/>
          </a:solidFill>
          <a:ln w="3810">
            <a:solidFill>
              <a:srgbClr val="F0F0F0"/>
            </a:solidFill>
            <a:prstDash val="solid"/>
          </a:ln>
        </p:spPr>
        <p:txBody>
          <a:bodyPr/>
          <a:lstStyle/>
          <a:p>
            <a:endParaRPr lang="en-US"/>
          </a:p>
        </p:txBody>
      </p:sp>
      <p:sp>
        <p:nvSpPr>
          <p:cNvPr id="8" name="Text 6"/>
          <p:cNvSpPr/>
          <p:nvPr/>
        </p:nvSpPr>
        <p:spPr>
          <a:xfrm>
            <a:off x="2505456" y="868680"/>
            <a:ext cx="429768" cy="274320"/>
          </a:xfrm>
          <a:prstGeom prst="rect">
            <a:avLst/>
          </a:prstGeom>
          <a:noFill/>
          <a:ln/>
        </p:spPr>
        <p:txBody>
          <a:bodyPr wrap="square" lIns="0" tIns="0" rIns="0" bIns="0" rtlCol="0" anchor="ctr"/>
          <a:lstStyle/>
          <a:p>
            <a:pPr marL="0" indent="0">
              <a:buNone/>
            </a:pPr>
            <a:r>
              <a:rPr lang="en-US" sz="800" b="1" dirty="0">
                <a:solidFill>
                  <a:srgbClr val="FFFFFF"/>
                </a:solidFill>
                <a:latin typeface="Arial" pitchFamily="34" charset="0"/>
                <a:ea typeface="Arial" pitchFamily="34" charset="-122"/>
                <a:cs typeface="Arial" pitchFamily="34" charset="-120"/>
              </a:rPr>
              <a:t>Tools</a:t>
            </a:r>
            <a:endParaRPr lang="en-US" sz="800" dirty="0"/>
          </a:p>
        </p:txBody>
      </p:sp>
      <p:sp>
        <p:nvSpPr>
          <p:cNvPr id="9" name="Shape 7"/>
          <p:cNvSpPr/>
          <p:nvPr/>
        </p:nvSpPr>
        <p:spPr>
          <a:xfrm>
            <a:off x="2971800" y="868680"/>
            <a:ext cx="594360" cy="274320"/>
          </a:xfrm>
          <a:prstGeom prst="rect">
            <a:avLst/>
          </a:prstGeom>
          <a:solidFill>
            <a:srgbClr val="1B2A4A"/>
          </a:solidFill>
          <a:ln w="3810">
            <a:solidFill>
              <a:srgbClr val="F0F0F0"/>
            </a:solidFill>
            <a:prstDash val="solid"/>
          </a:ln>
        </p:spPr>
        <p:txBody>
          <a:bodyPr/>
          <a:lstStyle/>
          <a:p>
            <a:endParaRPr lang="en-US"/>
          </a:p>
        </p:txBody>
      </p:sp>
      <p:sp>
        <p:nvSpPr>
          <p:cNvPr id="10" name="Text 8"/>
          <p:cNvSpPr/>
          <p:nvPr/>
        </p:nvSpPr>
        <p:spPr>
          <a:xfrm>
            <a:off x="3008376" y="868680"/>
            <a:ext cx="521208" cy="274320"/>
          </a:xfrm>
          <a:prstGeom prst="rect">
            <a:avLst/>
          </a:prstGeom>
          <a:noFill/>
          <a:ln/>
        </p:spPr>
        <p:txBody>
          <a:bodyPr wrap="square" lIns="0" tIns="0" rIns="0" bIns="0" rtlCol="0" anchor="ctr"/>
          <a:lstStyle/>
          <a:p>
            <a:pPr marL="0" indent="0">
              <a:buNone/>
            </a:pPr>
            <a:r>
              <a:rPr lang="en-US" sz="800" b="1" dirty="0">
                <a:solidFill>
                  <a:srgbClr val="FFFFFF"/>
                </a:solidFill>
                <a:latin typeface="Arial" pitchFamily="34" charset="0"/>
                <a:ea typeface="Arial" pitchFamily="34" charset="-122"/>
                <a:cs typeface="Arial" pitchFamily="34" charset="-120"/>
              </a:rPr>
              <a:t>Steps</a:t>
            </a:r>
            <a:endParaRPr lang="en-US" sz="800" dirty="0"/>
          </a:p>
        </p:txBody>
      </p:sp>
      <p:sp>
        <p:nvSpPr>
          <p:cNvPr id="11" name="Shape 9"/>
          <p:cNvSpPr/>
          <p:nvPr/>
        </p:nvSpPr>
        <p:spPr>
          <a:xfrm>
            <a:off x="3566160" y="868680"/>
            <a:ext cx="1280160" cy="274320"/>
          </a:xfrm>
          <a:prstGeom prst="rect">
            <a:avLst/>
          </a:prstGeom>
          <a:solidFill>
            <a:srgbClr val="1B2A4A"/>
          </a:solidFill>
          <a:ln w="3810">
            <a:solidFill>
              <a:srgbClr val="F0F0F0"/>
            </a:solidFill>
            <a:prstDash val="solid"/>
          </a:ln>
        </p:spPr>
        <p:txBody>
          <a:bodyPr/>
          <a:lstStyle/>
          <a:p>
            <a:endParaRPr lang="en-US"/>
          </a:p>
        </p:txBody>
      </p:sp>
      <p:sp>
        <p:nvSpPr>
          <p:cNvPr id="12" name="Text 10"/>
          <p:cNvSpPr/>
          <p:nvPr/>
        </p:nvSpPr>
        <p:spPr>
          <a:xfrm>
            <a:off x="3602736" y="868680"/>
            <a:ext cx="1207008" cy="274320"/>
          </a:xfrm>
          <a:prstGeom prst="rect">
            <a:avLst/>
          </a:prstGeom>
          <a:noFill/>
          <a:ln/>
        </p:spPr>
        <p:txBody>
          <a:bodyPr wrap="square" lIns="0" tIns="0" rIns="0" bIns="0" rtlCol="0" anchor="ctr"/>
          <a:lstStyle/>
          <a:p>
            <a:pPr marL="0" indent="0">
              <a:buNone/>
            </a:pPr>
            <a:r>
              <a:rPr lang="en-US" sz="800" b="1" dirty="0">
                <a:solidFill>
                  <a:srgbClr val="FFFFFF"/>
                </a:solidFill>
                <a:latin typeface="Arial" pitchFamily="34" charset="0"/>
                <a:ea typeface="Arial" pitchFamily="34" charset="-122"/>
                <a:cs typeface="Arial" pitchFamily="34" charset="-120"/>
              </a:rPr>
              <a:t>Role Kind</a:t>
            </a:r>
            <a:endParaRPr lang="en-US" sz="800" dirty="0"/>
          </a:p>
        </p:txBody>
      </p:sp>
      <p:sp>
        <p:nvSpPr>
          <p:cNvPr id="13" name="Shape 11"/>
          <p:cNvSpPr/>
          <p:nvPr/>
        </p:nvSpPr>
        <p:spPr>
          <a:xfrm>
            <a:off x="4846320" y="868680"/>
            <a:ext cx="868680" cy="274320"/>
          </a:xfrm>
          <a:prstGeom prst="rect">
            <a:avLst/>
          </a:prstGeom>
          <a:solidFill>
            <a:srgbClr val="1B2A4A"/>
          </a:solidFill>
          <a:ln w="3810">
            <a:solidFill>
              <a:srgbClr val="F0F0F0"/>
            </a:solidFill>
            <a:prstDash val="solid"/>
          </a:ln>
        </p:spPr>
        <p:txBody>
          <a:bodyPr/>
          <a:lstStyle/>
          <a:p>
            <a:endParaRPr lang="en-US"/>
          </a:p>
        </p:txBody>
      </p:sp>
      <p:sp>
        <p:nvSpPr>
          <p:cNvPr id="14" name="Text 12"/>
          <p:cNvSpPr/>
          <p:nvPr/>
        </p:nvSpPr>
        <p:spPr>
          <a:xfrm>
            <a:off x="4882896" y="868680"/>
            <a:ext cx="795528" cy="274320"/>
          </a:xfrm>
          <a:prstGeom prst="rect">
            <a:avLst/>
          </a:prstGeom>
          <a:noFill/>
          <a:ln/>
        </p:spPr>
        <p:txBody>
          <a:bodyPr wrap="square" lIns="0" tIns="0" rIns="0" bIns="0" rtlCol="0" anchor="ctr"/>
          <a:lstStyle/>
          <a:p>
            <a:pPr marL="0" indent="0">
              <a:buNone/>
            </a:pPr>
            <a:r>
              <a:rPr lang="en-US" sz="800" b="1" dirty="0">
                <a:solidFill>
                  <a:srgbClr val="FFFFFF"/>
                </a:solidFill>
                <a:latin typeface="Arial" pitchFamily="34" charset="0"/>
                <a:ea typeface="Arial" pitchFamily="34" charset="-122"/>
                <a:cs typeface="Arial" pitchFamily="34" charset="-120"/>
              </a:rPr>
              <a:t>Workers?</a:t>
            </a:r>
            <a:endParaRPr lang="en-US" sz="800" dirty="0"/>
          </a:p>
        </p:txBody>
      </p:sp>
      <p:sp>
        <p:nvSpPr>
          <p:cNvPr id="15" name="Shape 13"/>
          <p:cNvSpPr/>
          <p:nvPr/>
        </p:nvSpPr>
        <p:spPr>
          <a:xfrm>
            <a:off x="5715000" y="868680"/>
            <a:ext cx="594360" cy="274320"/>
          </a:xfrm>
          <a:prstGeom prst="rect">
            <a:avLst/>
          </a:prstGeom>
          <a:solidFill>
            <a:srgbClr val="1B2A4A"/>
          </a:solidFill>
          <a:ln w="3810">
            <a:solidFill>
              <a:srgbClr val="F0F0F0"/>
            </a:solidFill>
            <a:prstDash val="solid"/>
          </a:ln>
        </p:spPr>
        <p:txBody>
          <a:bodyPr/>
          <a:lstStyle/>
          <a:p>
            <a:endParaRPr lang="en-US"/>
          </a:p>
        </p:txBody>
      </p:sp>
      <p:sp>
        <p:nvSpPr>
          <p:cNvPr id="16" name="Text 14"/>
          <p:cNvSpPr/>
          <p:nvPr/>
        </p:nvSpPr>
        <p:spPr>
          <a:xfrm>
            <a:off x="5751576" y="868680"/>
            <a:ext cx="521208" cy="274320"/>
          </a:xfrm>
          <a:prstGeom prst="rect">
            <a:avLst/>
          </a:prstGeom>
          <a:noFill/>
          <a:ln/>
        </p:spPr>
        <p:txBody>
          <a:bodyPr wrap="square" lIns="0" tIns="0" rIns="0" bIns="0" rtlCol="0" anchor="ctr"/>
          <a:lstStyle/>
          <a:p>
            <a:pPr marL="0" indent="0">
              <a:buNone/>
            </a:pPr>
            <a:r>
              <a:rPr lang="en-US" sz="800" b="1" dirty="0">
                <a:solidFill>
                  <a:srgbClr val="FFFFFF"/>
                </a:solidFill>
                <a:latin typeface="Arial" pitchFamily="34" charset="0"/>
                <a:ea typeface="Arial" pitchFamily="34" charset="-122"/>
                <a:cs typeface="Arial" pitchFamily="34" charset="-120"/>
              </a:rPr>
              <a:t>RAG?</a:t>
            </a:r>
            <a:endParaRPr lang="en-US" sz="800" dirty="0"/>
          </a:p>
        </p:txBody>
      </p:sp>
      <p:sp>
        <p:nvSpPr>
          <p:cNvPr id="17" name="Shape 15"/>
          <p:cNvSpPr/>
          <p:nvPr/>
        </p:nvSpPr>
        <p:spPr>
          <a:xfrm>
            <a:off x="6309360" y="868680"/>
            <a:ext cx="685800" cy="274320"/>
          </a:xfrm>
          <a:prstGeom prst="rect">
            <a:avLst/>
          </a:prstGeom>
          <a:solidFill>
            <a:srgbClr val="1B2A4A"/>
          </a:solidFill>
          <a:ln w="3810">
            <a:solidFill>
              <a:srgbClr val="F0F0F0"/>
            </a:solidFill>
            <a:prstDash val="solid"/>
          </a:ln>
        </p:spPr>
        <p:txBody>
          <a:bodyPr/>
          <a:lstStyle/>
          <a:p>
            <a:endParaRPr lang="en-US"/>
          </a:p>
        </p:txBody>
      </p:sp>
      <p:sp>
        <p:nvSpPr>
          <p:cNvPr id="18" name="Text 16"/>
          <p:cNvSpPr/>
          <p:nvPr/>
        </p:nvSpPr>
        <p:spPr>
          <a:xfrm>
            <a:off x="6345936" y="868680"/>
            <a:ext cx="612648" cy="274320"/>
          </a:xfrm>
          <a:prstGeom prst="rect">
            <a:avLst/>
          </a:prstGeom>
          <a:noFill/>
          <a:ln/>
        </p:spPr>
        <p:txBody>
          <a:bodyPr wrap="square" lIns="0" tIns="0" rIns="0" bIns="0" rtlCol="0" anchor="ctr"/>
          <a:lstStyle/>
          <a:p>
            <a:pPr marL="0" indent="0">
              <a:buNone/>
            </a:pPr>
            <a:r>
              <a:rPr lang="en-US" sz="800" b="1" dirty="0">
                <a:solidFill>
                  <a:srgbClr val="FFFFFF"/>
                </a:solidFill>
                <a:latin typeface="Arial" pitchFamily="34" charset="0"/>
                <a:ea typeface="Arial" pitchFamily="34" charset="-122"/>
                <a:cs typeface="Arial" pitchFamily="34" charset="-120"/>
              </a:rPr>
              <a:t>Code?</a:t>
            </a:r>
            <a:endParaRPr lang="en-US" sz="800" dirty="0"/>
          </a:p>
        </p:txBody>
      </p:sp>
      <p:sp>
        <p:nvSpPr>
          <p:cNvPr id="19" name="Shape 17"/>
          <p:cNvSpPr/>
          <p:nvPr/>
        </p:nvSpPr>
        <p:spPr>
          <a:xfrm>
            <a:off x="502920" y="1143000"/>
            <a:ext cx="1143000" cy="274320"/>
          </a:xfrm>
          <a:prstGeom prst="rect">
            <a:avLst/>
          </a:prstGeom>
          <a:solidFill>
            <a:srgbClr val="F5F5F5"/>
          </a:solidFill>
          <a:ln w="3810">
            <a:solidFill>
              <a:srgbClr val="F0F0F0"/>
            </a:solidFill>
            <a:prstDash val="solid"/>
          </a:ln>
        </p:spPr>
        <p:txBody>
          <a:bodyPr/>
          <a:lstStyle/>
          <a:p>
            <a:endParaRPr lang="en-US"/>
          </a:p>
        </p:txBody>
      </p:sp>
      <p:sp>
        <p:nvSpPr>
          <p:cNvPr id="20" name="Text 18"/>
          <p:cNvSpPr/>
          <p:nvPr/>
        </p:nvSpPr>
        <p:spPr>
          <a:xfrm>
            <a:off x="539496" y="1143000"/>
            <a:ext cx="106984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basic</a:t>
            </a:r>
            <a:endParaRPr lang="en-US" sz="750" dirty="0"/>
          </a:p>
        </p:txBody>
      </p:sp>
      <p:sp>
        <p:nvSpPr>
          <p:cNvPr id="21" name="Shape 19"/>
          <p:cNvSpPr/>
          <p:nvPr/>
        </p:nvSpPr>
        <p:spPr>
          <a:xfrm>
            <a:off x="1645920" y="1143000"/>
            <a:ext cx="822960" cy="274320"/>
          </a:xfrm>
          <a:prstGeom prst="rect">
            <a:avLst/>
          </a:prstGeom>
          <a:solidFill>
            <a:srgbClr val="F5F5F5"/>
          </a:solidFill>
          <a:ln w="3810">
            <a:solidFill>
              <a:srgbClr val="F0F0F0"/>
            </a:solidFill>
            <a:prstDash val="solid"/>
          </a:ln>
        </p:spPr>
        <p:txBody>
          <a:bodyPr/>
          <a:lstStyle/>
          <a:p>
            <a:endParaRPr lang="en-US"/>
          </a:p>
        </p:txBody>
      </p:sp>
      <p:sp>
        <p:nvSpPr>
          <p:cNvPr id="22" name="Text 20"/>
          <p:cNvSpPr/>
          <p:nvPr/>
        </p:nvSpPr>
        <p:spPr>
          <a:xfrm>
            <a:off x="1682496" y="1143000"/>
            <a:ext cx="74980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basic</a:t>
            </a:r>
            <a:endParaRPr lang="en-US" sz="750" dirty="0"/>
          </a:p>
        </p:txBody>
      </p:sp>
      <p:sp>
        <p:nvSpPr>
          <p:cNvPr id="23" name="Shape 21"/>
          <p:cNvSpPr/>
          <p:nvPr/>
        </p:nvSpPr>
        <p:spPr>
          <a:xfrm>
            <a:off x="2468880" y="1143000"/>
            <a:ext cx="502920" cy="274320"/>
          </a:xfrm>
          <a:prstGeom prst="rect">
            <a:avLst/>
          </a:prstGeom>
          <a:solidFill>
            <a:srgbClr val="F5F5F5"/>
          </a:solidFill>
          <a:ln w="3810">
            <a:solidFill>
              <a:srgbClr val="F0F0F0"/>
            </a:solidFill>
            <a:prstDash val="solid"/>
          </a:ln>
        </p:spPr>
        <p:txBody>
          <a:bodyPr/>
          <a:lstStyle/>
          <a:p>
            <a:endParaRPr lang="en-US"/>
          </a:p>
        </p:txBody>
      </p:sp>
      <p:sp>
        <p:nvSpPr>
          <p:cNvPr id="24" name="Text 22"/>
          <p:cNvSpPr/>
          <p:nvPr/>
        </p:nvSpPr>
        <p:spPr>
          <a:xfrm>
            <a:off x="2505456" y="1143000"/>
            <a:ext cx="42976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0</a:t>
            </a:r>
            <a:endParaRPr lang="en-US" sz="750" dirty="0"/>
          </a:p>
        </p:txBody>
      </p:sp>
      <p:sp>
        <p:nvSpPr>
          <p:cNvPr id="25" name="Shape 23"/>
          <p:cNvSpPr/>
          <p:nvPr/>
        </p:nvSpPr>
        <p:spPr>
          <a:xfrm>
            <a:off x="2971800" y="1143000"/>
            <a:ext cx="594360" cy="274320"/>
          </a:xfrm>
          <a:prstGeom prst="rect">
            <a:avLst/>
          </a:prstGeom>
          <a:solidFill>
            <a:srgbClr val="F5F5F5"/>
          </a:solidFill>
          <a:ln w="3810">
            <a:solidFill>
              <a:srgbClr val="F0F0F0"/>
            </a:solidFill>
            <a:prstDash val="solid"/>
          </a:ln>
        </p:spPr>
        <p:txBody>
          <a:bodyPr/>
          <a:lstStyle/>
          <a:p>
            <a:endParaRPr lang="en-US"/>
          </a:p>
        </p:txBody>
      </p:sp>
      <p:sp>
        <p:nvSpPr>
          <p:cNvPr id="26" name="Text 24"/>
          <p:cNvSpPr/>
          <p:nvPr/>
        </p:nvSpPr>
        <p:spPr>
          <a:xfrm>
            <a:off x="3008376" y="114300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a:t>
            </a:r>
            <a:endParaRPr lang="en-US" sz="750" dirty="0"/>
          </a:p>
        </p:txBody>
      </p:sp>
      <p:sp>
        <p:nvSpPr>
          <p:cNvPr id="27" name="Shape 25"/>
          <p:cNvSpPr/>
          <p:nvPr/>
        </p:nvSpPr>
        <p:spPr>
          <a:xfrm>
            <a:off x="3566160" y="1143000"/>
            <a:ext cx="1280160" cy="274320"/>
          </a:xfrm>
          <a:prstGeom prst="rect">
            <a:avLst/>
          </a:prstGeom>
          <a:solidFill>
            <a:srgbClr val="F5F5F5"/>
          </a:solidFill>
          <a:ln w="3810">
            <a:solidFill>
              <a:srgbClr val="F0F0F0"/>
            </a:solidFill>
            <a:prstDash val="solid"/>
          </a:ln>
        </p:spPr>
        <p:txBody>
          <a:bodyPr/>
          <a:lstStyle/>
          <a:p>
            <a:endParaRPr lang="en-US"/>
          </a:p>
        </p:txBody>
      </p:sp>
      <p:sp>
        <p:nvSpPr>
          <p:cNvPr id="28" name="Text 26"/>
          <p:cNvSpPr/>
          <p:nvPr/>
        </p:nvSpPr>
        <p:spPr>
          <a:xfrm>
            <a:off x="3602736" y="1143000"/>
            <a:ext cx="12070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top_level</a:t>
            </a:r>
            <a:endParaRPr lang="en-US" sz="750" dirty="0"/>
          </a:p>
        </p:txBody>
      </p:sp>
      <p:sp>
        <p:nvSpPr>
          <p:cNvPr id="29" name="Shape 27"/>
          <p:cNvSpPr/>
          <p:nvPr/>
        </p:nvSpPr>
        <p:spPr>
          <a:xfrm>
            <a:off x="4846320" y="1143000"/>
            <a:ext cx="868680" cy="274320"/>
          </a:xfrm>
          <a:prstGeom prst="rect">
            <a:avLst/>
          </a:prstGeom>
          <a:solidFill>
            <a:srgbClr val="F5F5F5"/>
          </a:solidFill>
          <a:ln w="3810">
            <a:solidFill>
              <a:srgbClr val="F0F0F0"/>
            </a:solidFill>
            <a:prstDash val="solid"/>
          </a:ln>
        </p:spPr>
        <p:txBody>
          <a:bodyPr/>
          <a:lstStyle/>
          <a:p>
            <a:endParaRPr lang="en-US"/>
          </a:p>
        </p:txBody>
      </p:sp>
      <p:sp>
        <p:nvSpPr>
          <p:cNvPr id="30" name="Text 28"/>
          <p:cNvSpPr/>
          <p:nvPr/>
        </p:nvSpPr>
        <p:spPr>
          <a:xfrm>
            <a:off x="4882896" y="1143000"/>
            <a:ext cx="79552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31" name="Shape 29"/>
          <p:cNvSpPr/>
          <p:nvPr/>
        </p:nvSpPr>
        <p:spPr>
          <a:xfrm>
            <a:off x="5715000" y="1143000"/>
            <a:ext cx="594360" cy="274320"/>
          </a:xfrm>
          <a:prstGeom prst="rect">
            <a:avLst/>
          </a:prstGeom>
          <a:solidFill>
            <a:srgbClr val="F5F5F5"/>
          </a:solidFill>
          <a:ln w="3810">
            <a:solidFill>
              <a:srgbClr val="F0F0F0"/>
            </a:solidFill>
            <a:prstDash val="solid"/>
          </a:ln>
        </p:spPr>
        <p:txBody>
          <a:bodyPr/>
          <a:lstStyle/>
          <a:p>
            <a:endParaRPr lang="en-US"/>
          </a:p>
        </p:txBody>
      </p:sp>
      <p:sp>
        <p:nvSpPr>
          <p:cNvPr id="32" name="Text 30"/>
          <p:cNvSpPr/>
          <p:nvPr/>
        </p:nvSpPr>
        <p:spPr>
          <a:xfrm>
            <a:off x="5751576" y="114300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33" name="Shape 31"/>
          <p:cNvSpPr/>
          <p:nvPr/>
        </p:nvSpPr>
        <p:spPr>
          <a:xfrm>
            <a:off x="6309360" y="1143000"/>
            <a:ext cx="685800" cy="274320"/>
          </a:xfrm>
          <a:prstGeom prst="rect">
            <a:avLst/>
          </a:prstGeom>
          <a:solidFill>
            <a:srgbClr val="F5F5F5"/>
          </a:solidFill>
          <a:ln w="3810">
            <a:solidFill>
              <a:srgbClr val="F0F0F0"/>
            </a:solidFill>
            <a:prstDash val="solid"/>
          </a:ln>
        </p:spPr>
        <p:txBody>
          <a:bodyPr/>
          <a:lstStyle/>
          <a:p>
            <a:endParaRPr lang="en-US"/>
          </a:p>
        </p:txBody>
      </p:sp>
      <p:sp>
        <p:nvSpPr>
          <p:cNvPr id="34" name="Text 32"/>
          <p:cNvSpPr/>
          <p:nvPr/>
        </p:nvSpPr>
        <p:spPr>
          <a:xfrm>
            <a:off x="6345936" y="1143000"/>
            <a:ext cx="61264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35" name="Shape 33"/>
          <p:cNvSpPr/>
          <p:nvPr/>
        </p:nvSpPr>
        <p:spPr>
          <a:xfrm>
            <a:off x="502920" y="1417320"/>
            <a:ext cx="1143000" cy="274320"/>
          </a:xfrm>
          <a:prstGeom prst="rect">
            <a:avLst/>
          </a:prstGeom>
          <a:solidFill>
            <a:srgbClr val="FFFFFF"/>
          </a:solidFill>
          <a:ln w="3810">
            <a:solidFill>
              <a:srgbClr val="F0F0F0"/>
            </a:solidFill>
            <a:prstDash val="solid"/>
          </a:ln>
        </p:spPr>
        <p:txBody>
          <a:bodyPr/>
          <a:lstStyle/>
          <a:p>
            <a:endParaRPr lang="en-US"/>
          </a:p>
        </p:txBody>
      </p:sp>
      <p:sp>
        <p:nvSpPr>
          <p:cNvPr id="36" name="Text 34"/>
          <p:cNvSpPr/>
          <p:nvPr/>
        </p:nvSpPr>
        <p:spPr>
          <a:xfrm>
            <a:off x="539496" y="1417320"/>
            <a:ext cx="106984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general</a:t>
            </a:r>
            <a:endParaRPr lang="en-US" sz="750" dirty="0"/>
          </a:p>
        </p:txBody>
      </p:sp>
      <p:sp>
        <p:nvSpPr>
          <p:cNvPr id="37" name="Shape 35"/>
          <p:cNvSpPr/>
          <p:nvPr/>
        </p:nvSpPr>
        <p:spPr>
          <a:xfrm>
            <a:off x="1645920" y="1417320"/>
            <a:ext cx="822960" cy="274320"/>
          </a:xfrm>
          <a:prstGeom prst="rect">
            <a:avLst/>
          </a:prstGeom>
          <a:solidFill>
            <a:srgbClr val="FFFFFF"/>
          </a:solidFill>
          <a:ln w="3810">
            <a:solidFill>
              <a:srgbClr val="F0F0F0"/>
            </a:solidFill>
            <a:prstDash val="solid"/>
          </a:ln>
        </p:spPr>
        <p:txBody>
          <a:bodyPr/>
          <a:lstStyle/>
          <a:p>
            <a:endParaRPr lang="en-US"/>
          </a:p>
        </p:txBody>
      </p:sp>
      <p:sp>
        <p:nvSpPr>
          <p:cNvPr id="38" name="Text 36"/>
          <p:cNvSpPr/>
          <p:nvPr/>
        </p:nvSpPr>
        <p:spPr>
          <a:xfrm>
            <a:off x="1682496" y="1417320"/>
            <a:ext cx="74980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react</a:t>
            </a:r>
            <a:endParaRPr lang="en-US" sz="750" dirty="0"/>
          </a:p>
        </p:txBody>
      </p:sp>
      <p:sp>
        <p:nvSpPr>
          <p:cNvPr id="39" name="Shape 37"/>
          <p:cNvSpPr/>
          <p:nvPr/>
        </p:nvSpPr>
        <p:spPr>
          <a:xfrm>
            <a:off x="2468880" y="1417320"/>
            <a:ext cx="502920" cy="274320"/>
          </a:xfrm>
          <a:prstGeom prst="rect">
            <a:avLst/>
          </a:prstGeom>
          <a:solidFill>
            <a:srgbClr val="FFFFFF"/>
          </a:solidFill>
          <a:ln w="3810">
            <a:solidFill>
              <a:srgbClr val="F0F0F0"/>
            </a:solidFill>
            <a:prstDash val="solid"/>
          </a:ln>
        </p:spPr>
        <p:txBody>
          <a:bodyPr/>
          <a:lstStyle/>
          <a:p>
            <a:endParaRPr lang="en-US"/>
          </a:p>
        </p:txBody>
      </p:sp>
      <p:sp>
        <p:nvSpPr>
          <p:cNvPr id="40" name="Text 38"/>
          <p:cNvSpPr/>
          <p:nvPr/>
        </p:nvSpPr>
        <p:spPr>
          <a:xfrm>
            <a:off x="2505456" y="1417320"/>
            <a:ext cx="42976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11</a:t>
            </a:r>
            <a:endParaRPr lang="en-US" sz="750" dirty="0"/>
          </a:p>
        </p:txBody>
      </p:sp>
      <p:sp>
        <p:nvSpPr>
          <p:cNvPr id="41" name="Shape 39"/>
          <p:cNvSpPr/>
          <p:nvPr/>
        </p:nvSpPr>
        <p:spPr>
          <a:xfrm>
            <a:off x="2971800" y="1417320"/>
            <a:ext cx="594360" cy="274320"/>
          </a:xfrm>
          <a:prstGeom prst="rect">
            <a:avLst/>
          </a:prstGeom>
          <a:solidFill>
            <a:srgbClr val="FFFFFF"/>
          </a:solidFill>
          <a:ln w="3810">
            <a:solidFill>
              <a:srgbClr val="F0F0F0"/>
            </a:solidFill>
            <a:prstDash val="solid"/>
          </a:ln>
        </p:spPr>
        <p:txBody>
          <a:bodyPr/>
          <a:lstStyle/>
          <a:p>
            <a:endParaRPr lang="en-US"/>
          </a:p>
        </p:txBody>
      </p:sp>
      <p:sp>
        <p:nvSpPr>
          <p:cNvPr id="42" name="Text 40"/>
          <p:cNvSpPr/>
          <p:nvPr/>
        </p:nvSpPr>
        <p:spPr>
          <a:xfrm>
            <a:off x="3008376" y="141732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10</a:t>
            </a:r>
            <a:endParaRPr lang="en-US" sz="750" dirty="0"/>
          </a:p>
        </p:txBody>
      </p:sp>
      <p:sp>
        <p:nvSpPr>
          <p:cNvPr id="43" name="Shape 41"/>
          <p:cNvSpPr/>
          <p:nvPr/>
        </p:nvSpPr>
        <p:spPr>
          <a:xfrm>
            <a:off x="3566160" y="1417320"/>
            <a:ext cx="1280160" cy="274320"/>
          </a:xfrm>
          <a:prstGeom prst="rect">
            <a:avLst/>
          </a:prstGeom>
          <a:solidFill>
            <a:srgbClr val="FFFFFF"/>
          </a:solidFill>
          <a:ln w="3810">
            <a:solidFill>
              <a:srgbClr val="F0F0F0"/>
            </a:solidFill>
            <a:prstDash val="solid"/>
          </a:ln>
        </p:spPr>
        <p:txBody>
          <a:bodyPr/>
          <a:lstStyle/>
          <a:p>
            <a:endParaRPr lang="en-US"/>
          </a:p>
        </p:txBody>
      </p:sp>
      <p:sp>
        <p:nvSpPr>
          <p:cNvPr id="44" name="Text 42"/>
          <p:cNvSpPr/>
          <p:nvPr/>
        </p:nvSpPr>
        <p:spPr>
          <a:xfrm>
            <a:off x="3602736" y="1417320"/>
            <a:ext cx="12070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top_level</a:t>
            </a:r>
            <a:endParaRPr lang="en-US" sz="750" dirty="0"/>
          </a:p>
        </p:txBody>
      </p:sp>
      <p:sp>
        <p:nvSpPr>
          <p:cNvPr id="45" name="Shape 43"/>
          <p:cNvSpPr/>
          <p:nvPr/>
        </p:nvSpPr>
        <p:spPr>
          <a:xfrm>
            <a:off x="4846320" y="1417320"/>
            <a:ext cx="868680" cy="274320"/>
          </a:xfrm>
          <a:prstGeom prst="rect">
            <a:avLst/>
          </a:prstGeom>
          <a:solidFill>
            <a:srgbClr val="FFFFFF"/>
          </a:solidFill>
          <a:ln w="3810">
            <a:solidFill>
              <a:srgbClr val="F0F0F0"/>
            </a:solidFill>
            <a:prstDash val="solid"/>
          </a:ln>
        </p:spPr>
        <p:txBody>
          <a:bodyPr/>
          <a:lstStyle/>
          <a:p>
            <a:endParaRPr lang="en-US"/>
          </a:p>
        </p:txBody>
      </p:sp>
      <p:sp>
        <p:nvSpPr>
          <p:cNvPr id="46" name="Text 44"/>
          <p:cNvSpPr/>
          <p:nvPr/>
        </p:nvSpPr>
        <p:spPr>
          <a:xfrm>
            <a:off x="4882896" y="1417320"/>
            <a:ext cx="79552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Yes</a:t>
            </a:r>
            <a:endParaRPr lang="en-US" sz="750" dirty="0"/>
          </a:p>
        </p:txBody>
      </p:sp>
      <p:sp>
        <p:nvSpPr>
          <p:cNvPr id="47" name="Shape 45"/>
          <p:cNvSpPr/>
          <p:nvPr/>
        </p:nvSpPr>
        <p:spPr>
          <a:xfrm>
            <a:off x="5715000" y="1417320"/>
            <a:ext cx="594360" cy="274320"/>
          </a:xfrm>
          <a:prstGeom prst="rect">
            <a:avLst/>
          </a:prstGeom>
          <a:solidFill>
            <a:srgbClr val="FFFFFF"/>
          </a:solidFill>
          <a:ln w="3810">
            <a:solidFill>
              <a:srgbClr val="F0F0F0"/>
            </a:solidFill>
            <a:prstDash val="solid"/>
          </a:ln>
        </p:spPr>
        <p:txBody>
          <a:bodyPr/>
          <a:lstStyle/>
          <a:p>
            <a:endParaRPr lang="en-US"/>
          </a:p>
        </p:txBody>
      </p:sp>
      <p:sp>
        <p:nvSpPr>
          <p:cNvPr id="48" name="Text 46"/>
          <p:cNvSpPr/>
          <p:nvPr/>
        </p:nvSpPr>
        <p:spPr>
          <a:xfrm>
            <a:off x="5751576" y="141732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Yes*</a:t>
            </a:r>
            <a:endParaRPr lang="en-US" sz="750" dirty="0"/>
          </a:p>
        </p:txBody>
      </p:sp>
      <p:sp>
        <p:nvSpPr>
          <p:cNvPr id="49" name="Shape 47"/>
          <p:cNvSpPr/>
          <p:nvPr/>
        </p:nvSpPr>
        <p:spPr>
          <a:xfrm>
            <a:off x="6309360" y="1417320"/>
            <a:ext cx="685800" cy="274320"/>
          </a:xfrm>
          <a:prstGeom prst="rect">
            <a:avLst/>
          </a:prstGeom>
          <a:solidFill>
            <a:srgbClr val="FFFFFF"/>
          </a:solidFill>
          <a:ln w="3810">
            <a:solidFill>
              <a:srgbClr val="F0F0F0"/>
            </a:solidFill>
            <a:prstDash val="solid"/>
          </a:ln>
        </p:spPr>
        <p:txBody>
          <a:bodyPr/>
          <a:lstStyle/>
          <a:p>
            <a:endParaRPr lang="en-US"/>
          </a:p>
        </p:txBody>
      </p:sp>
      <p:sp>
        <p:nvSpPr>
          <p:cNvPr id="50" name="Text 48"/>
          <p:cNvSpPr/>
          <p:nvPr/>
        </p:nvSpPr>
        <p:spPr>
          <a:xfrm>
            <a:off x="6345936" y="1417320"/>
            <a:ext cx="61264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51" name="Shape 49"/>
          <p:cNvSpPr/>
          <p:nvPr/>
        </p:nvSpPr>
        <p:spPr>
          <a:xfrm>
            <a:off x="502920" y="1691640"/>
            <a:ext cx="1143000" cy="274320"/>
          </a:xfrm>
          <a:prstGeom prst="rect">
            <a:avLst/>
          </a:prstGeom>
          <a:solidFill>
            <a:srgbClr val="F5F5F5"/>
          </a:solidFill>
          <a:ln w="3810">
            <a:solidFill>
              <a:srgbClr val="F0F0F0"/>
            </a:solidFill>
            <a:prstDash val="solid"/>
          </a:ln>
        </p:spPr>
        <p:txBody>
          <a:bodyPr/>
          <a:lstStyle/>
          <a:p>
            <a:endParaRPr lang="en-US"/>
          </a:p>
        </p:txBody>
      </p:sp>
      <p:sp>
        <p:nvSpPr>
          <p:cNvPr id="52" name="Text 50"/>
          <p:cNvSpPr/>
          <p:nvPr/>
        </p:nvSpPr>
        <p:spPr>
          <a:xfrm>
            <a:off x="539496" y="1691640"/>
            <a:ext cx="106984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coordinator</a:t>
            </a:r>
            <a:endParaRPr lang="en-US" sz="750" dirty="0"/>
          </a:p>
        </p:txBody>
      </p:sp>
      <p:sp>
        <p:nvSpPr>
          <p:cNvPr id="53" name="Shape 51"/>
          <p:cNvSpPr/>
          <p:nvPr/>
        </p:nvSpPr>
        <p:spPr>
          <a:xfrm>
            <a:off x="1645920" y="1691640"/>
            <a:ext cx="822960" cy="274320"/>
          </a:xfrm>
          <a:prstGeom prst="rect">
            <a:avLst/>
          </a:prstGeom>
          <a:solidFill>
            <a:srgbClr val="F5F5F5"/>
          </a:solidFill>
          <a:ln w="3810">
            <a:solidFill>
              <a:srgbClr val="F0F0F0"/>
            </a:solidFill>
            <a:prstDash val="solid"/>
          </a:ln>
        </p:spPr>
        <p:txBody>
          <a:bodyPr/>
          <a:lstStyle/>
          <a:p>
            <a:endParaRPr lang="en-US"/>
          </a:p>
        </p:txBody>
      </p:sp>
      <p:sp>
        <p:nvSpPr>
          <p:cNvPr id="54" name="Text 52"/>
          <p:cNvSpPr/>
          <p:nvPr/>
        </p:nvSpPr>
        <p:spPr>
          <a:xfrm>
            <a:off x="1682496" y="1691640"/>
            <a:ext cx="74980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coord.</a:t>
            </a:r>
            <a:endParaRPr lang="en-US" sz="750" dirty="0"/>
          </a:p>
        </p:txBody>
      </p:sp>
      <p:sp>
        <p:nvSpPr>
          <p:cNvPr id="55" name="Shape 53"/>
          <p:cNvSpPr/>
          <p:nvPr/>
        </p:nvSpPr>
        <p:spPr>
          <a:xfrm>
            <a:off x="2468880" y="1691640"/>
            <a:ext cx="502920" cy="274320"/>
          </a:xfrm>
          <a:prstGeom prst="rect">
            <a:avLst/>
          </a:prstGeom>
          <a:solidFill>
            <a:srgbClr val="F5F5F5"/>
          </a:solidFill>
          <a:ln w="3810">
            <a:solidFill>
              <a:srgbClr val="F0F0F0"/>
            </a:solidFill>
            <a:prstDash val="solid"/>
          </a:ln>
        </p:spPr>
        <p:txBody>
          <a:bodyPr/>
          <a:lstStyle/>
          <a:p>
            <a:endParaRPr lang="en-US"/>
          </a:p>
        </p:txBody>
      </p:sp>
      <p:sp>
        <p:nvSpPr>
          <p:cNvPr id="56" name="Text 54"/>
          <p:cNvSpPr/>
          <p:nvPr/>
        </p:nvSpPr>
        <p:spPr>
          <a:xfrm>
            <a:off x="2505456" y="1691640"/>
            <a:ext cx="42976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4</a:t>
            </a:r>
            <a:endParaRPr lang="en-US" sz="750" dirty="0"/>
          </a:p>
        </p:txBody>
      </p:sp>
      <p:sp>
        <p:nvSpPr>
          <p:cNvPr id="57" name="Shape 55"/>
          <p:cNvSpPr/>
          <p:nvPr/>
        </p:nvSpPr>
        <p:spPr>
          <a:xfrm>
            <a:off x="2971800" y="1691640"/>
            <a:ext cx="594360" cy="274320"/>
          </a:xfrm>
          <a:prstGeom prst="rect">
            <a:avLst/>
          </a:prstGeom>
          <a:solidFill>
            <a:srgbClr val="F5F5F5"/>
          </a:solidFill>
          <a:ln w="3810">
            <a:solidFill>
              <a:srgbClr val="F0F0F0"/>
            </a:solidFill>
            <a:prstDash val="solid"/>
          </a:ln>
        </p:spPr>
        <p:txBody>
          <a:bodyPr/>
          <a:lstStyle/>
          <a:p>
            <a:endParaRPr lang="en-US"/>
          </a:p>
        </p:txBody>
      </p:sp>
      <p:sp>
        <p:nvSpPr>
          <p:cNvPr id="58" name="Text 56"/>
          <p:cNvSpPr/>
          <p:nvPr/>
        </p:nvSpPr>
        <p:spPr>
          <a:xfrm>
            <a:off x="3008376" y="169164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12</a:t>
            </a:r>
            <a:endParaRPr lang="en-US" sz="750" dirty="0"/>
          </a:p>
        </p:txBody>
      </p:sp>
      <p:sp>
        <p:nvSpPr>
          <p:cNvPr id="59" name="Shape 57"/>
          <p:cNvSpPr/>
          <p:nvPr/>
        </p:nvSpPr>
        <p:spPr>
          <a:xfrm>
            <a:off x="3566160" y="1691640"/>
            <a:ext cx="1280160" cy="274320"/>
          </a:xfrm>
          <a:prstGeom prst="rect">
            <a:avLst/>
          </a:prstGeom>
          <a:solidFill>
            <a:srgbClr val="F5F5F5"/>
          </a:solidFill>
          <a:ln w="3810">
            <a:solidFill>
              <a:srgbClr val="F0F0F0"/>
            </a:solidFill>
            <a:prstDash val="solid"/>
          </a:ln>
        </p:spPr>
        <p:txBody>
          <a:bodyPr/>
          <a:lstStyle/>
          <a:p>
            <a:endParaRPr lang="en-US"/>
          </a:p>
        </p:txBody>
      </p:sp>
      <p:sp>
        <p:nvSpPr>
          <p:cNvPr id="60" name="Text 58"/>
          <p:cNvSpPr/>
          <p:nvPr/>
        </p:nvSpPr>
        <p:spPr>
          <a:xfrm>
            <a:off x="3602736" y="1691640"/>
            <a:ext cx="12070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coordinator</a:t>
            </a:r>
            <a:endParaRPr lang="en-US" sz="750" dirty="0"/>
          </a:p>
        </p:txBody>
      </p:sp>
      <p:sp>
        <p:nvSpPr>
          <p:cNvPr id="61" name="Shape 59"/>
          <p:cNvSpPr/>
          <p:nvPr/>
        </p:nvSpPr>
        <p:spPr>
          <a:xfrm>
            <a:off x="4846320" y="1691640"/>
            <a:ext cx="868680" cy="274320"/>
          </a:xfrm>
          <a:prstGeom prst="rect">
            <a:avLst/>
          </a:prstGeom>
          <a:solidFill>
            <a:srgbClr val="F5F5F5"/>
          </a:solidFill>
          <a:ln w="3810">
            <a:solidFill>
              <a:srgbClr val="F0F0F0"/>
            </a:solidFill>
            <a:prstDash val="solid"/>
          </a:ln>
        </p:spPr>
        <p:txBody>
          <a:bodyPr/>
          <a:lstStyle/>
          <a:p>
            <a:endParaRPr lang="en-US"/>
          </a:p>
        </p:txBody>
      </p:sp>
      <p:sp>
        <p:nvSpPr>
          <p:cNvPr id="62" name="Text 60"/>
          <p:cNvSpPr/>
          <p:nvPr/>
        </p:nvSpPr>
        <p:spPr>
          <a:xfrm>
            <a:off x="4882896" y="1691640"/>
            <a:ext cx="79552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Yes</a:t>
            </a:r>
            <a:endParaRPr lang="en-US" sz="750" dirty="0"/>
          </a:p>
        </p:txBody>
      </p:sp>
      <p:sp>
        <p:nvSpPr>
          <p:cNvPr id="63" name="Shape 61"/>
          <p:cNvSpPr/>
          <p:nvPr/>
        </p:nvSpPr>
        <p:spPr>
          <a:xfrm>
            <a:off x="5715000" y="1691640"/>
            <a:ext cx="594360" cy="274320"/>
          </a:xfrm>
          <a:prstGeom prst="rect">
            <a:avLst/>
          </a:prstGeom>
          <a:solidFill>
            <a:srgbClr val="F5F5F5"/>
          </a:solidFill>
          <a:ln w="3810">
            <a:solidFill>
              <a:srgbClr val="F0F0F0"/>
            </a:solidFill>
            <a:prstDash val="solid"/>
          </a:ln>
        </p:spPr>
        <p:txBody>
          <a:bodyPr/>
          <a:lstStyle/>
          <a:p>
            <a:endParaRPr lang="en-US"/>
          </a:p>
        </p:txBody>
      </p:sp>
      <p:sp>
        <p:nvSpPr>
          <p:cNvPr id="64" name="Text 62"/>
          <p:cNvSpPr/>
          <p:nvPr/>
        </p:nvSpPr>
        <p:spPr>
          <a:xfrm>
            <a:off x="5751576" y="169164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65" name="Shape 63"/>
          <p:cNvSpPr/>
          <p:nvPr/>
        </p:nvSpPr>
        <p:spPr>
          <a:xfrm>
            <a:off x="6309360" y="1691640"/>
            <a:ext cx="685800" cy="274320"/>
          </a:xfrm>
          <a:prstGeom prst="rect">
            <a:avLst/>
          </a:prstGeom>
          <a:solidFill>
            <a:srgbClr val="F5F5F5"/>
          </a:solidFill>
          <a:ln w="3810">
            <a:solidFill>
              <a:srgbClr val="F0F0F0"/>
            </a:solidFill>
            <a:prstDash val="solid"/>
          </a:ln>
        </p:spPr>
        <p:txBody>
          <a:bodyPr/>
          <a:lstStyle/>
          <a:p>
            <a:endParaRPr lang="en-US"/>
          </a:p>
        </p:txBody>
      </p:sp>
      <p:sp>
        <p:nvSpPr>
          <p:cNvPr id="66" name="Text 64"/>
          <p:cNvSpPr/>
          <p:nvPr/>
        </p:nvSpPr>
        <p:spPr>
          <a:xfrm>
            <a:off x="6345936" y="1691640"/>
            <a:ext cx="61264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67" name="Shape 65"/>
          <p:cNvSpPr/>
          <p:nvPr/>
        </p:nvSpPr>
        <p:spPr>
          <a:xfrm>
            <a:off x="502920" y="1965960"/>
            <a:ext cx="1143000" cy="274320"/>
          </a:xfrm>
          <a:prstGeom prst="rect">
            <a:avLst/>
          </a:prstGeom>
          <a:solidFill>
            <a:srgbClr val="FFFFFF"/>
          </a:solidFill>
          <a:ln w="3810">
            <a:solidFill>
              <a:srgbClr val="F0F0F0"/>
            </a:solidFill>
            <a:prstDash val="solid"/>
          </a:ln>
        </p:spPr>
        <p:txBody>
          <a:bodyPr/>
          <a:lstStyle/>
          <a:p>
            <a:endParaRPr lang="en-US"/>
          </a:p>
        </p:txBody>
      </p:sp>
      <p:sp>
        <p:nvSpPr>
          <p:cNvPr id="68" name="Text 66"/>
          <p:cNvSpPr/>
          <p:nvPr/>
        </p:nvSpPr>
        <p:spPr>
          <a:xfrm>
            <a:off x="539496" y="1965960"/>
            <a:ext cx="106984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utility</a:t>
            </a:r>
            <a:endParaRPr lang="en-US" sz="750" dirty="0"/>
          </a:p>
        </p:txBody>
      </p:sp>
      <p:sp>
        <p:nvSpPr>
          <p:cNvPr id="69" name="Shape 67"/>
          <p:cNvSpPr/>
          <p:nvPr/>
        </p:nvSpPr>
        <p:spPr>
          <a:xfrm>
            <a:off x="1645920" y="1965960"/>
            <a:ext cx="822960" cy="274320"/>
          </a:xfrm>
          <a:prstGeom prst="rect">
            <a:avLst/>
          </a:prstGeom>
          <a:solidFill>
            <a:srgbClr val="FFFFFF"/>
          </a:solidFill>
          <a:ln w="3810">
            <a:solidFill>
              <a:srgbClr val="F0F0F0"/>
            </a:solidFill>
            <a:prstDash val="solid"/>
          </a:ln>
        </p:spPr>
        <p:txBody>
          <a:bodyPr/>
          <a:lstStyle/>
          <a:p>
            <a:endParaRPr lang="en-US"/>
          </a:p>
        </p:txBody>
      </p:sp>
      <p:sp>
        <p:nvSpPr>
          <p:cNvPr id="70" name="Text 68"/>
          <p:cNvSpPr/>
          <p:nvPr/>
        </p:nvSpPr>
        <p:spPr>
          <a:xfrm>
            <a:off x="1682496" y="1965960"/>
            <a:ext cx="74980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react</a:t>
            </a:r>
            <a:endParaRPr lang="en-US" sz="750" dirty="0"/>
          </a:p>
        </p:txBody>
      </p:sp>
      <p:sp>
        <p:nvSpPr>
          <p:cNvPr id="71" name="Shape 69"/>
          <p:cNvSpPr/>
          <p:nvPr/>
        </p:nvSpPr>
        <p:spPr>
          <a:xfrm>
            <a:off x="2468880" y="1965960"/>
            <a:ext cx="502920" cy="274320"/>
          </a:xfrm>
          <a:prstGeom prst="rect">
            <a:avLst/>
          </a:prstGeom>
          <a:solidFill>
            <a:srgbClr val="FFFFFF"/>
          </a:solidFill>
          <a:ln w="3810">
            <a:solidFill>
              <a:srgbClr val="F0F0F0"/>
            </a:solidFill>
            <a:prstDash val="solid"/>
          </a:ln>
        </p:spPr>
        <p:txBody>
          <a:bodyPr/>
          <a:lstStyle/>
          <a:p>
            <a:endParaRPr lang="en-US"/>
          </a:p>
        </p:txBody>
      </p:sp>
      <p:sp>
        <p:nvSpPr>
          <p:cNvPr id="72" name="Text 70"/>
          <p:cNvSpPr/>
          <p:nvPr/>
        </p:nvSpPr>
        <p:spPr>
          <a:xfrm>
            <a:off x="2505456" y="1965960"/>
            <a:ext cx="42976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6</a:t>
            </a:r>
            <a:endParaRPr lang="en-US" sz="750" dirty="0"/>
          </a:p>
        </p:txBody>
      </p:sp>
      <p:sp>
        <p:nvSpPr>
          <p:cNvPr id="73" name="Shape 71"/>
          <p:cNvSpPr/>
          <p:nvPr/>
        </p:nvSpPr>
        <p:spPr>
          <a:xfrm>
            <a:off x="2971800" y="1965960"/>
            <a:ext cx="594360" cy="274320"/>
          </a:xfrm>
          <a:prstGeom prst="rect">
            <a:avLst/>
          </a:prstGeom>
          <a:solidFill>
            <a:srgbClr val="FFFFFF"/>
          </a:solidFill>
          <a:ln w="3810">
            <a:solidFill>
              <a:srgbClr val="F0F0F0"/>
            </a:solidFill>
            <a:prstDash val="solid"/>
          </a:ln>
        </p:spPr>
        <p:txBody>
          <a:bodyPr/>
          <a:lstStyle/>
          <a:p>
            <a:endParaRPr lang="en-US"/>
          </a:p>
        </p:txBody>
      </p:sp>
      <p:sp>
        <p:nvSpPr>
          <p:cNvPr id="74" name="Text 72"/>
          <p:cNvSpPr/>
          <p:nvPr/>
        </p:nvSpPr>
        <p:spPr>
          <a:xfrm>
            <a:off x="3008376" y="196596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8</a:t>
            </a:r>
            <a:endParaRPr lang="en-US" sz="750" dirty="0"/>
          </a:p>
        </p:txBody>
      </p:sp>
      <p:sp>
        <p:nvSpPr>
          <p:cNvPr id="75" name="Shape 73"/>
          <p:cNvSpPr/>
          <p:nvPr/>
        </p:nvSpPr>
        <p:spPr>
          <a:xfrm>
            <a:off x="3566160" y="1965960"/>
            <a:ext cx="1280160" cy="274320"/>
          </a:xfrm>
          <a:prstGeom prst="rect">
            <a:avLst/>
          </a:prstGeom>
          <a:solidFill>
            <a:srgbClr val="FFFFFF"/>
          </a:solidFill>
          <a:ln w="3810">
            <a:solidFill>
              <a:srgbClr val="F0F0F0"/>
            </a:solidFill>
            <a:prstDash val="solid"/>
          </a:ln>
        </p:spPr>
        <p:txBody>
          <a:bodyPr/>
          <a:lstStyle/>
          <a:p>
            <a:endParaRPr lang="en-US"/>
          </a:p>
        </p:txBody>
      </p:sp>
      <p:sp>
        <p:nvSpPr>
          <p:cNvPr id="76" name="Text 74"/>
          <p:cNvSpPr/>
          <p:nvPr/>
        </p:nvSpPr>
        <p:spPr>
          <a:xfrm>
            <a:off x="3602736" y="1965960"/>
            <a:ext cx="12070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worker</a:t>
            </a:r>
            <a:endParaRPr lang="en-US" sz="750" dirty="0"/>
          </a:p>
        </p:txBody>
      </p:sp>
      <p:sp>
        <p:nvSpPr>
          <p:cNvPr id="77" name="Shape 75"/>
          <p:cNvSpPr/>
          <p:nvPr/>
        </p:nvSpPr>
        <p:spPr>
          <a:xfrm>
            <a:off x="4846320" y="1965960"/>
            <a:ext cx="868680" cy="274320"/>
          </a:xfrm>
          <a:prstGeom prst="rect">
            <a:avLst/>
          </a:prstGeom>
          <a:solidFill>
            <a:srgbClr val="FFFFFF"/>
          </a:solidFill>
          <a:ln w="3810">
            <a:solidFill>
              <a:srgbClr val="F0F0F0"/>
            </a:solidFill>
            <a:prstDash val="solid"/>
          </a:ln>
        </p:spPr>
        <p:txBody>
          <a:bodyPr/>
          <a:lstStyle/>
          <a:p>
            <a:endParaRPr lang="en-US"/>
          </a:p>
        </p:txBody>
      </p:sp>
      <p:sp>
        <p:nvSpPr>
          <p:cNvPr id="78" name="Text 76"/>
          <p:cNvSpPr/>
          <p:nvPr/>
        </p:nvSpPr>
        <p:spPr>
          <a:xfrm>
            <a:off x="4882896" y="1965960"/>
            <a:ext cx="79552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79" name="Shape 77"/>
          <p:cNvSpPr/>
          <p:nvPr/>
        </p:nvSpPr>
        <p:spPr>
          <a:xfrm>
            <a:off x="5715000" y="1965960"/>
            <a:ext cx="594360" cy="274320"/>
          </a:xfrm>
          <a:prstGeom prst="rect">
            <a:avLst/>
          </a:prstGeom>
          <a:solidFill>
            <a:srgbClr val="FFFFFF"/>
          </a:solidFill>
          <a:ln w="3810">
            <a:solidFill>
              <a:srgbClr val="F0F0F0"/>
            </a:solidFill>
            <a:prstDash val="solid"/>
          </a:ln>
        </p:spPr>
        <p:txBody>
          <a:bodyPr/>
          <a:lstStyle/>
          <a:p>
            <a:endParaRPr lang="en-US"/>
          </a:p>
        </p:txBody>
      </p:sp>
      <p:sp>
        <p:nvSpPr>
          <p:cNvPr id="80" name="Text 78"/>
          <p:cNvSpPr/>
          <p:nvPr/>
        </p:nvSpPr>
        <p:spPr>
          <a:xfrm>
            <a:off x="5751576" y="196596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81" name="Shape 79"/>
          <p:cNvSpPr/>
          <p:nvPr/>
        </p:nvSpPr>
        <p:spPr>
          <a:xfrm>
            <a:off x="6309360" y="1965960"/>
            <a:ext cx="685800" cy="274320"/>
          </a:xfrm>
          <a:prstGeom prst="rect">
            <a:avLst/>
          </a:prstGeom>
          <a:solidFill>
            <a:srgbClr val="FFFFFF"/>
          </a:solidFill>
          <a:ln w="3810">
            <a:solidFill>
              <a:srgbClr val="F0F0F0"/>
            </a:solidFill>
            <a:prstDash val="solid"/>
          </a:ln>
        </p:spPr>
        <p:txBody>
          <a:bodyPr/>
          <a:lstStyle/>
          <a:p>
            <a:endParaRPr lang="en-US"/>
          </a:p>
        </p:txBody>
      </p:sp>
      <p:sp>
        <p:nvSpPr>
          <p:cNvPr id="82" name="Text 80"/>
          <p:cNvSpPr/>
          <p:nvPr/>
        </p:nvSpPr>
        <p:spPr>
          <a:xfrm>
            <a:off x="6345936" y="1965960"/>
            <a:ext cx="61264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83" name="Shape 81"/>
          <p:cNvSpPr/>
          <p:nvPr/>
        </p:nvSpPr>
        <p:spPr>
          <a:xfrm>
            <a:off x="502920" y="2240280"/>
            <a:ext cx="1143000" cy="274320"/>
          </a:xfrm>
          <a:prstGeom prst="rect">
            <a:avLst/>
          </a:prstGeom>
          <a:solidFill>
            <a:srgbClr val="F5F5F5"/>
          </a:solidFill>
          <a:ln w="3810">
            <a:solidFill>
              <a:srgbClr val="F0F0F0"/>
            </a:solidFill>
            <a:prstDash val="solid"/>
          </a:ln>
        </p:spPr>
        <p:txBody>
          <a:bodyPr/>
          <a:lstStyle/>
          <a:p>
            <a:endParaRPr lang="en-US"/>
          </a:p>
        </p:txBody>
      </p:sp>
      <p:sp>
        <p:nvSpPr>
          <p:cNvPr id="84" name="Text 82"/>
          <p:cNvSpPr/>
          <p:nvPr/>
        </p:nvSpPr>
        <p:spPr>
          <a:xfrm>
            <a:off x="539496" y="2240280"/>
            <a:ext cx="106984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data_analyst</a:t>
            </a:r>
            <a:endParaRPr lang="en-US" sz="750" dirty="0"/>
          </a:p>
        </p:txBody>
      </p:sp>
      <p:sp>
        <p:nvSpPr>
          <p:cNvPr id="85" name="Shape 83"/>
          <p:cNvSpPr/>
          <p:nvPr/>
        </p:nvSpPr>
        <p:spPr>
          <a:xfrm>
            <a:off x="1645920" y="2240280"/>
            <a:ext cx="822960" cy="274320"/>
          </a:xfrm>
          <a:prstGeom prst="rect">
            <a:avLst/>
          </a:prstGeom>
          <a:solidFill>
            <a:srgbClr val="F5F5F5"/>
          </a:solidFill>
          <a:ln w="3810">
            <a:solidFill>
              <a:srgbClr val="F0F0F0"/>
            </a:solidFill>
            <a:prstDash val="solid"/>
          </a:ln>
        </p:spPr>
        <p:txBody>
          <a:bodyPr/>
          <a:lstStyle/>
          <a:p>
            <a:endParaRPr lang="en-US"/>
          </a:p>
        </p:txBody>
      </p:sp>
      <p:sp>
        <p:nvSpPr>
          <p:cNvPr id="86" name="Text 84"/>
          <p:cNvSpPr/>
          <p:nvPr/>
        </p:nvSpPr>
        <p:spPr>
          <a:xfrm>
            <a:off x="1682496" y="2240280"/>
            <a:ext cx="74980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react</a:t>
            </a:r>
            <a:endParaRPr lang="en-US" sz="750" dirty="0"/>
          </a:p>
        </p:txBody>
      </p:sp>
      <p:sp>
        <p:nvSpPr>
          <p:cNvPr id="87" name="Shape 85"/>
          <p:cNvSpPr/>
          <p:nvPr/>
        </p:nvSpPr>
        <p:spPr>
          <a:xfrm>
            <a:off x="2468880" y="2240280"/>
            <a:ext cx="502920" cy="274320"/>
          </a:xfrm>
          <a:prstGeom prst="rect">
            <a:avLst/>
          </a:prstGeom>
          <a:solidFill>
            <a:srgbClr val="F5F5F5"/>
          </a:solidFill>
          <a:ln w="3810">
            <a:solidFill>
              <a:srgbClr val="F0F0F0"/>
            </a:solidFill>
            <a:prstDash val="solid"/>
          </a:ln>
        </p:spPr>
        <p:txBody>
          <a:bodyPr/>
          <a:lstStyle/>
          <a:p>
            <a:endParaRPr lang="en-US"/>
          </a:p>
        </p:txBody>
      </p:sp>
      <p:sp>
        <p:nvSpPr>
          <p:cNvPr id="88" name="Text 86"/>
          <p:cNvSpPr/>
          <p:nvPr/>
        </p:nvSpPr>
        <p:spPr>
          <a:xfrm>
            <a:off x="2505456" y="2240280"/>
            <a:ext cx="42976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14</a:t>
            </a:r>
            <a:endParaRPr lang="en-US" sz="750" dirty="0"/>
          </a:p>
        </p:txBody>
      </p:sp>
      <p:sp>
        <p:nvSpPr>
          <p:cNvPr id="89" name="Shape 87"/>
          <p:cNvSpPr/>
          <p:nvPr/>
        </p:nvSpPr>
        <p:spPr>
          <a:xfrm>
            <a:off x="2971800" y="2240280"/>
            <a:ext cx="594360" cy="274320"/>
          </a:xfrm>
          <a:prstGeom prst="rect">
            <a:avLst/>
          </a:prstGeom>
          <a:solidFill>
            <a:srgbClr val="F5F5F5"/>
          </a:solidFill>
          <a:ln w="3810">
            <a:solidFill>
              <a:srgbClr val="F0F0F0"/>
            </a:solidFill>
            <a:prstDash val="solid"/>
          </a:ln>
        </p:spPr>
        <p:txBody>
          <a:bodyPr/>
          <a:lstStyle/>
          <a:p>
            <a:endParaRPr lang="en-US"/>
          </a:p>
        </p:txBody>
      </p:sp>
      <p:sp>
        <p:nvSpPr>
          <p:cNvPr id="90" name="Text 88"/>
          <p:cNvSpPr/>
          <p:nvPr/>
        </p:nvSpPr>
        <p:spPr>
          <a:xfrm>
            <a:off x="3008376" y="224028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10</a:t>
            </a:r>
            <a:endParaRPr lang="en-US" sz="750" dirty="0"/>
          </a:p>
        </p:txBody>
      </p:sp>
      <p:sp>
        <p:nvSpPr>
          <p:cNvPr id="91" name="Shape 89"/>
          <p:cNvSpPr/>
          <p:nvPr/>
        </p:nvSpPr>
        <p:spPr>
          <a:xfrm>
            <a:off x="3566160" y="2240280"/>
            <a:ext cx="1280160" cy="274320"/>
          </a:xfrm>
          <a:prstGeom prst="rect">
            <a:avLst/>
          </a:prstGeom>
          <a:solidFill>
            <a:srgbClr val="F5F5F5"/>
          </a:solidFill>
          <a:ln w="3810">
            <a:solidFill>
              <a:srgbClr val="F0F0F0"/>
            </a:solidFill>
            <a:prstDash val="solid"/>
          </a:ln>
        </p:spPr>
        <p:txBody>
          <a:bodyPr/>
          <a:lstStyle/>
          <a:p>
            <a:endParaRPr lang="en-US"/>
          </a:p>
        </p:txBody>
      </p:sp>
      <p:sp>
        <p:nvSpPr>
          <p:cNvPr id="92" name="Text 90"/>
          <p:cNvSpPr/>
          <p:nvPr/>
        </p:nvSpPr>
        <p:spPr>
          <a:xfrm>
            <a:off x="3602736" y="2240280"/>
            <a:ext cx="12070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tl_or_worker</a:t>
            </a:r>
            <a:endParaRPr lang="en-US" sz="750" dirty="0"/>
          </a:p>
        </p:txBody>
      </p:sp>
      <p:sp>
        <p:nvSpPr>
          <p:cNvPr id="93" name="Shape 91"/>
          <p:cNvSpPr/>
          <p:nvPr/>
        </p:nvSpPr>
        <p:spPr>
          <a:xfrm>
            <a:off x="4846320" y="2240280"/>
            <a:ext cx="868680" cy="274320"/>
          </a:xfrm>
          <a:prstGeom prst="rect">
            <a:avLst/>
          </a:prstGeom>
          <a:solidFill>
            <a:srgbClr val="F5F5F5"/>
          </a:solidFill>
          <a:ln w="3810">
            <a:solidFill>
              <a:srgbClr val="F0F0F0"/>
            </a:solidFill>
            <a:prstDash val="solid"/>
          </a:ln>
        </p:spPr>
        <p:txBody>
          <a:bodyPr/>
          <a:lstStyle/>
          <a:p>
            <a:endParaRPr lang="en-US"/>
          </a:p>
        </p:txBody>
      </p:sp>
      <p:sp>
        <p:nvSpPr>
          <p:cNvPr id="94" name="Text 92"/>
          <p:cNvSpPr/>
          <p:nvPr/>
        </p:nvSpPr>
        <p:spPr>
          <a:xfrm>
            <a:off x="4882896" y="2240280"/>
            <a:ext cx="79552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95" name="Shape 93"/>
          <p:cNvSpPr/>
          <p:nvPr/>
        </p:nvSpPr>
        <p:spPr>
          <a:xfrm>
            <a:off x="5715000" y="2240280"/>
            <a:ext cx="594360" cy="274320"/>
          </a:xfrm>
          <a:prstGeom prst="rect">
            <a:avLst/>
          </a:prstGeom>
          <a:solidFill>
            <a:srgbClr val="F5F5F5"/>
          </a:solidFill>
          <a:ln w="3810">
            <a:solidFill>
              <a:srgbClr val="F0F0F0"/>
            </a:solidFill>
            <a:prstDash val="solid"/>
          </a:ln>
        </p:spPr>
        <p:txBody>
          <a:bodyPr/>
          <a:lstStyle/>
          <a:p>
            <a:endParaRPr lang="en-US"/>
          </a:p>
        </p:txBody>
      </p:sp>
      <p:sp>
        <p:nvSpPr>
          <p:cNvPr id="96" name="Text 94"/>
          <p:cNvSpPr/>
          <p:nvPr/>
        </p:nvSpPr>
        <p:spPr>
          <a:xfrm>
            <a:off x="5751576" y="224028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Yes*</a:t>
            </a:r>
            <a:endParaRPr lang="en-US" sz="750" dirty="0"/>
          </a:p>
        </p:txBody>
      </p:sp>
      <p:sp>
        <p:nvSpPr>
          <p:cNvPr id="97" name="Shape 95"/>
          <p:cNvSpPr/>
          <p:nvPr/>
        </p:nvSpPr>
        <p:spPr>
          <a:xfrm>
            <a:off x="6309360" y="2240280"/>
            <a:ext cx="685800" cy="274320"/>
          </a:xfrm>
          <a:prstGeom prst="rect">
            <a:avLst/>
          </a:prstGeom>
          <a:solidFill>
            <a:srgbClr val="F5F5F5"/>
          </a:solidFill>
          <a:ln w="3810">
            <a:solidFill>
              <a:srgbClr val="F0F0F0"/>
            </a:solidFill>
            <a:prstDash val="solid"/>
          </a:ln>
        </p:spPr>
        <p:txBody>
          <a:bodyPr/>
          <a:lstStyle/>
          <a:p>
            <a:endParaRPr lang="en-US"/>
          </a:p>
        </p:txBody>
      </p:sp>
      <p:sp>
        <p:nvSpPr>
          <p:cNvPr id="98" name="Text 96"/>
          <p:cNvSpPr/>
          <p:nvPr/>
        </p:nvSpPr>
        <p:spPr>
          <a:xfrm>
            <a:off x="6345936" y="2240280"/>
            <a:ext cx="61264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Yes</a:t>
            </a:r>
            <a:endParaRPr lang="en-US" sz="750" dirty="0"/>
          </a:p>
        </p:txBody>
      </p:sp>
      <p:sp>
        <p:nvSpPr>
          <p:cNvPr id="99" name="Shape 97"/>
          <p:cNvSpPr/>
          <p:nvPr/>
        </p:nvSpPr>
        <p:spPr>
          <a:xfrm>
            <a:off x="502920" y="2514600"/>
            <a:ext cx="1143000" cy="274320"/>
          </a:xfrm>
          <a:prstGeom prst="rect">
            <a:avLst/>
          </a:prstGeom>
          <a:solidFill>
            <a:srgbClr val="FFFFFF"/>
          </a:solidFill>
          <a:ln w="3810">
            <a:solidFill>
              <a:srgbClr val="F0F0F0"/>
            </a:solidFill>
            <a:prstDash val="solid"/>
          </a:ln>
        </p:spPr>
        <p:txBody>
          <a:bodyPr/>
          <a:lstStyle/>
          <a:p>
            <a:endParaRPr lang="en-US"/>
          </a:p>
        </p:txBody>
      </p:sp>
      <p:sp>
        <p:nvSpPr>
          <p:cNvPr id="100" name="Text 98"/>
          <p:cNvSpPr/>
          <p:nvPr/>
        </p:nvSpPr>
        <p:spPr>
          <a:xfrm>
            <a:off x="539496" y="2514600"/>
            <a:ext cx="106984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rag_worker</a:t>
            </a:r>
            <a:endParaRPr lang="en-US" sz="750" dirty="0"/>
          </a:p>
        </p:txBody>
      </p:sp>
      <p:sp>
        <p:nvSpPr>
          <p:cNvPr id="101" name="Shape 99"/>
          <p:cNvSpPr/>
          <p:nvPr/>
        </p:nvSpPr>
        <p:spPr>
          <a:xfrm>
            <a:off x="1645920" y="2514600"/>
            <a:ext cx="822960" cy="274320"/>
          </a:xfrm>
          <a:prstGeom prst="rect">
            <a:avLst/>
          </a:prstGeom>
          <a:solidFill>
            <a:srgbClr val="FFFFFF"/>
          </a:solidFill>
          <a:ln w="3810">
            <a:solidFill>
              <a:srgbClr val="F0F0F0"/>
            </a:solidFill>
            <a:prstDash val="solid"/>
          </a:ln>
        </p:spPr>
        <p:txBody>
          <a:bodyPr/>
          <a:lstStyle/>
          <a:p>
            <a:endParaRPr lang="en-US"/>
          </a:p>
        </p:txBody>
      </p:sp>
      <p:sp>
        <p:nvSpPr>
          <p:cNvPr id="102" name="Text 100"/>
          <p:cNvSpPr/>
          <p:nvPr/>
        </p:nvSpPr>
        <p:spPr>
          <a:xfrm>
            <a:off x="1682496" y="2514600"/>
            <a:ext cx="74980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rag</a:t>
            </a:r>
            <a:endParaRPr lang="en-US" sz="750" dirty="0"/>
          </a:p>
        </p:txBody>
      </p:sp>
      <p:sp>
        <p:nvSpPr>
          <p:cNvPr id="103" name="Shape 101"/>
          <p:cNvSpPr/>
          <p:nvPr/>
        </p:nvSpPr>
        <p:spPr>
          <a:xfrm>
            <a:off x="2468880" y="2514600"/>
            <a:ext cx="502920" cy="274320"/>
          </a:xfrm>
          <a:prstGeom prst="rect">
            <a:avLst/>
          </a:prstGeom>
          <a:solidFill>
            <a:srgbClr val="FFFFFF"/>
          </a:solidFill>
          <a:ln w="3810">
            <a:solidFill>
              <a:srgbClr val="F0F0F0"/>
            </a:solidFill>
            <a:prstDash val="solid"/>
          </a:ln>
        </p:spPr>
        <p:txBody>
          <a:bodyPr/>
          <a:lstStyle/>
          <a:p>
            <a:endParaRPr lang="en-US"/>
          </a:p>
        </p:txBody>
      </p:sp>
      <p:sp>
        <p:nvSpPr>
          <p:cNvPr id="104" name="Text 102"/>
          <p:cNvSpPr/>
          <p:nvPr/>
        </p:nvSpPr>
        <p:spPr>
          <a:xfrm>
            <a:off x="2505456" y="2514600"/>
            <a:ext cx="42976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0</a:t>
            </a:r>
            <a:endParaRPr lang="en-US" sz="750" dirty="0"/>
          </a:p>
        </p:txBody>
      </p:sp>
      <p:sp>
        <p:nvSpPr>
          <p:cNvPr id="105" name="Shape 103"/>
          <p:cNvSpPr/>
          <p:nvPr/>
        </p:nvSpPr>
        <p:spPr>
          <a:xfrm>
            <a:off x="2971800" y="2514600"/>
            <a:ext cx="594360" cy="274320"/>
          </a:xfrm>
          <a:prstGeom prst="rect">
            <a:avLst/>
          </a:prstGeom>
          <a:solidFill>
            <a:srgbClr val="FFFFFF"/>
          </a:solidFill>
          <a:ln w="3810">
            <a:solidFill>
              <a:srgbClr val="F0F0F0"/>
            </a:solidFill>
            <a:prstDash val="solid"/>
          </a:ln>
        </p:spPr>
        <p:txBody>
          <a:bodyPr/>
          <a:lstStyle/>
          <a:p>
            <a:endParaRPr lang="en-US"/>
          </a:p>
        </p:txBody>
      </p:sp>
      <p:sp>
        <p:nvSpPr>
          <p:cNvPr id="106" name="Text 104"/>
          <p:cNvSpPr/>
          <p:nvPr/>
        </p:nvSpPr>
        <p:spPr>
          <a:xfrm>
            <a:off x="3008376" y="251460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a:t>
            </a:r>
            <a:endParaRPr lang="en-US" sz="750" dirty="0"/>
          </a:p>
        </p:txBody>
      </p:sp>
      <p:sp>
        <p:nvSpPr>
          <p:cNvPr id="107" name="Shape 105"/>
          <p:cNvSpPr/>
          <p:nvPr/>
        </p:nvSpPr>
        <p:spPr>
          <a:xfrm>
            <a:off x="3566160" y="2514600"/>
            <a:ext cx="1280160" cy="274320"/>
          </a:xfrm>
          <a:prstGeom prst="rect">
            <a:avLst/>
          </a:prstGeom>
          <a:solidFill>
            <a:srgbClr val="FFFFFF"/>
          </a:solidFill>
          <a:ln w="3810">
            <a:solidFill>
              <a:srgbClr val="F0F0F0"/>
            </a:solidFill>
            <a:prstDash val="solid"/>
          </a:ln>
        </p:spPr>
        <p:txBody>
          <a:bodyPr/>
          <a:lstStyle/>
          <a:p>
            <a:endParaRPr lang="en-US"/>
          </a:p>
        </p:txBody>
      </p:sp>
      <p:sp>
        <p:nvSpPr>
          <p:cNvPr id="108" name="Text 106"/>
          <p:cNvSpPr/>
          <p:nvPr/>
        </p:nvSpPr>
        <p:spPr>
          <a:xfrm>
            <a:off x="3602736" y="2514600"/>
            <a:ext cx="12070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tl_or_worker</a:t>
            </a:r>
            <a:endParaRPr lang="en-US" sz="750" dirty="0"/>
          </a:p>
        </p:txBody>
      </p:sp>
      <p:sp>
        <p:nvSpPr>
          <p:cNvPr id="109" name="Shape 107"/>
          <p:cNvSpPr/>
          <p:nvPr/>
        </p:nvSpPr>
        <p:spPr>
          <a:xfrm>
            <a:off x="4846320" y="2514600"/>
            <a:ext cx="868680" cy="274320"/>
          </a:xfrm>
          <a:prstGeom prst="rect">
            <a:avLst/>
          </a:prstGeom>
          <a:solidFill>
            <a:srgbClr val="FFFFFF"/>
          </a:solidFill>
          <a:ln w="3810">
            <a:solidFill>
              <a:srgbClr val="F0F0F0"/>
            </a:solidFill>
            <a:prstDash val="solid"/>
          </a:ln>
        </p:spPr>
        <p:txBody>
          <a:bodyPr/>
          <a:lstStyle/>
          <a:p>
            <a:endParaRPr lang="en-US"/>
          </a:p>
        </p:txBody>
      </p:sp>
      <p:sp>
        <p:nvSpPr>
          <p:cNvPr id="110" name="Text 108"/>
          <p:cNvSpPr/>
          <p:nvPr/>
        </p:nvSpPr>
        <p:spPr>
          <a:xfrm>
            <a:off x="4882896" y="2514600"/>
            <a:ext cx="79552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111" name="Shape 109"/>
          <p:cNvSpPr/>
          <p:nvPr/>
        </p:nvSpPr>
        <p:spPr>
          <a:xfrm>
            <a:off x="5715000" y="2514600"/>
            <a:ext cx="594360" cy="274320"/>
          </a:xfrm>
          <a:prstGeom prst="rect">
            <a:avLst/>
          </a:prstGeom>
          <a:solidFill>
            <a:srgbClr val="FFFFFF"/>
          </a:solidFill>
          <a:ln w="3810">
            <a:solidFill>
              <a:srgbClr val="F0F0F0"/>
            </a:solidFill>
            <a:prstDash val="solid"/>
          </a:ln>
        </p:spPr>
        <p:txBody>
          <a:bodyPr/>
          <a:lstStyle/>
          <a:p>
            <a:endParaRPr lang="en-US"/>
          </a:p>
        </p:txBody>
      </p:sp>
      <p:sp>
        <p:nvSpPr>
          <p:cNvPr id="112" name="Text 110"/>
          <p:cNvSpPr/>
          <p:nvPr/>
        </p:nvSpPr>
        <p:spPr>
          <a:xfrm>
            <a:off x="5751576" y="251460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Yes</a:t>
            </a:r>
            <a:endParaRPr lang="en-US" sz="750" dirty="0"/>
          </a:p>
        </p:txBody>
      </p:sp>
      <p:sp>
        <p:nvSpPr>
          <p:cNvPr id="113" name="Shape 111"/>
          <p:cNvSpPr/>
          <p:nvPr/>
        </p:nvSpPr>
        <p:spPr>
          <a:xfrm>
            <a:off x="6309360" y="2514600"/>
            <a:ext cx="685800" cy="274320"/>
          </a:xfrm>
          <a:prstGeom prst="rect">
            <a:avLst/>
          </a:prstGeom>
          <a:solidFill>
            <a:srgbClr val="FFFFFF"/>
          </a:solidFill>
          <a:ln w="3810">
            <a:solidFill>
              <a:srgbClr val="F0F0F0"/>
            </a:solidFill>
            <a:prstDash val="solid"/>
          </a:ln>
        </p:spPr>
        <p:txBody>
          <a:bodyPr/>
          <a:lstStyle/>
          <a:p>
            <a:endParaRPr lang="en-US"/>
          </a:p>
        </p:txBody>
      </p:sp>
      <p:sp>
        <p:nvSpPr>
          <p:cNvPr id="114" name="Text 112"/>
          <p:cNvSpPr/>
          <p:nvPr/>
        </p:nvSpPr>
        <p:spPr>
          <a:xfrm>
            <a:off x="6345936" y="2514600"/>
            <a:ext cx="61264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115" name="Shape 113"/>
          <p:cNvSpPr/>
          <p:nvPr/>
        </p:nvSpPr>
        <p:spPr>
          <a:xfrm>
            <a:off x="502920" y="2788920"/>
            <a:ext cx="1143000" cy="274320"/>
          </a:xfrm>
          <a:prstGeom prst="rect">
            <a:avLst/>
          </a:prstGeom>
          <a:solidFill>
            <a:srgbClr val="F5F5F5"/>
          </a:solidFill>
          <a:ln w="3810">
            <a:solidFill>
              <a:srgbClr val="F0F0F0"/>
            </a:solidFill>
            <a:prstDash val="solid"/>
          </a:ln>
        </p:spPr>
        <p:txBody>
          <a:bodyPr/>
          <a:lstStyle/>
          <a:p>
            <a:endParaRPr lang="en-US"/>
          </a:p>
        </p:txBody>
      </p:sp>
      <p:sp>
        <p:nvSpPr>
          <p:cNvPr id="116" name="Text 114"/>
          <p:cNvSpPr/>
          <p:nvPr/>
        </p:nvSpPr>
        <p:spPr>
          <a:xfrm>
            <a:off x="539496" y="2788920"/>
            <a:ext cx="106984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planner</a:t>
            </a:r>
            <a:endParaRPr lang="en-US" sz="750" dirty="0"/>
          </a:p>
        </p:txBody>
      </p:sp>
      <p:sp>
        <p:nvSpPr>
          <p:cNvPr id="117" name="Shape 115"/>
          <p:cNvSpPr/>
          <p:nvPr/>
        </p:nvSpPr>
        <p:spPr>
          <a:xfrm>
            <a:off x="1645920" y="2788920"/>
            <a:ext cx="822960" cy="274320"/>
          </a:xfrm>
          <a:prstGeom prst="rect">
            <a:avLst/>
          </a:prstGeom>
          <a:solidFill>
            <a:srgbClr val="F5F5F5"/>
          </a:solidFill>
          <a:ln w="3810">
            <a:solidFill>
              <a:srgbClr val="F0F0F0"/>
            </a:solidFill>
            <a:prstDash val="solid"/>
          </a:ln>
        </p:spPr>
        <p:txBody>
          <a:bodyPr/>
          <a:lstStyle/>
          <a:p>
            <a:endParaRPr lang="en-US"/>
          </a:p>
        </p:txBody>
      </p:sp>
      <p:sp>
        <p:nvSpPr>
          <p:cNvPr id="118" name="Text 116"/>
          <p:cNvSpPr/>
          <p:nvPr/>
        </p:nvSpPr>
        <p:spPr>
          <a:xfrm>
            <a:off x="1682496" y="2788920"/>
            <a:ext cx="74980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planner</a:t>
            </a:r>
            <a:endParaRPr lang="en-US" sz="750" dirty="0"/>
          </a:p>
        </p:txBody>
      </p:sp>
      <p:sp>
        <p:nvSpPr>
          <p:cNvPr id="119" name="Shape 117"/>
          <p:cNvSpPr/>
          <p:nvPr/>
        </p:nvSpPr>
        <p:spPr>
          <a:xfrm>
            <a:off x="2468880" y="2788920"/>
            <a:ext cx="502920" cy="274320"/>
          </a:xfrm>
          <a:prstGeom prst="rect">
            <a:avLst/>
          </a:prstGeom>
          <a:solidFill>
            <a:srgbClr val="F5F5F5"/>
          </a:solidFill>
          <a:ln w="3810">
            <a:solidFill>
              <a:srgbClr val="F0F0F0"/>
            </a:solidFill>
            <a:prstDash val="solid"/>
          </a:ln>
        </p:spPr>
        <p:txBody>
          <a:bodyPr/>
          <a:lstStyle/>
          <a:p>
            <a:endParaRPr lang="en-US"/>
          </a:p>
        </p:txBody>
      </p:sp>
      <p:sp>
        <p:nvSpPr>
          <p:cNvPr id="120" name="Text 118"/>
          <p:cNvSpPr/>
          <p:nvPr/>
        </p:nvSpPr>
        <p:spPr>
          <a:xfrm>
            <a:off x="2505456" y="2788920"/>
            <a:ext cx="42976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0</a:t>
            </a:r>
            <a:endParaRPr lang="en-US" sz="750" dirty="0"/>
          </a:p>
        </p:txBody>
      </p:sp>
      <p:sp>
        <p:nvSpPr>
          <p:cNvPr id="121" name="Shape 119"/>
          <p:cNvSpPr/>
          <p:nvPr/>
        </p:nvSpPr>
        <p:spPr>
          <a:xfrm>
            <a:off x="2971800" y="2788920"/>
            <a:ext cx="594360" cy="274320"/>
          </a:xfrm>
          <a:prstGeom prst="rect">
            <a:avLst/>
          </a:prstGeom>
          <a:solidFill>
            <a:srgbClr val="F5F5F5"/>
          </a:solidFill>
          <a:ln w="3810">
            <a:solidFill>
              <a:srgbClr val="F0F0F0"/>
            </a:solidFill>
            <a:prstDash val="solid"/>
          </a:ln>
        </p:spPr>
        <p:txBody>
          <a:bodyPr/>
          <a:lstStyle/>
          <a:p>
            <a:endParaRPr lang="en-US"/>
          </a:p>
        </p:txBody>
      </p:sp>
      <p:sp>
        <p:nvSpPr>
          <p:cNvPr id="122" name="Text 120"/>
          <p:cNvSpPr/>
          <p:nvPr/>
        </p:nvSpPr>
        <p:spPr>
          <a:xfrm>
            <a:off x="3008376" y="278892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a:t>
            </a:r>
            <a:endParaRPr lang="en-US" sz="750" dirty="0"/>
          </a:p>
        </p:txBody>
      </p:sp>
      <p:sp>
        <p:nvSpPr>
          <p:cNvPr id="123" name="Shape 121"/>
          <p:cNvSpPr/>
          <p:nvPr/>
        </p:nvSpPr>
        <p:spPr>
          <a:xfrm>
            <a:off x="3566160" y="2788920"/>
            <a:ext cx="1280160" cy="274320"/>
          </a:xfrm>
          <a:prstGeom prst="rect">
            <a:avLst/>
          </a:prstGeom>
          <a:solidFill>
            <a:srgbClr val="F5F5F5"/>
          </a:solidFill>
          <a:ln w="3810">
            <a:solidFill>
              <a:srgbClr val="F0F0F0"/>
            </a:solidFill>
            <a:prstDash val="solid"/>
          </a:ln>
        </p:spPr>
        <p:txBody>
          <a:bodyPr/>
          <a:lstStyle/>
          <a:p>
            <a:endParaRPr lang="en-US"/>
          </a:p>
        </p:txBody>
      </p:sp>
      <p:sp>
        <p:nvSpPr>
          <p:cNvPr id="124" name="Text 122"/>
          <p:cNvSpPr/>
          <p:nvPr/>
        </p:nvSpPr>
        <p:spPr>
          <a:xfrm>
            <a:off x="3602736" y="2788920"/>
            <a:ext cx="12070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coord_only</a:t>
            </a:r>
            <a:endParaRPr lang="en-US" sz="750" dirty="0"/>
          </a:p>
        </p:txBody>
      </p:sp>
      <p:sp>
        <p:nvSpPr>
          <p:cNvPr id="125" name="Shape 123"/>
          <p:cNvSpPr/>
          <p:nvPr/>
        </p:nvSpPr>
        <p:spPr>
          <a:xfrm>
            <a:off x="4846320" y="2788920"/>
            <a:ext cx="868680" cy="274320"/>
          </a:xfrm>
          <a:prstGeom prst="rect">
            <a:avLst/>
          </a:prstGeom>
          <a:solidFill>
            <a:srgbClr val="F5F5F5"/>
          </a:solidFill>
          <a:ln w="3810">
            <a:solidFill>
              <a:srgbClr val="F0F0F0"/>
            </a:solidFill>
            <a:prstDash val="solid"/>
          </a:ln>
        </p:spPr>
        <p:txBody>
          <a:bodyPr/>
          <a:lstStyle/>
          <a:p>
            <a:endParaRPr lang="en-US"/>
          </a:p>
        </p:txBody>
      </p:sp>
      <p:sp>
        <p:nvSpPr>
          <p:cNvPr id="126" name="Text 124"/>
          <p:cNvSpPr/>
          <p:nvPr/>
        </p:nvSpPr>
        <p:spPr>
          <a:xfrm>
            <a:off x="4882896" y="2788920"/>
            <a:ext cx="79552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127" name="Shape 125"/>
          <p:cNvSpPr/>
          <p:nvPr/>
        </p:nvSpPr>
        <p:spPr>
          <a:xfrm>
            <a:off x="5715000" y="2788920"/>
            <a:ext cx="594360" cy="274320"/>
          </a:xfrm>
          <a:prstGeom prst="rect">
            <a:avLst/>
          </a:prstGeom>
          <a:solidFill>
            <a:srgbClr val="F5F5F5"/>
          </a:solidFill>
          <a:ln w="3810">
            <a:solidFill>
              <a:srgbClr val="F0F0F0"/>
            </a:solidFill>
            <a:prstDash val="solid"/>
          </a:ln>
        </p:spPr>
        <p:txBody>
          <a:bodyPr/>
          <a:lstStyle/>
          <a:p>
            <a:endParaRPr lang="en-US"/>
          </a:p>
        </p:txBody>
      </p:sp>
      <p:sp>
        <p:nvSpPr>
          <p:cNvPr id="128" name="Text 126"/>
          <p:cNvSpPr/>
          <p:nvPr/>
        </p:nvSpPr>
        <p:spPr>
          <a:xfrm>
            <a:off x="5751576" y="278892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129" name="Shape 127"/>
          <p:cNvSpPr/>
          <p:nvPr/>
        </p:nvSpPr>
        <p:spPr>
          <a:xfrm>
            <a:off x="6309360" y="2788920"/>
            <a:ext cx="685800" cy="274320"/>
          </a:xfrm>
          <a:prstGeom prst="rect">
            <a:avLst/>
          </a:prstGeom>
          <a:solidFill>
            <a:srgbClr val="F5F5F5"/>
          </a:solidFill>
          <a:ln w="3810">
            <a:solidFill>
              <a:srgbClr val="F0F0F0"/>
            </a:solidFill>
            <a:prstDash val="solid"/>
          </a:ln>
        </p:spPr>
        <p:txBody>
          <a:bodyPr/>
          <a:lstStyle/>
          <a:p>
            <a:endParaRPr lang="en-US"/>
          </a:p>
        </p:txBody>
      </p:sp>
      <p:sp>
        <p:nvSpPr>
          <p:cNvPr id="130" name="Text 128"/>
          <p:cNvSpPr/>
          <p:nvPr/>
        </p:nvSpPr>
        <p:spPr>
          <a:xfrm>
            <a:off x="6345936" y="2788920"/>
            <a:ext cx="61264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131" name="Shape 129"/>
          <p:cNvSpPr/>
          <p:nvPr/>
        </p:nvSpPr>
        <p:spPr>
          <a:xfrm>
            <a:off x="502920" y="3063240"/>
            <a:ext cx="1143000" cy="274320"/>
          </a:xfrm>
          <a:prstGeom prst="rect">
            <a:avLst/>
          </a:prstGeom>
          <a:solidFill>
            <a:srgbClr val="FFFFFF"/>
          </a:solidFill>
          <a:ln w="3810">
            <a:solidFill>
              <a:srgbClr val="F0F0F0"/>
            </a:solidFill>
            <a:prstDash val="solid"/>
          </a:ln>
        </p:spPr>
        <p:txBody>
          <a:bodyPr/>
          <a:lstStyle/>
          <a:p>
            <a:endParaRPr lang="en-US"/>
          </a:p>
        </p:txBody>
      </p:sp>
      <p:sp>
        <p:nvSpPr>
          <p:cNvPr id="132" name="Text 130"/>
          <p:cNvSpPr/>
          <p:nvPr/>
        </p:nvSpPr>
        <p:spPr>
          <a:xfrm>
            <a:off x="539496" y="3063240"/>
            <a:ext cx="106984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finalizer</a:t>
            </a:r>
            <a:endParaRPr lang="en-US" sz="750" dirty="0"/>
          </a:p>
        </p:txBody>
      </p:sp>
      <p:sp>
        <p:nvSpPr>
          <p:cNvPr id="133" name="Shape 131"/>
          <p:cNvSpPr/>
          <p:nvPr/>
        </p:nvSpPr>
        <p:spPr>
          <a:xfrm>
            <a:off x="1645920" y="3063240"/>
            <a:ext cx="822960" cy="274320"/>
          </a:xfrm>
          <a:prstGeom prst="rect">
            <a:avLst/>
          </a:prstGeom>
          <a:solidFill>
            <a:srgbClr val="FFFFFF"/>
          </a:solidFill>
          <a:ln w="3810">
            <a:solidFill>
              <a:srgbClr val="F0F0F0"/>
            </a:solidFill>
            <a:prstDash val="solid"/>
          </a:ln>
        </p:spPr>
        <p:txBody>
          <a:bodyPr/>
          <a:lstStyle/>
          <a:p>
            <a:endParaRPr lang="en-US"/>
          </a:p>
        </p:txBody>
      </p:sp>
      <p:sp>
        <p:nvSpPr>
          <p:cNvPr id="134" name="Text 132"/>
          <p:cNvSpPr/>
          <p:nvPr/>
        </p:nvSpPr>
        <p:spPr>
          <a:xfrm>
            <a:off x="1682496" y="3063240"/>
            <a:ext cx="74980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final.</a:t>
            </a:r>
            <a:endParaRPr lang="en-US" sz="750" dirty="0"/>
          </a:p>
        </p:txBody>
      </p:sp>
      <p:sp>
        <p:nvSpPr>
          <p:cNvPr id="135" name="Shape 133"/>
          <p:cNvSpPr/>
          <p:nvPr/>
        </p:nvSpPr>
        <p:spPr>
          <a:xfrm>
            <a:off x="2468880" y="3063240"/>
            <a:ext cx="502920" cy="274320"/>
          </a:xfrm>
          <a:prstGeom prst="rect">
            <a:avLst/>
          </a:prstGeom>
          <a:solidFill>
            <a:srgbClr val="FFFFFF"/>
          </a:solidFill>
          <a:ln w="3810">
            <a:solidFill>
              <a:srgbClr val="F0F0F0"/>
            </a:solidFill>
            <a:prstDash val="solid"/>
          </a:ln>
        </p:spPr>
        <p:txBody>
          <a:bodyPr/>
          <a:lstStyle/>
          <a:p>
            <a:endParaRPr lang="en-US"/>
          </a:p>
        </p:txBody>
      </p:sp>
      <p:sp>
        <p:nvSpPr>
          <p:cNvPr id="136" name="Text 134"/>
          <p:cNvSpPr/>
          <p:nvPr/>
        </p:nvSpPr>
        <p:spPr>
          <a:xfrm>
            <a:off x="2505456" y="3063240"/>
            <a:ext cx="42976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0</a:t>
            </a:r>
            <a:endParaRPr lang="en-US" sz="750" dirty="0"/>
          </a:p>
        </p:txBody>
      </p:sp>
      <p:sp>
        <p:nvSpPr>
          <p:cNvPr id="137" name="Shape 135"/>
          <p:cNvSpPr/>
          <p:nvPr/>
        </p:nvSpPr>
        <p:spPr>
          <a:xfrm>
            <a:off x="2971800" y="3063240"/>
            <a:ext cx="594360" cy="274320"/>
          </a:xfrm>
          <a:prstGeom prst="rect">
            <a:avLst/>
          </a:prstGeom>
          <a:solidFill>
            <a:srgbClr val="FFFFFF"/>
          </a:solidFill>
          <a:ln w="3810">
            <a:solidFill>
              <a:srgbClr val="F0F0F0"/>
            </a:solidFill>
            <a:prstDash val="solid"/>
          </a:ln>
        </p:spPr>
        <p:txBody>
          <a:bodyPr/>
          <a:lstStyle/>
          <a:p>
            <a:endParaRPr lang="en-US"/>
          </a:p>
        </p:txBody>
      </p:sp>
      <p:sp>
        <p:nvSpPr>
          <p:cNvPr id="138" name="Text 136"/>
          <p:cNvSpPr/>
          <p:nvPr/>
        </p:nvSpPr>
        <p:spPr>
          <a:xfrm>
            <a:off x="3008376" y="306324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a:t>
            </a:r>
            <a:endParaRPr lang="en-US" sz="750" dirty="0"/>
          </a:p>
        </p:txBody>
      </p:sp>
      <p:sp>
        <p:nvSpPr>
          <p:cNvPr id="139" name="Shape 137"/>
          <p:cNvSpPr/>
          <p:nvPr/>
        </p:nvSpPr>
        <p:spPr>
          <a:xfrm>
            <a:off x="3566160" y="3063240"/>
            <a:ext cx="1280160" cy="274320"/>
          </a:xfrm>
          <a:prstGeom prst="rect">
            <a:avLst/>
          </a:prstGeom>
          <a:solidFill>
            <a:srgbClr val="FFFFFF"/>
          </a:solidFill>
          <a:ln w="3810">
            <a:solidFill>
              <a:srgbClr val="F0F0F0"/>
            </a:solidFill>
            <a:prstDash val="solid"/>
          </a:ln>
        </p:spPr>
        <p:txBody>
          <a:bodyPr/>
          <a:lstStyle/>
          <a:p>
            <a:endParaRPr lang="en-US"/>
          </a:p>
        </p:txBody>
      </p:sp>
      <p:sp>
        <p:nvSpPr>
          <p:cNvPr id="140" name="Text 138"/>
          <p:cNvSpPr/>
          <p:nvPr/>
        </p:nvSpPr>
        <p:spPr>
          <a:xfrm>
            <a:off x="3602736" y="3063240"/>
            <a:ext cx="12070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coord_only</a:t>
            </a:r>
            <a:endParaRPr lang="en-US" sz="750" dirty="0"/>
          </a:p>
        </p:txBody>
      </p:sp>
      <p:sp>
        <p:nvSpPr>
          <p:cNvPr id="141" name="Shape 139"/>
          <p:cNvSpPr/>
          <p:nvPr/>
        </p:nvSpPr>
        <p:spPr>
          <a:xfrm>
            <a:off x="4846320" y="3063240"/>
            <a:ext cx="868680" cy="274320"/>
          </a:xfrm>
          <a:prstGeom prst="rect">
            <a:avLst/>
          </a:prstGeom>
          <a:solidFill>
            <a:srgbClr val="FFFFFF"/>
          </a:solidFill>
          <a:ln w="3810">
            <a:solidFill>
              <a:srgbClr val="F0F0F0"/>
            </a:solidFill>
            <a:prstDash val="solid"/>
          </a:ln>
        </p:spPr>
        <p:txBody>
          <a:bodyPr/>
          <a:lstStyle/>
          <a:p>
            <a:endParaRPr lang="en-US"/>
          </a:p>
        </p:txBody>
      </p:sp>
      <p:sp>
        <p:nvSpPr>
          <p:cNvPr id="142" name="Text 140"/>
          <p:cNvSpPr/>
          <p:nvPr/>
        </p:nvSpPr>
        <p:spPr>
          <a:xfrm>
            <a:off x="4882896" y="3063240"/>
            <a:ext cx="79552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143" name="Shape 141"/>
          <p:cNvSpPr/>
          <p:nvPr/>
        </p:nvSpPr>
        <p:spPr>
          <a:xfrm>
            <a:off x="5715000" y="3063240"/>
            <a:ext cx="594360" cy="274320"/>
          </a:xfrm>
          <a:prstGeom prst="rect">
            <a:avLst/>
          </a:prstGeom>
          <a:solidFill>
            <a:srgbClr val="FFFFFF"/>
          </a:solidFill>
          <a:ln w="3810">
            <a:solidFill>
              <a:srgbClr val="F0F0F0"/>
            </a:solidFill>
            <a:prstDash val="solid"/>
          </a:ln>
        </p:spPr>
        <p:txBody>
          <a:bodyPr/>
          <a:lstStyle/>
          <a:p>
            <a:endParaRPr lang="en-US"/>
          </a:p>
        </p:txBody>
      </p:sp>
      <p:sp>
        <p:nvSpPr>
          <p:cNvPr id="144" name="Text 142"/>
          <p:cNvSpPr/>
          <p:nvPr/>
        </p:nvSpPr>
        <p:spPr>
          <a:xfrm>
            <a:off x="5751576" y="306324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145" name="Shape 143"/>
          <p:cNvSpPr/>
          <p:nvPr/>
        </p:nvSpPr>
        <p:spPr>
          <a:xfrm>
            <a:off x="6309360" y="3063240"/>
            <a:ext cx="685800" cy="274320"/>
          </a:xfrm>
          <a:prstGeom prst="rect">
            <a:avLst/>
          </a:prstGeom>
          <a:solidFill>
            <a:srgbClr val="FFFFFF"/>
          </a:solidFill>
          <a:ln w="3810">
            <a:solidFill>
              <a:srgbClr val="F0F0F0"/>
            </a:solidFill>
            <a:prstDash val="solid"/>
          </a:ln>
        </p:spPr>
        <p:txBody>
          <a:bodyPr/>
          <a:lstStyle/>
          <a:p>
            <a:endParaRPr lang="en-US"/>
          </a:p>
        </p:txBody>
      </p:sp>
      <p:sp>
        <p:nvSpPr>
          <p:cNvPr id="146" name="Text 144"/>
          <p:cNvSpPr/>
          <p:nvPr/>
        </p:nvSpPr>
        <p:spPr>
          <a:xfrm>
            <a:off x="6345936" y="3063240"/>
            <a:ext cx="61264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147" name="Shape 145"/>
          <p:cNvSpPr/>
          <p:nvPr/>
        </p:nvSpPr>
        <p:spPr>
          <a:xfrm>
            <a:off x="502920" y="3337560"/>
            <a:ext cx="1143000" cy="274320"/>
          </a:xfrm>
          <a:prstGeom prst="rect">
            <a:avLst/>
          </a:prstGeom>
          <a:solidFill>
            <a:srgbClr val="F5F5F5"/>
          </a:solidFill>
          <a:ln w="3810">
            <a:solidFill>
              <a:srgbClr val="F0F0F0"/>
            </a:solidFill>
            <a:prstDash val="solid"/>
          </a:ln>
        </p:spPr>
        <p:txBody>
          <a:bodyPr/>
          <a:lstStyle/>
          <a:p>
            <a:endParaRPr lang="en-US"/>
          </a:p>
        </p:txBody>
      </p:sp>
      <p:sp>
        <p:nvSpPr>
          <p:cNvPr id="148" name="Text 146"/>
          <p:cNvSpPr/>
          <p:nvPr/>
        </p:nvSpPr>
        <p:spPr>
          <a:xfrm>
            <a:off x="539496" y="3337560"/>
            <a:ext cx="106984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verifier</a:t>
            </a:r>
            <a:endParaRPr lang="en-US" sz="750" dirty="0"/>
          </a:p>
        </p:txBody>
      </p:sp>
      <p:sp>
        <p:nvSpPr>
          <p:cNvPr id="149" name="Shape 147"/>
          <p:cNvSpPr/>
          <p:nvPr/>
        </p:nvSpPr>
        <p:spPr>
          <a:xfrm>
            <a:off x="1645920" y="3337560"/>
            <a:ext cx="822960" cy="274320"/>
          </a:xfrm>
          <a:prstGeom prst="rect">
            <a:avLst/>
          </a:prstGeom>
          <a:solidFill>
            <a:srgbClr val="F5F5F5"/>
          </a:solidFill>
          <a:ln w="3810">
            <a:solidFill>
              <a:srgbClr val="F0F0F0"/>
            </a:solidFill>
            <a:prstDash val="solid"/>
          </a:ln>
        </p:spPr>
        <p:txBody>
          <a:bodyPr/>
          <a:lstStyle/>
          <a:p>
            <a:endParaRPr lang="en-US"/>
          </a:p>
        </p:txBody>
      </p:sp>
      <p:sp>
        <p:nvSpPr>
          <p:cNvPr id="150" name="Text 148"/>
          <p:cNvSpPr/>
          <p:nvPr/>
        </p:nvSpPr>
        <p:spPr>
          <a:xfrm>
            <a:off x="1682496" y="3337560"/>
            <a:ext cx="74980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verifier</a:t>
            </a:r>
            <a:endParaRPr lang="en-US" sz="750" dirty="0"/>
          </a:p>
        </p:txBody>
      </p:sp>
      <p:sp>
        <p:nvSpPr>
          <p:cNvPr id="151" name="Shape 149"/>
          <p:cNvSpPr/>
          <p:nvPr/>
        </p:nvSpPr>
        <p:spPr>
          <a:xfrm>
            <a:off x="2468880" y="3337560"/>
            <a:ext cx="502920" cy="274320"/>
          </a:xfrm>
          <a:prstGeom prst="rect">
            <a:avLst/>
          </a:prstGeom>
          <a:solidFill>
            <a:srgbClr val="F5F5F5"/>
          </a:solidFill>
          <a:ln w="3810">
            <a:solidFill>
              <a:srgbClr val="F0F0F0"/>
            </a:solidFill>
            <a:prstDash val="solid"/>
          </a:ln>
        </p:spPr>
        <p:txBody>
          <a:bodyPr/>
          <a:lstStyle/>
          <a:p>
            <a:endParaRPr lang="en-US"/>
          </a:p>
        </p:txBody>
      </p:sp>
      <p:sp>
        <p:nvSpPr>
          <p:cNvPr id="152" name="Text 150"/>
          <p:cNvSpPr/>
          <p:nvPr/>
        </p:nvSpPr>
        <p:spPr>
          <a:xfrm>
            <a:off x="2505456" y="3337560"/>
            <a:ext cx="42976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3</a:t>
            </a:r>
            <a:endParaRPr lang="en-US" sz="750" dirty="0"/>
          </a:p>
        </p:txBody>
      </p:sp>
      <p:sp>
        <p:nvSpPr>
          <p:cNvPr id="153" name="Shape 151"/>
          <p:cNvSpPr/>
          <p:nvPr/>
        </p:nvSpPr>
        <p:spPr>
          <a:xfrm>
            <a:off x="2971800" y="3337560"/>
            <a:ext cx="594360" cy="274320"/>
          </a:xfrm>
          <a:prstGeom prst="rect">
            <a:avLst/>
          </a:prstGeom>
          <a:solidFill>
            <a:srgbClr val="F5F5F5"/>
          </a:solidFill>
          <a:ln w="3810">
            <a:solidFill>
              <a:srgbClr val="F0F0F0"/>
            </a:solidFill>
            <a:prstDash val="solid"/>
          </a:ln>
        </p:spPr>
        <p:txBody>
          <a:bodyPr/>
          <a:lstStyle/>
          <a:p>
            <a:endParaRPr lang="en-US"/>
          </a:p>
        </p:txBody>
      </p:sp>
      <p:sp>
        <p:nvSpPr>
          <p:cNvPr id="154" name="Text 152"/>
          <p:cNvSpPr/>
          <p:nvPr/>
        </p:nvSpPr>
        <p:spPr>
          <a:xfrm>
            <a:off x="3008376" y="333756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a:t>
            </a:r>
            <a:endParaRPr lang="en-US" sz="750" dirty="0"/>
          </a:p>
        </p:txBody>
      </p:sp>
      <p:sp>
        <p:nvSpPr>
          <p:cNvPr id="155" name="Shape 153"/>
          <p:cNvSpPr/>
          <p:nvPr/>
        </p:nvSpPr>
        <p:spPr>
          <a:xfrm>
            <a:off x="3566160" y="3337560"/>
            <a:ext cx="1280160" cy="274320"/>
          </a:xfrm>
          <a:prstGeom prst="rect">
            <a:avLst/>
          </a:prstGeom>
          <a:solidFill>
            <a:srgbClr val="F5F5F5"/>
          </a:solidFill>
          <a:ln w="3810">
            <a:solidFill>
              <a:srgbClr val="F0F0F0"/>
            </a:solidFill>
            <a:prstDash val="solid"/>
          </a:ln>
        </p:spPr>
        <p:txBody>
          <a:bodyPr/>
          <a:lstStyle/>
          <a:p>
            <a:endParaRPr lang="en-US"/>
          </a:p>
        </p:txBody>
      </p:sp>
      <p:sp>
        <p:nvSpPr>
          <p:cNvPr id="156" name="Text 154"/>
          <p:cNvSpPr/>
          <p:nvPr/>
        </p:nvSpPr>
        <p:spPr>
          <a:xfrm>
            <a:off x="3602736" y="3337560"/>
            <a:ext cx="12070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coord_only</a:t>
            </a:r>
            <a:endParaRPr lang="en-US" sz="750" dirty="0"/>
          </a:p>
        </p:txBody>
      </p:sp>
      <p:sp>
        <p:nvSpPr>
          <p:cNvPr id="157" name="Shape 155"/>
          <p:cNvSpPr/>
          <p:nvPr/>
        </p:nvSpPr>
        <p:spPr>
          <a:xfrm>
            <a:off x="4846320" y="3337560"/>
            <a:ext cx="868680" cy="274320"/>
          </a:xfrm>
          <a:prstGeom prst="rect">
            <a:avLst/>
          </a:prstGeom>
          <a:solidFill>
            <a:srgbClr val="F5F5F5"/>
          </a:solidFill>
          <a:ln w="3810">
            <a:solidFill>
              <a:srgbClr val="F0F0F0"/>
            </a:solidFill>
            <a:prstDash val="solid"/>
          </a:ln>
        </p:spPr>
        <p:txBody>
          <a:bodyPr/>
          <a:lstStyle/>
          <a:p>
            <a:endParaRPr lang="en-US"/>
          </a:p>
        </p:txBody>
      </p:sp>
      <p:sp>
        <p:nvSpPr>
          <p:cNvPr id="158" name="Text 156"/>
          <p:cNvSpPr/>
          <p:nvPr/>
        </p:nvSpPr>
        <p:spPr>
          <a:xfrm>
            <a:off x="4882896" y="3337560"/>
            <a:ext cx="79552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159" name="Shape 157"/>
          <p:cNvSpPr/>
          <p:nvPr/>
        </p:nvSpPr>
        <p:spPr>
          <a:xfrm>
            <a:off x="5715000" y="3337560"/>
            <a:ext cx="594360" cy="274320"/>
          </a:xfrm>
          <a:prstGeom prst="rect">
            <a:avLst/>
          </a:prstGeom>
          <a:solidFill>
            <a:srgbClr val="F5F5F5"/>
          </a:solidFill>
          <a:ln w="3810">
            <a:solidFill>
              <a:srgbClr val="F0F0F0"/>
            </a:solidFill>
            <a:prstDash val="solid"/>
          </a:ln>
        </p:spPr>
        <p:txBody>
          <a:bodyPr/>
          <a:lstStyle/>
          <a:p>
            <a:endParaRPr lang="en-US"/>
          </a:p>
        </p:txBody>
      </p:sp>
      <p:sp>
        <p:nvSpPr>
          <p:cNvPr id="160" name="Text 158"/>
          <p:cNvSpPr/>
          <p:nvPr/>
        </p:nvSpPr>
        <p:spPr>
          <a:xfrm>
            <a:off x="5751576" y="333756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Yes*</a:t>
            </a:r>
            <a:endParaRPr lang="en-US" sz="750" dirty="0"/>
          </a:p>
        </p:txBody>
      </p:sp>
      <p:sp>
        <p:nvSpPr>
          <p:cNvPr id="161" name="Shape 159"/>
          <p:cNvSpPr/>
          <p:nvPr/>
        </p:nvSpPr>
        <p:spPr>
          <a:xfrm>
            <a:off x="6309360" y="3337560"/>
            <a:ext cx="685800" cy="274320"/>
          </a:xfrm>
          <a:prstGeom prst="rect">
            <a:avLst/>
          </a:prstGeom>
          <a:solidFill>
            <a:srgbClr val="F5F5F5"/>
          </a:solidFill>
          <a:ln w="3810">
            <a:solidFill>
              <a:srgbClr val="F0F0F0"/>
            </a:solidFill>
            <a:prstDash val="solid"/>
          </a:ln>
        </p:spPr>
        <p:txBody>
          <a:bodyPr/>
          <a:lstStyle/>
          <a:p>
            <a:endParaRPr lang="en-US"/>
          </a:p>
        </p:txBody>
      </p:sp>
      <p:sp>
        <p:nvSpPr>
          <p:cNvPr id="162" name="Text 160"/>
          <p:cNvSpPr/>
          <p:nvPr/>
        </p:nvSpPr>
        <p:spPr>
          <a:xfrm>
            <a:off x="6345936" y="3337560"/>
            <a:ext cx="61264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163" name="Shape 161"/>
          <p:cNvSpPr/>
          <p:nvPr/>
        </p:nvSpPr>
        <p:spPr>
          <a:xfrm>
            <a:off x="502920" y="3611880"/>
            <a:ext cx="1143000" cy="274320"/>
          </a:xfrm>
          <a:prstGeom prst="rect">
            <a:avLst/>
          </a:prstGeom>
          <a:solidFill>
            <a:srgbClr val="FFFFFF"/>
          </a:solidFill>
          <a:ln w="3810">
            <a:solidFill>
              <a:srgbClr val="F0F0F0"/>
            </a:solidFill>
            <a:prstDash val="solid"/>
          </a:ln>
        </p:spPr>
        <p:txBody>
          <a:bodyPr/>
          <a:lstStyle/>
          <a:p>
            <a:endParaRPr lang="en-US"/>
          </a:p>
        </p:txBody>
      </p:sp>
      <p:sp>
        <p:nvSpPr>
          <p:cNvPr id="164" name="Text 162"/>
          <p:cNvSpPr/>
          <p:nvPr/>
        </p:nvSpPr>
        <p:spPr>
          <a:xfrm>
            <a:off x="539496" y="3611880"/>
            <a:ext cx="106984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memory_m.</a:t>
            </a:r>
            <a:endParaRPr lang="en-US" sz="750" dirty="0"/>
          </a:p>
        </p:txBody>
      </p:sp>
      <p:sp>
        <p:nvSpPr>
          <p:cNvPr id="165" name="Shape 163"/>
          <p:cNvSpPr/>
          <p:nvPr/>
        </p:nvSpPr>
        <p:spPr>
          <a:xfrm>
            <a:off x="1645920" y="3611880"/>
            <a:ext cx="822960" cy="274320"/>
          </a:xfrm>
          <a:prstGeom prst="rect">
            <a:avLst/>
          </a:prstGeom>
          <a:solidFill>
            <a:srgbClr val="FFFFFF"/>
          </a:solidFill>
          <a:ln w="3810">
            <a:solidFill>
              <a:srgbClr val="F0F0F0"/>
            </a:solidFill>
            <a:prstDash val="solid"/>
          </a:ln>
        </p:spPr>
        <p:txBody>
          <a:bodyPr/>
          <a:lstStyle/>
          <a:p>
            <a:endParaRPr lang="en-US"/>
          </a:p>
        </p:txBody>
      </p:sp>
      <p:sp>
        <p:nvSpPr>
          <p:cNvPr id="166" name="Text 164"/>
          <p:cNvSpPr/>
          <p:nvPr/>
        </p:nvSpPr>
        <p:spPr>
          <a:xfrm>
            <a:off x="1682496" y="3611880"/>
            <a:ext cx="749808" cy="274320"/>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memory</a:t>
            </a:r>
            <a:endParaRPr lang="en-US" sz="750" dirty="0"/>
          </a:p>
        </p:txBody>
      </p:sp>
      <p:sp>
        <p:nvSpPr>
          <p:cNvPr id="167" name="Shape 165"/>
          <p:cNvSpPr/>
          <p:nvPr/>
        </p:nvSpPr>
        <p:spPr>
          <a:xfrm>
            <a:off x="2468880" y="3611880"/>
            <a:ext cx="502920" cy="274320"/>
          </a:xfrm>
          <a:prstGeom prst="rect">
            <a:avLst/>
          </a:prstGeom>
          <a:solidFill>
            <a:srgbClr val="FFFFFF"/>
          </a:solidFill>
          <a:ln w="3810">
            <a:solidFill>
              <a:srgbClr val="F0F0F0"/>
            </a:solidFill>
            <a:prstDash val="solid"/>
          </a:ln>
        </p:spPr>
        <p:txBody>
          <a:bodyPr/>
          <a:lstStyle/>
          <a:p>
            <a:endParaRPr lang="en-US"/>
          </a:p>
        </p:txBody>
      </p:sp>
      <p:sp>
        <p:nvSpPr>
          <p:cNvPr id="168" name="Text 166"/>
          <p:cNvSpPr/>
          <p:nvPr/>
        </p:nvSpPr>
        <p:spPr>
          <a:xfrm>
            <a:off x="2505456" y="3611880"/>
            <a:ext cx="42976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3</a:t>
            </a:r>
            <a:endParaRPr lang="en-US" sz="750" dirty="0"/>
          </a:p>
        </p:txBody>
      </p:sp>
      <p:sp>
        <p:nvSpPr>
          <p:cNvPr id="169" name="Shape 167"/>
          <p:cNvSpPr/>
          <p:nvPr/>
        </p:nvSpPr>
        <p:spPr>
          <a:xfrm>
            <a:off x="2971800" y="3611880"/>
            <a:ext cx="594360" cy="274320"/>
          </a:xfrm>
          <a:prstGeom prst="rect">
            <a:avLst/>
          </a:prstGeom>
          <a:solidFill>
            <a:srgbClr val="FFFFFF"/>
          </a:solidFill>
          <a:ln w="3810">
            <a:solidFill>
              <a:srgbClr val="F0F0F0"/>
            </a:solidFill>
            <a:prstDash val="solid"/>
          </a:ln>
        </p:spPr>
        <p:txBody>
          <a:bodyPr/>
          <a:lstStyle/>
          <a:p>
            <a:endParaRPr lang="en-US"/>
          </a:p>
        </p:txBody>
      </p:sp>
      <p:sp>
        <p:nvSpPr>
          <p:cNvPr id="170" name="Text 168"/>
          <p:cNvSpPr/>
          <p:nvPr/>
        </p:nvSpPr>
        <p:spPr>
          <a:xfrm>
            <a:off x="3008376" y="361188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a:t>
            </a:r>
            <a:endParaRPr lang="en-US" sz="750" dirty="0"/>
          </a:p>
        </p:txBody>
      </p:sp>
      <p:sp>
        <p:nvSpPr>
          <p:cNvPr id="171" name="Shape 169"/>
          <p:cNvSpPr/>
          <p:nvPr/>
        </p:nvSpPr>
        <p:spPr>
          <a:xfrm>
            <a:off x="3566160" y="3611880"/>
            <a:ext cx="1280160" cy="274320"/>
          </a:xfrm>
          <a:prstGeom prst="rect">
            <a:avLst/>
          </a:prstGeom>
          <a:solidFill>
            <a:srgbClr val="FFFFFF"/>
          </a:solidFill>
          <a:ln w="3810">
            <a:solidFill>
              <a:srgbClr val="F0F0F0"/>
            </a:solidFill>
            <a:prstDash val="solid"/>
          </a:ln>
        </p:spPr>
        <p:txBody>
          <a:bodyPr/>
          <a:lstStyle/>
          <a:p>
            <a:endParaRPr lang="en-US"/>
          </a:p>
        </p:txBody>
      </p:sp>
      <p:sp>
        <p:nvSpPr>
          <p:cNvPr id="172" name="Text 170"/>
          <p:cNvSpPr/>
          <p:nvPr/>
        </p:nvSpPr>
        <p:spPr>
          <a:xfrm>
            <a:off x="3602736" y="3611880"/>
            <a:ext cx="12070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background</a:t>
            </a:r>
            <a:endParaRPr lang="en-US" sz="750" dirty="0"/>
          </a:p>
        </p:txBody>
      </p:sp>
      <p:sp>
        <p:nvSpPr>
          <p:cNvPr id="173" name="Shape 171"/>
          <p:cNvSpPr/>
          <p:nvPr/>
        </p:nvSpPr>
        <p:spPr>
          <a:xfrm>
            <a:off x="4846320" y="3611880"/>
            <a:ext cx="868680" cy="274320"/>
          </a:xfrm>
          <a:prstGeom prst="rect">
            <a:avLst/>
          </a:prstGeom>
          <a:solidFill>
            <a:srgbClr val="FFFFFF"/>
          </a:solidFill>
          <a:ln w="3810">
            <a:solidFill>
              <a:srgbClr val="F0F0F0"/>
            </a:solidFill>
            <a:prstDash val="solid"/>
          </a:ln>
        </p:spPr>
        <p:txBody>
          <a:bodyPr/>
          <a:lstStyle/>
          <a:p>
            <a:endParaRPr lang="en-US"/>
          </a:p>
        </p:txBody>
      </p:sp>
      <p:sp>
        <p:nvSpPr>
          <p:cNvPr id="174" name="Text 172"/>
          <p:cNvSpPr/>
          <p:nvPr/>
        </p:nvSpPr>
        <p:spPr>
          <a:xfrm>
            <a:off x="4882896" y="3611880"/>
            <a:ext cx="79552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175" name="Shape 173"/>
          <p:cNvSpPr/>
          <p:nvPr/>
        </p:nvSpPr>
        <p:spPr>
          <a:xfrm>
            <a:off x="5715000" y="3611880"/>
            <a:ext cx="594360" cy="274320"/>
          </a:xfrm>
          <a:prstGeom prst="rect">
            <a:avLst/>
          </a:prstGeom>
          <a:solidFill>
            <a:srgbClr val="FFFFFF"/>
          </a:solidFill>
          <a:ln w="3810">
            <a:solidFill>
              <a:srgbClr val="F0F0F0"/>
            </a:solidFill>
            <a:prstDash val="solid"/>
          </a:ln>
        </p:spPr>
        <p:txBody>
          <a:bodyPr/>
          <a:lstStyle/>
          <a:p>
            <a:endParaRPr lang="en-US"/>
          </a:p>
        </p:txBody>
      </p:sp>
      <p:sp>
        <p:nvSpPr>
          <p:cNvPr id="176" name="Text 174"/>
          <p:cNvSpPr/>
          <p:nvPr/>
        </p:nvSpPr>
        <p:spPr>
          <a:xfrm>
            <a:off x="5751576" y="3611880"/>
            <a:ext cx="52120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177" name="Shape 175"/>
          <p:cNvSpPr/>
          <p:nvPr/>
        </p:nvSpPr>
        <p:spPr>
          <a:xfrm>
            <a:off x="6309360" y="3611880"/>
            <a:ext cx="685800" cy="274320"/>
          </a:xfrm>
          <a:prstGeom prst="rect">
            <a:avLst/>
          </a:prstGeom>
          <a:solidFill>
            <a:srgbClr val="FFFFFF"/>
          </a:solidFill>
          <a:ln w="3810">
            <a:solidFill>
              <a:srgbClr val="F0F0F0"/>
            </a:solidFill>
            <a:prstDash val="solid"/>
          </a:ln>
        </p:spPr>
        <p:txBody>
          <a:bodyPr/>
          <a:lstStyle/>
          <a:p>
            <a:endParaRPr lang="en-US"/>
          </a:p>
        </p:txBody>
      </p:sp>
      <p:sp>
        <p:nvSpPr>
          <p:cNvPr id="178" name="Text 176"/>
          <p:cNvSpPr/>
          <p:nvPr/>
        </p:nvSpPr>
        <p:spPr>
          <a:xfrm>
            <a:off x="6345936" y="3611880"/>
            <a:ext cx="612648" cy="274320"/>
          </a:xfrm>
          <a:prstGeom prst="rect">
            <a:avLst/>
          </a:prstGeom>
          <a:noFill/>
          <a:ln/>
        </p:spPr>
        <p:txBody>
          <a:bodyPr wrap="square" lIns="0" tIns="0" rIns="0" bIns="0" rtlCol="0" anchor="ctr"/>
          <a:lstStyle/>
          <a:p>
            <a:pPr marL="0" indent="0">
              <a:buNone/>
            </a:pPr>
            <a:r>
              <a:rPr lang="en-US" sz="750" dirty="0">
                <a:solidFill>
                  <a:srgbClr val="333333"/>
                </a:solidFill>
                <a:latin typeface="Arial" pitchFamily="34" charset="0"/>
                <a:ea typeface="Arial" pitchFamily="34" charset="-122"/>
                <a:cs typeface="Arial" pitchFamily="34" charset="-120"/>
              </a:rPr>
              <a:t>No</a:t>
            </a:r>
            <a:endParaRPr lang="en-US" sz="750" dirty="0"/>
          </a:p>
        </p:txBody>
      </p:sp>
      <p:sp>
        <p:nvSpPr>
          <p:cNvPr id="179" name="Text 177"/>
          <p:cNvSpPr/>
          <p:nvPr/>
        </p:nvSpPr>
        <p:spPr>
          <a:xfrm>
            <a:off x="502920" y="3977640"/>
            <a:ext cx="8138160" cy="228600"/>
          </a:xfrm>
          <a:prstGeom prst="rect">
            <a:avLst/>
          </a:prstGeom>
          <a:noFill/>
          <a:ln/>
        </p:spPr>
        <p:txBody>
          <a:bodyPr wrap="square" lIns="0" tIns="0" rIns="0" bIns="0" rtlCol="0" anchor="ctr"/>
          <a:lstStyle/>
          <a:p>
            <a:pPr marL="0" indent="0">
              <a:buNone/>
            </a:pPr>
            <a:r>
              <a:rPr lang="en-US" sz="900" dirty="0">
                <a:solidFill>
                  <a:srgbClr val="666666"/>
                </a:solidFill>
                <a:latin typeface="Arial" pitchFamily="34" charset="0"/>
                <a:ea typeface="Arial" pitchFamily="34" charset="-122"/>
                <a:cs typeface="Arial" pitchFamily="34" charset="-120"/>
              </a:rPr>
              <a:t>* = via rag_agent_tool (not native pipeline). Pin this matrix — it's the complete reference.</a:t>
            </a:r>
            <a:endParaRPr lang="en-US" sz="9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02920" y="1463040"/>
            <a:ext cx="8138160" cy="73152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Infrastructure Deep-Dives</a:t>
            </a:r>
            <a:endParaRPr lang="en-US" sz="3200" dirty="0"/>
          </a:p>
        </p:txBody>
      </p:sp>
      <p:sp>
        <p:nvSpPr>
          <p:cNvPr id="3" name="Text 1"/>
          <p:cNvSpPr/>
          <p:nvPr/>
        </p:nvSpPr>
        <p:spPr>
          <a:xfrm>
            <a:off x="502920" y="2286000"/>
            <a:ext cx="8138160" cy="457200"/>
          </a:xfrm>
          <a:prstGeom prst="rect">
            <a:avLst/>
          </a:prstGeom>
          <a:noFill/>
          <a:ln/>
        </p:spPr>
        <p:txBody>
          <a:bodyPr wrap="square" lIns="0" tIns="0" rIns="0" bIns="0" rtlCol="0" anchor="ctr"/>
          <a:lstStyle/>
          <a:p>
            <a:pPr marL="0" indent="0">
              <a:buNone/>
            </a:pPr>
            <a:r>
              <a:rPr lang="en-US" sz="1600" dirty="0">
                <a:solidFill>
                  <a:srgbClr val="0097A7"/>
                </a:solidFill>
                <a:latin typeface="Arial" pitchFamily="34" charset="0"/>
                <a:ea typeface="Arial" pitchFamily="34" charset="-122"/>
                <a:cs typeface="Arial" pitchFamily="34" charset="-120"/>
              </a:rPr>
              <a:t>Slides 39-42: RAG pipeline, persistence, observability, security</a:t>
            </a:r>
            <a:endParaRPr lang="en-US" sz="16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RAG Pipeline — Retrieval to Grounded Answer</a:t>
            </a:r>
            <a:endParaRPr lang="en-US" sz="2600" dirty="0"/>
          </a:p>
        </p:txBody>
      </p:sp>
      <p:sp>
        <p:nvSpPr>
          <p:cNvPr id="3" name="Shape 1"/>
          <p:cNvSpPr/>
          <p:nvPr/>
        </p:nvSpPr>
        <p:spPr>
          <a:xfrm>
            <a:off x="562356" y="1051560"/>
            <a:ext cx="1051560" cy="594360"/>
          </a:xfrm>
          <a:prstGeom prst="rect">
            <a:avLst/>
          </a:prstGeom>
          <a:solidFill>
            <a:srgbClr val="F9A825"/>
          </a:solidFill>
          <a:ln/>
          <a:effectLst>
            <a:outerShdw blurRad="50800" dist="25400" dir="8100000" algn="bl" rotWithShape="0">
              <a:srgbClr val="000000">
                <a:alpha val="12000"/>
              </a:srgbClr>
            </a:outerShdw>
          </a:effectLst>
        </p:spPr>
        <p:txBody>
          <a:bodyPr/>
          <a:lstStyle/>
          <a:p>
            <a:endParaRPr lang="en-US"/>
          </a:p>
        </p:txBody>
      </p:sp>
      <p:sp>
        <p:nvSpPr>
          <p:cNvPr id="4" name="Text 2"/>
          <p:cNvSpPr/>
          <p:nvPr/>
        </p:nvSpPr>
        <p:spPr>
          <a:xfrm>
            <a:off x="562356" y="1051560"/>
            <a:ext cx="1051560" cy="59436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Query</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Analysis</a:t>
            </a:r>
            <a:endParaRPr lang="en-US" sz="1000" dirty="0"/>
          </a:p>
        </p:txBody>
      </p:sp>
      <p:sp>
        <p:nvSpPr>
          <p:cNvPr id="5" name="Shape 3"/>
          <p:cNvSpPr/>
          <p:nvPr/>
        </p:nvSpPr>
        <p:spPr>
          <a:xfrm>
            <a:off x="1613916" y="1348740"/>
            <a:ext cx="109728" cy="0"/>
          </a:xfrm>
          <a:prstGeom prst="line">
            <a:avLst/>
          </a:prstGeom>
          <a:noFill/>
          <a:ln w="25400">
            <a:solidFill>
              <a:srgbClr val="0097A7"/>
            </a:solidFill>
            <a:prstDash val="solid"/>
          </a:ln>
        </p:spPr>
        <p:txBody>
          <a:bodyPr/>
          <a:lstStyle/>
          <a:p>
            <a:endParaRPr lang="en-US"/>
          </a:p>
        </p:txBody>
      </p:sp>
      <p:sp>
        <p:nvSpPr>
          <p:cNvPr id="6" name="Text 4"/>
          <p:cNvSpPr/>
          <p:nvPr/>
        </p:nvSpPr>
        <p:spPr>
          <a:xfrm>
            <a:off x="1613916" y="123901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7" name="Shape 5"/>
          <p:cNvSpPr/>
          <p:nvPr/>
        </p:nvSpPr>
        <p:spPr>
          <a:xfrm>
            <a:off x="1723644" y="1051560"/>
            <a:ext cx="1051560" cy="59436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8" name="Text 6"/>
          <p:cNvSpPr/>
          <p:nvPr/>
        </p:nvSpPr>
        <p:spPr>
          <a:xfrm>
            <a:off x="1723644" y="1051560"/>
            <a:ext cx="1051560" cy="59436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Hybrid</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Retrieval</a:t>
            </a:r>
            <a:endParaRPr lang="en-US" sz="1000" dirty="0"/>
          </a:p>
        </p:txBody>
      </p:sp>
      <p:sp>
        <p:nvSpPr>
          <p:cNvPr id="9" name="Shape 7"/>
          <p:cNvSpPr/>
          <p:nvPr/>
        </p:nvSpPr>
        <p:spPr>
          <a:xfrm>
            <a:off x="2775204" y="1348740"/>
            <a:ext cx="109728" cy="0"/>
          </a:xfrm>
          <a:prstGeom prst="line">
            <a:avLst/>
          </a:prstGeom>
          <a:noFill/>
          <a:ln w="25400">
            <a:solidFill>
              <a:srgbClr val="0097A7"/>
            </a:solidFill>
            <a:prstDash val="solid"/>
          </a:ln>
        </p:spPr>
        <p:txBody>
          <a:bodyPr/>
          <a:lstStyle/>
          <a:p>
            <a:endParaRPr lang="en-US"/>
          </a:p>
        </p:txBody>
      </p:sp>
      <p:sp>
        <p:nvSpPr>
          <p:cNvPr id="10" name="Text 8"/>
          <p:cNvSpPr/>
          <p:nvPr/>
        </p:nvSpPr>
        <p:spPr>
          <a:xfrm>
            <a:off x="2775204" y="123901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1" name="Shape 9"/>
          <p:cNvSpPr/>
          <p:nvPr/>
        </p:nvSpPr>
        <p:spPr>
          <a:xfrm>
            <a:off x="2884932" y="1051560"/>
            <a:ext cx="1051560" cy="59436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12" name="Text 10"/>
          <p:cNvSpPr/>
          <p:nvPr/>
        </p:nvSpPr>
        <p:spPr>
          <a:xfrm>
            <a:off x="2884932" y="1051560"/>
            <a:ext cx="1051560" cy="59436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Judge</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Grading</a:t>
            </a:r>
            <a:endParaRPr lang="en-US" sz="1000" dirty="0"/>
          </a:p>
        </p:txBody>
      </p:sp>
      <p:sp>
        <p:nvSpPr>
          <p:cNvPr id="13" name="Shape 11"/>
          <p:cNvSpPr/>
          <p:nvPr/>
        </p:nvSpPr>
        <p:spPr>
          <a:xfrm>
            <a:off x="3936492" y="1348740"/>
            <a:ext cx="109728" cy="0"/>
          </a:xfrm>
          <a:prstGeom prst="line">
            <a:avLst/>
          </a:prstGeom>
          <a:noFill/>
          <a:ln w="25400">
            <a:solidFill>
              <a:srgbClr val="0097A7"/>
            </a:solidFill>
            <a:prstDash val="solid"/>
          </a:ln>
        </p:spPr>
        <p:txBody>
          <a:bodyPr/>
          <a:lstStyle/>
          <a:p>
            <a:endParaRPr lang="en-US"/>
          </a:p>
        </p:txBody>
      </p:sp>
      <p:sp>
        <p:nvSpPr>
          <p:cNvPr id="14" name="Text 12"/>
          <p:cNvSpPr/>
          <p:nvPr/>
        </p:nvSpPr>
        <p:spPr>
          <a:xfrm>
            <a:off x="3936492" y="123901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5" name="Shape 13"/>
          <p:cNvSpPr/>
          <p:nvPr/>
        </p:nvSpPr>
        <p:spPr>
          <a:xfrm>
            <a:off x="4046220" y="1051560"/>
            <a:ext cx="1051560" cy="59436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16" name="Text 14"/>
          <p:cNvSpPr/>
          <p:nvPr/>
        </p:nvSpPr>
        <p:spPr>
          <a:xfrm>
            <a:off x="4046220" y="1051560"/>
            <a:ext cx="1051560" cy="59436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Evidence</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Assembly</a:t>
            </a:r>
            <a:endParaRPr lang="en-US" sz="1000" dirty="0"/>
          </a:p>
        </p:txBody>
      </p:sp>
      <p:sp>
        <p:nvSpPr>
          <p:cNvPr id="17" name="Shape 15"/>
          <p:cNvSpPr/>
          <p:nvPr/>
        </p:nvSpPr>
        <p:spPr>
          <a:xfrm>
            <a:off x="5097780" y="1348740"/>
            <a:ext cx="109728" cy="0"/>
          </a:xfrm>
          <a:prstGeom prst="line">
            <a:avLst/>
          </a:prstGeom>
          <a:noFill/>
          <a:ln w="25400">
            <a:solidFill>
              <a:srgbClr val="0097A7"/>
            </a:solidFill>
            <a:prstDash val="solid"/>
          </a:ln>
        </p:spPr>
        <p:txBody>
          <a:bodyPr/>
          <a:lstStyle/>
          <a:p>
            <a:endParaRPr lang="en-US"/>
          </a:p>
        </p:txBody>
      </p:sp>
      <p:sp>
        <p:nvSpPr>
          <p:cNvPr id="18" name="Text 16"/>
          <p:cNvSpPr/>
          <p:nvPr/>
        </p:nvSpPr>
        <p:spPr>
          <a:xfrm>
            <a:off x="5097780" y="123901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19" name="Shape 17"/>
          <p:cNvSpPr/>
          <p:nvPr/>
        </p:nvSpPr>
        <p:spPr>
          <a:xfrm>
            <a:off x="5207508" y="1051560"/>
            <a:ext cx="1051560" cy="59436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20" name="Text 18"/>
          <p:cNvSpPr/>
          <p:nvPr/>
        </p:nvSpPr>
        <p:spPr>
          <a:xfrm>
            <a:off x="5207508" y="1051560"/>
            <a:ext cx="1051560" cy="59436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Synthesis</a:t>
            </a:r>
            <a:endParaRPr lang="en-US" sz="1000" dirty="0"/>
          </a:p>
        </p:txBody>
      </p:sp>
      <p:sp>
        <p:nvSpPr>
          <p:cNvPr id="21" name="Shape 19"/>
          <p:cNvSpPr/>
          <p:nvPr/>
        </p:nvSpPr>
        <p:spPr>
          <a:xfrm>
            <a:off x="6259068" y="1348740"/>
            <a:ext cx="109728" cy="0"/>
          </a:xfrm>
          <a:prstGeom prst="line">
            <a:avLst/>
          </a:prstGeom>
          <a:noFill/>
          <a:ln w="25400">
            <a:solidFill>
              <a:srgbClr val="0097A7"/>
            </a:solidFill>
            <a:prstDash val="solid"/>
          </a:ln>
        </p:spPr>
        <p:txBody>
          <a:bodyPr/>
          <a:lstStyle/>
          <a:p>
            <a:endParaRPr lang="en-US"/>
          </a:p>
        </p:txBody>
      </p:sp>
      <p:sp>
        <p:nvSpPr>
          <p:cNvPr id="22" name="Text 20"/>
          <p:cNvSpPr/>
          <p:nvPr/>
        </p:nvSpPr>
        <p:spPr>
          <a:xfrm>
            <a:off x="6259068" y="123901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23" name="Shape 21"/>
          <p:cNvSpPr/>
          <p:nvPr/>
        </p:nvSpPr>
        <p:spPr>
          <a:xfrm>
            <a:off x="6368796" y="1051560"/>
            <a:ext cx="1051560" cy="59436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24" name="Text 22"/>
          <p:cNvSpPr/>
          <p:nvPr/>
        </p:nvSpPr>
        <p:spPr>
          <a:xfrm>
            <a:off x="6368796" y="1051560"/>
            <a:ext cx="1051560" cy="59436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Citation</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Building</a:t>
            </a:r>
            <a:endParaRPr lang="en-US" sz="1000" dirty="0"/>
          </a:p>
        </p:txBody>
      </p:sp>
      <p:sp>
        <p:nvSpPr>
          <p:cNvPr id="25" name="Shape 23"/>
          <p:cNvSpPr/>
          <p:nvPr/>
        </p:nvSpPr>
        <p:spPr>
          <a:xfrm>
            <a:off x="7420356" y="1348740"/>
            <a:ext cx="109728" cy="0"/>
          </a:xfrm>
          <a:prstGeom prst="line">
            <a:avLst/>
          </a:prstGeom>
          <a:noFill/>
          <a:ln w="25400">
            <a:solidFill>
              <a:srgbClr val="0097A7"/>
            </a:solidFill>
            <a:prstDash val="solid"/>
          </a:ln>
        </p:spPr>
        <p:txBody>
          <a:bodyPr/>
          <a:lstStyle/>
          <a:p>
            <a:endParaRPr lang="en-US"/>
          </a:p>
        </p:txBody>
      </p:sp>
      <p:sp>
        <p:nvSpPr>
          <p:cNvPr id="26" name="Text 24"/>
          <p:cNvSpPr/>
          <p:nvPr/>
        </p:nvSpPr>
        <p:spPr>
          <a:xfrm>
            <a:off x="7420356" y="1239012"/>
            <a:ext cx="182880" cy="219456"/>
          </a:xfrm>
          <a:prstGeom prst="rect">
            <a:avLst/>
          </a:prstGeom>
          <a:noFill/>
          <a:ln/>
        </p:spPr>
        <p:txBody>
          <a:bodyPr wrap="square" lIns="0" tIns="0" rIns="0" bIns="0" rtlCol="0" anchor="ctr"/>
          <a:lstStyle/>
          <a:p>
            <a:pPr marL="0" indent="0" algn="ctr">
              <a:buNone/>
            </a:pPr>
            <a:r>
              <a:rPr lang="en-US" sz="1400" b="1" dirty="0">
                <a:solidFill>
                  <a:srgbClr val="0097A7"/>
                </a:solidFill>
                <a:latin typeface="Arial" pitchFamily="34" charset="0"/>
                <a:ea typeface="Arial" pitchFamily="34" charset="-122"/>
                <a:cs typeface="Arial" pitchFamily="34" charset="-120"/>
              </a:rPr>
              <a:t>&gt;</a:t>
            </a:r>
            <a:endParaRPr lang="en-US" sz="1400" dirty="0"/>
          </a:p>
        </p:txBody>
      </p:sp>
      <p:sp>
        <p:nvSpPr>
          <p:cNvPr id="27" name="Shape 25"/>
          <p:cNvSpPr/>
          <p:nvPr/>
        </p:nvSpPr>
        <p:spPr>
          <a:xfrm>
            <a:off x="7530084" y="1051560"/>
            <a:ext cx="1051560" cy="59436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28" name="Text 26"/>
          <p:cNvSpPr/>
          <p:nvPr/>
        </p:nvSpPr>
        <p:spPr>
          <a:xfrm>
            <a:off x="7530084" y="1051560"/>
            <a:ext cx="1051560" cy="59436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Confidence</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Extraction</a:t>
            </a:r>
            <a:endParaRPr lang="en-US" sz="1000" dirty="0"/>
          </a:p>
        </p:txBody>
      </p:sp>
      <p:sp>
        <p:nvSpPr>
          <p:cNvPr id="29" name="Shape 27"/>
          <p:cNvSpPr/>
          <p:nvPr/>
        </p:nvSpPr>
        <p:spPr>
          <a:xfrm>
            <a:off x="502920" y="1920240"/>
            <a:ext cx="8138160" cy="292608"/>
          </a:xfrm>
          <a:prstGeom prst="rect">
            <a:avLst/>
          </a:prstGeom>
          <a:solidFill>
            <a:srgbClr val="F5F5F5"/>
          </a:solidFill>
          <a:ln/>
        </p:spPr>
        <p:txBody>
          <a:bodyPr/>
          <a:lstStyle/>
          <a:p>
            <a:endParaRPr lang="en-US"/>
          </a:p>
        </p:txBody>
      </p:sp>
      <p:sp>
        <p:nvSpPr>
          <p:cNvPr id="30" name="Text 28"/>
          <p:cNvSpPr/>
          <p:nvPr/>
        </p:nvSpPr>
        <p:spPr>
          <a:xfrm>
            <a:off x="594360" y="1920240"/>
            <a:ext cx="1828800" cy="292608"/>
          </a:xfrm>
          <a:prstGeom prst="rect">
            <a:avLst/>
          </a:prstGeom>
          <a:noFill/>
          <a:ln/>
        </p:spPr>
        <p:txBody>
          <a:bodyPr wrap="square" lIns="0" tIns="0" rIns="0" bIns="0" rtlCol="0" anchor="ctr"/>
          <a:lstStyle/>
          <a:p>
            <a:pPr marL="0" indent="0">
              <a:buNone/>
            </a:pPr>
            <a:r>
              <a:rPr lang="en-US" sz="1000" b="1" dirty="0">
                <a:solidFill>
                  <a:srgbClr val="1B2A4A"/>
                </a:solidFill>
                <a:latin typeface="Arial" pitchFamily="34" charset="0"/>
                <a:ea typeface="Arial" pitchFamily="34" charset="-122"/>
                <a:cs typeface="Arial" pitchFamily="34" charset="-120"/>
              </a:rPr>
              <a:t>Query Analysis</a:t>
            </a:r>
            <a:endParaRPr lang="en-US" sz="1000" dirty="0"/>
          </a:p>
        </p:txBody>
      </p:sp>
      <p:sp>
        <p:nvSpPr>
          <p:cNvPr id="31" name="Text 29"/>
          <p:cNvSpPr/>
          <p:nvPr/>
        </p:nvSpPr>
        <p:spPr>
          <a:xfrm>
            <a:off x="2514600" y="1920240"/>
            <a:ext cx="5943600" cy="292608"/>
          </a:xfrm>
          <a:prstGeom prst="rect">
            <a:avLst/>
          </a:prstGeom>
          <a:noFill/>
          <a:ln/>
        </p:spPr>
        <p:txBody>
          <a:bodyPr wrap="square" lIns="0" tIns="0" rIns="0" bIns="0" rtlCol="0" anchor="ctr"/>
          <a:lstStyle/>
          <a:p>
            <a:pPr marL="0" indent="0">
              <a:buNone/>
            </a:pPr>
            <a:r>
              <a:rPr lang="en-US" sz="1000" dirty="0">
                <a:solidFill>
                  <a:srgbClr val="333333"/>
                </a:solidFill>
                <a:latin typeface="Arial" pitchFamily="34" charset="0"/>
                <a:ea typeface="Arial" pitchFamily="34" charset="-122"/>
                <a:cs typeface="Arial" pitchFamily="34" charset="-120"/>
              </a:rPr>
              <a:t>User query + context -&gt; reformulated search query</a:t>
            </a:r>
            <a:endParaRPr lang="en-US" sz="1000" dirty="0"/>
          </a:p>
        </p:txBody>
      </p:sp>
      <p:sp>
        <p:nvSpPr>
          <p:cNvPr id="32" name="Shape 30"/>
          <p:cNvSpPr/>
          <p:nvPr/>
        </p:nvSpPr>
        <p:spPr>
          <a:xfrm>
            <a:off x="502920" y="2221992"/>
            <a:ext cx="8138160" cy="292608"/>
          </a:xfrm>
          <a:prstGeom prst="rect">
            <a:avLst/>
          </a:prstGeom>
          <a:solidFill>
            <a:srgbClr val="FFFFFF"/>
          </a:solidFill>
          <a:ln/>
        </p:spPr>
        <p:txBody>
          <a:bodyPr/>
          <a:lstStyle/>
          <a:p>
            <a:endParaRPr lang="en-US"/>
          </a:p>
        </p:txBody>
      </p:sp>
      <p:sp>
        <p:nvSpPr>
          <p:cNvPr id="33" name="Text 31"/>
          <p:cNvSpPr/>
          <p:nvPr/>
        </p:nvSpPr>
        <p:spPr>
          <a:xfrm>
            <a:off x="594360" y="2221992"/>
            <a:ext cx="1828800" cy="292608"/>
          </a:xfrm>
          <a:prstGeom prst="rect">
            <a:avLst/>
          </a:prstGeom>
          <a:noFill/>
          <a:ln/>
        </p:spPr>
        <p:txBody>
          <a:bodyPr wrap="square" lIns="0" tIns="0" rIns="0" bIns="0" rtlCol="0" anchor="ctr"/>
          <a:lstStyle/>
          <a:p>
            <a:pPr marL="0" indent="0">
              <a:buNone/>
            </a:pPr>
            <a:r>
              <a:rPr lang="en-US" sz="1000" b="1" dirty="0">
                <a:solidFill>
                  <a:srgbClr val="1B2A4A"/>
                </a:solidFill>
                <a:latin typeface="Arial" pitchFamily="34" charset="0"/>
                <a:ea typeface="Arial" pitchFamily="34" charset="-122"/>
                <a:cs typeface="Arial" pitchFamily="34" charset="-120"/>
              </a:rPr>
              <a:t>Hybrid Retrieval</a:t>
            </a:r>
            <a:endParaRPr lang="en-US" sz="1000" dirty="0"/>
          </a:p>
        </p:txBody>
      </p:sp>
      <p:sp>
        <p:nvSpPr>
          <p:cNvPr id="34" name="Text 32"/>
          <p:cNvSpPr/>
          <p:nvPr/>
        </p:nvSpPr>
        <p:spPr>
          <a:xfrm>
            <a:off x="2514600" y="2221992"/>
            <a:ext cx="5943600" cy="292608"/>
          </a:xfrm>
          <a:prstGeom prst="rect">
            <a:avLst/>
          </a:prstGeom>
          <a:noFill/>
          <a:ln/>
        </p:spPr>
        <p:txBody>
          <a:bodyPr wrap="square" lIns="0" tIns="0" rIns="0" bIns="0" rtlCol="0" anchor="ctr"/>
          <a:lstStyle/>
          <a:p>
            <a:pPr marL="0" indent="0">
              <a:buNone/>
            </a:pPr>
            <a:r>
              <a:rPr lang="en-US" sz="1000" dirty="0">
                <a:solidFill>
                  <a:srgbClr val="333333"/>
                </a:solidFill>
                <a:latin typeface="Arial" pitchFamily="34" charset="0"/>
                <a:ea typeface="Arial" pitchFamily="34" charset="-122"/>
                <a:cs typeface="Arial" pitchFamily="34" charset="-120"/>
              </a:rPr>
              <a:t>Vector (embedding) + keyword (BM25) -&gt; merged, deduplicated</a:t>
            </a:r>
            <a:endParaRPr lang="en-US" sz="1000" dirty="0"/>
          </a:p>
        </p:txBody>
      </p:sp>
      <p:sp>
        <p:nvSpPr>
          <p:cNvPr id="35" name="Shape 33"/>
          <p:cNvSpPr/>
          <p:nvPr/>
        </p:nvSpPr>
        <p:spPr>
          <a:xfrm>
            <a:off x="502920" y="2523744"/>
            <a:ext cx="8138160" cy="292608"/>
          </a:xfrm>
          <a:prstGeom prst="rect">
            <a:avLst/>
          </a:prstGeom>
          <a:solidFill>
            <a:srgbClr val="F5F5F5"/>
          </a:solidFill>
          <a:ln/>
        </p:spPr>
        <p:txBody>
          <a:bodyPr/>
          <a:lstStyle/>
          <a:p>
            <a:endParaRPr lang="en-US"/>
          </a:p>
        </p:txBody>
      </p:sp>
      <p:sp>
        <p:nvSpPr>
          <p:cNvPr id="36" name="Text 34"/>
          <p:cNvSpPr/>
          <p:nvPr/>
        </p:nvSpPr>
        <p:spPr>
          <a:xfrm>
            <a:off x="594360" y="2523744"/>
            <a:ext cx="1828800" cy="292608"/>
          </a:xfrm>
          <a:prstGeom prst="rect">
            <a:avLst/>
          </a:prstGeom>
          <a:noFill/>
          <a:ln/>
        </p:spPr>
        <p:txBody>
          <a:bodyPr wrap="square" lIns="0" tIns="0" rIns="0" bIns="0" rtlCol="0" anchor="ctr"/>
          <a:lstStyle/>
          <a:p>
            <a:pPr marL="0" indent="0">
              <a:buNone/>
            </a:pPr>
            <a:r>
              <a:rPr lang="en-US" sz="1000" b="1" dirty="0">
                <a:solidFill>
                  <a:srgbClr val="1B2A4A"/>
                </a:solidFill>
                <a:latin typeface="Arial" pitchFamily="34" charset="0"/>
                <a:ea typeface="Arial" pitchFamily="34" charset="-122"/>
                <a:cs typeface="Arial" pitchFamily="34" charset="-120"/>
              </a:rPr>
              <a:t>Judge Grading</a:t>
            </a:r>
            <a:endParaRPr lang="en-US" sz="1000" dirty="0"/>
          </a:p>
        </p:txBody>
      </p:sp>
      <p:sp>
        <p:nvSpPr>
          <p:cNvPr id="37" name="Text 35"/>
          <p:cNvSpPr/>
          <p:nvPr/>
        </p:nvSpPr>
        <p:spPr>
          <a:xfrm>
            <a:off x="2514600" y="2523744"/>
            <a:ext cx="5943600" cy="292608"/>
          </a:xfrm>
          <a:prstGeom prst="rect">
            <a:avLst/>
          </a:prstGeom>
          <a:noFill/>
          <a:ln/>
        </p:spPr>
        <p:txBody>
          <a:bodyPr wrap="square" lIns="0" tIns="0" rIns="0" bIns="0" rtlCol="0" anchor="ctr"/>
          <a:lstStyle/>
          <a:p>
            <a:pPr marL="0" indent="0">
              <a:buNone/>
            </a:pPr>
            <a:r>
              <a:rPr lang="en-US" sz="1000" dirty="0">
                <a:solidFill>
                  <a:srgbClr val="333333"/>
                </a:solidFill>
                <a:latin typeface="Arial" pitchFamily="34" charset="0"/>
                <a:ea typeface="Arial" pitchFamily="34" charset="-122"/>
                <a:cs typeface="Arial" pitchFamily="34" charset="-120"/>
              </a:rPr>
              <a:t>Small fast LLM scores each chunk 0-1 for relevance</a:t>
            </a:r>
            <a:endParaRPr lang="en-US" sz="1000" dirty="0"/>
          </a:p>
        </p:txBody>
      </p:sp>
      <p:sp>
        <p:nvSpPr>
          <p:cNvPr id="38" name="Shape 36"/>
          <p:cNvSpPr/>
          <p:nvPr/>
        </p:nvSpPr>
        <p:spPr>
          <a:xfrm>
            <a:off x="502920" y="2825496"/>
            <a:ext cx="8138160" cy="292608"/>
          </a:xfrm>
          <a:prstGeom prst="rect">
            <a:avLst/>
          </a:prstGeom>
          <a:solidFill>
            <a:srgbClr val="FFFFFF"/>
          </a:solidFill>
          <a:ln/>
        </p:spPr>
        <p:txBody>
          <a:bodyPr/>
          <a:lstStyle/>
          <a:p>
            <a:endParaRPr lang="en-US"/>
          </a:p>
        </p:txBody>
      </p:sp>
      <p:sp>
        <p:nvSpPr>
          <p:cNvPr id="39" name="Text 37"/>
          <p:cNvSpPr/>
          <p:nvPr/>
        </p:nvSpPr>
        <p:spPr>
          <a:xfrm>
            <a:off x="594360" y="2825496"/>
            <a:ext cx="1828800" cy="292608"/>
          </a:xfrm>
          <a:prstGeom prst="rect">
            <a:avLst/>
          </a:prstGeom>
          <a:noFill/>
          <a:ln/>
        </p:spPr>
        <p:txBody>
          <a:bodyPr wrap="square" lIns="0" tIns="0" rIns="0" bIns="0" rtlCol="0" anchor="ctr"/>
          <a:lstStyle/>
          <a:p>
            <a:pPr marL="0" indent="0">
              <a:buNone/>
            </a:pPr>
            <a:r>
              <a:rPr lang="en-US" sz="1000" b="1" dirty="0">
                <a:solidFill>
                  <a:srgbClr val="1B2A4A"/>
                </a:solidFill>
                <a:latin typeface="Arial" pitchFamily="34" charset="0"/>
                <a:ea typeface="Arial" pitchFamily="34" charset="-122"/>
                <a:cs typeface="Arial" pitchFamily="34" charset="-120"/>
              </a:rPr>
              <a:t>Synthesis</a:t>
            </a:r>
            <a:endParaRPr lang="en-US" sz="1000" dirty="0"/>
          </a:p>
        </p:txBody>
      </p:sp>
      <p:sp>
        <p:nvSpPr>
          <p:cNvPr id="40" name="Text 38"/>
          <p:cNvSpPr/>
          <p:nvPr/>
        </p:nvSpPr>
        <p:spPr>
          <a:xfrm>
            <a:off x="2514600" y="2825496"/>
            <a:ext cx="5943600" cy="292608"/>
          </a:xfrm>
          <a:prstGeom prst="rect">
            <a:avLst/>
          </a:prstGeom>
          <a:noFill/>
          <a:ln/>
        </p:spPr>
        <p:txBody>
          <a:bodyPr wrap="square" lIns="0" tIns="0" rIns="0" bIns="0" rtlCol="0" anchor="ctr"/>
          <a:lstStyle/>
          <a:p>
            <a:pPr marL="0" indent="0">
              <a:buNone/>
            </a:pPr>
            <a:r>
              <a:rPr lang="en-US" sz="1000" dirty="0">
                <a:solidFill>
                  <a:srgbClr val="333333"/>
                </a:solidFill>
                <a:latin typeface="Arial" pitchFamily="34" charset="0"/>
                <a:ea typeface="Arial" pitchFamily="34" charset="-122"/>
                <a:cs typeface="Arial" pitchFamily="34" charset="-120"/>
              </a:rPr>
              <a:t>Main LLM generates answer citing evidence with (citation_id) format</a:t>
            </a:r>
            <a:endParaRPr lang="en-US" sz="1000" dirty="0"/>
          </a:p>
        </p:txBody>
      </p:sp>
      <p:sp>
        <p:nvSpPr>
          <p:cNvPr id="41" name="Shape 39"/>
          <p:cNvSpPr/>
          <p:nvPr/>
        </p:nvSpPr>
        <p:spPr>
          <a:xfrm>
            <a:off x="502920" y="3127248"/>
            <a:ext cx="8138160" cy="292608"/>
          </a:xfrm>
          <a:prstGeom prst="rect">
            <a:avLst/>
          </a:prstGeom>
          <a:solidFill>
            <a:srgbClr val="F5F5F5"/>
          </a:solidFill>
          <a:ln/>
        </p:spPr>
        <p:txBody>
          <a:bodyPr/>
          <a:lstStyle/>
          <a:p>
            <a:endParaRPr lang="en-US"/>
          </a:p>
        </p:txBody>
      </p:sp>
      <p:sp>
        <p:nvSpPr>
          <p:cNvPr id="42" name="Text 40"/>
          <p:cNvSpPr/>
          <p:nvPr/>
        </p:nvSpPr>
        <p:spPr>
          <a:xfrm>
            <a:off x="594360" y="3127248"/>
            <a:ext cx="1828800" cy="292608"/>
          </a:xfrm>
          <a:prstGeom prst="rect">
            <a:avLst/>
          </a:prstGeom>
          <a:noFill/>
          <a:ln/>
        </p:spPr>
        <p:txBody>
          <a:bodyPr wrap="square" lIns="0" tIns="0" rIns="0" bIns="0" rtlCol="0" anchor="ctr"/>
          <a:lstStyle/>
          <a:p>
            <a:pPr marL="0" indent="0">
              <a:buNone/>
            </a:pPr>
            <a:r>
              <a:rPr lang="en-US" sz="1000" b="1" dirty="0">
                <a:solidFill>
                  <a:srgbClr val="1B2A4A"/>
                </a:solidFill>
                <a:latin typeface="Arial" pitchFamily="34" charset="0"/>
                <a:ea typeface="Arial" pitchFamily="34" charset="-122"/>
                <a:cs typeface="Arial" pitchFamily="34" charset="-120"/>
              </a:rPr>
              <a:t>Citation Building</a:t>
            </a:r>
            <a:endParaRPr lang="en-US" sz="1000" dirty="0"/>
          </a:p>
        </p:txBody>
      </p:sp>
      <p:sp>
        <p:nvSpPr>
          <p:cNvPr id="43" name="Text 41"/>
          <p:cNvSpPr/>
          <p:nvPr/>
        </p:nvSpPr>
        <p:spPr>
          <a:xfrm>
            <a:off x="2514600" y="3127248"/>
            <a:ext cx="5943600" cy="292608"/>
          </a:xfrm>
          <a:prstGeom prst="rect">
            <a:avLst/>
          </a:prstGeom>
          <a:noFill/>
          <a:ln/>
        </p:spPr>
        <p:txBody>
          <a:bodyPr wrap="square" lIns="0" tIns="0" rIns="0" bIns="0" rtlCol="0" anchor="ctr"/>
          <a:lstStyle/>
          <a:p>
            <a:pPr marL="0" indent="0">
              <a:buNone/>
            </a:pPr>
            <a:r>
              <a:rPr lang="en-US" sz="1000" dirty="0">
                <a:solidFill>
                  <a:srgbClr val="333333"/>
                </a:solidFill>
                <a:latin typeface="Arial" pitchFamily="34" charset="0"/>
                <a:ea typeface="Arial" pitchFamily="34" charset="-122"/>
                <a:cs typeface="Arial" pitchFamily="34" charset="-120"/>
              </a:rPr>
              <a:t>build_citations() maps IDs to sources, 320-char snippets</a:t>
            </a:r>
            <a:endParaRPr lang="en-US" sz="1000" dirty="0"/>
          </a:p>
        </p:txBody>
      </p:sp>
      <p:sp>
        <p:nvSpPr>
          <p:cNvPr id="44" name="Shape 42"/>
          <p:cNvSpPr/>
          <p:nvPr/>
        </p:nvSpPr>
        <p:spPr>
          <a:xfrm>
            <a:off x="502920" y="3429000"/>
            <a:ext cx="8138160" cy="292608"/>
          </a:xfrm>
          <a:prstGeom prst="rect">
            <a:avLst/>
          </a:prstGeom>
          <a:solidFill>
            <a:srgbClr val="FFFFFF"/>
          </a:solidFill>
          <a:ln/>
        </p:spPr>
        <p:txBody>
          <a:bodyPr/>
          <a:lstStyle/>
          <a:p>
            <a:endParaRPr lang="en-US"/>
          </a:p>
        </p:txBody>
      </p:sp>
      <p:sp>
        <p:nvSpPr>
          <p:cNvPr id="45" name="Text 43"/>
          <p:cNvSpPr/>
          <p:nvPr/>
        </p:nvSpPr>
        <p:spPr>
          <a:xfrm>
            <a:off x="594360" y="3429000"/>
            <a:ext cx="1828800" cy="292608"/>
          </a:xfrm>
          <a:prstGeom prst="rect">
            <a:avLst/>
          </a:prstGeom>
          <a:noFill/>
          <a:ln/>
        </p:spPr>
        <p:txBody>
          <a:bodyPr wrap="square" lIns="0" tIns="0" rIns="0" bIns="0" rtlCol="0" anchor="ctr"/>
          <a:lstStyle/>
          <a:p>
            <a:pPr marL="0" indent="0">
              <a:buNone/>
            </a:pPr>
            <a:r>
              <a:rPr lang="en-US" sz="1000" b="1" dirty="0">
                <a:solidFill>
                  <a:srgbClr val="1B2A4A"/>
                </a:solidFill>
                <a:latin typeface="Arial" pitchFamily="34" charset="0"/>
                <a:ea typeface="Arial" pitchFamily="34" charset="-122"/>
                <a:cs typeface="Arial" pitchFamily="34" charset="-120"/>
              </a:rPr>
              <a:t>Multi-round</a:t>
            </a:r>
            <a:endParaRPr lang="en-US" sz="1000" dirty="0"/>
          </a:p>
        </p:txBody>
      </p:sp>
      <p:sp>
        <p:nvSpPr>
          <p:cNvPr id="46" name="Text 44"/>
          <p:cNvSpPr/>
          <p:nvPr/>
        </p:nvSpPr>
        <p:spPr>
          <a:xfrm>
            <a:off x="2514600" y="3429000"/>
            <a:ext cx="5943600" cy="292608"/>
          </a:xfrm>
          <a:prstGeom prst="rect">
            <a:avLst/>
          </a:prstGeom>
          <a:noFill/>
          <a:ln/>
        </p:spPr>
        <p:txBody>
          <a:bodyPr wrap="square" lIns="0" tIns="0" rIns="0" bIns="0" rtlCol="0" anchor="ctr"/>
          <a:lstStyle/>
          <a:p>
            <a:pPr marL="0" indent="0">
              <a:buNone/>
            </a:pPr>
            <a:r>
              <a:rPr lang="en-US" sz="1000" dirty="0">
                <a:solidFill>
                  <a:srgbClr val="333333"/>
                </a:solidFill>
                <a:latin typeface="Arial" pitchFamily="34" charset="0"/>
                <a:ea typeface="Arial" pitchFamily="34" charset="-122"/>
                <a:cs typeface="Arial" pitchFamily="34" charset="-120"/>
              </a:rPr>
              <a:t>Up to max_search_rounds if initial retrieval insufficient</a:t>
            </a:r>
            <a:endParaRPr lang="en-US" sz="1000" dirty="0"/>
          </a:p>
        </p:txBody>
      </p:sp>
      <p:sp>
        <p:nvSpPr>
          <p:cNvPr id="47" name="Text 45"/>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rag/engine.py, rag/retrieval.py, rag/synthesis.py, rag/citations.py</a:t>
            </a:r>
            <a:endParaRPr lang="en-US" sz="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RAG Synthesis Pipeline — rag/synthesis.py</a:t>
            </a:r>
            <a:endParaRPr lang="en-US" sz="2600" dirty="0"/>
          </a:p>
        </p:txBody>
      </p:sp>
      <p:sp>
        <p:nvSpPr>
          <p:cNvPr id="3" name="Text 1"/>
          <p:cNvSpPr/>
          <p:nvPr/>
        </p:nvSpPr>
        <p:spPr>
          <a:xfrm>
            <a:off x="502920" y="841248"/>
            <a:ext cx="8138160" cy="365760"/>
          </a:xfrm>
          <a:prstGeom prst="rect">
            <a:avLst/>
          </a:prstGeom>
          <a:noFill/>
          <a:ln/>
        </p:spPr>
        <p:txBody>
          <a:bodyPr wrap="square" lIns="0" tIns="0" rIns="0" bIns="0" rtlCol="0" anchor="ctr"/>
          <a:lstStyle/>
          <a:p>
            <a:pPr marL="0" indent="0">
              <a:buNone/>
            </a:pPr>
            <a:r>
              <a:rPr lang="en-US" sz="1050" dirty="0">
                <a:solidFill>
                  <a:srgbClr val="1B2A4A"/>
                </a:solidFill>
                <a:latin typeface="Arial" pitchFamily="34" charset="0"/>
                <a:ea typeface="Arial" pitchFamily="34" charset="-122"/>
                <a:cs typeface="Arial" pitchFamily="34" charset="-120"/>
              </a:rPr>
              <a:t>generate_grounded_answer() is the final step of every RAG turn. It takes evidence_docs + the original question and produces a structured JSON answer with citations, confidence, and follow-up questions.</a:t>
            </a:r>
            <a:endParaRPr lang="en-US" sz="1050" dirty="0"/>
          </a:p>
        </p:txBody>
      </p:sp>
      <p:sp>
        <p:nvSpPr>
          <p:cNvPr id="4" name="Shape 2"/>
          <p:cNvSpPr/>
          <p:nvPr/>
        </p:nvSpPr>
        <p:spPr>
          <a:xfrm>
            <a:off x="502920" y="1298448"/>
            <a:ext cx="2743200" cy="658368"/>
          </a:xfrm>
          <a:prstGeom prst="rect">
            <a:avLst/>
          </a:prstGeom>
          <a:solidFill>
            <a:srgbClr val="1B2A4A"/>
          </a:solidFill>
          <a:ln/>
        </p:spPr>
        <p:txBody>
          <a:bodyPr/>
          <a:lstStyle/>
          <a:p>
            <a:endParaRPr lang="en-US"/>
          </a:p>
        </p:txBody>
      </p:sp>
      <p:sp>
        <p:nvSpPr>
          <p:cNvPr id="5" name="Text 3"/>
          <p:cNvSpPr/>
          <p:nvPr/>
        </p:nvSpPr>
        <p:spPr>
          <a:xfrm>
            <a:off x="594360" y="1298448"/>
            <a:ext cx="2560320" cy="658368"/>
          </a:xfrm>
          <a:prstGeom prst="rect">
            <a:avLst/>
          </a:prstGeom>
          <a:noFill/>
          <a:ln/>
        </p:spPr>
        <p:txBody>
          <a:bodyPr wrap="square" lIns="0" tIns="0" rIns="0" bIns="0" rtlCol="0" anchor="ctr"/>
          <a:lstStyle/>
          <a:p>
            <a:pPr marL="0" indent="0">
              <a:buNone/>
            </a:pPr>
            <a:r>
              <a:rPr lang="en-US" sz="950" b="1" dirty="0">
                <a:solidFill>
                  <a:srgbClr val="FFFFFF"/>
                </a:solidFill>
                <a:latin typeface="Courier New" pitchFamily="34" charset="0"/>
                <a:ea typeface="Courier New" pitchFamily="34" charset="-122"/>
                <a:cs typeface="Courier New" pitchFamily="34" charset="-120"/>
              </a:rPr>
              <a:t>_prepare_synthesis_docs()</a:t>
            </a:r>
            <a:endParaRPr lang="en-US" sz="950" dirty="0"/>
          </a:p>
        </p:txBody>
      </p:sp>
      <p:sp>
        <p:nvSpPr>
          <p:cNvPr id="6" name="Shape 4"/>
          <p:cNvSpPr/>
          <p:nvPr/>
        </p:nvSpPr>
        <p:spPr>
          <a:xfrm>
            <a:off x="3246120" y="1298448"/>
            <a:ext cx="5897880" cy="658368"/>
          </a:xfrm>
          <a:prstGeom prst="rect">
            <a:avLst/>
          </a:prstGeom>
          <a:solidFill>
            <a:srgbClr val="F5F5F5"/>
          </a:solidFill>
          <a:ln w="3810">
            <a:solidFill>
              <a:srgbClr val="F0F0F0"/>
            </a:solidFill>
            <a:prstDash val="solid"/>
          </a:ln>
        </p:spPr>
        <p:txBody>
          <a:bodyPr/>
          <a:lstStyle/>
          <a:p>
            <a:endParaRPr lang="en-US"/>
          </a:p>
        </p:txBody>
      </p:sp>
      <p:sp>
        <p:nvSpPr>
          <p:cNvPr id="7" name="Text 5"/>
          <p:cNvSpPr/>
          <p:nvPr/>
        </p:nvSpPr>
        <p:spPr>
          <a:xfrm>
            <a:off x="3337560" y="1298448"/>
            <a:ext cx="5715000" cy="658368"/>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Deduplicate by (source_path, text fingerprint[:220]). Prioritize by title-word overlap with query + content length. Limit: 6 docs.</a:t>
            </a:r>
            <a:endParaRPr lang="en-US" sz="950" dirty="0"/>
          </a:p>
        </p:txBody>
      </p:sp>
      <p:sp>
        <p:nvSpPr>
          <p:cNvPr id="8" name="Shape 6"/>
          <p:cNvSpPr/>
          <p:nvPr/>
        </p:nvSpPr>
        <p:spPr>
          <a:xfrm>
            <a:off x="502920" y="2002536"/>
            <a:ext cx="2743200" cy="658368"/>
          </a:xfrm>
          <a:prstGeom prst="rect">
            <a:avLst/>
          </a:prstGeom>
          <a:solidFill>
            <a:srgbClr val="0097A7"/>
          </a:solidFill>
          <a:ln/>
        </p:spPr>
        <p:txBody>
          <a:bodyPr/>
          <a:lstStyle/>
          <a:p>
            <a:endParaRPr lang="en-US"/>
          </a:p>
        </p:txBody>
      </p:sp>
      <p:sp>
        <p:nvSpPr>
          <p:cNvPr id="9" name="Text 7"/>
          <p:cNvSpPr/>
          <p:nvPr/>
        </p:nvSpPr>
        <p:spPr>
          <a:xfrm>
            <a:off x="594360" y="2002536"/>
            <a:ext cx="2560320" cy="658368"/>
          </a:xfrm>
          <a:prstGeom prst="rect">
            <a:avLst/>
          </a:prstGeom>
          <a:noFill/>
          <a:ln/>
        </p:spPr>
        <p:txBody>
          <a:bodyPr wrap="square" lIns="0" tIns="0" rIns="0" bIns="0" rtlCol="0" anchor="ctr"/>
          <a:lstStyle/>
          <a:p>
            <a:pPr marL="0" indent="0">
              <a:buNone/>
            </a:pPr>
            <a:r>
              <a:rPr lang="en-US" sz="950" b="1" dirty="0">
                <a:solidFill>
                  <a:srgbClr val="FFFFFF"/>
                </a:solidFill>
                <a:latin typeface="Courier New" pitchFamily="34" charset="0"/>
                <a:ea typeface="Courier New" pitchFamily="34" charset="-122"/>
                <a:cs typeface="Courier New" pitchFamily="34" charset="-120"/>
              </a:rPr>
              <a:t>Prompt + LLM call</a:t>
            </a:r>
            <a:endParaRPr lang="en-US" sz="950" dirty="0"/>
          </a:p>
        </p:txBody>
      </p:sp>
      <p:sp>
        <p:nvSpPr>
          <p:cNvPr id="10" name="Shape 8"/>
          <p:cNvSpPr/>
          <p:nvPr/>
        </p:nvSpPr>
        <p:spPr>
          <a:xfrm>
            <a:off x="3246120" y="2002536"/>
            <a:ext cx="5897880" cy="658368"/>
          </a:xfrm>
          <a:prstGeom prst="rect">
            <a:avLst/>
          </a:prstGeom>
          <a:solidFill>
            <a:srgbClr val="F5F5F5"/>
          </a:solidFill>
          <a:ln w="3810">
            <a:solidFill>
              <a:srgbClr val="F0F0F0"/>
            </a:solidFill>
            <a:prstDash val="solid"/>
          </a:ln>
        </p:spPr>
        <p:txBody>
          <a:bodyPr/>
          <a:lstStyle/>
          <a:p>
            <a:endParaRPr lang="en-US"/>
          </a:p>
        </p:txBody>
      </p:sp>
      <p:sp>
        <p:nvSpPr>
          <p:cNvPr id="11" name="Text 9"/>
          <p:cNvSpPr/>
          <p:nvPr/>
        </p:nvSpPr>
        <p:spPr>
          <a:xfrm>
            <a:off x="3337560" y="2002536"/>
            <a:ext cx="5715000" cy="658368"/>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Loads grounded_answer prompt template. Renders with evidence JSON. LLM returns {answer, used_citation_ids[], followups[], warnings[], confidence_hint}.</a:t>
            </a:r>
            <a:endParaRPr lang="en-US" sz="950" dirty="0"/>
          </a:p>
        </p:txBody>
      </p:sp>
      <p:sp>
        <p:nvSpPr>
          <p:cNvPr id="12" name="Shape 10"/>
          <p:cNvSpPr/>
          <p:nvPr/>
        </p:nvSpPr>
        <p:spPr>
          <a:xfrm>
            <a:off x="502920" y="2706624"/>
            <a:ext cx="2743200" cy="658368"/>
          </a:xfrm>
          <a:prstGeom prst="rect">
            <a:avLst/>
          </a:prstGeom>
          <a:solidFill>
            <a:srgbClr val="1B2A4A"/>
          </a:solidFill>
          <a:ln/>
        </p:spPr>
        <p:txBody>
          <a:bodyPr/>
          <a:lstStyle/>
          <a:p>
            <a:endParaRPr lang="en-US"/>
          </a:p>
        </p:txBody>
      </p:sp>
      <p:sp>
        <p:nvSpPr>
          <p:cNvPr id="13" name="Text 11"/>
          <p:cNvSpPr/>
          <p:nvPr/>
        </p:nvSpPr>
        <p:spPr>
          <a:xfrm>
            <a:off x="594360" y="2706624"/>
            <a:ext cx="2560320" cy="658368"/>
          </a:xfrm>
          <a:prstGeom prst="rect">
            <a:avLst/>
          </a:prstGeom>
          <a:noFill/>
          <a:ln/>
        </p:spPr>
        <p:txBody>
          <a:bodyPr wrap="square" lIns="0" tIns="0" rIns="0" bIns="0" rtlCol="0" anchor="ctr"/>
          <a:lstStyle/>
          <a:p>
            <a:pPr marL="0" indent="0">
              <a:buNone/>
            </a:pPr>
            <a:r>
              <a:rPr lang="en-US" sz="950" b="1" dirty="0">
                <a:solidFill>
                  <a:srgbClr val="FFFFFF"/>
                </a:solidFill>
                <a:latin typeface="Courier New" pitchFamily="34" charset="0"/>
                <a:ea typeface="Courier New" pitchFamily="34" charset="-122"/>
                <a:cs typeface="Courier New" pitchFamily="34" charset="-120"/>
              </a:rPr>
              <a:t>JSON extraction</a:t>
            </a:r>
            <a:endParaRPr lang="en-US" sz="950" dirty="0"/>
          </a:p>
        </p:txBody>
      </p:sp>
      <p:sp>
        <p:nvSpPr>
          <p:cNvPr id="14" name="Shape 12"/>
          <p:cNvSpPr/>
          <p:nvPr/>
        </p:nvSpPr>
        <p:spPr>
          <a:xfrm>
            <a:off x="3246120" y="2706624"/>
            <a:ext cx="5897880" cy="658368"/>
          </a:xfrm>
          <a:prstGeom prst="rect">
            <a:avLst/>
          </a:prstGeom>
          <a:solidFill>
            <a:srgbClr val="F5F5F5"/>
          </a:solidFill>
          <a:ln w="3810">
            <a:solidFill>
              <a:srgbClr val="F0F0F0"/>
            </a:solidFill>
            <a:prstDash val="solid"/>
          </a:ln>
        </p:spPr>
        <p:txBody>
          <a:bodyPr/>
          <a:lstStyle/>
          <a:p>
            <a:endParaRPr lang="en-US"/>
          </a:p>
        </p:txBody>
      </p:sp>
      <p:sp>
        <p:nvSpPr>
          <p:cNvPr id="15" name="Text 13"/>
          <p:cNvSpPr/>
          <p:nvPr/>
        </p:nvSpPr>
        <p:spPr>
          <a:xfrm>
            <a:off x="3337560" y="2706624"/>
            <a:ext cx="5715000" cy="658368"/>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extract_json() parses LLM response. _extract_used_citation_ids() cleans the citation list. If parse fails, _fallback_grounded_answer() runs.</a:t>
            </a:r>
            <a:endParaRPr lang="en-US" sz="950" dirty="0"/>
          </a:p>
        </p:txBody>
      </p:sp>
      <p:sp>
        <p:nvSpPr>
          <p:cNvPr id="16" name="Shape 14"/>
          <p:cNvSpPr/>
          <p:nvPr/>
        </p:nvSpPr>
        <p:spPr>
          <a:xfrm>
            <a:off x="502920" y="3410712"/>
            <a:ext cx="2743200" cy="658368"/>
          </a:xfrm>
          <a:prstGeom prst="rect">
            <a:avLst/>
          </a:prstGeom>
          <a:solidFill>
            <a:srgbClr val="0097A7"/>
          </a:solidFill>
          <a:ln/>
        </p:spPr>
        <p:txBody>
          <a:bodyPr/>
          <a:lstStyle/>
          <a:p>
            <a:endParaRPr lang="en-US"/>
          </a:p>
        </p:txBody>
      </p:sp>
      <p:sp>
        <p:nvSpPr>
          <p:cNvPr id="17" name="Text 15"/>
          <p:cNvSpPr/>
          <p:nvPr/>
        </p:nvSpPr>
        <p:spPr>
          <a:xfrm>
            <a:off x="594360" y="3410712"/>
            <a:ext cx="2560320" cy="658368"/>
          </a:xfrm>
          <a:prstGeom prst="rect">
            <a:avLst/>
          </a:prstGeom>
          <a:noFill/>
          <a:ln/>
        </p:spPr>
        <p:txBody>
          <a:bodyPr wrap="square" lIns="0" tIns="0" rIns="0" bIns="0" rtlCol="0" anchor="ctr"/>
          <a:lstStyle/>
          <a:p>
            <a:pPr marL="0" indent="0">
              <a:buNone/>
            </a:pPr>
            <a:r>
              <a:rPr lang="en-US" sz="950" b="1" dirty="0">
                <a:solidFill>
                  <a:srgbClr val="FFFFFF"/>
                </a:solidFill>
                <a:latin typeface="Courier New" pitchFamily="34" charset="0"/>
                <a:ea typeface="Courier New" pitchFamily="34" charset="-122"/>
                <a:cs typeface="Courier New" pitchFamily="34" charset="-120"/>
              </a:rPr>
              <a:t>Fallback strategy</a:t>
            </a:r>
            <a:endParaRPr lang="en-US" sz="950" dirty="0"/>
          </a:p>
        </p:txBody>
      </p:sp>
      <p:sp>
        <p:nvSpPr>
          <p:cNvPr id="18" name="Shape 16"/>
          <p:cNvSpPr/>
          <p:nvPr/>
        </p:nvSpPr>
        <p:spPr>
          <a:xfrm>
            <a:off x="3246120" y="3410712"/>
            <a:ext cx="5897880" cy="658368"/>
          </a:xfrm>
          <a:prstGeom prst="rect">
            <a:avLst/>
          </a:prstGeom>
          <a:solidFill>
            <a:srgbClr val="F5F5F5"/>
          </a:solidFill>
          <a:ln w="3810">
            <a:solidFill>
              <a:srgbClr val="F0F0F0"/>
            </a:solidFill>
            <a:prstDash val="solid"/>
          </a:ln>
        </p:spPr>
        <p:txBody>
          <a:bodyPr/>
          <a:lstStyle/>
          <a:p>
            <a:endParaRPr lang="en-US"/>
          </a:p>
        </p:txBody>
      </p:sp>
      <p:sp>
        <p:nvSpPr>
          <p:cNvPr id="19" name="Text 17"/>
          <p:cNvSpPr/>
          <p:nvPr/>
        </p:nvSpPr>
        <p:spPr>
          <a:xfrm>
            <a:off x="3337560" y="3410712"/>
            <a:ext cx="5715000" cy="658368"/>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_infer_fallback_themes() scans docs for domain themes (routing, RAG, coordinator). Assembles answer from first best_summary_snippet() per doc.</a:t>
            </a:r>
            <a:endParaRPr lang="en-US" sz="950" dirty="0"/>
          </a:p>
        </p:txBody>
      </p:sp>
      <p:sp>
        <p:nvSpPr>
          <p:cNvPr id="20" name="Shape 18"/>
          <p:cNvSpPr/>
          <p:nvPr/>
        </p:nvSpPr>
        <p:spPr>
          <a:xfrm>
            <a:off x="502920" y="4023360"/>
            <a:ext cx="8138160" cy="365760"/>
          </a:xfrm>
          <a:prstGeom prst="rect">
            <a:avLst/>
          </a:prstGeom>
          <a:solidFill>
            <a:srgbClr val="E0F7FA"/>
          </a:solidFill>
          <a:ln w="12700">
            <a:solidFill>
              <a:srgbClr val="0097A7"/>
            </a:solidFill>
            <a:prstDash val="solid"/>
          </a:ln>
        </p:spPr>
        <p:txBody>
          <a:bodyPr/>
          <a:lstStyle/>
          <a:p>
            <a:endParaRPr lang="en-US"/>
          </a:p>
        </p:txBody>
      </p:sp>
      <p:sp>
        <p:nvSpPr>
          <p:cNvPr id="21" name="Text 19"/>
          <p:cNvSpPr/>
          <p:nvPr/>
        </p:nvSpPr>
        <p:spPr>
          <a:xfrm>
            <a:off x="594360" y="4023360"/>
            <a:ext cx="7955280" cy="36576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_answer_claims_missing_evidence() detects phrases like 'no evidence available' in the answer and flags low-confidence results. The fallback never makes up citations.</a:t>
            </a:r>
            <a:endParaRPr lang="en-US" sz="1000" dirty="0"/>
          </a:p>
        </p:txBody>
      </p:sp>
      <p:sp>
        <p:nvSpPr>
          <p:cNvPr id="22" name="Text 20"/>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rag/synthesis.py — generate_grounded_answer(), _prepare_synthesis_docs(), _fallback_grounded_answer()</a:t>
            </a:r>
            <a:endParaRPr lang="en-US" sz="9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Persistence — Where State Lives</a:t>
            </a:r>
            <a:endParaRPr lang="en-US" sz="2600" dirty="0"/>
          </a:p>
        </p:txBody>
      </p:sp>
      <p:sp>
        <p:nvSpPr>
          <p:cNvPr id="3" name="Shape 1"/>
          <p:cNvSpPr/>
          <p:nvPr/>
        </p:nvSpPr>
        <p:spPr>
          <a:xfrm>
            <a:off x="502920" y="960120"/>
            <a:ext cx="8138160" cy="100584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4" name="Shape 2"/>
          <p:cNvSpPr/>
          <p:nvPr/>
        </p:nvSpPr>
        <p:spPr>
          <a:xfrm>
            <a:off x="502920" y="960120"/>
            <a:ext cx="8138160" cy="320040"/>
          </a:xfrm>
          <a:prstGeom prst="rect">
            <a:avLst/>
          </a:prstGeom>
          <a:solidFill>
            <a:srgbClr val="0097A7"/>
          </a:solidFill>
          <a:ln/>
        </p:spPr>
        <p:txBody>
          <a:bodyPr/>
          <a:lstStyle/>
          <a:p>
            <a:endParaRPr lang="en-US"/>
          </a:p>
        </p:txBody>
      </p:sp>
      <p:sp>
        <p:nvSpPr>
          <p:cNvPr id="5" name="Text 3"/>
          <p:cNvSpPr/>
          <p:nvPr/>
        </p:nvSpPr>
        <p:spPr>
          <a:xfrm>
            <a:off x="612648" y="987552"/>
            <a:ext cx="791870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Session State (SessionState contract)</a:t>
            </a:r>
            <a:endParaRPr lang="en-US" sz="1200" dirty="0"/>
          </a:p>
        </p:txBody>
      </p:sp>
      <p:sp>
        <p:nvSpPr>
          <p:cNvPr id="6" name="Text 4"/>
          <p:cNvSpPr/>
          <p:nvPr/>
        </p:nvSpPr>
        <p:spPr>
          <a:xfrm>
            <a:off x="612648" y="1344168"/>
            <a:ext cx="7918704" cy="53035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Typed dataclass: tenant_id, user_id, conversation_id, messages, scratchpad, uploads, pending_notifications.</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Persisted via TranscriptStore. Syncs to/from ChatSession via from_session() / sync_to_session().</a:t>
            </a:r>
            <a:endParaRPr lang="en-US" sz="1000" dirty="0"/>
          </a:p>
        </p:txBody>
      </p:sp>
      <p:sp>
        <p:nvSpPr>
          <p:cNvPr id="7" name="Shape 5"/>
          <p:cNvSpPr/>
          <p:nvPr/>
        </p:nvSpPr>
        <p:spPr>
          <a:xfrm>
            <a:off x="502920" y="2103120"/>
            <a:ext cx="8138160" cy="100584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8" name="Shape 6"/>
          <p:cNvSpPr/>
          <p:nvPr/>
        </p:nvSpPr>
        <p:spPr>
          <a:xfrm>
            <a:off x="502920" y="2103120"/>
            <a:ext cx="8138160" cy="320040"/>
          </a:xfrm>
          <a:prstGeom prst="rect">
            <a:avLst/>
          </a:prstGeom>
          <a:solidFill>
            <a:srgbClr val="1B2A4A"/>
          </a:solidFill>
          <a:ln/>
        </p:spPr>
        <p:txBody>
          <a:bodyPr/>
          <a:lstStyle/>
          <a:p>
            <a:endParaRPr lang="en-US"/>
          </a:p>
        </p:txBody>
      </p:sp>
      <p:sp>
        <p:nvSpPr>
          <p:cNvPr id="9" name="Text 7"/>
          <p:cNvSpPr/>
          <p:nvPr/>
        </p:nvSpPr>
        <p:spPr>
          <a:xfrm>
            <a:off x="612648" y="2130552"/>
            <a:ext cx="791870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Knowledge Base (PostgreSQL + pgvector)</a:t>
            </a:r>
            <a:endParaRPr lang="en-US" sz="1200" dirty="0"/>
          </a:p>
        </p:txBody>
      </p:sp>
      <p:sp>
        <p:nvSpPr>
          <p:cNvPr id="10" name="Text 8"/>
          <p:cNvSpPr/>
          <p:nvPr/>
        </p:nvSpPr>
        <p:spPr>
          <a:xfrm>
            <a:off x="612648" y="2487168"/>
            <a:ext cx="7918704" cy="53035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ChunkStore: HNSW cosine ANN + full-text tsvector search.</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DocumentStore: document metadata and structure.</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SkillStore: skill chunk retrieval. All backed by psycopg2 ThreadedConnectionPool.</a:t>
            </a:r>
            <a:endParaRPr lang="en-US" sz="1000" dirty="0"/>
          </a:p>
        </p:txBody>
      </p:sp>
      <p:sp>
        <p:nvSpPr>
          <p:cNvPr id="11" name="Shape 9"/>
          <p:cNvSpPr/>
          <p:nvPr/>
        </p:nvSpPr>
        <p:spPr>
          <a:xfrm>
            <a:off x="502920" y="3246120"/>
            <a:ext cx="8138160" cy="100584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2" name="Shape 10"/>
          <p:cNvSpPr/>
          <p:nvPr/>
        </p:nvSpPr>
        <p:spPr>
          <a:xfrm>
            <a:off x="502920" y="3246120"/>
            <a:ext cx="8138160" cy="320040"/>
          </a:xfrm>
          <a:prstGeom prst="rect">
            <a:avLst/>
          </a:prstGeom>
          <a:solidFill>
            <a:srgbClr val="00796B"/>
          </a:solidFill>
          <a:ln/>
        </p:spPr>
        <p:txBody>
          <a:bodyPr/>
          <a:lstStyle/>
          <a:p>
            <a:endParaRPr lang="en-US"/>
          </a:p>
        </p:txBody>
      </p:sp>
      <p:sp>
        <p:nvSpPr>
          <p:cNvPr id="13" name="Text 11"/>
          <p:cNvSpPr/>
          <p:nvPr/>
        </p:nvSpPr>
        <p:spPr>
          <a:xfrm>
            <a:off x="612648" y="3273552"/>
            <a:ext cx="791870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Jobs &amp; Workspaces</a:t>
            </a:r>
            <a:endParaRPr lang="en-US" sz="1200" dirty="0"/>
          </a:p>
        </p:txBody>
      </p:sp>
      <p:sp>
        <p:nvSpPr>
          <p:cNvPr id="14" name="Text 12"/>
          <p:cNvSpPr/>
          <p:nvPr/>
        </p:nvSpPr>
        <p:spPr>
          <a:xfrm>
            <a:off x="612648" y="3630168"/>
            <a:ext cx="7918704" cy="53035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RuntimeJobManager: durable job records (id, status, transcript, mailbox, artifacts).</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SessionWorkspace: per-session file storage. safe_filename() blocks path traversal.</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NotificationStore: delivers TaskNotification to sessions when background jobs finish.</a:t>
            </a:r>
            <a:endParaRPr lang="en-US" sz="1000" dirty="0"/>
          </a:p>
        </p:txBody>
      </p:sp>
      <p:sp>
        <p:nvSpPr>
          <p:cNvPr id="15" name="Text 13"/>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contracts/messages.py, persistence/postgres/, runtime/job_manager.py, runtime/notification_store.py</a:t>
            </a:r>
            <a:endParaRPr lang="en-US" sz="9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Observability Stack — RuntimeEvent + EventSink + Langfuse</a:t>
            </a:r>
            <a:endParaRPr lang="en-US" sz="2600" dirty="0"/>
          </a:p>
        </p:txBody>
      </p:sp>
      <p:sp>
        <p:nvSpPr>
          <p:cNvPr id="3" name="Shape 1"/>
          <p:cNvSpPr/>
          <p:nvPr/>
        </p:nvSpPr>
        <p:spPr>
          <a:xfrm>
            <a:off x="502920" y="914400"/>
            <a:ext cx="8138160" cy="292608"/>
          </a:xfrm>
          <a:prstGeom prst="rect">
            <a:avLst/>
          </a:prstGeom>
          <a:solidFill>
            <a:srgbClr val="1B2A4A"/>
          </a:solidFill>
          <a:ln/>
        </p:spPr>
        <p:txBody>
          <a:bodyPr/>
          <a:lstStyle/>
          <a:p>
            <a:endParaRPr lang="en-US"/>
          </a:p>
        </p:txBody>
      </p:sp>
      <p:sp>
        <p:nvSpPr>
          <p:cNvPr id="4" name="Text 2"/>
          <p:cNvSpPr/>
          <p:nvPr/>
        </p:nvSpPr>
        <p:spPr>
          <a:xfrm>
            <a:off x="640080" y="914400"/>
            <a:ext cx="7863840" cy="292608"/>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RuntimeEvent  (observability/events.py)</a:t>
            </a:r>
            <a:endParaRPr lang="en-US" sz="1100" dirty="0"/>
          </a:p>
        </p:txBody>
      </p:sp>
      <p:sp>
        <p:nvSpPr>
          <p:cNvPr id="5" name="Text 3"/>
          <p:cNvSpPr/>
          <p:nvPr/>
        </p:nvSpPr>
        <p:spPr>
          <a:xfrm>
            <a:off x="502920" y="1234440"/>
            <a:ext cx="8138160" cy="365760"/>
          </a:xfrm>
          <a:prstGeom prst="rect">
            <a:avLst/>
          </a:prstGeom>
          <a:noFill/>
          <a:ln/>
        </p:spPr>
        <p:txBody>
          <a:bodyPr wrap="square" lIns="0" tIns="0" rIns="0" bIns="0" rtlCol="0" anchor="ctr"/>
          <a:lstStyle/>
          <a:p>
            <a:pPr marL="0" indent="0">
              <a:buNone/>
            </a:pPr>
            <a:r>
              <a:rPr lang="en-US" sz="1000" dirty="0">
                <a:solidFill>
                  <a:srgbClr val="333333"/>
                </a:solidFill>
                <a:latin typeface="Arial" pitchFamily="34" charset="0"/>
                <a:ea typeface="Arial" pitchFamily="34" charset="-122"/>
                <a:cs typeface="Arial" pitchFamily="34" charset="-120"/>
              </a:rPr>
              <a:t>Typed dataclass emitted by every agent turn, tool call, router decision, coordinator phase. Fields: event_type, session_id, job_id, agent_name, tool_name, payload{}. Created via RuntimeEvent.from_dict() / .to_dict().</a:t>
            </a:r>
            <a:endParaRPr lang="en-US" sz="1000" dirty="0"/>
          </a:p>
        </p:txBody>
      </p:sp>
      <p:sp>
        <p:nvSpPr>
          <p:cNvPr id="6" name="Shape 4"/>
          <p:cNvSpPr/>
          <p:nvPr/>
        </p:nvSpPr>
        <p:spPr>
          <a:xfrm>
            <a:off x="502920" y="1691640"/>
            <a:ext cx="2651760" cy="320040"/>
          </a:xfrm>
          <a:prstGeom prst="rect">
            <a:avLst/>
          </a:prstGeom>
          <a:solidFill>
            <a:srgbClr val="F9A825"/>
          </a:solidFill>
          <a:ln/>
        </p:spPr>
        <p:txBody>
          <a:bodyPr/>
          <a:lstStyle/>
          <a:p>
            <a:endParaRPr lang="en-US"/>
          </a:p>
        </p:txBody>
      </p:sp>
      <p:sp>
        <p:nvSpPr>
          <p:cNvPr id="7" name="Text 5"/>
          <p:cNvSpPr/>
          <p:nvPr/>
        </p:nvSpPr>
        <p:spPr>
          <a:xfrm>
            <a:off x="548640" y="1691640"/>
            <a:ext cx="2560320" cy="320040"/>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NullEventSink</a:t>
            </a:r>
            <a:endParaRPr lang="en-US" sz="950" dirty="0"/>
          </a:p>
        </p:txBody>
      </p:sp>
      <p:sp>
        <p:nvSpPr>
          <p:cNvPr id="8" name="Shape 6"/>
          <p:cNvSpPr/>
          <p:nvPr/>
        </p:nvSpPr>
        <p:spPr>
          <a:xfrm>
            <a:off x="502920" y="2011680"/>
            <a:ext cx="2651760" cy="777240"/>
          </a:xfrm>
          <a:prstGeom prst="rect">
            <a:avLst/>
          </a:prstGeom>
          <a:solidFill>
            <a:srgbClr val="F5F5F5"/>
          </a:solidFill>
          <a:ln w="3810">
            <a:solidFill>
              <a:srgbClr val="F0F0F0"/>
            </a:solidFill>
            <a:prstDash val="solid"/>
          </a:ln>
        </p:spPr>
        <p:txBody>
          <a:bodyPr/>
          <a:lstStyle/>
          <a:p>
            <a:endParaRPr lang="en-US"/>
          </a:p>
        </p:txBody>
      </p:sp>
      <p:sp>
        <p:nvSpPr>
          <p:cNvPr id="9" name="Text 7"/>
          <p:cNvSpPr/>
          <p:nvPr/>
        </p:nvSpPr>
        <p:spPr>
          <a:xfrm>
            <a:off x="548640" y="2011680"/>
            <a:ext cx="2560320" cy="77724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No-op. Used in tests and basic mode — emits nothing.</a:t>
            </a:r>
            <a:endParaRPr lang="en-US" sz="950" dirty="0"/>
          </a:p>
        </p:txBody>
      </p:sp>
      <p:sp>
        <p:nvSpPr>
          <p:cNvPr id="10" name="Shape 8"/>
          <p:cNvSpPr/>
          <p:nvPr/>
        </p:nvSpPr>
        <p:spPr>
          <a:xfrm>
            <a:off x="3246120" y="1691640"/>
            <a:ext cx="2651760" cy="320040"/>
          </a:xfrm>
          <a:prstGeom prst="rect">
            <a:avLst/>
          </a:prstGeom>
          <a:solidFill>
            <a:srgbClr val="0097A7"/>
          </a:solidFill>
          <a:ln/>
        </p:spPr>
        <p:txBody>
          <a:bodyPr/>
          <a:lstStyle/>
          <a:p>
            <a:endParaRPr lang="en-US"/>
          </a:p>
        </p:txBody>
      </p:sp>
      <p:sp>
        <p:nvSpPr>
          <p:cNvPr id="11" name="Text 9"/>
          <p:cNvSpPr/>
          <p:nvPr/>
        </p:nvSpPr>
        <p:spPr>
          <a:xfrm>
            <a:off x="3291840" y="1691640"/>
            <a:ext cx="2560320" cy="320040"/>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CompositeRuntimeEventSink</a:t>
            </a:r>
            <a:endParaRPr lang="en-US" sz="950" dirty="0"/>
          </a:p>
        </p:txBody>
      </p:sp>
      <p:sp>
        <p:nvSpPr>
          <p:cNvPr id="12" name="Shape 10"/>
          <p:cNvSpPr/>
          <p:nvPr/>
        </p:nvSpPr>
        <p:spPr>
          <a:xfrm>
            <a:off x="3246120" y="2011680"/>
            <a:ext cx="2651760" cy="777240"/>
          </a:xfrm>
          <a:prstGeom prst="rect">
            <a:avLst/>
          </a:prstGeom>
          <a:solidFill>
            <a:srgbClr val="F5F5F5"/>
          </a:solidFill>
          <a:ln w="3810">
            <a:solidFill>
              <a:srgbClr val="F0F0F0"/>
            </a:solidFill>
            <a:prstDash val="solid"/>
          </a:ln>
        </p:spPr>
        <p:txBody>
          <a:bodyPr/>
          <a:lstStyle/>
          <a:p>
            <a:endParaRPr lang="en-US"/>
          </a:p>
        </p:txBody>
      </p:sp>
      <p:sp>
        <p:nvSpPr>
          <p:cNvPr id="13" name="Text 11"/>
          <p:cNvSpPr/>
          <p:nvPr/>
        </p:nvSpPr>
        <p:spPr>
          <a:xfrm>
            <a:off x="3291840" y="2011680"/>
            <a:ext cx="2560320" cy="77724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Fans out to N base sinks + per-session sinks. register_session_sink() / unregister_session_sink() for live progress.</a:t>
            </a:r>
            <a:endParaRPr lang="en-US" sz="950" dirty="0"/>
          </a:p>
        </p:txBody>
      </p:sp>
      <p:sp>
        <p:nvSpPr>
          <p:cNvPr id="14" name="Shape 12"/>
          <p:cNvSpPr/>
          <p:nvPr/>
        </p:nvSpPr>
        <p:spPr>
          <a:xfrm>
            <a:off x="5989320" y="1691640"/>
            <a:ext cx="2651760" cy="320040"/>
          </a:xfrm>
          <a:prstGeom prst="rect">
            <a:avLst/>
          </a:prstGeom>
          <a:solidFill>
            <a:srgbClr val="1B2A4A"/>
          </a:solidFill>
          <a:ln/>
        </p:spPr>
        <p:txBody>
          <a:bodyPr/>
          <a:lstStyle/>
          <a:p>
            <a:endParaRPr lang="en-US"/>
          </a:p>
        </p:txBody>
      </p:sp>
      <p:sp>
        <p:nvSpPr>
          <p:cNvPr id="15" name="Text 13"/>
          <p:cNvSpPr/>
          <p:nvPr/>
        </p:nvSpPr>
        <p:spPr>
          <a:xfrm>
            <a:off x="6035040" y="1691640"/>
            <a:ext cx="2560320" cy="320040"/>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Langfuse (get_langchain_callbacks)</a:t>
            </a:r>
            <a:endParaRPr lang="en-US" sz="950" dirty="0"/>
          </a:p>
        </p:txBody>
      </p:sp>
      <p:sp>
        <p:nvSpPr>
          <p:cNvPr id="16" name="Shape 14"/>
          <p:cNvSpPr/>
          <p:nvPr/>
        </p:nvSpPr>
        <p:spPr>
          <a:xfrm>
            <a:off x="5989320" y="2011680"/>
            <a:ext cx="2651760" cy="777240"/>
          </a:xfrm>
          <a:prstGeom prst="rect">
            <a:avLst/>
          </a:prstGeom>
          <a:solidFill>
            <a:srgbClr val="F5F5F5"/>
          </a:solidFill>
          <a:ln w="3810">
            <a:solidFill>
              <a:srgbClr val="F0F0F0"/>
            </a:solidFill>
            <a:prstDash val="solid"/>
          </a:ln>
        </p:spPr>
        <p:txBody>
          <a:bodyPr/>
          <a:lstStyle/>
          <a:p>
            <a:endParaRPr lang="en-US"/>
          </a:p>
        </p:txBody>
      </p:sp>
      <p:sp>
        <p:nvSpPr>
          <p:cNvPr id="17" name="Text 15"/>
          <p:cNvSpPr/>
          <p:nvPr/>
        </p:nvSpPr>
        <p:spPr>
          <a:xfrm>
            <a:off x="6035040" y="2011680"/>
            <a:ext cx="2560320" cy="77724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observability/callbacks.py. Wraps LangFuse CallbackHandler for agent turns + tool calls. Config: LANGFUSE_PUBLIC_KEY + SECRET.</a:t>
            </a:r>
            <a:endParaRPr lang="en-US" sz="950" dirty="0"/>
          </a:p>
        </p:txBody>
      </p:sp>
      <p:sp>
        <p:nvSpPr>
          <p:cNvPr id="18" name="Text 16"/>
          <p:cNvSpPr/>
          <p:nvPr/>
        </p:nvSpPr>
        <p:spPr>
          <a:xfrm>
            <a:off x="502920" y="2926080"/>
            <a:ext cx="8138160" cy="365760"/>
          </a:xfrm>
          <a:prstGeom prst="rect">
            <a:avLst/>
          </a:prstGeom>
          <a:noFill/>
          <a:ln/>
        </p:spPr>
        <p:txBody>
          <a:bodyPr wrap="square" lIns="0" tIns="0" rIns="0" bIns="0" rtlCol="0" anchor="ctr"/>
          <a:lstStyle/>
          <a:p>
            <a:pPr marL="0" indent="0">
              <a:buNone/>
            </a:pPr>
            <a:r>
              <a:rPr lang="en-US" sz="1000" dirty="0">
                <a:solidFill>
                  <a:srgbClr val="333333"/>
                </a:solidFill>
                <a:latin typeface="Arial" pitchFamily="34" charset="0"/>
                <a:ea typeface="Arial" pitchFamily="34" charset="-122"/>
                <a:cs typeface="Arial" pitchFamily="34" charset="-120"/>
              </a:rPr>
              <a:t>observability/spans.py — timed_span() context manager: wraps any code block, records elapsed_seconds in span dict. Used around LLM calls + RAG retrieval passes for latency tracking.</a:t>
            </a:r>
            <a:endParaRPr lang="en-US" sz="1000" dirty="0"/>
          </a:p>
        </p:txBody>
      </p:sp>
      <p:sp>
        <p:nvSpPr>
          <p:cNvPr id="19" name="Shape 17"/>
          <p:cNvSpPr/>
          <p:nvPr/>
        </p:nvSpPr>
        <p:spPr>
          <a:xfrm>
            <a:off x="502920" y="3429000"/>
            <a:ext cx="8138160" cy="411480"/>
          </a:xfrm>
          <a:prstGeom prst="rect">
            <a:avLst/>
          </a:prstGeom>
          <a:solidFill>
            <a:srgbClr val="E0F7FA"/>
          </a:solidFill>
          <a:ln w="12700">
            <a:solidFill>
              <a:srgbClr val="0097A7"/>
            </a:solidFill>
            <a:prstDash val="solid"/>
          </a:ln>
        </p:spPr>
        <p:txBody>
          <a:bodyPr/>
          <a:lstStyle/>
          <a:p>
            <a:endParaRPr lang="en-US"/>
          </a:p>
        </p:txBody>
      </p:sp>
      <p:sp>
        <p:nvSpPr>
          <p:cNvPr id="20" name="Text 18"/>
          <p:cNvSpPr/>
          <p:nvPr/>
        </p:nvSpPr>
        <p:spPr>
          <a:xfrm>
            <a:off x="594360" y="3429000"/>
            <a:ext cx="7955280" cy="41148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Key event types: router_decision, agent_run_started, agent_turn_completed, worker_agent_started, coordinator_planning_started/completed, tool_call_started/ended.</a:t>
            </a:r>
            <a:endParaRPr lang="en-US" sz="1000" dirty="0"/>
          </a:p>
        </p:txBody>
      </p:sp>
      <p:sp>
        <p:nvSpPr>
          <p:cNvPr id="21" name="Text 19"/>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observability/events.py, observability/callbacks.py, observability/spans.py, runtime/event_sink.py</a:t>
            </a:r>
            <a:endParaRPr lang="en-US" sz="9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Security Model — Sandboxing and Guardrails</a:t>
            </a:r>
            <a:endParaRPr lang="en-US" sz="2600" dirty="0"/>
          </a:p>
        </p:txBody>
      </p:sp>
      <p:sp>
        <p:nvSpPr>
          <p:cNvPr id="3" name="Shape 1"/>
          <p:cNvSpPr/>
          <p:nvPr/>
        </p:nvSpPr>
        <p:spPr>
          <a:xfrm>
            <a:off x="502920" y="960120"/>
            <a:ext cx="2286000" cy="502920"/>
          </a:xfrm>
          <a:prstGeom prst="rect">
            <a:avLst/>
          </a:prstGeom>
          <a:solidFill>
            <a:srgbClr val="1B2A4A"/>
          </a:solidFill>
          <a:ln/>
        </p:spPr>
        <p:txBody>
          <a:bodyPr/>
          <a:lstStyle/>
          <a:p>
            <a:endParaRPr lang="en-US"/>
          </a:p>
        </p:txBody>
      </p:sp>
      <p:sp>
        <p:nvSpPr>
          <p:cNvPr id="4" name="Text 2"/>
          <p:cNvSpPr/>
          <p:nvPr/>
        </p:nvSpPr>
        <p:spPr>
          <a:xfrm>
            <a:off x="594360" y="960120"/>
            <a:ext cx="2103120" cy="50292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Docker Sandbox</a:t>
            </a:r>
            <a:endParaRPr lang="en-US" sz="1100" dirty="0"/>
          </a:p>
        </p:txBody>
      </p:sp>
      <p:sp>
        <p:nvSpPr>
          <p:cNvPr id="5" name="Shape 3"/>
          <p:cNvSpPr/>
          <p:nvPr/>
        </p:nvSpPr>
        <p:spPr>
          <a:xfrm>
            <a:off x="2788920" y="960120"/>
            <a:ext cx="5852160" cy="502920"/>
          </a:xfrm>
          <a:prstGeom prst="rect">
            <a:avLst/>
          </a:prstGeom>
          <a:solidFill>
            <a:srgbClr val="F5F5F5"/>
          </a:solidFill>
          <a:ln w="3810">
            <a:solidFill>
              <a:srgbClr val="F0F0F0"/>
            </a:solidFill>
            <a:prstDash val="solid"/>
          </a:ln>
        </p:spPr>
        <p:txBody>
          <a:bodyPr/>
          <a:lstStyle/>
          <a:p>
            <a:endParaRPr lang="en-US"/>
          </a:p>
        </p:txBody>
      </p:sp>
      <p:sp>
        <p:nvSpPr>
          <p:cNvPr id="6" name="Text 4"/>
          <p:cNvSpPr/>
          <p:nvPr/>
        </p:nvSpPr>
        <p:spPr>
          <a:xfrm>
            <a:off x="2926080" y="960120"/>
            <a:ext cx="5577840" cy="502920"/>
          </a:xfrm>
          <a:prstGeom prst="rect">
            <a:avLst/>
          </a:prstGeom>
          <a:noFill/>
          <a:ln/>
        </p:spPr>
        <p:txBody>
          <a:bodyPr wrap="square" lIns="0" tIns="0" rIns="0" bIns="0" rtlCol="0" anchor="ctr"/>
          <a:lstStyle/>
          <a:p>
            <a:pPr marL="0" indent="0">
              <a:buNone/>
            </a:pPr>
            <a:r>
              <a:rPr lang="en-US" sz="1000" dirty="0">
                <a:solidFill>
                  <a:srgbClr val="333333"/>
                </a:solidFill>
                <a:latin typeface="Arial" pitchFamily="34" charset="0"/>
                <a:ea typeface="Arial" pitchFamily="34" charset="-122"/>
                <a:cs typeface="Arial" pitchFamily="34" charset="-120"/>
              </a:rPr>
              <a:t>python:3.12-slim | Network: disabled | Memory: 512MB | Timeout: 60s | Output: 50KB | Workspace: bind-mounted</a:t>
            </a:r>
            <a:endParaRPr lang="en-US" sz="1000" dirty="0"/>
          </a:p>
        </p:txBody>
      </p:sp>
      <p:sp>
        <p:nvSpPr>
          <p:cNvPr id="7" name="Shape 5"/>
          <p:cNvSpPr/>
          <p:nvPr/>
        </p:nvSpPr>
        <p:spPr>
          <a:xfrm>
            <a:off x="502920" y="1554480"/>
            <a:ext cx="2286000" cy="502920"/>
          </a:xfrm>
          <a:prstGeom prst="rect">
            <a:avLst/>
          </a:prstGeom>
          <a:solidFill>
            <a:srgbClr val="0097A7"/>
          </a:solidFill>
          <a:ln/>
        </p:spPr>
        <p:txBody>
          <a:bodyPr/>
          <a:lstStyle/>
          <a:p>
            <a:endParaRPr lang="en-US"/>
          </a:p>
        </p:txBody>
      </p:sp>
      <p:sp>
        <p:nvSpPr>
          <p:cNvPr id="8" name="Text 6"/>
          <p:cNvSpPr/>
          <p:nvPr/>
        </p:nvSpPr>
        <p:spPr>
          <a:xfrm>
            <a:off x="594360" y="1554480"/>
            <a:ext cx="2103120" cy="50292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Tool Allowlists</a:t>
            </a:r>
            <a:endParaRPr lang="en-US" sz="1100" dirty="0"/>
          </a:p>
        </p:txBody>
      </p:sp>
      <p:sp>
        <p:nvSpPr>
          <p:cNvPr id="9" name="Shape 7"/>
          <p:cNvSpPr/>
          <p:nvPr/>
        </p:nvSpPr>
        <p:spPr>
          <a:xfrm>
            <a:off x="2788920" y="1554480"/>
            <a:ext cx="5852160" cy="502920"/>
          </a:xfrm>
          <a:prstGeom prst="rect">
            <a:avLst/>
          </a:prstGeom>
          <a:solidFill>
            <a:srgbClr val="F5F5F5"/>
          </a:solidFill>
          <a:ln w="3810">
            <a:solidFill>
              <a:srgbClr val="F0F0F0"/>
            </a:solidFill>
            <a:prstDash val="solid"/>
          </a:ln>
        </p:spPr>
        <p:txBody>
          <a:bodyPr/>
          <a:lstStyle/>
          <a:p>
            <a:endParaRPr lang="en-US"/>
          </a:p>
        </p:txBody>
      </p:sp>
      <p:sp>
        <p:nvSpPr>
          <p:cNvPr id="10" name="Text 8"/>
          <p:cNvSpPr/>
          <p:nvPr/>
        </p:nvSpPr>
        <p:spPr>
          <a:xfrm>
            <a:off x="2926080" y="1554480"/>
            <a:ext cx="5577840" cy="502920"/>
          </a:xfrm>
          <a:prstGeom prst="rect">
            <a:avLst/>
          </a:prstGeom>
          <a:noFill/>
          <a:ln/>
        </p:spPr>
        <p:txBody>
          <a:bodyPr wrap="square" lIns="0" tIns="0" rIns="0" bIns="0" rtlCol="0" anchor="ctr"/>
          <a:lstStyle/>
          <a:p>
            <a:pPr marL="0" indent="0">
              <a:buNone/>
            </a:pPr>
            <a:r>
              <a:rPr lang="en-US" sz="1000" dirty="0">
                <a:solidFill>
                  <a:srgbClr val="333333"/>
                </a:solidFill>
                <a:latin typeface="Arial" pitchFamily="34" charset="0"/>
                <a:ea typeface="Arial" pitchFamily="34" charset="-122"/>
                <a:cs typeface="Arial" pitchFamily="34" charset="-120"/>
              </a:rPr>
              <a:t>Each agent can only call tools in its allowed_tools list. Enforced at executor level. Unauthorized calls are blocked.</a:t>
            </a:r>
            <a:endParaRPr lang="en-US" sz="1000" dirty="0"/>
          </a:p>
        </p:txBody>
      </p:sp>
      <p:sp>
        <p:nvSpPr>
          <p:cNvPr id="11" name="Shape 9"/>
          <p:cNvSpPr/>
          <p:nvPr/>
        </p:nvSpPr>
        <p:spPr>
          <a:xfrm>
            <a:off x="502920" y="2148840"/>
            <a:ext cx="2286000" cy="502920"/>
          </a:xfrm>
          <a:prstGeom prst="rect">
            <a:avLst/>
          </a:prstGeom>
          <a:solidFill>
            <a:srgbClr val="00796B"/>
          </a:solidFill>
          <a:ln/>
        </p:spPr>
        <p:txBody>
          <a:bodyPr/>
          <a:lstStyle/>
          <a:p>
            <a:endParaRPr lang="en-US"/>
          </a:p>
        </p:txBody>
      </p:sp>
      <p:sp>
        <p:nvSpPr>
          <p:cNvPr id="12" name="Text 10"/>
          <p:cNvSpPr/>
          <p:nvPr/>
        </p:nvSpPr>
        <p:spPr>
          <a:xfrm>
            <a:off x="594360" y="2148840"/>
            <a:ext cx="2103120" cy="50292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Filename Validation</a:t>
            </a:r>
            <a:endParaRPr lang="en-US" sz="1100" dirty="0"/>
          </a:p>
        </p:txBody>
      </p:sp>
      <p:sp>
        <p:nvSpPr>
          <p:cNvPr id="13" name="Shape 11"/>
          <p:cNvSpPr/>
          <p:nvPr/>
        </p:nvSpPr>
        <p:spPr>
          <a:xfrm>
            <a:off x="2788920" y="2148840"/>
            <a:ext cx="5852160" cy="502920"/>
          </a:xfrm>
          <a:prstGeom prst="rect">
            <a:avLst/>
          </a:prstGeom>
          <a:solidFill>
            <a:srgbClr val="F5F5F5"/>
          </a:solidFill>
          <a:ln w="3810">
            <a:solidFill>
              <a:srgbClr val="F0F0F0"/>
            </a:solidFill>
            <a:prstDash val="solid"/>
          </a:ln>
        </p:spPr>
        <p:txBody>
          <a:bodyPr/>
          <a:lstStyle/>
          <a:p>
            <a:endParaRPr lang="en-US"/>
          </a:p>
        </p:txBody>
      </p:sp>
      <p:sp>
        <p:nvSpPr>
          <p:cNvPr id="14" name="Text 12"/>
          <p:cNvSpPr/>
          <p:nvPr/>
        </p:nvSpPr>
        <p:spPr>
          <a:xfrm>
            <a:off x="2926080" y="2148840"/>
            <a:ext cx="5577840" cy="502920"/>
          </a:xfrm>
          <a:prstGeom prst="rect">
            <a:avLst/>
          </a:prstGeom>
          <a:noFill/>
          <a:ln/>
        </p:spPr>
        <p:txBody>
          <a:bodyPr wrap="square" lIns="0" tIns="0" rIns="0" bIns="0" rtlCol="0" anchor="ctr"/>
          <a:lstStyle/>
          <a:p>
            <a:pPr marL="0" indent="0">
              <a:buNone/>
            </a:pPr>
            <a:r>
              <a:rPr lang="en-US" sz="1000" dirty="0">
                <a:solidFill>
                  <a:srgbClr val="333333"/>
                </a:solidFill>
                <a:latin typeface="Arial" pitchFamily="34" charset="0"/>
                <a:ea typeface="Arial" pitchFamily="34" charset="-122"/>
                <a:cs typeface="Arial" pitchFamily="34" charset="-120"/>
              </a:rPr>
              <a:t>SessionWorkspace.safe_filename() blocks path traversal (../), absolute paths, suspicious characters.</a:t>
            </a:r>
            <a:endParaRPr lang="en-US" sz="1000" dirty="0"/>
          </a:p>
        </p:txBody>
      </p:sp>
      <p:sp>
        <p:nvSpPr>
          <p:cNvPr id="15" name="Shape 13"/>
          <p:cNvSpPr/>
          <p:nvPr/>
        </p:nvSpPr>
        <p:spPr>
          <a:xfrm>
            <a:off x="502920" y="2743200"/>
            <a:ext cx="2286000" cy="502920"/>
          </a:xfrm>
          <a:prstGeom prst="rect">
            <a:avLst/>
          </a:prstGeom>
          <a:solidFill>
            <a:srgbClr val="1B2A4A"/>
          </a:solidFill>
          <a:ln/>
        </p:spPr>
        <p:txBody>
          <a:bodyPr/>
          <a:lstStyle/>
          <a:p>
            <a:endParaRPr lang="en-US"/>
          </a:p>
        </p:txBody>
      </p:sp>
      <p:sp>
        <p:nvSpPr>
          <p:cNvPr id="16" name="Text 14"/>
          <p:cNvSpPr/>
          <p:nvPr/>
        </p:nvSpPr>
        <p:spPr>
          <a:xfrm>
            <a:off x="594360" y="2743200"/>
            <a:ext cx="2103120" cy="502920"/>
          </a:xfrm>
          <a:prstGeom prst="rect">
            <a:avLst/>
          </a:prstGeom>
          <a:noFill/>
          <a:ln/>
        </p:spPr>
        <p:txBody>
          <a:bodyPr wrap="square" lIns="0" tIns="0" rIns="0" bIns="0" rtlCol="0" anchor="ctr"/>
          <a:lstStyle/>
          <a:p>
            <a:pPr marL="0" indent="0">
              <a:buNone/>
            </a:pPr>
            <a:r>
              <a:rPr lang="en-US" sz="1100" b="1" dirty="0">
                <a:solidFill>
                  <a:srgbClr val="FFFFFF"/>
                </a:solidFill>
                <a:latin typeface="Arial" pitchFamily="34" charset="0"/>
                <a:ea typeface="Arial" pitchFamily="34" charset="-122"/>
                <a:cs typeface="Arial" pitchFamily="34" charset="-120"/>
              </a:rPr>
              <a:t>File Size Limits</a:t>
            </a:r>
            <a:endParaRPr lang="en-US" sz="1100" dirty="0"/>
          </a:p>
        </p:txBody>
      </p:sp>
      <p:sp>
        <p:nvSpPr>
          <p:cNvPr id="17" name="Shape 15"/>
          <p:cNvSpPr/>
          <p:nvPr/>
        </p:nvSpPr>
        <p:spPr>
          <a:xfrm>
            <a:off x="2788920" y="2743200"/>
            <a:ext cx="5852160" cy="502920"/>
          </a:xfrm>
          <a:prstGeom prst="rect">
            <a:avLst/>
          </a:prstGeom>
          <a:solidFill>
            <a:srgbClr val="F5F5F5"/>
          </a:solidFill>
          <a:ln w="3810">
            <a:solidFill>
              <a:srgbClr val="F0F0F0"/>
            </a:solidFill>
            <a:prstDash val="solid"/>
          </a:ln>
        </p:spPr>
        <p:txBody>
          <a:bodyPr/>
          <a:lstStyle/>
          <a:p>
            <a:endParaRPr lang="en-US"/>
          </a:p>
        </p:txBody>
      </p:sp>
      <p:sp>
        <p:nvSpPr>
          <p:cNvPr id="18" name="Text 16"/>
          <p:cNvSpPr/>
          <p:nvPr/>
        </p:nvSpPr>
        <p:spPr>
          <a:xfrm>
            <a:off x="2926080" y="2743200"/>
            <a:ext cx="5577840" cy="502920"/>
          </a:xfrm>
          <a:prstGeom prst="rect">
            <a:avLst/>
          </a:prstGeom>
          <a:noFill/>
          <a:ln/>
        </p:spPr>
        <p:txBody>
          <a:bodyPr wrap="square" lIns="0" tIns="0" rIns="0" bIns="0" rtlCol="0" anchor="ctr"/>
          <a:lstStyle/>
          <a:p>
            <a:pPr marL="0" indent="0">
              <a:buNone/>
            </a:pPr>
            <a:r>
              <a:rPr lang="en-US" sz="1000" dirty="0">
                <a:solidFill>
                  <a:srgbClr val="333333"/>
                </a:solidFill>
                <a:latin typeface="Arial" pitchFamily="34" charset="0"/>
                <a:ea typeface="Arial" pitchFamily="34" charset="-122"/>
                <a:cs typeface="Arial" pitchFamily="34" charset="-120"/>
              </a:rPr>
              <a:t>workspace_read() max 5MB. execute_code() output max 50KB. Prevents memory exhaustion.</a:t>
            </a:r>
            <a:endParaRPr lang="en-US" sz="1000" dirty="0"/>
          </a:p>
        </p:txBody>
      </p:sp>
      <p:sp>
        <p:nvSpPr>
          <p:cNvPr id="19" name="Shape 17"/>
          <p:cNvSpPr/>
          <p:nvPr/>
        </p:nvSpPr>
        <p:spPr>
          <a:xfrm>
            <a:off x="502920" y="3474720"/>
            <a:ext cx="8138160" cy="411480"/>
          </a:xfrm>
          <a:prstGeom prst="rect">
            <a:avLst/>
          </a:prstGeom>
          <a:solidFill>
            <a:srgbClr val="E0F7FA"/>
          </a:solidFill>
          <a:ln w="12700">
            <a:solidFill>
              <a:srgbClr val="0097A7"/>
            </a:solidFill>
            <a:prstDash val="solid"/>
          </a:ln>
        </p:spPr>
        <p:txBody>
          <a:bodyPr/>
          <a:lstStyle/>
          <a:p>
            <a:endParaRPr lang="en-US"/>
          </a:p>
        </p:txBody>
      </p:sp>
      <p:sp>
        <p:nvSpPr>
          <p:cNvPr id="20" name="Text 18"/>
          <p:cNvSpPr/>
          <p:nvPr/>
        </p:nvSpPr>
        <p:spPr>
          <a:xfrm>
            <a:off x="594360" y="3474720"/>
            <a:ext cx="7955280" cy="41148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Defense-in-depth: Docker prevents code escape. Allowlists prevent unauthorized tools. Filename validation prevents path traversal. Size limits prevent resource exhaustion. No single layer is sufficient alone.</a:t>
            </a:r>
            <a:endParaRPr lang="en-US" sz="10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02920" y="1463040"/>
            <a:ext cx="8138160" cy="73152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Resilience &amp; Provider Management</a:t>
            </a:r>
            <a:endParaRPr lang="en-US" sz="3200" dirty="0"/>
          </a:p>
        </p:txBody>
      </p:sp>
      <p:sp>
        <p:nvSpPr>
          <p:cNvPr id="3" name="Text 1"/>
          <p:cNvSpPr/>
          <p:nvPr/>
        </p:nvSpPr>
        <p:spPr>
          <a:xfrm>
            <a:off x="502920" y="2286000"/>
            <a:ext cx="8138160" cy="457200"/>
          </a:xfrm>
          <a:prstGeom prst="rect">
            <a:avLst/>
          </a:prstGeom>
          <a:noFill/>
          <a:ln/>
        </p:spPr>
        <p:txBody>
          <a:bodyPr wrap="square" lIns="0" tIns="0" rIns="0" bIns="0" rtlCol="0" anchor="ctr"/>
          <a:lstStyle/>
          <a:p>
            <a:pPr marL="0" indent="0">
              <a:buNone/>
            </a:pPr>
            <a:r>
              <a:rPr lang="en-US" sz="1600" dirty="0">
                <a:solidFill>
                  <a:srgbClr val="0097A7"/>
                </a:solidFill>
                <a:latin typeface="Arial" pitchFamily="34" charset="0"/>
                <a:ea typeface="Arial" pitchFamily="34" charset="-122"/>
                <a:cs typeface="Arial" pitchFamily="34" charset="-120"/>
              </a:rPr>
              <a:t>Circuit breaker, live SSE progress, and provider dependency validation</a:t>
            </a:r>
            <a:endParaRPr lang="en-US" sz="16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Circuit Breaker — Provider Resilience</a:t>
            </a:r>
            <a:endParaRPr lang="en-US" sz="2600" dirty="0"/>
          </a:p>
        </p:txBody>
      </p:sp>
      <p:sp>
        <p:nvSpPr>
          <p:cNvPr id="3" name="Shape 1"/>
          <p:cNvSpPr/>
          <p:nvPr/>
        </p:nvSpPr>
        <p:spPr>
          <a:xfrm>
            <a:off x="502920" y="914400"/>
            <a:ext cx="2286000" cy="640080"/>
          </a:xfrm>
          <a:prstGeom prst="rect">
            <a:avLst/>
          </a:prstGeom>
          <a:solidFill>
            <a:srgbClr val="2E7D32"/>
          </a:solidFill>
          <a:ln/>
        </p:spPr>
        <p:txBody>
          <a:bodyPr/>
          <a:lstStyle/>
          <a:p>
            <a:endParaRPr lang="en-US"/>
          </a:p>
        </p:txBody>
      </p:sp>
      <p:sp>
        <p:nvSpPr>
          <p:cNvPr id="4" name="Text 2"/>
          <p:cNvSpPr/>
          <p:nvPr/>
        </p:nvSpPr>
        <p:spPr>
          <a:xfrm>
            <a:off x="502920" y="914400"/>
            <a:ext cx="2286000" cy="64008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CLOSED</a:t>
            </a:r>
            <a:endParaRPr lang="en-US" sz="1100" dirty="0"/>
          </a:p>
          <a:p>
            <a:pPr marL="0" indent="0" algn="ctr">
              <a:buNone/>
            </a:pPr>
            <a:r>
              <a:rPr lang="en-US" sz="1100" b="1" dirty="0">
                <a:solidFill>
                  <a:srgbClr val="FFFFFF"/>
                </a:solidFill>
                <a:latin typeface="Arial" pitchFamily="34" charset="0"/>
                <a:ea typeface="Arial" pitchFamily="34" charset="-122"/>
                <a:cs typeface="Arial" pitchFamily="34" charset="-120"/>
              </a:rPr>
              <a:t>(normal)</a:t>
            </a:r>
            <a:endParaRPr lang="en-US" sz="1100" dirty="0"/>
          </a:p>
        </p:txBody>
      </p:sp>
      <p:sp>
        <p:nvSpPr>
          <p:cNvPr id="5" name="Text 3"/>
          <p:cNvSpPr/>
          <p:nvPr/>
        </p:nvSpPr>
        <p:spPr>
          <a:xfrm>
            <a:off x="502920" y="1600200"/>
            <a:ext cx="2286000" cy="457200"/>
          </a:xfrm>
          <a:prstGeom prst="rect">
            <a:avLst/>
          </a:prstGeom>
          <a:noFill/>
          <a:ln/>
        </p:spPr>
        <p:txBody>
          <a:bodyPr wrap="square" lIns="0" tIns="0" rIns="0" bIns="0" rtlCol="0" anchor="ctr"/>
          <a:lstStyle/>
          <a:p>
            <a:pPr marL="0" indent="0" algn="ctr">
              <a:buNone/>
            </a:pPr>
            <a:r>
              <a:rPr lang="en-US" sz="900" dirty="0">
                <a:solidFill>
                  <a:srgbClr val="333333"/>
                </a:solidFill>
                <a:latin typeface="Arial" pitchFamily="34" charset="0"/>
                <a:ea typeface="Arial" pitchFamily="34" charset="-122"/>
                <a:cs typeface="Arial" pitchFamily="34" charset="-120"/>
              </a:rPr>
              <a:t>Calls pass through.</a:t>
            </a:r>
            <a:endParaRPr lang="en-US" sz="900" dirty="0"/>
          </a:p>
          <a:p>
            <a:pPr marL="0" indent="0" algn="ctr">
              <a:buNone/>
            </a:pPr>
            <a:r>
              <a:rPr lang="en-US" sz="900" dirty="0">
                <a:solidFill>
                  <a:srgbClr val="333333"/>
                </a:solidFill>
                <a:latin typeface="Arial" pitchFamily="34" charset="0"/>
                <a:ea typeface="Arial" pitchFamily="34" charset="-122"/>
                <a:cs typeface="Arial" pitchFamily="34" charset="-120"/>
              </a:rPr>
              <a:t>Records success/fail.</a:t>
            </a:r>
            <a:endParaRPr lang="en-US" sz="900" dirty="0"/>
          </a:p>
        </p:txBody>
      </p:sp>
      <p:sp>
        <p:nvSpPr>
          <p:cNvPr id="6" name="Shape 4"/>
          <p:cNvSpPr/>
          <p:nvPr/>
        </p:nvSpPr>
        <p:spPr>
          <a:xfrm>
            <a:off x="3200400" y="914400"/>
            <a:ext cx="2286000" cy="640080"/>
          </a:xfrm>
          <a:prstGeom prst="rect">
            <a:avLst/>
          </a:prstGeom>
          <a:solidFill>
            <a:srgbClr val="C62828"/>
          </a:solidFill>
          <a:ln/>
        </p:spPr>
        <p:txBody>
          <a:bodyPr/>
          <a:lstStyle/>
          <a:p>
            <a:endParaRPr lang="en-US"/>
          </a:p>
        </p:txBody>
      </p:sp>
      <p:sp>
        <p:nvSpPr>
          <p:cNvPr id="7" name="Text 5"/>
          <p:cNvSpPr/>
          <p:nvPr/>
        </p:nvSpPr>
        <p:spPr>
          <a:xfrm>
            <a:off x="3200400" y="914400"/>
            <a:ext cx="2286000" cy="64008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OPEN</a:t>
            </a:r>
            <a:endParaRPr lang="en-US" sz="1100" dirty="0"/>
          </a:p>
          <a:p>
            <a:pPr marL="0" indent="0" algn="ctr">
              <a:buNone/>
            </a:pPr>
            <a:r>
              <a:rPr lang="en-US" sz="1100" b="1" dirty="0">
                <a:solidFill>
                  <a:srgbClr val="FFFFFF"/>
                </a:solidFill>
                <a:latin typeface="Arial" pitchFamily="34" charset="0"/>
                <a:ea typeface="Arial" pitchFamily="34" charset="-122"/>
                <a:cs typeface="Arial" pitchFamily="34" charset="-120"/>
              </a:rPr>
              <a:t>(tripped)</a:t>
            </a:r>
            <a:endParaRPr lang="en-US" sz="1100" dirty="0"/>
          </a:p>
        </p:txBody>
      </p:sp>
      <p:sp>
        <p:nvSpPr>
          <p:cNvPr id="8" name="Text 6"/>
          <p:cNvSpPr/>
          <p:nvPr/>
        </p:nvSpPr>
        <p:spPr>
          <a:xfrm>
            <a:off x="3200400" y="1600200"/>
            <a:ext cx="2286000" cy="457200"/>
          </a:xfrm>
          <a:prstGeom prst="rect">
            <a:avLst/>
          </a:prstGeom>
          <a:noFill/>
          <a:ln/>
        </p:spPr>
        <p:txBody>
          <a:bodyPr wrap="square" lIns="0" tIns="0" rIns="0" bIns="0" rtlCol="0" anchor="ctr"/>
          <a:lstStyle/>
          <a:p>
            <a:pPr marL="0" indent="0" algn="ctr">
              <a:buNone/>
            </a:pPr>
            <a:r>
              <a:rPr lang="en-US" sz="900" dirty="0">
                <a:solidFill>
                  <a:srgbClr val="333333"/>
                </a:solidFill>
                <a:latin typeface="Arial" pitchFamily="34" charset="0"/>
                <a:ea typeface="Arial" pitchFamily="34" charset="-122"/>
                <a:cs typeface="Arial" pitchFamily="34" charset="-120"/>
              </a:rPr>
              <a:t>Calls rejected immediately.</a:t>
            </a:r>
            <a:endParaRPr lang="en-US" sz="900" dirty="0"/>
          </a:p>
          <a:p>
            <a:pPr marL="0" indent="0" algn="ctr">
              <a:buNone/>
            </a:pPr>
            <a:r>
              <a:rPr lang="en-US" sz="900" dirty="0">
                <a:solidFill>
                  <a:srgbClr val="333333"/>
                </a:solidFill>
                <a:latin typeface="Arial" pitchFamily="34" charset="0"/>
                <a:ea typeface="Arial" pitchFamily="34" charset="-122"/>
                <a:cs typeface="Arial" pitchFamily="34" charset="-120"/>
              </a:rPr>
              <a:t>CircuitBreakerOpenError.</a:t>
            </a:r>
            <a:endParaRPr lang="en-US" sz="900" dirty="0"/>
          </a:p>
        </p:txBody>
      </p:sp>
      <p:sp>
        <p:nvSpPr>
          <p:cNvPr id="9" name="Shape 7"/>
          <p:cNvSpPr/>
          <p:nvPr/>
        </p:nvSpPr>
        <p:spPr>
          <a:xfrm>
            <a:off x="6217920" y="914400"/>
            <a:ext cx="2286000" cy="640080"/>
          </a:xfrm>
          <a:prstGeom prst="rect">
            <a:avLst/>
          </a:prstGeom>
          <a:solidFill>
            <a:srgbClr val="F9A825"/>
          </a:solidFill>
          <a:ln/>
        </p:spPr>
        <p:txBody>
          <a:bodyPr/>
          <a:lstStyle/>
          <a:p>
            <a:endParaRPr lang="en-US"/>
          </a:p>
        </p:txBody>
      </p:sp>
      <p:sp>
        <p:nvSpPr>
          <p:cNvPr id="10" name="Text 8"/>
          <p:cNvSpPr/>
          <p:nvPr/>
        </p:nvSpPr>
        <p:spPr>
          <a:xfrm>
            <a:off x="6217920" y="914400"/>
            <a:ext cx="2286000" cy="64008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HALF-OPEN</a:t>
            </a:r>
            <a:endParaRPr lang="en-US" sz="1100" dirty="0"/>
          </a:p>
          <a:p>
            <a:pPr marL="0" indent="0" algn="ctr">
              <a:buNone/>
            </a:pPr>
            <a:r>
              <a:rPr lang="en-US" sz="1100" b="1" dirty="0">
                <a:solidFill>
                  <a:srgbClr val="FFFFFF"/>
                </a:solidFill>
                <a:latin typeface="Arial" pitchFamily="34" charset="0"/>
                <a:ea typeface="Arial" pitchFamily="34" charset="-122"/>
                <a:cs typeface="Arial" pitchFamily="34" charset="-120"/>
              </a:rPr>
              <a:t>(probe)</a:t>
            </a:r>
            <a:endParaRPr lang="en-US" sz="1100" dirty="0"/>
          </a:p>
        </p:txBody>
      </p:sp>
      <p:sp>
        <p:nvSpPr>
          <p:cNvPr id="11" name="Text 9"/>
          <p:cNvSpPr/>
          <p:nvPr/>
        </p:nvSpPr>
        <p:spPr>
          <a:xfrm>
            <a:off x="6217920" y="1600200"/>
            <a:ext cx="2286000" cy="457200"/>
          </a:xfrm>
          <a:prstGeom prst="rect">
            <a:avLst/>
          </a:prstGeom>
          <a:noFill/>
          <a:ln/>
        </p:spPr>
        <p:txBody>
          <a:bodyPr wrap="square" lIns="0" tIns="0" rIns="0" bIns="0" rtlCol="0" anchor="ctr"/>
          <a:lstStyle/>
          <a:p>
            <a:pPr marL="0" indent="0" algn="ctr">
              <a:buNone/>
            </a:pPr>
            <a:r>
              <a:rPr lang="en-US" sz="900" dirty="0">
                <a:solidFill>
                  <a:srgbClr val="333333"/>
                </a:solidFill>
                <a:latin typeface="Arial" pitchFamily="34" charset="0"/>
                <a:ea typeface="Arial" pitchFamily="34" charset="-122"/>
                <a:cs typeface="Arial" pitchFamily="34" charset="-120"/>
              </a:rPr>
              <a:t>One probe call allowed.</a:t>
            </a:r>
            <a:endParaRPr lang="en-US" sz="900" dirty="0"/>
          </a:p>
          <a:p>
            <a:pPr marL="0" indent="0" algn="ctr">
              <a:buNone/>
            </a:pPr>
            <a:r>
              <a:rPr lang="en-US" sz="900" dirty="0">
                <a:solidFill>
                  <a:srgbClr val="333333"/>
                </a:solidFill>
                <a:latin typeface="Arial" pitchFamily="34" charset="0"/>
                <a:ea typeface="Arial" pitchFamily="34" charset="-122"/>
                <a:cs typeface="Arial" pitchFamily="34" charset="-120"/>
              </a:rPr>
              <a:t>Success → CLOSED.</a:t>
            </a:r>
            <a:endParaRPr lang="en-US" sz="900" dirty="0"/>
          </a:p>
        </p:txBody>
      </p:sp>
      <p:sp>
        <p:nvSpPr>
          <p:cNvPr id="12" name="Shape 10"/>
          <p:cNvSpPr/>
          <p:nvPr/>
        </p:nvSpPr>
        <p:spPr>
          <a:xfrm>
            <a:off x="2377440" y="1097280"/>
            <a:ext cx="731520" cy="274320"/>
          </a:xfrm>
          <a:prstGeom prst="rightArrow">
            <a:avLst/>
          </a:prstGeom>
          <a:solidFill>
            <a:srgbClr val="C62828"/>
          </a:solidFill>
          <a:ln/>
        </p:spPr>
        <p:txBody>
          <a:bodyPr/>
          <a:lstStyle/>
          <a:p>
            <a:endParaRPr lang="en-US"/>
          </a:p>
        </p:txBody>
      </p:sp>
      <p:sp>
        <p:nvSpPr>
          <p:cNvPr id="13" name="Shape 11"/>
          <p:cNvSpPr/>
          <p:nvPr/>
        </p:nvSpPr>
        <p:spPr>
          <a:xfrm>
            <a:off x="5577840" y="1097280"/>
            <a:ext cx="548640" cy="274320"/>
          </a:xfrm>
          <a:prstGeom prst="rightArrow">
            <a:avLst/>
          </a:prstGeom>
          <a:solidFill>
            <a:srgbClr val="F9A825"/>
          </a:solidFill>
          <a:ln/>
        </p:spPr>
        <p:txBody>
          <a:bodyPr/>
          <a:lstStyle/>
          <a:p>
            <a:endParaRPr lang="en-US"/>
          </a:p>
        </p:txBody>
      </p:sp>
      <p:sp>
        <p:nvSpPr>
          <p:cNvPr id="14" name="Shape 12"/>
          <p:cNvSpPr/>
          <p:nvPr/>
        </p:nvSpPr>
        <p:spPr>
          <a:xfrm>
            <a:off x="502920" y="2240280"/>
            <a:ext cx="2011680" cy="347472"/>
          </a:xfrm>
          <a:prstGeom prst="rect">
            <a:avLst/>
          </a:prstGeom>
          <a:solidFill>
            <a:srgbClr val="1B2A4A"/>
          </a:solidFill>
          <a:ln/>
        </p:spPr>
        <p:txBody>
          <a:bodyPr/>
          <a:lstStyle/>
          <a:p>
            <a:endParaRPr lang="en-US"/>
          </a:p>
        </p:txBody>
      </p:sp>
      <p:sp>
        <p:nvSpPr>
          <p:cNvPr id="15" name="Text 13"/>
          <p:cNvSpPr/>
          <p:nvPr/>
        </p:nvSpPr>
        <p:spPr>
          <a:xfrm>
            <a:off x="576072" y="2240280"/>
            <a:ext cx="1920240" cy="347472"/>
          </a:xfrm>
          <a:prstGeom prst="rect">
            <a:avLst/>
          </a:prstGeom>
          <a:noFill/>
          <a:ln/>
        </p:spPr>
        <p:txBody>
          <a:bodyPr wrap="square" lIns="0" tIns="0" rIns="0" bIns="0" rtlCol="0" anchor="ctr"/>
          <a:lstStyle/>
          <a:p>
            <a:pPr marL="0" indent="0">
              <a:buNone/>
            </a:pPr>
            <a:r>
              <a:rPr lang="en-US" sz="950" dirty="0">
                <a:solidFill>
                  <a:srgbClr val="FFFFFF"/>
                </a:solidFill>
                <a:latin typeface="Courier New" pitchFamily="34" charset="0"/>
                <a:ea typeface="Courier New" pitchFamily="34" charset="-122"/>
                <a:cs typeface="Courier New" pitchFamily="34" charset="-120"/>
              </a:rPr>
              <a:t>window_size</a:t>
            </a:r>
            <a:endParaRPr lang="en-US" sz="950" dirty="0"/>
          </a:p>
        </p:txBody>
      </p:sp>
      <p:sp>
        <p:nvSpPr>
          <p:cNvPr id="16" name="Shape 14"/>
          <p:cNvSpPr/>
          <p:nvPr/>
        </p:nvSpPr>
        <p:spPr>
          <a:xfrm>
            <a:off x="2514600" y="2240280"/>
            <a:ext cx="6400800" cy="347472"/>
          </a:xfrm>
          <a:prstGeom prst="rect">
            <a:avLst/>
          </a:prstGeom>
          <a:solidFill>
            <a:srgbClr val="F5F5F5"/>
          </a:solidFill>
          <a:ln w="3810">
            <a:solidFill>
              <a:srgbClr val="F0F0F0"/>
            </a:solidFill>
            <a:prstDash val="solid"/>
          </a:ln>
        </p:spPr>
        <p:txBody>
          <a:bodyPr/>
          <a:lstStyle/>
          <a:p>
            <a:endParaRPr lang="en-US"/>
          </a:p>
        </p:txBody>
      </p:sp>
      <p:sp>
        <p:nvSpPr>
          <p:cNvPr id="17" name="Text 15"/>
          <p:cNvSpPr/>
          <p:nvPr/>
        </p:nvSpPr>
        <p:spPr>
          <a:xfrm>
            <a:off x="2651760" y="2240280"/>
            <a:ext cx="6217920" cy="34747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20 — rolling window of recent calls for error rate calculation</a:t>
            </a:r>
            <a:endParaRPr lang="en-US" sz="950" dirty="0"/>
          </a:p>
        </p:txBody>
      </p:sp>
      <p:sp>
        <p:nvSpPr>
          <p:cNvPr id="18" name="Shape 16"/>
          <p:cNvSpPr/>
          <p:nvPr/>
        </p:nvSpPr>
        <p:spPr>
          <a:xfrm>
            <a:off x="502920" y="2633472"/>
            <a:ext cx="2011680" cy="347472"/>
          </a:xfrm>
          <a:prstGeom prst="rect">
            <a:avLst/>
          </a:prstGeom>
          <a:solidFill>
            <a:srgbClr val="1B2A4A"/>
          </a:solidFill>
          <a:ln/>
        </p:spPr>
        <p:txBody>
          <a:bodyPr/>
          <a:lstStyle/>
          <a:p>
            <a:endParaRPr lang="en-US"/>
          </a:p>
        </p:txBody>
      </p:sp>
      <p:sp>
        <p:nvSpPr>
          <p:cNvPr id="19" name="Text 17"/>
          <p:cNvSpPr/>
          <p:nvPr/>
        </p:nvSpPr>
        <p:spPr>
          <a:xfrm>
            <a:off x="576072" y="2633472"/>
            <a:ext cx="1920240" cy="347472"/>
          </a:xfrm>
          <a:prstGeom prst="rect">
            <a:avLst/>
          </a:prstGeom>
          <a:noFill/>
          <a:ln/>
        </p:spPr>
        <p:txBody>
          <a:bodyPr wrap="square" lIns="0" tIns="0" rIns="0" bIns="0" rtlCol="0" anchor="ctr"/>
          <a:lstStyle/>
          <a:p>
            <a:pPr marL="0" indent="0">
              <a:buNone/>
            </a:pPr>
            <a:r>
              <a:rPr lang="en-US" sz="950" dirty="0">
                <a:solidFill>
                  <a:srgbClr val="FFFFFF"/>
                </a:solidFill>
                <a:latin typeface="Courier New" pitchFamily="34" charset="0"/>
                <a:ea typeface="Courier New" pitchFamily="34" charset="-122"/>
                <a:cs typeface="Courier New" pitchFamily="34" charset="-120"/>
              </a:rPr>
              <a:t>min_samples</a:t>
            </a:r>
            <a:endParaRPr lang="en-US" sz="950" dirty="0"/>
          </a:p>
        </p:txBody>
      </p:sp>
      <p:sp>
        <p:nvSpPr>
          <p:cNvPr id="20" name="Shape 18"/>
          <p:cNvSpPr/>
          <p:nvPr/>
        </p:nvSpPr>
        <p:spPr>
          <a:xfrm>
            <a:off x="2514600" y="2633472"/>
            <a:ext cx="6400800" cy="347472"/>
          </a:xfrm>
          <a:prstGeom prst="rect">
            <a:avLst/>
          </a:prstGeom>
          <a:solidFill>
            <a:srgbClr val="F5F5F5"/>
          </a:solidFill>
          <a:ln w="3810">
            <a:solidFill>
              <a:srgbClr val="F0F0F0"/>
            </a:solidFill>
            <a:prstDash val="solid"/>
          </a:ln>
        </p:spPr>
        <p:txBody>
          <a:bodyPr/>
          <a:lstStyle/>
          <a:p>
            <a:endParaRPr lang="en-US"/>
          </a:p>
        </p:txBody>
      </p:sp>
      <p:sp>
        <p:nvSpPr>
          <p:cNvPr id="21" name="Text 19"/>
          <p:cNvSpPr/>
          <p:nvPr/>
        </p:nvSpPr>
        <p:spPr>
          <a:xfrm>
            <a:off x="2651760" y="2633472"/>
            <a:ext cx="6217920" cy="34747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6 — minimum calls before breaker can trip</a:t>
            </a:r>
            <a:endParaRPr lang="en-US" sz="950" dirty="0"/>
          </a:p>
        </p:txBody>
      </p:sp>
      <p:sp>
        <p:nvSpPr>
          <p:cNvPr id="22" name="Shape 20"/>
          <p:cNvSpPr/>
          <p:nvPr/>
        </p:nvSpPr>
        <p:spPr>
          <a:xfrm>
            <a:off x="502920" y="3026664"/>
            <a:ext cx="2011680" cy="347472"/>
          </a:xfrm>
          <a:prstGeom prst="rect">
            <a:avLst/>
          </a:prstGeom>
          <a:solidFill>
            <a:srgbClr val="1B2A4A"/>
          </a:solidFill>
          <a:ln/>
        </p:spPr>
        <p:txBody>
          <a:bodyPr/>
          <a:lstStyle/>
          <a:p>
            <a:endParaRPr lang="en-US"/>
          </a:p>
        </p:txBody>
      </p:sp>
      <p:sp>
        <p:nvSpPr>
          <p:cNvPr id="23" name="Text 21"/>
          <p:cNvSpPr/>
          <p:nvPr/>
        </p:nvSpPr>
        <p:spPr>
          <a:xfrm>
            <a:off x="576072" y="3026664"/>
            <a:ext cx="1920240" cy="347472"/>
          </a:xfrm>
          <a:prstGeom prst="rect">
            <a:avLst/>
          </a:prstGeom>
          <a:noFill/>
          <a:ln/>
        </p:spPr>
        <p:txBody>
          <a:bodyPr wrap="square" lIns="0" tIns="0" rIns="0" bIns="0" rtlCol="0" anchor="ctr"/>
          <a:lstStyle/>
          <a:p>
            <a:pPr marL="0" indent="0">
              <a:buNone/>
            </a:pPr>
            <a:r>
              <a:rPr lang="en-US" sz="950" dirty="0">
                <a:solidFill>
                  <a:srgbClr val="FFFFFF"/>
                </a:solidFill>
                <a:latin typeface="Courier New" pitchFamily="34" charset="0"/>
                <a:ea typeface="Courier New" pitchFamily="34" charset="-122"/>
                <a:cs typeface="Courier New" pitchFamily="34" charset="-120"/>
              </a:rPr>
              <a:t>error_rate_threshold</a:t>
            </a:r>
            <a:endParaRPr lang="en-US" sz="950" dirty="0"/>
          </a:p>
        </p:txBody>
      </p:sp>
      <p:sp>
        <p:nvSpPr>
          <p:cNvPr id="24" name="Shape 22"/>
          <p:cNvSpPr/>
          <p:nvPr/>
        </p:nvSpPr>
        <p:spPr>
          <a:xfrm>
            <a:off x="2514600" y="3026664"/>
            <a:ext cx="6400800" cy="347472"/>
          </a:xfrm>
          <a:prstGeom prst="rect">
            <a:avLst/>
          </a:prstGeom>
          <a:solidFill>
            <a:srgbClr val="F5F5F5"/>
          </a:solidFill>
          <a:ln w="3810">
            <a:solidFill>
              <a:srgbClr val="F0F0F0"/>
            </a:solidFill>
            <a:prstDash val="solid"/>
          </a:ln>
        </p:spPr>
        <p:txBody>
          <a:bodyPr/>
          <a:lstStyle/>
          <a:p>
            <a:endParaRPr lang="en-US"/>
          </a:p>
        </p:txBody>
      </p:sp>
      <p:sp>
        <p:nvSpPr>
          <p:cNvPr id="25" name="Text 23"/>
          <p:cNvSpPr/>
          <p:nvPr/>
        </p:nvSpPr>
        <p:spPr>
          <a:xfrm>
            <a:off x="2651760" y="3026664"/>
            <a:ext cx="6217920" cy="34747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0.50 — 50% failure rate trips the breaker</a:t>
            </a:r>
            <a:endParaRPr lang="en-US" sz="950" dirty="0"/>
          </a:p>
        </p:txBody>
      </p:sp>
      <p:sp>
        <p:nvSpPr>
          <p:cNvPr id="26" name="Shape 24"/>
          <p:cNvSpPr/>
          <p:nvPr/>
        </p:nvSpPr>
        <p:spPr>
          <a:xfrm>
            <a:off x="502920" y="3419856"/>
            <a:ext cx="2011680" cy="347472"/>
          </a:xfrm>
          <a:prstGeom prst="rect">
            <a:avLst/>
          </a:prstGeom>
          <a:solidFill>
            <a:srgbClr val="1B2A4A"/>
          </a:solidFill>
          <a:ln/>
        </p:spPr>
        <p:txBody>
          <a:bodyPr/>
          <a:lstStyle/>
          <a:p>
            <a:endParaRPr lang="en-US"/>
          </a:p>
        </p:txBody>
      </p:sp>
      <p:sp>
        <p:nvSpPr>
          <p:cNvPr id="27" name="Text 25"/>
          <p:cNvSpPr/>
          <p:nvPr/>
        </p:nvSpPr>
        <p:spPr>
          <a:xfrm>
            <a:off x="576072" y="3419856"/>
            <a:ext cx="1920240" cy="347472"/>
          </a:xfrm>
          <a:prstGeom prst="rect">
            <a:avLst/>
          </a:prstGeom>
          <a:noFill/>
          <a:ln/>
        </p:spPr>
        <p:txBody>
          <a:bodyPr wrap="square" lIns="0" tIns="0" rIns="0" bIns="0" rtlCol="0" anchor="ctr"/>
          <a:lstStyle/>
          <a:p>
            <a:pPr marL="0" indent="0">
              <a:buNone/>
            </a:pPr>
            <a:r>
              <a:rPr lang="en-US" sz="950" dirty="0">
                <a:solidFill>
                  <a:srgbClr val="FFFFFF"/>
                </a:solidFill>
                <a:latin typeface="Courier New" pitchFamily="34" charset="0"/>
                <a:ea typeface="Courier New" pitchFamily="34" charset="-122"/>
                <a:cs typeface="Courier New" pitchFamily="34" charset="-120"/>
              </a:rPr>
              <a:t>consecutive_failures</a:t>
            </a:r>
            <a:endParaRPr lang="en-US" sz="950" dirty="0"/>
          </a:p>
        </p:txBody>
      </p:sp>
      <p:sp>
        <p:nvSpPr>
          <p:cNvPr id="28" name="Shape 26"/>
          <p:cNvSpPr/>
          <p:nvPr/>
        </p:nvSpPr>
        <p:spPr>
          <a:xfrm>
            <a:off x="2514600" y="3419856"/>
            <a:ext cx="6400800" cy="347472"/>
          </a:xfrm>
          <a:prstGeom prst="rect">
            <a:avLst/>
          </a:prstGeom>
          <a:solidFill>
            <a:srgbClr val="F5F5F5"/>
          </a:solidFill>
          <a:ln w="3810">
            <a:solidFill>
              <a:srgbClr val="F0F0F0"/>
            </a:solidFill>
            <a:prstDash val="solid"/>
          </a:ln>
        </p:spPr>
        <p:txBody>
          <a:bodyPr/>
          <a:lstStyle/>
          <a:p>
            <a:endParaRPr lang="en-US"/>
          </a:p>
        </p:txBody>
      </p:sp>
      <p:sp>
        <p:nvSpPr>
          <p:cNvPr id="29" name="Text 27"/>
          <p:cNvSpPr/>
          <p:nvPr/>
        </p:nvSpPr>
        <p:spPr>
          <a:xfrm>
            <a:off x="2651760" y="3419856"/>
            <a:ext cx="6217920" cy="34747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3 — alternative trip condition (3 in a row)</a:t>
            </a:r>
            <a:endParaRPr lang="en-US" sz="950" dirty="0"/>
          </a:p>
        </p:txBody>
      </p:sp>
      <p:sp>
        <p:nvSpPr>
          <p:cNvPr id="30" name="Shape 28"/>
          <p:cNvSpPr/>
          <p:nvPr/>
        </p:nvSpPr>
        <p:spPr>
          <a:xfrm>
            <a:off x="502920" y="3813048"/>
            <a:ext cx="2011680" cy="347472"/>
          </a:xfrm>
          <a:prstGeom prst="rect">
            <a:avLst/>
          </a:prstGeom>
          <a:solidFill>
            <a:srgbClr val="1B2A4A"/>
          </a:solidFill>
          <a:ln/>
        </p:spPr>
        <p:txBody>
          <a:bodyPr/>
          <a:lstStyle/>
          <a:p>
            <a:endParaRPr lang="en-US"/>
          </a:p>
        </p:txBody>
      </p:sp>
      <p:sp>
        <p:nvSpPr>
          <p:cNvPr id="31" name="Text 29"/>
          <p:cNvSpPr/>
          <p:nvPr/>
        </p:nvSpPr>
        <p:spPr>
          <a:xfrm>
            <a:off x="576072" y="3813048"/>
            <a:ext cx="1920240" cy="347472"/>
          </a:xfrm>
          <a:prstGeom prst="rect">
            <a:avLst/>
          </a:prstGeom>
          <a:noFill/>
          <a:ln/>
        </p:spPr>
        <p:txBody>
          <a:bodyPr wrap="square" lIns="0" tIns="0" rIns="0" bIns="0" rtlCol="0" anchor="ctr"/>
          <a:lstStyle/>
          <a:p>
            <a:pPr marL="0" indent="0">
              <a:buNone/>
            </a:pPr>
            <a:r>
              <a:rPr lang="en-US" sz="950" dirty="0">
                <a:solidFill>
                  <a:srgbClr val="FFFFFF"/>
                </a:solidFill>
                <a:latin typeface="Courier New" pitchFamily="34" charset="0"/>
                <a:ea typeface="Courier New" pitchFamily="34" charset="-122"/>
                <a:cs typeface="Courier New" pitchFamily="34" charset="-120"/>
              </a:rPr>
              <a:t>open_seconds</a:t>
            </a:r>
            <a:endParaRPr lang="en-US" sz="950" dirty="0"/>
          </a:p>
        </p:txBody>
      </p:sp>
      <p:sp>
        <p:nvSpPr>
          <p:cNvPr id="32" name="Shape 30"/>
          <p:cNvSpPr/>
          <p:nvPr/>
        </p:nvSpPr>
        <p:spPr>
          <a:xfrm>
            <a:off x="2514600" y="3813048"/>
            <a:ext cx="6400800" cy="347472"/>
          </a:xfrm>
          <a:prstGeom prst="rect">
            <a:avLst/>
          </a:prstGeom>
          <a:solidFill>
            <a:srgbClr val="F5F5F5"/>
          </a:solidFill>
          <a:ln w="3810">
            <a:solidFill>
              <a:srgbClr val="F0F0F0"/>
            </a:solidFill>
            <a:prstDash val="solid"/>
          </a:ln>
        </p:spPr>
        <p:txBody>
          <a:bodyPr/>
          <a:lstStyle/>
          <a:p>
            <a:endParaRPr lang="en-US"/>
          </a:p>
        </p:txBody>
      </p:sp>
      <p:sp>
        <p:nvSpPr>
          <p:cNvPr id="33" name="Text 31"/>
          <p:cNvSpPr/>
          <p:nvPr/>
        </p:nvSpPr>
        <p:spPr>
          <a:xfrm>
            <a:off x="2651760" y="3813048"/>
            <a:ext cx="6217920" cy="34747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30 — stay OPEN for 30s then allow one probe (HALF-OPEN)</a:t>
            </a:r>
            <a:endParaRPr lang="en-US" sz="950" dirty="0"/>
          </a:p>
        </p:txBody>
      </p:sp>
      <p:sp>
        <p:nvSpPr>
          <p:cNvPr id="34" name="Text 32"/>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providers/circuit_breaker.py — ProviderCircuitBreaker, CircuitBreakerPolicy, CircuitBreakerOpenError</a:t>
            </a:r>
            <a:endParaRPr lang="en-US" sz="9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Live Progress — Real-Time SSE Event Translation</a:t>
            </a:r>
            <a:endParaRPr lang="en-US" sz="2600" dirty="0"/>
          </a:p>
        </p:txBody>
      </p:sp>
      <p:sp>
        <p:nvSpPr>
          <p:cNvPr id="3" name="Shape 1"/>
          <p:cNvSpPr/>
          <p:nvPr/>
        </p:nvSpPr>
        <p:spPr>
          <a:xfrm>
            <a:off x="502920" y="960120"/>
            <a:ext cx="1920240" cy="64008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4" name="Text 2"/>
          <p:cNvSpPr/>
          <p:nvPr/>
        </p:nvSpPr>
        <p:spPr>
          <a:xfrm>
            <a:off x="502920" y="960120"/>
            <a:ext cx="1920240" cy="6400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RuntimeEvent</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emitted internally</a:t>
            </a:r>
            <a:endParaRPr lang="en-US" sz="1000" dirty="0"/>
          </a:p>
        </p:txBody>
      </p:sp>
      <p:sp>
        <p:nvSpPr>
          <p:cNvPr id="5" name="Shape 3"/>
          <p:cNvSpPr/>
          <p:nvPr/>
        </p:nvSpPr>
        <p:spPr>
          <a:xfrm>
            <a:off x="2468880" y="1143000"/>
            <a:ext cx="91440" cy="274320"/>
          </a:xfrm>
          <a:prstGeom prst="rightArrow">
            <a:avLst/>
          </a:prstGeom>
          <a:solidFill>
            <a:srgbClr val="1B2A4A"/>
          </a:solidFill>
          <a:ln/>
        </p:spPr>
        <p:txBody>
          <a:bodyPr/>
          <a:lstStyle/>
          <a:p>
            <a:endParaRPr lang="en-US"/>
          </a:p>
        </p:txBody>
      </p:sp>
      <p:sp>
        <p:nvSpPr>
          <p:cNvPr id="6" name="Shape 4"/>
          <p:cNvSpPr/>
          <p:nvPr/>
        </p:nvSpPr>
        <p:spPr>
          <a:xfrm>
            <a:off x="2606040" y="960120"/>
            <a:ext cx="1920240" cy="64008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7" name="Text 5"/>
          <p:cNvSpPr/>
          <p:nvPr/>
        </p:nvSpPr>
        <p:spPr>
          <a:xfrm>
            <a:off x="2606040" y="960120"/>
            <a:ext cx="1920240" cy="6400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LiveProgressSink</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.emit(event)</a:t>
            </a:r>
            <a:endParaRPr lang="en-US" sz="1000" dirty="0"/>
          </a:p>
        </p:txBody>
      </p:sp>
      <p:sp>
        <p:nvSpPr>
          <p:cNvPr id="8" name="Shape 6"/>
          <p:cNvSpPr/>
          <p:nvPr/>
        </p:nvSpPr>
        <p:spPr>
          <a:xfrm>
            <a:off x="4572000" y="1143000"/>
            <a:ext cx="91440" cy="274320"/>
          </a:xfrm>
          <a:prstGeom prst="rightArrow">
            <a:avLst/>
          </a:prstGeom>
          <a:solidFill>
            <a:srgbClr val="1B2A4A"/>
          </a:solidFill>
          <a:ln/>
        </p:spPr>
        <p:txBody>
          <a:bodyPr/>
          <a:lstStyle/>
          <a:p>
            <a:endParaRPr lang="en-US"/>
          </a:p>
        </p:txBody>
      </p:sp>
      <p:sp>
        <p:nvSpPr>
          <p:cNvPr id="9" name="Shape 7"/>
          <p:cNvSpPr/>
          <p:nvPr/>
        </p:nvSpPr>
        <p:spPr>
          <a:xfrm>
            <a:off x="4709160" y="960120"/>
            <a:ext cx="1920240" cy="64008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10" name="Text 8"/>
          <p:cNvSpPr/>
          <p:nvPr/>
        </p:nvSpPr>
        <p:spPr>
          <a:xfrm>
            <a:off x="4709160" y="960120"/>
            <a:ext cx="1920240" cy="6400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Queue</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(thread-safe)</a:t>
            </a:r>
            <a:endParaRPr lang="en-US" sz="1000" dirty="0"/>
          </a:p>
        </p:txBody>
      </p:sp>
      <p:sp>
        <p:nvSpPr>
          <p:cNvPr id="11" name="Shape 9"/>
          <p:cNvSpPr/>
          <p:nvPr/>
        </p:nvSpPr>
        <p:spPr>
          <a:xfrm>
            <a:off x="6675120" y="1143000"/>
            <a:ext cx="91440" cy="274320"/>
          </a:xfrm>
          <a:prstGeom prst="rightArrow">
            <a:avLst/>
          </a:prstGeom>
          <a:solidFill>
            <a:srgbClr val="1B2A4A"/>
          </a:solidFill>
          <a:ln/>
        </p:spPr>
        <p:txBody>
          <a:bodyPr/>
          <a:lstStyle/>
          <a:p>
            <a:endParaRPr lang="en-US"/>
          </a:p>
        </p:txBody>
      </p:sp>
      <p:sp>
        <p:nvSpPr>
          <p:cNvPr id="12" name="Shape 10"/>
          <p:cNvSpPr/>
          <p:nvPr/>
        </p:nvSpPr>
        <p:spPr>
          <a:xfrm>
            <a:off x="6812280" y="960120"/>
            <a:ext cx="1920240" cy="640080"/>
          </a:xfrm>
          <a:prstGeom prst="rect">
            <a:avLst/>
          </a:prstGeom>
          <a:solidFill>
            <a:srgbClr val="2E7D32"/>
          </a:solidFill>
          <a:ln/>
          <a:effectLst>
            <a:outerShdw blurRad="50800" dist="25400" dir="8100000" algn="bl" rotWithShape="0">
              <a:srgbClr val="000000">
                <a:alpha val="12000"/>
              </a:srgbClr>
            </a:outerShdw>
          </a:effectLst>
        </p:spPr>
        <p:txBody>
          <a:bodyPr/>
          <a:lstStyle/>
          <a:p>
            <a:endParaRPr lang="en-US"/>
          </a:p>
        </p:txBody>
      </p:sp>
      <p:sp>
        <p:nvSpPr>
          <p:cNvPr id="13" name="Text 11"/>
          <p:cNvSpPr/>
          <p:nvPr/>
        </p:nvSpPr>
        <p:spPr>
          <a:xfrm>
            <a:off x="6812280" y="960120"/>
            <a:ext cx="1920240" cy="6400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SSE stream to</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client UI</a:t>
            </a:r>
            <a:endParaRPr lang="en-US" sz="1000" dirty="0"/>
          </a:p>
        </p:txBody>
      </p:sp>
      <p:sp>
        <p:nvSpPr>
          <p:cNvPr id="14" name="Shape 12"/>
          <p:cNvSpPr/>
          <p:nvPr/>
        </p:nvSpPr>
        <p:spPr>
          <a:xfrm>
            <a:off x="502920" y="1783080"/>
            <a:ext cx="2286000" cy="365760"/>
          </a:xfrm>
          <a:prstGeom prst="rect">
            <a:avLst/>
          </a:prstGeom>
          <a:solidFill>
            <a:srgbClr val="1B2A4A"/>
          </a:solidFill>
          <a:ln/>
        </p:spPr>
        <p:txBody>
          <a:bodyPr/>
          <a:lstStyle/>
          <a:p>
            <a:endParaRPr lang="en-US"/>
          </a:p>
        </p:txBody>
      </p:sp>
      <p:sp>
        <p:nvSpPr>
          <p:cNvPr id="15" name="Text 13"/>
          <p:cNvSpPr/>
          <p:nvPr/>
        </p:nvSpPr>
        <p:spPr>
          <a:xfrm>
            <a:off x="576072" y="1783080"/>
            <a:ext cx="2148840" cy="365760"/>
          </a:xfrm>
          <a:prstGeom prst="rect">
            <a:avLst/>
          </a:prstGeom>
          <a:noFill/>
          <a:ln/>
        </p:spPr>
        <p:txBody>
          <a:bodyPr wrap="square" lIns="0" tIns="0" rIns="0" bIns="0" rtlCol="0" anchor="ctr"/>
          <a:lstStyle/>
          <a:p>
            <a:pPr marL="0" indent="0">
              <a:buNone/>
            </a:pPr>
            <a:r>
              <a:rPr lang="en-US" sz="900" dirty="0">
                <a:solidFill>
                  <a:srgbClr val="FFFFFF"/>
                </a:solidFill>
                <a:latin typeface="Courier New" pitchFamily="34" charset="0"/>
                <a:ea typeface="Courier New" pitchFamily="34" charset="-122"/>
                <a:cs typeface="Courier New" pitchFamily="34" charset="-120"/>
              </a:rPr>
              <a:t>router_decision</a:t>
            </a:r>
            <a:endParaRPr lang="en-US" sz="900" dirty="0"/>
          </a:p>
        </p:txBody>
      </p:sp>
      <p:sp>
        <p:nvSpPr>
          <p:cNvPr id="16" name="Shape 14"/>
          <p:cNvSpPr/>
          <p:nvPr/>
        </p:nvSpPr>
        <p:spPr>
          <a:xfrm>
            <a:off x="2788920" y="1783080"/>
            <a:ext cx="6309360" cy="365760"/>
          </a:xfrm>
          <a:prstGeom prst="rect">
            <a:avLst/>
          </a:prstGeom>
          <a:solidFill>
            <a:srgbClr val="F5F5F5"/>
          </a:solidFill>
          <a:ln w="3810">
            <a:solidFill>
              <a:srgbClr val="F0F0F0"/>
            </a:solidFill>
            <a:prstDash val="solid"/>
          </a:ln>
        </p:spPr>
        <p:txBody>
          <a:bodyPr/>
          <a:lstStyle/>
          <a:p>
            <a:endParaRPr lang="en-US"/>
          </a:p>
        </p:txBody>
      </p:sp>
      <p:sp>
        <p:nvSpPr>
          <p:cNvPr id="17" name="Text 15"/>
          <p:cNvSpPr/>
          <p:nvPr/>
        </p:nvSpPr>
        <p:spPr>
          <a:xfrm>
            <a:off x="2880360" y="1783080"/>
            <a:ext cx="6126480" cy="36576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route_decision — label='Routed to {agent}', why=reason, confidence</a:t>
            </a:r>
            <a:endParaRPr lang="en-US" sz="950" dirty="0"/>
          </a:p>
        </p:txBody>
      </p:sp>
      <p:sp>
        <p:nvSpPr>
          <p:cNvPr id="18" name="Shape 16"/>
          <p:cNvSpPr/>
          <p:nvPr/>
        </p:nvSpPr>
        <p:spPr>
          <a:xfrm>
            <a:off x="502920" y="2185416"/>
            <a:ext cx="2286000" cy="365760"/>
          </a:xfrm>
          <a:prstGeom prst="rect">
            <a:avLst/>
          </a:prstGeom>
          <a:solidFill>
            <a:srgbClr val="1B2A4A"/>
          </a:solidFill>
          <a:ln/>
        </p:spPr>
        <p:txBody>
          <a:bodyPr/>
          <a:lstStyle/>
          <a:p>
            <a:endParaRPr lang="en-US"/>
          </a:p>
        </p:txBody>
      </p:sp>
      <p:sp>
        <p:nvSpPr>
          <p:cNvPr id="19" name="Text 17"/>
          <p:cNvSpPr/>
          <p:nvPr/>
        </p:nvSpPr>
        <p:spPr>
          <a:xfrm>
            <a:off x="576072" y="2185416"/>
            <a:ext cx="2148840" cy="365760"/>
          </a:xfrm>
          <a:prstGeom prst="rect">
            <a:avLst/>
          </a:prstGeom>
          <a:noFill/>
          <a:ln/>
        </p:spPr>
        <p:txBody>
          <a:bodyPr wrap="square" lIns="0" tIns="0" rIns="0" bIns="0" rtlCol="0" anchor="ctr"/>
          <a:lstStyle/>
          <a:p>
            <a:pPr marL="0" indent="0">
              <a:buNone/>
            </a:pPr>
            <a:r>
              <a:rPr lang="en-US" sz="900" dirty="0">
                <a:solidFill>
                  <a:srgbClr val="FFFFFF"/>
                </a:solidFill>
                <a:latin typeface="Courier New" pitchFamily="34" charset="0"/>
                <a:ea typeface="Courier New" pitchFamily="34" charset="-122"/>
                <a:cs typeface="Courier New" pitchFamily="34" charset="-120"/>
              </a:rPr>
              <a:t>agent_run_started</a:t>
            </a:r>
            <a:endParaRPr lang="en-US" sz="900" dirty="0"/>
          </a:p>
        </p:txBody>
      </p:sp>
      <p:sp>
        <p:nvSpPr>
          <p:cNvPr id="20" name="Shape 18"/>
          <p:cNvSpPr/>
          <p:nvPr/>
        </p:nvSpPr>
        <p:spPr>
          <a:xfrm>
            <a:off x="2788920" y="2185416"/>
            <a:ext cx="6309360" cy="365760"/>
          </a:xfrm>
          <a:prstGeom prst="rect">
            <a:avLst/>
          </a:prstGeom>
          <a:solidFill>
            <a:srgbClr val="F5F5F5"/>
          </a:solidFill>
          <a:ln w="3810">
            <a:solidFill>
              <a:srgbClr val="F0F0F0"/>
            </a:solidFill>
            <a:prstDash val="solid"/>
          </a:ln>
        </p:spPr>
        <p:txBody>
          <a:bodyPr/>
          <a:lstStyle/>
          <a:p>
            <a:endParaRPr lang="en-US"/>
          </a:p>
        </p:txBody>
      </p:sp>
      <p:sp>
        <p:nvSpPr>
          <p:cNvPr id="21" name="Text 19"/>
          <p:cNvSpPr/>
          <p:nvPr/>
        </p:nvSpPr>
        <p:spPr>
          <a:xfrm>
            <a:off x="2880360" y="2185416"/>
            <a:ext cx="6126480" cy="36576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agent_selected — label='Running {agent}', status='running'</a:t>
            </a:r>
            <a:endParaRPr lang="en-US" sz="950" dirty="0"/>
          </a:p>
        </p:txBody>
      </p:sp>
      <p:sp>
        <p:nvSpPr>
          <p:cNvPr id="22" name="Shape 20"/>
          <p:cNvSpPr/>
          <p:nvPr/>
        </p:nvSpPr>
        <p:spPr>
          <a:xfrm>
            <a:off x="502920" y="2587752"/>
            <a:ext cx="2286000" cy="365760"/>
          </a:xfrm>
          <a:prstGeom prst="rect">
            <a:avLst/>
          </a:prstGeom>
          <a:solidFill>
            <a:srgbClr val="1B2A4A"/>
          </a:solidFill>
          <a:ln/>
        </p:spPr>
        <p:txBody>
          <a:bodyPr/>
          <a:lstStyle/>
          <a:p>
            <a:endParaRPr lang="en-US"/>
          </a:p>
        </p:txBody>
      </p:sp>
      <p:sp>
        <p:nvSpPr>
          <p:cNvPr id="23" name="Text 21"/>
          <p:cNvSpPr/>
          <p:nvPr/>
        </p:nvSpPr>
        <p:spPr>
          <a:xfrm>
            <a:off x="576072" y="2587752"/>
            <a:ext cx="2148840" cy="365760"/>
          </a:xfrm>
          <a:prstGeom prst="rect">
            <a:avLst/>
          </a:prstGeom>
          <a:noFill/>
          <a:ln/>
        </p:spPr>
        <p:txBody>
          <a:bodyPr wrap="square" lIns="0" tIns="0" rIns="0" bIns="0" rtlCol="0" anchor="ctr"/>
          <a:lstStyle/>
          <a:p>
            <a:pPr marL="0" indent="0">
              <a:buNone/>
            </a:pPr>
            <a:r>
              <a:rPr lang="en-US" sz="900" dirty="0">
                <a:solidFill>
                  <a:srgbClr val="FFFFFF"/>
                </a:solidFill>
                <a:latin typeface="Courier New" pitchFamily="34" charset="0"/>
                <a:ea typeface="Courier New" pitchFamily="34" charset="-122"/>
                <a:cs typeface="Courier New" pitchFamily="34" charset="-120"/>
              </a:rPr>
              <a:t>coordinator_planning_started</a:t>
            </a:r>
            <a:endParaRPr lang="en-US" sz="900" dirty="0"/>
          </a:p>
        </p:txBody>
      </p:sp>
      <p:sp>
        <p:nvSpPr>
          <p:cNvPr id="24" name="Shape 22"/>
          <p:cNvSpPr/>
          <p:nvPr/>
        </p:nvSpPr>
        <p:spPr>
          <a:xfrm>
            <a:off x="2788920" y="2587752"/>
            <a:ext cx="6309360" cy="365760"/>
          </a:xfrm>
          <a:prstGeom prst="rect">
            <a:avLst/>
          </a:prstGeom>
          <a:solidFill>
            <a:srgbClr val="F5F5F5"/>
          </a:solidFill>
          <a:ln w="3810">
            <a:solidFill>
              <a:srgbClr val="F0F0F0"/>
            </a:solidFill>
            <a:prstDash val="solid"/>
          </a:ln>
        </p:spPr>
        <p:txBody>
          <a:bodyPr/>
          <a:lstStyle/>
          <a:p>
            <a:endParaRPr lang="en-US"/>
          </a:p>
        </p:txBody>
      </p:sp>
      <p:sp>
        <p:nvSpPr>
          <p:cNvPr id="25" name="Text 23"/>
          <p:cNvSpPr/>
          <p:nvPr/>
        </p:nvSpPr>
        <p:spPr>
          <a:xfrm>
            <a:off x="2880360" y="2587752"/>
            <a:ext cx="6126480" cy="36576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phase_start — label='Planning tasks'</a:t>
            </a:r>
            <a:endParaRPr lang="en-US" sz="950" dirty="0"/>
          </a:p>
        </p:txBody>
      </p:sp>
      <p:sp>
        <p:nvSpPr>
          <p:cNvPr id="26" name="Shape 24"/>
          <p:cNvSpPr/>
          <p:nvPr/>
        </p:nvSpPr>
        <p:spPr>
          <a:xfrm>
            <a:off x="502920" y="2990088"/>
            <a:ext cx="2286000" cy="365760"/>
          </a:xfrm>
          <a:prstGeom prst="rect">
            <a:avLst/>
          </a:prstGeom>
          <a:solidFill>
            <a:srgbClr val="1B2A4A"/>
          </a:solidFill>
          <a:ln/>
        </p:spPr>
        <p:txBody>
          <a:bodyPr/>
          <a:lstStyle/>
          <a:p>
            <a:endParaRPr lang="en-US"/>
          </a:p>
        </p:txBody>
      </p:sp>
      <p:sp>
        <p:nvSpPr>
          <p:cNvPr id="27" name="Text 25"/>
          <p:cNvSpPr/>
          <p:nvPr/>
        </p:nvSpPr>
        <p:spPr>
          <a:xfrm>
            <a:off x="576072" y="2990088"/>
            <a:ext cx="2148840" cy="365760"/>
          </a:xfrm>
          <a:prstGeom prst="rect">
            <a:avLst/>
          </a:prstGeom>
          <a:noFill/>
          <a:ln/>
        </p:spPr>
        <p:txBody>
          <a:bodyPr wrap="square" lIns="0" tIns="0" rIns="0" bIns="0" rtlCol="0" anchor="ctr"/>
          <a:lstStyle/>
          <a:p>
            <a:pPr marL="0" indent="0">
              <a:buNone/>
            </a:pPr>
            <a:r>
              <a:rPr lang="en-US" sz="900" dirty="0">
                <a:solidFill>
                  <a:srgbClr val="FFFFFF"/>
                </a:solidFill>
                <a:latin typeface="Courier New" pitchFamily="34" charset="0"/>
                <a:ea typeface="Courier New" pitchFamily="34" charset="-122"/>
                <a:cs typeface="Courier New" pitchFamily="34" charset="-120"/>
              </a:rPr>
              <a:t>coordinator_batch_started</a:t>
            </a:r>
            <a:endParaRPr lang="en-US" sz="900" dirty="0"/>
          </a:p>
        </p:txBody>
      </p:sp>
      <p:sp>
        <p:nvSpPr>
          <p:cNvPr id="28" name="Shape 26"/>
          <p:cNvSpPr/>
          <p:nvPr/>
        </p:nvSpPr>
        <p:spPr>
          <a:xfrm>
            <a:off x="2788920" y="2990088"/>
            <a:ext cx="6309360" cy="365760"/>
          </a:xfrm>
          <a:prstGeom prst="rect">
            <a:avLst/>
          </a:prstGeom>
          <a:solidFill>
            <a:srgbClr val="F5F5F5"/>
          </a:solidFill>
          <a:ln w="3810">
            <a:solidFill>
              <a:srgbClr val="F0F0F0"/>
            </a:solidFill>
            <a:prstDash val="solid"/>
          </a:ln>
        </p:spPr>
        <p:txBody>
          <a:bodyPr/>
          <a:lstStyle/>
          <a:p>
            <a:endParaRPr lang="en-US"/>
          </a:p>
        </p:txBody>
      </p:sp>
      <p:sp>
        <p:nvSpPr>
          <p:cNvPr id="29" name="Text 27"/>
          <p:cNvSpPr/>
          <p:nvPr/>
        </p:nvSpPr>
        <p:spPr>
          <a:xfrm>
            <a:off x="2880360" y="2990088"/>
            <a:ext cx="6126480" cy="36576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phase_start — label='Dispatching workers'</a:t>
            </a:r>
            <a:endParaRPr lang="en-US" sz="950" dirty="0"/>
          </a:p>
        </p:txBody>
      </p:sp>
      <p:sp>
        <p:nvSpPr>
          <p:cNvPr id="30" name="Shape 28"/>
          <p:cNvSpPr/>
          <p:nvPr/>
        </p:nvSpPr>
        <p:spPr>
          <a:xfrm>
            <a:off x="502920" y="3392424"/>
            <a:ext cx="2286000" cy="365760"/>
          </a:xfrm>
          <a:prstGeom prst="rect">
            <a:avLst/>
          </a:prstGeom>
          <a:solidFill>
            <a:srgbClr val="1B2A4A"/>
          </a:solidFill>
          <a:ln/>
        </p:spPr>
        <p:txBody>
          <a:bodyPr/>
          <a:lstStyle/>
          <a:p>
            <a:endParaRPr lang="en-US"/>
          </a:p>
        </p:txBody>
      </p:sp>
      <p:sp>
        <p:nvSpPr>
          <p:cNvPr id="31" name="Text 29"/>
          <p:cNvSpPr/>
          <p:nvPr/>
        </p:nvSpPr>
        <p:spPr>
          <a:xfrm>
            <a:off x="576072" y="3392424"/>
            <a:ext cx="2148840" cy="365760"/>
          </a:xfrm>
          <a:prstGeom prst="rect">
            <a:avLst/>
          </a:prstGeom>
          <a:noFill/>
          <a:ln/>
        </p:spPr>
        <p:txBody>
          <a:bodyPr wrap="square" lIns="0" tIns="0" rIns="0" bIns="0" rtlCol="0" anchor="ctr"/>
          <a:lstStyle/>
          <a:p>
            <a:pPr marL="0" indent="0">
              <a:buNone/>
            </a:pPr>
            <a:r>
              <a:rPr lang="en-US" sz="900" dirty="0">
                <a:solidFill>
                  <a:srgbClr val="FFFFFF"/>
                </a:solidFill>
                <a:latin typeface="Courier New" pitchFamily="34" charset="0"/>
                <a:ea typeface="Courier New" pitchFamily="34" charset="-122"/>
                <a:cs typeface="Courier New" pitchFamily="34" charset="-120"/>
              </a:rPr>
              <a:t>worker_agent_started</a:t>
            </a:r>
            <a:endParaRPr lang="en-US" sz="900" dirty="0"/>
          </a:p>
        </p:txBody>
      </p:sp>
      <p:sp>
        <p:nvSpPr>
          <p:cNvPr id="32" name="Shape 30"/>
          <p:cNvSpPr/>
          <p:nvPr/>
        </p:nvSpPr>
        <p:spPr>
          <a:xfrm>
            <a:off x="2788920" y="3392424"/>
            <a:ext cx="6309360" cy="365760"/>
          </a:xfrm>
          <a:prstGeom prst="rect">
            <a:avLst/>
          </a:prstGeom>
          <a:solidFill>
            <a:srgbClr val="F5F5F5"/>
          </a:solidFill>
          <a:ln w="3810">
            <a:solidFill>
              <a:srgbClr val="F0F0F0"/>
            </a:solidFill>
            <a:prstDash val="solid"/>
          </a:ln>
        </p:spPr>
        <p:txBody>
          <a:bodyPr/>
          <a:lstStyle/>
          <a:p>
            <a:endParaRPr lang="en-US"/>
          </a:p>
        </p:txBody>
      </p:sp>
      <p:sp>
        <p:nvSpPr>
          <p:cNvPr id="33" name="Text 31"/>
          <p:cNvSpPr/>
          <p:nvPr/>
        </p:nvSpPr>
        <p:spPr>
          <a:xfrm>
            <a:off x="2880360" y="3392424"/>
            <a:ext cx="6126480" cy="36576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worker_start — label=task_title, job_id, task_id, docs[]</a:t>
            </a:r>
            <a:endParaRPr lang="en-US" sz="950" dirty="0"/>
          </a:p>
        </p:txBody>
      </p:sp>
      <p:sp>
        <p:nvSpPr>
          <p:cNvPr id="34" name="Shape 32"/>
          <p:cNvSpPr/>
          <p:nvPr/>
        </p:nvSpPr>
        <p:spPr>
          <a:xfrm>
            <a:off x="502920" y="3794760"/>
            <a:ext cx="2286000" cy="365760"/>
          </a:xfrm>
          <a:prstGeom prst="rect">
            <a:avLst/>
          </a:prstGeom>
          <a:solidFill>
            <a:srgbClr val="1B2A4A"/>
          </a:solidFill>
          <a:ln/>
        </p:spPr>
        <p:txBody>
          <a:bodyPr/>
          <a:lstStyle/>
          <a:p>
            <a:endParaRPr lang="en-US"/>
          </a:p>
        </p:txBody>
      </p:sp>
      <p:sp>
        <p:nvSpPr>
          <p:cNvPr id="35" name="Text 33"/>
          <p:cNvSpPr/>
          <p:nvPr/>
        </p:nvSpPr>
        <p:spPr>
          <a:xfrm>
            <a:off x="576072" y="3794760"/>
            <a:ext cx="2148840" cy="365760"/>
          </a:xfrm>
          <a:prstGeom prst="rect">
            <a:avLst/>
          </a:prstGeom>
          <a:noFill/>
          <a:ln/>
        </p:spPr>
        <p:txBody>
          <a:bodyPr wrap="square" lIns="0" tIns="0" rIns="0" bIns="0" rtlCol="0" anchor="ctr"/>
          <a:lstStyle/>
          <a:p>
            <a:pPr marL="0" indent="0">
              <a:buNone/>
            </a:pPr>
            <a:r>
              <a:rPr lang="en-US" sz="900" dirty="0">
                <a:solidFill>
                  <a:srgbClr val="FFFFFF"/>
                </a:solidFill>
                <a:latin typeface="Courier New" pitchFamily="34" charset="0"/>
                <a:ea typeface="Courier New" pitchFamily="34" charset="-122"/>
                <a:cs typeface="Courier New" pitchFamily="34" charset="-120"/>
              </a:rPr>
              <a:t>coordinator_finalizer_completed</a:t>
            </a:r>
            <a:endParaRPr lang="en-US" sz="900" dirty="0"/>
          </a:p>
        </p:txBody>
      </p:sp>
      <p:sp>
        <p:nvSpPr>
          <p:cNvPr id="36" name="Shape 34"/>
          <p:cNvSpPr/>
          <p:nvPr/>
        </p:nvSpPr>
        <p:spPr>
          <a:xfrm>
            <a:off x="2788920" y="3794760"/>
            <a:ext cx="6309360" cy="365760"/>
          </a:xfrm>
          <a:prstGeom prst="rect">
            <a:avLst/>
          </a:prstGeom>
          <a:solidFill>
            <a:srgbClr val="F5F5F5"/>
          </a:solidFill>
          <a:ln w="3810">
            <a:solidFill>
              <a:srgbClr val="F0F0F0"/>
            </a:solidFill>
            <a:prstDash val="solid"/>
          </a:ln>
        </p:spPr>
        <p:txBody>
          <a:bodyPr/>
          <a:lstStyle/>
          <a:p>
            <a:endParaRPr lang="en-US"/>
          </a:p>
        </p:txBody>
      </p:sp>
      <p:sp>
        <p:nvSpPr>
          <p:cNvPr id="37" name="Text 35"/>
          <p:cNvSpPr/>
          <p:nvPr/>
        </p:nvSpPr>
        <p:spPr>
          <a:xfrm>
            <a:off x="2880360" y="3794760"/>
            <a:ext cx="6126480" cy="36576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phase_end — label='Final synthesis complete'</a:t>
            </a:r>
            <a:endParaRPr lang="en-US" sz="950" dirty="0"/>
          </a:p>
        </p:txBody>
      </p:sp>
      <p:sp>
        <p:nvSpPr>
          <p:cNvPr id="38" name="Shape 36"/>
          <p:cNvSpPr/>
          <p:nvPr/>
        </p:nvSpPr>
        <p:spPr>
          <a:xfrm>
            <a:off x="502920" y="4197096"/>
            <a:ext cx="2286000" cy="365760"/>
          </a:xfrm>
          <a:prstGeom prst="rect">
            <a:avLst/>
          </a:prstGeom>
          <a:solidFill>
            <a:srgbClr val="1B2A4A"/>
          </a:solidFill>
          <a:ln/>
        </p:spPr>
        <p:txBody>
          <a:bodyPr/>
          <a:lstStyle/>
          <a:p>
            <a:endParaRPr lang="en-US"/>
          </a:p>
        </p:txBody>
      </p:sp>
      <p:sp>
        <p:nvSpPr>
          <p:cNvPr id="39" name="Text 37"/>
          <p:cNvSpPr/>
          <p:nvPr/>
        </p:nvSpPr>
        <p:spPr>
          <a:xfrm>
            <a:off x="576072" y="4197096"/>
            <a:ext cx="2148840" cy="365760"/>
          </a:xfrm>
          <a:prstGeom prst="rect">
            <a:avLst/>
          </a:prstGeom>
          <a:noFill/>
          <a:ln/>
        </p:spPr>
        <p:txBody>
          <a:bodyPr wrap="square" lIns="0" tIns="0" rIns="0" bIns="0" rtlCol="0" anchor="ctr"/>
          <a:lstStyle/>
          <a:p>
            <a:pPr marL="0" indent="0">
              <a:buNone/>
            </a:pPr>
            <a:r>
              <a:rPr lang="en-US" sz="900" dirty="0">
                <a:solidFill>
                  <a:srgbClr val="FFFFFF"/>
                </a:solidFill>
                <a:latin typeface="Courier New" pitchFamily="34" charset="0"/>
                <a:ea typeface="Courier New" pitchFamily="34" charset="-122"/>
                <a:cs typeface="Courier New" pitchFamily="34" charset="-120"/>
              </a:rPr>
              <a:t>tool_call_started / ended</a:t>
            </a:r>
            <a:endParaRPr lang="en-US" sz="900" dirty="0"/>
          </a:p>
        </p:txBody>
      </p:sp>
      <p:sp>
        <p:nvSpPr>
          <p:cNvPr id="40" name="Shape 38"/>
          <p:cNvSpPr/>
          <p:nvPr/>
        </p:nvSpPr>
        <p:spPr>
          <a:xfrm>
            <a:off x="2788920" y="4197096"/>
            <a:ext cx="6309360" cy="365760"/>
          </a:xfrm>
          <a:prstGeom prst="rect">
            <a:avLst/>
          </a:prstGeom>
          <a:solidFill>
            <a:srgbClr val="F5F5F5"/>
          </a:solidFill>
          <a:ln w="3810">
            <a:solidFill>
              <a:srgbClr val="F0F0F0"/>
            </a:solidFill>
            <a:prstDash val="solid"/>
          </a:ln>
        </p:spPr>
        <p:txBody>
          <a:bodyPr/>
          <a:lstStyle/>
          <a:p>
            <a:endParaRPr lang="en-US"/>
          </a:p>
        </p:txBody>
      </p:sp>
      <p:sp>
        <p:nvSpPr>
          <p:cNvPr id="41" name="Text 39"/>
          <p:cNvSpPr/>
          <p:nvPr/>
        </p:nvSpPr>
        <p:spPr>
          <a:xfrm>
            <a:off x="2880360" y="4197096"/>
            <a:ext cx="6126480" cy="36576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tool_start / tool_end — tool_name, args preview, output preview</a:t>
            </a:r>
            <a:endParaRPr lang="en-US" sz="950" dirty="0"/>
          </a:p>
        </p:txBody>
      </p:sp>
      <p:sp>
        <p:nvSpPr>
          <p:cNvPr id="42" name="Text 40"/>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api/live_progress.py — LiveProgressSink, api/progress_callback.py</a:t>
            </a:r>
            <a:endParaRPr lang="en-US" sz="9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Provider Bundle &amp; Per-Agent Model Overrides</a:t>
            </a:r>
            <a:endParaRPr lang="en-US" sz="2600" dirty="0"/>
          </a:p>
        </p:txBody>
      </p:sp>
      <p:sp>
        <p:nvSpPr>
          <p:cNvPr id="3" name="Text 1"/>
          <p:cNvSpPr/>
          <p:nvPr/>
        </p:nvSpPr>
        <p:spPr>
          <a:xfrm>
            <a:off x="502920" y="841248"/>
            <a:ext cx="8138160" cy="347472"/>
          </a:xfrm>
          <a:prstGeom prst="rect">
            <a:avLst/>
          </a:prstGeom>
          <a:noFill/>
          <a:ln/>
        </p:spPr>
        <p:txBody>
          <a:bodyPr wrap="square" lIns="0" tIns="0" rIns="0" bIns="0" rtlCol="0" anchor="ctr"/>
          <a:lstStyle/>
          <a:p>
            <a:pPr marL="0" indent="0">
              <a:buNone/>
            </a:pPr>
            <a:r>
              <a:rPr lang="en-US" sz="1050" dirty="0">
                <a:solidFill>
                  <a:srgbClr val="1B2A4A"/>
                </a:solidFill>
                <a:latin typeface="Arial" pitchFamily="34" charset="0"/>
                <a:ea typeface="Arial" pitchFamily="34" charset="-122"/>
                <a:cs typeface="Arial" pitchFamily="34" charset="-120"/>
              </a:rPr>
              <a:t>providers/factory.py builds and caches LLM provider instances per agent. Each agent can use a different model — no code changes needed, just config.</a:t>
            </a:r>
            <a:endParaRPr lang="en-US" sz="1050" dirty="0"/>
          </a:p>
        </p:txBody>
      </p:sp>
      <p:sp>
        <p:nvSpPr>
          <p:cNvPr id="4" name="Shape 2"/>
          <p:cNvSpPr/>
          <p:nvPr/>
        </p:nvSpPr>
        <p:spPr>
          <a:xfrm>
            <a:off x="502920" y="1261872"/>
            <a:ext cx="4023360" cy="21031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261872"/>
            <a:ext cx="4023360" cy="320040"/>
          </a:xfrm>
          <a:prstGeom prst="rect">
            <a:avLst/>
          </a:prstGeom>
          <a:solidFill>
            <a:srgbClr val="0097A7"/>
          </a:solidFill>
          <a:ln/>
        </p:spPr>
        <p:txBody>
          <a:bodyPr/>
          <a:lstStyle/>
          <a:p>
            <a:endParaRPr lang="en-US"/>
          </a:p>
        </p:txBody>
      </p:sp>
      <p:sp>
        <p:nvSpPr>
          <p:cNvPr id="6" name="Text 4"/>
          <p:cNvSpPr/>
          <p:nvPr/>
        </p:nvSpPr>
        <p:spPr>
          <a:xfrm>
            <a:off x="612648" y="1289304"/>
            <a:ext cx="380390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AgentProviderResolver</a:t>
            </a:r>
            <a:endParaRPr lang="en-US" sz="1200" dirty="0"/>
          </a:p>
        </p:txBody>
      </p:sp>
      <p:sp>
        <p:nvSpPr>
          <p:cNvPr id="7" name="Text 5"/>
          <p:cNvSpPr/>
          <p:nvPr/>
        </p:nvSpPr>
        <p:spPr>
          <a:xfrm>
            <a:off x="612648" y="1645920"/>
            <a:ext cx="3803904" cy="162763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factory = AgentProviderResolver(settings)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bundle = factory.for_agent(agent_name, chat_max_output_tokens)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Returns ProviderBundle: chat_llm, judge_llm, embeddings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LRU cache key: (llm_provider, judge_provider, chat_model, judge_model, chat_cap, judge_cap). Prevents rebuilding identical providers across requests.</a:t>
            </a:r>
            <a:endParaRPr lang="en-US" sz="1000" dirty="0"/>
          </a:p>
        </p:txBody>
      </p:sp>
      <p:sp>
        <p:nvSpPr>
          <p:cNvPr id="8" name="Shape 6"/>
          <p:cNvSpPr/>
          <p:nvPr/>
        </p:nvSpPr>
        <p:spPr>
          <a:xfrm>
            <a:off x="4709160" y="1261872"/>
            <a:ext cx="4434840" cy="21031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4709160" y="1261872"/>
            <a:ext cx="4434840" cy="320040"/>
          </a:xfrm>
          <a:prstGeom prst="rect">
            <a:avLst/>
          </a:prstGeom>
          <a:solidFill>
            <a:srgbClr val="1B2A4A"/>
          </a:solidFill>
          <a:ln/>
        </p:spPr>
        <p:txBody>
          <a:bodyPr/>
          <a:lstStyle/>
          <a:p>
            <a:endParaRPr lang="en-US"/>
          </a:p>
        </p:txBody>
      </p:sp>
      <p:sp>
        <p:nvSpPr>
          <p:cNvPr id="10" name="Text 8"/>
          <p:cNvSpPr/>
          <p:nvPr/>
        </p:nvSpPr>
        <p:spPr>
          <a:xfrm>
            <a:off x="4818888" y="1289304"/>
            <a:ext cx="42153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Per-Agent Model Config (config.py)</a:t>
            </a:r>
            <a:endParaRPr lang="en-US" sz="1200" dirty="0"/>
          </a:p>
        </p:txBody>
      </p:sp>
      <p:sp>
        <p:nvSpPr>
          <p:cNvPr id="11" name="Text 9"/>
          <p:cNvSpPr/>
          <p:nvPr/>
        </p:nvSpPr>
        <p:spPr>
          <a:xfrm>
            <a:off x="4818888" y="1645920"/>
            <a:ext cx="4215384" cy="162763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agent_chat_model_overrides: dict
  e.g. data_analyst → gpt-4o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agent_judge_model_overrides: dict
  e.g. rag_worker → gpt-4o-mini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normalise_agent_name() converts kebab→snake before lookup.</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Fallback: global llm_model / judge_model.</a:t>
            </a:r>
            <a:endParaRPr lang="en-US" sz="1000" dirty="0"/>
          </a:p>
        </p:txBody>
      </p:sp>
      <p:sp>
        <p:nvSpPr>
          <p:cNvPr id="12" name="Shape 10"/>
          <p:cNvSpPr/>
          <p:nvPr/>
        </p:nvSpPr>
        <p:spPr>
          <a:xfrm>
            <a:off x="502920" y="3520440"/>
            <a:ext cx="8138160" cy="411480"/>
          </a:xfrm>
          <a:prstGeom prst="rect">
            <a:avLst/>
          </a:prstGeom>
          <a:solidFill>
            <a:srgbClr val="E0F7FA"/>
          </a:solidFill>
          <a:ln w="12700">
            <a:solidFill>
              <a:srgbClr val="0097A7"/>
            </a:solidFill>
            <a:prstDash val="solid"/>
          </a:ln>
        </p:spPr>
        <p:txBody>
          <a:bodyPr/>
          <a:lstStyle/>
          <a:p>
            <a:endParaRPr lang="en-US"/>
          </a:p>
        </p:txBody>
      </p:sp>
      <p:sp>
        <p:nvSpPr>
          <p:cNvPr id="13" name="Text 11"/>
          <p:cNvSpPr/>
          <p:nvPr/>
        </p:nvSpPr>
        <p:spPr>
          <a:xfrm>
            <a:off x="594360" y="3520440"/>
            <a:ext cx="7955280" cy="41148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ProviderBundle carries .chat_llm, .judge_llm, and .embeddings. Only chat_llm changes per agent — judge and embeddings are shared unless explicitly overridden.</a:t>
            </a:r>
            <a:endParaRPr lang="en-US" sz="1000" dirty="0"/>
          </a:p>
        </p:txBody>
      </p:sp>
      <p:sp>
        <p:nvSpPr>
          <p:cNvPr id="14" name="Text 12"/>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providers/factory.py — AgentProviderResolver, ProviderBundle, providers/llm_factory.py</a:t>
            </a:r>
            <a:endParaRPr lang="en-US" sz="9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Token Cap Resolution &amp; Provider Preflight Validation</a:t>
            </a:r>
            <a:endParaRPr lang="en-US" sz="2600" dirty="0"/>
          </a:p>
        </p:txBody>
      </p:sp>
      <p:sp>
        <p:nvSpPr>
          <p:cNvPr id="3" name="Shape 1"/>
          <p:cNvSpPr/>
          <p:nvPr/>
        </p:nvSpPr>
        <p:spPr>
          <a:xfrm>
            <a:off x="502920" y="914400"/>
            <a:ext cx="4206240" cy="320040"/>
          </a:xfrm>
          <a:prstGeom prst="rect">
            <a:avLst/>
          </a:prstGeom>
          <a:solidFill>
            <a:srgbClr val="1B2A4A"/>
          </a:solidFill>
          <a:ln/>
        </p:spPr>
        <p:txBody>
          <a:bodyPr/>
          <a:lstStyle/>
          <a:p>
            <a:endParaRPr lang="en-US"/>
          </a:p>
        </p:txBody>
      </p:sp>
      <p:sp>
        <p:nvSpPr>
          <p:cNvPr id="4" name="Text 2"/>
          <p:cNvSpPr/>
          <p:nvPr/>
        </p:nvSpPr>
        <p:spPr>
          <a:xfrm>
            <a:off x="576072" y="914400"/>
            <a:ext cx="4059936" cy="320040"/>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Output Token Cap — Priority Chain (providers/output_limits.py)</a:t>
            </a:r>
            <a:endParaRPr lang="en-US" sz="1000" dirty="0"/>
          </a:p>
        </p:txBody>
      </p:sp>
      <p:sp>
        <p:nvSpPr>
          <p:cNvPr id="5" name="Shape 3"/>
          <p:cNvSpPr/>
          <p:nvPr/>
        </p:nvSpPr>
        <p:spPr>
          <a:xfrm>
            <a:off x="502920" y="1280160"/>
            <a:ext cx="274320" cy="347472"/>
          </a:xfrm>
          <a:prstGeom prst="rect">
            <a:avLst/>
          </a:prstGeom>
          <a:solidFill>
            <a:srgbClr val="0097A7"/>
          </a:solidFill>
          <a:ln/>
        </p:spPr>
        <p:txBody>
          <a:bodyPr/>
          <a:lstStyle/>
          <a:p>
            <a:endParaRPr lang="en-US"/>
          </a:p>
        </p:txBody>
      </p:sp>
      <p:sp>
        <p:nvSpPr>
          <p:cNvPr id="6" name="Text 4"/>
          <p:cNvSpPr/>
          <p:nvPr/>
        </p:nvSpPr>
        <p:spPr>
          <a:xfrm>
            <a:off x="502920" y="1280160"/>
            <a:ext cx="274320"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7" name="Shape 5"/>
          <p:cNvSpPr/>
          <p:nvPr/>
        </p:nvSpPr>
        <p:spPr>
          <a:xfrm>
            <a:off x="777240" y="1280160"/>
            <a:ext cx="3931920" cy="347472"/>
          </a:xfrm>
          <a:prstGeom prst="rect">
            <a:avLst/>
          </a:prstGeom>
          <a:solidFill>
            <a:srgbClr val="F5F5F5"/>
          </a:solidFill>
          <a:ln w="3810">
            <a:solidFill>
              <a:srgbClr val="F0F0F0"/>
            </a:solidFill>
            <a:prstDash val="solid"/>
          </a:ln>
        </p:spPr>
        <p:txBody>
          <a:bodyPr/>
          <a:lstStyle/>
          <a:p>
            <a:endParaRPr lang="en-US"/>
          </a:p>
        </p:txBody>
      </p:sp>
      <p:sp>
        <p:nvSpPr>
          <p:cNvPr id="8" name="Text 6"/>
          <p:cNvSpPr/>
          <p:nvPr/>
        </p:nvSpPr>
        <p:spPr>
          <a:xfrm>
            <a:off x="850392" y="1280160"/>
            <a:ext cx="3794760" cy="34747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Request param — max_tokens in the API request body</a:t>
            </a:r>
            <a:endParaRPr lang="en-US" sz="950" dirty="0"/>
          </a:p>
        </p:txBody>
      </p:sp>
      <p:sp>
        <p:nvSpPr>
          <p:cNvPr id="9" name="Shape 7"/>
          <p:cNvSpPr/>
          <p:nvPr/>
        </p:nvSpPr>
        <p:spPr>
          <a:xfrm>
            <a:off x="502920" y="1636776"/>
            <a:ext cx="274320" cy="347472"/>
          </a:xfrm>
          <a:prstGeom prst="rect">
            <a:avLst/>
          </a:prstGeom>
          <a:solidFill>
            <a:srgbClr val="0097A7"/>
          </a:solidFill>
          <a:ln/>
        </p:spPr>
        <p:txBody>
          <a:bodyPr/>
          <a:lstStyle/>
          <a:p>
            <a:endParaRPr lang="en-US"/>
          </a:p>
        </p:txBody>
      </p:sp>
      <p:sp>
        <p:nvSpPr>
          <p:cNvPr id="10" name="Text 8"/>
          <p:cNvSpPr/>
          <p:nvPr/>
        </p:nvSpPr>
        <p:spPr>
          <a:xfrm>
            <a:off x="502920" y="1636776"/>
            <a:ext cx="274320"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11" name="Shape 9"/>
          <p:cNvSpPr/>
          <p:nvPr/>
        </p:nvSpPr>
        <p:spPr>
          <a:xfrm>
            <a:off x="777240" y="1636776"/>
            <a:ext cx="3931920" cy="347472"/>
          </a:xfrm>
          <a:prstGeom prst="rect">
            <a:avLst/>
          </a:prstGeom>
          <a:solidFill>
            <a:srgbClr val="FFFFFF"/>
          </a:solidFill>
          <a:ln w="3810">
            <a:solidFill>
              <a:srgbClr val="F0F0F0"/>
            </a:solidFill>
            <a:prstDash val="solid"/>
          </a:ln>
        </p:spPr>
        <p:txBody>
          <a:bodyPr/>
          <a:lstStyle/>
          <a:p>
            <a:endParaRPr lang="en-US"/>
          </a:p>
        </p:txBody>
      </p:sp>
      <p:sp>
        <p:nvSpPr>
          <p:cNvPr id="12" name="Text 10"/>
          <p:cNvSpPr/>
          <p:nvPr/>
        </p:nvSpPr>
        <p:spPr>
          <a:xfrm>
            <a:off x="850392" y="1636776"/>
            <a:ext cx="3794760" cy="34747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Agent-specific — agent_chat_max_output_tokens[agent_name]</a:t>
            </a:r>
            <a:endParaRPr lang="en-US" sz="950" dirty="0"/>
          </a:p>
        </p:txBody>
      </p:sp>
      <p:sp>
        <p:nvSpPr>
          <p:cNvPr id="13" name="Shape 11"/>
          <p:cNvSpPr/>
          <p:nvPr/>
        </p:nvSpPr>
        <p:spPr>
          <a:xfrm>
            <a:off x="502920" y="1993392"/>
            <a:ext cx="274320" cy="347472"/>
          </a:xfrm>
          <a:prstGeom prst="rect">
            <a:avLst/>
          </a:prstGeom>
          <a:solidFill>
            <a:srgbClr val="0097A7"/>
          </a:solidFill>
          <a:ln/>
        </p:spPr>
        <p:txBody>
          <a:bodyPr/>
          <a:lstStyle/>
          <a:p>
            <a:endParaRPr lang="en-US"/>
          </a:p>
        </p:txBody>
      </p:sp>
      <p:sp>
        <p:nvSpPr>
          <p:cNvPr id="14" name="Text 12"/>
          <p:cNvSpPr/>
          <p:nvPr/>
        </p:nvSpPr>
        <p:spPr>
          <a:xfrm>
            <a:off x="502920" y="1993392"/>
            <a:ext cx="274320"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15" name="Shape 13"/>
          <p:cNvSpPr/>
          <p:nvPr/>
        </p:nvSpPr>
        <p:spPr>
          <a:xfrm>
            <a:off x="777240" y="1993392"/>
            <a:ext cx="3931920" cy="347472"/>
          </a:xfrm>
          <a:prstGeom prst="rect">
            <a:avLst/>
          </a:prstGeom>
          <a:solidFill>
            <a:srgbClr val="F5F5F5"/>
          </a:solidFill>
          <a:ln w="3810">
            <a:solidFill>
              <a:srgbClr val="F0F0F0"/>
            </a:solidFill>
            <a:prstDash val="solid"/>
          </a:ln>
        </p:spPr>
        <p:txBody>
          <a:bodyPr/>
          <a:lstStyle/>
          <a:p>
            <a:endParaRPr lang="en-US"/>
          </a:p>
        </p:txBody>
      </p:sp>
      <p:sp>
        <p:nvSpPr>
          <p:cNvPr id="16" name="Text 14"/>
          <p:cNvSpPr/>
          <p:nvPr/>
        </p:nvSpPr>
        <p:spPr>
          <a:xfrm>
            <a:off x="850392" y="1993392"/>
            <a:ext cx="3794760" cy="34747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Demo cap — demo_chat_max_output_tokens (test/demo env)</a:t>
            </a:r>
            <a:endParaRPr lang="en-US" sz="950" dirty="0"/>
          </a:p>
        </p:txBody>
      </p:sp>
      <p:sp>
        <p:nvSpPr>
          <p:cNvPr id="17" name="Shape 15"/>
          <p:cNvSpPr/>
          <p:nvPr/>
        </p:nvSpPr>
        <p:spPr>
          <a:xfrm>
            <a:off x="502920" y="2350008"/>
            <a:ext cx="274320" cy="347472"/>
          </a:xfrm>
          <a:prstGeom prst="rect">
            <a:avLst/>
          </a:prstGeom>
          <a:solidFill>
            <a:srgbClr val="0097A7"/>
          </a:solidFill>
          <a:ln/>
        </p:spPr>
        <p:txBody>
          <a:bodyPr/>
          <a:lstStyle/>
          <a:p>
            <a:endParaRPr lang="en-US"/>
          </a:p>
        </p:txBody>
      </p:sp>
      <p:sp>
        <p:nvSpPr>
          <p:cNvPr id="18" name="Text 16"/>
          <p:cNvSpPr/>
          <p:nvPr/>
        </p:nvSpPr>
        <p:spPr>
          <a:xfrm>
            <a:off x="502920" y="2350008"/>
            <a:ext cx="274320"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19" name="Shape 17"/>
          <p:cNvSpPr/>
          <p:nvPr/>
        </p:nvSpPr>
        <p:spPr>
          <a:xfrm>
            <a:off x="777240" y="2350008"/>
            <a:ext cx="3931920" cy="347472"/>
          </a:xfrm>
          <a:prstGeom prst="rect">
            <a:avLst/>
          </a:prstGeom>
          <a:solidFill>
            <a:srgbClr val="FFFFFF"/>
          </a:solidFill>
          <a:ln w="3810">
            <a:solidFill>
              <a:srgbClr val="F0F0F0"/>
            </a:solidFill>
            <a:prstDash val="solid"/>
          </a:ln>
        </p:spPr>
        <p:txBody>
          <a:bodyPr/>
          <a:lstStyle/>
          <a:p>
            <a:endParaRPr lang="en-US"/>
          </a:p>
        </p:txBody>
      </p:sp>
      <p:sp>
        <p:nvSpPr>
          <p:cNvPr id="20" name="Text 18"/>
          <p:cNvSpPr/>
          <p:nvPr/>
        </p:nvSpPr>
        <p:spPr>
          <a:xfrm>
            <a:off x="850392" y="2350008"/>
            <a:ext cx="3794760" cy="34747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Global cap — chat_max_output_tokens setting</a:t>
            </a:r>
            <a:endParaRPr lang="en-US" sz="950" dirty="0"/>
          </a:p>
        </p:txBody>
      </p:sp>
      <p:sp>
        <p:nvSpPr>
          <p:cNvPr id="21" name="Shape 19"/>
          <p:cNvSpPr/>
          <p:nvPr/>
        </p:nvSpPr>
        <p:spPr>
          <a:xfrm>
            <a:off x="502920" y="2706624"/>
            <a:ext cx="274320" cy="347472"/>
          </a:xfrm>
          <a:prstGeom prst="rect">
            <a:avLst/>
          </a:prstGeom>
          <a:solidFill>
            <a:srgbClr val="0097A7"/>
          </a:solidFill>
          <a:ln/>
        </p:spPr>
        <p:txBody>
          <a:bodyPr/>
          <a:lstStyle/>
          <a:p>
            <a:endParaRPr lang="en-US"/>
          </a:p>
        </p:txBody>
      </p:sp>
      <p:sp>
        <p:nvSpPr>
          <p:cNvPr id="22" name="Text 20"/>
          <p:cNvSpPr/>
          <p:nvPr/>
        </p:nvSpPr>
        <p:spPr>
          <a:xfrm>
            <a:off x="502920" y="2706624"/>
            <a:ext cx="274320"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23" name="Shape 21"/>
          <p:cNvSpPr/>
          <p:nvPr/>
        </p:nvSpPr>
        <p:spPr>
          <a:xfrm>
            <a:off x="777240" y="2706624"/>
            <a:ext cx="3931920" cy="347472"/>
          </a:xfrm>
          <a:prstGeom prst="rect">
            <a:avLst/>
          </a:prstGeom>
          <a:solidFill>
            <a:srgbClr val="F5F5F5"/>
          </a:solidFill>
          <a:ln w="3810">
            <a:solidFill>
              <a:srgbClr val="F0F0F0"/>
            </a:solidFill>
            <a:prstDash val="solid"/>
          </a:ln>
        </p:spPr>
        <p:txBody>
          <a:bodyPr/>
          <a:lstStyle/>
          <a:p>
            <a:endParaRPr lang="en-US"/>
          </a:p>
        </p:txBody>
      </p:sp>
      <p:sp>
        <p:nvSpPr>
          <p:cNvPr id="24" name="Text 22"/>
          <p:cNvSpPr/>
          <p:nvPr/>
        </p:nvSpPr>
        <p:spPr>
          <a:xfrm>
            <a:off x="850392" y="2706624"/>
            <a:ext cx="3794760" cy="34747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Legacy fallback — ollama_num_predict (backward compat)</a:t>
            </a:r>
            <a:endParaRPr lang="en-US" sz="950" dirty="0"/>
          </a:p>
        </p:txBody>
      </p:sp>
      <p:sp>
        <p:nvSpPr>
          <p:cNvPr id="25" name="Shape 23"/>
          <p:cNvSpPr/>
          <p:nvPr/>
        </p:nvSpPr>
        <p:spPr>
          <a:xfrm>
            <a:off x="4892040" y="914400"/>
            <a:ext cx="3749040" cy="320040"/>
          </a:xfrm>
          <a:prstGeom prst="rect">
            <a:avLst/>
          </a:prstGeom>
          <a:solidFill>
            <a:srgbClr val="00796B"/>
          </a:solidFill>
          <a:ln/>
        </p:spPr>
        <p:txBody>
          <a:bodyPr/>
          <a:lstStyle/>
          <a:p>
            <a:endParaRPr lang="en-US"/>
          </a:p>
        </p:txBody>
      </p:sp>
      <p:sp>
        <p:nvSpPr>
          <p:cNvPr id="26" name="Text 24"/>
          <p:cNvSpPr/>
          <p:nvPr/>
        </p:nvSpPr>
        <p:spPr>
          <a:xfrm>
            <a:off x="4965192" y="914400"/>
            <a:ext cx="3602736" cy="320040"/>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Preflight Validation (providers/dependency_checks.py)</a:t>
            </a:r>
            <a:endParaRPr lang="en-US" sz="1000" dirty="0"/>
          </a:p>
        </p:txBody>
      </p:sp>
      <p:sp>
        <p:nvSpPr>
          <p:cNvPr id="27" name="Shape 25"/>
          <p:cNvSpPr/>
          <p:nvPr/>
        </p:nvSpPr>
        <p:spPr>
          <a:xfrm>
            <a:off x="4892040" y="1280160"/>
            <a:ext cx="3749040" cy="347472"/>
          </a:xfrm>
          <a:prstGeom prst="rect">
            <a:avLst/>
          </a:prstGeom>
          <a:solidFill>
            <a:srgbClr val="F5F5F5"/>
          </a:solidFill>
          <a:ln w="3810">
            <a:solidFill>
              <a:srgbClr val="F0F0F0"/>
            </a:solidFill>
            <a:prstDash val="solid"/>
          </a:ln>
        </p:spPr>
        <p:txBody>
          <a:bodyPr/>
          <a:lstStyle/>
          <a:p>
            <a:endParaRPr lang="en-US"/>
          </a:p>
        </p:txBody>
      </p:sp>
      <p:sp>
        <p:nvSpPr>
          <p:cNvPr id="28" name="Text 26"/>
          <p:cNvSpPr/>
          <p:nvPr/>
        </p:nvSpPr>
        <p:spPr>
          <a:xfrm>
            <a:off x="4983480" y="1280160"/>
            <a:ext cx="3566160" cy="34747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Package check: langchain_ollama / langchain_openai installed for configured provider?</a:t>
            </a:r>
            <a:endParaRPr lang="en-US" sz="900" dirty="0"/>
          </a:p>
        </p:txBody>
      </p:sp>
      <p:sp>
        <p:nvSpPr>
          <p:cNvPr id="29" name="Shape 27"/>
          <p:cNvSpPr/>
          <p:nvPr/>
        </p:nvSpPr>
        <p:spPr>
          <a:xfrm>
            <a:off x="4892040" y="1636776"/>
            <a:ext cx="3749040" cy="347472"/>
          </a:xfrm>
          <a:prstGeom prst="rect">
            <a:avLst/>
          </a:prstGeom>
          <a:solidFill>
            <a:srgbClr val="FFFFFF"/>
          </a:solidFill>
          <a:ln w="3810">
            <a:solidFill>
              <a:srgbClr val="F0F0F0"/>
            </a:solidFill>
            <a:prstDash val="solid"/>
          </a:ln>
        </p:spPr>
        <p:txBody>
          <a:bodyPr/>
          <a:lstStyle/>
          <a:p>
            <a:endParaRPr lang="en-US"/>
          </a:p>
        </p:txBody>
      </p:sp>
      <p:sp>
        <p:nvSpPr>
          <p:cNvPr id="30" name="Text 28"/>
          <p:cNvSpPr/>
          <p:nvPr/>
        </p:nvSpPr>
        <p:spPr>
          <a:xfrm>
            <a:off x="4983480" y="1636776"/>
            <a:ext cx="3566160" cy="34747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Azure format: HTTPS endpoint, API_KEY, ENDPOINT, deployment names present?</a:t>
            </a:r>
            <a:endParaRPr lang="en-US" sz="900" dirty="0"/>
          </a:p>
        </p:txBody>
      </p:sp>
      <p:sp>
        <p:nvSpPr>
          <p:cNvPr id="31" name="Shape 29"/>
          <p:cNvSpPr/>
          <p:nvPr/>
        </p:nvSpPr>
        <p:spPr>
          <a:xfrm>
            <a:off x="4892040" y="1993392"/>
            <a:ext cx="3749040" cy="347472"/>
          </a:xfrm>
          <a:prstGeom prst="rect">
            <a:avLst/>
          </a:prstGeom>
          <a:solidFill>
            <a:srgbClr val="F5F5F5"/>
          </a:solidFill>
          <a:ln w="3810">
            <a:solidFill>
              <a:srgbClr val="F0F0F0"/>
            </a:solidFill>
            <a:prstDash val="solid"/>
          </a:ln>
        </p:spPr>
        <p:txBody>
          <a:bodyPr/>
          <a:lstStyle/>
          <a:p>
            <a:endParaRPr lang="en-US"/>
          </a:p>
        </p:txBody>
      </p:sp>
      <p:sp>
        <p:nvSpPr>
          <p:cNvPr id="32" name="Text 30"/>
          <p:cNvSpPr/>
          <p:nvPr/>
        </p:nvSpPr>
        <p:spPr>
          <a:xfrm>
            <a:off x="4983480" y="1993392"/>
            <a:ext cx="3566160" cy="34747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Embedding dim: 1536 for ada-002; mismatches rejected before ingestion</a:t>
            </a:r>
            <a:endParaRPr lang="en-US" sz="900" dirty="0"/>
          </a:p>
        </p:txBody>
      </p:sp>
      <p:sp>
        <p:nvSpPr>
          <p:cNvPr id="33" name="Shape 31"/>
          <p:cNvSpPr/>
          <p:nvPr/>
        </p:nvSpPr>
        <p:spPr>
          <a:xfrm>
            <a:off x="4892040" y="2350008"/>
            <a:ext cx="3749040" cy="347472"/>
          </a:xfrm>
          <a:prstGeom prst="rect">
            <a:avLst/>
          </a:prstGeom>
          <a:solidFill>
            <a:srgbClr val="FFFFFF"/>
          </a:solidFill>
          <a:ln w="3810">
            <a:solidFill>
              <a:srgbClr val="F0F0F0"/>
            </a:solidFill>
            <a:prstDash val="solid"/>
          </a:ln>
        </p:spPr>
        <p:txBody>
          <a:bodyPr/>
          <a:lstStyle/>
          <a:p>
            <a:endParaRPr lang="en-US"/>
          </a:p>
        </p:txBody>
      </p:sp>
      <p:sp>
        <p:nvSpPr>
          <p:cNvPr id="34" name="Text 32"/>
          <p:cNvSpPr/>
          <p:nvPr/>
        </p:nvSpPr>
        <p:spPr>
          <a:xfrm>
            <a:off x="4983480" y="2350008"/>
            <a:ext cx="3566160" cy="34747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NVIDIA endpoint: URL format + tokens/models; embedding not supported</a:t>
            </a:r>
            <a:endParaRPr lang="en-US" sz="900" dirty="0"/>
          </a:p>
        </p:txBody>
      </p:sp>
      <p:sp>
        <p:nvSpPr>
          <p:cNvPr id="35" name="Shape 33"/>
          <p:cNvSpPr/>
          <p:nvPr/>
        </p:nvSpPr>
        <p:spPr>
          <a:xfrm>
            <a:off x="4892040" y="2706624"/>
            <a:ext cx="3749040" cy="347472"/>
          </a:xfrm>
          <a:prstGeom prst="rect">
            <a:avLst/>
          </a:prstGeom>
          <a:solidFill>
            <a:srgbClr val="F5F5F5"/>
          </a:solidFill>
          <a:ln w="3810">
            <a:solidFill>
              <a:srgbClr val="F0F0F0"/>
            </a:solidFill>
            <a:prstDash val="solid"/>
          </a:ln>
        </p:spPr>
        <p:txBody>
          <a:bodyPr/>
          <a:lstStyle/>
          <a:p>
            <a:endParaRPr lang="en-US"/>
          </a:p>
        </p:txBody>
      </p:sp>
      <p:sp>
        <p:nvSpPr>
          <p:cNvPr id="36" name="Text 34"/>
          <p:cNvSpPr/>
          <p:nvPr/>
        </p:nvSpPr>
        <p:spPr>
          <a:xfrm>
            <a:off x="4983480" y="2706624"/>
            <a:ext cx="3566160" cy="34747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SSL cert: File existence check if ssl_cert_path configured</a:t>
            </a:r>
            <a:endParaRPr lang="en-US" sz="900" dirty="0"/>
          </a:p>
        </p:txBody>
      </p:sp>
      <p:sp>
        <p:nvSpPr>
          <p:cNvPr id="37" name="Shape 35"/>
          <p:cNvSpPr/>
          <p:nvPr/>
        </p:nvSpPr>
        <p:spPr>
          <a:xfrm>
            <a:off x="502920" y="3520440"/>
            <a:ext cx="8138160" cy="411480"/>
          </a:xfrm>
          <a:prstGeom prst="rect">
            <a:avLst/>
          </a:prstGeom>
          <a:solidFill>
            <a:srgbClr val="E0F7FA"/>
          </a:solidFill>
          <a:ln w="12700">
            <a:solidFill>
              <a:srgbClr val="0097A7"/>
            </a:solidFill>
            <a:prstDash val="solid"/>
          </a:ln>
        </p:spPr>
        <p:txBody>
          <a:bodyPr/>
          <a:lstStyle/>
          <a:p>
            <a:endParaRPr lang="en-US"/>
          </a:p>
        </p:txBody>
      </p:sp>
      <p:sp>
        <p:nvSpPr>
          <p:cNvPr id="38" name="Text 36"/>
          <p:cNvSpPr/>
          <p:nvPr/>
        </p:nvSpPr>
        <p:spPr>
          <a:xfrm>
            <a:off x="594360" y="3520440"/>
            <a:ext cx="7955280" cy="41148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If validation fails, ProviderDependencyError or ProviderConfigurationError is raised at startup with a structured message including context, config key, and remediation hint (e.g. 'pip install langchain-ollama').</a:t>
            </a:r>
            <a:endParaRPr lang="en-US" sz="1000" dirty="0"/>
          </a:p>
        </p:txBody>
      </p:sp>
      <p:sp>
        <p:nvSpPr>
          <p:cNvPr id="39" name="Text 37"/>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providers/output_limits.py — resolve_chat_output_cap(), providers/dependency_checks.py — validate_provider_dependencies()</a:t>
            </a:r>
            <a:endParaRPr lang="en-US" sz="9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02920" y="1463040"/>
            <a:ext cx="8138160" cy="73152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Agent Registry &amp; Control Panel</a:t>
            </a:r>
            <a:endParaRPr lang="en-US" sz="3200" dirty="0"/>
          </a:p>
        </p:txBody>
      </p:sp>
      <p:sp>
        <p:nvSpPr>
          <p:cNvPr id="3" name="Text 1"/>
          <p:cNvSpPr/>
          <p:nvPr/>
        </p:nvSpPr>
        <p:spPr>
          <a:xfrm>
            <a:off x="502920" y="2286000"/>
            <a:ext cx="8138160" cy="457200"/>
          </a:xfrm>
          <a:prstGeom prst="rect">
            <a:avLst/>
          </a:prstGeom>
          <a:noFill/>
          <a:ln/>
        </p:spPr>
        <p:txBody>
          <a:bodyPr wrap="square" lIns="0" tIns="0" rIns="0" bIns="0" rtlCol="0" anchor="ctr"/>
          <a:lstStyle/>
          <a:p>
            <a:pPr marL="0" indent="0">
              <a:buNone/>
            </a:pPr>
            <a:r>
              <a:rPr lang="en-US" sz="1600" dirty="0">
                <a:solidFill>
                  <a:srgbClr val="0097A7"/>
                </a:solidFill>
                <a:latin typeface="Arial" pitchFamily="34" charset="0"/>
                <a:ea typeface="Arial" pitchFamily="34" charset="-122"/>
                <a:cs typeface="Arial" pitchFamily="34" charset="-120"/>
              </a:rPr>
              <a:t>Dynamic agent loading, Pydantic validation, admin hot-reload API</a:t>
            </a:r>
            <a:endParaRPr lang="en-US" sz="16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Agent Registry — Dynamic Loading &amp; Pydantic Validation</a:t>
            </a:r>
            <a:endParaRPr lang="en-US" sz="2600" dirty="0"/>
          </a:p>
        </p:txBody>
      </p:sp>
      <p:sp>
        <p:nvSpPr>
          <p:cNvPr id="3" name="Shape 1"/>
          <p:cNvSpPr/>
          <p:nvPr/>
        </p:nvSpPr>
        <p:spPr>
          <a:xfrm>
            <a:off x="502920" y="914400"/>
            <a:ext cx="3840480" cy="219456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4" name="Shape 2"/>
          <p:cNvSpPr/>
          <p:nvPr/>
        </p:nvSpPr>
        <p:spPr>
          <a:xfrm>
            <a:off x="502920" y="914400"/>
            <a:ext cx="3840480" cy="320040"/>
          </a:xfrm>
          <a:prstGeom prst="rect">
            <a:avLst/>
          </a:prstGeom>
          <a:solidFill>
            <a:srgbClr val="0097A7"/>
          </a:solidFill>
          <a:ln/>
        </p:spPr>
        <p:txBody>
          <a:bodyPr/>
          <a:lstStyle/>
          <a:p>
            <a:endParaRPr lang="en-US"/>
          </a:p>
        </p:txBody>
      </p:sp>
      <p:sp>
        <p:nvSpPr>
          <p:cNvPr id="5" name="Text 3"/>
          <p:cNvSpPr/>
          <p:nvPr/>
        </p:nvSpPr>
        <p:spPr>
          <a:xfrm>
            <a:off x="612648" y="941832"/>
            <a:ext cx="362102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AgentRegistry  (agents/registry.py)</a:t>
            </a:r>
            <a:endParaRPr lang="en-US" sz="1200" dirty="0"/>
          </a:p>
        </p:txBody>
      </p:sp>
      <p:sp>
        <p:nvSpPr>
          <p:cNvPr id="6" name="Text 4"/>
          <p:cNvSpPr/>
          <p:nvPr/>
        </p:nvSpPr>
        <p:spPr>
          <a:xfrm>
            <a:off x="612648" y="1298448"/>
            <a:ext cx="3621024" cy="171907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AgentRegistry(agents_dir, overlay_dir)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reload() — scans *.md in both dirs, overlay wins on conflict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is_routable() — filters by role_kind (top_level / manager) or entry_path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get_default_agent_name() — finds entry_path='default'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get_manager_agent_name() — mode='coordinator' / role_kind='manager'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get_rag_agent_name() — mode='rag' / expected_output='rag_contract'</a:t>
            </a:r>
            <a:endParaRPr lang="en-US" sz="1000" dirty="0"/>
          </a:p>
        </p:txBody>
      </p:sp>
      <p:sp>
        <p:nvSpPr>
          <p:cNvPr id="7" name="Shape 5"/>
          <p:cNvSpPr/>
          <p:nvPr/>
        </p:nvSpPr>
        <p:spPr>
          <a:xfrm>
            <a:off x="4572000" y="914400"/>
            <a:ext cx="4114800" cy="219456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8" name="Shape 6"/>
          <p:cNvSpPr/>
          <p:nvPr/>
        </p:nvSpPr>
        <p:spPr>
          <a:xfrm>
            <a:off x="4572000" y="914400"/>
            <a:ext cx="4114800" cy="320040"/>
          </a:xfrm>
          <a:prstGeom prst="rect">
            <a:avLst/>
          </a:prstGeom>
          <a:solidFill>
            <a:srgbClr val="1B2A4A"/>
          </a:solidFill>
          <a:ln/>
        </p:spPr>
        <p:txBody>
          <a:bodyPr/>
          <a:lstStyle/>
          <a:p>
            <a:endParaRPr lang="en-US"/>
          </a:p>
        </p:txBody>
      </p:sp>
      <p:sp>
        <p:nvSpPr>
          <p:cNvPr id="9" name="Text 7"/>
          <p:cNvSpPr/>
          <p:nvPr/>
        </p:nvSpPr>
        <p:spPr>
          <a:xfrm>
            <a:off x="4681728" y="941832"/>
            <a:ext cx="3895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AgentDefinitionModel  (agents/validation.py)</a:t>
            </a:r>
            <a:endParaRPr lang="en-US" sz="1200" dirty="0"/>
          </a:p>
        </p:txBody>
      </p:sp>
      <p:sp>
        <p:nvSpPr>
          <p:cNvPr id="10" name="Text 8"/>
          <p:cNvSpPr/>
          <p:nvPr/>
        </p:nvSpPr>
        <p:spPr>
          <a:xfrm>
            <a:off x="4681728" y="1298448"/>
            <a:ext cx="3895344" cy="171907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Pydantic BaseModel with extra='forbid'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mode: Literal['basic','react','rag','planner','finalizer','verifier','coordinator','memory_maintainer']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prompt_file: must end in '.md'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max_steps: int &gt; 0, max_tool_calls: int &gt;= 0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allowed_tools/worker_agents: List[str], no empty values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Validation error → format_agent_validation_error() with path + hint</a:t>
            </a:r>
            <a:endParaRPr lang="en-US" sz="1000" dirty="0"/>
          </a:p>
        </p:txBody>
      </p:sp>
      <p:sp>
        <p:nvSpPr>
          <p:cNvPr id="11" name="Shape 9"/>
          <p:cNvSpPr/>
          <p:nvPr/>
        </p:nvSpPr>
        <p:spPr>
          <a:xfrm>
            <a:off x="502920" y="3246120"/>
            <a:ext cx="8138160" cy="457200"/>
          </a:xfrm>
          <a:prstGeom prst="rect">
            <a:avLst/>
          </a:prstGeom>
          <a:solidFill>
            <a:srgbClr val="E0F7FA"/>
          </a:solidFill>
          <a:ln w="12700">
            <a:solidFill>
              <a:srgbClr val="0097A7"/>
            </a:solidFill>
            <a:prstDash val="solid"/>
          </a:ln>
        </p:spPr>
        <p:txBody>
          <a:bodyPr/>
          <a:lstStyle/>
          <a:p>
            <a:endParaRPr lang="en-US"/>
          </a:p>
        </p:txBody>
      </p:sp>
      <p:sp>
        <p:nvSpPr>
          <p:cNvPr id="12" name="Text 10"/>
          <p:cNvSpPr/>
          <p:nvPr/>
        </p:nvSpPr>
        <p:spPr>
          <a:xfrm>
            <a:off x="594360" y="3246120"/>
            <a:ext cx="7955280" cy="45720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Overlays: Control Panel writes agent changes to overlay_dir. AgentRegistry.reload() merges overlay_dir on top of agents_dir — zero restart required. Typos in agent files are caught as Pydantic ValidationErrors, not silent runtime bugs.</a:t>
            </a:r>
            <a:endParaRPr lang="en-US" sz="1000" dirty="0"/>
          </a:p>
        </p:txBody>
      </p:sp>
      <p:sp>
        <p:nvSpPr>
          <p:cNvPr id="13" name="Text 11"/>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agents/registry.py — AgentRegistry, agents/validation.py — AgentDefinitionModel, agents/loader.py</a:t>
            </a:r>
            <a:endParaRPr lang="en-US" sz="9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Control Panel — Admin Hot-Reload API</a:t>
            </a:r>
            <a:endParaRPr lang="en-US" sz="2600" dirty="0"/>
          </a:p>
        </p:txBody>
      </p:sp>
      <p:sp>
        <p:nvSpPr>
          <p:cNvPr id="3" name="Text 1"/>
          <p:cNvSpPr/>
          <p:nvPr/>
        </p:nvSpPr>
        <p:spPr>
          <a:xfrm>
            <a:off x="502920" y="822960"/>
            <a:ext cx="8138160" cy="32004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Auth: X-Admin-Token header required on all endpoints (require_admin_token()). Enabled via control_panel_enabled=true + control_panel_admin_token env vars.</a:t>
            </a:r>
            <a:endParaRPr lang="en-US" sz="1000" dirty="0"/>
          </a:p>
        </p:txBody>
      </p:sp>
      <p:sp>
        <p:nvSpPr>
          <p:cNvPr id="4" name="Shape 2"/>
          <p:cNvSpPr/>
          <p:nvPr/>
        </p:nvSpPr>
        <p:spPr>
          <a:xfrm>
            <a:off x="502920" y="1234440"/>
            <a:ext cx="1371600" cy="786384"/>
          </a:xfrm>
          <a:prstGeom prst="rect">
            <a:avLst/>
          </a:prstGeom>
          <a:solidFill>
            <a:srgbClr val="0097A7"/>
          </a:solidFill>
          <a:ln/>
        </p:spPr>
        <p:txBody>
          <a:bodyPr/>
          <a:lstStyle/>
          <a:p>
            <a:endParaRPr lang="en-US"/>
          </a:p>
        </p:txBody>
      </p:sp>
      <p:sp>
        <p:nvSpPr>
          <p:cNvPr id="5" name="Text 3"/>
          <p:cNvSpPr/>
          <p:nvPr/>
        </p:nvSpPr>
        <p:spPr>
          <a:xfrm>
            <a:off x="548640" y="1234440"/>
            <a:ext cx="1280160" cy="786384"/>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Runtime</a:t>
            </a:r>
            <a:endParaRPr lang="en-US" sz="1100" dirty="0"/>
          </a:p>
        </p:txBody>
      </p:sp>
      <p:sp>
        <p:nvSpPr>
          <p:cNvPr id="6" name="Shape 4"/>
          <p:cNvSpPr/>
          <p:nvPr/>
        </p:nvSpPr>
        <p:spPr>
          <a:xfrm>
            <a:off x="1874520" y="1234440"/>
            <a:ext cx="6766560" cy="786384"/>
          </a:xfrm>
          <a:prstGeom prst="rect">
            <a:avLst/>
          </a:prstGeom>
          <a:solidFill>
            <a:srgbClr val="F5F5F5"/>
          </a:solidFill>
          <a:ln w="3810">
            <a:solidFill>
              <a:srgbClr val="F0F0F0"/>
            </a:solidFill>
            <a:prstDash val="solid"/>
          </a:ln>
        </p:spPr>
        <p:txBody>
          <a:bodyPr/>
          <a:lstStyle/>
          <a:p>
            <a:endParaRPr lang="en-US"/>
          </a:p>
        </p:txBody>
      </p:sp>
      <p:sp>
        <p:nvSpPr>
          <p:cNvPr id="7" name="Text 5"/>
          <p:cNvSpPr/>
          <p:nvPr/>
        </p:nvSpPr>
        <p:spPr>
          <a:xfrm>
            <a:off x="2011680" y="1271016"/>
            <a:ext cx="6492240" cy="713232"/>
          </a:xfrm>
          <a:prstGeom prst="rect">
            <a:avLst/>
          </a:prstGeom>
          <a:noFill/>
          <a:ln/>
        </p:spPr>
        <p:txBody>
          <a:bodyPr wrap="square" lIns="0" tIns="0" rIns="0" bIns="0" rtlCol="0" anchor="t"/>
          <a:lstStyle/>
          <a:p>
            <a:pPr marL="0" indent="0">
              <a:buNone/>
            </a:pPr>
            <a:r>
              <a:rPr lang="en-US" sz="950" dirty="0">
                <a:solidFill>
                  <a:srgbClr val="333333"/>
                </a:solidFill>
                <a:latin typeface="Courier New" pitchFamily="34" charset="0"/>
                <a:ea typeface="Courier New" pitchFamily="34" charset="-122"/>
                <a:cs typeface="Courier New" pitchFamily="34" charset="-120"/>
              </a:rPr>
              <a:t>GET /overview (settings snapshot) · GET /operations (reload status, breaker state)</a:t>
            </a:r>
            <a:endParaRPr lang="en-US" sz="950" dirty="0"/>
          </a:p>
          <a:p>
            <a:pPr marL="0" indent="0">
              <a:buNone/>
            </a:pPr>
            <a:r>
              <a:rPr lang="en-US" sz="950" dirty="0">
                <a:solidFill>
                  <a:srgbClr val="333333"/>
                </a:solidFill>
                <a:latin typeface="Courier New" pitchFamily="34" charset="0"/>
                <a:ea typeface="Courier New" pitchFamily="34" charset="-122"/>
                <a:cs typeface="Courier New" pitchFamily="34" charset="-120"/>
              </a:rPr>
              <a:t>POST /config/apply → OverlayStore → RuntimeManager.reload()  ·  GET /config/schema &amp; /effective</a:t>
            </a:r>
            <a:endParaRPr lang="en-US" sz="950" dirty="0"/>
          </a:p>
        </p:txBody>
      </p:sp>
      <p:sp>
        <p:nvSpPr>
          <p:cNvPr id="8" name="Shape 6"/>
          <p:cNvSpPr/>
          <p:nvPr/>
        </p:nvSpPr>
        <p:spPr>
          <a:xfrm>
            <a:off x="502920" y="2084832"/>
            <a:ext cx="1371600" cy="786384"/>
          </a:xfrm>
          <a:prstGeom prst="rect">
            <a:avLst/>
          </a:prstGeom>
          <a:solidFill>
            <a:srgbClr val="1B2A4A"/>
          </a:solidFill>
          <a:ln/>
        </p:spPr>
        <p:txBody>
          <a:bodyPr/>
          <a:lstStyle/>
          <a:p>
            <a:endParaRPr lang="en-US"/>
          </a:p>
        </p:txBody>
      </p:sp>
      <p:sp>
        <p:nvSpPr>
          <p:cNvPr id="9" name="Text 7"/>
          <p:cNvSpPr/>
          <p:nvPr/>
        </p:nvSpPr>
        <p:spPr>
          <a:xfrm>
            <a:off x="548640" y="2084832"/>
            <a:ext cx="1280160" cy="786384"/>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Agents</a:t>
            </a:r>
            <a:endParaRPr lang="en-US" sz="1100" dirty="0"/>
          </a:p>
        </p:txBody>
      </p:sp>
      <p:sp>
        <p:nvSpPr>
          <p:cNvPr id="10" name="Shape 8"/>
          <p:cNvSpPr/>
          <p:nvPr/>
        </p:nvSpPr>
        <p:spPr>
          <a:xfrm>
            <a:off x="1874520" y="2084832"/>
            <a:ext cx="6766560" cy="786384"/>
          </a:xfrm>
          <a:prstGeom prst="rect">
            <a:avLst/>
          </a:prstGeom>
          <a:solidFill>
            <a:srgbClr val="F5F5F5"/>
          </a:solidFill>
          <a:ln w="3810">
            <a:solidFill>
              <a:srgbClr val="F0F0F0"/>
            </a:solidFill>
            <a:prstDash val="solid"/>
          </a:ln>
        </p:spPr>
        <p:txBody>
          <a:bodyPr/>
          <a:lstStyle/>
          <a:p>
            <a:endParaRPr lang="en-US"/>
          </a:p>
        </p:txBody>
      </p:sp>
      <p:sp>
        <p:nvSpPr>
          <p:cNvPr id="11" name="Text 9"/>
          <p:cNvSpPr/>
          <p:nvPr/>
        </p:nvSpPr>
        <p:spPr>
          <a:xfrm>
            <a:off x="2011680" y="2121408"/>
            <a:ext cx="6492240" cy="713232"/>
          </a:xfrm>
          <a:prstGeom prst="rect">
            <a:avLst/>
          </a:prstGeom>
          <a:noFill/>
          <a:ln/>
        </p:spPr>
        <p:txBody>
          <a:bodyPr wrap="square" lIns="0" tIns="0" rIns="0" bIns="0" rtlCol="0" anchor="t"/>
          <a:lstStyle/>
          <a:p>
            <a:pPr marL="0" indent="0">
              <a:buNone/>
            </a:pPr>
            <a:r>
              <a:rPr lang="en-US" sz="950" dirty="0">
                <a:solidFill>
                  <a:srgbClr val="333333"/>
                </a:solidFill>
                <a:latin typeface="Courier New" pitchFamily="34" charset="0"/>
                <a:ea typeface="Courier New" pitchFamily="34" charset="-122"/>
                <a:cs typeface="Courier New" pitchFamily="34" charset="-120"/>
              </a:rPr>
              <a:t>GET /agents · GET /agents/{name} (definition + prompt body)</a:t>
            </a:r>
            <a:endParaRPr lang="en-US" sz="950" dirty="0"/>
          </a:p>
          <a:p>
            <a:pPr marL="0" indent="0">
              <a:buNone/>
            </a:pPr>
            <a:r>
              <a:rPr lang="en-US" sz="950" dirty="0">
                <a:solidFill>
                  <a:srgbClr val="333333"/>
                </a:solidFill>
                <a:latin typeface="Courier New" pitchFamily="34" charset="0"/>
                <a:ea typeface="Courier New" pitchFamily="34" charset="-122"/>
                <a:cs typeface="Courier New" pitchFamily="34" charset="-120"/>
              </a:rPr>
              <a:t>PUT /agents/{name} (update fields via overlay) · DELETE /agents/{name} · POST /agents/reload</a:t>
            </a:r>
            <a:endParaRPr lang="en-US" sz="950" dirty="0"/>
          </a:p>
        </p:txBody>
      </p:sp>
      <p:sp>
        <p:nvSpPr>
          <p:cNvPr id="12" name="Shape 10"/>
          <p:cNvSpPr/>
          <p:nvPr/>
        </p:nvSpPr>
        <p:spPr>
          <a:xfrm>
            <a:off x="502920" y="2935224"/>
            <a:ext cx="1371600" cy="457200"/>
          </a:xfrm>
          <a:prstGeom prst="rect">
            <a:avLst/>
          </a:prstGeom>
          <a:solidFill>
            <a:srgbClr val="00796B"/>
          </a:solidFill>
          <a:ln/>
        </p:spPr>
        <p:txBody>
          <a:bodyPr/>
          <a:lstStyle/>
          <a:p>
            <a:endParaRPr lang="en-US"/>
          </a:p>
        </p:txBody>
      </p:sp>
      <p:sp>
        <p:nvSpPr>
          <p:cNvPr id="13" name="Text 11"/>
          <p:cNvSpPr/>
          <p:nvPr/>
        </p:nvSpPr>
        <p:spPr>
          <a:xfrm>
            <a:off x="548640" y="2935224"/>
            <a:ext cx="1280160" cy="45720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Prompts</a:t>
            </a:r>
            <a:endParaRPr lang="en-US" sz="1100" dirty="0"/>
          </a:p>
        </p:txBody>
      </p:sp>
      <p:sp>
        <p:nvSpPr>
          <p:cNvPr id="14" name="Shape 12"/>
          <p:cNvSpPr/>
          <p:nvPr/>
        </p:nvSpPr>
        <p:spPr>
          <a:xfrm>
            <a:off x="1874520" y="2935224"/>
            <a:ext cx="6766560" cy="457200"/>
          </a:xfrm>
          <a:prstGeom prst="rect">
            <a:avLst/>
          </a:prstGeom>
          <a:solidFill>
            <a:srgbClr val="F5F5F5"/>
          </a:solidFill>
          <a:ln w="3810">
            <a:solidFill>
              <a:srgbClr val="F0F0F0"/>
            </a:solidFill>
            <a:prstDash val="solid"/>
          </a:ln>
        </p:spPr>
        <p:txBody>
          <a:bodyPr/>
          <a:lstStyle/>
          <a:p>
            <a:endParaRPr lang="en-US"/>
          </a:p>
        </p:txBody>
      </p:sp>
      <p:sp>
        <p:nvSpPr>
          <p:cNvPr id="15" name="Text 13"/>
          <p:cNvSpPr/>
          <p:nvPr/>
        </p:nvSpPr>
        <p:spPr>
          <a:xfrm>
            <a:off x="2011680" y="2971800"/>
            <a:ext cx="6492240" cy="384048"/>
          </a:xfrm>
          <a:prstGeom prst="rect">
            <a:avLst/>
          </a:prstGeom>
          <a:noFill/>
          <a:ln/>
        </p:spPr>
        <p:txBody>
          <a:bodyPr wrap="square" lIns="0" tIns="0" rIns="0" bIns="0" rtlCol="0" anchor="t"/>
          <a:lstStyle/>
          <a:p>
            <a:pPr marL="0" indent="0">
              <a:buNone/>
            </a:pPr>
            <a:r>
              <a:rPr lang="en-US" sz="950" dirty="0">
                <a:solidFill>
                  <a:srgbClr val="333333"/>
                </a:solidFill>
                <a:latin typeface="Courier New" pitchFamily="34" charset="0"/>
                <a:ea typeface="Courier New" pitchFamily="34" charset="-122"/>
                <a:cs typeface="Courier New" pitchFamily="34" charset="-120"/>
              </a:rPr>
              <a:t>GET / PUT / DELETE  /prompts/{prompt_file} — read/write/delete prompt markdown overlays</a:t>
            </a:r>
            <a:endParaRPr lang="en-US" sz="950" dirty="0"/>
          </a:p>
        </p:txBody>
      </p:sp>
      <p:sp>
        <p:nvSpPr>
          <p:cNvPr id="16" name="Shape 14"/>
          <p:cNvSpPr/>
          <p:nvPr/>
        </p:nvSpPr>
        <p:spPr>
          <a:xfrm>
            <a:off x="502920" y="3456432"/>
            <a:ext cx="1371600" cy="786384"/>
          </a:xfrm>
          <a:prstGeom prst="rect">
            <a:avLst/>
          </a:prstGeom>
          <a:solidFill>
            <a:srgbClr val="F9A825"/>
          </a:solidFill>
          <a:ln/>
        </p:spPr>
        <p:txBody>
          <a:bodyPr/>
          <a:lstStyle/>
          <a:p>
            <a:endParaRPr lang="en-US"/>
          </a:p>
        </p:txBody>
      </p:sp>
      <p:sp>
        <p:nvSpPr>
          <p:cNvPr id="17" name="Text 15"/>
          <p:cNvSpPr/>
          <p:nvPr/>
        </p:nvSpPr>
        <p:spPr>
          <a:xfrm>
            <a:off x="548640" y="3456432"/>
            <a:ext cx="1280160" cy="786384"/>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Collections</a:t>
            </a:r>
            <a:endParaRPr lang="en-US" sz="1100" dirty="0"/>
          </a:p>
        </p:txBody>
      </p:sp>
      <p:sp>
        <p:nvSpPr>
          <p:cNvPr id="18" name="Shape 16"/>
          <p:cNvSpPr/>
          <p:nvPr/>
        </p:nvSpPr>
        <p:spPr>
          <a:xfrm>
            <a:off x="1874520" y="3456432"/>
            <a:ext cx="6766560" cy="786384"/>
          </a:xfrm>
          <a:prstGeom prst="rect">
            <a:avLst/>
          </a:prstGeom>
          <a:solidFill>
            <a:srgbClr val="F5F5F5"/>
          </a:solidFill>
          <a:ln w="3810">
            <a:solidFill>
              <a:srgbClr val="F0F0F0"/>
            </a:solidFill>
            <a:prstDash val="solid"/>
          </a:ln>
        </p:spPr>
        <p:txBody>
          <a:bodyPr/>
          <a:lstStyle/>
          <a:p>
            <a:endParaRPr lang="en-US"/>
          </a:p>
        </p:txBody>
      </p:sp>
      <p:sp>
        <p:nvSpPr>
          <p:cNvPr id="19" name="Text 17"/>
          <p:cNvSpPr/>
          <p:nvPr/>
        </p:nvSpPr>
        <p:spPr>
          <a:xfrm>
            <a:off x="2011680" y="3493008"/>
            <a:ext cx="6492240" cy="713232"/>
          </a:xfrm>
          <a:prstGeom prst="rect">
            <a:avLst/>
          </a:prstGeom>
          <a:noFill/>
          <a:ln/>
        </p:spPr>
        <p:txBody>
          <a:bodyPr wrap="square" lIns="0" tIns="0" rIns="0" bIns="0" rtlCol="0" anchor="t"/>
          <a:lstStyle/>
          <a:p>
            <a:pPr marL="0" indent="0">
              <a:buNone/>
            </a:pPr>
            <a:r>
              <a:rPr lang="en-US" sz="950" dirty="0">
                <a:solidFill>
                  <a:srgbClr val="333333"/>
                </a:solidFill>
                <a:latin typeface="Courier New" pitchFamily="34" charset="0"/>
                <a:ea typeface="Courier New" pitchFamily="34" charset="-122"/>
                <a:cs typeface="Courier New" pitchFamily="34" charset="-120"/>
              </a:rPr>
              <a:t>GET /collections · POST /{id}/sync (re-ingest sources) · POST /{id}/ingest-paths</a:t>
            </a:r>
            <a:endParaRPr lang="en-US" sz="950" dirty="0"/>
          </a:p>
          <a:p>
            <a:pPr marL="0" indent="0">
              <a:buNone/>
            </a:pPr>
            <a:r>
              <a:rPr lang="en-US" sz="950" dirty="0">
                <a:solidFill>
                  <a:srgbClr val="333333"/>
                </a:solidFill>
                <a:latin typeface="Courier New" pitchFamily="34" charset="0"/>
                <a:ea typeface="Courier New" pitchFamily="34" charset="-122"/>
                <a:cs typeface="Courier New" pitchFamily="34" charset="-120"/>
              </a:rPr>
              <a:t>POST /{id}/upload (direct file upload) · GET /{id}/documents/{doc_id} · DELETE /{id}/documents/{doc_id}</a:t>
            </a:r>
            <a:endParaRPr lang="en-US" sz="950" dirty="0"/>
          </a:p>
        </p:txBody>
      </p:sp>
      <p:sp>
        <p:nvSpPr>
          <p:cNvPr id="20" name="Text 18"/>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control_panel/routes.py (~973 lines), control_panel/overlay_store.py, control_panel/runtime_manager.py, control_panel/auth.py, control_panel/config_catalog.py</a:t>
            </a:r>
            <a:endParaRPr lang="en-US" sz="9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02920" y="1463040"/>
            <a:ext cx="8138160" cy="73152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Typed Contracts Layer</a:t>
            </a:r>
            <a:endParaRPr lang="en-US" sz="3200" dirty="0"/>
          </a:p>
        </p:txBody>
      </p:sp>
      <p:sp>
        <p:nvSpPr>
          <p:cNvPr id="3" name="Text 1"/>
          <p:cNvSpPr/>
          <p:nvPr/>
        </p:nvSpPr>
        <p:spPr>
          <a:xfrm>
            <a:off x="502920" y="2286000"/>
            <a:ext cx="8138160" cy="457200"/>
          </a:xfrm>
          <a:prstGeom prst="rect">
            <a:avLst/>
          </a:prstGeom>
          <a:noFill/>
          <a:ln/>
        </p:spPr>
        <p:txBody>
          <a:bodyPr wrap="square" lIns="0" tIns="0" rIns="0" bIns="0" rtlCol="0" anchor="ctr"/>
          <a:lstStyle/>
          <a:p>
            <a:pPr marL="0" indent="0">
              <a:buNone/>
            </a:pPr>
            <a:r>
              <a:rPr lang="en-US" sz="1600" dirty="0">
                <a:solidFill>
                  <a:srgbClr val="0097A7"/>
                </a:solidFill>
                <a:latin typeface="Arial" pitchFamily="34" charset="0"/>
                <a:ea typeface="Arial" pitchFamily="34" charset="-122"/>
                <a:cs typeface="Arial" pitchFamily="34" charset="-120"/>
              </a:rPr>
              <a:t>contracts/ — the glue between every module in the system</a:t>
            </a:r>
            <a:endParaRPr lang="en-US" sz="16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contracts/ — Typed Data Contracts Across Every Layer</a:t>
            </a:r>
            <a:endParaRPr lang="en-US" sz="2600" dirty="0"/>
          </a:p>
        </p:txBody>
      </p:sp>
      <p:sp>
        <p:nvSpPr>
          <p:cNvPr id="3" name="Shape 1"/>
          <p:cNvSpPr/>
          <p:nvPr/>
        </p:nvSpPr>
        <p:spPr>
          <a:xfrm>
            <a:off x="502920" y="914400"/>
            <a:ext cx="2286000" cy="548640"/>
          </a:xfrm>
          <a:prstGeom prst="rect">
            <a:avLst/>
          </a:prstGeom>
          <a:solidFill>
            <a:srgbClr val="0097A7"/>
          </a:solidFill>
          <a:ln/>
        </p:spPr>
        <p:txBody>
          <a:bodyPr/>
          <a:lstStyle/>
          <a:p>
            <a:endParaRPr lang="en-US"/>
          </a:p>
        </p:txBody>
      </p:sp>
      <p:sp>
        <p:nvSpPr>
          <p:cNvPr id="4" name="Text 2"/>
          <p:cNvSpPr/>
          <p:nvPr/>
        </p:nvSpPr>
        <p:spPr>
          <a:xfrm>
            <a:off x="576072" y="914400"/>
            <a:ext cx="2148840" cy="320040"/>
          </a:xfrm>
          <a:prstGeom prst="rect">
            <a:avLst/>
          </a:prstGeom>
          <a:noFill/>
          <a:ln/>
        </p:spPr>
        <p:txBody>
          <a:bodyPr wrap="square" lIns="0" tIns="0" rIns="0" bIns="0" rtlCol="0" anchor="b"/>
          <a:lstStyle/>
          <a:p>
            <a:pPr marL="0" indent="0">
              <a:buNone/>
            </a:pPr>
            <a:r>
              <a:rPr lang="en-US" sz="1000" b="1" dirty="0">
                <a:solidFill>
                  <a:srgbClr val="FFFFFF"/>
                </a:solidFill>
                <a:latin typeface="Arial" pitchFamily="34" charset="0"/>
                <a:ea typeface="Arial" pitchFamily="34" charset="-122"/>
                <a:cs typeface="Arial" pitchFamily="34" charset="-120"/>
              </a:rPr>
              <a:t>AgentDefinition</a:t>
            </a:r>
            <a:endParaRPr lang="en-US" sz="1000" dirty="0"/>
          </a:p>
        </p:txBody>
      </p:sp>
      <p:sp>
        <p:nvSpPr>
          <p:cNvPr id="5" name="Text 3"/>
          <p:cNvSpPr/>
          <p:nvPr/>
        </p:nvSpPr>
        <p:spPr>
          <a:xfrm>
            <a:off x="576072" y="1234440"/>
            <a:ext cx="2148840" cy="201168"/>
          </a:xfrm>
          <a:prstGeom prst="rect">
            <a:avLst/>
          </a:prstGeom>
          <a:noFill/>
          <a:ln/>
        </p:spPr>
        <p:txBody>
          <a:bodyPr wrap="square" lIns="0" tIns="0" rIns="0" bIns="0" rtlCol="0" anchor="t"/>
          <a:lstStyle/>
          <a:p>
            <a:pPr marL="0" indent="0">
              <a:buNone/>
            </a:pPr>
            <a:r>
              <a:rPr lang="en-US" sz="800" dirty="0">
                <a:solidFill>
                  <a:srgbClr val="FFFFFF"/>
                </a:solidFill>
                <a:latin typeface="Courier New" pitchFamily="34" charset="0"/>
                <a:ea typeface="Courier New" pitchFamily="34" charset="-122"/>
                <a:cs typeface="Courier New" pitchFamily="34" charset="-120"/>
              </a:rPr>
              <a:t>contracts/agents.py</a:t>
            </a:r>
            <a:endParaRPr lang="en-US" sz="800" dirty="0"/>
          </a:p>
        </p:txBody>
      </p:sp>
      <p:sp>
        <p:nvSpPr>
          <p:cNvPr id="6" name="Shape 4"/>
          <p:cNvSpPr/>
          <p:nvPr/>
        </p:nvSpPr>
        <p:spPr>
          <a:xfrm>
            <a:off x="2788920" y="914400"/>
            <a:ext cx="5852160" cy="548640"/>
          </a:xfrm>
          <a:prstGeom prst="rect">
            <a:avLst/>
          </a:prstGeom>
          <a:solidFill>
            <a:srgbClr val="F5F5F5"/>
          </a:solidFill>
          <a:ln w="3810">
            <a:solidFill>
              <a:srgbClr val="F0F0F0"/>
            </a:solidFill>
            <a:prstDash val="solid"/>
          </a:ln>
        </p:spPr>
        <p:txBody>
          <a:bodyPr/>
          <a:lstStyle/>
          <a:p>
            <a:endParaRPr lang="en-US"/>
          </a:p>
        </p:txBody>
      </p:sp>
      <p:sp>
        <p:nvSpPr>
          <p:cNvPr id="7" name="Text 5"/>
          <p:cNvSpPr/>
          <p:nvPr/>
        </p:nvSpPr>
        <p:spPr>
          <a:xfrm>
            <a:off x="2926080" y="914400"/>
            <a:ext cx="5577840" cy="54864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name, mode, allowed_tools, allowed_worker_agents, max_steps, max_tool_calls, allow_background_jobs, memory_scopes, preload_skill_packs</a:t>
            </a:r>
            <a:endParaRPr lang="en-US" sz="950" dirty="0"/>
          </a:p>
        </p:txBody>
      </p:sp>
      <p:sp>
        <p:nvSpPr>
          <p:cNvPr id="8" name="Shape 6"/>
          <p:cNvSpPr/>
          <p:nvPr/>
        </p:nvSpPr>
        <p:spPr>
          <a:xfrm>
            <a:off x="502920" y="1536192"/>
            <a:ext cx="2286000" cy="548640"/>
          </a:xfrm>
          <a:prstGeom prst="rect">
            <a:avLst/>
          </a:prstGeom>
          <a:solidFill>
            <a:srgbClr val="1B2A4A"/>
          </a:solidFill>
          <a:ln/>
        </p:spPr>
        <p:txBody>
          <a:bodyPr/>
          <a:lstStyle/>
          <a:p>
            <a:endParaRPr lang="en-US"/>
          </a:p>
        </p:txBody>
      </p:sp>
      <p:sp>
        <p:nvSpPr>
          <p:cNvPr id="9" name="Text 7"/>
          <p:cNvSpPr/>
          <p:nvPr/>
        </p:nvSpPr>
        <p:spPr>
          <a:xfrm>
            <a:off x="576072" y="1536192"/>
            <a:ext cx="2148840" cy="320040"/>
          </a:xfrm>
          <a:prstGeom prst="rect">
            <a:avLst/>
          </a:prstGeom>
          <a:noFill/>
          <a:ln/>
        </p:spPr>
        <p:txBody>
          <a:bodyPr wrap="square" lIns="0" tIns="0" rIns="0" bIns="0" rtlCol="0" anchor="b"/>
          <a:lstStyle/>
          <a:p>
            <a:pPr marL="0" indent="0">
              <a:buNone/>
            </a:pPr>
            <a:r>
              <a:rPr lang="en-US" sz="1000" b="1" dirty="0">
                <a:solidFill>
                  <a:srgbClr val="FFFFFF"/>
                </a:solidFill>
                <a:latin typeface="Arial" pitchFamily="34" charset="0"/>
                <a:ea typeface="Arial" pitchFamily="34" charset="-122"/>
                <a:cs typeface="Arial" pitchFamily="34" charset="-120"/>
              </a:rPr>
              <a:t>RuntimeMessage + SessionState</a:t>
            </a:r>
            <a:endParaRPr lang="en-US" sz="1000" dirty="0"/>
          </a:p>
        </p:txBody>
      </p:sp>
      <p:sp>
        <p:nvSpPr>
          <p:cNvPr id="10" name="Text 8"/>
          <p:cNvSpPr/>
          <p:nvPr/>
        </p:nvSpPr>
        <p:spPr>
          <a:xfrm>
            <a:off x="576072" y="1856232"/>
            <a:ext cx="2148840" cy="201168"/>
          </a:xfrm>
          <a:prstGeom prst="rect">
            <a:avLst/>
          </a:prstGeom>
          <a:noFill/>
          <a:ln/>
        </p:spPr>
        <p:txBody>
          <a:bodyPr wrap="square" lIns="0" tIns="0" rIns="0" bIns="0" rtlCol="0" anchor="t"/>
          <a:lstStyle/>
          <a:p>
            <a:pPr marL="0" indent="0">
              <a:buNone/>
            </a:pPr>
            <a:r>
              <a:rPr lang="en-US" sz="800" dirty="0">
                <a:solidFill>
                  <a:srgbClr val="FFFFFF"/>
                </a:solidFill>
                <a:latin typeface="Courier New" pitchFamily="34" charset="0"/>
                <a:ea typeface="Courier New" pitchFamily="34" charset="-122"/>
                <a:cs typeface="Courier New" pitchFamily="34" charset="-120"/>
              </a:rPr>
              <a:t>contracts/messages.py</a:t>
            </a:r>
            <a:endParaRPr lang="en-US" sz="800" dirty="0"/>
          </a:p>
        </p:txBody>
      </p:sp>
      <p:sp>
        <p:nvSpPr>
          <p:cNvPr id="11" name="Shape 9"/>
          <p:cNvSpPr/>
          <p:nvPr/>
        </p:nvSpPr>
        <p:spPr>
          <a:xfrm>
            <a:off x="2788920" y="1536192"/>
            <a:ext cx="5852160" cy="548640"/>
          </a:xfrm>
          <a:prstGeom prst="rect">
            <a:avLst/>
          </a:prstGeom>
          <a:solidFill>
            <a:srgbClr val="F5F5F5"/>
          </a:solidFill>
          <a:ln w="3810">
            <a:solidFill>
              <a:srgbClr val="F0F0F0"/>
            </a:solidFill>
            <a:prstDash val="solid"/>
          </a:ln>
        </p:spPr>
        <p:txBody>
          <a:bodyPr/>
          <a:lstStyle/>
          <a:p>
            <a:endParaRPr lang="en-US"/>
          </a:p>
        </p:txBody>
      </p:sp>
      <p:sp>
        <p:nvSpPr>
          <p:cNvPr id="12" name="Text 10"/>
          <p:cNvSpPr/>
          <p:nvPr/>
        </p:nvSpPr>
        <p:spPr>
          <a:xfrm>
            <a:off x="2926080" y="1536192"/>
            <a:ext cx="5577840" cy="54864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RuntimeMessage bridges LangChain ↔ internal format (to_langchain/from_langchain). SessionState replaces ChatSession with pending_notifications, active_agent fields.</a:t>
            </a:r>
            <a:endParaRPr lang="en-US" sz="950" dirty="0"/>
          </a:p>
        </p:txBody>
      </p:sp>
      <p:sp>
        <p:nvSpPr>
          <p:cNvPr id="13" name="Shape 11"/>
          <p:cNvSpPr/>
          <p:nvPr/>
        </p:nvSpPr>
        <p:spPr>
          <a:xfrm>
            <a:off x="502920" y="2157984"/>
            <a:ext cx="2286000" cy="548640"/>
          </a:xfrm>
          <a:prstGeom prst="rect">
            <a:avLst/>
          </a:prstGeom>
          <a:solidFill>
            <a:srgbClr val="00796B"/>
          </a:solidFill>
          <a:ln/>
        </p:spPr>
        <p:txBody>
          <a:bodyPr/>
          <a:lstStyle/>
          <a:p>
            <a:endParaRPr lang="en-US"/>
          </a:p>
        </p:txBody>
      </p:sp>
      <p:sp>
        <p:nvSpPr>
          <p:cNvPr id="14" name="Text 12"/>
          <p:cNvSpPr/>
          <p:nvPr/>
        </p:nvSpPr>
        <p:spPr>
          <a:xfrm>
            <a:off x="576072" y="2157984"/>
            <a:ext cx="2148840" cy="320040"/>
          </a:xfrm>
          <a:prstGeom prst="rect">
            <a:avLst/>
          </a:prstGeom>
          <a:noFill/>
          <a:ln/>
        </p:spPr>
        <p:txBody>
          <a:bodyPr wrap="square" lIns="0" tIns="0" rIns="0" bIns="0" rtlCol="0" anchor="b"/>
          <a:lstStyle/>
          <a:p>
            <a:pPr marL="0" indent="0">
              <a:buNone/>
            </a:pPr>
            <a:r>
              <a:rPr lang="en-US" sz="1000" b="1" dirty="0">
                <a:solidFill>
                  <a:srgbClr val="FFFFFF"/>
                </a:solidFill>
                <a:latin typeface="Arial" pitchFamily="34" charset="0"/>
                <a:ea typeface="Arial" pitchFamily="34" charset="-122"/>
                <a:cs typeface="Arial" pitchFamily="34" charset="-120"/>
              </a:rPr>
              <a:t>RagContract + Citation + RetrievalSummary</a:t>
            </a:r>
            <a:endParaRPr lang="en-US" sz="1000" dirty="0"/>
          </a:p>
        </p:txBody>
      </p:sp>
      <p:sp>
        <p:nvSpPr>
          <p:cNvPr id="15" name="Text 13"/>
          <p:cNvSpPr/>
          <p:nvPr/>
        </p:nvSpPr>
        <p:spPr>
          <a:xfrm>
            <a:off x="576072" y="2478024"/>
            <a:ext cx="2148840" cy="201168"/>
          </a:xfrm>
          <a:prstGeom prst="rect">
            <a:avLst/>
          </a:prstGeom>
          <a:noFill/>
          <a:ln/>
        </p:spPr>
        <p:txBody>
          <a:bodyPr wrap="square" lIns="0" tIns="0" rIns="0" bIns="0" rtlCol="0" anchor="t"/>
          <a:lstStyle/>
          <a:p>
            <a:pPr marL="0" indent="0">
              <a:buNone/>
            </a:pPr>
            <a:r>
              <a:rPr lang="en-US" sz="800" dirty="0">
                <a:solidFill>
                  <a:srgbClr val="FFFFFF"/>
                </a:solidFill>
                <a:latin typeface="Courier New" pitchFamily="34" charset="0"/>
                <a:ea typeface="Courier New" pitchFamily="34" charset="-122"/>
                <a:cs typeface="Courier New" pitchFamily="34" charset="-120"/>
              </a:rPr>
              <a:t>contracts/rag.py</a:t>
            </a:r>
            <a:endParaRPr lang="en-US" sz="800" dirty="0"/>
          </a:p>
        </p:txBody>
      </p:sp>
      <p:sp>
        <p:nvSpPr>
          <p:cNvPr id="16" name="Shape 14"/>
          <p:cNvSpPr/>
          <p:nvPr/>
        </p:nvSpPr>
        <p:spPr>
          <a:xfrm>
            <a:off x="2788920" y="2157984"/>
            <a:ext cx="5852160" cy="548640"/>
          </a:xfrm>
          <a:prstGeom prst="rect">
            <a:avLst/>
          </a:prstGeom>
          <a:solidFill>
            <a:srgbClr val="F5F5F5"/>
          </a:solidFill>
          <a:ln w="3810">
            <a:solidFill>
              <a:srgbClr val="F0F0F0"/>
            </a:solidFill>
            <a:prstDash val="solid"/>
          </a:ln>
        </p:spPr>
        <p:txBody>
          <a:bodyPr/>
          <a:lstStyle/>
          <a:p>
            <a:endParaRPr lang="en-US"/>
          </a:p>
        </p:txBody>
      </p:sp>
      <p:sp>
        <p:nvSpPr>
          <p:cNvPr id="17" name="Text 15"/>
          <p:cNvSpPr/>
          <p:nvPr/>
        </p:nvSpPr>
        <p:spPr>
          <a:xfrm>
            <a:off x="2926080" y="2157984"/>
            <a:ext cx="5577840" cy="54864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Typed RAG output: answer, citations[], confidence, retrieval_summary (rounds, strategies, parallel_workers_used), followups, warnings.</a:t>
            </a:r>
            <a:endParaRPr lang="en-US" sz="950" dirty="0"/>
          </a:p>
        </p:txBody>
      </p:sp>
      <p:sp>
        <p:nvSpPr>
          <p:cNvPr id="18" name="Shape 16"/>
          <p:cNvSpPr/>
          <p:nvPr/>
        </p:nvSpPr>
        <p:spPr>
          <a:xfrm>
            <a:off x="502920" y="2779776"/>
            <a:ext cx="2286000" cy="548640"/>
          </a:xfrm>
          <a:prstGeom prst="rect">
            <a:avLst/>
          </a:prstGeom>
          <a:solidFill>
            <a:srgbClr val="5C6BC0"/>
          </a:solidFill>
          <a:ln/>
        </p:spPr>
        <p:txBody>
          <a:bodyPr/>
          <a:lstStyle/>
          <a:p>
            <a:endParaRPr lang="en-US"/>
          </a:p>
        </p:txBody>
      </p:sp>
      <p:sp>
        <p:nvSpPr>
          <p:cNvPr id="19" name="Text 17"/>
          <p:cNvSpPr/>
          <p:nvPr/>
        </p:nvSpPr>
        <p:spPr>
          <a:xfrm>
            <a:off x="576072" y="2779776"/>
            <a:ext cx="2148840" cy="320040"/>
          </a:xfrm>
          <a:prstGeom prst="rect">
            <a:avLst/>
          </a:prstGeom>
          <a:noFill/>
          <a:ln/>
        </p:spPr>
        <p:txBody>
          <a:bodyPr wrap="square" lIns="0" tIns="0" rIns="0" bIns="0" rtlCol="0" anchor="b"/>
          <a:lstStyle/>
          <a:p>
            <a:pPr marL="0" indent="0">
              <a:buNone/>
            </a:pPr>
            <a:r>
              <a:rPr lang="en-US" sz="1000" b="1" dirty="0">
                <a:solidFill>
                  <a:srgbClr val="FFFFFF"/>
                </a:solidFill>
                <a:latin typeface="Arial" pitchFamily="34" charset="0"/>
                <a:ea typeface="Arial" pitchFamily="34" charset="-122"/>
                <a:cs typeface="Arial" pitchFamily="34" charset="-120"/>
              </a:rPr>
              <a:t>TaskNotification + JobRecord + WorkerMailboxMessage</a:t>
            </a:r>
            <a:endParaRPr lang="en-US" sz="1000" dirty="0"/>
          </a:p>
        </p:txBody>
      </p:sp>
      <p:sp>
        <p:nvSpPr>
          <p:cNvPr id="20" name="Text 18"/>
          <p:cNvSpPr/>
          <p:nvPr/>
        </p:nvSpPr>
        <p:spPr>
          <a:xfrm>
            <a:off x="576072" y="3099816"/>
            <a:ext cx="2148840" cy="201168"/>
          </a:xfrm>
          <a:prstGeom prst="rect">
            <a:avLst/>
          </a:prstGeom>
          <a:noFill/>
          <a:ln/>
        </p:spPr>
        <p:txBody>
          <a:bodyPr wrap="square" lIns="0" tIns="0" rIns="0" bIns="0" rtlCol="0" anchor="t"/>
          <a:lstStyle/>
          <a:p>
            <a:pPr marL="0" indent="0">
              <a:buNone/>
            </a:pPr>
            <a:r>
              <a:rPr lang="en-US" sz="800" dirty="0">
                <a:solidFill>
                  <a:srgbClr val="FFFFFF"/>
                </a:solidFill>
                <a:latin typeface="Courier New" pitchFamily="34" charset="0"/>
                <a:ea typeface="Courier New" pitchFamily="34" charset="-122"/>
                <a:cs typeface="Courier New" pitchFamily="34" charset="-120"/>
              </a:rPr>
              <a:t>contracts/jobs.py</a:t>
            </a:r>
            <a:endParaRPr lang="en-US" sz="800" dirty="0"/>
          </a:p>
        </p:txBody>
      </p:sp>
      <p:sp>
        <p:nvSpPr>
          <p:cNvPr id="21" name="Shape 19"/>
          <p:cNvSpPr/>
          <p:nvPr/>
        </p:nvSpPr>
        <p:spPr>
          <a:xfrm>
            <a:off x="2788920" y="2779776"/>
            <a:ext cx="5852160" cy="548640"/>
          </a:xfrm>
          <a:prstGeom prst="rect">
            <a:avLst/>
          </a:prstGeom>
          <a:solidFill>
            <a:srgbClr val="F5F5F5"/>
          </a:solidFill>
          <a:ln w="3810">
            <a:solidFill>
              <a:srgbClr val="F0F0F0"/>
            </a:solidFill>
            <a:prstDash val="solid"/>
          </a:ln>
        </p:spPr>
        <p:txBody>
          <a:bodyPr/>
          <a:lstStyle/>
          <a:p>
            <a:endParaRPr lang="en-US"/>
          </a:p>
        </p:txBody>
      </p:sp>
      <p:sp>
        <p:nvSpPr>
          <p:cNvPr id="22" name="Text 20"/>
          <p:cNvSpPr/>
          <p:nvPr/>
        </p:nvSpPr>
        <p:spPr>
          <a:xfrm>
            <a:off x="2926080" y="2779776"/>
            <a:ext cx="5577840" cy="54864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Background job lifecycle: TaskNotification converts to RuntimeMessage for user display. JobRecord tracks id, status, artifact_dir, result, last_error.</a:t>
            </a:r>
            <a:endParaRPr lang="en-US" sz="950" dirty="0"/>
          </a:p>
        </p:txBody>
      </p:sp>
      <p:sp>
        <p:nvSpPr>
          <p:cNvPr id="23" name="Shape 21"/>
          <p:cNvSpPr/>
          <p:nvPr/>
        </p:nvSpPr>
        <p:spPr>
          <a:xfrm>
            <a:off x="502920" y="3401568"/>
            <a:ext cx="2286000" cy="548640"/>
          </a:xfrm>
          <a:prstGeom prst="rect">
            <a:avLst/>
          </a:prstGeom>
          <a:solidFill>
            <a:srgbClr val="F9A825"/>
          </a:solidFill>
          <a:ln/>
        </p:spPr>
        <p:txBody>
          <a:bodyPr/>
          <a:lstStyle/>
          <a:p>
            <a:endParaRPr lang="en-US"/>
          </a:p>
        </p:txBody>
      </p:sp>
      <p:sp>
        <p:nvSpPr>
          <p:cNvPr id="24" name="Text 22"/>
          <p:cNvSpPr/>
          <p:nvPr/>
        </p:nvSpPr>
        <p:spPr>
          <a:xfrm>
            <a:off x="576072" y="3401568"/>
            <a:ext cx="2148840" cy="320040"/>
          </a:xfrm>
          <a:prstGeom prst="rect">
            <a:avLst/>
          </a:prstGeom>
          <a:noFill/>
          <a:ln/>
        </p:spPr>
        <p:txBody>
          <a:bodyPr wrap="square" lIns="0" tIns="0" rIns="0" bIns="0" rtlCol="0" anchor="b"/>
          <a:lstStyle/>
          <a:p>
            <a:pPr marL="0" indent="0">
              <a:buNone/>
            </a:pPr>
            <a:r>
              <a:rPr lang="en-US" sz="1000" b="1" dirty="0">
                <a:solidFill>
                  <a:srgbClr val="FFFFFF"/>
                </a:solidFill>
                <a:latin typeface="Arial" pitchFamily="34" charset="0"/>
                <a:ea typeface="Arial" pitchFamily="34" charset="-122"/>
                <a:cs typeface="Arial" pitchFamily="34" charset="-120"/>
              </a:rPr>
              <a:t>ToolDefinition</a:t>
            </a:r>
            <a:endParaRPr lang="en-US" sz="1000" dirty="0"/>
          </a:p>
        </p:txBody>
      </p:sp>
      <p:sp>
        <p:nvSpPr>
          <p:cNvPr id="25" name="Text 23"/>
          <p:cNvSpPr/>
          <p:nvPr/>
        </p:nvSpPr>
        <p:spPr>
          <a:xfrm>
            <a:off x="576072" y="3721608"/>
            <a:ext cx="2148840" cy="201168"/>
          </a:xfrm>
          <a:prstGeom prst="rect">
            <a:avLst/>
          </a:prstGeom>
          <a:noFill/>
          <a:ln/>
        </p:spPr>
        <p:txBody>
          <a:bodyPr wrap="square" lIns="0" tIns="0" rIns="0" bIns="0" rtlCol="0" anchor="t"/>
          <a:lstStyle/>
          <a:p>
            <a:pPr marL="0" indent="0">
              <a:buNone/>
            </a:pPr>
            <a:r>
              <a:rPr lang="en-US" sz="800" dirty="0">
                <a:solidFill>
                  <a:srgbClr val="FFFFFF"/>
                </a:solidFill>
                <a:latin typeface="Courier New" pitchFamily="34" charset="0"/>
                <a:ea typeface="Courier New" pitchFamily="34" charset="-122"/>
                <a:cs typeface="Courier New" pitchFamily="34" charset="-120"/>
              </a:rPr>
              <a:t>contracts/tools.py</a:t>
            </a:r>
            <a:endParaRPr lang="en-US" sz="800" dirty="0"/>
          </a:p>
        </p:txBody>
      </p:sp>
      <p:sp>
        <p:nvSpPr>
          <p:cNvPr id="26" name="Shape 24"/>
          <p:cNvSpPr/>
          <p:nvPr/>
        </p:nvSpPr>
        <p:spPr>
          <a:xfrm>
            <a:off x="2788920" y="3401568"/>
            <a:ext cx="5852160" cy="548640"/>
          </a:xfrm>
          <a:prstGeom prst="rect">
            <a:avLst/>
          </a:prstGeom>
          <a:solidFill>
            <a:srgbClr val="F5F5F5"/>
          </a:solidFill>
          <a:ln w="3810">
            <a:solidFill>
              <a:srgbClr val="F0F0F0"/>
            </a:solidFill>
            <a:prstDash val="solid"/>
          </a:ln>
        </p:spPr>
        <p:txBody>
          <a:bodyPr/>
          <a:lstStyle/>
          <a:p>
            <a:endParaRPr lang="en-US"/>
          </a:p>
        </p:txBody>
      </p:sp>
      <p:sp>
        <p:nvSpPr>
          <p:cNvPr id="27" name="Text 25"/>
          <p:cNvSpPr/>
          <p:nvPr/>
        </p:nvSpPr>
        <p:spPr>
          <a:xfrm>
            <a:off x="2926080" y="3401568"/>
            <a:ext cx="5577840" cy="54864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Tool metadata: name, group, read_only, destructive, background_safe, concurrency_key, requires_workspace, serializer.</a:t>
            </a:r>
            <a:endParaRPr lang="en-US" sz="950" dirty="0"/>
          </a:p>
        </p:txBody>
      </p:sp>
      <p:sp>
        <p:nvSpPr>
          <p:cNvPr id="28" name="Text 26"/>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contracts/__init__.py, contracts/agents.py, contracts/messages.py, contracts/rag.py, contracts/jobs.py, contracts/tools.py</a:t>
            </a:r>
            <a:endParaRPr lang="en-US" sz="9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02920" y="1463040"/>
            <a:ext cx="8138160" cy="73152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PostgreSQL + pgvector Backend</a:t>
            </a:r>
            <a:endParaRPr lang="en-US" sz="3200" dirty="0"/>
          </a:p>
        </p:txBody>
      </p:sp>
      <p:sp>
        <p:nvSpPr>
          <p:cNvPr id="3" name="Text 1"/>
          <p:cNvSpPr/>
          <p:nvPr/>
        </p:nvSpPr>
        <p:spPr>
          <a:xfrm>
            <a:off x="502920" y="2286000"/>
            <a:ext cx="8138160" cy="457200"/>
          </a:xfrm>
          <a:prstGeom prst="rect">
            <a:avLst/>
          </a:prstGeom>
          <a:noFill/>
          <a:ln/>
        </p:spPr>
        <p:txBody>
          <a:bodyPr wrap="square" lIns="0" tIns="0" rIns="0" bIns="0" rtlCol="0" anchor="ctr"/>
          <a:lstStyle/>
          <a:p>
            <a:pPr marL="0" indent="0">
              <a:buNone/>
            </a:pPr>
            <a:r>
              <a:rPr lang="en-US" sz="1600" dirty="0">
                <a:solidFill>
                  <a:srgbClr val="0097A7"/>
                </a:solidFill>
                <a:latin typeface="Arial" pitchFamily="34" charset="0"/>
                <a:ea typeface="Arial" pitchFamily="34" charset="-122"/>
                <a:cs typeface="Arial" pitchFamily="34" charset="-120"/>
              </a:rPr>
              <a:t>The knowledge base is now fully database-backed — no file-based fallback</a:t>
            </a:r>
            <a:endParaRPr lang="en-US" sz="16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PostgreSQL + pgvector — Mandatory Persistence Backend</a:t>
            </a:r>
            <a:endParaRPr lang="en-US" sz="2600" dirty="0"/>
          </a:p>
        </p:txBody>
      </p:sp>
      <p:sp>
        <p:nvSpPr>
          <p:cNvPr id="3" name="Shape 1"/>
          <p:cNvSpPr/>
          <p:nvPr/>
        </p:nvSpPr>
        <p:spPr>
          <a:xfrm>
            <a:off x="502920" y="960120"/>
            <a:ext cx="3840480" cy="11887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4" name="Shape 2"/>
          <p:cNvSpPr/>
          <p:nvPr/>
        </p:nvSpPr>
        <p:spPr>
          <a:xfrm>
            <a:off x="502920" y="960120"/>
            <a:ext cx="3840480" cy="320040"/>
          </a:xfrm>
          <a:prstGeom prst="rect">
            <a:avLst/>
          </a:prstGeom>
          <a:solidFill>
            <a:srgbClr val="0097A7"/>
          </a:solidFill>
          <a:ln/>
        </p:spPr>
        <p:txBody>
          <a:bodyPr/>
          <a:lstStyle/>
          <a:p>
            <a:endParaRPr lang="en-US"/>
          </a:p>
        </p:txBody>
      </p:sp>
      <p:sp>
        <p:nvSpPr>
          <p:cNvPr id="5" name="Text 3"/>
          <p:cNvSpPr/>
          <p:nvPr/>
        </p:nvSpPr>
        <p:spPr>
          <a:xfrm>
            <a:off x="612648" y="987552"/>
            <a:ext cx="362102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Connection Pool</a:t>
            </a:r>
            <a:endParaRPr lang="en-US" sz="1200" dirty="0"/>
          </a:p>
        </p:txBody>
      </p:sp>
      <p:sp>
        <p:nvSpPr>
          <p:cNvPr id="6" name="Text 4"/>
          <p:cNvSpPr/>
          <p:nvPr/>
        </p:nvSpPr>
        <p:spPr>
          <a:xfrm>
            <a:off x="612648" y="1344168"/>
            <a:ext cx="3621024" cy="71323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psycopg2 ThreadedConnectionPool (min=1, max=10).</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init_pool(settings) called at startup.</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apply_schema() runs CREATE TABLE IF NOT EXISTS.</a:t>
            </a:r>
            <a:endParaRPr lang="en-US" sz="1000" dirty="0"/>
          </a:p>
        </p:txBody>
      </p:sp>
      <p:sp>
        <p:nvSpPr>
          <p:cNvPr id="7" name="Shape 5"/>
          <p:cNvSpPr/>
          <p:nvPr/>
        </p:nvSpPr>
        <p:spPr>
          <a:xfrm>
            <a:off x="502920" y="2331720"/>
            <a:ext cx="3840480" cy="11887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8" name="Shape 6"/>
          <p:cNvSpPr/>
          <p:nvPr/>
        </p:nvSpPr>
        <p:spPr>
          <a:xfrm>
            <a:off x="502920" y="2331720"/>
            <a:ext cx="3840480" cy="320040"/>
          </a:xfrm>
          <a:prstGeom prst="rect">
            <a:avLst/>
          </a:prstGeom>
          <a:solidFill>
            <a:srgbClr val="0097A7"/>
          </a:solidFill>
          <a:ln/>
        </p:spPr>
        <p:txBody>
          <a:bodyPr/>
          <a:lstStyle/>
          <a:p>
            <a:endParaRPr lang="en-US"/>
          </a:p>
        </p:txBody>
      </p:sp>
      <p:sp>
        <p:nvSpPr>
          <p:cNvPr id="9" name="Text 7"/>
          <p:cNvSpPr/>
          <p:nvPr/>
        </p:nvSpPr>
        <p:spPr>
          <a:xfrm>
            <a:off x="612648" y="2359152"/>
            <a:ext cx="362102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HNSW Vector Index</a:t>
            </a:r>
            <a:endParaRPr lang="en-US" sz="1200" dirty="0"/>
          </a:p>
        </p:txBody>
      </p:sp>
      <p:sp>
        <p:nvSpPr>
          <p:cNvPr id="10" name="Text 8"/>
          <p:cNvSpPr/>
          <p:nvPr/>
        </p:nvSpPr>
        <p:spPr>
          <a:xfrm>
            <a:off x="612648" y="2715768"/>
            <a:ext cx="3621024" cy="71323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pgvector extension: embedding column type vector(N).</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ANN cosine search: embedding &lt;=&gt; query_vector.</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Dynamic dim management via vector_schema.py.</a:t>
            </a:r>
            <a:endParaRPr lang="en-US" sz="1000" dirty="0"/>
          </a:p>
        </p:txBody>
      </p:sp>
      <p:sp>
        <p:nvSpPr>
          <p:cNvPr id="11" name="Shape 9"/>
          <p:cNvSpPr/>
          <p:nvPr/>
        </p:nvSpPr>
        <p:spPr>
          <a:xfrm>
            <a:off x="4754880" y="960120"/>
            <a:ext cx="3931920" cy="11887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2" name="Shape 10"/>
          <p:cNvSpPr/>
          <p:nvPr/>
        </p:nvSpPr>
        <p:spPr>
          <a:xfrm>
            <a:off x="4754880" y="960120"/>
            <a:ext cx="3931920" cy="320040"/>
          </a:xfrm>
          <a:prstGeom prst="rect">
            <a:avLst/>
          </a:prstGeom>
          <a:solidFill>
            <a:srgbClr val="1B2A4A"/>
          </a:solidFill>
          <a:ln/>
        </p:spPr>
        <p:txBody>
          <a:bodyPr/>
          <a:lstStyle/>
          <a:p>
            <a:endParaRPr lang="en-US"/>
          </a:p>
        </p:txBody>
      </p:sp>
      <p:sp>
        <p:nvSpPr>
          <p:cNvPr id="13" name="Text 11"/>
          <p:cNvSpPr/>
          <p:nvPr/>
        </p:nvSpPr>
        <p:spPr>
          <a:xfrm>
            <a:off x="4864608" y="987552"/>
            <a:ext cx="371246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Full-Text Search</a:t>
            </a:r>
            <a:endParaRPr lang="en-US" sz="1200" dirty="0"/>
          </a:p>
        </p:txBody>
      </p:sp>
      <p:sp>
        <p:nvSpPr>
          <p:cNvPr id="14" name="Text 12"/>
          <p:cNvSpPr/>
          <p:nvPr/>
        </p:nvSpPr>
        <p:spPr>
          <a:xfrm>
            <a:off x="4864608" y="1344168"/>
            <a:ext cx="3712464" cy="71323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PostgreSQL tsvector column ts.</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ts_rank_cd() scoring via plainto_tsquery('english',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Works alongside vector search for hybrid retrieval.</a:t>
            </a:r>
            <a:endParaRPr lang="en-US" sz="1000" dirty="0"/>
          </a:p>
        </p:txBody>
      </p:sp>
      <p:sp>
        <p:nvSpPr>
          <p:cNvPr id="15" name="Shape 13"/>
          <p:cNvSpPr/>
          <p:nvPr/>
        </p:nvSpPr>
        <p:spPr>
          <a:xfrm>
            <a:off x="4754880" y="2331720"/>
            <a:ext cx="3931920" cy="11887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6" name="Shape 14"/>
          <p:cNvSpPr/>
          <p:nvPr/>
        </p:nvSpPr>
        <p:spPr>
          <a:xfrm>
            <a:off x="4754880" y="2331720"/>
            <a:ext cx="3931920" cy="320040"/>
          </a:xfrm>
          <a:prstGeom prst="rect">
            <a:avLst/>
          </a:prstGeom>
          <a:solidFill>
            <a:srgbClr val="1B2A4A"/>
          </a:solidFill>
          <a:ln/>
        </p:spPr>
        <p:txBody>
          <a:bodyPr/>
          <a:lstStyle/>
          <a:p>
            <a:endParaRPr lang="en-US"/>
          </a:p>
        </p:txBody>
      </p:sp>
      <p:sp>
        <p:nvSpPr>
          <p:cNvPr id="17" name="Text 15"/>
          <p:cNvSpPr/>
          <p:nvPr/>
        </p:nvSpPr>
        <p:spPr>
          <a:xfrm>
            <a:off x="4864608" y="2359152"/>
            <a:ext cx="371246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Mandatory Backend</a:t>
            </a:r>
            <a:endParaRPr lang="en-US" sz="1200" dirty="0"/>
          </a:p>
        </p:txBody>
      </p:sp>
      <p:sp>
        <p:nvSpPr>
          <p:cNvPr id="18" name="Text 16"/>
          <p:cNvSpPr/>
          <p:nvPr/>
        </p:nvSpPr>
        <p:spPr>
          <a:xfrm>
            <a:off x="4864608" y="2715768"/>
            <a:ext cx="3712464" cy="71323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load_stores() raises NotImplementedError if</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database_backend ≠ 'postgres' OR</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vector_store_backend ≠ 'pgvector'.</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No file-based fallback exists.</a:t>
            </a:r>
            <a:endParaRPr lang="en-US" sz="1000" dirty="0"/>
          </a:p>
        </p:txBody>
      </p:sp>
      <p:sp>
        <p:nvSpPr>
          <p:cNvPr id="19" name="Text 17"/>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persistence/postgres/connection.py, persistence/postgres/vector_schema.py, rag/stores.py</a:t>
            </a:r>
            <a:endParaRPr lang="en-US" sz="9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KnowledgeStores — Unified Storage Interface</a:t>
            </a:r>
            <a:endParaRPr lang="en-US" sz="2600" dirty="0"/>
          </a:p>
        </p:txBody>
      </p:sp>
      <p:sp>
        <p:nvSpPr>
          <p:cNvPr id="3" name="Shape 1"/>
          <p:cNvSpPr/>
          <p:nvPr/>
        </p:nvSpPr>
        <p:spPr>
          <a:xfrm>
            <a:off x="1371600" y="914400"/>
            <a:ext cx="6400800" cy="50292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4" name="Text 2"/>
          <p:cNvSpPr/>
          <p:nvPr/>
        </p:nvSpPr>
        <p:spPr>
          <a:xfrm>
            <a:off x="1371600" y="914400"/>
            <a:ext cx="6400800" cy="50292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KnowledgeStores  (rag/stores.py)</a:t>
            </a:r>
            <a:endParaRPr lang="en-US" sz="1000" dirty="0"/>
          </a:p>
        </p:txBody>
      </p:sp>
      <p:sp>
        <p:nvSpPr>
          <p:cNvPr id="5" name="Shape 3"/>
          <p:cNvSpPr/>
          <p:nvPr/>
        </p:nvSpPr>
        <p:spPr>
          <a:xfrm>
            <a:off x="4572000" y="1417320"/>
            <a:ext cx="0" cy="228600"/>
          </a:xfrm>
          <a:prstGeom prst="line">
            <a:avLst/>
          </a:prstGeom>
          <a:noFill/>
          <a:ln w="25400">
            <a:solidFill>
              <a:srgbClr val="0097A7"/>
            </a:solidFill>
            <a:prstDash val="solid"/>
          </a:ln>
        </p:spPr>
        <p:txBody>
          <a:bodyPr/>
          <a:lstStyle/>
          <a:p>
            <a:endParaRPr lang="en-US"/>
          </a:p>
        </p:txBody>
      </p:sp>
      <p:sp>
        <p:nvSpPr>
          <p:cNvPr id="6" name="Text 4"/>
          <p:cNvSpPr/>
          <p:nvPr/>
        </p:nvSpPr>
        <p:spPr>
          <a:xfrm>
            <a:off x="4480560" y="1572768"/>
            <a:ext cx="182880" cy="164592"/>
          </a:xfrm>
          <a:prstGeom prst="rect">
            <a:avLst/>
          </a:prstGeom>
          <a:noFill/>
          <a:ln/>
        </p:spPr>
        <p:txBody>
          <a:bodyPr wrap="square" lIns="0" tIns="0" rIns="0" bIns="0" rtlCol="0" anchor="ctr"/>
          <a:lstStyle/>
          <a:p>
            <a:pPr marL="0" indent="0" algn="ctr">
              <a:buNone/>
            </a:pPr>
            <a:r>
              <a:rPr lang="en-US" sz="1000" b="1" dirty="0">
                <a:solidFill>
                  <a:srgbClr val="0097A7"/>
                </a:solidFill>
                <a:latin typeface="Arial" pitchFamily="34" charset="0"/>
                <a:ea typeface="Arial" pitchFamily="34" charset="-122"/>
                <a:cs typeface="Arial" pitchFamily="34" charset="-120"/>
              </a:rPr>
              <a:t>v</a:t>
            </a:r>
            <a:endParaRPr lang="en-US" sz="1000" dirty="0"/>
          </a:p>
        </p:txBody>
      </p:sp>
      <p:sp>
        <p:nvSpPr>
          <p:cNvPr id="7" name="Shape 5"/>
          <p:cNvSpPr/>
          <p:nvPr/>
        </p:nvSpPr>
        <p:spPr>
          <a:xfrm>
            <a:off x="502920" y="1691640"/>
            <a:ext cx="1645920" cy="77724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8" name="Text 6"/>
          <p:cNvSpPr/>
          <p:nvPr/>
        </p:nvSpPr>
        <p:spPr>
          <a:xfrm>
            <a:off x="502920" y="1691640"/>
            <a:ext cx="1645920" cy="77724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chunk_store</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(ChunkStore)</a:t>
            </a:r>
            <a:endParaRPr lang="en-US" sz="1000" dirty="0"/>
          </a:p>
        </p:txBody>
      </p:sp>
      <p:sp>
        <p:nvSpPr>
          <p:cNvPr id="9" name="Shape 7"/>
          <p:cNvSpPr/>
          <p:nvPr/>
        </p:nvSpPr>
        <p:spPr>
          <a:xfrm>
            <a:off x="2286000" y="1691640"/>
            <a:ext cx="1645920" cy="77724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10" name="Text 8"/>
          <p:cNvSpPr/>
          <p:nvPr/>
        </p:nvSpPr>
        <p:spPr>
          <a:xfrm>
            <a:off x="2286000" y="1691640"/>
            <a:ext cx="1645920" cy="77724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doc_store</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(DocumentStore)</a:t>
            </a:r>
            <a:endParaRPr lang="en-US" sz="1000" dirty="0"/>
          </a:p>
        </p:txBody>
      </p:sp>
      <p:sp>
        <p:nvSpPr>
          <p:cNvPr id="11" name="Shape 9"/>
          <p:cNvSpPr/>
          <p:nvPr/>
        </p:nvSpPr>
        <p:spPr>
          <a:xfrm>
            <a:off x="4069080" y="1691640"/>
            <a:ext cx="1645920" cy="77724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12" name="Text 10"/>
          <p:cNvSpPr/>
          <p:nvPr/>
        </p:nvSpPr>
        <p:spPr>
          <a:xfrm>
            <a:off x="4069080" y="1691640"/>
            <a:ext cx="1645920" cy="77724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skill_store</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(SkillStore)</a:t>
            </a:r>
            <a:endParaRPr lang="en-US" sz="1000" dirty="0"/>
          </a:p>
        </p:txBody>
      </p:sp>
      <p:sp>
        <p:nvSpPr>
          <p:cNvPr id="13" name="Shape 11"/>
          <p:cNvSpPr/>
          <p:nvPr/>
        </p:nvSpPr>
        <p:spPr>
          <a:xfrm>
            <a:off x="5852160" y="1691640"/>
            <a:ext cx="1645920" cy="777240"/>
          </a:xfrm>
          <a:prstGeom prst="rect">
            <a:avLst/>
          </a:prstGeom>
          <a:solidFill>
            <a:srgbClr val="5C6BC0"/>
          </a:solidFill>
          <a:ln/>
          <a:effectLst>
            <a:outerShdw blurRad="50800" dist="25400" dir="8100000" algn="bl" rotWithShape="0">
              <a:srgbClr val="000000">
                <a:alpha val="12000"/>
              </a:srgbClr>
            </a:outerShdw>
          </a:effectLst>
        </p:spPr>
        <p:txBody>
          <a:bodyPr/>
          <a:lstStyle/>
          <a:p>
            <a:endParaRPr lang="en-US"/>
          </a:p>
        </p:txBody>
      </p:sp>
      <p:sp>
        <p:nvSpPr>
          <p:cNvPr id="14" name="Text 12"/>
          <p:cNvSpPr/>
          <p:nvPr/>
        </p:nvSpPr>
        <p:spPr>
          <a:xfrm>
            <a:off x="5852160" y="1691640"/>
            <a:ext cx="1645920" cy="77724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graph_store</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(optional)</a:t>
            </a:r>
            <a:endParaRPr lang="en-US" sz="1000" dirty="0"/>
          </a:p>
        </p:txBody>
      </p:sp>
      <p:sp>
        <p:nvSpPr>
          <p:cNvPr id="15" name="Shape 13"/>
          <p:cNvSpPr/>
          <p:nvPr/>
        </p:nvSpPr>
        <p:spPr>
          <a:xfrm>
            <a:off x="7635240" y="1691640"/>
            <a:ext cx="1645920" cy="777240"/>
          </a:xfrm>
          <a:prstGeom prst="rect">
            <a:avLst/>
          </a:prstGeom>
          <a:solidFill>
            <a:srgbClr val="999999"/>
          </a:solidFill>
          <a:ln/>
          <a:effectLst>
            <a:outerShdw blurRad="50800" dist="25400" dir="8100000" algn="bl" rotWithShape="0">
              <a:srgbClr val="000000">
                <a:alpha val="12000"/>
              </a:srgbClr>
            </a:outerShdw>
          </a:effectLst>
        </p:spPr>
        <p:txBody>
          <a:bodyPr/>
          <a:lstStyle/>
          <a:p>
            <a:endParaRPr lang="en-US"/>
          </a:p>
        </p:txBody>
      </p:sp>
      <p:sp>
        <p:nvSpPr>
          <p:cNvPr id="16" name="Text 14"/>
          <p:cNvSpPr/>
          <p:nvPr/>
        </p:nvSpPr>
        <p:spPr>
          <a:xfrm>
            <a:off x="7635240" y="1691640"/>
            <a:ext cx="1645920" cy="77724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memory_store</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(None now)</a:t>
            </a:r>
            <a:endParaRPr lang="en-US" sz="1000" dirty="0"/>
          </a:p>
        </p:txBody>
      </p:sp>
      <p:sp>
        <p:nvSpPr>
          <p:cNvPr id="17" name="Text 15"/>
          <p:cNvSpPr/>
          <p:nvPr/>
        </p:nvSpPr>
        <p:spPr>
          <a:xfrm>
            <a:off x="502920" y="2606040"/>
            <a:ext cx="8138160" cy="32004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 ChunkStore: vector_search(), keyword_search(), full_text_search_document(), get_chunks_by_clause(), get_structure_outline(), get_requirement_chunks(), get_chunk_by_id(), get_chunks_by_index_range()</a:t>
            </a:r>
            <a:endParaRPr lang="en-US" sz="950" dirty="0"/>
          </a:p>
        </p:txBody>
      </p:sp>
      <p:sp>
        <p:nvSpPr>
          <p:cNvPr id="18" name="Text 16"/>
          <p:cNvSpPr/>
          <p:nvPr/>
        </p:nvSpPr>
        <p:spPr>
          <a:xfrm>
            <a:off x="502920" y="2944368"/>
            <a:ext cx="8138160" cy="32004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 DocumentStore: fuzzy_search_title(), search_by_metadata(), list_collections(), get_all_titles()</a:t>
            </a:r>
            <a:endParaRPr lang="en-US" sz="950" dirty="0"/>
          </a:p>
        </p:txBody>
      </p:sp>
      <p:sp>
        <p:nvSpPr>
          <p:cNvPr id="19" name="Text 17"/>
          <p:cNvSpPr/>
          <p:nvPr/>
        </p:nvSpPr>
        <p:spPr>
          <a:xfrm>
            <a:off x="502920" y="3282696"/>
            <a:ext cx="8138160" cy="32004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 SkillStore: skill chunk search backed by PostgreSQL</a:t>
            </a:r>
            <a:endParaRPr lang="en-US" sz="950" dirty="0"/>
          </a:p>
        </p:txBody>
      </p:sp>
      <p:sp>
        <p:nvSpPr>
          <p:cNvPr id="20" name="Text 18"/>
          <p:cNvSpPr/>
          <p:nvPr/>
        </p:nvSpPr>
        <p:spPr>
          <a:xfrm>
            <a:off x="502920" y="3621024"/>
            <a:ext cx="8138160" cy="32004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 GraphStore: graph_search_local() + graph_search_global() — optional, early-stage</a:t>
            </a:r>
            <a:endParaRPr lang="en-US" sz="950" dirty="0"/>
          </a:p>
        </p:txBody>
      </p:sp>
      <p:sp>
        <p:nvSpPr>
          <p:cNvPr id="21" name="Text 19"/>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rag/stores.py, persistence/postgres/chunks.py, persistence/postgres/documents.py, persistence/postgres/skills.py</a:t>
            </a:r>
            <a:endParaRPr lang="en-US" sz="9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02920" y="1463040"/>
            <a:ext cx="8138160" cy="73152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Advanced RAG Capabilities</a:t>
            </a:r>
            <a:endParaRPr lang="en-US" sz="3200" dirty="0"/>
          </a:p>
        </p:txBody>
      </p:sp>
      <p:sp>
        <p:nvSpPr>
          <p:cNvPr id="3" name="Text 1"/>
          <p:cNvSpPr/>
          <p:nvPr/>
        </p:nvSpPr>
        <p:spPr>
          <a:xfrm>
            <a:off x="502920" y="2286000"/>
            <a:ext cx="8138160" cy="457200"/>
          </a:xfrm>
          <a:prstGeom prst="rect">
            <a:avLst/>
          </a:prstGeom>
          <a:noFill/>
          <a:ln/>
        </p:spPr>
        <p:txBody>
          <a:bodyPr wrap="square" lIns="0" tIns="0" rIns="0" bIns="0" rtlCol="0" anchor="ctr"/>
          <a:lstStyle/>
          <a:p>
            <a:pPr marL="0" indent="0">
              <a:buNone/>
            </a:pPr>
            <a:r>
              <a:rPr lang="en-US" sz="1600" dirty="0">
                <a:solidFill>
                  <a:srgbClr val="0097A7"/>
                </a:solidFill>
                <a:latin typeface="Arial" pitchFamily="34" charset="0"/>
                <a:ea typeface="Arial" pitchFamily="34" charset="-122"/>
                <a:cs typeface="Arial" pitchFamily="34" charset="-120"/>
              </a:rPr>
              <a:t>Clause-aware ingestion, 19 specialist tools, parallel fanout</a:t>
            </a:r>
            <a:endParaRPr lang="en-US" sz="16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Document Structure Detection &amp; Clause-Aware Splitting</a:t>
            </a:r>
            <a:endParaRPr lang="en-US" sz="2600" dirty="0"/>
          </a:p>
        </p:txBody>
      </p:sp>
      <p:sp>
        <p:nvSpPr>
          <p:cNvPr id="3" name="Shape 1"/>
          <p:cNvSpPr/>
          <p:nvPr/>
        </p:nvSpPr>
        <p:spPr>
          <a:xfrm>
            <a:off x="502920" y="960120"/>
            <a:ext cx="3840480" cy="173736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4" name="Shape 2"/>
          <p:cNvSpPr/>
          <p:nvPr/>
        </p:nvSpPr>
        <p:spPr>
          <a:xfrm>
            <a:off x="502920" y="960120"/>
            <a:ext cx="3840480" cy="320040"/>
          </a:xfrm>
          <a:prstGeom prst="rect">
            <a:avLst/>
          </a:prstGeom>
          <a:solidFill>
            <a:srgbClr val="0097A7"/>
          </a:solidFill>
          <a:ln/>
        </p:spPr>
        <p:txBody>
          <a:bodyPr/>
          <a:lstStyle/>
          <a:p>
            <a:endParaRPr lang="en-US"/>
          </a:p>
        </p:txBody>
      </p:sp>
      <p:sp>
        <p:nvSpPr>
          <p:cNvPr id="5" name="Text 3"/>
          <p:cNvSpPr/>
          <p:nvPr/>
        </p:nvSpPr>
        <p:spPr>
          <a:xfrm>
            <a:off x="612648" y="987552"/>
            <a:ext cx="362102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Structure Detector (rag/structure_detector.py)</a:t>
            </a:r>
            <a:endParaRPr lang="en-US" sz="1200" dirty="0"/>
          </a:p>
        </p:txBody>
      </p:sp>
      <p:sp>
        <p:nvSpPr>
          <p:cNvPr id="6" name="Text 4"/>
          <p:cNvSpPr/>
          <p:nvPr/>
        </p:nvSpPr>
        <p:spPr>
          <a:xfrm>
            <a:off x="612648" y="1344168"/>
            <a:ext cx="3621024" cy="126187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Pure regex module — no LLM calls, no I/O.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CLAUSE_PATTERN: 'Clause 3.2', 'Section 4.', '10.2.3 Scope'
REQUIREMENT_PATTERN: 'shall', 'must', 'REQ-001'
PROCESS_FLOW_PATTERN: 'approval flow', 'swimlane', 'escalation path'
STEP_PATTERN: 'Step 1:', 'Phase 3:', '1. Introduction'
</a:t>
            </a:r>
            <a:endParaRPr lang="en-US" sz="1000" dirty="0"/>
          </a:p>
        </p:txBody>
      </p:sp>
      <p:sp>
        <p:nvSpPr>
          <p:cNvPr id="7" name="Shape 5"/>
          <p:cNvSpPr/>
          <p:nvPr/>
        </p:nvSpPr>
        <p:spPr>
          <a:xfrm>
            <a:off x="4754880" y="960120"/>
            <a:ext cx="3931920" cy="173736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8" name="Shape 6"/>
          <p:cNvSpPr/>
          <p:nvPr/>
        </p:nvSpPr>
        <p:spPr>
          <a:xfrm>
            <a:off x="4754880" y="960120"/>
            <a:ext cx="3931920" cy="320040"/>
          </a:xfrm>
          <a:prstGeom prst="rect">
            <a:avLst/>
          </a:prstGeom>
          <a:solidFill>
            <a:srgbClr val="1B2A4A"/>
          </a:solidFill>
          <a:ln/>
        </p:spPr>
        <p:txBody>
          <a:bodyPr/>
          <a:lstStyle/>
          <a:p>
            <a:endParaRPr lang="en-US"/>
          </a:p>
        </p:txBody>
      </p:sp>
      <p:sp>
        <p:nvSpPr>
          <p:cNvPr id="9" name="Text 7"/>
          <p:cNvSpPr/>
          <p:nvPr/>
        </p:nvSpPr>
        <p:spPr>
          <a:xfrm>
            <a:off x="4864608" y="987552"/>
            <a:ext cx="371246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Clause Splitter (rag/clause_splitter.py)</a:t>
            </a:r>
            <a:endParaRPr lang="en-US" sz="1200" dirty="0"/>
          </a:p>
        </p:txBody>
      </p:sp>
      <p:sp>
        <p:nvSpPr>
          <p:cNvPr id="10" name="Text 8"/>
          <p:cNvSpPr/>
          <p:nvPr/>
        </p:nvSpPr>
        <p:spPr>
          <a:xfrm>
            <a:off x="4864608" y="1344168"/>
            <a:ext cx="3712464" cy="126187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Splits structured docs at clause/section/article boundaries — NOT arbitrary char counts.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Extracts clause_number: '3.2', 'IV', '10.1.4'
Extracts section_title: stripped of prefix
Tags chunk_type: general | clause | section | requirement | header
Falls back to RecursiveCharacterTextSplitter for oversized clauses
</a:t>
            </a:r>
            <a:endParaRPr lang="en-US" sz="1000" dirty="0"/>
          </a:p>
        </p:txBody>
      </p:sp>
      <p:sp>
        <p:nvSpPr>
          <p:cNvPr id="11" name="Shape 9"/>
          <p:cNvSpPr/>
          <p:nvPr/>
        </p:nvSpPr>
        <p:spPr>
          <a:xfrm>
            <a:off x="502920" y="2834640"/>
            <a:ext cx="8138160" cy="502920"/>
          </a:xfrm>
          <a:prstGeom prst="rect">
            <a:avLst/>
          </a:prstGeom>
          <a:solidFill>
            <a:srgbClr val="E0F7FA"/>
          </a:solidFill>
          <a:ln w="12700">
            <a:solidFill>
              <a:srgbClr val="0097A7"/>
            </a:solidFill>
            <a:prstDash val="solid"/>
          </a:ln>
        </p:spPr>
        <p:txBody>
          <a:bodyPr/>
          <a:lstStyle/>
          <a:p>
            <a:endParaRPr lang="en-US"/>
          </a:p>
        </p:txBody>
      </p:sp>
      <p:sp>
        <p:nvSpPr>
          <p:cNvPr id="12" name="Text 10"/>
          <p:cNvSpPr/>
          <p:nvPr/>
        </p:nvSpPr>
        <p:spPr>
          <a:xfrm>
            <a:off x="594360" y="2834640"/>
            <a:ext cx="7955280" cy="50292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Why this matters: a chunk tagged 'clause' with clause_number='3.2' can be retrieved by EXACT match (extract_clauses tool), not just semantic similarity. Contracts and policies can now be queried with surgical precision.</a:t>
            </a:r>
            <a:endParaRPr lang="en-US" sz="1000" dirty="0"/>
          </a:p>
        </p:txBody>
      </p:sp>
      <p:sp>
        <p:nvSpPr>
          <p:cNvPr id="13" name="Text 11"/>
          <p:cNvSpPr/>
          <p:nvPr/>
        </p:nvSpPr>
        <p:spPr>
          <a:xfrm>
            <a:off x="502920" y="3474720"/>
            <a:ext cx="8138160" cy="274320"/>
          </a:xfrm>
          <a:prstGeom prst="rect">
            <a:avLst/>
          </a:prstGeom>
          <a:noFill/>
          <a:ln/>
        </p:spPr>
        <p:txBody>
          <a:bodyPr wrap="square" lIns="0" tIns="0" rIns="0" bIns="0" rtlCol="0" anchor="ctr"/>
          <a:lstStyle/>
          <a:p>
            <a:pPr marL="0" indent="0" algn="ctr">
              <a:buNone/>
            </a:pPr>
            <a:r>
              <a:rPr lang="en-US" sz="1000" dirty="0">
                <a:solidFill>
                  <a:srgbClr val="666666"/>
                </a:solidFill>
                <a:latin typeface="Courier New" pitchFamily="34" charset="0"/>
                <a:ea typeface="Courier New" pitchFamily="34" charset="-122"/>
                <a:cs typeface="Courier New" pitchFamily="34" charset="-120"/>
              </a:rPr>
              <a:t>chunk_type values: general | clause | section | requirement | header</a:t>
            </a:r>
            <a:endParaRPr lang="en-US" sz="1000" dirty="0"/>
          </a:p>
        </p:txBody>
      </p:sp>
      <p:sp>
        <p:nvSpPr>
          <p:cNvPr id="14" name="Text 12"/>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rag/structure_detector.py, rag/clause_splitter.py, persistence/postgres/chunks.py</a:t>
            </a:r>
            <a:endParaRPr lang="en-US" sz="9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19 Specialist RAG Tools — Direct KB Access for Agents</a:t>
            </a:r>
            <a:endParaRPr lang="en-US" sz="2600" dirty="0"/>
          </a:p>
        </p:txBody>
      </p:sp>
      <p:sp>
        <p:nvSpPr>
          <p:cNvPr id="3" name="Shape 1"/>
          <p:cNvSpPr/>
          <p:nvPr/>
        </p:nvSpPr>
        <p:spPr>
          <a:xfrm>
            <a:off x="502920" y="914400"/>
            <a:ext cx="1828800" cy="594360"/>
          </a:xfrm>
          <a:prstGeom prst="rect">
            <a:avLst/>
          </a:prstGeom>
          <a:solidFill>
            <a:srgbClr val="0097A7"/>
          </a:solidFill>
          <a:ln/>
        </p:spPr>
        <p:txBody>
          <a:bodyPr/>
          <a:lstStyle/>
          <a:p>
            <a:endParaRPr lang="en-US"/>
          </a:p>
        </p:txBody>
      </p:sp>
      <p:sp>
        <p:nvSpPr>
          <p:cNvPr id="4" name="Text 2"/>
          <p:cNvSpPr/>
          <p:nvPr/>
        </p:nvSpPr>
        <p:spPr>
          <a:xfrm>
            <a:off x="576072" y="914400"/>
            <a:ext cx="1691640" cy="594360"/>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Document Discovery</a:t>
            </a:r>
            <a:endParaRPr lang="en-US" sz="1000" dirty="0"/>
          </a:p>
        </p:txBody>
      </p:sp>
      <p:sp>
        <p:nvSpPr>
          <p:cNvPr id="5" name="Shape 3"/>
          <p:cNvSpPr/>
          <p:nvPr/>
        </p:nvSpPr>
        <p:spPr>
          <a:xfrm>
            <a:off x="2331720" y="914400"/>
            <a:ext cx="6309360" cy="594360"/>
          </a:xfrm>
          <a:prstGeom prst="rect">
            <a:avLst/>
          </a:prstGeom>
          <a:solidFill>
            <a:srgbClr val="F5F5F5"/>
          </a:solidFill>
          <a:ln w="3810">
            <a:solidFill>
              <a:srgbClr val="F0F0F0"/>
            </a:solidFill>
            <a:prstDash val="solid"/>
          </a:ln>
        </p:spPr>
        <p:txBody>
          <a:bodyPr/>
          <a:lstStyle/>
          <a:p>
            <a:endParaRPr lang="en-US"/>
          </a:p>
        </p:txBody>
      </p:sp>
      <p:sp>
        <p:nvSpPr>
          <p:cNvPr id="6" name="Text 4"/>
          <p:cNvSpPr/>
          <p:nvPr/>
        </p:nvSpPr>
        <p:spPr>
          <a:xfrm>
            <a:off x="2468880" y="914400"/>
            <a:ext cx="6035040" cy="594360"/>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resolve_document (fuzzy name match), search_all_documents, search_by_metadata (filter by source_type/file_type/collection), list_collections</a:t>
            </a:r>
            <a:endParaRPr lang="en-US" sz="900" dirty="0"/>
          </a:p>
        </p:txBody>
      </p:sp>
      <p:sp>
        <p:nvSpPr>
          <p:cNvPr id="7" name="Shape 5"/>
          <p:cNvSpPr/>
          <p:nvPr/>
        </p:nvSpPr>
        <p:spPr>
          <a:xfrm>
            <a:off x="502920" y="1563624"/>
            <a:ext cx="1828800" cy="594360"/>
          </a:xfrm>
          <a:prstGeom prst="rect">
            <a:avLst/>
          </a:prstGeom>
          <a:solidFill>
            <a:srgbClr val="1B2A4A"/>
          </a:solidFill>
          <a:ln/>
        </p:spPr>
        <p:txBody>
          <a:bodyPr/>
          <a:lstStyle/>
          <a:p>
            <a:endParaRPr lang="en-US"/>
          </a:p>
        </p:txBody>
      </p:sp>
      <p:sp>
        <p:nvSpPr>
          <p:cNvPr id="8" name="Text 6"/>
          <p:cNvSpPr/>
          <p:nvPr/>
        </p:nvSpPr>
        <p:spPr>
          <a:xfrm>
            <a:off x="576072" y="1563624"/>
            <a:ext cx="1691640" cy="594360"/>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Single-Doc Search</a:t>
            </a:r>
            <a:endParaRPr lang="en-US" sz="1000" dirty="0"/>
          </a:p>
        </p:txBody>
      </p:sp>
      <p:sp>
        <p:nvSpPr>
          <p:cNvPr id="9" name="Shape 7"/>
          <p:cNvSpPr/>
          <p:nvPr/>
        </p:nvSpPr>
        <p:spPr>
          <a:xfrm>
            <a:off x="2331720" y="1563624"/>
            <a:ext cx="6309360" cy="594360"/>
          </a:xfrm>
          <a:prstGeom prst="rect">
            <a:avLst/>
          </a:prstGeom>
          <a:solidFill>
            <a:srgbClr val="F5F5F5"/>
          </a:solidFill>
          <a:ln w="3810">
            <a:solidFill>
              <a:srgbClr val="F0F0F0"/>
            </a:solidFill>
            <a:prstDash val="solid"/>
          </a:ln>
        </p:spPr>
        <p:txBody>
          <a:bodyPr/>
          <a:lstStyle/>
          <a:p>
            <a:endParaRPr lang="en-US"/>
          </a:p>
        </p:txBody>
      </p:sp>
      <p:sp>
        <p:nvSpPr>
          <p:cNvPr id="10" name="Text 8"/>
          <p:cNvSpPr/>
          <p:nvPr/>
        </p:nvSpPr>
        <p:spPr>
          <a:xfrm>
            <a:off x="2468880" y="1563624"/>
            <a:ext cx="6035040" cy="594360"/>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search_document (hybrid vector+keyword), full_text_search_document (deeper keyword, returns full content)</a:t>
            </a:r>
            <a:endParaRPr lang="en-US" sz="900" dirty="0"/>
          </a:p>
        </p:txBody>
      </p:sp>
      <p:sp>
        <p:nvSpPr>
          <p:cNvPr id="11" name="Shape 9"/>
          <p:cNvSpPr/>
          <p:nvPr/>
        </p:nvSpPr>
        <p:spPr>
          <a:xfrm>
            <a:off x="502920" y="2212848"/>
            <a:ext cx="1828800" cy="594360"/>
          </a:xfrm>
          <a:prstGeom prst="rect">
            <a:avLst/>
          </a:prstGeom>
          <a:solidFill>
            <a:srgbClr val="00796B"/>
          </a:solidFill>
          <a:ln/>
        </p:spPr>
        <p:txBody>
          <a:bodyPr/>
          <a:lstStyle/>
          <a:p>
            <a:endParaRPr lang="en-US"/>
          </a:p>
        </p:txBody>
      </p:sp>
      <p:sp>
        <p:nvSpPr>
          <p:cNvPr id="12" name="Text 10"/>
          <p:cNvSpPr/>
          <p:nvPr/>
        </p:nvSpPr>
        <p:spPr>
          <a:xfrm>
            <a:off x="576072" y="2212848"/>
            <a:ext cx="1691640" cy="594360"/>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Collection Search</a:t>
            </a:r>
            <a:endParaRPr lang="en-US" sz="1000" dirty="0"/>
          </a:p>
        </p:txBody>
      </p:sp>
      <p:sp>
        <p:nvSpPr>
          <p:cNvPr id="13" name="Shape 11"/>
          <p:cNvSpPr/>
          <p:nvPr/>
        </p:nvSpPr>
        <p:spPr>
          <a:xfrm>
            <a:off x="2331720" y="2212848"/>
            <a:ext cx="6309360" cy="594360"/>
          </a:xfrm>
          <a:prstGeom prst="rect">
            <a:avLst/>
          </a:prstGeom>
          <a:solidFill>
            <a:srgbClr val="F5F5F5"/>
          </a:solidFill>
          <a:ln w="3810">
            <a:solidFill>
              <a:srgbClr val="F0F0F0"/>
            </a:solidFill>
            <a:prstDash val="solid"/>
          </a:ln>
        </p:spPr>
        <p:txBody>
          <a:bodyPr/>
          <a:lstStyle/>
          <a:p>
            <a:endParaRPr lang="en-US"/>
          </a:p>
        </p:txBody>
      </p:sp>
      <p:sp>
        <p:nvSpPr>
          <p:cNvPr id="14" name="Text 12"/>
          <p:cNvSpPr/>
          <p:nvPr/>
        </p:nvSpPr>
        <p:spPr>
          <a:xfrm>
            <a:off x="2468880" y="2212848"/>
            <a:ext cx="6035040" cy="594360"/>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search_collection (vector+keyword within collection_id)</a:t>
            </a:r>
            <a:endParaRPr lang="en-US" sz="900" dirty="0"/>
          </a:p>
        </p:txBody>
      </p:sp>
      <p:sp>
        <p:nvSpPr>
          <p:cNvPr id="15" name="Shape 13"/>
          <p:cNvSpPr/>
          <p:nvPr/>
        </p:nvSpPr>
        <p:spPr>
          <a:xfrm>
            <a:off x="502920" y="2862072"/>
            <a:ext cx="1828800" cy="594360"/>
          </a:xfrm>
          <a:prstGeom prst="rect">
            <a:avLst/>
          </a:prstGeom>
          <a:solidFill>
            <a:srgbClr val="5C6BC0"/>
          </a:solidFill>
          <a:ln/>
        </p:spPr>
        <p:txBody>
          <a:bodyPr/>
          <a:lstStyle/>
          <a:p>
            <a:endParaRPr lang="en-US"/>
          </a:p>
        </p:txBody>
      </p:sp>
      <p:sp>
        <p:nvSpPr>
          <p:cNvPr id="16" name="Text 14"/>
          <p:cNvSpPr/>
          <p:nvPr/>
        </p:nvSpPr>
        <p:spPr>
          <a:xfrm>
            <a:off x="576072" y="2862072"/>
            <a:ext cx="1691640" cy="594360"/>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Structured Retrieval</a:t>
            </a:r>
            <a:endParaRPr lang="en-US" sz="1000" dirty="0"/>
          </a:p>
        </p:txBody>
      </p:sp>
      <p:sp>
        <p:nvSpPr>
          <p:cNvPr id="17" name="Shape 15"/>
          <p:cNvSpPr/>
          <p:nvPr/>
        </p:nvSpPr>
        <p:spPr>
          <a:xfrm>
            <a:off x="2331720" y="2862072"/>
            <a:ext cx="6309360" cy="594360"/>
          </a:xfrm>
          <a:prstGeom prst="rect">
            <a:avLst/>
          </a:prstGeom>
          <a:solidFill>
            <a:srgbClr val="F5F5F5"/>
          </a:solidFill>
          <a:ln w="3810">
            <a:solidFill>
              <a:srgbClr val="F0F0F0"/>
            </a:solidFill>
            <a:prstDash val="solid"/>
          </a:ln>
        </p:spPr>
        <p:txBody>
          <a:bodyPr/>
          <a:lstStyle/>
          <a:p>
            <a:endParaRPr lang="en-US"/>
          </a:p>
        </p:txBody>
      </p:sp>
      <p:sp>
        <p:nvSpPr>
          <p:cNvPr id="18" name="Text 16"/>
          <p:cNvSpPr/>
          <p:nvPr/>
        </p:nvSpPr>
        <p:spPr>
          <a:xfrm>
            <a:off x="2468880" y="2862072"/>
            <a:ext cx="6035040" cy="594360"/>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extract_clauses (exact clause_number match), list_document_structure (clause/section outline), fetch_document_outline (alias), extract_requirements ('shall'/'must' chunks), fetch_chunk_window (neighbors)</a:t>
            </a:r>
            <a:endParaRPr lang="en-US" sz="900" dirty="0"/>
          </a:p>
        </p:txBody>
      </p:sp>
      <p:sp>
        <p:nvSpPr>
          <p:cNvPr id="19" name="Shape 17"/>
          <p:cNvSpPr/>
          <p:nvPr/>
        </p:nvSpPr>
        <p:spPr>
          <a:xfrm>
            <a:off x="502920" y="3511296"/>
            <a:ext cx="1828800" cy="594360"/>
          </a:xfrm>
          <a:prstGeom prst="rect">
            <a:avLst/>
          </a:prstGeom>
          <a:solidFill>
            <a:srgbClr val="F9A825"/>
          </a:solidFill>
          <a:ln/>
        </p:spPr>
        <p:txBody>
          <a:bodyPr/>
          <a:lstStyle/>
          <a:p>
            <a:endParaRPr lang="en-US"/>
          </a:p>
        </p:txBody>
      </p:sp>
      <p:sp>
        <p:nvSpPr>
          <p:cNvPr id="20" name="Text 18"/>
          <p:cNvSpPr/>
          <p:nvPr/>
        </p:nvSpPr>
        <p:spPr>
          <a:xfrm>
            <a:off x="576072" y="3511296"/>
            <a:ext cx="1691640" cy="594360"/>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Cross-Doc Analysis</a:t>
            </a:r>
            <a:endParaRPr lang="en-US" sz="1000" dirty="0"/>
          </a:p>
        </p:txBody>
      </p:sp>
      <p:sp>
        <p:nvSpPr>
          <p:cNvPr id="21" name="Shape 19"/>
          <p:cNvSpPr/>
          <p:nvPr/>
        </p:nvSpPr>
        <p:spPr>
          <a:xfrm>
            <a:off x="2331720" y="3511296"/>
            <a:ext cx="6309360" cy="594360"/>
          </a:xfrm>
          <a:prstGeom prst="rect">
            <a:avLst/>
          </a:prstGeom>
          <a:solidFill>
            <a:srgbClr val="F5F5F5"/>
          </a:solidFill>
          <a:ln w="3810">
            <a:solidFill>
              <a:srgbClr val="F0F0F0"/>
            </a:solidFill>
            <a:prstDash val="solid"/>
          </a:ln>
        </p:spPr>
        <p:txBody>
          <a:bodyPr/>
          <a:lstStyle/>
          <a:p>
            <a:endParaRPr lang="en-US"/>
          </a:p>
        </p:txBody>
      </p:sp>
      <p:sp>
        <p:nvSpPr>
          <p:cNvPr id="22" name="Text 20"/>
          <p:cNvSpPr/>
          <p:nvPr/>
        </p:nvSpPr>
        <p:spPr>
          <a:xfrm>
            <a:off x="2468880" y="3511296"/>
            <a:ext cx="6035040" cy="594360"/>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compare_clauses (same clause_numbers across two docs), diff_documents (structural clause diff)</a:t>
            </a:r>
            <a:endParaRPr lang="en-US" sz="900" dirty="0"/>
          </a:p>
        </p:txBody>
      </p:sp>
      <p:sp>
        <p:nvSpPr>
          <p:cNvPr id="23" name="Shape 21"/>
          <p:cNvSpPr/>
          <p:nvPr/>
        </p:nvSpPr>
        <p:spPr>
          <a:xfrm>
            <a:off x="502920" y="4160520"/>
            <a:ext cx="1828800" cy="594360"/>
          </a:xfrm>
          <a:prstGeom prst="rect">
            <a:avLst/>
          </a:prstGeom>
          <a:solidFill>
            <a:srgbClr val="C62828"/>
          </a:solidFill>
          <a:ln/>
        </p:spPr>
        <p:txBody>
          <a:bodyPr/>
          <a:lstStyle/>
          <a:p>
            <a:endParaRPr lang="en-US"/>
          </a:p>
        </p:txBody>
      </p:sp>
      <p:sp>
        <p:nvSpPr>
          <p:cNvPr id="24" name="Text 22"/>
          <p:cNvSpPr/>
          <p:nvPr/>
        </p:nvSpPr>
        <p:spPr>
          <a:xfrm>
            <a:off x="576072" y="4160520"/>
            <a:ext cx="1691640" cy="594360"/>
          </a:xfrm>
          <a:prstGeom prst="rect">
            <a:avLst/>
          </a:prstGeom>
          <a:noFill/>
          <a:ln/>
        </p:spPr>
        <p:txBody>
          <a:bodyPr wrap="square" lIns="0" tIns="0" rIns="0" bIns="0" rtlCol="0" anchor="ctr"/>
          <a:lstStyle/>
          <a:p>
            <a:pPr marL="0" indent="0">
              <a:buNone/>
            </a:pPr>
            <a:r>
              <a:rPr lang="en-US" sz="1000" b="1" dirty="0">
                <a:solidFill>
                  <a:srgbClr val="FFFFFF"/>
                </a:solidFill>
                <a:latin typeface="Arial" pitchFamily="34" charset="0"/>
                <a:ea typeface="Arial" pitchFamily="34" charset="-122"/>
                <a:cs typeface="Arial" pitchFamily="34" charset="-120"/>
              </a:rPr>
              <a:t>Graph Search</a:t>
            </a:r>
            <a:endParaRPr lang="en-US" sz="1000" dirty="0"/>
          </a:p>
        </p:txBody>
      </p:sp>
      <p:sp>
        <p:nvSpPr>
          <p:cNvPr id="25" name="Shape 23"/>
          <p:cNvSpPr/>
          <p:nvPr/>
        </p:nvSpPr>
        <p:spPr>
          <a:xfrm>
            <a:off x="2331720" y="4160520"/>
            <a:ext cx="6309360" cy="594360"/>
          </a:xfrm>
          <a:prstGeom prst="rect">
            <a:avLst/>
          </a:prstGeom>
          <a:solidFill>
            <a:srgbClr val="F5F5F5"/>
          </a:solidFill>
          <a:ln w="3810">
            <a:solidFill>
              <a:srgbClr val="F0F0F0"/>
            </a:solidFill>
            <a:prstDash val="solid"/>
          </a:ln>
        </p:spPr>
        <p:txBody>
          <a:bodyPr/>
          <a:lstStyle/>
          <a:p>
            <a:endParaRPr lang="en-US"/>
          </a:p>
        </p:txBody>
      </p:sp>
      <p:sp>
        <p:nvSpPr>
          <p:cNvPr id="26" name="Text 24"/>
          <p:cNvSpPr/>
          <p:nvPr/>
        </p:nvSpPr>
        <p:spPr>
          <a:xfrm>
            <a:off x="2468880" y="4160520"/>
            <a:ext cx="6035040" cy="594360"/>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graph_search_local (entity-level), graph_search_global (cross-doc relationships) — optional</a:t>
            </a:r>
            <a:endParaRPr lang="en-US" sz="900" dirty="0"/>
          </a:p>
        </p:txBody>
      </p:sp>
      <p:sp>
        <p:nvSpPr>
          <p:cNvPr id="27" name="Text 25"/>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rag/specialist_tools.py — make_all_rag_tools(stores, session, settings)</a:t>
            </a:r>
            <a:endParaRPr lang="en-US" sz="9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RAG Fanout — Parallel Worker Execution via KernelRagRuntimeBridge</a:t>
            </a:r>
            <a:endParaRPr lang="en-US" sz="2600" dirty="0"/>
          </a:p>
        </p:txBody>
      </p:sp>
      <p:sp>
        <p:nvSpPr>
          <p:cNvPr id="3" name="Shape 1"/>
          <p:cNvSpPr/>
          <p:nvPr/>
        </p:nvSpPr>
        <p:spPr>
          <a:xfrm>
            <a:off x="731520" y="914400"/>
            <a:ext cx="7680960" cy="45720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4" name="Text 2"/>
          <p:cNvSpPr/>
          <p:nvPr/>
        </p:nvSpPr>
        <p:spPr>
          <a:xfrm>
            <a:off x="731520" y="914400"/>
            <a:ext cx="768096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Adaptive RAG engine needs multiple search tasks</a:t>
            </a:r>
            <a:endParaRPr lang="en-US" sz="1000" dirty="0"/>
          </a:p>
        </p:txBody>
      </p:sp>
      <p:sp>
        <p:nvSpPr>
          <p:cNvPr id="5" name="Shape 3"/>
          <p:cNvSpPr/>
          <p:nvPr/>
        </p:nvSpPr>
        <p:spPr>
          <a:xfrm>
            <a:off x="4572000" y="1371600"/>
            <a:ext cx="0" cy="182880"/>
          </a:xfrm>
          <a:prstGeom prst="line">
            <a:avLst/>
          </a:prstGeom>
          <a:noFill/>
          <a:ln w="25400">
            <a:solidFill>
              <a:srgbClr val="0097A7"/>
            </a:solidFill>
            <a:prstDash val="solid"/>
          </a:ln>
        </p:spPr>
        <p:txBody>
          <a:bodyPr/>
          <a:lstStyle/>
          <a:p>
            <a:endParaRPr lang="en-US"/>
          </a:p>
        </p:txBody>
      </p:sp>
      <p:sp>
        <p:nvSpPr>
          <p:cNvPr id="6" name="Text 4"/>
          <p:cNvSpPr/>
          <p:nvPr/>
        </p:nvSpPr>
        <p:spPr>
          <a:xfrm>
            <a:off x="4480560" y="1481328"/>
            <a:ext cx="182880" cy="164592"/>
          </a:xfrm>
          <a:prstGeom prst="rect">
            <a:avLst/>
          </a:prstGeom>
          <a:noFill/>
          <a:ln/>
        </p:spPr>
        <p:txBody>
          <a:bodyPr wrap="square" lIns="0" tIns="0" rIns="0" bIns="0" rtlCol="0" anchor="ctr"/>
          <a:lstStyle/>
          <a:p>
            <a:pPr marL="0" indent="0" algn="ctr">
              <a:buNone/>
            </a:pPr>
            <a:r>
              <a:rPr lang="en-US" sz="1000" b="1" dirty="0">
                <a:solidFill>
                  <a:srgbClr val="0097A7"/>
                </a:solidFill>
                <a:latin typeface="Arial" pitchFamily="34" charset="0"/>
                <a:ea typeface="Arial" pitchFamily="34" charset="-122"/>
                <a:cs typeface="Arial" pitchFamily="34" charset="-120"/>
              </a:rPr>
              <a:t>v</a:t>
            </a:r>
            <a:endParaRPr lang="en-US" sz="1000" dirty="0"/>
          </a:p>
        </p:txBody>
      </p:sp>
      <p:sp>
        <p:nvSpPr>
          <p:cNvPr id="7" name="Shape 5"/>
          <p:cNvSpPr/>
          <p:nvPr/>
        </p:nvSpPr>
        <p:spPr>
          <a:xfrm>
            <a:off x="1828800" y="1600200"/>
            <a:ext cx="5486400" cy="41148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8" name="Text 6"/>
          <p:cNvSpPr/>
          <p:nvPr/>
        </p:nvSpPr>
        <p:spPr>
          <a:xfrm>
            <a:off x="1828800" y="1600200"/>
            <a:ext cx="5486400" cy="4114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RagRuntimeBridge protocol (rag/fanout.py)</a:t>
            </a:r>
            <a:endParaRPr lang="en-US" sz="1000" dirty="0"/>
          </a:p>
        </p:txBody>
      </p:sp>
      <p:sp>
        <p:nvSpPr>
          <p:cNvPr id="9" name="Shape 7"/>
          <p:cNvSpPr/>
          <p:nvPr/>
        </p:nvSpPr>
        <p:spPr>
          <a:xfrm>
            <a:off x="4572000" y="2011680"/>
            <a:ext cx="0" cy="182880"/>
          </a:xfrm>
          <a:prstGeom prst="line">
            <a:avLst/>
          </a:prstGeom>
          <a:noFill/>
          <a:ln w="25400">
            <a:solidFill>
              <a:srgbClr val="0097A7"/>
            </a:solidFill>
            <a:prstDash val="solid"/>
          </a:ln>
        </p:spPr>
        <p:txBody>
          <a:bodyPr/>
          <a:lstStyle/>
          <a:p>
            <a:endParaRPr lang="en-US"/>
          </a:p>
        </p:txBody>
      </p:sp>
      <p:sp>
        <p:nvSpPr>
          <p:cNvPr id="10" name="Text 8"/>
          <p:cNvSpPr/>
          <p:nvPr/>
        </p:nvSpPr>
        <p:spPr>
          <a:xfrm>
            <a:off x="4480560" y="2121408"/>
            <a:ext cx="182880" cy="164592"/>
          </a:xfrm>
          <a:prstGeom prst="rect">
            <a:avLst/>
          </a:prstGeom>
          <a:noFill/>
          <a:ln/>
        </p:spPr>
        <p:txBody>
          <a:bodyPr wrap="square" lIns="0" tIns="0" rIns="0" bIns="0" rtlCol="0" anchor="ctr"/>
          <a:lstStyle/>
          <a:p>
            <a:pPr marL="0" indent="0" algn="ctr">
              <a:buNone/>
            </a:pPr>
            <a:r>
              <a:rPr lang="en-US" sz="1000" b="1" dirty="0">
                <a:solidFill>
                  <a:srgbClr val="0097A7"/>
                </a:solidFill>
                <a:latin typeface="Arial" pitchFamily="34" charset="0"/>
                <a:ea typeface="Arial" pitchFamily="34" charset="-122"/>
                <a:cs typeface="Arial" pitchFamily="34" charset="-120"/>
              </a:rPr>
              <a:t>v</a:t>
            </a:r>
            <a:endParaRPr lang="en-US" sz="1000" dirty="0"/>
          </a:p>
        </p:txBody>
      </p:sp>
      <p:sp>
        <p:nvSpPr>
          <p:cNvPr id="11" name="Shape 9"/>
          <p:cNvSpPr/>
          <p:nvPr/>
        </p:nvSpPr>
        <p:spPr>
          <a:xfrm>
            <a:off x="1371600" y="2240280"/>
            <a:ext cx="6400800" cy="41148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12" name="Text 10"/>
          <p:cNvSpPr/>
          <p:nvPr/>
        </p:nvSpPr>
        <p:spPr>
          <a:xfrm>
            <a:off x="1371600" y="2240280"/>
            <a:ext cx="6400800" cy="4114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KernelRagRuntimeBridge.run_search_tasks() (runtime/rag_bridge.py)</a:t>
            </a:r>
            <a:endParaRPr lang="en-US" sz="1000" dirty="0"/>
          </a:p>
        </p:txBody>
      </p:sp>
      <p:sp>
        <p:nvSpPr>
          <p:cNvPr id="13" name="Shape 11"/>
          <p:cNvSpPr/>
          <p:nvPr/>
        </p:nvSpPr>
        <p:spPr>
          <a:xfrm>
            <a:off x="4572000" y="2651760"/>
            <a:ext cx="0" cy="182880"/>
          </a:xfrm>
          <a:prstGeom prst="line">
            <a:avLst/>
          </a:prstGeom>
          <a:noFill/>
          <a:ln w="25400">
            <a:solidFill>
              <a:srgbClr val="0097A7"/>
            </a:solidFill>
            <a:prstDash val="solid"/>
          </a:ln>
        </p:spPr>
        <p:txBody>
          <a:bodyPr/>
          <a:lstStyle/>
          <a:p>
            <a:endParaRPr lang="en-US"/>
          </a:p>
        </p:txBody>
      </p:sp>
      <p:sp>
        <p:nvSpPr>
          <p:cNvPr id="14" name="Text 12"/>
          <p:cNvSpPr/>
          <p:nvPr/>
        </p:nvSpPr>
        <p:spPr>
          <a:xfrm>
            <a:off x="4480560" y="2761488"/>
            <a:ext cx="182880" cy="164592"/>
          </a:xfrm>
          <a:prstGeom prst="rect">
            <a:avLst/>
          </a:prstGeom>
          <a:noFill/>
          <a:ln/>
        </p:spPr>
        <p:txBody>
          <a:bodyPr wrap="square" lIns="0" tIns="0" rIns="0" bIns="0" rtlCol="0" anchor="ctr"/>
          <a:lstStyle/>
          <a:p>
            <a:pPr marL="0" indent="0" algn="ctr">
              <a:buNone/>
            </a:pPr>
            <a:r>
              <a:rPr lang="en-US" sz="1000" b="1" dirty="0">
                <a:solidFill>
                  <a:srgbClr val="0097A7"/>
                </a:solidFill>
                <a:latin typeface="Arial" pitchFamily="34" charset="0"/>
                <a:ea typeface="Arial" pitchFamily="34" charset="-122"/>
                <a:cs typeface="Arial" pitchFamily="34" charset="-120"/>
              </a:rPr>
              <a:t>v</a:t>
            </a:r>
            <a:endParaRPr lang="en-US" sz="1000" dirty="0"/>
          </a:p>
        </p:txBody>
      </p:sp>
      <p:sp>
        <p:nvSpPr>
          <p:cNvPr id="15" name="Shape 13"/>
          <p:cNvSpPr/>
          <p:nvPr/>
        </p:nvSpPr>
        <p:spPr>
          <a:xfrm>
            <a:off x="640080" y="2880360"/>
            <a:ext cx="3474720" cy="50292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16" name="Text 14"/>
          <p:cNvSpPr/>
          <p:nvPr/>
        </p:nvSpPr>
        <p:spPr>
          <a:xfrm>
            <a:off x="640080" y="2880360"/>
            <a:ext cx="3474720" cy="50292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Parallel: start_background_job() per task</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 wait_for_jobs()</a:t>
            </a:r>
            <a:endParaRPr lang="en-US" sz="1000" dirty="0"/>
          </a:p>
        </p:txBody>
      </p:sp>
      <p:sp>
        <p:nvSpPr>
          <p:cNvPr id="17" name="Shape 15"/>
          <p:cNvSpPr/>
          <p:nvPr/>
        </p:nvSpPr>
        <p:spPr>
          <a:xfrm>
            <a:off x="4846320" y="2880360"/>
            <a:ext cx="3474720" cy="50292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18" name="Text 16"/>
          <p:cNvSpPr/>
          <p:nvPr/>
        </p:nvSpPr>
        <p:spPr>
          <a:xfrm>
            <a:off x="4846320" y="2880360"/>
            <a:ext cx="3474720" cy="50292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Sequential: run_job_inline() per task</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one at a time</a:t>
            </a:r>
            <a:endParaRPr lang="en-US" sz="1000" dirty="0"/>
          </a:p>
        </p:txBody>
      </p:sp>
      <p:sp>
        <p:nvSpPr>
          <p:cNvPr id="19" name="Shape 17"/>
          <p:cNvSpPr/>
          <p:nvPr/>
        </p:nvSpPr>
        <p:spPr>
          <a:xfrm>
            <a:off x="502920" y="3520440"/>
            <a:ext cx="8138160" cy="411480"/>
          </a:xfrm>
          <a:prstGeom prst="rect">
            <a:avLst/>
          </a:prstGeom>
          <a:solidFill>
            <a:srgbClr val="E0F7FA"/>
          </a:solidFill>
          <a:ln w="12700">
            <a:solidFill>
              <a:srgbClr val="0097A7"/>
            </a:solidFill>
            <a:prstDash val="solid"/>
          </a:ln>
        </p:spPr>
        <p:txBody>
          <a:bodyPr/>
          <a:lstStyle/>
          <a:p>
            <a:endParaRPr lang="en-US"/>
          </a:p>
        </p:txBody>
      </p:sp>
      <p:sp>
        <p:nvSpPr>
          <p:cNvPr id="20" name="Text 18"/>
          <p:cNvSpPr/>
          <p:nvPr/>
        </p:nvSpPr>
        <p:spPr>
          <a:xfrm>
            <a:off x="594360" y="3520440"/>
            <a:ext cx="7955280" cy="41148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Parallel only if: task_count &gt; 1 AND not local Ollama workers AND provider supports parallel. Results merged into RagSearchBatchResult.</a:t>
            </a:r>
            <a:endParaRPr lang="en-US" sz="1000" dirty="0"/>
          </a:p>
        </p:txBody>
      </p:sp>
      <p:sp>
        <p:nvSpPr>
          <p:cNvPr id="21" name="Text 19"/>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rag/fanout.py (RagSearchTask, RagRuntimeBridge), runtime/rag_bridge.py (KernelRagRuntimeBridge)</a:t>
            </a:r>
            <a:endParaRPr lang="en-US" sz="9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RAG Execution Hints — research_profile + coverage_goal + skill_policy</a:t>
            </a:r>
            <a:endParaRPr lang="en-US" sz="2600" dirty="0"/>
          </a:p>
        </p:txBody>
      </p:sp>
      <p:sp>
        <p:nvSpPr>
          <p:cNvPr id="3" name="Text 1"/>
          <p:cNvSpPr/>
          <p:nvPr/>
        </p:nvSpPr>
        <p:spPr>
          <a:xfrm>
            <a:off x="502920" y="822960"/>
            <a:ext cx="8138160" cy="320040"/>
          </a:xfrm>
          <a:prstGeom prst="rect">
            <a:avLst/>
          </a:prstGeom>
          <a:noFill/>
          <a:ln/>
        </p:spPr>
        <p:txBody>
          <a:bodyPr wrap="square" lIns="0" tIns="0" rIns="0" bIns="0" rtlCol="0" anchor="ctr"/>
          <a:lstStyle/>
          <a:p>
            <a:pPr marL="0" indent="0">
              <a:buNone/>
            </a:pPr>
            <a:r>
              <a:rPr lang="en-US" sz="1100" dirty="0">
                <a:solidFill>
                  <a:srgbClr val="1B2A4A"/>
                </a:solidFill>
                <a:latin typeface="Arial" pitchFamily="34" charset="0"/>
                <a:ea typeface="Arial" pitchFamily="34" charset="-122"/>
                <a:cs typeface="Arial" pitchFamily="34" charset="-120"/>
              </a:rPr>
              <a:t>RagExecutionHints (rag/hints.py) tells the adaptive RAG engine HOW to search, not just WHAT to search for. Three sources are merged in priority order:</a:t>
            </a:r>
            <a:endParaRPr lang="en-US" sz="1100" dirty="0"/>
          </a:p>
        </p:txBody>
      </p:sp>
      <p:sp>
        <p:nvSpPr>
          <p:cNvPr id="4" name="Shape 2"/>
          <p:cNvSpPr/>
          <p:nvPr/>
        </p:nvSpPr>
        <p:spPr>
          <a:xfrm>
            <a:off x="502920" y="1234440"/>
            <a:ext cx="2590800" cy="411480"/>
          </a:xfrm>
          <a:prstGeom prst="rect">
            <a:avLst/>
          </a:prstGeom>
          <a:solidFill>
            <a:srgbClr val="1B2A4A"/>
          </a:solidFill>
          <a:ln/>
        </p:spPr>
        <p:txBody>
          <a:bodyPr/>
          <a:lstStyle/>
          <a:p>
            <a:endParaRPr lang="en-US"/>
          </a:p>
        </p:txBody>
      </p:sp>
      <p:sp>
        <p:nvSpPr>
          <p:cNvPr id="5" name="Text 3"/>
          <p:cNvSpPr/>
          <p:nvPr/>
        </p:nvSpPr>
        <p:spPr>
          <a:xfrm>
            <a:off x="548640" y="1234440"/>
            <a:ext cx="2499360" cy="411480"/>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 Explicit</a:t>
            </a:r>
            <a:endParaRPr lang="en-US" sz="1000" dirty="0"/>
          </a:p>
          <a:p>
            <a:pPr marL="0" indent="0" algn="ctr">
              <a:buNone/>
            </a:pPr>
            <a:r>
              <a:rPr lang="en-US" sz="1000" b="1" dirty="0">
                <a:solidFill>
                  <a:srgbClr val="FFFFFF"/>
                </a:solidFill>
                <a:latin typeface="Arial" pitchFamily="34" charset="0"/>
                <a:ea typeface="Arial" pitchFamily="34" charset="-122"/>
                <a:cs typeface="Arial" pitchFamily="34" charset="-120"/>
              </a:rPr>
              <a:t>(TaskSpec fields)</a:t>
            </a:r>
            <a:endParaRPr lang="en-US" sz="1000" dirty="0"/>
          </a:p>
        </p:txBody>
      </p:sp>
      <p:sp>
        <p:nvSpPr>
          <p:cNvPr id="6" name="Shape 4"/>
          <p:cNvSpPr/>
          <p:nvPr/>
        </p:nvSpPr>
        <p:spPr>
          <a:xfrm>
            <a:off x="502920" y="1645920"/>
            <a:ext cx="2590800" cy="731520"/>
          </a:xfrm>
          <a:prstGeom prst="rect">
            <a:avLst/>
          </a:prstGeom>
          <a:solidFill>
            <a:srgbClr val="F5F5F5"/>
          </a:solidFill>
          <a:ln w="3810">
            <a:solidFill>
              <a:srgbClr val="F0F0F0"/>
            </a:solidFill>
            <a:prstDash val="solid"/>
          </a:ln>
        </p:spPr>
        <p:txBody>
          <a:bodyPr/>
          <a:lstStyle/>
          <a:p>
            <a:endParaRPr lang="en-US"/>
          </a:p>
        </p:txBody>
      </p:sp>
      <p:sp>
        <p:nvSpPr>
          <p:cNvPr id="7" name="Text 5"/>
          <p:cNvSpPr/>
          <p:nvPr/>
        </p:nvSpPr>
        <p:spPr>
          <a:xfrm>
            <a:off x="548640" y="1645920"/>
            <a:ext cx="2499360" cy="73152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research_profile, coverage_goal, result_mode, controller_hints set directly in the task plan JSON. Highest priority.</a:t>
            </a:r>
            <a:endParaRPr lang="en-US" sz="950" dirty="0"/>
          </a:p>
        </p:txBody>
      </p:sp>
      <p:sp>
        <p:nvSpPr>
          <p:cNvPr id="8" name="Shape 6"/>
          <p:cNvSpPr/>
          <p:nvPr/>
        </p:nvSpPr>
        <p:spPr>
          <a:xfrm>
            <a:off x="3276600" y="1234440"/>
            <a:ext cx="2590800" cy="411480"/>
          </a:xfrm>
          <a:prstGeom prst="rect">
            <a:avLst/>
          </a:prstGeom>
          <a:solidFill>
            <a:srgbClr val="0097A7"/>
          </a:solidFill>
          <a:ln/>
        </p:spPr>
        <p:txBody>
          <a:bodyPr/>
          <a:lstStyle/>
          <a:p>
            <a:endParaRPr lang="en-US"/>
          </a:p>
        </p:txBody>
      </p:sp>
      <p:sp>
        <p:nvSpPr>
          <p:cNvPr id="9" name="Text 7"/>
          <p:cNvSpPr/>
          <p:nvPr/>
        </p:nvSpPr>
        <p:spPr>
          <a:xfrm>
            <a:off x="3322320" y="1234440"/>
            <a:ext cx="2499360" cy="411480"/>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 Skill-Driven</a:t>
            </a:r>
            <a:endParaRPr lang="en-US" sz="1000" dirty="0"/>
          </a:p>
          <a:p>
            <a:pPr marL="0" indent="0" algn="ctr">
              <a:buNone/>
            </a:pPr>
            <a:r>
              <a:rPr lang="en-US" sz="1000" b="1" dirty="0">
                <a:solidFill>
                  <a:srgbClr val="FFFFFF"/>
                </a:solidFill>
                <a:latin typeface="Arial" pitchFamily="34" charset="0"/>
                <a:ea typeface="Arial" pitchFamily="34" charset="-122"/>
                <a:cs typeface="Arial" pitchFamily="34" charset="-120"/>
              </a:rPr>
              <a:t>(resolve_rag_execution_hints)</a:t>
            </a:r>
            <a:endParaRPr lang="en-US" sz="1000" dirty="0"/>
          </a:p>
        </p:txBody>
      </p:sp>
      <p:sp>
        <p:nvSpPr>
          <p:cNvPr id="10" name="Shape 8"/>
          <p:cNvSpPr/>
          <p:nvPr/>
        </p:nvSpPr>
        <p:spPr>
          <a:xfrm>
            <a:off x="3276600" y="1645920"/>
            <a:ext cx="2590800" cy="731520"/>
          </a:xfrm>
          <a:prstGeom prst="rect">
            <a:avLst/>
          </a:prstGeom>
          <a:solidFill>
            <a:srgbClr val="F5F5F5"/>
          </a:solidFill>
          <a:ln w="3810">
            <a:solidFill>
              <a:srgbClr val="F0F0F0"/>
            </a:solidFill>
            <a:prstDash val="solid"/>
          </a:ln>
        </p:spPr>
        <p:txBody>
          <a:bodyPr/>
          <a:lstStyle/>
          <a:p>
            <a:endParaRPr lang="en-US"/>
          </a:p>
        </p:txBody>
      </p:sp>
      <p:sp>
        <p:nvSpPr>
          <p:cNvPr id="11" name="Text 9"/>
          <p:cNvSpPr/>
          <p:nvPr/>
        </p:nvSpPr>
        <p:spPr>
          <a:xfrm>
            <a:off x="3322320" y="1645920"/>
            <a:ext cx="2499360" cy="73152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SkillResolver finds relevant skills → extracts their hints. A 'corpus discovery' skill auto-sets coverage_goal='corpus_wide'.</a:t>
            </a:r>
            <a:endParaRPr lang="en-US" sz="950" dirty="0"/>
          </a:p>
        </p:txBody>
      </p:sp>
      <p:sp>
        <p:nvSpPr>
          <p:cNvPr id="12" name="Shape 10"/>
          <p:cNvSpPr/>
          <p:nvPr/>
        </p:nvSpPr>
        <p:spPr>
          <a:xfrm>
            <a:off x="6050280" y="1234440"/>
            <a:ext cx="2590800" cy="411480"/>
          </a:xfrm>
          <a:prstGeom prst="rect">
            <a:avLst/>
          </a:prstGeom>
          <a:solidFill>
            <a:srgbClr val="00796B"/>
          </a:solidFill>
          <a:ln/>
        </p:spPr>
        <p:txBody>
          <a:bodyPr/>
          <a:lstStyle/>
          <a:p>
            <a:endParaRPr lang="en-US"/>
          </a:p>
        </p:txBody>
      </p:sp>
      <p:sp>
        <p:nvSpPr>
          <p:cNvPr id="13" name="Text 11"/>
          <p:cNvSpPr/>
          <p:nvPr/>
        </p:nvSpPr>
        <p:spPr>
          <a:xfrm>
            <a:off x="6096000" y="1234440"/>
            <a:ext cx="2499360" cy="411480"/>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3. Heuristic</a:t>
            </a:r>
            <a:endParaRPr lang="en-US" sz="1000" dirty="0"/>
          </a:p>
          <a:p>
            <a:pPr marL="0" indent="0" algn="ctr">
              <a:buNone/>
            </a:pPr>
            <a:r>
              <a:rPr lang="en-US" sz="1000" b="1" dirty="0">
                <a:solidFill>
                  <a:srgbClr val="FFFFFF"/>
                </a:solidFill>
                <a:latin typeface="Arial" pitchFamily="34" charset="0"/>
                <a:ea typeface="Arial" pitchFamily="34" charset="-122"/>
                <a:cs typeface="Arial" pitchFamily="34" charset="-120"/>
              </a:rPr>
              <a:t>(infer_rag_execution_hints)</a:t>
            </a:r>
            <a:endParaRPr lang="en-US" sz="1000" dirty="0"/>
          </a:p>
        </p:txBody>
      </p:sp>
      <p:sp>
        <p:nvSpPr>
          <p:cNvPr id="14" name="Shape 12"/>
          <p:cNvSpPr/>
          <p:nvPr/>
        </p:nvSpPr>
        <p:spPr>
          <a:xfrm>
            <a:off x="6050280" y="1645920"/>
            <a:ext cx="2590800" cy="731520"/>
          </a:xfrm>
          <a:prstGeom prst="rect">
            <a:avLst/>
          </a:prstGeom>
          <a:solidFill>
            <a:srgbClr val="F5F5F5"/>
          </a:solidFill>
          <a:ln w="3810">
            <a:solidFill>
              <a:srgbClr val="F0F0F0"/>
            </a:solidFill>
            <a:prstDash val="solid"/>
          </a:ln>
        </p:spPr>
        <p:txBody>
          <a:bodyPr/>
          <a:lstStyle/>
          <a:p>
            <a:endParaRPr lang="en-US"/>
          </a:p>
        </p:txBody>
      </p:sp>
      <p:sp>
        <p:nvSpPr>
          <p:cNvPr id="15" name="Text 13"/>
          <p:cNvSpPr/>
          <p:nvPr/>
        </p:nvSpPr>
        <p:spPr>
          <a:xfrm>
            <a:off x="6096000" y="1645920"/>
            <a:ext cx="2499360" cy="73152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Pure regex on query text. Detects 'compare', 'identify all documents', 'process flow' patterns. Lowest priority fallback.</a:t>
            </a:r>
            <a:endParaRPr lang="en-US" sz="950" dirty="0"/>
          </a:p>
        </p:txBody>
      </p:sp>
      <p:sp>
        <p:nvSpPr>
          <p:cNvPr id="16" name="Shape 14"/>
          <p:cNvSpPr/>
          <p:nvPr/>
        </p:nvSpPr>
        <p:spPr>
          <a:xfrm>
            <a:off x="502920" y="2514600"/>
            <a:ext cx="2011680" cy="347472"/>
          </a:xfrm>
          <a:prstGeom prst="rect">
            <a:avLst/>
          </a:prstGeom>
          <a:solidFill>
            <a:srgbClr val="1B2A4A"/>
          </a:solidFill>
          <a:ln/>
        </p:spPr>
        <p:txBody>
          <a:bodyPr/>
          <a:lstStyle/>
          <a:p>
            <a:endParaRPr lang="en-US"/>
          </a:p>
        </p:txBody>
      </p:sp>
      <p:sp>
        <p:nvSpPr>
          <p:cNvPr id="17" name="Text 15"/>
          <p:cNvSpPr/>
          <p:nvPr/>
        </p:nvSpPr>
        <p:spPr>
          <a:xfrm>
            <a:off x="576072" y="2514600"/>
            <a:ext cx="1920240" cy="347472"/>
          </a:xfrm>
          <a:prstGeom prst="rect">
            <a:avLst/>
          </a:prstGeom>
          <a:noFill/>
          <a:ln/>
        </p:spPr>
        <p:txBody>
          <a:bodyPr wrap="square" lIns="0" tIns="0" rIns="0" bIns="0" rtlCol="0" anchor="ctr"/>
          <a:lstStyle/>
          <a:p>
            <a:pPr marL="0" indent="0">
              <a:buNone/>
            </a:pPr>
            <a:r>
              <a:rPr lang="en-US" sz="950" dirty="0">
                <a:solidFill>
                  <a:srgbClr val="FFFFFF"/>
                </a:solidFill>
                <a:latin typeface="Courier New" pitchFamily="34" charset="0"/>
                <a:ea typeface="Courier New" pitchFamily="34" charset="-122"/>
                <a:cs typeface="Courier New" pitchFamily="34" charset="-120"/>
              </a:rPr>
              <a:t>research_profile</a:t>
            </a:r>
            <a:endParaRPr lang="en-US" sz="950" dirty="0"/>
          </a:p>
        </p:txBody>
      </p:sp>
      <p:sp>
        <p:nvSpPr>
          <p:cNvPr id="18" name="Shape 16"/>
          <p:cNvSpPr/>
          <p:nvPr/>
        </p:nvSpPr>
        <p:spPr>
          <a:xfrm>
            <a:off x="2514600" y="2514600"/>
            <a:ext cx="6126480" cy="347472"/>
          </a:xfrm>
          <a:prstGeom prst="rect">
            <a:avLst/>
          </a:prstGeom>
          <a:solidFill>
            <a:srgbClr val="F5F5F5"/>
          </a:solidFill>
          <a:ln w="3810">
            <a:solidFill>
              <a:srgbClr val="F0F0F0"/>
            </a:solidFill>
            <a:prstDash val="solid"/>
          </a:ln>
        </p:spPr>
        <p:txBody>
          <a:bodyPr/>
          <a:lstStyle/>
          <a:p>
            <a:endParaRPr lang="en-US"/>
          </a:p>
        </p:txBody>
      </p:sp>
      <p:sp>
        <p:nvSpPr>
          <p:cNvPr id="19" name="Text 17"/>
          <p:cNvSpPr/>
          <p:nvPr/>
        </p:nvSpPr>
        <p:spPr>
          <a:xfrm>
            <a:off x="2651760" y="2514600"/>
            <a:ext cx="5852160" cy="34747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corpus_discovery, process_flow_identification, comparison_campaign, targeted_lookup</a:t>
            </a:r>
            <a:endParaRPr lang="en-US" sz="950" dirty="0"/>
          </a:p>
        </p:txBody>
      </p:sp>
      <p:sp>
        <p:nvSpPr>
          <p:cNvPr id="20" name="Shape 18"/>
          <p:cNvSpPr/>
          <p:nvPr/>
        </p:nvSpPr>
        <p:spPr>
          <a:xfrm>
            <a:off x="502920" y="2907792"/>
            <a:ext cx="2011680" cy="347472"/>
          </a:xfrm>
          <a:prstGeom prst="rect">
            <a:avLst/>
          </a:prstGeom>
          <a:solidFill>
            <a:srgbClr val="1B2A4A"/>
          </a:solidFill>
          <a:ln/>
        </p:spPr>
        <p:txBody>
          <a:bodyPr/>
          <a:lstStyle/>
          <a:p>
            <a:endParaRPr lang="en-US"/>
          </a:p>
        </p:txBody>
      </p:sp>
      <p:sp>
        <p:nvSpPr>
          <p:cNvPr id="21" name="Text 19"/>
          <p:cNvSpPr/>
          <p:nvPr/>
        </p:nvSpPr>
        <p:spPr>
          <a:xfrm>
            <a:off x="576072" y="2907792"/>
            <a:ext cx="1920240" cy="347472"/>
          </a:xfrm>
          <a:prstGeom prst="rect">
            <a:avLst/>
          </a:prstGeom>
          <a:noFill/>
          <a:ln/>
        </p:spPr>
        <p:txBody>
          <a:bodyPr wrap="square" lIns="0" tIns="0" rIns="0" bIns="0" rtlCol="0" anchor="ctr"/>
          <a:lstStyle/>
          <a:p>
            <a:pPr marL="0" indent="0">
              <a:buNone/>
            </a:pPr>
            <a:r>
              <a:rPr lang="en-US" sz="950" dirty="0">
                <a:solidFill>
                  <a:srgbClr val="FFFFFF"/>
                </a:solidFill>
                <a:latin typeface="Courier New" pitchFamily="34" charset="0"/>
                <a:ea typeface="Courier New" pitchFamily="34" charset="-122"/>
                <a:cs typeface="Courier New" pitchFamily="34" charset="-120"/>
              </a:rPr>
              <a:t>coverage_goal</a:t>
            </a:r>
            <a:endParaRPr lang="en-US" sz="950" dirty="0"/>
          </a:p>
        </p:txBody>
      </p:sp>
      <p:sp>
        <p:nvSpPr>
          <p:cNvPr id="22" name="Shape 20"/>
          <p:cNvSpPr/>
          <p:nvPr/>
        </p:nvSpPr>
        <p:spPr>
          <a:xfrm>
            <a:off x="2514600" y="2907792"/>
            <a:ext cx="6126480" cy="347472"/>
          </a:xfrm>
          <a:prstGeom prst="rect">
            <a:avLst/>
          </a:prstGeom>
          <a:solidFill>
            <a:srgbClr val="F5F5F5"/>
          </a:solidFill>
          <a:ln w="3810">
            <a:solidFill>
              <a:srgbClr val="F0F0F0"/>
            </a:solidFill>
            <a:prstDash val="solid"/>
          </a:ln>
        </p:spPr>
        <p:txBody>
          <a:bodyPr/>
          <a:lstStyle/>
          <a:p>
            <a:endParaRPr lang="en-US"/>
          </a:p>
        </p:txBody>
      </p:sp>
      <p:sp>
        <p:nvSpPr>
          <p:cNvPr id="23" name="Text 21"/>
          <p:cNvSpPr/>
          <p:nvPr/>
        </p:nvSpPr>
        <p:spPr>
          <a:xfrm>
            <a:off x="2651760" y="2907792"/>
            <a:ext cx="5852160" cy="34747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corpus_wide, targeted, cross_document, exhaustive</a:t>
            </a:r>
            <a:endParaRPr lang="en-US" sz="950" dirty="0"/>
          </a:p>
        </p:txBody>
      </p:sp>
      <p:sp>
        <p:nvSpPr>
          <p:cNvPr id="24" name="Shape 22"/>
          <p:cNvSpPr/>
          <p:nvPr/>
        </p:nvSpPr>
        <p:spPr>
          <a:xfrm>
            <a:off x="502920" y="3300984"/>
            <a:ext cx="2011680" cy="347472"/>
          </a:xfrm>
          <a:prstGeom prst="rect">
            <a:avLst/>
          </a:prstGeom>
          <a:solidFill>
            <a:srgbClr val="1B2A4A"/>
          </a:solidFill>
          <a:ln/>
        </p:spPr>
        <p:txBody>
          <a:bodyPr/>
          <a:lstStyle/>
          <a:p>
            <a:endParaRPr lang="en-US"/>
          </a:p>
        </p:txBody>
      </p:sp>
      <p:sp>
        <p:nvSpPr>
          <p:cNvPr id="25" name="Text 23"/>
          <p:cNvSpPr/>
          <p:nvPr/>
        </p:nvSpPr>
        <p:spPr>
          <a:xfrm>
            <a:off x="576072" y="3300984"/>
            <a:ext cx="1920240" cy="347472"/>
          </a:xfrm>
          <a:prstGeom prst="rect">
            <a:avLst/>
          </a:prstGeom>
          <a:noFill/>
          <a:ln/>
        </p:spPr>
        <p:txBody>
          <a:bodyPr wrap="square" lIns="0" tIns="0" rIns="0" bIns="0" rtlCol="0" anchor="ctr"/>
          <a:lstStyle/>
          <a:p>
            <a:pPr marL="0" indent="0">
              <a:buNone/>
            </a:pPr>
            <a:r>
              <a:rPr lang="en-US" sz="950" dirty="0">
                <a:solidFill>
                  <a:srgbClr val="FFFFFF"/>
                </a:solidFill>
                <a:latin typeface="Courier New" pitchFamily="34" charset="0"/>
                <a:ea typeface="Courier New" pitchFamily="34" charset="-122"/>
                <a:cs typeface="Courier New" pitchFamily="34" charset="-120"/>
              </a:rPr>
              <a:t>result_mode</a:t>
            </a:r>
            <a:endParaRPr lang="en-US" sz="950" dirty="0"/>
          </a:p>
        </p:txBody>
      </p:sp>
      <p:sp>
        <p:nvSpPr>
          <p:cNvPr id="26" name="Shape 24"/>
          <p:cNvSpPr/>
          <p:nvPr/>
        </p:nvSpPr>
        <p:spPr>
          <a:xfrm>
            <a:off x="2514600" y="3300984"/>
            <a:ext cx="6126480" cy="347472"/>
          </a:xfrm>
          <a:prstGeom prst="rect">
            <a:avLst/>
          </a:prstGeom>
          <a:solidFill>
            <a:srgbClr val="F5F5F5"/>
          </a:solidFill>
          <a:ln w="3810">
            <a:solidFill>
              <a:srgbClr val="F0F0F0"/>
            </a:solidFill>
            <a:prstDash val="solid"/>
          </a:ln>
        </p:spPr>
        <p:txBody>
          <a:bodyPr/>
          <a:lstStyle/>
          <a:p>
            <a:endParaRPr lang="en-US"/>
          </a:p>
        </p:txBody>
      </p:sp>
      <p:sp>
        <p:nvSpPr>
          <p:cNvPr id="27" name="Text 25"/>
          <p:cNvSpPr/>
          <p:nvPr/>
        </p:nvSpPr>
        <p:spPr>
          <a:xfrm>
            <a:off x="2651760" y="3300984"/>
            <a:ext cx="5852160" cy="34747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inventory, summary, structured_evidence, comparison_table</a:t>
            </a:r>
            <a:endParaRPr lang="en-US" sz="950" dirty="0"/>
          </a:p>
        </p:txBody>
      </p:sp>
      <p:sp>
        <p:nvSpPr>
          <p:cNvPr id="28" name="Shape 26"/>
          <p:cNvSpPr/>
          <p:nvPr/>
        </p:nvSpPr>
        <p:spPr>
          <a:xfrm>
            <a:off x="502920" y="3694176"/>
            <a:ext cx="2011680" cy="347472"/>
          </a:xfrm>
          <a:prstGeom prst="rect">
            <a:avLst/>
          </a:prstGeom>
          <a:solidFill>
            <a:srgbClr val="1B2A4A"/>
          </a:solidFill>
          <a:ln/>
        </p:spPr>
        <p:txBody>
          <a:bodyPr/>
          <a:lstStyle/>
          <a:p>
            <a:endParaRPr lang="en-US"/>
          </a:p>
        </p:txBody>
      </p:sp>
      <p:sp>
        <p:nvSpPr>
          <p:cNvPr id="29" name="Text 27"/>
          <p:cNvSpPr/>
          <p:nvPr/>
        </p:nvSpPr>
        <p:spPr>
          <a:xfrm>
            <a:off x="576072" y="3694176"/>
            <a:ext cx="1920240" cy="347472"/>
          </a:xfrm>
          <a:prstGeom prst="rect">
            <a:avLst/>
          </a:prstGeom>
          <a:noFill/>
          <a:ln/>
        </p:spPr>
        <p:txBody>
          <a:bodyPr wrap="square" lIns="0" tIns="0" rIns="0" bIns="0" rtlCol="0" anchor="ctr"/>
          <a:lstStyle/>
          <a:p>
            <a:pPr marL="0" indent="0">
              <a:buNone/>
            </a:pPr>
            <a:r>
              <a:rPr lang="en-US" sz="950" dirty="0">
                <a:solidFill>
                  <a:srgbClr val="FFFFFF"/>
                </a:solidFill>
                <a:latin typeface="Courier New" pitchFamily="34" charset="0"/>
                <a:ea typeface="Courier New" pitchFamily="34" charset="-122"/>
                <a:cs typeface="Courier New" pitchFamily="34" charset="-120"/>
              </a:rPr>
              <a:t>controller_hints</a:t>
            </a:r>
            <a:endParaRPr lang="en-US" sz="950" dirty="0"/>
          </a:p>
        </p:txBody>
      </p:sp>
      <p:sp>
        <p:nvSpPr>
          <p:cNvPr id="30" name="Shape 28"/>
          <p:cNvSpPr/>
          <p:nvPr/>
        </p:nvSpPr>
        <p:spPr>
          <a:xfrm>
            <a:off x="2514600" y="3694176"/>
            <a:ext cx="6126480" cy="347472"/>
          </a:xfrm>
          <a:prstGeom prst="rect">
            <a:avLst/>
          </a:prstGeom>
          <a:solidFill>
            <a:srgbClr val="F5F5F5"/>
          </a:solidFill>
          <a:ln w="3810">
            <a:solidFill>
              <a:srgbClr val="F0F0F0"/>
            </a:solidFill>
            <a:prstDash val="solid"/>
          </a:ln>
        </p:spPr>
        <p:txBody>
          <a:bodyPr/>
          <a:lstStyle/>
          <a:p>
            <a:endParaRPr lang="en-US"/>
          </a:p>
        </p:txBody>
      </p:sp>
      <p:sp>
        <p:nvSpPr>
          <p:cNvPr id="31" name="Text 29"/>
          <p:cNvSpPr/>
          <p:nvPr/>
        </p:nvSpPr>
        <p:spPr>
          <a:xfrm>
            <a:off x="2651760" y="3694176"/>
            <a:ext cx="5852160" cy="34747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JSON dict: max_docs, max_rounds, force_keyword_only, disable_judge_grading, ...</a:t>
            </a:r>
            <a:endParaRPr lang="en-US" sz="950" dirty="0"/>
          </a:p>
        </p:txBody>
      </p:sp>
      <p:sp>
        <p:nvSpPr>
          <p:cNvPr id="32" name="Text 30"/>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rag/hints.py — RagExecutionHints, rag/skill_policy.py — resolve_rag_execution_hints()</a:t>
            </a:r>
            <a:endParaRPr lang="en-US" sz="9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Adaptive RAG Engine — rag/adaptive.py (1,900 lines)</a:t>
            </a:r>
            <a:endParaRPr lang="en-US" sz="2600" dirty="0"/>
          </a:p>
        </p:txBody>
      </p:sp>
      <p:sp>
        <p:nvSpPr>
          <p:cNvPr id="3" name="Shape 1"/>
          <p:cNvSpPr/>
          <p:nvPr/>
        </p:nvSpPr>
        <p:spPr>
          <a:xfrm>
            <a:off x="502920" y="914400"/>
            <a:ext cx="3840480" cy="178308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4" name="Shape 2"/>
          <p:cNvSpPr/>
          <p:nvPr/>
        </p:nvSpPr>
        <p:spPr>
          <a:xfrm>
            <a:off x="502920" y="914400"/>
            <a:ext cx="3840480" cy="320040"/>
          </a:xfrm>
          <a:prstGeom prst="rect">
            <a:avLst/>
          </a:prstGeom>
          <a:solidFill>
            <a:srgbClr val="0097A7"/>
          </a:solidFill>
          <a:ln/>
        </p:spPr>
        <p:txBody>
          <a:bodyPr/>
          <a:lstStyle/>
          <a:p>
            <a:endParaRPr lang="en-US"/>
          </a:p>
        </p:txBody>
      </p:sp>
      <p:sp>
        <p:nvSpPr>
          <p:cNvPr id="5" name="Text 3"/>
          <p:cNvSpPr/>
          <p:nvPr/>
        </p:nvSpPr>
        <p:spPr>
          <a:xfrm>
            <a:off x="612648" y="941832"/>
            <a:ext cx="362102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EvidenceLedger — Deduplication Tracker</a:t>
            </a:r>
            <a:endParaRPr lang="en-US" sz="1200" dirty="0"/>
          </a:p>
        </p:txBody>
      </p:sp>
      <p:sp>
        <p:nvSpPr>
          <p:cNvPr id="6" name="Text 4"/>
          <p:cNvSpPr/>
          <p:nvPr/>
        </p:nvSpPr>
        <p:spPr>
          <a:xfrm>
            <a:off x="612648" y="1298448"/>
            <a:ext cx="3621024" cy="130759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Tracks all retrieved chunks across multiple search rounds.
add_documents(docs, strategy) — merge with dedup by chunk_id.
add_scored_chunks(chunks) — add raw scored chunks.
apply_grades(graded) — attach LLM judge scores to chunks.
materialize_documents(max_chunks=18) — final ranked evidence list.</a:t>
            </a:r>
            <a:endParaRPr lang="en-US" sz="1000" dirty="0"/>
          </a:p>
        </p:txBody>
      </p:sp>
      <p:sp>
        <p:nvSpPr>
          <p:cNvPr id="7" name="Shape 5"/>
          <p:cNvSpPr/>
          <p:nvPr/>
        </p:nvSpPr>
        <p:spPr>
          <a:xfrm>
            <a:off x="4572000" y="914400"/>
            <a:ext cx="4114800" cy="178308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8" name="Shape 6"/>
          <p:cNvSpPr/>
          <p:nvPr/>
        </p:nvSpPr>
        <p:spPr>
          <a:xfrm>
            <a:off x="4572000" y="914400"/>
            <a:ext cx="4114800" cy="320040"/>
          </a:xfrm>
          <a:prstGeom prst="rect">
            <a:avLst/>
          </a:prstGeom>
          <a:solidFill>
            <a:srgbClr val="1B2A4A"/>
          </a:solidFill>
          <a:ln/>
        </p:spPr>
        <p:txBody>
          <a:bodyPr/>
          <a:lstStyle/>
          <a:p>
            <a:endParaRPr lang="en-US"/>
          </a:p>
        </p:txBody>
      </p:sp>
      <p:sp>
        <p:nvSpPr>
          <p:cNvPr id="9" name="Text 7"/>
          <p:cNvSpPr/>
          <p:nvPr/>
        </p:nvSpPr>
        <p:spPr>
          <a:xfrm>
            <a:off x="4681728" y="941832"/>
            <a:ext cx="3895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CorpusRetrievalAdapter — Search Orchestrator</a:t>
            </a:r>
            <a:endParaRPr lang="en-US" sz="1200" dirty="0"/>
          </a:p>
        </p:txBody>
      </p:sp>
      <p:sp>
        <p:nvSpPr>
          <p:cNvPr id="10" name="Text 8"/>
          <p:cNvSpPr/>
          <p:nvPr/>
        </p:nvSpPr>
        <p:spPr>
          <a:xfrm>
            <a:off x="4681728" y="1298448"/>
            <a:ext cx="3895344" cy="130759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search_corpus(query, filters) — hybrid vector+keyword across all docs.
grep_corpus(query) — regex-based keyword sweep.
read_document(doc_id, focus) — load chunks from specific doc.
fetch_chunk_window(chunk_id) — get neighboring chunks.
_rerank_with_query_heuristics() — boost title-matching docs.</a:t>
            </a:r>
            <a:endParaRPr lang="en-US" sz="1000" dirty="0"/>
          </a:p>
        </p:txBody>
      </p:sp>
      <p:sp>
        <p:nvSpPr>
          <p:cNvPr id="11" name="Text 9"/>
          <p:cNvSpPr/>
          <p:nvPr/>
        </p:nvSpPr>
        <p:spPr>
          <a:xfrm>
            <a:off x="502920" y="2834640"/>
            <a:ext cx="8138160" cy="274320"/>
          </a:xfrm>
          <a:prstGeom prst="rect">
            <a:avLst/>
          </a:prstGeom>
          <a:noFill/>
          <a:ln/>
        </p:spPr>
        <p:txBody>
          <a:bodyPr wrap="square" lIns="0" tIns="0" rIns="0" bIns="0" rtlCol="0" anchor="ctr"/>
          <a:lstStyle/>
          <a:p>
            <a:pPr marL="0" indent="0">
              <a:buNone/>
            </a:pPr>
            <a:r>
              <a:rPr lang="en-US" sz="1100" b="1" dirty="0">
                <a:solidFill>
                  <a:srgbClr val="1B2A4A"/>
                </a:solidFill>
                <a:latin typeface="Arial" pitchFamily="34" charset="0"/>
                <a:ea typeface="Arial" pitchFamily="34" charset="-122"/>
                <a:cs typeface="Arial" pitchFamily="34" charset="-120"/>
              </a:rPr>
              <a:t>Multi-Round Retrieval Loop:</a:t>
            </a:r>
            <a:endParaRPr lang="en-US" sz="1100" dirty="0"/>
          </a:p>
        </p:txBody>
      </p:sp>
      <p:sp>
        <p:nvSpPr>
          <p:cNvPr id="12" name="Shape 10"/>
          <p:cNvSpPr/>
          <p:nvPr/>
        </p:nvSpPr>
        <p:spPr>
          <a:xfrm>
            <a:off x="502920" y="3154680"/>
            <a:ext cx="256032" cy="256032"/>
          </a:xfrm>
          <a:prstGeom prst="rect">
            <a:avLst/>
          </a:prstGeom>
          <a:solidFill>
            <a:srgbClr val="0097A7"/>
          </a:solidFill>
          <a:ln/>
        </p:spPr>
        <p:txBody>
          <a:bodyPr/>
          <a:lstStyle/>
          <a:p>
            <a:endParaRPr lang="en-US"/>
          </a:p>
        </p:txBody>
      </p:sp>
      <p:sp>
        <p:nvSpPr>
          <p:cNvPr id="13" name="Text 11"/>
          <p:cNvSpPr/>
          <p:nvPr/>
        </p:nvSpPr>
        <p:spPr>
          <a:xfrm>
            <a:off x="502920" y="3154680"/>
            <a:ext cx="25603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1</a:t>
            </a:r>
            <a:endParaRPr lang="en-US" sz="900" dirty="0"/>
          </a:p>
        </p:txBody>
      </p:sp>
      <p:sp>
        <p:nvSpPr>
          <p:cNvPr id="14" name="Text 12"/>
          <p:cNvSpPr/>
          <p:nvPr/>
        </p:nvSpPr>
        <p:spPr>
          <a:xfrm>
            <a:off x="850392" y="3154680"/>
            <a:ext cx="7790688" cy="25603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Round 1: Standard hybrid retrieval (vector + keyword). Grade chunks with judge LLM.</a:t>
            </a:r>
            <a:endParaRPr lang="en-US" sz="950" dirty="0"/>
          </a:p>
        </p:txBody>
      </p:sp>
      <p:sp>
        <p:nvSpPr>
          <p:cNvPr id="15" name="Shape 13"/>
          <p:cNvSpPr/>
          <p:nvPr/>
        </p:nvSpPr>
        <p:spPr>
          <a:xfrm>
            <a:off x="502920" y="3456432"/>
            <a:ext cx="256032" cy="256032"/>
          </a:xfrm>
          <a:prstGeom prst="rect">
            <a:avLst/>
          </a:prstGeom>
          <a:solidFill>
            <a:srgbClr val="0097A7"/>
          </a:solidFill>
          <a:ln/>
        </p:spPr>
        <p:txBody>
          <a:bodyPr/>
          <a:lstStyle/>
          <a:p>
            <a:endParaRPr lang="en-US"/>
          </a:p>
        </p:txBody>
      </p:sp>
      <p:sp>
        <p:nvSpPr>
          <p:cNvPr id="16" name="Text 14"/>
          <p:cNvSpPr/>
          <p:nvPr/>
        </p:nvSpPr>
        <p:spPr>
          <a:xfrm>
            <a:off x="502920" y="3456432"/>
            <a:ext cx="25603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2</a:t>
            </a:r>
            <a:endParaRPr lang="en-US" sz="900" dirty="0"/>
          </a:p>
        </p:txBody>
      </p:sp>
      <p:sp>
        <p:nvSpPr>
          <p:cNvPr id="17" name="Text 15"/>
          <p:cNvSpPr/>
          <p:nvPr/>
        </p:nvSpPr>
        <p:spPr>
          <a:xfrm>
            <a:off x="850392" y="3456432"/>
            <a:ext cx="7790688" cy="25603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Round 2: If coverage insufficient → _rewrite_query() + retry with augmented terms.</a:t>
            </a:r>
            <a:endParaRPr lang="en-US" sz="950" dirty="0"/>
          </a:p>
        </p:txBody>
      </p:sp>
      <p:sp>
        <p:nvSpPr>
          <p:cNvPr id="18" name="Shape 16"/>
          <p:cNvSpPr/>
          <p:nvPr/>
        </p:nvSpPr>
        <p:spPr>
          <a:xfrm>
            <a:off x="502920" y="3758184"/>
            <a:ext cx="256032" cy="256032"/>
          </a:xfrm>
          <a:prstGeom prst="rect">
            <a:avLst/>
          </a:prstGeom>
          <a:solidFill>
            <a:srgbClr val="0097A7"/>
          </a:solidFill>
          <a:ln/>
        </p:spPr>
        <p:txBody>
          <a:bodyPr/>
          <a:lstStyle/>
          <a:p>
            <a:endParaRPr lang="en-US"/>
          </a:p>
        </p:txBody>
      </p:sp>
      <p:sp>
        <p:nvSpPr>
          <p:cNvPr id="19" name="Text 17"/>
          <p:cNvSpPr/>
          <p:nvPr/>
        </p:nvSpPr>
        <p:spPr>
          <a:xfrm>
            <a:off x="502920" y="3758184"/>
            <a:ext cx="25603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3</a:t>
            </a:r>
            <a:endParaRPr lang="en-US" sz="900" dirty="0"/>
          </a:p>
        </p:txBody>
      </p:sp>
      <p:sp>
        <p:nvSpPr>
          <p:cNvPr id="20" name="Text 18"/>
          <p:cNvSpPr/>
          <p:nvPr/>
        </p:nvSpPr>
        <p:spPr>
          <a:xfrm>
            <a:off x="850392" y="3758184"/>
            <a:ext cx="7790688" cy="25603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Round 3+: Process-flow or clause-specific fallback strategies if still insufficient.</a:t>
            </a:r>
            <a:endParaRPr lang="en-US" sz="950" dirty="0"/>
          </a:p>
        </p:txBody>
      </p:sp>
      <p:sp>
        <p:nvSpPr>
          <p:cNvPr id="21" name="Shape 19"/>
          <p:cNvSpPr/>
          <p:nvPr/>
        </p:nvSpPr>
        <p:spPr>
          <a:xfrm>
            <a:off x="502920" y="4059936"/>
            <a:ext cx="256032" cy="256032"/>
          </a:xfrm>
          <a:prstGeom prst="rect">
            <a:avLst/>
          </a:prstGeom>
          <a:solidFill>
            <a:srgbClr val="0097A7"/>
          </a:solidFill>
          <a:ln/>
        </p:spPr>
        <p:txBody>
          <a:bodyPr/>
          <a:lstStyle/>
          <a:p>
            <a:endParaRPr lang="en-US"/>
          </a:p>
        </p:txBody>
      </p:sp>
      <p:sp>
        <p:nvSpPr>
          <p:cNvPr id="22" name="Text 20"/>
          <p:cNvSpPr/>
          <p:nvPr/>
        </p:nvSpPr>
        <p:spPr>
          <a:xfrm>
            <a:off x="502920" y="4059936"/>
            <a:ext cx="256032"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4</a:t>
            </a:r>
            <a:endParaRPr lang="en-US" sz="900" dirty="0"/>
          </a:p>
        </p:txBody>
      </p:sp>
      <p:sp>
        <p:nvSpPr>
          <p:cNvPr id="23" name="Text 21"/>
          <p:cNvSpPr/>
          <p:nvPr/>
        </p:nvSpPr>
        <p:spPr>
          <a:xfrm>
            <a:off x="850392" y="4059936"/>
            <a:ext cx="7790688" cy="256032"/>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Final: EvidenceLedger.materialize_documents() → best 18 chunks → synthesis.</a:t>
            </a:r>
            <a:endParaRPr lang="en-US" sz="950" dirty="0"/>
          </a:p>
        </p:txBody>
      </p:sp>
      <p:sp>
        <p:nvSpPr>
          <p:cNvPr id="24" name="Text 22"/>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rag/adaptive.py — EvidenceLedger, CorpusRetrievalAdapter, RetrievalRun, SearchFilters</a:t>
            </a:r>
            <a:endParaRPr lang="en-US" sz="9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Workbook Loader — Structured Excel/CSV Ingestion</a:t>
            </a:r>
            <a:endParaRPr lang="en-US" sz="2600" dirty="0"/>
          </a:p>
        </p:txBody>
      </p:sp>
      <p:sp>
        <p:nvSpPr>
          <p:cNvPr id="3" name="Shape 1"/>
          <p:cNvSpPr/>
          <p:nvPr/>
        </p:nvSpPr>
        <p:spPr>
          <a:xfrm>
            <a:off x="502920" y="914400"/>
            <a:ext cx="3840480" cy="27432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4" name="Shape 2"/>
          <p:cNvSpPr/>
          <p:nvPr/>
        </p:nvSpPr>
        <p:spPr>
          <a:xfrm>
            <a:off x="502920" y="914400"/>
            <a:ext cx="3840480" cy="320040"/>
          </a:xfrm>
          <a:prstGeom prst="rect">
            <a:avLst/>
          </a:prstGeom>
          <a:solidFill>
            <a:srgbClr val="0097A7"/>
          </a:solidFill>
          <a:ln/>
        </p:spPr>
        <p:txBody>
          <a:bodyPr/>
          <a:lstStyle/>
          <a:p>
            <a:endParaRPr lang="en-US"/>
          </a:p>
        </p:txBody>
      </p:sp>
      <p:sp>
        <p:nvSpPr>
          <p:cNvPr id="5" name="Text 3"/>
          <p:cNvSpPr/>
          <p:nvPr/>
        </p:nvSpPr>
        <p:spPr>
          <a:xfrm>
            <a:off x="612648" y="941832"/>
            <a:ext cx="362102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Smart Ingestion (rag/workbook_loader.py)</a:t>
            </a:r>
            <a:endParaRPr lang="en-US" sz="1200" dirty="0"/>
          </a:p>
        </p:txBody>
      </p:sp>
      <p:sp>
        <p:nvSpPr>
          <p:cNvPr id="6" name="Text 4"/>
          <p:cNvSpPr/>
          <p:nvPr/>
        </p:nvSpPr>
        <p:spPr>
          <a:xfrm>
            <a:off x="612648" y="1298448"/>
            <a:ext cx="3621024" cy="226771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Purpose: ingest Excel/CSV files as structured documents (not raw CSV text).
_detect_header_row(rows) — scores first 8 rows for header-likeness using: unique values, alphabetic cells, cell length ≥ 3. Handles files with metadata rows before the header.
_normalize_headers() — deduplicates column names ('Amount' → 'Amount 2'), fills blank headers with 'Column A', 'Column B', etc.
Each row becomes a Document with row_number, column=value pairs, and sheet_name in metadata.
Empty rows skipped. Multi-sheet workbooks produce separate document sets per sheet.</a:t>
            </a:r>
            <a:endParaRPr lang="en-US" sz="1000" dirty="0"/>
          </a:p>
        </p:txBody>
      </p:sp>
      <p:sp>
        <p:nvSpPr>
          <p:cNvPr id="7" name="Shape 5"/>
          <p:cNvSpPr/>
          <p:nvPr/>
        </p:nvSpPr>
        <p:spPr>
          <a:xfrm>
            <a:off x="4572000" y="914400"/>
            <a:ext cx="4114800" cy="27432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8" name="Shape 6"/>
          <p:cNvSpPr/>
          <p:nvPr/>
        </p:nvSpPr>
        <p:spPr>
          <a:xfrm>
            <a:off x="4572000" y="914400"/>
            <a:ext cx="4114800" cy="320040"/>
          </a:xfrm>
          <a:prstGeom prst="rect">
            <a:avLst/>
          </a:prstGeom>
          <a:solidFill>
            <a:srgbClr val="1B2A4A"/>
          </a:solidFill>
          <a:ln/>
        </p:spPr>
        <p:txBody>
          <a:bodyPr/>
          <a:lstStyle/>
          <a:p>
            <a:endParaRPr lang="en-US"/>
          </a:p>
        </p:txBody>
      </p:sp>
      <p:sp>
        <p:nvSpPr>
          <p:cNvPr id="9" name="Text 7"/>
          <p:cNvSpPr/>
          <p:nvPr/>
        </p:nvSpPr>
        <p:spPr>
          <a:xfrm>
            <a:off x="4681728" y="941832"/>
            <a:ext cx="3895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Why Not Just Read as Text?</a:t>
            </a:r>
            <a:endParaRPr lang="en-US" sz="1200" dirty="0"/>
          </a:p>
        </p:txBody>
      </p:sp>
      <p:sp>
        <p:nvSpPr>
          <p:cNvPr id="10" name="Text 8"/>
          <p:cNvSpPr/>
          <p:nvPr/>
        </p:nvSpPr>
        <p:spPr>
          <a:xfrm>
            <a:off x="4681728" y="1298448"/>
            <a:ext cx="3895344" cy="226771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Plain CSV ingestion loses structure: 'Region,Spend,Reserve' becomes meaningless fragments.
Workbook loader produces semantically rich chunks:
'Region: APAC | Annual Spend USD: 1200000 | Risk Score: 8'
These chunks match data_analyst queries like 'highest spend region' because the field names are embedded in the text.
Header detection prevents misclassifying metadata rows (e.g. 'Report: Q3 2024') as data.
Works with .csv, .xlsx, .xls files. Detects file type from extension.</a:t>
            </a:r>
            <a:endParaRPr lang="en-US" sz="1000" dirty="0"/>
          </a:p>
        </p:txBody>
      </p:sp>
      <p:sp>
        <p:nvSpPr>
          <p:cNvPr id="11" name="Text 9"/>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rag/workbook_loader.py — IndexedRow, _detect_header_row(), _normalize_headers()</a:t>
            </a:r>
            <a:endParaRPr lang="en-US" sz="9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Extended RAG Tools — query_rewriter + chunk_expander</a:t>
            </a:r>
            <a:endParaRPr lang="en-US" sz="2600" dirty="0"/>
          </a:p>
        </p:txBody>
      </p:sp>
      <p:sp>
        <p:nvSpPr>
          <p:cNvPr id="3" name="Text 1"/>
          <p:cNvSpPr/>
          <p:nvPr/>
        </p:nvSpPr>
        <p:spPr>
          <a:xfrm>
            <a:off x="502920" y="822960"/>
            <a:ext cx="8138160" cy="365760"/>
          </a:xfrm>
          <a:prstGeom prst="rect">
            <a:avLst/>
          </a:prstGeom>
          <a:noFill/>
          <a:ln/>
        </p:spPr>
        <p:txBody>
          <a:bodyPr wrap="square" lIns="0" tIns="0" rIns="0" bIns="0" rtlCol="0" anchor="ctr"/>
          <a:lstStyle/>
          <a:p>
            <a:pPr marL="0" indent="0">
              <a:buNone/>
            </a:pPr>
            <a:r>
              <a:rPr lang="en-US" sz="1100" dirty="0">
                <a:solidFill>
                  <a:srgbClr val="1B2A4A"/>
                </a:solidFill>
                <a:latin typeface="Arial" pitchFamily="34" charset="0"/>
                <a:ea typeface="Arial" pitchFamily="34" charset="-122"/>
                <a:cs typeface="Arial" pitchFamily="34" charset="-120"/>
              </a:rPr>
              <a:t>rag/extended_tools.py adds 2 supplementary tools on top of the 19 specialist tools. Both require judge_llm or stores to be passed at construction time:</a:t>
            </a:r>
            <a:endParaRPr lang="en-US" sz="1100" dirty="0"/>
          </a:p>
        </p:txBody>
      </p:sp>
      <p:sp>
        <p:nvSpPr>
          <p:cNvPr id="4" name="Shape 2"/>
          <p:cNvSpPr/>
          <p:nvPr/>
        </p:nvSpPr>
        <p:spPr>
          <a:xfrm>
            <a:off x="502920" y="1280160"/>
            <a:ext cx="3840480" cy="219456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280160"/>
            <a:ext cx="3840480" cy="320040"/>
          </a:xfrm>
          <a:prstGeom prst="rect">
            <a:avLst/>
          </a:prstGeom>
          <a:solidFill>
            <a:srgbClr val="0097A7"/>
          </a:solidFill>
          <a:ln/>
        </p:spPr>
        <p:txBody>
          <a:bodyPr/>
          <a:lstStyle/>
          <a:p>
            <a:endParaRPr lang="en-US"/>
          </a:p>
        </p:txBody>
      </p:sp>
      <p:sp>
        <p:nvSpPr>
          <p:cNvPr id="6" name="Text 4"/>
          <p:cNvSpPr/>
          <p:nvPr/>
        </p:nvSpPr>
        <p:spPr>
          <a:xfrm>
            <a:off x="612648" y="1307592"/>
            <a:ext cx="362102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query_rewriter</a:t>
            </a:r>
            <a:endParaRPr lang="en-US" sz="1200" dirty="0"/>
          </a:p>
        </p:txBody>
      </p:sp>
      <p:sp>
        <p:nvSpPr>
          <p:cNvPr id="7" name="Text 5"/>
          <p:cNvSpPr/>
          <p:nvPr/>
        </p:nvSpPr>
        <p:spPr>
          <a:xfrm>
            <a:off x="612648" y="1664208"/>
            <a:ext cx="3621024" cy="171907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Purpose: improve retrieval quality for ambiguous queries.
Input: query (str), reason (str) — optional conversation context.
Uses judge_llm + load_judge_rewrite_prompt() to generate a rewritten query.
Returns JSON: {original, rewritten, changed: bool}.
Used when the adaptive RAG engine detects low coverage after round 1.</a:t>
            </a:r>
            <a:endParaRPr lang="en-US" sz="1000" dirty="0"/>
          </a:p>
        </p:txBody>
      </p:sp>
      <p:sp>
        <p:nvSpPr>
          <p:cNvPr id="8" name="Shape 6"/>
          <p:cNvSpPr/>
          <p:nvPr/>
        </p:nvSpPr>
        <p:spPr>
          <a:xfrm>
            <a:off x="4572000" y="1280160"/>
            <a:ext cx="4114800" cy="219456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4572000" y="1280160"/>
            <a:ext cx="4114800" cy="320040"/>
          </a:xfrm>
          <a:prstGeom prst="rect">
            <a:avLst/>
          </a:prstGeom>
          <a:solidFill>
            <a:srgbClr val="1B2A4A"/>
          </a:solidFill>
          <a:ln/>
        </p:spPr>
        <p:txBody>
          <a:bodyPr/>
          <a:lstStyle/>
          <a:p>
            <a:endParaRPr lang="en-US"/>
          </a:p>
        </p:txBody>
      </p:sp>
      <p:sp>
        <p:nvSpPr>
          <p:cNvPr id="10" name="Text 8"/>
          <p:cNvSpPr/>
          <p:nvPr/>
        </p:nvSpPr>
        <p:spPr>
          <a:xfrm>
            <a:off x="4681728" y="1307592"/>
            <a:ext cx="3895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chunk_expander</a:t>
            </a:r>
            <a:endParaRPr lang="en-US" sz="1200" dirty="0"/>
          </a:p>
        </p:txBody>
      </p:sp>
      <p:sp>
        <p:nvSpPr>
          <p:cNvPr id="11" name="Text 9"/>
          <p:cNvSpPr/>
          <p:nvPr/>
        </p:nvSpPr>
        <p:spPr>
          <a:xfrm>
            <a:off x="4681728" y="1664208"/>
            <a:ext cx="3895344" cy="171907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Purpose: expand context around a retrieved chunk.
Input: chunk_id (str), window (int, default 2).
Calls chunk_store.get_chunks_by_index_range(doc_id, index-window, index+window).
Returns JSON: {chunks[], count} with clause_number, section_title, content for each neighbor.
Lets agents read the 'before and after' context around a relevant snippet.</a:t>
            </a:r>
            <a:endParaRPr lang="en-US" sz="1000" dirty="0"/>
          </a:p>
        </p:txBody>
      </p:sp>
      <p:sp>
        <p:nvSpPr>
          <p:cNvPr id="12" name="Shape 10"/>
          <p:cNvSpPr/>
          <p:nvPr/>
        </p:nvSpPr>
        <p:spPr>
          <a:xfrm>
            <a:off x="502920" y="3611880"/>
            <a:ext cx="8138160" cy="457200"/>
          </a:xfrm>
          <a:prstGeom prst="rect">
            <a:avLst/>
          </a:prstGeom>
          <a:solidFill>
            <a:srgbClr val="E0F7FA"/>
          </a:solidFill>
          <a:ln w="12700">
            <a:solidFill>
              <a:srgbClr val="0097A7"/>
            </a:solidFill>
            <a:prstDash val="solid"/>
          </a:ln>
        </p:spPr>
        <p:txBody>
          <a:bodyPr/>
          <a:lstStyle/>
          <a:p>
            <a:endParaRPr lang="en-US"/>
          </a:p>
        </p:txBody>
      </p:sp>
      <p:sp>
        <p:nvSpPr>
          <p:cNvPr id="13" name="Text 11"/>
          <p:cNvSpPr/>
          <p:nvPr/>
        </p:nvSpPr>
        <p:spPr>
          <a:xfrm>
            <a:off x="594360" y="3611880"/>
            <a:ext cx="7955280" cy="45720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These tools are included via make_extended_rag_tools(stores, session, judge_llm=...). They complement the 19 specialist tools: specialist tools find the right chunks; extended tools help refine queries and expand the context around those chunks.</a:t>
            </a:r>
            <a:endParaRPr lang="en-US" sz="1000" dirty="0"/>
          </a:p>
        </p:txBody>
      </p:sp>
      <p:sp>
        <p:nvSpPr>
          <p:cNvPr id="14" name="Text 12"/>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rag/extended_tools.py — make_extended_rag_tools(), query_rewriter, chunk_expander</a:t>
            </a:r>
            <a:endParaRPr lang="en-US" sz="9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02920" y="1463040"/>
            <a:ext cx="8138160" cy="73152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The Agent Harness</a:t>
            </a:r>
            <a:endParaRPr lang="en-US" sz="3200" dirty="0"/>
          </a:p>
        </p:txBody>
      </p:sp>
      <p:sp>
        <p:nvSpPr>
          <p:cNvPr id="3" name="Text 1"/>
          <p:cNvSpPr/>
          <p:nvPr/>
        </p:nvSpPr>
        <p:spPr>
          <a:xfrm>
            <a:off x="502920" y="2286000"/>
            <a:ext cx="8138160" cy="457200"/>
          </a:xfrm>
          <a:prstGeom prst="rect">
            <a:avLst/>
          </a:prstGeom>
          <a:noFill/>
          <a:ln/>
        </p:spPr>
        <p:txBody>
          <a:bodyPr wrap="square" lIns="0" tIns="0" rIns="0" bIns="0" rtlCol="0" anchor="ctr"/>
          <a:lstStyle/>
          <a:p>
            <a:pPr marL="0" indent="0">
              <a:buNone/>
            </a:pPr>
            <a:r>
              <a:rPr lang="en-US" sz="1600" dirty="0">
                <a:solidFill>
                  <a:srgbClr val="0097A7"/>
                </a:solidFill>
                <a:latin typeface="Arial" pitchFamily="34" charset="0"/>
                <a:ea typeface="Arial" pitchFamily="34" charset="-122"/>
                <a:cs typeface="Arial" pitchFamily="34" charset="-120"/>
              </a:rPr>
              <a:t>general_agent.py — how tool-calling agents actually execute</a:t>
            </a:r>
            <a:endParaRPr lang="en-US" sz="16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The Agent Harness — general_agent.py</a:t>
            </a:r>
            <a:endParaRPr lang="en-US" sz="2600" dirty="0"/>
          </a:p>
        </p:txBody>
      </p:sp>
      <p:sp>
        <p:nvSpPr>
          <p:cNvPr id="3" name="Shape 1"/>
          <p:cNvSpPr/>
          <p:nvPr/>
        </p:nvSpPr>
        <p:spPr>
          <a:xfrm>
            <a:off x="548640" y="960120"/>
            <a:ext cx="2286000" cy="64008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4" name="Text 2"/>
          <p:cNvSpPr/>
          <p:nvPr/>
        </p:nvSpPr>
        <p:spPr>
          <a:xfrm>
            <a:off x="548640" y="960120"/>
            <a:ext cx="2286000" cy="6400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1. BUILD PROMPT</a:t>
            </a:r>
            <a:endParaRPr lang="en-US" sz="1000" dirty="0"/>
          </a:p>
        </p:txBody>
      </p:sp>
      <p:sp>
        <p:nvSpPr>
          <p:cNvPr id="5" name="Shape 3"/>
          <p:cNvSpPr/>
          <p:nvPr/>
        </p:nvSpPr>
        <p:spPr>
          <a:xfrm>
            <a:off x="2834640" y="960120"/>
            <a:ext cx="5852160" cy="640080"/>
          </a:xfrm>
          <a:prstGeom prst="rect">
            <a:avLst/>
          </a:prstGeom>
          <a:solidFill>
            <a:srgbClr val="F5F5F5"/>
          </a:solidFill>
          <a:ln w="3810">
            <a:solidFill>
              <a:srgbClr val="F0F0F0"/>
            </a:solidFill>
            <a:prstDash val="solid"/>
          </a:ln>
        </p:spPr>
        <p:txBody>
          <a:bodyPr/>
          <a:lstStyle/>
          <a:p>
            <a:endParaRPr lang="en-US"/>
          </a:p>
        </p:txBody>
      </p:sp>
      <p:sp>
        <p:nvSpPr>
          <p:cNvPr id="6" name="Text 4"/>
          <p:cNvSpPr/>
          <p:nvPr/>
        </p:nvSpPr>
        <p:spPr>
          <a:xfrm>
            <a:off x="2971800" y="960120"/>
            <a:ext cx="5577840" cy="640080"/>
          </a:xfrm>
          <a:prstGeom prst="rect">
            <a:avLst/>
          </a:prstGeom>
          <a:noFill/>
          <a:ln/>
        </p:spPr>
        <p:txBody>
          <a:bodyPr wrap="square" lIns="0" tIns="0" rIns="0" bIns="0" rtlCol="0" anchor="ctr"/>
          <a:lstStyle/>
          <a:p>
            <a:pPr marL="0" indent="0">
              <a:buNone/>
            </a:pPr>
            <a:r>
              <a:rPr lang="en-US" sz="1000" dirty="0">
                <a:solidFill>
                  <a:srgbClr val="333333"/>
                </a:solidFill>
                <a:latin typeface="Arial" pitchFamily="34" charset="0"/>
                <a:ea typeface="Arial" pitchFamily="34" charset="-122"/>
                <a:cs typeface="Arial" pitchFamily="34" charset="-120"/>
              </a:rPr>
              <a:t>System prompt = base prompt + skill injections + memory context + tool descriptions.</a:t>
            </a:r>
            <a:endParaRPr lang="en-US" sz="1000" dirty="0"/>
          </a:p>
        </p:txBody>
      </p:sp>
      <p:sp>
        <p:nvSpPr>
          <p:cNvPr id="7" name="Shape 5"/>
          <p:cNvSpPr/>
          <p:nvPr/>
        </p:nvSpPr>
        <p:spPr>
          <a:xfrm>
            <a:off x="1691640" y="1600200"/>
            <a:ext cx="0" cy="182880"/>
          </a:xfrm>
          <a:prstGeom prst="line">
            <a:avLst/>
          </a:prstGeom>
          <a:noFill/>
          <a:ln w="25400">
            <a:solidFill>
              <a:srgbClr val="0097A7"/>
            </a:solidFill>
            <a:prstDash val="solid"/>
          </a:ln>
        </p:spPr>
        <p:txBody>
          <a:bodyPr/>
          <a:lstStyle/>
          <a:p>
            <a:endParaRPr lang="en-US"/>
          </a:p>
        </p:txBody>
      </p:sp>
      <p:sp>
        <p:nvSpPr>
          <p:cNvPr id="8" name="Text 6"/>
          <p:cNvSpPr/>
          <p:nvPr/>
        </p:nvSpPr>
        <p:spPr>
          <a:xfrm>
            <a:off x="1600200" y="1709928"/>
            <a:ext cx="182880" cy="164592"/>
          </a:xfrm>
          <a:prstGeom prst="rect">
            <a:avLst/>
          </a:prstGeom>
          <a:noFill/>
          <a:ln/>
        </p:spPr>
        <p:txBody>
          <a:bodyPr wrap="square" lIns="0" tIns="0" rIns="0" bIns="0" rtlCol="0" anchor="ctr"/>
          <a:lstStyle/>
          <a:p>
            <a:pPr marL="0" indent="0" algn="ctr">
              <a:buNone/>
            </a:pPr>
            <a:r>
              <a:rPr lang="en-US" sz="1000" b="1" dirty="0">
                <a:solidFill>
                  <a:srgbClr val="0097A7"/>
                </a:solidFill>
                <a:latin typeface="Arial" pitchFamily="34" charset="0"/>
                <a:ea typeface="Arial" pitchFamily="34" charset="-122"/>
                <a:cs typeface="Arial" pitchFamily="34" charset="-120"/>
              </a:rPr>
              <a:t>v</a:t>
            </a:r>
            <a:endParaRPr lang="en-US" sz="1000" dirty="0"/>
          </a:p>
        </p:txBody>
      </p:sp>
      <p:sp>
        <p:nvSpPr>
          <p:cNvPr id="9" name="Shape 7"/>
          <p:cNvSpPr/>
          <p:nvPr/>
        </p:nvSpPr>
        <p:spPr>
          <a:xfrm>
            <a:off x="548640" y="1801368"/>
            <a:ext cx="2286000" cy="64008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10" name="Text 8"/>
          <p:cNvSpPr/>
          <p:nvPr/>
        </p:nvSpPr>
        <p:spPr>
          <a:xfrm>
            <a:off x="548640" y="1801368"/>
            <a:ext cx="2286000" cy="6400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2. TOOL LOOP</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(ReAct / plan_execute)</a:t>
            </a:r>
            <a:endParaRPr lang="en-US" sz="1000" dirty="0"/>
          </a:p>
        </p:txBody>
      </p:sp>
      <p:sp>
        <p:nvSpPr>
          <p:cNvPr id="11" name="Shape 9"/>
          <p:cNvSpPr/>
          <p:nvPr/>
        </p:nvSpPr>
        <p:spPr>
          <a:xfrm>
            <a:off x="2834640" y="1801368"/>
            <a:ext cx="5852160" cy="640080"/>
          </a:xfrm>
          <a:prstGeom prst="rect">
            <a:avLst/>
          </a:prstGeom>
          <a:solidFill>
            <a:srgbClr val="F5F5F5"/>
          </a:solidFill>
          <a:ln w="3810">
            <a:solidFill>
              <a:srgbClr val="F0F0F0"/>
            </a:solidFill>
            <a:prstDash val="solid"/>
          </a:ln>
        </p:spPr>
        <p:txBody>
          <a:bodyPr/>
          <a:lstStyle/>
          <a:p>
            <a:endParaRPr lang="en-US"/>
          </a:p>
        </p:txBody>
      </p:sp>
      <p:sp>
        <p:nvSpPr>
          <p:cNvPr id="12" name="Text 10"/>
          <p:cNvSpPr/>
          <p:nvPr/>
        </p:nvSpPr>
        <p:spPr>
          <a:xfrm>
            <a:off x="2971800" y="1801368"/>
            <a:ext cx="5577840" cy="640080"/>
          </a:xfrm>
          <a:prstGeom prst="rect">
            <a:avLst/>
          </a:prstGeom>
          <a:noFill/>
          <a:ln/>
        </p:spPr>
        <p:txBody>
          <a:bodyPr wrap="square" lIns="0" tIns="0" rIns="0" bIns="0" rtlCol="0" anchor="ctr"/>
          <a:lstStyle/>
          <a:p>
            <a:pPr marL="0" indent="0">
              <a:buNone/>
            </a:pPr>
            <a:r>
              <a:rPr lang="en-US" sz="1000" dirty="0">
                <a:solidFill>
                  <a:srgbClr val="333333"/>
                </a:solidFill>
                <a:latin typeface="Arial" pitchFamily="34" charset="0"/>
                <a:ea typeface="Arial" pitchFamily="34" charset="-122"/>
                <a:cs typeface="Arial" pitchFamily="34" charset="-120"/>
              </a:rPr>
              <a:t>LangGraph create_react_agent() if provider supports tool binding. Falls back to plan_execute pattern if not.</a:t>
            </a:r>
            <a:endParaRPr lang="en-US" sz="1000" dirty="0"/>
          </a:p>
        </p:txBody>
      </p:sp>
      <p:sp>
        <p:nvSpPr>
          <p:cNvPr id="13" name="Shape 11"/>
          <p:cNvSpPr/>
          <p:nvPr/>
        </p:nvSpPr>
        <p:spPr>
          <a:xfrm>
            <a:off x="1691640" y="2441448"/>
            <a:ext cx="0" cy="182880"/>
          </a:xfrm>
          <a:prstGeom prst="line">
            <a:avLst/>
          </a:prstGeom>
          <a:noFill/>
          <a:ln w="25400">
            <a:solidFill>
              <a:srgbClr val="0097A7"/>
            </a:solidFill>
            <a:prstDash val="solid"/>
          </a:ln>
        </p:spPr>
        <p:txBody>
          <a:bodyPr/>
          <a:lstStyle/>
          <a:p>
            <a:endParaRPr lang="en-US"/>
          </a:p>
        </p:txBody>
      </p:sp>
      <p:sp>
        <p:nvSpPr>
          <p:cNvPr id="14" name="Text 12"/>
          <p:cNvSpPr/>
          <p:nvPr/>
        </p:nvSpPr>
        <p:spPr>
          <a:xfrm>
            <a:off x="1600200" y="2551176"/>
            <a:ext cx="182880" cy="164592"/>
          </a:xfrm>
          <a:prstGeom prst="rect">
            <a:avLst/>
          </a:prstGeom>
          <a:noFill/>
          <a:ln/>
        </p:spPr>
        <p:txBody>
          <a:bodyPr wrap="square" lIns="0" tIns="0" rIns="0" bIns="0" rtlCol="0" anchor="ctr"/>
          <a:lstStyle/>
          <a:p>
            <a:pPr marL="0" indent="0" algn="ctr">
              <a:buNone/>
            </a:pPr>
            <a:r>
              <a:rPr lang="en-US" sz="1000" b="1" dirty="0">
                <a:solidFill>
                  <a:srgbClr val="0097A7"/>
                </a:solidFill>
                <a:latin typeface="Arial" pitchFamily="34" charset="0"/>
                <a:ea typeface="Arial" pitchFamily="34" charset="-122"/>
                <a:cs typeface="Arial" pitchFamily="34" charset="-120"/>
              </a:rPr>
              <a:t>v</a:t>
            </a:r>
            <a:endParaRPr lang="en-US" sz="1000" dirty="0"/>
          </a:p>
        </p:txBody>
      </p:sp>
      <p:sp>
        <p:nvSpPr>
          <p:cNvPr id="15" name="Shape 13"/>
          <p:cNvSpPr/>
          <p:nvPr/>
        </p:nvSpPr>
        <p:spPr>
          <a:xfrm>
            <a:off x="548640" y="2642616"/>
            <a:ext cx="2286000" cy="64008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16" name="Text 14"/>
          <p:cNvSpPr/>
          <p:nvPr/>
        </p:nvSpPr>
        <p:spPr>
          <a:xfrm>
            <a:off x="548640" y="2642616"/>
            <a:ext cx="2286000" cy="6400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3. DETECT TRUNCATION</a:t>
            </a:r>
            <a:endParaRPr lang="en-US" sz="1000" dirty="0"/>
          </a:p>
        </p:txBody>
      </p:sp>
      <p:sp>
        <p:nvSpPr>
          <p:cNvPr id="17" name="Shape 15"/>
          <p:cNvSpPr/>
          <p:nvPr/>
        </p:nvSpPr>
        <p:spPr>
          <a:xfrm>
            <a:off x="2834640" y="2642616"/>
            <a:ext cx="5852160" cy="640080"/>
          </a:xfrm>
          <a:prstGeom prst="rect">
            <a:avLst/>
          </a:prstGeom>
          <a:solidFill>
            <a:srgbClr val="F5F5F5"/>
          </a:solidFill>
          <a:ln w="3810">
            <a:solidFill>
              <a:srgbClr val="F0F0F0"/>
            </a:solidFill>
            <a:prstDash val="solid"/>
          </a:ln>
        </p:spPr>
        <p:txBody>
          <a:bodyPr/>
          <a:lstStyle/>
          <a:p>
            <a:endParaRPr lang="en-US"/>
          </a:p>
        </p:txBody>
      </p:sp>
      <p:sp>
        <p:nvSpPr>
          <p:cNvPr id="18" name="Text 16"/>
          <p:cNvSpPr/>
          <p:nvPr/>
        </p:nvSpPr>
        <p:spPr>
          <a:xfrm>
            <a:off x="2971800" y="2642616"/>
            <a:ext cx="5577840" cy="640080"/>
          </a:xfrm>
          <a:prstGeom prst="rect">
            <a:avLst/>
          </a:prstGeom>
          <a:noFill/>
          <a:ln/>
        </p:spPr>
        <p:txBody>
          <a:bodyPr wrap="square" lIns="0" tIns="0" rIns="0" bIns="0" rtlCol="0" anchor="ctr"/>
          <a:lstStyle/>
          <a:p>
            <a:pPr marL="0" indent="0">
              <a:buNone/>
            </a:pPr>
            <a:r>
              <a:rPr lang="en-US" sz="1000" dirty="0">
                <a:solidFill>
                  <a:srgbClr val="333333"/>
                </a:solidFill>
                <a:latin typeface="Arial" pitchFamily="34" charset="0"/>
                <a:ea typeface="Arial" pitchFamily="34" charset="-122"/>
                <a:cs typeface="Arial" pitchFamily="34" charset="-120"/>
              </a:rPr>
              <a:t>_is_output_truncated(): checks finish_reason='length'|'max_tokens' in response metadata.</a:t>
            </a:r>
            <a:endParaRPr lang="en-US" sz="1000" dirty="0"/>
          </a:p>
        </p:txBody>
      </p:sp>
      <p:sp>
        <p:nvSpPr>
          <p:cNvPr id="19" name="Shape 17"/>
          <p:cNvSpPr/>
          <p:nvPr/>
        </p:nvSpPr>
        <p:spPr>
          <a:xfrm>
            <a:off x="1691640" y="3282696"/>
            <a:ext cx="0" cy="182880"/>
          </a:xfrm>
          <a:prstGeom prst="line">
            <a:avLst/>
          </a:prstGeom>
          <a:noFill/>
          <a:ln w="25400">
            <a:solidFill>
              <a:srgbClr val="0097A7"/>
            </a:solidFill>
            <a:prstDash val="solid"/>
          </a:ln>
        </p:spPr>
        <p:txBody>
          <a:bodyPr/>
          <a:lstStyle/>
          <a:p>
            <a:endParaRPr lang="en-US"/>
          </a:p>
        </p:txBody>
      </p:sp>
      <p:sp>
        <p:nvSpPr>
          <p:cNvPr id="20" name="Text 18"/>
          <p:cNvSpPr/>
          <p:nvPr/>
        </p:nvSpPr>
        <p:spPr>
          <a:xfrm>
            <a:off x="1600200" y="3392424"/>
            <a:ext cx="182880" cy="164592"/>
          </a:xfrm>
          <a:prstGeom prst="rect">
            <a:avLst/>
          </a:prstGeom>
          <a:noFill/>
          <a:ln/>
        </p:spPr>
        <p:txBody>
          <a:bodyPr wrap="square" lIns="0" tIns="0" rIns="0" bIns="0" rtlCol="0" anchor="ctr"/>
          <a:lstStyle/>
          <a:p>
            <a:pPr marL="0" indent="0" algn="ctr">
              <a:buNone/>
            </a:pPr>
            <a:r>
              <a:rPr lang="en-US" sz="1000" b="1" dirty="0">
                <a:solidFill>
                  <a:srgbClr val="0097A7"/>
                </a:solidFill>
                <a:latin typeface="Arial" pitchFamily="34" charset="0"/>
                <a:ea typeface="Arial" pitchFamily="34" charset="-122"/>
                <a:cs typeface="Arial" pitchFamily="34" charset="-120"/>
              </a:rPr>
              <a:t>v</a:t>
            </a:r>
            <a:endParaRPr lang="en-US" sz="1000" dirty="0"/>
          </a:p>
        </p:txBody>
      </p:sp>
      <p:sp>
        <p:nvSpPr>
          <p:cNvPr id="21" name="Shape 19"/>
          <p:cNvSpPr/>
          <p:nvPr/>
        </p:nvSpPr>
        <p:spPr>
          <a:xfrm>
            <a:off x="548640" y="3483864"/>
            <a:ext cx="2286000" cy="640080"/>
          </a:xfrm>
          <a:prstGeom prst="rect">
            <a:avLst/>
          </a:prstGeom>
          <a:solidFill>
            <a:srgbClr val="5C6BC0"/>
          </a:solidFill>
          <a:ln/>
          <a:effectLst>
            <a:outerShdw blurRad="50800" dist="25400" dir="8100000" algn="bl" rotWithShape="0">
              <a:srgbClr val="000000">
                <a:alpha val="12000"/>
              </a:srgbClr>
            </a:outerShdw>
          </a:effectLst>
        </p:spPr>
        <p:txBody>
          <a:bodyPr/>
          <a:lstStyle/>
          <a:p>
            <a:endParaRPr lang="en-US"/>
          </a:p>
        </p:txBody>
      </p:sp>
      <p:sp>
        <p:nvSpPr>
          <p:cNvPr id="22" name="Text 20"/>
          <p:cNvSpPr/>
          <p:nvPr/>
        </p:nvSpPr>
        <p:spPr>
          <a:xfrm>
            <a:off x="548640" y="3483864"/>
            <a:ext cx="2286000" cy="6400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4. FINALIZE</a:t>
            </a:r>
            <a:endParaRPr lang="en-US" sz="1000" dirty="0"/>
          </a:p>
        </p:txBody>
      </p:sp>
      <p:sp>
        <p:nvSpPr>
          <p:cNvPr id="23" name="Shape 21"/>
          <p:cNvSpPr/>
          <p:nvPr/>
        </p:nvSpPr>
        <p:spPr>
          <a:xfrm>
            <a:off x="2834640" y="3483864"/>
            <a:ext cx="5852160" cy="640080"/>
          </a:xfrm>
          <a:prstGeom prst="rect">
            <a:avLst/>
          </a:prstGeom>
          <a:solidFill>
            <a:srgbClr val="F5F5F5"/>
          </a:solidFill>
          <a:ln w="3810">
            <a:solidFill>
              <a:srgbClr val="F0F0F0"/>
            </a:solidFill>
            <a:prstDash val="solid"/>
          </a:ln>
        </p:spPr>
        <p:txBody>
          <a:bodyPr/>
          <a:lstStyle/>
          <a:p>
            <a:endParaRPr lang="en-US"/>
          </a:p>
        </p:txBody>
      </p:sp>
      <p:sp>
        <p:nvSpPr>
          <p:cNvPr id="24" name="Text 22"/>
          <p:cNvSpPr/>
          <p:nvPr/>
        </p:nvSpPr>
        <p:spPr>
          <a:xfrm>
            <a:off x="2971800" y="3483864"/>
            <a:ext cx="5577840" cy="640080"/>
          </a:xfrm>
          <a:prstGeom prst="rect">
            <a:avLst/>
          </a:prstGeom>
          <a:noFill/>
          <a:ln/>
        </p:spPr>
        <p:txBody>
          <a:bodyPr wrap="square" lIns="0" tIns="0" rIns="0" bIns="0" rtlCol="0" anchor="ctr"/>
          <a:lstStyle/>
          <a:p>
            <a:pPr marL="0" indent="0">
              <a:buNone/>
            </a:pPr>
            <a:r>
              <a:rPr lang="en-US" sz="1000" dirty="0">
                <a:solidFill>
                  <a:srgbClr val="333333"/>
                </a:solidFill>
                <a:latin typeface="Arial" pitchFamily="34" charset="0"/>
                <a:ea typeface="Arial" pitchFamily="34" charset="-122"/>
                <a:cs typeface="Arial" pitchFamily="34" charset="-120"/>
              </a:rPr>
              <a:t>_finalize_messages(): multi-strategy recovery to extract final answer from message history.</a:t>
            </a:r>
            <a:endParaRPr lang="en-US" sz="1000" dirty="0"/>
          </a:p>
        </p:txBody>
      </p:sp>
      <p:sp>
        <p:nvSpPr>
          <p:cNvPr id="25" name="Shape 23"/>
          <p:cNvSpPr/>
          <p:nvPr/>
        </p:nvSpPr>
        <p:spPr>
          <a:xfrm>
            <a:off x="502920" y="4169664"/>
            <a:ext cx="8138160" cy="320040"/>
          </a:xfrm>
          <a:prstGeom prst="rect">
            <a:avLst/>
          </a:prstGeom>
          <a:solidFill>
            <a:srgbClr val="E0F7FA"/>
          </a:solidFill>
          <a:ln w="12700">
            <a:solidFill>
              <a:srgbClr val="0097A7"/>
            </a:solidFill>
            <a:prstDash val="solid"/>
          </a:ln>
        </p:spPr>
        <p:txBody>
          <a:bodyPr/>
          <a:lstStyle/>
          <a:p>
            <a:endParaRPr lang="en-US"/>
          </a:p>
        </p:txBody>
      </p:sp>
      <p:sp>
        <p:nvSpPr>
          <p:cNvPr id="26" name="Text 24"/>
          <p:cNvSpPr/>
          <p:nvPr/>
        </p:nvSpPr>
        <p:spPr>
          <a:xfrm>
            <a:off x="594360" y="4169664"/>
            <a:ext cx="7955280" cy="32004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The harness is the LLM-agnostic tool-calling loop. Every agent that uses tools goes through it, regardless of LLM provider or execution strategy.</a:t>
            </a:r>
            <a:endParaRPr lang="en-US" sz="1000" dirty="0"/>
          </a:p>
        </p:txBody>
      </p:sp>
      <p:sp>
        <p:nvSpPr>
          <p:cNvPr id="27" name="Text 25"/>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general_agent.py — run_general_agent(), _finalize_messages(), _is_output_truncated()</a:t>
            </a:r>
            <a:endParaRPr lang="en-US" sz="9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Agent Harness — Recovery Strategies (_finalize_messages)</a:t>
            </a:r>
            <a:endParaRPr lang="en-US" sz="2600" dirty="0"/>
          </a:p>
        </p:txBody>
      </p:sp>
      <p:sp>
        <p:nvSpPr>
          <p:cNvPr id="3" name="Text 1"/>
          <p:cNvSpPr/>
          <p:nvPr/>
        </p:nvSpPr>
        <p:spPr>
          <a:xfrm>
            <a:off x="502920" y="822960"/>
            <a:ext cx="8138160" cy="320040"/>
          </a:xfrm>
          <a:prstGeom prst="rect">
            <a:avLst/>
          </a:prstGeom>
          <a:noFill/>
          <a:ln/>
        </p:spPr>
        <p:txBody>
          <a:bodyPr wrap="square" lIns="0" tIns="0" rIns="0" bIns="0" rtlCol="0" anchor="ctr"/>
          <a:lstStyle/>
          <a:p>
            <a:pPr marL="0" indent="0">
              <a:buNone/>
            </a:pPr>
            <a:r>
              <a:rPr lang="en-US" sz="1100" dirty="0">
                <a:solidFill>
                  <a:srgbClr val="1B2A4A"/>
                </a:solidFill>
                <a:latin typeface="Arial" pitchFamily="34" charset="0"/>
                <a:ea typeface="Arial" pitchFamily="34" charset="-122"/>
                <a:cs typeface="Arial" pitchFamily="34" charset="-120"/>
              </a:rPr>
              <a:t>When the agent loop ends without a clean final answer, _finalize_messages() tries these strategies in order:</a:t>
            </a:r>
            <a:endParaRPr lang="en-US" sz="1100" dirty="0"/>
          </a:p>
        </p:txBody>
      </p:sp>
      <p:sp>
        <p:nvSpPr>
          <p:cNvPr id="4" name="Shape 2"/>
          <p:cNvSpPr/>
          <p:nvPr/>
        </p:nvSpPr>
        <p:spPr>
          <a:xfrm>
            <a:off x="502920" y="1234440"/>
            <a:ext cx="365760" cy="530352"/>
          </a:xfrm>
          <a:prstGeom prst="rect">
            <a:avLst/>
          </a:prstGeom>
          <a:solidFill>
            <a:srgbClr val="1B2A4A"/>
          </a:solidFill>
          <a:ln/>
        </p:spPr>
        <p:txBody>
          <a:bodyPr/>
          <a:lstStyle/>
          <a:p>
            <a:endParaRPr lang="en-US"/>
          </a:p>
        </p:txBody>
      </p:sp>
      <p:sp>
        <p:nvSpPr>
          <p:cNvPr id="5" name="Text 3"/>
          <p:cNvSpPr/>
          <p:nvPr/>
        </p:nvSpPr>
        <p:spPr>
          <a:xfrm>
            <a:off x="502920" y="1234440"/>
            <a:ext cx="365760" cy="530352"/>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6" name="Shape 4"/>
          <p:cNvSpPr/>
          <p:nvPr/>
        </p:nvSpPr>
        <p:spPr>
          <a:xfrm>
            <a:off x="868680" y="1234440"/>
            <a:ext cx="1828800" cy="530352"/>
          </a:xfrm>
          <a:prstGeom prst="rect">
            <a:avLst/>
          </a:prstGeom>
          <a:solidFill>
            <a:srgbClr val="2E7D32"/>
          </a:solidFill>
          <a:ln/>
        </p:spPr>
        <p:txBody>
          <a:bodyPr/>
          <a:lstStyle/>
          <a:p>
            <a:endParaRPr lang="en-US"/>
          </a:p>
        </p:txBody>
      </p:sp>
      <p:sp>
        <p:nvSpPr>
          <p:cNvPr id="7" name="Text 5"/>
          <p:cNvSpPr/>
          <p:nvPr/>
        </p:nvSpPr>
        <p:spPr>
          <a:xfrm>
            <a:off x="941832" y="1234440"/>
            <a:ext cx="1737360" cy="530352"/>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Clean Final Answer</a:t>
            </a:r>
            <a:endParaRPr lang="en-US" sz="900" dirty="0"/>
          </a:p>
        </p:txBody>
      </p:sp>
      <p:sp>
        <p:nvSpPr>
          <p:cNvPr id="8" name="Shape 6"/>
          <p:cNvSpPr/>
          <p:nvPr/>
        </p:nvSpPr>
        <p:spPr>
          <a:xfrm>
            <a:off x="2697480" y="1234440"/>
            <a:ext cx="4754880" cy="530352"/>
          </a:xfrm>
          <a:prstGeom prst="rect">
            <a:avLst/>
          </a:prstGeom>
          <a:solidFill>
            <a:srgbClr val="F5F5F5"/>
          </a:solidFill>
          <a:ln w="3810">
            <a:solidFill>
              <a:srgbClr val="F0F0F0"/>
            </a:solidFill>
            <a:prstDash val="solid"/>
          </a:ln>
        </p:spPr>
        <p:txBody>
          <a:bodyPr/>
          <a:lstStyle/>
          <a:p>
            <a:endParaRPr lang="en-US"/>
          </a:p>
        </p:txBody>
      </p:sp>
      <p:sp>
        <p:nvSpPr>
          <p:cNvPr id="9" name="Text 7"/>
          <p:cNvSpPr/>
          <p:nvPr/>
        </p:nvSpPr>
        <p:spPr>
          <a:xfrm>
            <a:off x="2788920" y="1234440"/>
            <a:ext cx="4572000" cy="53035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Last AIMessage has content AND finish_reason is not 'length'. Return it directly.</a:t>
            </a:r>
            <a:endParaRPr lang="en-US" sz="900" dirty="0"/>
          </a:p>
        </p:txBody>
      </p:sp>
      <p:sp>
        <p:nvSpPr>
          <p:cNvPr id="10" name="Shape 8"/>
          <p:cNvSpPr/>
          <p:nvPr/>
        </p:nvSpPr>
        <p:spPr>
          <a:xfrm>
            <a:off x="7635240" y="1325880"/>
            <a:ext cx="1005840" cy="347472"/>
          </a:xfrm>
          <a:prstGeom prst="rect">
            <a:avLst/>
          </a:prstGeom>
          <a:solidFill>
            <a:srgbClr val="2E7D32"/>
          </a:solidFill>
          <a:ln/>
        </p:spPr>
        <p:txBody>
          <a:bodyPr/>
          <a:lstStyle/>
          <a:p>
            <a:endParaRPr lang="en-US"/>
          </a:p>
        </p:txBody>
      </p:sp>
      <p:sp>
        <p:nvSpPr>
          <p:cNvPr id="11" name="Text 9"/>
          <p:cNvSpPr/>
          <p:nvPr/>
        </p:nvSpPr>
        <p:spPr>
          <a:xfrm>
            <a:off x="7635240" y="1325880"/>
            <a:ext cx="1005840" cy="34747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HAPPY PATH</a:t>
            </a:r>
            <a:endParaRPr lang="en-US" sz="800" dirty="0"/>
          </a:p>
        </p:txBody>
      </p:sp>
      <p:sp>
        <p:nvSpPr>
          <p:cNvPr id="12" name="Shape 10"/>
          <p:cNvSpPr/>
          <p:nvPr/>
        </p:nvSpPr>
        <p:spPr>
          <a:xfrm>
            <a:off x="502920" y="1801368"/>
            <a:ext cx="365760" cy="530352"/>
          </a:xfrm>
          <a:prstGeom prst="rect">
            <a:avLst/>
          </a:prstGeom>
          <a:solidFill>
            <a:srgbClr val="1B2A4A"/>
          </a:solidFill>
          <a:ln/>
        </p:spPr>
        <p:txBody>
          <a:bodyPr/>
          <a:lstStyle/>
          <a:p>
            <a:endParaRPr lang="en-US"/>
          </a:p>
        </p:txBody>
      </p:sp>
      <p:sp>
        <p:nvSpPr>
          <p:cNvPr id="13" name="Text 11"/>
          <p:cNvSpPr/>
          <p:nvPr/>
        </p:nvSpPr>
        <p:spPr>
          <a:xfrm>
            <a:off x="502920" y="1801368"/>
            <a:ext cx="365760" cy="530352"/>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4" name="Shape 12"/>
          <p:cNvSpPr/>
          <p:nvPr/>
        </p:nvSpPr>
        <p:spPr>
          <a:xfrm>
            <a:off x="868680" y="1801368"/>
            <a:ext cx="1828800" cy="530352"/>
          </a:xfrm>
          <a:prstGeom prst="rect">
            <a:avLst/>
          </a:prstGeom>
          <a:solidFill>
            <a:srgbClr val="F9A825"/>
          </a:solidFill>
          <a:ln/>
        </p:spPr>
        <p:txBody>
          <a:bodyPr/>
          <a:lstStyle/>
          <a:p>
            <a:endParaRPr lang="en-US"/>
          </a:p>
        </p:txBody>
      </p:sp>
      <p:sp>
        <p:nvSpPr>
          <p:cNvPr id="15" name="Text 13"/>
          <p:cNvSpPr/>
          <p:nvPr/>
        </p:nvSpPr>
        <p:spPr>
          <a:xfrm>
            <a:off x="941832" y="1801368"/>
            <a:ext cx="1737360" cy="530352"/>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Truncated Output Notice</a:t>
            </a:r>
            <a:endParaRPr lang="en-US" sz="900" dirty="0"/>
          </a:p>
        </p:txBody>
      </p:sp>
      <p:sp>
        <p:nvSpPr>
          <p:cNvPr id="16" name="Shape 14"/>
          <p:cNvSpPr/>
          <p:nvPr/>
        </p:nvSpPr>
        <p:spPr>
          <a:xfrm>
            <a:off x="2697480" y="1801368"/>
            <a:ext cx="4754880" cy="530352"/>
          </a:xfrm>
          <a:prstGeom prst="rect">
            <a:avLst/>
          </a:prstGeom>
          <a:solidFill>
            <a:srgbClr val="F5F5F5"/>
          </a:solidFill>
          <a:ln w="3810">
            <a:solidFill>
              <a:srgbClr val="F0F0F0"/>
            </a:solidFill>
            <a:prstDash val="solid"/>
          </a:ln>
        </p:spPr>
        <p:txBody>
          <a:bodyPr/>
          <a:lstStyle/>
          <a:p>
            <a:endParaRPr lang="en-US"/>
          </a:p>
        </p:txBody>
      </p:sp>
      <p:sp>
        <p:nvSpPr>
          <p:cNvPr id="17" name="Text 15"/>
          <p:cNvSpPr/>
          <p:nvPr/>
        </p:nvSpPr>
        <p:spPr>
          <a:xfrm>
            <a:off x="2788920" y="1801368"/>
            <a:ext cx="4572000" cy="53035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Output was cut off (finish_reason='length'). Add '...may have been truncated' note. Still return partial.</a:t>
            </a:r>
            <a:endParaRPr lang="en-US" sz="900" dirty="0"/>
          </a:p>
        </p:txBody>
      </p:sp>
      <p:sp>
        <p:nvSpPr>
          <p:cNvPr id="18" name="Shape 16"/>
          <p:cNvSpPr/>
          <p:nvPr/>
        </p:nvSpPr>
        <p:spPr>
          <a:xfrm>
            <a:off x="7635240" y="1892808"/>
            <a:ext cx="1005840" cy="347472"/>
          </a:xfrm>
          <a:prstGeom prst="rect">
            <a:avLst/>
          </a:prstGeom>
          <a:solidFill>
            <a:srgbClr val="F9A825"/>
          </a:solidFill>
          <a:ln/>
        </p:spPr>
        <p:txBody>
          <a:bodyPr/>
          <a:lstStyle/>
          <a:p>
            <a:endParaRPr lang="en-US"/>
          </a:p>
        </p:txBody>
      </p:sp>
      <p:sp>
        <p:nvSpPr>
          <p:cNvPr id="19" name="Text 17"/>
          <p:cNvSpPr/>
          <p:nvPr/>
        </p:nvSpPr>
        <p:spPr>
          <a:xfrm>
            <a:off x="7635240" y="1892808"/>
            <a:ext cx="1005840" cy="34747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DEGRADED</a:t>
            </a:r>
            <a:endParaRPr lang="en-US" sz="800" dirty="0"/>
          </a:p>
        </p:txBody>
      </p:sp>
      <p:sp>
        <p:nvSpPr>
          <p:cNvPr id="20" name="Shape 18"/>
          <p:cNvSpPr/>
          <p:nvPr/>
        </p:nvSpPr>
        <p:spPr>
          <a:xfrm>
            <a:off x="502920" y="2368296"/>
            <a:ext cx="365760" cy="530352"/>
          </a:xfrm>
          <a:prstGeom prst="rect">
            <a:avLst/>
          </a:prstGeom>
          <a:solidFill>
            <a:srgbClr val="1B2A4A"/>
          </a:solidFill>
          <a:ln/>
        </p:spPr>
        <p:txBody>
          <a:bodyPr/>
          <a:lstStyle/>
          <a:p>
            <a:endParaRPr lang="en-US"/>
          </a:p>
        </p:txBody>
      </p:sp>
      <p:sp>
        <p:nvSpPr>
          <p:cNvPr id="21" name="Text 19"/>
          <p:cNvSpPr/>
          <p:nvPr/>
        </p:nvSpPr>
        <p:spPr>
          <a:xfrm>
            <a:off x="502920" y="2368296"/>
            <a:ext cx="365760" cy="530352"/>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2" name="Shape 20"/>
          <p:cNvSpPr/>
          <p:nvPr/>
        </p:nvSpPr>
        <p:spPr>
          <a:xfrm>
            <a:off x="868680" y="2368296"/>
            <a:ext cx="1828800" cy="530352"/>
          </a:xfrm>
          <a:prstGeom prst="rect">
            <a:avLst/>
          </a:prstGeom>
          <a:solidFill>
            <a:srgbClr val="0097A7"/>
          </a:solidFill>
          <a:ln/>
        </p:spPr>
        <p:txBody>
          <a:bodyPr/>
          <a:lstStyle/>
          <a:p>
            <a:endParaRPr lang="en-US"/>
          </a:p>
        </p:txBody>
      </p:sp>
      <p:sp>
        <p:nvSpPr>
          <p:cNvPr id="23" name="Text 21"/>
          <p:cNvSpPr/>
          <p:nvPr/>
        </p:nvSpPr>
        <p:spPr>
          <a:xfrm>
            <a:off x="941832" y="2368296"/>
            <a:ext cx="1737360" cy="530352"/>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RAG Tool Fallback</a:t>
            </a:r>
            <a:endParaRPr lang="en-US" sz="900" dirty="0"/>
          </a:p>
        </p:txBody>
      </p:sp>
      <p:sp>
        <p:nvSpPr>
          <p:cNvPr id="24" name="Shape 22"/>
          <p:cNvSpPr/>
          <p:nvPr/>
        </p:nvSpPr>
        <p:spPr>
          <a:xfrm>
            <a:off x="2697480" y="2368296"/>
            <a:ext cx="4754880" cy="530352"/>
          </a:xfrm>
          <a:prstGeom prst="rect">
            <a:avLst/>
          </a:prstGeom>
          <a:solidFill>
            <a:srgbClr val="F5F5F5"/>
          </a:solidFill>
          <a:ln w="3810">
            <a:solidFill>
              <a:srgbClr val="F0F0F0"/>
            </a:solidFill>
            <a:prstDash val="solid"/>
          </a:ln>
        </p:spPr>
        <p:txBody>
          <a:bodyPr/>
          <a:lstStyle/>
          <a:p>
            <a:endParaRPr lang="en-US"/>
          </a:p>
        </p:txBody>
      </p:sp>
      <p:sp>
        <p:nvSpPr>
          <p:cNvPr id="25" name="Text 23"/>
          <p:cNvSpPr/>
          <p:nvPr/>
        </p:nvSpPr>
        <p:spPr>
          <a:xfrm>
            <a:off x="2788920" y="2368296"/>
            <a:ext cx="4572000" cy="53035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_render_rag_tool_fallback(): scan ToolMessages in reverse, find one with answer+citations JSON, render it via render_rag_contract().</a:t>
            </a:r>
            <a:endParaRPr lang="en-US" sz="900" dirty="0"/>
          </a:p>
        </p:txBody>
      </p:sp>
      <p:sp>
        <p:nvSpPr>
          <p:cNvPr id="26" name="Shape 24"/>
          <p:cNvSpPr/>
          <p:nvPr/>
        </p:nvSpPr>
        <p:spPr>
          <a:xfrm>
            <a:off x="7635240" y="2459736"/>
            <a:ext cx="1005840" cy="347472"/>
          </a:xfrm>
          <a:prstGeom prst="rect">
            <a:avLst/>
          </a:prstGeom>
          <a:solidFill>
            <a:srgbClr val="0097A7"/>
          </a:solidFill>
          <a:ln/>
        </p:spPr>
        <p:txBody>
          <a:bodyPr/>
          <a:lstStyle/>
          <a:p>
            <a:endParaRPr lang="en-US"/>
          </a:p>
        </p:txBody>
      </p:sp>
      <p:sp>
        <p:nvSpPr>
          <p:cNvPr id="27" name="Text 25"/>
          <p:cNvSpPr/>
          <p:nvPr/>
        </p:nvSpPr>
        <p:spPr>
          <a:xfrm>
            <a:off x="7635240" y="2459736"/>
            <a:ext cx="1005840" cy="34747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RECOVERY</a:t>
            </a:r>
            <a:endParaRPr lang="en-US" sz="800" dirty="0"/>
          </a:p>
        </p:txBody>
      </p:sp>
      <p:sp>
        <p:nvSpPr>
          <p:cNvPr id="28" name="Shape 26"/>
          <p:cNvSpPr/>
          <p:nvPr/>
        </p:nvSpPr>
        <p:spPr>
          <a:xfrm>
            <a:off x="502920" y="2935224"/>
            <a:ext cx="365760" cy="530352"/>
          </a:xfrm>
          <a:prstGeom prst="rect">
            <a:avLst/>
          </a:prstGeom>
          <a:solidFill>
            <a:srgbClr val="1B2A4A"/>
          </a:solidFill>
          <a:ln/>
        </p:spPr>
        <p:txBody>
          <a:bodyPr/>
          <a:lstStyle/>
          <a:p>
            <a:endParaRPr lang="en-US"/>
          </a:p>
        </p:txBody>
      </p:sp>
      <p:sp>
        <p:nvSpPr>
          <p:cNvPr id="29" name="Text 27"/>
          <p:cNvSpPr/>
          <p:nvPr/>
        </p:nvSpPr>
        <p:spPr>
          <a:xfrm>
            <a:off x="502920" y="2935224"/>
            <a:ext cx="365760" cy="530352"/>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30" name="Shape 28"/>
          <p:cNvSpPr/>
          <p:nvPr/>
        </p:nvSpPr>
        <p:spPr>
          <a:xfrm>
            <a:off x="868680" y="2935224"/>
            <a:ext cx="1828800" cy="530352"/>
          </a:xfrm>
          <a:prstGeom prst="rect">
            <a:avLst/>
          </a:prstGeom>
          <a:solidFill>
            <a:srgbClr val="5C6BC0"/>
          </a:solidFill>
          <a:ln/>
        </p:spPr>
        <p:txBody>
          <a:bodyPr/>
          <a:lstStyle/>
          <a:p>
            <a:endParaRPr lang="en-US"/>
          </a:p>
        </p:txBody>
      </p:sp>
      <p:sp>
        <p:nvSpPr>
          <p:cNvPr id="31" name="Text 29"/>
          <p:cNvSpPr/>
          <p:nvPr/>
        </p:nvSpPr>
        <p:spPr>
          <a:xfrm>
            <a:off x="941832" y="2935224"/>
            <a:ext cx="1737360" cy="530352"/>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Tool Result Synthesis</a:t>
            </a:r>
            <a:endParaRPr lang="en-US" sz="900" dirty="0"/>
          </a:p>
        </p:txBody>
      </p:sp>
      <p:sp>
        <p:nvSpPr>
          <p:cNvPr id="32" name="Shape 30"/>
          <p:cNvSpPr/>
          <p:nvPr/>
        </p:nvSpPr>
        <p:spPr>
          <a:xfrm>
            <a:off x="2697480" y="2935224"/>
            <a:ext cx="4754880" cy="530352"/>
          </a:xfrm>
          <a:prstGeom prst="rect">
            <a:avLst/>
          </a:prstGeom>
          <a:solidFill>
            <a:srgbClr val="F5F5F5"/>
          </a:solidFill>
          <a:ln w="3810">
            <a:solidFill>
              <a:srgbClr val="F0F0F0"/>
            </a:solidFill>
            <a:prstDash val="solid"/>
          </a:ln>
        </p:spPr>
        <p:txBody>
          <a:bodyPr/>
          <a:lstStyle/>
          <a:p>
            <a:endParaRPr lang="en-US"/>
          </a:p>
        </p:txBody>
      </p:sp>
      <p:sp>
        <p:nvSpPr>
          <p:cNvPr id="33" name="Text 31"/>
          <p:cNvSpPr/>
          <p:nvPr/>
        </p:nvSpPr>
        <p:spPr>
          <a:xfrm>
            <a:off x="2788920" y="2935224"/>
            <a:ext cx="4572000" cy="53035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_synthesize_tool_results(): collect all ToolMessage JSON payloads, call LLM again with synth prompt to compose final answer.</a:t>
            </a:r>
            <a:endParaRPr lang="en-US" sz="900" dirty="0"/>
          </a:p>
        </p:txBody>
      </p:sp>
      <p:sp>
        <p:nvSpPr>
          <p:cNvPr id="34" name="Shape 32"/>
          <p:cNvSpPr/>
          <p:nvPr/>
        </p:nvSpPr>
        <p:spPr>
          <a:xfrm>
            <a:off x="7635240" y="3026664"/>
            <a:ext cx="1005840" cy="347472"/>
          </a:xfrm>
          <a:prstGeom prst="rect">
            <a:avLst/>
          </a:prstGeom>
          <a:solidFill>
            <a:srgbClr val="5C6BC0"/>
          </a:solidFill>
          <a:ln/>
        </p:spPr>
        <p:txBody>
          <a:bodyPr/>
          <a:lstStyle/>
          <a:p>
            <a:endParaRPr lang="en-US"/>
          </a:p>
        </p:txBody>
      </p:sp>
      <p:sp>
        <p:nvSpPr>
          <p:cNvPr id="35" name="Text 33"/>
          <p:cNvSpPr/>
          <p:nvPr/>
        </p:nvSpPr>
        <p:spPr>
          <a:xfrm>
            <a:off x="7635240" y="3026664"/>
            <a:ext cx="1005840" cy="34747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RECOVERY</a:t>
            </a:r>
            <a:endParaRPr lang="en-US" sz="800" dirty="0"/>
          </a:p>
        </p:txBody>
      </p:sp>
      <p:sp>
        <p:nvSpPr>
          <p:cNvPr id="36" name="Shape 34"/>
          <p:cNvSpPr/>
          <p:nvPr/>
        </p:nvSpPr>
        <p:spPr>
          <a:xfrm>
            <a:off x="502920" y="3502152"/>
            <a:ext cx="365760" cy="530352"/>
          </a:xfrm>
          <a:prstGeom prst="rect">
            <a:avLst/>
          </a:prstGeom>
          <a:solidFill>
            <a:srgbClr val="1B2A4A"/>
          </a:solidFill>
          <a:ln/>
        </p:spPr>
        <p:txBody>
          <a:bodyPr/>
          <a:lstStyle/>
          <a:p>
            <a:endParaRPr lang="en-US"/>
          </a:p>
        </p:txBody>
      </p:sp>
      <p:sp>
        <p:nvSpPr>
          <p:cNvPr id="37" name="Text 35"/>
          <p:cNvSpPr/>
          <p:nvPr/>
        </p:nvSpPr>
        <p:spPr>
          <a:xfrm>
            <a:off x="502920" y="3502152"/>
            <a:ext cx="365760" cy="530352"/>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38" name="Shape 36"/>
          <p:cNvSpPr/>
          <p:nvPr/>
        </p:nvSpPr>
        <p:spPr>
          <a:xfrm>
            <a:off x="868680" y="3502152"/>
            <a:ext cx="1828800" cy="530352"/>
          </a:xfrm>
          <a:prstGeom prst="rect">
            <a:avLst/>
          </a:prstGeom>
          <a:solidFill>
            <a:srgbClr val="C62828"/>
          </a:solidFill>
          <a:ln/>
        </p:spPr>
        <p:txBody>
          <a:bodyPr/>
          <a:lstStyle/>
          <a:p>
            <a:endParaRPr lang="en-US"/>
          </a:p>
        </p:txBody>
      </p:sp>
      <p:sp>
        <p:nvSpPr>
          <p:cNvPr id="39" name="Text 37"/>
          <p:cNvSpPr/>
          <p:nvPr/>
        </p:nvSpPr>
        <p:spPr>
          <a:xfrm>
            <a:off x="941832" y="3502152"/>
            <a:ext cx="1737360" cy="530352"/>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Failure Message</a:t>
            </a:r>
            <a:endParaRPr lang="en-US" sz="900" dirty="0"/>
          </a:p>
        </p:txBody>
      </p:sp>
      <p:sp>
        <p:nvSpPr>
          <p:cNvPr id="40" name="Shape 38"/>
          <p:cNvSpPr/>
          <p:nvPr/>
        </p:nvSpPr>
        <p:spPr>
          <a:xfrm>
            <a:off x="2697480" y="3502152"/>
            <a:ext cx="4754880" cy="530352"/>
          </a:xfrm>
          <a:prstGeom prst="rect">
            <a:avLst/>
          </a:prstGeom>
          <a:solidFill>
            <a:srgbClr val="F5F5F5"/>
          </a:solidFill>
          <a:ln w="3810">
            <a:solidFill>
              <a:srgbClr val="F0F0F0"/>
            </a:solidFill>
            <a:prstDash val="solid"/>
          </a:ln>
        </p:spPr>
        <p:txBody>
          <a:bodyPr/>
          <a:lstStyle/>
          <a:p>
            <a:endParaRPr lang="en-US"/>
          </a:p>
        </p:txBody>
      </p:sp>
      <p:sp>
        <p:nvSpPr>
          <p:cNvPr id="41" name="Text 39"/>
          <p:cNvSpPr/>
          <p:nvPr/>
        </p:nvSpPr>
        <p:spPr>
          <a:xfrm>
            <a:off x="2788920" y="3502152"/>
            <a:ext cx="4572000" cy="53035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None of the above worked. Return: 'I couldn't produce a complete final answer. Please try again with a narrower request.'</a:t>
            </a:r>
            <a:endParaRPr lang="en-US" sz="900" dirty="0"/>
          </a:p>
        </p:txBody>
      </p:sp>
      <p:sp>
        <p:nvSpPr>
          <p:cNvPr id="42" name="Shape 40"/>
          <p:cNvSpPr/>
          <p:nvPr/>
        </p:nvSpPr>
        <p:spPr>
          <a:xfrm>
            <a:off x="7635240" y="3593592"/>
            <a:ext cx="1005840" cy="347472"/>
          </a:xfrm>
          <a:prstGeom prst="rect">
            <a:avLst/>
          </a:prstGeom>
          <a:solidFill>
            <a:srgbClr val="C62828"/>
          </a:solidFill>
          <a:ln/>
        </p:spPr>
        <p:txBody>
          <a:bodyPr/>
          <a:lstStyle/>
          <a:p>
            <a:endParaRPr lang="en-US"/>
          </a:p>
        </p:txBody>
      </p:sp>
      <p:sp>
        <p:nvSpPr>
          <p:cNvPr id="43" name="Text 41"/>
          <p:cNvSpPr/>
          <p:nvPr/>
        </p:nvSpPr>
        <p:spPr>
          <a:xfrm>
            <a:off x="7635240" y="3593592"/>
            <a:ext cx="1005840" cy="34747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FALLBACK</a:t>
            </a:r>
            <a:endParaRPr lang="en-US" sz="800" dirty="0"/>
          </a:p>
        </p:txBody>
      </p:sp>
      <p:sp>
        <p:nvSpPr>
          <p:cNvPr id="44" name="Text 42"/>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general_agent.py — _finalize_messages(), _render_rag_tool_fallback(), _synthesize_tool_results()</a:t>
            </a:r>
            <a:endParaRPr lang="en-US" sz="9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Agent Harness — Data Analyst Guided Fallback</a:t>
            </a:r>
            <a:endParaRPr lang="en-US" sz="2600" dirty="0"/>
          </a:p>
        </p:txBody>
      </p:sp>
      <p:sp>
        <p:nvSpPr>
          <p:cNvPr id="3" name="Text 1"/>
          <p:cNvSpPr/>
          <p:nvPr/>
        </p:nvSpPr>
        <p:spPr>
          <a:xfrm>
            <a:off x="502920" y="822960"/>
            <a:ext cx="8138160" cy="457200"/>
          </a:xfrm>
          <a:prstGeom prst="rect">
            <a:avLst/>
          </a:prstGeom>
          <a:noFill/>
          <a:ln/>
        </p:spPr>
        <p:txBody>
          <a:bodyPr wrap="square" lIns="0" tIns="0" rIns="0" bIns="0" rtlCol="0" anchor="ctr"/>
          <a:lstStyle/>
          <a:p>
            <a:pPr marL="0" indent="0">
              <a:buNone/>
            </a:pPr>
            <a:r>
              <a:rPr lang="en-US" sz="1050" dirty="0">
                <a:solidFill>
                  <a:srgbClr val="1B2A4A"/>
                </a:solidFill>
                <a:latin typeface="Arial" pitchFamily="34" charset="0"/>
                <a:ea typeface="Arial" pitchFamily="34" charset="-122"/>
                <a:cs typeface="Arial" pitchFamily="34" charset="-120"/>
              </a:rPr>
              <a:t>When data_analyst agents fail to produce output via LLM-driven ReAct, _run_data_analyst_guided_fallback() activates. Triggered when: _data_analyst_fallback_enabled() detects load_dataset + inspect_columns + execute_code + workspace_list all available AND no successful execute_code in tool history.</a:t>
            </a:r>
            <a:endParaRPr lang="en-US" sz="1050" dirty="0"/>
          </a:p>
        </p:txBody>
      </p:sp>
      <p:sp>
        <p:nvSpPr>
          <p:cNvPr id="4" name="Shape 2"/>
          <p:cNvSpPr/>
          <p:nvPr/>
        </p:nvSpPr>
        <p:spPr>
          <a:xfrm>
            <a:off x="502920" y="1417320"/>
            <a:ext cx="365760" cy="457200"/>
          </a:xfrm>
          <a:prstGeom prst="rect">
            <a:avLst/>
          </a:prstGeom>
          <a:solidFill>
            <a:srgbClr val="0097A7"/>
          </a:solidFill>
          <a:ln/>
        </p:spPr>
        <p:txBody>
          <a:bodyPr/>
          <a:lstStyle/>
          <a:p>
            <a:endParaRPr lang="en-US"/>
          </a:p>
        </p:txBody>
      </p:sp>
      <p:sp>
        <p:nvSpPr>
          <p:cNvPr id="5" name="Text 3"/>
          <p:cNvSpPr/>
          <p:nvPr/>
        </p:nvSpPr>
        <p:spPr>
          <a:xfrm>
            <a:off x="502920" y="1417320"/>
            <a:ext cx="36576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6" name="Shape 4"/>
          <p:cNvSpPr/>
          <p:nvPr/>
        </p:nvSpPr>
        <p:spPr>
          <a:xfrm>
            <a:off x="868680" y="1417320"/>
            <a:ext cx="1828800" cy="457200"/>
          </a:xfrm>
          <a:prstGeom prst="rect">
            <a:avLst/>
          </a:prstGeom>
          <a:solidFill>
            <a:srgbClr val="1B2A4A"/>
          </a:solidFill>
          <a:ln/>
        </p:spPr>
        <p:txBody>
          <a:bodyPr/>
          <a:lstStyle/>
          <a:p>
            <a:endParaRPr lang="en-US"/>
          </a:p>
        </p:txBody>
      </p:sp>
      <p:sp>
        <p:nvSpPr>
          <p:cNvPr id="7" name="Text 5"/>
          <p:cNvSpPr/>
          <p:nvPr/>
        </p:nvSpPr>
        <p:spPr>
          <a:xfrm>
            <a:off x="941832" y="1417320"/>
            <a:ext cx="1691640" cy="457200"/>
          </a:xfrm>
          <a:prstGeom prst="rect">
            <a:avLst/>
          </a:prstGeom>
          <a:noFill/>
          <a:ln/>
        </p:spPr>
        <p:txBody>
          <a:bodyPr wrap="square" lIns="0" tIns="0" rIns="0" bIns="0" rtlCol="0" anchor="ctr"/>
          <a:lstStyle/>
          <a:p>
            <a:pPr marL="0" indent="0">
              <a:buNone/>
            </a:pPr>
            <a:r>
              <a:rPr lang="en-US" sz="850" b="1" dirty="0">
                <a:solidFill>
                  <a:srgbClr val="FFFFFF"/>
                </a:solidFill>
                <a:latin typeface="Courier New" pitchFamily="34" charset="0"/>
                <a:ea typeface="Courier New" pitchFamily="34" charset="-122"/>
                <a:cs typeface="Courier New" pitchFamily="34" charset="-120"/>
              </a:rPr>
              <a:t>workspace_list()</a:t>
            </a:r>
            <a:endParaRPr lang="en-US" sz="850" dirty="0"/>
          </a:p>
        </p:txBody>
      </p:sp>
      <p:sp>
        <p:nvSpPr>
          <p:cNvPr id="8" name="Shape 6"/>
          <p:cNvSpPr/>
          <p:nvPr/>
        </p:nvSpPr>
        <p:spPr>
          <a:xfrm>
            <a:off x="2697480" y="1417320"/>
            <a:ext cx="5943600" cy="457200"/>
          </a:xfrm>
          <a:prstGeom prst="rect">
            <a:avLst/>
          </a:prstGeom>
          <a:solidFill>
            <a:srgbClr val="F5F5F5"/>
          </a:solidFill>
          <a:ln w="3810">
            <a:solidFill>
              <a:srgbClr val="F0F0F0"/>
            </a:solidFill>
            <a:prstDash val="solid"/>
          </a:ln>
        </p:spPr>
        <p:txBody>
          <a:bodyPr/>
          <a:lstStyle/>
          <a:p>
            <a:endParaRPr lang="en-US"/>
          </a:p>
        </p:txBody>
      </p:sp>
      <p:sp>
        <p:nvSpPr>
          <p:cNvPr id="9" name="Text 7"/>
          <p:cNvSpPr/>
          <p:nvPr/>
        </p:nvSpPr>
        <p:spPr>
          <a:xfrm>
            <a:off x="2834640" y="1417320"/>
            <a:ext cx="5669280" cy="45720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List all files in /workspace. Filter for .csv, .xlsx, .xls files → dataset_refs[].</a:t>
            </a:r>
            <a:endParaRPr lang="en-US" sz="950" dirty="0"/>
          </a:p>
        </p:txBody>
      </p:sp>
      <p:sp>
        <p:nvSpPr>
          <p:cNvPr id="10" name="Shape 8"/>
          <p:cNvSpPr/>
          <p:nvPr/>
        </p:nvSpPr>
        <p:spPr>
          <a:xfrm>
            <a:off x="502920" y="1911096"/>
            <a:ext cx="365760" cy="457200"/>
          </a:xfrm>
          <a:prstGeom prst="rect">
            <a:avLst/>
          </a:prstGeom>
          <a:solidFill>
            <a:srgbClr val="0097A7"/>
          </a:solidFill>
          <a:ln/>
        </p:spPr>
        <p:txBody>
          <a:bodyPr/>
          <a:lstStyle/>
          <a:p>
            <a:endParaRPr lang="en-US"/>
          </a:p>
        </p:txBody>
      </p:sp>
      <p:sp>
        <p:nvSpPr>
          <p:cNvPr id="11" name="Text 9"/>
          <p:cNvSpPr/>
          <p:nvPr/>
        </p:nvSpPr>
        <p:spPr>
          <a:xfrm>
            <a:off x="502920" y="1911096"/>
            <a:ext cx="36576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2" name="Shape 10"/>
          <p:cNvSpPr/>
          <p:nvPr/>
        </p:nvSpPr>
        <p:spPr>
          <a:xfrm>
            <a:off x="868680" y="1911096"/>
            <a:ext cx="1828800" cy="457200"/>
          </a:xfrm>
          <a:prstGeom prst="rect">
            <a:avLst/>
          </a:prstGeom>
          <a:solidFill>
            <a:srgbClr val="1B2A4A"/>
          </a:solidFill>
          <a:ln/>
        </p:spPr>
        <p:txBody>
          <a:bodyPr/>
          <a:lstStyle/>
          <a:p>
            <a:endParaRPr lang="en-US"/>
          </a:p>
        </p:txBody>
      </p:sp>
      <p:sp>
        <p:nvSpPr>
          <p:cNvPr id="13" name="Text 11"/>
          <p:cNvSpPr/>
          <p:nvPr/>
        </p:nvSpPr>
        <p:spPr>
          <a:xfrm>
            <a:off x="941832" y="1911096"/>
            <a:ext cx="1691640" cy="457200"/>
          </a:xfrm>
          <a:prstGeom prst="rect">
            <a:avLst/>
          </a:prstGeom>
          <a:noFill/>
          <a:ln/>
        </p:spPr>
        <p:txBody>
          <a:bodyPr wrap="square" lIns="0" tIns="0" rIns="0" bIns="0" rtlCol="0" anchor="ctr"/>
          <a:lstStyle/>
          <a:p>
            <a:pPr marL="0" indent="0">
              <a:buNone/>
            </a:pPr>
            <a:r>
              <a:rPr lang="en-US" sz="850" b="1" dirty="0">
                <a:solidFill>
                  <a:srgbClr val="FFFFFF"/>
                </a:solidFill>
                <a:latin typeface="Courier New" pitchFamily="34" charset="0"/>
                <a:ea typeface="Courier New" pitchFamily="34" charset="-122"/>
                <a:cs typeface="Courier New" pitchFamily="34" charset="-120"/>
              </a:rPr>
              <a:t>load_dataset(doc_id)</a:t>
            </a:r>
            <a:endParaRPr lang="en-US" sz="850" dirty="0"/>
          </a:p>
        </p:txBody>
      </p:sp>
      <p:sp>
        <p:nvSpPr>
          <p:cNvPr id="14" name="Shape 12"/>
          <p:cNvSpPr/>
          <p:nvPr/>
        </p:nvSpPr>
        <p:spPr>
          <a:xfrm>
            <a:off x="2697480" y="1911096"/>
            <a:ext cx="5943600" cy="457200"/>
          </a:xfrm>
          <a:prstGeom prst="rect">
            <a:avLst/>
          </a:prstGeom>
          <a:solidFill>
            <a:srgbClr val="F5F5F5"/>
          </a:solidFill>
          <a:ln w="3810">
            <a:solidFill>
              <a:srgbClr val="F0F0F0"/>
            </a:solidFill>
            <a:prstDash val="solid"/>
          </a:ln>
        </p:spPr>
        <p:txBody>
          <a:bodyPr/>
          <a:lstStyle/>
          <a:p>
            <a:endParaRPr lang="en-US"/>
          </a:p>
        </p:txBody>
      </p:sp>
      <p:sp>
        <p:nvSpPr>
          <p:cNvPr id="15" name="Text 13"/>
          <p:cNvSpPr/>
          <p:nvPr/>
        </p:nvSpPr>
        <p:spPr>
          <a:xfrm>
            <a:off x="2834640" y="1911096"/>
            <a:ext cx="5669280" cy="45720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For each dataset, load schema: column names, row count, sample values.</a:t>
            </a:r>
            <a:endParaRPr lang="en-US" sz="950" dirty="0"/>
          </a:p>
        </p:txBody>
      </p:sp>
      <p:sp>
        <p:nvSpPr>
          <p:cNvPr id="16" name="Shape 14"/>
          <p:cNvSpPr/>
          <p:nvPr/>
        </p:nvSpPr>
        <p:spPr>
          <a:xfrm>
            <a:off x="502920" y="2404872"/>
            <a:ext cx="365760" cy="457200"/>
          </a:xfrm>
          <a:prstGeom prst="rect">
            <a:avLst/>
          </a:prstGeom>
          <a:solidFill>
            <a:srgbClr val="0097A7"/>
          </a:solidFill>
          <a:ln/>
        </p:spPr>
        <p:txBody>
          <a:bodyPr/>
          <a:lstStyle/>
          <a:p>
            <a:endParaRPr lang="en-US"/>
          </a:p>
        </p:txBody>
      </p:sp>
      <p:sp>
        <p:nvSpPr>
          <p:cNvPr id="17" name="Text 15"/>
          <p:cNvSpPr/>
          <p:nvPr/>
        </p:nvSpPr>
        <p:spPr>
          <a:xfrm>
            <a:off x="502920" y="2404872"/>
            <a:ext cx="36576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8" name="Shape 16"/>
          <p:cNvSpPr/>
          <p:nvPr/>
        </p:nvSpPr>
        <p:spPr>
          <a:xfrm>
            <a:off x="868680" y="2404872"/>
            <a:ext cx="1828800" cy="457200"/>
          </a:xfrm>
          <a:prstGeom prst="rect">
            <a:avLst/>
          </a:prstGeom>
          <a:solidFill>
            <a:srgbClr val="1B2A4A"/>
          </a:solidFill>
          <a:ln/>
        </p:spPr>
        <p:txBody>
          <a:bodyPr/>
          <a:lstStyle/>
          <a:p>
            <a:endParaRPr lang="en-US"/>
          </a:p>
        </p:txBody>
      </p:sp>
      <p:sp>
        <p:nvSpPr>
          <p:cNvPr id="19" name="Text 17"/>
          <p:cNvSpPr/>
          <p:nvPr/>
        </p:nvSpPr>
        <p:spPr>
          <a:xfrm>
            <a:off x="941832" y="2404872"/>
            <a:ext cx="1691640" cy="457200"/>
          </a:xfrm>
          <a:prstGeom prst="rect">
            <a:avLst/>
          </a:prstGeom>
          <a:noFill/>
          <a:ln/>
        </p:spPr>
        <p:txBody>
          <a:bodyPr wrap="square" lIns="0" tIns="0" rIns="0" bIns="0" rtlCol="0" anchor="ctr"/>
          <a:lstStyle/>
          <a:p>
            <a:pPr marL="0" indent="0">
              <a:buNone/>
            </a:pPr>
            <a:r>
              <a:rPr lang="en-US" sz="850" b="1" dirty="0">
                <a:solidFill>
                  <a:srgbClr val="FFFFFF"/>
                </a:solidFill>
                <a:latin typeface="Courier New" pitchFamily="34" charset="0"/>
                <a:ea typeface="Courier New" pitchFamily="34" charset="-122"/>
                <a:cs typeface="Courier New" pitchFamily="34" charset="-120"/>
              </a:rPr>
              <a:t>inspect_columns(doc_id)</a:t>
            </a:r>
            <a:endParaRPr lang="en-US" sz="850" dirty="0"/>
          </a:p>
        </p:txBody>
      </p:sp>
      <p:sp>
        <p:nvSpPr>
          <p:cNvPr id="20" name="Shape 18"/>
          <p:cNvSpPr/>
          <p:nvPr/>
        </p:nvSpPr>
        <p:spPr>
          <a:xfrm>
            <a:off x="2697480" y="2404872"/>
            <a:ext cx="5943600" cy="457200"/>
          </a:xfrm>
          <a:prstGeom prst="rect">
            <a:avLst/>
          </a:prstGeom>
          <a:solidFill>
            <a:srgbClr val="F5F5F5"/>
          </a:solidFill>
          <a:ln w="3810">
            <a:solidFill>
              <a:srgbClr val="F0F0F0"/>
            </a:solidFill>
            <a:prstDash val="solid"/>
          </a:ln>
        </p:spPr>
        <p:txBody>
          <a:bodyPr/>
          <a:lstStyle/>
          <a:p>
            <a:endParaRPr lang="en-US"/>
          </a:p>
        </p:txBody>
      </p:sp>
      <p:sp>
        <p:nvSpPr>
          <p:cNvPr id="21" name="Text 19"/>
          <p:cNvSpPr/>
          <p:nvPr/>
        </p:nvSpPr>
        <p:spPr>
          <a:xfrm>
            <a:off x="2834640" y="2404872"/>
            <a:ext cx="5669280" cy="45720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Deep column inspection. Identify numeric, categorical, date columns.</a:t>
            </a:r>
            <a:endParaRPr lang="en-US" sz="950" dirty="0"/>
          </a:p>
        </p:txBody>
      </p:sp>
      <p:sp>
        <p:nvSpPr>
          <p:cNvPr id="22" name="Shape 20"/>
          <p:cNvSpPr/>
          <p:nvPr/>
        </p:nvSpPr>
        <p:spPr>
          <a:xfrm>
            <a:off x="502920" y="2898648"/>
            <a:ext cx="365760" cy="457200"/>
          </a:xfrm>
          <a:prstGeom prst="rect">
            <a:avLst/>
          </a:prstGeom>
          <a:solidFill>
            <a:srgbClr val="0097A7"/>
          </a:solidFill>
          <a:ln/>
        </p:spPr>
        <p:txBody>
          <a:bodyPr/>
          <a:lstStyle/>
          <a:p>
            <a:endParaRPr lang="en-US"/>
          </a:p>
        </p:txBody>
      </p:sp>
      <p:sp>
        <p:nvSpPr>
          <p:cNvPr id="23" name="Text 21"/>
          <p:cNvSpPr/>
          <p:nvPr/>
        </p:nvSpPr>
        <p:spPr>
          <a:xfrm>
            <a:off x="502920" y="2898648"/>
            <a:ext cx="36576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24" name="Shape 22"/>
          <p:cNvSpPr/>
          <p:nvPr/>
        </p:nvSpPr>
        <p:spPr>
          <a:xfrm>
            <a:off x="868680" y="2898648"/>
            <a:ext cx="1828800" cy="457200"/>
          </a:xfrm>
          <a:prstGeom prst="rect">
            <a:avLst/>
          </a:prstGeom>
          <a:solidFill>
            <a:srgbClr val="1B2A4A"/>
          </a:solidFill>
          <a:ln/>
        </p:spPr>
        <p:txBody>
          <a:bodyPr/>
          <a:lstStyle/>
          <a:p>
            <a:endParaRPr lang="en-US"/>
          </a:p>
        </p:txBody>
      </p:sp>
      <p:sp>
        <p:nvSpPr>
          <p:cNvPr id="25" name="Text 23"/>
          <p:cNvSpPr/>
          <p:nvPr/>
        </p:nvSpPr>
        <p:spPr>
          <a:xfrm>
            <a:off x="941832" y="2898648"/>
            <a:ext cx="1691640" cy="457200"/>
          </a:xfrm>
          <a:prstGeom prst="rect">
            <a:avLst/>
          </a:prstGeom>
          <a:noFill/>
          <a:ln/>
        </p:spPr>
        <p:txBody>
          <a:bodyPr wrap="square" lIns="0" tIns="0" rIns="0" bIns="0" rtlCol="0" anchor="ctr"/>
          <a:lstStyle/>
          <a:p>
            <a:pPr marL="0" indent="0">
              <a:buNone/>
            </a:pPr>
            <a:r>
              <a:rPr lang="en-US" sz="850" b="1" dirty="0">
                <a:solidFill>
                  <a:srgbClr val="FFFFFF"/>
                </a:solidFill>
                <a:latin typeface="Courier New" pitchFamily="34" charset="0"/>
                <a:ea typeface="Courier New" pitchFamily="34" charset="-122"/>
                <a:cs typeface="Courier New" pitchFamily="34" charset="-120"/>
              </a:rPr>
              <a:t>_build_data_analyst_code()</a:t>
            </a:r>
            <a:endParaRPr lang="en-US" sz="850" dirty="0"/>
          </a:p>
        </p:txBody>
      </p:sp>
      <p:sp>
        <p:nvSpPr>
          <p:cNvPr id="26" name="Shape 24"/>
          <p:cNvSpPr/>
          <p:nvPr/>
        </p:nvSpPr>
        <p:spPr>
          <a:xfrm>
            <a:off x="2697480" y="2898648"/>
            <a:ext cx="5943600" cy="457200"/>
          </a:xfrm>
          <a:prstGeom prst="rect">
            <a:avLst/>
          </a:prstGeom>
          <a:solidFill>
            <a:srgbClr val="F5F5F5"/>
          </a:solidFill>
          <a:ln w="3810">
            <a:solidFill>
              <a:srgbClr val="F0F0F0"/>
            </a:solidFill>
            <a:prstDash val="solid"/>
          </a:ln>
        </p:spPr>
        <p:txBody>
          <a:bodyPr/>
          <a:lstStyle/>
          <a:p>
            <a:endParaRPr lang="en-US"/>
          </a:p>
        </p:txBody>
      </p:sp>
      <p:sp>
        <p:nvSpPr>
          <p:cNvPr id="27" name="Text 25"/>
          <p:cNvSpPr/>
          <p:nvPr/>
        </p:nvSpPr>
        <p:spPr>
          <a:xfrm>
            <a:off x="2834640" y="2898648"/>
            <a:ext cx="5669280" cy="45720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Heuristic code generator: detects column names like 'region', 'annual_spend_usd', 'risk_score' and emits appropriate pandas code. If multi-file, generates merge + analysis.</a:t>
            </a:r>
            <a:endParaRPr lang="en-US" sz="950" dirty="0"/>
          </a:p>
        </p:txBody>
      </p:sp>
      <p:sp>
        <p:nvSpPr>
          <p:cNvPr id="28" name="Shape 26"/>
          <p:cNvSpPr/>
          <p:nvPr/>
        </p:nvSpPr>
        <p:spPr>
          <a:xfrm>
            <a:off x="502920" y="3392424"/>
            <a:ext cx="365760" cy="457200"/>
          </a:xfrm>
          <a:prstGeom prst="rect">
            <a:avLst/>
          </a:prstGeom>
          <a:solidFill>
            <a:srgbClr val="0097A7"/>
          </a:solidFill>
          <a:ln/>
        </p:spPr>
        <p:txBody>
          <a:bodyPr/>
          <a:lstStyle/>
          <a:p>
            <a:endParaRPr lang="en-US"/>
          </a:p>
        </p:txBody>
      </p:sp>
      <p:sp>
        <p:nvSpPr>
          <p:cNvPr id="29" name="Text 27"/>
          <p:cNvSpPr/>
          <p:nvPr/>
        </p:nvSpPr>
        <p:spPr>
          <a:xfrm>
            <a:off x="502920" y="3392424"/>
            <a:ext cx="36576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30" name="Shape 28"/>
          <p:cNvSpPr/>
          <p:nvPr/>
        </p:nvSpPr>
        <p:spPr>
          <a:xfrm>
            <a:off x="868680" y="3392424"/>
            <a:ext cx="1828800" cy="457200"/>
          </a:xfrm>
          <a:prstGeom prst="rect">
            <a:avLst/>
          </a:prstGeom>
          <a:solidFill>
            <a:srgbClr val="1B2A4A"/>
          </a:solidFill>
          <a:ln/>
        </p:spPr>
        <p:txBody>
          <a:bodyPr/>
          <a:lstStyle/>
          <a:p>
            <a:endParaRPr lang="en-US"/>
          </a:p>
        </p:txBody>
      </p:sp>
      <p:sp>
        <p:nvSpPr>
          <p:cNvPr id="31" name="Text 29"/>
          <p:cNvSpPr/>
          <p:nvPr/>
        </p:nvSpPr>
        <p:spPr>
          <a:xfrm>
            <a:off x="941832" y="3392424"/>
            <a:ext cx="1691640" cy="457200"/>
          </a:xfrm>
          <a:prstGeom prst="rect">
            <a:avLst/>
          </a:prstGeom>
          <a:noFill/>
          <a:ln/>
        </p:spPr>
        <p:txBody>
          <a:bodyPr wrap="square" lIns="0" tIns="0" rIns="0" bIns="0" rtlCol="0" anchor="ctr"/>
          <a:lstStyle/>
          <a:p>
            <a:pPr marL="0" indent="0">
              <a:buNone/>
            </a:pPr>
            <a:r>
              <a:rPr lang="en-US" sz="850" b="1" dirty="0">
                <a:solidFill>
                  <a:srgbClr val="FFFFFF"/>
                </a:solidFill>
                <a:latin typeface="Courier New" pitchFamily="34" charset="0"/>
                <a:ea typeface="Courier New" pitchFamily="34" charset="-122"/>
                <a:cs typeface="Courier New" pitchFamily="34" charset="-120"/>
              </a:rPr>
              <a:t>execute_code(code)</a:t>
            </a:r>
            <a:endParaRPr lang="en-US" sz="850" dirty="0"/>
          </a:p>
        </p:txBody>
      </p:sp>
      <p:sp>
        <p:nvSpPr>
          <p:cNvPr id="32" name="Shape 30"/>
          <p:cNvSpPr/>
          <p:nvPr/>
        </p:nvSpPr>
        <p:spPr>
          <a:xfrm>
            <a:off x="2697480" y="3392424"/>
            <a:ext cx="5943600" cy="457200"/>
          </a:xfrm>
          <a:prstGeom prst="rect">
            <a:avLst/>
          </a:prstGeom>
          <a:solidFill>
            <a:srgbClr val="F5F5F5"/>
          </a:solidFill>
          <a:ln w="3810">
            <a:solidFill>
              <a:srgbClr val="F0F0F0"/>
            </a:solidFill>
            <a:prstDash val="solid"/>
          </a:ln>
        </p:spPr>
        <p:txBody>
          <a:bodyPr/>
          <a:lstStyle/>
          <a:p>
            <a:endParaRPr lang="en-US"/>
          </a:p>
        </p:txBody>
      </p:sp>
      <p:sp>
        <p:nvSpPr>
          <p:cNvPr id="33" name="Text 31"/>
          <p:cNvSpPr/>
          <p:nvPr/>
        </p:nvSpPr>
        <p:spPr>
          <a:xfrm>
            <a:off x="2834640" y="3392424"/>
            <a:ext cx="5669280" cy="457200"/>
          </a:xfrm>
          <a:prstGeom prst="rect">
            <a:avLst/>
          </a:prstGeom>
          <a:noFill/>
          <a:ln/>
        </p:spPr>
        <p:txBody>
          <a:bodyPr wrap="square" lIns="0" tIns="0" rIns="0" bIns="0" rtlCol="0" anchor="ctr"/>
          <a:lstStyle/>
          <a:p>
            <a:pPr marL="0" indent="0">
              <a:buNone/>
            </a:pPr>
            <a:r>
              <a:rPr lang="en-US" sz="950" dirty="0">
                <a:solidFill>
                  <a:srgbClr val="333333"/>
                </a:solidFill>
                <a:latin typeface="Arial" pitchFamily="34" charset="0"/>
                <a:ea typeface="Arial" pitchFamily="34" charset="-122"/>
                <a:cs typeface="Arial" pitchFamily="34" charset="-120"/>
              </a:rPr>
              <a:t>Run generated code in Docker sandbox. stdout → final answer. stderr → error message.</a:t>
            </a:r>
            <a:endParaRPr lang="en-US" sz="950" dirty="0"/>
          </a:p>
        </p:txBody>
      </p:sp>
      <p:sp>
        <p:nvSpPr>
          <p:cNvPr id="34" name="Text 32"/>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general_agent.py — _run_data_analyst_guided_fallback(), _build_data_analyst_code(), _data_analyst_fallback_enabled()</a:t>
            </a:r>
            <a:endParaRPr lang="en-US" sz="9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02920" y="1463040"/>
            <a:ext cx="8138160" cy="73152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Task Planning System</a:t>
            </a:r>
            <a:endParaRPr lang="en-US" sz="3200" dirty="0"/>
          </a:p>
        </p:txBody>
      </p:sp>
      <p:sp>
        <p:nvSpPr>
          <p:cNvPr id="3" name="Text 1"/>
          <p:cNvSpPr/>
          <p:nvPr/>
        </p:nvSpPr>
        <p:spPr>
          <a:xfrm>
            <a:off x="502920" y="2286000"/>
            <a:ext cx="8138160" cy="457200"/>
          </a:xfrm>
          <a:prstGeom prst="rect">
            <a:avLst/>
          </a:prstGeom>
          <a:noFill/>
          <a:ln/>
        </p:spPr>
        <p:txBody>
          <a:bodyPr wrap="square" lIns="0" tIns="0" rIns="0" bIns="0" rtlCol="0" anchor="ctr"/>
          <a:lstStyle/>
          <a:p>
            <a:pPr marL="0" indent="0">
              <a:buNone/>
            </a:pPr>
            <a:r>
              <a:rPr lang="en-US" sz="1600" dirty="0">
                <a:solidFill>
                  <a:srgbClr val="0097A7"/>
                </a:solidFill>
                <a:latin typeface="Arial" pitchFamily="34" charset="0"/>
                <a:ea typeface="Arial" pitchFamily="34" charset="-122"/>
                <a:cs typeface="Arial" pitchFamily="34" charset="-120"/>
              </a:rPr>
              <a:t>TaskSpec + DAG execution + smart fallback plan building</a:t>
            </a:r>
            <a:endParaRPr lang="en-US" sz="16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TaskSpec + Task DAG — Dependency-Aware Execution</a:t>
            </a:r>
            <a:endParaRPr lang="en-US" sz="2600" dirty="0"/>
          </a:p>
        </p:txBody>
      </p:sp>
      <p:sp>
        <p:nvSpPr>
          <p:cNvPr id="3" name="Shape 1"/>
          <p:cNvSpPr/>
          <p:nvPr/>
        </p:nvSpPr>
        <p:spPr>
          <a:xfrm>
            <a:off x="502920" y="914400"/>
            <a:ext cx="3840480" cy="18288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4" name="Shape 2"/>
          <p:cNvSpPr/>
          <p:nvPr/>
        </p:nvSpPr>
        <p:spPr>
          <a:xfrm>
            <a:off x="502920" y="914400"/>
            <a:ext cx="3840480" cy="320040"/>
          </a:xfrm>
          <a:prstGeom prst="rect">
            <a:avLst/>
          </a:prstGeom>
          <a:solidFill>
            <a:srgbClr val="0097A7"/>
          </a:solidFill>
          <a:ln/>
        </p:spPr>
        <p:txBody>
          <a:bodyPr/>
          <a:lstStyle/>
          <a:p>
            <a:endParaRPr lang="en-US"/>
          </a:p>
        </p:txBody>
      </p:sp>
      <p:sp>
        <p:nvSpPr>
          <p:cNvPr id="5" name="Text 3"/>
          <p:cNvSpPr/>
          <p:nvPr/>
        </p:nvSpPr>
        <p:spPr>
          <a:xfrm>
            <a:off x="612648" y="941832"/>
            <a:ext cx="362102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TaskSpec Fields</a:t>
            </a:r>
            <a:endParaRPr lang="en-US" sz="1200" dirty="0"/>
          </a:p>
        </p:txBody>
      </p:sp>
      <p:sp>
        <p:nvSpPr>
          <p:cNvPr id="6" name="Text 4"/>
          <p:cNvSpPr/>
          <p:nvPr/>
        </p:nvSpPr>
        <p:spPr>
          <a:xfrm>
            <a:off x="612648" y="1298448"/>
            <a:ext cx="3621024" cy="135331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id, title, executor (rag_worker|utility|data_analyst|general)
mode: 'sequential' | 'parallel'
depends_on: [task_ids] — DAG dependency list
produces_artifacts: ['analysis_summary', 'doc_focus'...]
consumes_artifacts: ['analysis_summary'...]
research_profile, coverage_goal, result_mode, controller_hints</a:t>
            </a:r>
            <a:endParaRPr lang="en-US" sz="1000" dirty="0"/>
          </a:p>
        </p:txBody>
      </p:sp>
      <p:sp>
        <p:nvSpPr>
          <p:cNvPr id="7" name="Shape 5"/>
          <p:cNvSpPr/>
          <p:nvPr/>
        </p:nvSpPr>
        <p:spPr>
          <a:xfrm>
            <a:off x="4754880" y="914400"/>
            <a:ext cx="3931920" cy="18288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8" name="Shape 6"/>
          <p:cNvSpPr/>
          <p:nvPr/>
        </p:nvSpPr>
        <p:spPr>
          <a:xfrm>
            <a:off x="4754880" y="914400"/>
            <a:ext cx="3931920" cy="320040"/>
          </a:xfrm>
          <a:prstGeom prst="rect">
            <a:avLst/>
          </a:prstGeom>
          <a:solidFill>
            <a:srgbClr val="1B2A4A"/>
          </a:solidFill>
          <a:ln/>
        </p:spPr>
        <p:txBody>
          <a:bodyPr/>
          <a:lstStyle/>
          <a:p>
            <a:endParaRPr lang="en-US"/>
          </a:p>
        </p:txBody>
      </p:sp>
      <p:sp>
        <p:nvSpPr>
          <p:cNvPr id="9" name="Text 7"/>
          <p:cNvSpPr/>
          <p:nvPr/>
        </p:nvSpPr>
        <p:spPr>
          <a:xfrm>
            <a:off x="4864608" y="941832"/>
            <a:ext cx="371246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select_execution_batch() Logic</a:t>
            </a:r>
            <a:endParaRPr lang="en-US" sz="1200" dirty="0"/>
          </a:p>
        </p:txBody>
      </p:sp>
      <p:sp>
        <p:nvSpPr>
          <p:cNvPr id="10" name="Text 8"/>
          <p:cNvSpPr/>
          <p:nvPr/>
        </p:nvSpPr>
        <p:spPr>
          <a:xfrm>
            <a:off x="4864608" y="1298448"/>
            <a:ext cx="3712464" cy="135331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Looks at task_plan + task_results: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1. Skip tasks already attempted
2. Skip tasks whose depends_on are NOT in completed set
3. If first ready task is mode='sequential' → return [it alone]
4. If mode='parallel' → gather all consecutive parallel tasks → run as batch</a:t>
            </a:r>
            <a:endParaRPr lang="en-US" sz="1000" dirty="0"/>
          </a:p>
        </p:txBody>
      </p:sp>
      <p:sp>
        <p:nvSpPr>
          <p:cNvPr id="11" name="Shape 9"/>
          <p:cNvSpPr/>
          <p:nvPr/>
        </p:nvSpPr>
        <p:spPr>
          <a:xfrm>
            <a:off x="502920" y="2880360"/>
            <a:ext cx="8138160" cy="822960"/>
          </a:xfrm>
          <a:prstGeom prst="rect">
            <a:avLst/>
          </a:prstGeom>
          <a:solidFill>
            <a:srgbClr val="2D2D2D"/>
          </a:solidFill>
          <a:ln/>
        </p:spPr>
        <p:txBody>
          <a:bodyPr/>
          <a:lstStyle/>
          <a:p>
            <a:endParaRPr lang="en-US"/>
          </a:p>
        </p:txBody>
      </p:sp>
      <p:sp>
        <p:nvSpPr>
          <p:cNvPr id="12" name="Text 10"/>
          <p:cNvSpPr/>
          <p:nvPr/>
        </p:nvSpPr>
        <p:spPr>
          <a:xfrm>
            <a:off x="612648" y="2935224"/>
            <a:ext cx="7918704" cy="713232"/>
          </a:xfrm>
          <a:prstGeom prst="rect">
            <a:avLst/>
          </a:prstGeom>
          <a:noFill/>
          <a:ln/>
        </p:spPr>
        <p:txBody>
          <a:bodyPr wrap="square" lIns="0" tIns="0" rIns="0" bIns="0" rtlCol="0" anchor="t"/>
          <a:lstStyle/>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Task Plan Example: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task_1: executor=data_analyst, mode=sequential, produces=[analysis_summary, entity_candidates]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task_2: executor=rag_worker,   mode=sequential, depends_on=[task_1], consumes=[analysis_summary, entity_candidates]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task_3: executor=rag_worker,   mode=parallel,   depends_on=[]</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task_4: executor=rag_worker,   mode=parallel,   depends_on=[]</a:t>
            </a:r>
            <a:endParaRPr lang="en-US" sz="900" dirty="0"/>
          </a:p>
        </p:txBody>
      </p:sp>
      <p:sp>
        <p:nvSpPr>
          <p:cNvPr id="13" name="Text 11"/>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runtime/task_plan.py — TaskSpec, select_execution_batch(), normalise_task_plan()</a:t>
            </a:r>
            <a:endParaRPr lang="en-US" sz="9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build_fallback_plan() — Intelligent Automatic Task Generation</a:t>
            </a:r>
            <a:endParaRPr lang="en-US" sz="2600" dirty="0"/>
          </a:p>
        </p:txBody>
      </p:sp>
      <p:sp>
        <p:nvSpPr>
          <p:cNvPr id="3" name="Text 1"/>
          <p:cNvSpPr/>
          <p:nvPr/>
        </p:nvSpPr>
        <p:spPr>
          <a:xfrm>
            <a:off x="502920" y="822960"/>
            <a:ext cx="8138160" cy="320040"/>
          </a:xfrm>
          <a:prstGeom prst="rect">
            <a:avLst/>
          </a:prstGeom>
          <a:noFill/>
          <a:ln/>
        </p:spPr>
        <p:txBody>
          <a:bodyPr wrap="square" lIns="0" tIns="0" rIns="0" bIns="0" rtlCol="0" anchor="ctr"/>
          <a:lstStyle/>
          <a:p>
            <a:pPr marL="0" indent="0">
              <a:buNone/>
            </a:pPr>
            <a:r>
              <a:rPr lang="en-US" sz="1100" dirty="0">
                <a:solidFill>
                  <a:srgbClr val="1B2A4A"/>
                </a:solidFill>
                <a:latin typeface="Arial" pitchFamily="34" charset="0"/>
                <a:ea typeface="Arial" pitchFamily="34" charset="-122"/>
                <a:cs typeface="Arial" pitchFamily="34" charset="-120"/>
              </a:rPr>
              <a:t>When the planner LLM produces a bad or empty plan, build_fallback_plan() generates a sensible plan from the query alone:</a:t>
            </a:r>
            <a:endParaRPr lang="en-US" sz="1100" dirty="0"/>
          </a:p>
        </p:txBody>
      </p:sp>
      <p:sp>
        <p:nvSpPr>
          <p:cNvPr id="4" name="Shape 2"/>
          <p:cNvSpPr/>
          <p:nvPr/>
        </p:nvSpPr>
        <p:spPr>
          <a:xfrm>
            <a:off x="502920" y="1234440"/>
            <a:ext cx="2286000" cy="658368"/>
          </a:xfrm>
          <a:prstGeom prst="rect">
            <a:avLst/>
          </a:prstGeom>
          <a:solidFill>
            <a:srgbClr val="F9A825"/>
          </a:solidFill>
          <a:ln/>
        </p:spPr>
        <p:txBody>
          <a:bodyPr/>
          <a:lstStyle/>
          <a:p>
            <a:endParaRPr lang="en-US"/>
          </a:p>
        </p:txBody>
      </p:sp>
      <p:sp>
        <p:nvSpPr>
          <p:cNvPr id="5" name="Text 3"/>
          <p:cNvSpPr/>
          <p:nvPr/>
        </p:nvSpPr>
        <p:spPr>
          <a:xfrm>
            <a:off x="576072" y="1234440"/>
            <a:ext cx="2148840" cy="658368"/>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Query mentions CSV + KB</a:t>
            </a:r>
            <a:endParaRPr lang="en-US" sz="950" dirty="0"/>
          </a:p>
        </p:txBody>
      </p:sp>
      <p:sp>
        <p:nvSpPr>
          <p:cNvPr id="6" name="Shape 4"/>
          <p:cNvSpPr/>
          <p:nvPr/>
        </p:nvSpPr>
        <p:spPr>
          <a:xfrm>
            <a:off x="2788920" y="1234440"/>
            <a:ext cx="5852160" cy="658368"/>
          </a:xfrm>
          <a:prstGeom prst="rect">
            <a:avLst/>
          </a:prstGeom>
          <a:solidFill>
            <a:srgbClr val="F5F5F5"/>
          </a:solidFill>
          <a:ln w="3810">
            <a:solidFill>
              <a:srgbClr val="F0F0F0"/>
            </a:solidFill>
            <a:prstDash val="solid"/>
          </a:ln>
        </p:spPr>
        <p:txBody>
          <a:bodyPr/>
          <a:lstStyle/>
          <a:p>
            <a:endParaRPr lang="en-US"/>
          </a:p>
        </p:txBody>
      </p:sp>
      <p:sp>
        <p:nvSpPr>
          <p:cNvPr id="7" name="Text 5"/>
          <p:cNvSpPr/>
          <p:nvPr/>
        </p:nvSpPr>
        <p:spPr>
          <a:xfrm>
            <a:off x="2926080" y="1234440"/>
            <a:ext cx="5577840" cy="658368"/>
          </a:xfrm>
          <a:prstGeom prst="rect">
            <a:avLst/>
          </a:prstGeom>
          <a:noFill/>
          <a:ln/>
        </p:spPr>
        <p:txBody>
          <a:bodyPr wrap="square" lIns="0" tIns="0" rIns="0" bIns="0" rtlCol="0" anchor="ctr"/>
          <a:lstStyle/>
          <a:p>
            <a:pPr marL="0" indent="0">
              <a:buNone/>
            </a:pPr>
            <a:r>
              <a:rPr lang="en-US" sz="950" dirty="0">
                <a:solidFill>
                  <a:srgbClr val="333333"/>
                </a:solidFill>
                <a:latin typeface="Courier New" pitchFamily="34" charset="0"/>
                <a:ea typeface="Courier New" pitchFamily="34" charset="-122"/>
                <a:cs typeface="Courier New" pitchFamily="34" charset="-120"/>
              </a:rPr>
              <a:t>task_1: data_analyst analyzes data, produces [analysis_summary, entity_candidates, keyword_windows]</a:t>
            </a:r>
            <a:endParaRPr lang="en-US" sz="950" dirty="0"/>
          </a:p>
          <a:p>
            <a:pPr marL="0" indent="0">
              <a:buNone/>
            </a:pPr>
            <a:r>
              <a:rPr lang="en-US" sz="950" dirty="0">
                <a:solidFill>
                  <a:srgbClr val="333333"/>
                </a:solidFill>
                <a:latin typeface="Courier New" pitchFamily="34" charset="0"/>
                <a:ea typeface="Courier New" pitchFamily="34" charset="-122"/>
                <a:cs typeface="Courier New" pitchFamily="34" charset="-120"/>
              </a:rPr>
              <a:t>task_2: rag_worker uses handoff artifacts to search KB</a:t>
            </a:r>
            <a:endParaRPr lang="en-US" sz="950" dirty="0"/>
          </a:p>
        </p:txBody>
      </p:sp>
      <p:sp>
        <p:nvSpPr>
          <p:cNvPr id="8" name="Shape 6"/>
          <p:cNvSpPr/>
          <p:nvPr/>
        </p:nvSpPr>
        <p:spPr>
          <a:xfrm>
            <a:off x="502920" y="1929384"/>
            <a:ext cx="2286000" cy="658368"/>
          </a:xfrm>
          <a:prstGeom prst="rect">
            <a:avLst/>
          </a:prstGeom>
          <a:solidFill>
            <a:srgbClr val="0097A7"/>
          </a:solidFill>
          <a:ln/>
        </p:spPr>
        <p:txBody>
          <a:bodyPr/>
          <a:lstStyle/>
          <a:p>
            <a:endParaRPr lang="en-US"/>
          </a:p>
        </p:txBody>
      </p:sp>
      <p:sp>
        <p:nvSpPr>
          <p:cNvPr id="9" name="Text 7"/>
          <p:cNvSpPr/>
          <p:nvPr/>
        </p:nvSpPr>
        <p:spPr>
          <a:xfrm>
            <a:off x="576072" y="1929384"/>
            <a:ext cx="2148840" cy="658368"/>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Query: 'compare doc A vs doc B'</a:t>
            </a:r>
            <a:endParaRPr lang="en-US" sz="950" dirty="0"/>
          </a:p>
        </p:txBody>
      </p:sp>
      <p:sp>
        <p:nvSpPr>
          <p:cNvPr id="10" name="Shape 8"/>
          <p:cNvSpPr/>
          <p:nvPr/>
        </p:nvSpPr>
        <p:spPr>
          <a:xfrm>
            <a:off x="2788920" y="1929384"/>
            <a:ext cx="5852160" cy="658368"/>
          </a:xfrm>
          <a:prstGeom prst="rect">
            <a:avLst/>
          </a:prstGeom>
          <a:solidFill>
            <a:srgbClr val="F5F5F5"/>
          </a:solidFill>
          <a:ln w="3810">
            <a:solidFill>
              <a:srgbClr val="F0F0F0"/>
            </a:solidFill>
            <a:prstDash val="solid"/>
          </a:ln>
        </p:spPr>
        <p:txBody>
          <a:bodyPr/>
          <a:lstStyle/>
          <a:p>
            <a:endParaRPr lang="en-US"/>
          </a:p>
        </p:txBody>
      </p:sp>
      <p:sp>
        <p:nvSpPr>
          <p:cNvPr id="11" name="Text 9"/>
          <p:cNvSpPr/>
          <p:nvPr/>
        </p:nvSpPr>
        <p:spPr>
          <a:xfrm>
            <a:off x="2926080" y="1929384"/>
            <a:ext cx="5577840" cy="658368"/>
          </a:xfrm>
          <a:prstGeom prst="rect">
            <a:avLst/>
          </a:prstGeom>
          <a:noFill/>
          <a:ln/>
        </p:spPr>
        <p:txBody>
          <a:bodyPr wrap="square" lIns="0" tIns="0" rIns="0" bIns="0" rtlCol="0" anchor="ctr"/>
          <a:lstStyle/>
          <a:p>
            <a:pPr marL="0" indent="0">
              <a:buNone/>
            </a:pPr>
            <a:r>
              <a:rPr lang="en-US" sz="950" dirty="0">
                <a:solidFill>
                  <a:srgbClr val="333333"/>
                </a:solidFill>
                <a:latin typeface="Courier New" pitchFamily="34" charset="0"/>
                <a:ea typeface="Courier New" pitchFamily="34" charset="-122"/>
                <a:cs typeface="Courier New" pitchFamily="34" charset="-120"/>
              </a:rPr>
              <a:t>task_1 (parallel): rag_worker analyzes doc A</a:t>
            </a:r>
            <a:endParaRPr lang="en-US" sz="950" dirty="0"/>
          </a:p>
          <a:p>
            <a:pPr marL="0" indent="0">
              <a:buNone/>
            </a:pPr>
            <a:r>
              <a:rPr lang="en-US" sz="950" dirty="0">
                <a:solidFill>
                  <a:srgbClr val="333333"/>
                </a:solidFill>
                <a:latin typeface="Courier New" pitchFamily="34" charset="0"/>
                <a:ea typeface="Courier New" pitchFamily="34" charset="-122"/>
                <a:cs typeface="Courier New" pitchFamily="34" charset="-120"/>
              </a:rPr>
              <a:t>task_2 (parallel): rag_worker analyzes doc B</a:t>
            </a:r>
            <a:endParaRPr lang="en-US" sz="950" dirty="0"/>
          </a:p>
          <a:p>
            <a:pPr marL="0" indent="0">
              <a:buNone/>
            </a:pPr>
            <a:r>
              <a:rPr lang="en-US" sz="950" dirty="0">
                <a:solidFill>
                  <a:srgbClr val="333333"/>
                </a:solidFill>
                <a:latin typeface="Courier New" pitchFamily="34" charset="0"/>
                <a:ea typeface="Courier New" pitchFamily="34" charset="-122"/>
                <a:cs typeface="Courier New" pitchFamily="34" charset="-120"/>
              </a:rPr>
              <a:t>(both run simultaneously)</a:t>
            </a:r>
            <a:endParaRPr lang="en-US" sz="950" dirty="0"/>
          </a:p>
        </p:txBody>
      </p:sp>
      <p:sp>
        <p:nvSpPr>
          <p:cNvPr id="12" name="Shape 10"/>
          <p:cNvSpPr/>
          <p:nvPr/>
        </p:nvSpPr>
        <p:spPr>
          <a:xfrm>
            <a:off x="502920" y="2624328"/>
            <a:ext cx="2286000" cy="658368"/>
          </a:xfrm>
          <a:prstGeom prst="rect">
            <a:avLst/>
          </a:prstGeom>
          <a:solidFill>
            <a:srgbClr val="1B2A4A"/>
          </a:solidFill>
          <a:ln/>
        </p:spPr>
        <p:txBody>
          <a:bodyPr/>
          <a:lstStyle/>
          <a:p>
            <a:endParaRPr lang="en-US"/>
          </a:p>
        </p:txBody>
      </p:sp>
      <p:sp>
        <p:nvSpPr>
          <p:cNvPr id="13" name="Text 11"/>
          <p:cNvSpPr/>
          <p:nvPr/>
        </p:nvSpPr>
        <p:spPr>
          <a:xfrm>
            <a:off x="576072" y="2624328"/>
            <a:ext cx="2148840" cy="658368"/>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Query: 'identify all documents about X'</a:t>
            </a:r>
            <a:endParaRPr lang="en-US" sz="950" dirty="0"/>
          </a:p>
        </p:txBody>
      </p:sp>
      <p:sp>
        <p:nvSpPr>
          <p:cNvPr id="14" name="Shape 12"/>
          <p:cNvSpPr/>
          <p:nvPr/>
        </p:nvSpPr>
        <p:spPr>
          <a:xfrm>
            <a:off x="2788920" y="2624328"/>
            <a:ext cx="5852160" cy="658368"/>
          </a:xfrm>
          <a:prstGeom prst="rect">
            <a:avLst/>
          </a:prstGeom>
          <a:solidFill>
            <a:srgbClr val="F5F5F5"/>
          </a:solidFill>
          <a:ln w="3810">
            <a:solidFill>
              <a:srgbClr val="F0F0F0"/>
            </a:solidFill>
            <a:prstDash val="solid"/>
          </a:ln>
        </p:spPr>
        <p:txBody>
          <a:bodyPr/>
          <a:lstStyle/>
          <a:p>
            <a:endParaRPr lang="en-US"/>
          </a:p>
        </p:txBody>
      </p:sp>
      <p:sp>
        <p:nvSpPr>
          <p:cNvPr id="15" name="Text 13"/>
          <p:cNvSpPr/>
          <p:nvPr/>
        </p:nvSpPr>
        <p:spPr>
          <a:xfrm>
            <a:off x="2926080" y="2624328"/>
            <a:ext cx="5577840" cy="658368"/>
          </a:xfrm>
          <a:prstGeom prst="rect">
            <a:avLst/>
          </a:prstGeom>
          <a:noFill/>
          <a:ln/>
        </p:spPr>
        <p:txBody>
          <a:bodyPr wrap="square" lIns="0" tIns="0" rIns="0" bIns="0" rtlCol="0" anchor="ctr"/>
          <a:lstStyle/>
          <a:p>
            <a:pPr marL="0" indent="0">
              <a:buNone/>
            </a:pPr>
            <a:r>
              <a:rPr lang="en-US" sz="950" dirty="0">
                <a:solidFill>
                  <a:srgbClr val="333333"/>
                </a:solidFill>
                <a:latin typeface="Courier New" pitchFamily="34" charset="0"/>
                <a:ea typeface="Courier New" pitchFamily="34" charset="-122"/>
                <a:cs typeface="Courier New" pitchFamily="34" charset="-120"/>
              </a:rPr>
              <a:t>task_1: rag_worker broad semantic discovery</a:t>
            </a:r>
            <a:endParaRPr lang="en-US" sz="950" dirty="0"/>
          </a:p>
          <a:p>
            <a:pPr marL="0" indent="0">
              <a:buNone/>
            </a:pPr>
            <a:r>
              <a:rPr lang="en-US" sz="950" dirty="0">
                <a:solidFill>
                  <a:srgbClr val="333333"/>
                </a:solidFill>
                <a:latin typeface="Courier New" pitchFamily="34" charset="0"/>
                <a:ea typeface="Courier New" pitchFamily="34" charset="-122"/>
                <a:cs typeface="Courier New" pitchFamily="34" charset="-120"/>
              </a:rPr>
              <a:t>task_2: rag_worker keyword + heading sweep</a:t>
            </a:r>
            <a:endParaRPr lang="en-US" sz="950" dirty="0"/>
          </a:p>
          <a:p>
            <a:pPr marL="0" indent="0">
              <a:buNone/>
            </a:pPr>
            <a:r>
              <a:rPr lang="en-US" sz="950" dirty="0">
                <a:solidFill>
                  <a:srgbClr val="333333"/>
                </a:solidFill>
                <a:latin typeface="Courier New" pitchFamily="34" charset="0"/>
                <a:ea typeface="Courier New" pitchFamily="34" charset="-122"/>
                <a:cs typeface="Courier New" pitchFamily="34" charset="-120"/>
              </a:rPr>
              <a:t>(+ optional task_3: process-flow detection)</a:t>
            </a:r>
            <a:endParaRPr lang="en-US" sz="950" dirty="0"/>
          </a:p>
        </p:txBody>
      </p:sp>
      <p:sp>
        <p:nvSpPr>
          <p:cNvPr id="16" name="Shape 14"/>
          <p:cNvSpPr/>
          <p:nvPr/>
        </p:nvSpPr>
        <p:spPr>
          <a:xfrm>
            <a:off x="502920" y="3319272"/>
            <a:ext cx="2286000" cy="658368"/>
          </a:xfrm>
          <a:prstGeom prst="rect">
            <a:avLst/>
          </a:prstGeom>
          <a:solidFill>
            <a:srgbClr val="00796B"/>
          </a:solidFill>
          <a:ln/>
        </p:spPr>
        <p:txBody>
          <a:bodyPr/>
          <a:lstStyle/>
          <a:p>
            <a:endParaRPr lang="en-US"/>
          </a:p>
        </p:txBody>
      </p:sp>
      <p:sp>
        <p:nvSpPr>
          <p:cNvPr id="17" name="Text 15"/>
          <p:cNvSpPr/>
          <p:nvPr/>
        </p:nvSpPr>
        <p:spPr>
          <a:xfrm>
            <a:off x="576072" y="3319272"/>
            <a:ext cx="2148840" cy="658368"/>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Query: 'identify all docs + workbooks'</a:t>
            </a:r>
            <a:endParaRPr lang="en-US" sz="950" dirty="0"/>
          </a:p>
        </p:txBody>
      </p:sp>
      <p:sp>
        <p:nvSpPr>
          <p:cNvPr id="18" name="Shape 16"/>
          <p:cNvSpPr/>
          <p:nvPr/>
        </p:nvSpPr>
        <p:spPr>
          <a:xfrm>
            <a:off x="2788920" y="3319272"/>
            <a:ext cx="5852160" cy="658368"/>
          </a:xfrm>
          <a:prstGeom prst="rect">
            <a:avLst/>
          </a:prstGeom>
          <a:solidFill>
            <a:srgbClr val="F5F5F5"/>
          </a:solidFill>
          <a:ln w="3810">
            <a:solidFill>
              <a:srgbClr val="F0F0F0"/>
            </a:solidFill>
            <a:prstDash val="solid"/>
          </a:ln>
        </p:spPr>
        <p:txBody>
          <a:bodyPr/>
          <a:lstStyle/>
          <a:p>
            <a:endParaRPr lang="en-US"/>
          </a:p>
        </p:txBody>
      </p:sp>
      <p:sp>
        <p:nvSpPr>
          <p:cNvPr id="19" name="Text 17"/>
          <p:cNvSpPr/>
          <p:nvPr/>
        </p:nvSpPr>
        <p:spPr>
          <a:xfrm>
            <a:off x="2926080" y="3319272"/>
            <a:ext cx="5577840" cy="658368"/>
          </a:xfrm>
          <a:prstGeom prst="rect">
            <a:avLst/>
          </a:prstGeom>
          <a:noFill/>
          <a:ln/>
        </p:spPr>
        <p:txBody>
          <a:bodyPr wrap="square" lIns="0" tIns="0" rIns="0" bIns="0" rtlCol="0" anchor="ctr"/>
          <a:lstStyle/>
          <a:p>
            <a:pPr marL="0" indent="0">
              <a:buNone/>
            </a:pPr>
            <a:r>
              <a:rPr lang="en-US" sz="950" dirty="0">
                <a:solidFill>
                  <a:srgbClr val="333333"/>
                </a:solidFill>
                <a:latin typeface="Courier New" pitchFamily="34" charset="0"/>
                <a:ea typeface="Courier New" pitchFamily="34" charset="-122"/>
                <a:cs typeface="Courier New" pitchFamily="34" charset="-120"/>
              </a:rPr>
              <a:t>task_1: rag_worker discovers docs, produces [doc_focus]</a:t>
            </a:r>
            <a:endParaRPr lang="en-US" sz="950" dirty="0"/>
          </a:p>
          <a:p>
            <a:pPr marL="0" indent="0">
              <a:buNone/>
            </a:pPr>
            <a:r>
              <a:rPr lang="en-US" sz="950" dirty="0">
                <a:solidFill>
                  <a:srgbClr val="333333"/>
                </a:solidFill>
                <a:latin typeface="Courier New" pitchFamily="34" charset="0"/>
                <a:ea typeface="Courier New" pitchFamily="34" charset="-122"/>
                <a:cs typeface="Courier New" pitchFamily="34" charset="-120"/>
              </a:rPr>
              <a:t>task_2: data_analyst inspects workbooks using [doc_focus]</a:t>
            </a:r>
            <a:endParaRPr lang="en-US" sz="950" dirty="0"/>
          </a:p>
          <a:p>
            <a:pPr marL="0" indent="0">
              <a:buNone/>
            </a:pPr>
            <a:r>
              <a:rPr lang="en-US" sz="950" dirty="0">
                <a:solidFill>
                  <a:srgbClr val="333333"/>
                </a:solidFill>
                <a:latin typeface="Courier New" pitchFamily="34" charset="0"/>
                <a:ea typeface="Courier New" pitchFamily="34" charset="-122"/>
                <a:cs typeface="Courier New" pitchFamily="34" charset="-120"/>
              </a:rPr>
              <a:t>task_3: rag_worker synthesizes from handoff artifacts</a:t>
            </a:r>
            <a:endParaRPr lang="en-US" sz="950" dirty="0"/>
          </a:p>
        </p:txBody>
      </p:sp>
      <p:sp>
        <p:nvSpPr>
          <p:cNvPr id="20" name="Shape 18"/>
          <p:cNvSpPr/>
          <p:nvPr/>
        </p:nvSpPr>
        <p:spPr>
          <a:xfrm>
            <a:off x="502920" y="4014216"/>
            <a:ext cx="2286000" cy="658368"/>
          </a:xfrm>
          <a:prstGeom prst="rect">
            <a:avLst/>
          </a:prstGeom>
          <a:solidFill>
            <a:srgbClr val="5C6BC0"/>
          </a:solidFill>
          <a:ln/>
        </p:spPr>
        <p:txBody>
          <a:bodyPr/>
          <a:lstStyle/>
          <a:p>
            <a:endParaRPr lang="en-US"/>
          </a:p>
        </p:txBody>
      </p:sp>
      <p:sp>
        <p:nvSpPr>
          <p:cNvPr id="21" name="Text 19"/>
          <p:cNvSpPr/>
          <p:nvPr/>
        </p:nvSpPr>
        <p:spPr>
          <a:xfrm>
            <a:off x="576072" y="4014216"/>
            <a:ext cx="2148840" cy="658368"/>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Everything else</a:t>
            </a:r>
            <a:endParaRPr lang="en-US" sz="950" dirty="0"/>
          </a:p>
        </p:txBody>
      </p:sp>
      <p:sp>
        <p:nvSpPr>
          <p:cNvPr id="22" name="Shape 20"/>
          <p:cNvSpPr/>
          <p:nvPr/>
        </p:nvSpPr>
        <p:spPr>
          <a:xfrm>
            <a:off x="2788920" y="4014216"/>
            <a:ext cx="5852160" cy="658368"/>
          </a:xfrm>
          <a:prstGeom prst="rect">
            <a:avLst/>
          </a:prstGeom>
          <a:solidFill>
            <a:srgbClr val="F5F5F5"/>
          </a:solidFill>
          <a:ln w="3810">
            <a:solidFill>
              <a:srgbClr val="F0F0F0"/>
            </a:solidFill>
            <a:prstDash val="solid"/>
          </a:ln>
        </p:spPr>
        <p:txBody>
          <a:bodyPr/>
          <a:lstStyle/>
          <a:p>
            <a:endParaRPr lang="en-US"/>
          </a:p>
        </p:txBody>
      </p:sp>
      <p:sp>
        <p:nvSpPr>
          <p:cNvPr id="23" name="Text 21"/>
          <p:cNvSpPr/>
          <p:nvPr/>
        </p:nvSpPr>
        <p:spPr>
          <a:xfrm>
            <a:off x="2926080" y="4014216"/>
            <a:ext cx="5577840" cy="658368"/>
          </a:xfrm>
          <a:prstGeom prst="rect">
            <a:avLst/>
          </a:prstGeom>
          <a:noFill/>
          <a:ln/>
        </p:spPr>
        <p:txBody>
          <a:bodyPr wrap="square" lIns="0" tIns="0" rIns="0" bIns="0" rtlCol="0" anchor="ctr"/>
          <a:lstStyle/>
          <a:p>
            <a:pPr marL="0" indent="0">
              <a:buNone/>
            </a:pPr>
            <a:r>
              <a:rPr lang="en-US" sz="950" dirty="0">
                <a:solidFill>
                  <a:srgbClr val="333333"/>
                </a:solidFill>
                <a:latin typeface="Courier New" pitchFamily="34" charset="0"/>
                <a:ea typeface="Courier New" pitchFamily="34" charset="-122"/>
                <a:cs typeface="Courier New" pitchFamily="34" charset="-120"/>
              </a:rPr>
              <a:t>_infer_executor(query) picks data_analyst / rag_worker / utility / general from keyword signals. Single-task plan.</a:t>
            </a:r>
            <a:endParaRPr lang="en-US" sz="950" dirty="0"/>
          </a:p>
        </p:txBody>
      </p:sp>
      <p:sp>
        <p:nvSpPr>
          <p:cNvPr id="24" name="Text 22"/>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runtime/task_plan.py — build_fallback_plan(), _infer_executor(), _is_document_research_campaign()</a:t>
            </a:r>
            <a:endParaRPr lang="en-US" sz="9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Defense Corpus — RAG Quality Benchmarking System</a:t>
            </a:r>
            <a:endParaRPr lang="en-US" sz="2600" dirty="0"/>
          </a:p>
        </p:txBody>
      </p:sp>
      <p:sp>
        <p:nvSpPr>
          <p:cNvPr id="3" name="Shape 1"/>
          <p:cNvSpPr/>
          <p:nvPr/>
        </p:nvSpPr>
        <p:spPr>
          <a:xfrm>
            <a:off x="502920" y="960120"/>
            <a:ext cx="3840480" cy="23317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4" name="Shape 2"/>
          <p:cNvSpPr/>
          <p:nvPr/>
        </p:nvSpPr>
        <p:spPr>
          <a:xfrm>
            <a:off x="502920" y="960120"/>
            <a:ext cx="3840480" cy="320040"/>
          </a:xfrm>
          <a:prstGeom prst="rect">
            <a:avLst/>
          </a:prstGeom>
          <a:solidFill>
            <a:srgbClr val="0097A7"/>
          </a:solidFill>
          <a:ln/>
        </p:spPr>
        <p:txBody>
          <a:bodyPr/>
          <a:lstStyle/>
          <a:p>
            <a:endParaRPr lang="en-US"/>
          </a:p>
        </p:txBody>
      </p:sp>
      <p:sp>
        <p:nvSpPr>
          <p:cNvPr id="5" name="Text 3"/>
          <p:cNvSpPr/>
          <p:nvPr/>
        </p:nvSpPr>
        <p:spPr>
          <a:xfrm>
            <a:off x="612648" y="987552"/>
            <a:ext cx="362102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benchmark/defense_corpus.py</a:t>
            </a:r>
            <a:endParaRPr lang="en-US" sz="1200" dirty="0"/>
          </a:p>
        </p:txBody>
      </p:sp>
      <p:sp>
        <p:nvSpPr>
          <p:cNvPr id="6" name="Text 4"/>
          <p:cNvSpPr/>
          <p:nvPr/>
        </p:nvSpPr>
        <p:spPr>
          <a:xfrm>
            <a:off x="612648" y="1344168"/>
            <a:ext cx="3621024" cy="185623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Dedicated test corpus for RAG accuracy evaluation.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DefenseBenchmarkQuestion: question_id, difficulty, question_text, expected_answer, source_documents, supporting_references.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DEFENSE_COLLECTION_ID = 'defense-rag-test'
Tests authority version detection: 'current', 'approved', 'final'
Tests entity disambiguation: similar-sounding company/product names</a:t>
            </a:r>
            <a:endParaRPr lang="en-US" sz="1000" dirty="0"/>
          </a:p>
        </p:txBody>
      </p:sp>
      <p:sp>
        <p:nvSpPr>
          <p:cNvPr id="7" name="Shape 5"/>
          <p:cNvSpPr/>
          <p:nvPr/>
        </p:nvSpPr>
        <p:spPr>
          <a:xfrm>
            <a:off x="4754880" y="960120"/>
            <a:ext cx="3931920" cy="23317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8" name="Shape 6"/>
          <p:cNvSpPr/>
          <p:nvPr/>
        </p:nvSpPr>
        <p:spPr>
          <a:xfrm>
            <a:off x="4754880" y="960120"/>
            <a:ext cx="3931920" cy="320040"/>
          </a:xfrm>
          <a:prstGeom prst="rect">
            <a:avLst/>
          </a:prstGeom>
          <a:solidFill>
            <a:srgbClr val="1B2A4A"/>
          </a:solidFill>
          <a:ln/>
        </p:spPr>
        <p:txBody>
          <a:bodyPr/>
          <a:lstStyle/>
          <a:p>
            <a:endParaRPr lang="en-US"/>
          </a:p>
        </p:txBody>
      </p:sp>
      <p:sp>
        <p:nvSpPr>
          <p:cNvPr id="9" name="Text 7"/>
          <p:cNvSpPr/>
          <p:nvPr/>
        </p:nvSpPr>
        <p:spPr>
          <a:xfrm>
            <a:off x="4864608" y="987552"/>
            <a:ext cx="371246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DefenseBenchmarkResult</a:t>
            </a:r>
            <a:endParaRPr lang="en-US" sz="1200" dirty="0"/>
          </a:p>
        </p:txBody>
      </p:sp>
      <p:sp>
        <p:nvSpPr>
          <p:cNvPr id="10" name="Text 8"/>
          <p:cNvSpPr/>
          <p:nvPr/>
        </p:nvSpPr>
        <p:spPr>
          <a:xfrm>
            <a:off x="4864608" y="1344168"/>
            <a:ext cx="3712464" cy="1856232"/>
          </a:xfrm>
          <a:prstGeom prst="rect">
            <a:avLst/>
          </a:prstGeom>
          <a:noFill/>
          <a:ln/>
        </p:spPr>
        <p:txBody>
          <a:bodyPr wrap="square" lIns="0" tIns="0" rIns="0" bIns="0" rtlCol="0" anchor="t"/>
          <a:lstStyle/>
          <a:p>
            <a:pPr marL="0" indent="0">
              <a:lnSpc>
                <a:spcPct val="110000"/>
              </a:lnSpc>
              <a:buNone/>
            </a:pPr>
            <a:r>
              <a:rPr lang="en-US" sz="1000" dirty="0">
                <a:solidFill>
                  <a:srgbClr val="333333"/>
                </a:solidFill>
                <a:latin typeface="Arial" pitchFamily="34" charset="0"/>
                <a:ea typeface="Arial" pitchFamily="34" charset="-122"/>
                <a:cs typeface="Arial" pitchFamily="34" charset="-120"/>
              </a:rPr>
              <a:t>Per-question evaluation metrics: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 answer_correct — does the answer match expected?
✓ citation_present — did the system cite a source?
✓ citation_source_match — does the citation match source_documents?
✓ authority_version_correct — did the system cite the LATEST version?
diagnostics[] — list of failure reasons for debugging</a:t>
            </a:r>
            <a:endParaRPr lang="en-US" sz="1000" dirty="0"/>
          </a:p>
        </p:txBody>
      </p:sp>
      <p:sp>
        <p:nvSpPr>
          <p:cNvPr id="11" name="Shape 9"/>
          <p:cNvSpPr/>
          <p:nvPr/>
        </p:nvSpPr>
        <p:spPr>
          <a:xfrm>
            <a:off x="502920" y="3364992"/>
            <a:ext cx="8138160" cy="502920"/>
          </a:xfrm>
          <a:prstGeom prst="rect">
            <a:avLst/>
          </a:prstGeom>
          <a:solidFill>
            <a:srgbClr val="E0F7FA"/>
          </a:solidFill>
          <a:ln w="12700">
            <a:solidFill>
              <a:srgbClr val="0097A7"/>
            </a:solidFill>
            <a:prstDash val="solid"/>
          </a:ln>
        </p:spPr>
        <p:txBody>
          <a:bodyPr/>
          <a:lstStyle/>
          <a:p>
            <a:endParaRPr lang="en-US"/>
          </a:p>
        </p:txBody>
      </p:sp>
      <p:sp>
        <p:nvSpPr>
          <p:cNvPr id="12" name="Text 10"/>
          <p:cNvSpPr/>
          <p:nvPr/>
        </p:nvSpPr>
        <p:spPr>
          <a:xfrm>
            <a:off x="594360" y="3364992"/>
            <a:ext cx="7955280" cy="50292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Two key adversarial test categories: AUTHORITY (does the system return the latest/approved version of a doc?) and ENTITY CONFUSION (does it distinguish 'North Coast Systems LLC' from 'Northcoast Signal Labs'?). These catch the most common RAG failure modes in enterprise settings.</a:t>
            </a:r>
            <a:endParaRPr lang="en-US" sz="1000" dirty="0"/>
          </a:p>
        </p:txBody>
      </p:sp>
      <p:sp>
        <p:nvSpPr>
          <p:cNvPr id="13" name="Text 11"/>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benchmark/__init__.py, benchmark/defense_corpus.py</a:t>
            </a:r>
            <a:endParaRPr lang="en-US" sz="9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02920" y="1463040"/>
            <a:ext cx="8138160" cy="73152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Handoff Artifact System</a:t>
            </a:r>
            <a:endParaRPr lang="en-US" sz="3200" dirty="0"/>
          </a:p>
        </p:txBody>
      </p:sp>
      <p:sp>
        <p:nvSpPr>
          <p:cNvPr id="3" name="Text 1"/>
          <p:cNvSpPr/>
          <p:nvPr/>
        </p:nvSpPr>
        <p:spPr>
          <a:xfrm>
            <a:off x="502920" y="2286000"/>
            <a:ext cx="8138160" cy="457200"/>
          </a:xfrm>
          <a:prstGeom prst="rect">
            <a:avLst/>
          </a:prstGeom>
          <a:noFill/>
          <a:ln/>
        </p:spPr>
        <p:txBody>
          <a:bodyPr wrap="square" lIns="0" tIns="0" rIns="0" bIns="0" rtlCol="0" anchor="ctr"/>
          <a:lstStyle/>
          <a:p>
            <a:pPr marL="0" indent="0">
              <a:buNone/>
            </a:pPr>
            <a:r>
              <a:rPr lang="en-US" sz="1600" dirty="0">
                <a:solidFill>
                  <a:srgbClr val="0097A7"/>
                </a:solidFill>
                <a:latin typeface="Arial" pitchFamily="34" charset="0"/>
                <a:ea typeface="Arial" pitchFamily="34" charset="-122"/>
                <a:cs typeface="Arial" pitchFamily="34" charset="-120"/>
              </a:rPr>
              <a:t>runtime/artifacts.py — typed data passed between coordinator workers</a:t>
            </a:r>
            <a:endParaRPr lang="en-US" sz="16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Handoff Artifacts — Typed Worker-to-Worker Data Pipeline</a:t>
            </a:r>
            <a:endParaRPr lang="en-US" sz="2600" dirty="0"/>
          </a:p>
        </p:txBody>
      </p:sp>
      <p:sp>
        <p:nvSpPr>
          <p:cNvPr id="3" name="Text 1"/>
          <p:cNvSpPr/>
          <p:nvPr/>
        </p:nvSpPr>
        <p:spPr>
          <a:xfrm>
            <a:off x="502920" y="822960"/>
            <a:ext cx="8138160" cy="457200"/>
          </a:xfrm>
          <a:prstGeom prst="rect">
            <a:avLst/>
          </a:prstGeom>
          <a:noFill/>
          <a:ln/>
        </p:spPr>
        <p:txBody>
          <a:bodyPr wrap="square" lIns="0" tIns="0" rIns="0" bIns="0" rtlCol="0" anchor="ctr"/>
          <a:lstStyle/>
          <a:p>
            <a:pPr marL="0" indent="0">
              <a:buNone/>
            </a:pPr>
            <a:r>
              <a:rPr lang="en-US" sz="1050" dirty="0">
                <a:solidFill>
                  <a:srgbClr val="1B2A4A"/>
                </a:solidFill>
                <a:latin typeface="Arial" pitchFamily="34" charset="0"/>
                <a:ea typeface="Arial" pitchFamily="34" charset="-122"/>
                <a:cs typeface="Arial" pitchFamily="34" charset="-120"/>
              </a:rPr>
              <a:t>runtime/artifacts.py defines two kinds of artifacts. Workspace artifacts = files an agent produced (download://). Handoff artifacts = structured data passed between coordinator workers (handoff://).</a:t>
            </a:r>
            <a:endParaRPr lang="en-US" sz="1050" dirty="0"/>
          </a:p>
        </p:txBody>
      </p:sp>
      <p:sp>
        <p:nvSpPr>
          <p:cNvPr id="4" name="Shape 2"/>
          <p:cNvSpPr/>
          <p:nvPr/>
        </p:nvSpPr>
        <p:spPr>
          <a:xfrm>
            <a:off x="502920" y="1353312"/>
            <a:ext cx="2011680" cy="256032"/>
          </a:xfrm>
          <a:prstGeom prst="rect">
            <a:avLst/>
          </a:prstGeom>
          <a:solidFill>
            <a:srgbClr val="1B2A4A"/>
          </a:solidFill>
          <a:ln/>
        </p:spPr>
        <p:txBody>
          <a:bodyPr/>
          <a:lstStyle/>
          <a:p>
            <a:endParaRPr lang="en-US"/>
          </a:p>
        </p:txBody>
      </p:sp>
      <p:sp>
        <p:nvSpPr>
          <p:cNvPr id="5" name="Text 3"/>
          <p:cNvSpPr/>
          <p:nvPr/>
        </p:nvSpPr>
        <p:spPr>
          <a:xfrm>
            <a:off x="548640" y="1353312"/>
            <a:ext cx="1920240" cy="256032"/>
          </a:xfrm>
          <a:prstGeom prst="rect">
            <a:avLst/>
          </a:prstGeom>
          <a:noFill/>
          <a:ln/>
        </p:spPr>
        <p:txBody>
          <a:bodyPr wrap="square" lIns="0" tIns="0" rIns="0" bIns="0" rtlCol="0" anchor="ctr"/>
          <a:lstStyle/>
          <a:p>
            <a:pPr marL="0" indent="0">
              <a:buNone/>
            </a:pPr>
            <a:r>
              <a:rPr lang="en-US" sz="950" b="1" dirty="0">
                <a:solidFill>
                  <a:srgbClr val="FFFFFF"/>
                </a:solidFill>
                <a:latin typeface="Courier New" pitchFamily="34" charset="0"/>
                <a:ea typeface="Courier New" pitchFamily="34" charset="-122"/>
                <a:cs typeface="Courier New" pitchFamily="34" charset="-120"/>
              </a:rPr>
              <a:t>artifact_type</a:t>
            </a:r>
            <a:endParaRPr lang="en-US" sz="950" dirty="0"/>
          </a:p>
        </p:txBody>
      </p:sp>
      <p:sp>
        <p:nvSpPr>
          <p:cNvPr id="6" name="Shape 4"/>
          <p:cNvSpPr/>
          <p:nvPr/>
        </p:nvSpPr>
        <p:spPr>
          <a:xfrm>
            <a:off x="2514600" y="1353312"/>
            <a:ext cx="3017520" cy="256032"/>
          </a:xfrm>
          <a:prstGeom prst="rect">
            <a:avLst/>
          </a:prstGeom>
          <a:solidFill>
            <a:srgbClr val="1B2A4A"/>
          </a:solidFill>
          <a:ln/>
        </p:spPr>
        <p:txBody>
          <a:bodyPr/>
          <a:lstStyle/>
          <a:p>
            <a:endParaRPr lang="en-US"/>
          </a:p>
        </p:txBody>
      </p:sp>
      <p:sp>
        <p:nvSpPr>
          <p:cNvPr id="7" name="Text 5"/>
          <p:cNvSpPr/>
          <p:nvPr/>
        </p:nvSpPr>
        <p:spPr>
          <a:xfrm>
            <a:off x="2560320" y="1353312"/>
            <a:ext cx="2926080" cy="256032"/>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required schema keys</a:t>
            </a:r>
            <a:endParaRPr lang="en-US" sz="950" dirty="0"/>
          </a:p>
        </p:txBody>
      </p:sp>
      <p:sp>
        <p:nvSpPr>
          <p:cNvPr id="8" name="Shape 6"/>
          <p:cNvSpPr/>
          <p:nvPr/>
        </p:nvSpPr>
        <p:spPr>
          <a:xfrm>
            <a:off x="5532120" y="1353312"/>
            <a:ext cx="3611880" cy="256032"/>
          </a:xfrm>
          <a:prstGeom prst="rect">
            <a:avLst/>
          </a:prstGeom>
          <a:solidFill>
            <a:srgbClr val="1B2A4A"/>
          </a:solidFill>
          <a:ln/>
        </p:spPr>
        <p:txBody>
          <a:bodyPr/>
          <a:lstStyle/>
          <a:p>
            <a:endParaRPr lang="en-US"/>
          </a:p>
        </p:txBody>
      </p:sp>
      <p:sp>
        <p:nvSpPr>
          <p:cNvPr id="9" name="Text 7"/>
          <p:cNvSpPr/>
          <p:nvPr/>
        </p:nvSpPr>
        <p:spPr>
          <a:xfrm>
            <a:off x="5577840" y="1353312"/>
            <a:ext cx="3474720" cy="256032"/>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allowed_consumers</a:t>
            </a:r>
            <a:endParaRPr lang="en-US" sz="950" dirty="0"/>
          </a:p>
        </p:txBody>
      </p:sp>
      <p:sp>
        <p:nvSpPr>
          <p:cNvPr id="10" name="Shape 8"/>
          <p:cNvSpPr/>
          <p:nvPr/>
        </p:nvSpPr>
        <p:spPr>
          <a:xfrm>
            <a:off x="502920" y="1609344"/>
            <a:ext cx="2011680" cy="347472"/>
          </a:xfrm>
          <a:prstGeom prst="rect">
            <a:avLst/>
          </a:prstGeom>
          <a:solidFill>
            <a:srgbClr val="F5F5F5"/>
          </a:solidFill>
          <a:ln w="3810">
            <a:solidFill>
              <a:srgbClr val="F0F0F0"/>
            </a:solidFill>
            <a:prstDash val="solid"/>
          </a:ln>
        </p:spPr>
        <p:txBody>
          <a:bodyPr/>
          <a:lstStyle/>
          <a:p>
            <a:endParaRPr lang="en-US"/>
          </a:p>
        </p:txBody>
      </p:sp>
      <p:sp>
        <p:nvSpPr>
          <p:cNvPr id="11" name="Text 9"/>
          <p:cNvSpPr/>
          <p:nvPr/>
        </p:nvSpPr>
        <p:spPr>
          <a:xfrm>
            <a:off x="576072" y="1609344"/>
            <a:ext cx="1920240" cy="347472"/>
          </a:xfrm>
          <a:prstGeom prst="rect">
            <a:avLst/>
          </a:prstGeom>
          <a:noFill/>
          <a:ln/>
        </p:spPr>
        <p:txBody>
          <a:bodyPr wrap="square" lIns="0" tIns="0" rIns="0" bIns="0" rtlCol="0" anchor="ctr"/>
          <a:lstStyle/>
          <a:p>
            <a:pPr marL="0" indent="0">
              <a:buNone/>
            </a:pPr>
            <a:r>
              <a:rPr lang="en-US" sz="900" dirty="0">
                <a:solidFill>
                  <a:srgbClr val="1B2A4A"/>
                </a:solidFill>
                <a:latin typeface="Courier New" pitchFamily="34" charset="0"/>
                <a:ea typeface="Courier New" pitchFamily="34" charset="-122"/>
                <a:cs typeface="Courier New" pitchFamily="34" charset="-120"/>
              </a:rPr>
              <a:t>analysis_summary</a:t>
            </a:r>
            <a:endParaRPr lang="en-US" sz="900" dirty="0"/>
          </a:p>
        </p:txBody>
      </p:sp>
      <p:sp>
        <p:nvSpPr>
          <p:cNvPr id="12" name="Shape 10"/>
          <p:cNvSpPr/>
          <p:nvPr/>
        </p:nvSpPr>
        <p:spPr>
          <a:xfrm>
            <a:off x="2514600" y="1609344"/>
            <a:ext cx="3017520" cy="347472"/>
          </a:xfrm>
          <a:prstGeom prst="rect">
            <a:avLst/>
          </a:prstGeom>
          <a:solidFill>
            <a:srgbClr val="F5F5F5"/>
          </a:solidFill>
          <a:ln w="3810">
            <a:solidFill>
              <a:srgbClr val="F0F0F0"/>
            </a:solidFill>
            <a:prstDash val="solid"/>
          </a:ln>
        </p:spPr>
        <p:txBody>
          <a:bodyPr/>
          <a:lstStyle/>
          <a:p>
            <a:endParaRPr lang="en-US"/>
          </a:p>
        </p:txBody>
      </p:sp>
      <p:sp>
        <p:nvSpPr>
          <p:cNvPr id="13" name="Text 11"/>
          <p:cNvSpPr/>
          <p:nvPr/>
        </p:nvSpPr>
        <p:spPr>
          <a:xfrm>
            <a:off x="2560320" y="1609344"/>
            <a:ext cx="2926080" cy="347472"/>
          </a:xfrm>
          <a:prstGeom prst="rect">
            <a:avLst/>
          </a:prstGeom>
          <a:noFill/>
          <a:ln/>
        </p:spPr>
        <p:txBody>
          <a:bodyPr wrap="square" lIns="0" tIns="0" rIns="0" bIns="0" rtlCol="0" anchor="ctr"/>
          <a:lstStyle/>
          <a:p>
            <a:pPr marL="0" indent="0">
              <a:buNone/>
            </a:pPr>
            <a:r>
              <a:rPr lang="en-US" sz="850" dirty="0">
                <a:solidFill>
                  <a:srgbClr val="333333"/>
                </a:solidFill>
                <a:latin typeface="Courier New" pitchFamily="34" charset="0"/>
                <a:ea typeface="Courier New" pitchFamily="34" charset="-122"/>
                <a:cs typeface="Courier New" pitchFamily="34" charset="-120"/>
              </a:rPr>
              <a:t>{summary, highlights[], keywords[]}</a:t>
            </a:r>
            <a:endParaRPr lang="en-US" sz="850" dirty="0"/>
          </a:p>
        </p:txBody>
      </p:sp>
      <p:sp>
        <p:nvSpPr>
          <p:cNvPr id="14" name="Shape 12"/>
          <p:cNvSpPr/>
          <p:nvPr/>
        </p:nvSpPr>
        <p:spPr>
          <a:xfrm>
            <a:off x="5532120" y="1609344"/>
            <a:ext cx="3611880" cy="347472"/>
          </a:xfrm>
          <a:prstGeom prst="rect">
            <a:avLst/>
          </a:prstGeom>
          <a:solidFill>
            <a:srgbClr val="F5F5F5"/>
          </a:solidFill>
          <a:ln w="3810">
            <a:solidFill>
              <a:srgbClr val="F0F0F0"/>
            </a:solidFill>
            <a:prstDash val="solid"/>
          </a:ln>
        </p:spPr>
        <p:txBody>
          <a:bodyPr/>
          <a:lstStyle/>
          <a:p>
            <a:endParaRPr lang="en-US"/>
          </a:p>
        </p:txBody>
      </p:sp>
      <p:sp>
        <p:nvSpPr>
          <p:cNvPr id="15" name="Text 13"/>
          <p:cNvSpPr/>
          <p:nvPr/>
        </p:nvSpPr>
        <p:spPr>
          <a:xfrm>
            <a:off x="5577840" y="1609344"/>
            <a:ext cx="3474720" cy="34747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general, rag_worker, finalizer, coordinator</a:t>
            </a:r>
            <a:endParaRPr lang="en-US" sz="900" dirty="0"/>
          </a:p>
        </p:txBody>
      </p:sp>
      <p:sp>
        <p:nvSpPr>
          <p:cNvPr id="16" name="Shape 14"/>
          <p:cNvSpPr/>
          <p:nvPr/>
        </p:nvSpPr>
        <p:spPr>
          <a:xfrm>
            <a:off x="502920" y="1975104"/>
            <a:ext cx="2011680" cy="347472"/>
          </a:xfrm>
          <a:prstGeom prst="rect">
            <a:avLst/>
          </a:prstGeom>
          <a:solidFill>
            <a:srgbClr val="FFFFFF"/>
          </a:solidFill>
          <a:ln w="3810">
            <a:solidFill>
              <a:srgbClr val="F0F0F0"/>
            </a:solidFill>
            <a:prstDash val="solid"/>
          </a:ln>
        </p:spPr>
        <p:txBody>
          <a:bodyPr/>
          <a:lstStyle/>
          <a:p>
            <a:endParaRPr lang="en-US"/>
          </a:p>
        </p:txBody>
      </p:sp>
      <p:sp>
        <p:nvSpPr>
          <p:cNvPr id="17" name="Text 15"/>
          <p:cNvSpPr/>
          <p:nvPr/>
        </p:nvSpPr>
        <p:spPr>
          <a:xfrm>
            <a:off x="576072" y="1975104"/>
            <a:ext cx="1920240" cy="347472"/>
          </a:xfrm>
          <a:prstGeom prst="rect">
            <a:avLst/>
          </a:prstGeom>
          <a:noFill/>
          <a:ln/>
        </p:spPr>
        <p:txBody>
          <a:bodyPr wrap="square" lIns="0" tIns="0" rIns="0" bIns="0" rtlCol="0" anchor="ctr"/>
          <a:lstStyle/>
          <a:p>
            <a:pPr marL="0" indent="0">
              <a:buNone/>
            </a:pPr>
            <a:r>
              <a:rPr lang="en-US" sz="900" dirty="0">
                <a:solidFill>
                  <a:srgbClr val="1B2A4A"/>
                </a:solidFill>
                <a:latin typeface="Courier New" pitchFamily="34" charset="0"/>
                <a:ea typeface="Courier New" pitchFamily="34" charset="-122"/>
                <a:cs typeface="Courier New" pitchFamily="34" charset="-120"/>
              </a:rPr>
              <a:t>entity_candidates</a:t>
            </a:r>
            <a:endParaRPr lang="en-US" sz="900" dirty="0"/>
          </a:p>
        </p:txBody>
      </p:sp>
      <p:sp>
        <p:nvSpPr>
          <p:cNvPr id="18" name="Shape 16"/>
          <p:cNvSpPr/>
          <p:nvPr/>
        </p:nvSpPr>
        <p:spPr>
          <a:xfrm>
            <a:off x="2514600" y="1975104"/>
            <a:ext cx="3017520" cy="347472"/>
          </a:xfrm>
          <a:prstGeom prst="rect">
            <a:avLst/>
          </a:prstGeom>
          <a:solidFill>
            <a:srgbClr val="FFFFFF"/>
          </a:solidFill>
          <a:ln w="3810">
            <a:solidFill>
              <a:srgbClr val="F0F0F0"/>
            </a:solidFill>
            <a:prstDash val="solid"/>
          </a:ln>
        </p:spPr>
        <p:txBody>
          <a:bodyPr/>
          <a:lstStyle/>
          <a:p>
            <a:endParaRPr lang="en-US"/>
          </a:p>
        </p:txBody>
      </p:sp>
      <p:sp>
        <p:nvSpPr>
          <p:cNvPr id="19" name="Text 17"/>
          <p:cNvSpPr/>
          <p:nvPr/>
        </p:nvSpPr>
        <p:spPr>
          <a:xfrm>
            <a:off x="2560320" y="1975104"/>
            <a:ext cx="2926080" cy="347472"/>
          </a:xfrm>
          <a:prstGeom prst="rect">
            <a:avLst/>
          </a:prstGeom>
          <a:noFill/>
          <a:ln/>
        </p:spPr>
        <p:txBody>
          <a:bodyPr wrap="square" lIns="0" tIns="0" rIns="0" bIns="0" rtlCol="0" anchor="ctr"/>
          <a:lstStyle/>
          <a:p>
            <a:pPr marL="0" indent="0">
              <a:buNone/>
            </a:pPr>
            <a:r>
              <a:rPr lang="en-US" sz="850" dirty="0">
                <a:solidFill>
                  <a:srgbClr val="333333"/>
                </a:solidFill>
                <a:latin typeface="Courier New" pitchFamily="34" charset="0"/>
                <a:ea typeface="Courier New" pitchFamily="34" charset="-122"/>
                <a:cs typeface="Courier New" pitchFamily="34" charset="-120"/>
              </a:rPr>
              <a:t>{entities[], summary}</a:t>
            </a:r>
            <a:endParaRPr lang="en-US" sz="850" dirty="0"/>
          </a:p>
        </p:txBody>
      </p:sp>
      <p:sp>
        <p:nvSpPr>
          <p:cNvPr id="20" name="Shape 18"/>
          <p:cNvSpPr/>
          <p:nvPr/>
        </p:nvSpPr>
        <p:spPr>
          <a:xfrm>
            <a:off x="5532120" y="1975104"/>
            <a:ext cx="3611880" cy="347472"/>
          </a:xfrm>
          <a:prstGeom prst="rect">
            <a:avLst/>
          </a:prstGeom>
          <a:solidFill>
            <a:srgbClr val="FFFFFF"/>
          </a:solidFill>
          <a:ln w="3810">
            <a:solidFill>
              <a:srgbClr val="F0F0F0"/>
            </a:solidFill>
            <a:prstDash val="solid"/>
          </a:ln>
        </p:spPr>
        <p:txBody>
          <a:bodyPr/>
          <a:lstStyle/>
          <a:p>
            <a:endParaRPr lang="en-US"/>
          </a:p>
        </p:txBody>
      </p:sp>
      <p:sp>
        <p:nvSpPr>
          <p:cNvPr id="21" name="Text 19"/>
          <p:cNvSpPr/>
          <p:nvPr/>
        </p:nvSpPr>
        <p:spPr>
          <a:xfrm>
            <a:off x="5577840" y="1975104"/>
            <a:ext cx="3474720" cy="34747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rag_worker, general, coordinator</a:t>
            </a:r>
            <a:endParaRPr lang="en-US" sz="900" dirty="0"/>
          </a:p>
        </p:txBody>
      </p:sp>
      <p:sp>
        <p:nvSpPr>
          <p:cNvPr id="22" name="Shape 20"/>
          <p:cNvSpPr/>
          <p:nvPr/>
        </p:nvSpPr>
        <p:spPr>
          <a:xfrm>
            <a:off x="502920" y="2340864"/>
            <a:ext cx="2011680" cy="347472"/>
          </a:xfrm>
          <a:prstGeom prst="rect">
            <a:avLst/>
          </a:prstGeom>
          <a:solidFill>
            <a:srgbClr val="F5F5F5"/>
          </a:solidFill>
          <a:ln w="3810">
            <a:solidFill>
              <a:srgbClr val="F0F0F0"/>
            </a:solidFill>
            <a:prstDash val="solid"/>
          </a:ln>
        </p:spPr>
        <p:txBody>
          <a:bodyPr/>
          <a:lstStyle/>
          <a:p>
            <a:endParaRPr lang="en-US"/>
          </a:p>
        </p:txBody>
      </p:sp>
      <p:sp>
        <p:nvSpPr>
          <p:cNvPr id="23" name="Text 21"/>
          <p:cNvSpPr/>
          <p:nvPr/>
        </p:nvSpPr>
        <p:spPr>
          <a:xfrm>
            <a:off x="576072" y="2340864"/>
            <a:ext cx="1920240" cy="347472"/>
          </a:xfrm>
          <a:prstGeom prst="rect">
            <a:avLst/>
          </a:prstGeom>
          <a:noFill/>
          <a:ln/>
        </p:spPr>
        <p:txBody>
          <a:bodyPr wrap="square" lIns="0" tIns="0" rIns="0" bIns="0" rtlCol="0" anchor="ctr"/>
          <a:lstStyle/>
          <a:p>
            <a:pPr marL="0" indent="0">
              <a:buNone/>
            </a:pPr>
            <a:r>
              <a:rPr lang="en-US" sz="900" dirty="0">
                <a:solidFill>
                  <a:srgbClr val="1B2A4A"/>
                </a:solidFill>
                <a:latin typeface="Courier New" pitchFamily="34" charset="0"/>
                <a:ea typeface="Courier New" pitchFamily="34" charset="-122"/>
                <a:cs typeface="Courier New" pitchFamily="34" charset="-120"/>
              </a:rPr>
              <a:t>keyword_windows</a:t>
            </a:r>
            <a:endParaRPr lang="en-US" sz="900" dirty="0"/>
          </a:p>
        </p:txBody>
      </p:sp>
      <p:sp>
        <p:nvSpPr>
          <p:cNvPr id="24" name="Shape 22"/>
          <p:cNvSpPr/>
          <p:nvPr/>
        </p:nvSpPr>
        <p:spPr>
          <a:xfrm>
            <a:off x="2514600" y="2340864"/>
            <a:ext cx="3017520" cy="347472"/>
          </a:xfrm>
          <a:prstGeom prst="rect">
            <a:avLst/>
          </a:prstGeom>
          <a:solidFill>
            <a:srgbClr val="F5F5F5"/>
          </a:solidFill>
          <a:ln w="3810">
            <a:solidFill>
              <a:srgbClr val="F0F0F0"/>
            </a:solidFill>
            <a:prstDash val="solid"/>
          </a:ln>
        </p:spPr>
        <p:txBody>
          <a:bodyPr/>
          <a:lstStyle/>
          <a:p>
            <a:endParaRPr lang="en-US"/>
          </a:p>
        </p:txBody>
      </p:sp>
      <p:sp>
        <p:nvSpPr>
          <p:cNvPr id="25" name="Text 23"/>
          <p:cNvSpPr/>
          <p:nvPr/>
        </p:nvSpPr>
        <p:spPr>
          <a:xfrm>
            <a:off x="2560320" y="2340864"/>
            <a:ext cx="2926080" cy="347472"/>
          </a:xfrm>
          <a:prstGeom prst="rect">
            <a:avLst/>
          </a:prstGeom>
          <a:noFill/>
          <a:ln/>
        </p:spPr>
        <p:txBody>
          <a:bodyPr wrap="square" lIns="0" tIns="0" rIns="0" bIns="0" rtlCol="0" anchor="ctr"/>
          <a:lstStyle/>
          <a:p>
            <a:pPr marL="0" indent="0">
              <a:buNone/>
            </a:pPr>
            <a:r>
              <a:rPr lang="en-US" sz="850" dirty="0">
                <a:solidFill>
                  <a:srgbClr val="333333"/>
                </a:solidFill>
                <a:latin typeface="Courier New" pitchFamily="34" charset="0"/>
                <a:ea typeface="Courier New" pitchFamily="34" charset="-122"/>
                <a:cs typeface="Courier New" pitchFamily="34" charset="-120"/>
              </a:rPr>
              <a:t>{keywords[], windows[{keyword, excerpt}]}</a:t>
            </a:r>
            <a:endParaRPr lang="en-US" sz="850" dirty="0"/>
          </a:p>
        </p:txBody>
      </p:sp>
      <p:sp>
        <p:nvSpPr>
          <p:cNvPr id="26" name="Shape 24"/>
          <p:cNvSpPr/>
          <p:nvPr/>
        </p:nvSpPr>
        <p:spPr>
          <a:xfrm>
            <a:off x="5532120" y="2340864"/>
            <a:ext cx="3611880" cy="347472"/>
          </a:xfrm>
          <a:prstGeom prst="rect">
            <a:avLst/>
          </a:prstGeom>
          <a:solidFill>
            <a:srgbClr val="F5F5F5"/>
          </a:solidFill>
          <a:ln w="3810">
            <a:solidFill>
              <a:srgbClr val="F0F0F0"/>
            </a:solidFill>
            <a:prstDash val="solid"/>
          </a:ln>
        </p:spPr>
        <p:txBody>
          <a:bodyPr/>
          <a:lstStyle/>
          <a:p>
            <a:endParaRPr lang="en-US"/>
          </a:p>
        </p:txBody>
      </p:sp>
      <p:sp>
        <p:nvSpPr>
          <p:cNvPr id="27" name="Text 25"/>
          <p:cNvSpPr/>
          <p:nvPr/>
        </p:nvSpPr>
        <p:spPr>
          <a:xfrm>
            <a:off x="5577840" y="2340864"/>
            <a:ext cx="3474720" cy="34747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rag_worker, general, coordinator</a:t>
            </a:r>
            <a:endParaRPr lang="en-US" sz="900" dirty="0"/>
          </a:p>
        </p:txBody>
      </p:sp>
      <p:sp>
        <p:nvSpPr>
          <p:cNvPr id="28" name="Shape 26"/>
          <p:cNvSpPr/>
          <p:nvPr/>
        </p:nvSpPr>
        <p:spPr>
          <a:xfrm>
            <a:off x="502920" y="2706624"/>
            <a:ext cx="2011680" cy="347472"/>
          </a:xfrm>
          <a:prstGeom prst="rect">
            <a:avLst/>
          </a:prstGeom>
          <a:solidFill>
            <a:srgbClr val="FFFFFF"/>
          </a:solidFill>
          <a:ln w="3810">
            <a:solidFill>
              <a:srgbClr val="F0F0F0"/>
            </a:solidFill>
            <a:prstDash val="solid"/>
          </a:ln>
        </p:spPr>
        <p:txBody>
          <a:bodyPr/>
          <a:lstStyle/>
          <a:p>
            <a:endParaRPr lang="en-US"/>
          </a:p>
        </p:txBody>
      </p:sp>
      <p:sp>
        <p:nvSpPr>
          <p:cNvPr id="29" name="Text 27"/>
          <p:cNvSpPr/>
          <p:nvPr/>
        </p:nvSpPr>
        <p:spPr>
          <a:xfrm>
            <a:off x="576072" y="2706624"/>
            <a:ext cx="1920240" cy="347472"/>
          </a:xfrm>
          <a:prstGeom prst="rect">
            <a:avLst/>
          </a:prstGeom>
          <a:noFill/>
          <a:ln/>
        </p:spPr>
        <p:txBody>
          <a:bodyPr wrap="square" lIns="0" tIns="0" rIns="0" bIns="0" rtlCol="0" anchor="ctr"/>
          <a:lstStyle/>
          <a:p>
            <a:pPr marL="0" indent="0">
              <a:buNone/>
            </a:pPr>
            <a:r>
              <a:rPr lang="en-US" sz="900" dirty="0">
                <a:solidFill>
                  <a:srgbClr val="1B2A4A"/>
                </a:solidFill>
                <a:latin typeface="Courier New" pitchFamily="34" charset="0"/>
                <a:ea typeface="Courier New" pitchFamily="34" charset="-122"/>
                <a:cs typeface="Courier New" pitchFamily="34" charset="-120"/>
              </a:rPr>
              <a:t>doc_focus</a:t>
            </a:r>
            <a:endParaRPr lang="en-US" sz="900" dirty="0"/>
          </a:p>
        </p:txBody>
      </p:sp>
      <p:sp>
        <p:nvSpPr>
          <p:cNvPr id="30" name="Shape 28"/>
          <p:cNvSpPr/>
          <p:nvPr/>
        </p:nvSpPr>
        <p:spPr>
          <a:xfrm>
            <a:off x="2514600" y="2706624"/>
            <a:ext cx="3017520" cy="347472"/>
          </a:xfrm>
          <a:prstGeom prst="rect">
            <a:avLst/>
          </a:prstGeom>
          <a:solidFill>
            <a:srgbClr val="FFFFFF"/>
          </a:solidFill>
          <a:ln w="3810">
            <a:solidFill>
              <a:srgbClr val="F0F0F0"/>
            </a:solidFill>
            <a:prstDash val="solid"/>
          </a:ln>
        </p:spPr>
        <p:txBody>
          <a:bodyPr/>
          <a:lstStyle/>
          <a:p>
            <a:endParaRPr lang="en-US"/>
          </a:p>
        </p:txBody>
      </p:sp>
      <p:sp>
        <p:nvSpPr>
          <p:cNvPr id="31" name="Text 29"/>
          <p:cNvSpPr/>
          <p:nvPr/>
        </p:nvSpPr>
        <p:spPr>
          <a:xfrm>
            <a:off x="2560320" y="2706624"/>
            <a:ext cx="2926080" cy="347472"/>
          </a:xfrm>
          <a:prstGeom prst="rect">
            <a:avLst/>
          </a:prstGeom>
          <a:noFill/>
          <a:ln/>
        </p:spPr>
        <p:txBody>
          <a:bodyPr wrap="square" lIns="0" tIns="0" rIns="0" bIns="0" rtlCol="0" anchor="ctr"/>
          <a:lstStyle/>
          <a:p>
            <a:pPr marL="0" indent="0">
              <a:buNone/>
            </a:pPr>
            <a:r>
              <a:rPr lang="en-US" sz="850" dirty="0">
                <a:solidFill>
                  <a:srgbClr val="333333"/>
                </a:solidFill>
                <a:latin typeface="Courier New" pitchFamily="34" charset="0"/>
                <a:ea typeface="Courier New" pitchFamily="34" charset="-122"/>
                <a:cs typeface="Courier New" pitchFamily="34" charset="-120"/>
              </a:rPr>
              <a:t>{documents[{doc_id, title, reason}]}</a:t>
            </a:r>
            <a:endParaRPr lang="en-US" sz="850" dirty="0"/>
          </a:p>
        </p:txBody>
      </p:sp>
      <p:sp>
        <p:nvSpPr>
          <p:cNvPr id="32" name="Shape 30"/>
          <p:cNvSpPr/>
          <p:nvPr/>
        </p:nvSpPr>
        <p:spPr>
          <a:xfrm>
            <a:off x="5532120" y="2706624"/>
            <a:ext cx="3611880" cy="347472"/>
          </a:xfrm>
          <a:prstGeom prst="rect">
            <a:avLst/>
          </a:prstGeom>
          <a:solidFill>
            <a:srgbClr val="FFFFFF"/>
          </a:solidFill>
          <a:ln w="3810">
            <a:solidFill>
              <a:srgbClr val="F0F0F0"/>
            </a:solidFill>
            <a:prstDash val="solid"/>
          </a:ln>
        </p:spPr>
        <p:txBody>
          <a:bodyPr/>
          <a:lstStyle/>
          <a:p>
            <a:endParaRPr lang="en-US"/>
          </a:p>
        </p:txBody>
      </p:sp>
      <p:sp>
        <p:nvSpPr>
          <p:cNvPr id="33" name="Text 31"/>
          <p:cNvSpPr/>
          <p:nvPr/>
        </p:nvSpPr>
        <p:spPr>
          <a:xfrm>
            <a:off x="5577840" y="2706624"/>
            <a:ext cx="3474720" cy="34747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rag_worker, general, finalizer, coordinator, data_analyst</a:t>
            </a:r>
            <a:endParaRPr lang="en-US" sz="900" dirty="0"/>
          </a:p>
        </p:txBody>
      </p:sp>
      <p:sp>
        <p:nvSpPr>
          <p:cNvPr id="34" name="Shape 32"/>
          <p:cNvSpPr/>
          <p:nvPr/>
        </p:nvSpPr>
        <p:spPr>
          <a:xfrm>
            <a:off x="502920" y="3072384"/>
            <a:ext cx="2011680" cy="347472"/>
          </a:xfrm>
          <a:prstGeom prst="rect">
            <a:avLst/>
          </a:prstGeom>
          <a:solidFill>
            <a:srgbClr val="F5F5F5"/>
          </a:solidFill>
          <a:ln w="3810">
            <a:solidFill>
              <a:srgbClr val="F0F0F0"/>
            </a:solidFill>
            <a:prstDash val="solid"/>
          </a:ln>
        </p:spPr>
        <p:txBody>
          <a:bodyPr/>
          <a:lstStyle/>
          <a:p>
            <a:endParaRPr lang="en-US"/>
          </a:p>
        </p:txBody>
      </p:sp>
      <p:sp>
        <p:nvSpPr>
          <p:cNvPr id="35" name="Text 33"/>
          <p:cNvSpPr/>
          <p:nvPr/>
        </p:nvSpPr>
        <p:spPr>
          <a:xfrm>
            <a:off x="576072" y="3072384"/>
            <a:ext cx="1920240" cy="347472"/>
          </a:xfrm>
          <a:prstGeom prst="rect">
            <a:avLst/>
          </a:prstGeom>
          <a:noFill/>
          <a:ln/>
        </p:spPr>
        <p:txBody>
          <a:bodyPr wrap="square" lIns="0" tIns="0" rIns="0" bIns="0" rtlCol="0" anchor="ctr"/>
          <a:lstStyle/>
          <a:p>
            <a:pPr marL="0" indent="0">
              <a:buNone/>
            </a:pPr>
            <a:r>
              <a:rPr lang="en-US" sz="900" dirty="0">
                <a:solidFill>
                  <a:srgbClr val="1B2A4A"/>
                </a:solidFill>
                <a:latin typeface="Courier New" pitchFamily="34" charset="0"/>
                <a:ea typeface="Courier New" pitchFamily="34" charset="-122"/>
                <a:cs typeface="Courier New" pitchFamily="34" charset="-120"/>
              </a:rPr>
              <a:t>evidence_request</a:t>
            </a:r>
            <a:endParaRPr lang="en-US" sz="900" dirty="0"/>
          </a:p>
        </p:txBody>
      </p:sp>
      <p:sp>
        <p:nvSpPr>
          <p:cNvPr id="36" name="Shape 34"/>
          <p:cNvSpPr/>
          <p:nvPr/>
        </p:nvSpPr>
        <p:spPr>
          <a:xfrm>
            <a:off x="2514600" y="3072384"/>
            <a:ext cx="3017520" cy="347472"/>
          </a:xfrm>
          <a:prstGeom prst="rect">
            <a:avLst/>
          </a:prstGeom>
          <a:solidFill>
            <a:srgbClr val="F5F5F5"/>
          </a:solidFill>
          <a:ln w="3810">
            <a:solidFill>
              <a:srgbClr val="F0F0F0"/>
            </a:solidFill>
            <a:prstDash val="solid"/>
          </a:ln>
        </p:spPr>
        <p:txBody>
          <a:bodyPr/>
          <a:lstStyle/>
          <a:p>
            <a:endParaRPr lang="en-US"/>
          </a:p>
        </p:txBody>
      </p:sp>
      <p:sp>
        <p:nvSpPr>
          <p:cNvPr id="37" name="Text 35"/>
          <p:cNvSpPr/>
          <p:nvPr/>
        </p:nvSpPr>
        <p:spPr>
          <a:xfrm>
            <a:off x="2560320" y="3072384"/>
            <a:ext cx="2926080" cy="347472"/>
          </a:xfrm>
          <a:prstGeom prst="rect">
            <a:avLst/>
          </a:prstGeom>
          <a:noFill/>
          <a:ln/>
        </p:spPr>
        <p:txBody>
          <a:bodyPr wrap="square" lIns="0" tIns="0" rIns="0" bIns="0" rtlCol="0" anchor="ctr"/>
          <a:lstStyle/>
          <a:p>
            <a:pPr marL="0" indent="0">
              <a:buNone/>
            </a:pPr>
            <a:r>
              <a:rPr lang="en-US" sz="850" dirty="0">
                <a:solidFill>
                  <a:srgbClr val="333333"/>
                </a:solidFill>
                <a:latin typeface="Courier New" pitchFamily="34" charset="0"/>
                <a:ea typeface="Courier New" pitchFamily="34" charset="-122"/>
                <a:cs typeface="Courier New" pitchFamily="34" charset="-120"/>
              </a:rPr>
              <a:t>{query}</a:t>
            </a:r>
            <a:endParaRPr lang="en-US" sz="850" dirty="0"/>
          </a:p>
        </p:txBody>
      </p:sp>
      <p:sp>
        <p:nvSpPr>
          <p:cNvPr id="38" name="Shape 36"/>
          <p:cNvSpPr/>
          <p:nvPr/>
        </p:nvSpPr>
        <p:spPr>
          <a:xfrm>
            <a:off x="5532120" y="3072384"/>
            <a:ext cx="3611880" cy="347472"/>
          </a:xfrm>
          <a:prstGeom prst="rect">
            <a:avLst/>
          </a:prstGeom>
          <a:solidFill>
            <a:srgbClr val="F5F5F5"/>
          </a:solidFill>
          <a:ln w="3810">
            <a:solidFill>
              <a:srgbClr val="F0F0F0"/>
            </a:solidFill>
            <a:prstDash val="solid"/>
          </a:ln>
        </p:spPr>
        <p:txBody>
          <a:bodyPr/>
          <a:lstStyle/>
          <a:p>
            <a:endParaRPr lang="en-US"/>
          </a:p>
        </p:txBody>
      </p:sp>
      <p:sp>
        <p:nvSpPr>
          <p:cNvPr id="39" name="Text 37"/>
          <p:cNvSpPr/>
          <p:nvPr/>
        </p:nvSpPr>
        <p:spPr>
          <a:xfrm>
            <a:off x="5577840" y="3072384"/>
            <a:ext cx="3474720" cy="34747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rag_worker, general, coordinator</a:t>
            </a:r>
            <a:endParaRPr lang="en-US" sz="900" dirty="0"/>
          </a:p>
        </p:txBody>
      </p:sp>
      <p:sp>
        <p:nvSpPr>
          <p:cNvPr id="40" name="Shape 38"/>
          <p:cNvSpPr/>
          <p:nvPr/>
        </p:nvSpPr>
        <p:spPr>
          <a:xfrm>
            <a:off x="502920" y="3438144"/>
            <a:ext cx="2011680" cy="347472"/>
          </a:xfrm>
          <a:prstGeom prst="rect">
            <a:avLst/>
          </a:prstGeom>
          <a:solidFill>
            <a:srgbClr val="FFFFFF"/>
          </a:solidFill>
          <a:ln w="3810">
            <a:solidFill>
              <a:srgbClr val="F0F0F0"/>
            </a:solidFill>
            <a:prstDash val="solid"/>
          </a:ln>
        </p:spPr>
        <p:txBody>
          <a:bodyPr/>
          <a:lstStyle/>
          <a:p>
            <a:endParaRPr lang="en-US"/>
          </a:p>
        </p:txBody>
      </p:sp>
      <p:sp>
        <p:nvSpPr>
          <p:cNvPr id="41" name="Text 39"/>
          <p:cNvSpPr/>
          <p:nvPr/>
        </p:nvSpPr>
        <p:spPr>
          <a:xfrm>
            <a:off x="576072" y="3438144"/>
            <a:ext cx="1920240" cy="347472"/>
          </a:xfrm>
          <a:prstGeom prst="rect">
            <a:avLst/>
          </a:prstGeom>
          <a:noFill/>
          <a:ln/>
        </p:spPr>
        <p:txBody>
          <a:bodyPr wrap="square" lIns="0" tIns="0" rIns="0" bIns="0" rtlCol="0" anchor="ctr"/>
          <a:lstStyle/>
          <a:p>
            <a:pPr marL="0" indent="0">
              <a:buNone/>
            </a:pPr>
            <a:r>
              <a:rPr lang="en-US" sz="900" dirty="0">
                <a:solidFill>
                  <a:srgbClr val="1B2A4A"/>
                </a:solidFill>
                <a:latin typeface="Courier New" pitchFamily="34" charset="0"/>
                <a:ea typeface="Courier New" pitchFamily="34" charset="-122"/>
                <a:cs typeface="Courier New" pitchFamily="34" charset="-120"/>
              </a:rPr>
              <a:t>evidence_response</a:t>
            </a:r>
            <a:endParaRPr lang="en-US" sz="900" dirty="0"/>
          </a:p>
        </p:txBody>
      </p:sp>
      <p:sp>
        <p:nvSpPr>
          <p:cNvPr id="42" name="Shape 40"/>
          <p:cNvSpPr/>
          <p:nvPr/>
        </p:nvSpPr>
        <p:spPr>
          <a:xfrm>
            <a:off x="2514600" y="3438144"/>
            <a:ext cx="3017520" cy="347472"/>
          </a:xfrm>
          <a:prstGeom prst="rect">
            <a:avLst/>
          </a:prstGeom>
          <a:solidFill>
            <a:srgbClr val="FFFFFF"/>
          </a:solidFill>
          <a:ln w="3810">
            <a:solidFill>
              <a:srgbClr val="F0F0F0"/>
            </a:solidFill>
            <a:prstDash val="solid"/>
          </a:ln>
        </p:spPr>
        <p:txBody>
          <a:bodyPr/>
          <a:lstStyle/>
          <a:p>
            <a:endParaRPr lang="en-US"/>
          </a:p>
        </p:txBody>
      </p:sp>
      <p:sp>
        <p:nvSpPr>
          <p:cNvPr id="43" name="Text 41"/>
          <p:cNvSpPr/>
          <p:nvPr/>
        </p:nvSpPr>
        <p:spPr>
          <a:xfrm>
            <a:off x="2560320" y="3438144"/>
            <a:ext cx="2926080" cy="347472"/>
          </a:xfrm>
          <a:prstGeom prst="rect">
            <a:avLst/>
          </a:prstGeom>
          <a:noFill/>
          <a:ln/>
        </p:spPr>
        <p:txBody>
          <a:bodyPr wrap="square" lIns="0" tIns="0" rIns="0" bIns="0" rtlCol="0" anchor="ctr"/>
          <a:lstStyle/>
          <a:p>
            <a:pPr marL="0" indent="0">
              <a:buNone/>
            </a:pPr>
            <a:r>
              <a:rPr lang="en-US" sz="850" dirty="0">
                <a:solidFill>
                  <a:srgbClr val="333333"/>
                </a:solidFill>
                <a:latin typeface="Courier New" pitchFamily="34" charset="0"/>
                <a:ea typeface="Courier New" pitchFamily="34" charset="-122"/>
                <a:cs typeface="Courier New" pitchFamily="34" charset="-120"/>
              </a:rPr>
              <a:t>{summary}</a:t>
            </a:r>
            <a:endParaRPr lang="en-US" sz="850" dirty="0"/>
          </a:p>
        </p:txBody>
      </p:sp>
      <p:sp>
        <p:nvSpPr>
          <p:cNvPr id="44" name="Shape 42"/>
          <p:cNvSpPr/>
          <p:nvPr/>
        </p:nvSpPr>
        <p:spPr>
          <a:xfrm>
            <a:off x="5532120" y="3438144"/>
            <a:ext cx="3611880" cy="347472"/>
          </a:xfrm>
          <a:prstGeom prst="rect">
            <a:avLst/>
          </a:prstGeom>
          <a:solidFill>
            <a:srgbClr val="FFFFFF"/>
          </a:solidFill>
          <a:ln w="3810">
            <a:solidFill>
              <a:srgbClr val="F0F0F0"/>
            </a:solidFill>
            <a:prstDash val="solid"/>
          </a:ln>
        </p:spPr>
        <p:txBody>
          <a:bodyPr/>
          <a:lstStyle/>
          <a:p>
            <a:endParaRPr lang="en-US"/>
          </a:p>
        </p:txBody>
      </p:sp>
      <p:sp>
        <p:nvSpPr>
          <p:cNvPr id="45" name="Text 43"/>
          <p:cNvSpPr/>
          <p:nvPr/>
        </p:nvSpPr>
        <p:spPr>
          <a:xfrm>
            <a:off x="5577840" y="3438144"/>
            <a:ext cx="3474720" cy="347472"/>
          </a:xfrm>
          <a:prstGeom prst="rect">
            <a:avLst/>
          </a:prstGeom>
          <a:noFill/>
          <a:ln/>
        </p:spPr>
        <p:txBody>
          <a:bodyPr wrap="square" lIns="0" tIns="0" rIns="0" bIns="0" rtlCol="0" anchor="ctr"/>
          <a:lstStyle/>
          <a:p>
            <a:pPr marL="0" indent="0">
              <a:buNone/>
            </a:pPr>
            <a:r>
              <a:rPr lang="en-US" sz="900" dirty="0">
                <a:solidFill>
                  <a:srgbClr val="333333"/>
                </a:solidFill>
                <a:latin typeface="Arial" pitchFamily="34" charset="0"/>
                <a:ea typeface="Arial" pitchFamily="34" charset="-122"/>
                <a:cs typeface="Arial" pitchFamily="34" charset="-120"/>
              </a:rPr>
              <a:t>finalizer, general, coordinator</a:t>
            </a:r>
            <a:endParaRPr lang="en-US" sz="900" dirty="0"/>
          </a:p>
        </p:txBody>
      </p:sp>
      <p:sp>
        <p:nvSpPr>
          <p:cNvPr id="46" name="Shape 44"/>
          <p:cNvSpPr/>
          <p:nvPr/>
        </p:nvSpPr>
        <p:spPr>
          <a:xfrm>
            <a:off x="502920" y="3877056"/>
            <a:ext cx="8138160" cy="411480"/>
          </a:xfrm>
          <a:prstGeom prst="rect">
            <a:avLst/>
          </a:prstGeom>
          <a:solidFill>
            <a:srgbClr val="E0F7FA"/>
          </a:solidFill>
          <a:ln w="12700">
            <a:solidFill>
              <a:srgbClr val="0097A7"/>
            </a:solidFill>
            <a:prstDash val="solid"/>
          </a:ln>
        </p:spPr>
        <p:txBody>
          <a:bodyPr/>
          <a:lstStyle/>
          <a:p>
            <a:endParaRPr lang="en-US"/>
          </a:p>
        </p:txBody>
      </p:sp>
      <p:sp>
        <p:nvSpPr>
          <p:cNvPr id="47" name="Text 45"/>
          <p:cNvSpPr/>
          <p:nvPr/>
        </p:nvSpPr>
        <p:spPr>
          <a:xfrm>
            <a:off x="594360" y="3877056"/>
            <a:ext cx="7955280" cy="41148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register_handoff_artifact(session, artifact_type, data, ...) stores in session.metadata. KernelCoordinatorController._prepare_handoff_artifacts() creates artifacts from each TaskResult. Workers call list_handoff_artifacts(session, allowed_consumers=['rag_worker']) to find their inputs.</a:t>
            </a:r>
            <a:endParaRPr lang="en-US" sz="1000" dirty="0"/>
          </a:p>
        </p:txBody>
      </p:sp>
      <p:sp>
        <p:nvSpPr>
          <p:cNvPr id="48" name="Text 46"/>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runtime/artifacts.py — register_handoff_artifact(), list_handoff_artifacts(), runtime/kernel_coordinator.py — _HANDOFF_ALLOWED_CONSUMERS</a:t>
            </a:r>
            <a:endParaRPr lang="en-US" sz="9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02920" y="1463040"/>
            <a:ext cx="8138160" cy="73152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Features &amp; Architecture Improvements</a:t>
            </a:r>
            <a:endParaRPr lang="en-US" sz="3200" dirty="0"/>
          </a:p>
        </p:txBody>
      </p:sp>
      <p:sp>
        <p:nvSpPr>
          <p:cNvPr id="3" name="Text 1"/>
          <p:cNvSpPr/>
          <p:nvPr/>
        </p:nvSpPr>
        <p:spPr>
          <a:xfrm>
            <a:off x="502920" y="2286000"/>
            <a:ext cx="8138160" cy="457200"/>
          </a:xfrm>
          <a:prstGeom prst="rect">
            <a:avLst/>
          </a:prstGeom>
          <a:noFill/>
          <a:ln/>
        </p:spPr>
        <p:txBody>
          <a:bodyPr wrap="square" lIns="0" tIns="0" rIns="0" bIns="0" rtlCol="0" anchor="ctr"/>
          <a:lstStyle/>
          <a:p>
            <a:pPr marL="0" indent="0">
              <a:buNone/>
            </a:pPr>
            <a:r>
              <a:rPr lang="en-US" sz="1600" dirty="0">
                <a:solidFill>
                  <a:srgbClr val="0097A7"/>
                </a:solidFill>
                <a:latin typeface="Arial" pitchFamily="34" charset="0"/>
                <a:ea typeface="Arial" pitchFamily="34" charset="-122"/>
                <a:cs typeface="Arial" pitchFamily="34" charset="-120"/>
              </a:rPr>
              <a:t>13 capabilities grounded in code inspection and agentic system best practices — quick wins to advanced roadmap</a:t>
            </a:r>
            <a:endParaRPr lang="en-US" sz="16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5 Quick Wins — Each Achievable in Days</a:t>
            </a:r>
            <a:endParaRPr lang="en-US" sz="2600" dirty="0"/>
          </a:p>
        </p:txBody>
      </p:sp>
      <p:sp>
        <p:nvSpPr>
          <p:cNvPr id="3" name="Text 1"/>
          <p:cNvSpPr/>
          <p:nvPr/>
        </p:nvSpPr>
        <p:spPr>
          <a:xfrm>
            <a:off x="502920" y="841248"/>
            <a:ext cx="8138160" cy="310896"/>
          </a:xfrm>
          <a:prstGeom prst="rect">
            <a:avLst/>
          </a:prstGeom>
          <a:noFill/>
          <a:ln/>
        </p:spPr>
        <p:txBody>
          <a:bodyPr wrap="square" lIns="0" tIns="0" rIns="0" bIns="0" rtlCol="0" anchor="ctr"/>
          <a:lstStyle/>
          <a:p>
            <a:pPr marL="0" indent="0">
              <a:buNone/>
            </a:pPr>
            <a:r>
              <a:rPr lang="en-US" sz="1050" dirty="0">
                <a:solidFill>
                  <a:srgbClr val="1B2A4A"/>
                </a:solidFill>
                <a:latin typeface="Arial" pitchFamily="34" charset="0"/>
                <a:ea typeface="Arial" pitchFamily="34" charset="-122"/>
                <a:cs typeface="Arial" pitchFamily="34" charset="-120"/>
              </a:rPr>
              <a:t>Five high-value gaps that are each self-contained changes to a single file or module. No architectural rework required.</a:t>
            </a:r>
            <a:endParaRPr lang="en-US" sz="1050" dirty="0"/>
          </a:p>
        </p:txBody>
      </p:sp>
      <p:sp>
        <p:nvSpPr>
          <p:cNvPr id="4" name="Shape 2"/>
          <p:cNvSpPr/>
          <p:nvPr/>
        </p:nvSpPr>
        <p:spPr>
          <a:xfrm>
            <a:off x="502920" y="1243584"/>
            <a:ext cx="2194560" cy="256032"/>
          </a:xfrm>
          <a:prstGeom prst="rect">
            <a:avLst/>
          </a:prstGeom>
          <a:solidFill>
            <a:srgbClr val="1B2A4A"/>
          </a:solidFill>
          <a:ln w="3810">
            <a:solidFill>
              <a:srgbClr val="F0F0F0"/>
            </a:solidFill>
            <a:prstDash val="solid"/>
          </a:ln>
        </p:spPr>
        <p:txBody>
          <a:bodyPr/>
          <a:lstStyle/>
          <a:p>
            <a:endParaRPr lang="en-US"/>
          </a:p>
        </p:txBody>
      </p:sp>
      <p:sp>
        <p:nvSpPr>
          <p:cNvPr id="5" name="Text 3"/>
          <p:cNvSpPr/>
          <p:nvPr/>
        </p:nvSpPr>
        <p:spPr>
          <a:xfrm>
            <a:off x="576072" y="1243584"/>
            <a:ext cx="2048256" cy="256032"/>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Feature</a:t>
            </a:r>
            <a:endParaRPr lang="en-US" sz="950" dirty="0"/>
          </a:p>
        </p:txBody>
      </p:sp>
      <p:sp>
        <p:nvSpPr>
          <p:cNvPr id="6" name="Shape 4"/>
          <p:cNvSpPr/>
          <p:nvPr/>
        </p:nvSpPr>
        <p:spPr>
          <a:xfrm>
            <a:off x="2697480" y="1243584"/>
            <a:ext cx="3017520" cy="256032"/>
          </a:xfrm>
          <a:prstGeom prst="rect">
            <a:avLst/>
          </a:prstGeom>
          <a:solidFill>
            <a:srgbClr val="1B2A4A"/>
          </a:solidFill>
          <a:ln w="3810">
            <a:solidFill>
              <a:srgbClr val="F0F0F0"/>
            </a:solidFill>
            <a:prstDash val="solid"/>
          </a:ln>
        </p:spPr>
        <p:txBody>
          <a:bodyPr/>
          <a:lstStyle/>
          <a:p>
            <a:endParaRPr lang="en-US"/>
          </a:p>
        </p:txBody>
      </p:sp>
      <p:sp>
        <p:nvSpPr>
          <p:cNvPr id="7" name="Text 5"/>
          <p:cNvSpPr/>
          <p:nvPr/>
        </p:nvSpPr>
        <p:spPr>
          <a:xfrm>
            <a:off x="2770632" y="1243584"/>
            <a:ext cx="2871216" cy="256032"/>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What's Missing &amp; Why It Matters</a:t>
            </a:r>
            <a:endParaRPr lang="en-US" sz="950" dirty="0"/>
          </a:p>
        </p:txBody>
      </p:sp>
      <p:sp>
        <p:nvSpPr>
          <p:cNvPr id="8" name="Shape 6"/>
          <p:cNvSpPr/>
          <p:nvPr/>
        </p:nvSpPr>
        <p:spPr>
          <a:xfrm>
            <a:off x="5715000" y="1243584"/>
            <a:ext cx="2148840" cy="256032"/>
          </a:xfrm>
          <a:prstGeom prst="rect">
            <a:avLst/>
          </a:prstGeom>
          <a:solidFill>
            <a:srgbClr val="1B2A4A"/>
          </a:solidFill>
          <a:ln w="3810">
            <a:solidFill>
              <a:srgbClr val="F0F0F0"/>
            </a:solidFill>
            <a:prstDash val="solid"/>
          </a:ln>
        </p:spPr>
        <p:txBody>
          <a:bodyPr/>
          <a:lstStyle/>
          <a:p>
            <a:endParaRPr lang="en-US"/>
          </a:p>
        </p:txBody>
      </p:sp>
      <p:sp>
        <p:nvSpPr>
          <p:cNvPr id="9" name="Text 7"/>
          <p:cNvSpPr/>
          <p:nvPr/>
        </p:nvSpPr>
        <p:spPr>
          <a:xfrm>
            <a:off x="5788152" y="1243584"/>
            <a:ext cx="2002536" cy="256032"/>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Where to Add It</a:t>
            </a:r>
            <a:endParaRPr lang="en-US" sz="950" dirty="0"/>
          </a:p>
        </p:txBody>
      </p:sp>
      <p:sp>
        <p:nvSpPr>
          <p:cNvPr id="10" name="Shape 8"/>
          <p:cNvSpPr/>
          <p:nvPr/>
        </p:nvSpPr>
        <p:spPr>
          <a:xfrm>
            <a:off x="7863840" y="1243584"/>
            <a:ext cx="777240" cy="256032"/>
          </a:xfrm>
          <a:prstGeom prst="rect">
            <a:avLst/>
          </a:prstGeom>
          <a:solidFill>
            <a:srgbClr val="1B2A4A"/>
          </a:solidFill>
          <a:ln w="3810">
            <a:solidFill>
              <a:srgbClr val="F0F0F0"/>
            </a:solidFill>
            <a:prstDash val="solid"/>
          </a:ln>
        </p:spPr>
        <p:txBody>
          <a:bodyPr/>
          <a:lstStyle/>
          <a:p>
            <a:endParaRPr lang="en-US"/>
          </a:p>
        </p:txBody>
      </p:sp>
      <p:sp>
        <p:nvSpPr>
          <p:cNvPr id="11" name="Text 9"/>
          <p:cNvSpPr/>
          <p:nvPr/>
        </p:nvSpPr>
        <p:spPr>
          <a:xfrm>
            <a:off x="7936992" y="1243584"/>
            <a:ext cx="630936" cy="256032"/>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Effort</a:t>
            </a:r>
            <a:endParaRPr lang="en-US" sz="950" dirty="0"/>
          </a:p>
        </p:txBody>
      </p:sp>
      <p:sp>
        <p:nvSpPr>
          <p:cNvPr id="12" name="Shape 10"/>
          <p:cNvSpPr/>
          <p:nvPr/>
        </p:nvSpPr>
        <p:spPr>
          <a:xfrm>
            <a:off x="502920" y="1499616"/>
            <a:ext cx="2194560" cy="566928"/>
          </a:xfrm>
          <a:prstGeom prst="rect">
            <a:avLst/>
          </a:prstGeom>
          <a:solidFill>
            <a:srgbClr val="E0F7FA"/>
          </a:solidFill>
          <a:ln w="3810">
            <a:solidFill>
              <a:srgbClr val="F0F0F0"/>
            </a:solidFill>
            <a:prstDash val="solid"/>
          </a:ln>
        </p:spPr>
        <p:txBody>
          <a:bodyPr/>
          <a:lstStyle/>
          <a:p>
            <a:endParaRPr lang="en-US"/>
          </a:p>
        </p:txBody>
      </p:sp>
      <p:sp>
        <p:nvSpPr>
          <p:cNvPr id="13" name="Text 11"/>
          <p:cNvSpPr/>
          <p:nvPr/>
        </p:nvSpPr>
        <p:spPr>
          <a:xfrm>
            <a:off x="576072" y="1536192"/>
            <a:ext cx="2048256" cy="493776"/>
          </a:xfrm>
          <a:prstGeom prst="rect">
            <a:avLst/>
          </a:prstGeom>
          <a:noFill/>
          <a:ln/>
        </p:spPr>
        <p:txBody>
          <a:bodyPr wrap="square" lIns="0" tIns="0" rIns="0" bIns="0" rtlCol="0" anchor="ctr"/>
          <a:lstStyle/>
          <a:p>
            <a:pPr marL="0" indent="0" algn="l">
              <a:lnSpc>
                <a:spcPct val="110000"/>
              </a:lnSpc>
              <a:buNone/>
            </a:pPr>
            <a:r>
              <a:rPr lang="en-US" sz="950" b="1" dirty="0">
                <a:solidFill>
                  <a:srgbClr val="1B2A4A"/>
                </a:solidFill>
                <a:latin typeface="Arial" pitchFamily="34" charset="0"/>
                <a:ea typeface="Arial" pitchFamily="34" charset="-122"/>
                <a:cs typeface="Arial" pitchFamily="34" charset="-120"/>
              </a:rPr>
              <a:t>Conversation Export</a:t>
            </a:r>
            <a:endParaRPr lang="en-US" sz="950" dirty="0"/>
          </a:p>
        </p:txBody>
      </p:sp>
      <p:sp>
        <p:nvSpPr>
          <p:cNvPr id="14" name="Shape 12"/>
          <p:cNvSpPr/>
          <p:nvPr/>
        </p:nvSpPr>
        <p:spPr>
          <a:xfrm>
            <a:off x="2697480" y="1499616"/>
            <a:ext cx="3017520" cy="566928"/>
          </a:xfrm>
          <a:prstGeom prst="rect">
            <a:avLst/>
          </a:prstGeom>
          <a:solidFill>
            <a:srgbClr val="F5F5F5"/>
          </a:solidFill>
          <a:ln w="3810">
            <a:solidFill>
              <a:srgbClr val="F0F0F0"/>
            </a:solidFill>
            <a:prstDash val="solid"/>
          </a:ln>
        </p:spPr>
        <p:txBody>
          <a:bodyPr/>
          <a:lstStyle/>
          <a:p>
            <a:endParaRPr lang="en-US"/>
          </a:p>
        </p:txBody>
      </p:sp>
      <p:sp>
        <p:nvSpPr>
          <p:cNvPr id="15" name="Text 13"/>
          <p:cNvSpPr/>
          <p:nvPr/>
        </p:nvSpPr>
        <p:spPr>
          <a:xfrm>
            <a:off x="2770632" y="1536192"/>
            <a:ext cx="2871216" cy="493776"/>
          </a:xfrm>
          <a:prstGeom prst="rect">
            <a:avLst/>
          </a:prstGeom>
          <a:noFill/>
          <a:ln/>
        </p:spPr>
        <p:txBody>
          <a:bodyPr wrap="square" lIns="0" tIns="0" rIns="0" bIns="0" rtlCol="0" anchor="ctr"/>
          <a:lstStyle/>
          <a:p>
            <a:pPr marL="0" indent="0" algn="l">
              <a:lnSpc>
                <a:spcPct val="110000"/>
              </a:lnSpc>
              <a:buNone/>
            </a:pPr>
            <a:r>
              <a:rPr lang="en-US" sz="900" dirty="0">
                <a:solidFill>
                  <a:srgbClr val="333333"/>
                </a:solidFill>
                <a:latin typeface="Arial" pitchFamily="34" charset="0"/>
                <a:ea typeface="Arial" pitchFamily="34" charset="-122"/>
                <a:cs typeface="Arial" pitchFamily="34" charset="-120"/>
              </a:rPr>
              <a:t>No endpoint to export a session as JSON/Markdown/PDF. Users can't archive or migrate conversations.</a:t>
            </a:r>
            <a:endParaRPr lang="en-US" sz="900" dirty="0"/>
          </a:p>
        </p:txBody>
      </p:sp>
      <p:sp>
        <p:nvSpPr>
          <p:cNvPr id="16" name="Shape 14"/>
          <p:cNvSpPr/>
          <p:nvPr/>
        </p:nvSpPr>
        <p:spPr>
          <a:xfrm>
            <a:off x="5715000" y="1499616"/>
            <a:ext cx="2148840" cy="566928"/>
          </a:xfrm>
          <a:prstGeom prst="rect">
            <a:avLst/>
          </a:prstGeom>
          <a:solidFill>
            <a:srgbClr val="F5F5F5"/>
          </a:solidFill>
          <a:ln w="3810">
            <a:solidFill>
              <a:srgbClr val="F0F0F0"/>
            </a:solidFill>
            <a:prstDash val="solid"/>
          </a:ln>
        </p:spPr>
        <p:txBody>
          <a:bodyPr/>
          <a:lstStyle/>
          <a:p>
            <a:endParaRPr lang="en-US"/>
          </a:p>
        </p:txBody>
      </p:sp>
      <p:sp>
        <p:nvSpPr>
          <p:cNvPr id="17" name="Text 15"/>
          <p:cNvSpPr/>
          <p:nvPr/>
        </p:nvSpPr>
        <p:spPr>
          <a:xfrm>
            <a:off x="5788152" y="1536192"/>
            <a:ext cx="2002536" cy="493776"/>
          </a:xfrm>
          <a:prstGeom prst="rect">
            <a:avLst/>
          </a:prstGeom>
          <a:noFill/>
          <a:ln/>
        </p:spPr>
        <p:txBody>
          <a:bodyPr wrap="square" lIns="0" tIns="0" rIns="0" bIns="0" rtlCol="0" anchor="ctr"/>
          <a:lstStyle/>
          <a:p>
            <a:pPr marL="0" indent="0" algn="l">
              <a:lnSpc>
                <a:spcPct val="110000"/>
              </a:lnSpc>
              <a:buNone/>
            </a:pPr>
            <a:r>
              <a:rPr lang="en-US" sz="900" dirty="0">
                <a:solidFill>
                  <a:srgbClr val="333333"/>
                </a:solidFill>
                <a:latin typeface="Arial" pitchFamily="34" charset="0"/>
                <a:ea typeface="Arial" pitchFamily="34" charset="-122"/>
                <a:cs typeface="Arial" pitchFamily="34" charset="-120"/>
              </a:rPr>
              <a:t>Add POST /v1/conversations/{id}/export calling transcript_store.load_session_messages() → artifact</a:t>
            </a:r>
            <a:endParaRPr lang="en-US" sz="900" dirty="0"/>
          </a:p>
        </p:txBody>
      </p:sp>
      <p:sp>
        <p:nvSpPr>
          <p:cNvPr id="18" name="Shape 16"/>
          <p:cNvSpPr/>
          <p:nvPr/>
        </p:nvSpPr>
        <p:spPr>
          <a:xfrm>
            <a:off x="7863840" y="1499616"/>
            <a:ext cx="777240" cy="566928"/>
          </a:xfrm>
          <a:prstGeom prst="rect">
            <a:avLst/>
          </a:prstGeom>
          <a:solidFill>
            <a:srgbClr val="2E7D32"/>
          </a:solidFill>
          <a:ln w="3810">
            <a:solidFill>
              <a:srgbClr val="F0F0F0"/>
            </a:solidFill>
            <a:prstDash val="solid"/>
          </a:ln>
        </p:spPr>
        <p:txBody>
          <a:bodyPr/>
          <a:lstStyle/>
          <a:p>
            <a:endParaRPr lang="en-US"/>
          </a:p>
        </p:txBody>
      </p:sp>
      <p:sp>
        <p:nvSpPr>
          <p:cNvPr id="19" name="Text 17"/>
          <p:cNvSpPr/>
          <p:nvPr/>
        </p:nvSpPr>
        <p:spPr>
          <a:xfrm>
            <a:off x="7936992" y="1536192"/>
            <a:ext cx="630936" cy="493776"/>
          </a:xfrm>
          <a:prstGeom prst="rect">
            <a:avLst/>
          </a:prstGeom>
          <a:noFill/>
          <a:ln/>
        </p:spPr>
        <p:txBody>
          <a:bodyPr wrap="square" lIns="0" tIns="0" rIns="0" bIns="0" rtlCol="0" anchor="ctr"/>
          <a:lstStyle/>
          <a:p>
            <a:pPr marL="0" indent="0" algn="ctr">
              <a:lnSpc>
                <a:spcPct val="110000"/>
              </a:lnSpc>
              <a:buNone/>
            </a:pPr>
            <a:r>
              <a:rPr lang="en-US" sz="900" b="1" dirty="0">
                <a:solidFill>
                  <a:srgbClr val="FFFFFF"/>
                </a:solidFill>
                <a:latin typeface="Arial" pitchFamily="34" charset="0"/>
                <a:ea typeface="Arial" pitchFamily="34" charset="-122"/>
                <a:cs typeface="Arial" pitchFamily="34" charset="-120"/>
              </a:rPr>
              <a:t>~1 day</a:t>
            </a:r>
            <a:endParaRPr lang="en-US" sz="900" dirty="0"/>
          </a:p>
        </p:txBody>
      </p:sp>
      <p:sp>
        <p:nvSpPr>
          <p:cNvPr id="20" name="Shape 18"/>
          <p:cNvSpPr/>
          <p:nvPr/>
        </p:nvSpPr>
        <p:spPr>
          <a:xfrm>
            <a:off x="502920" y="2066544"/>
            <a:ext cx="2194560" cy="566928"/>
          </a:xfrm>
          <a:prstGeom prst="rect">
            <a:avLst/>
          </a:prstGeom>
          <a:solidFill>
            <a:srgbClr val="E0F7FA"/>
          </a:solidFill>
          <a:ln w="3810">
            <a:solidFill>
              <a:srgbClr val="F0F0F0"/>
            </a:solidFill>
            <a:prstDash val="solid"/>
          </a:ln>
        </p:spPr>
        <p:txBody>
          <a:bodyPr/>
          <a:lstStyle/>
          <a:p>
            <a:endParaRPr lang="en-US"/>
          </a:p>
        </p:txBody>
      </p:sp>
      <p:sp>
        <p:nvSpPr>
          <p:cNvPr id="21" name="Text 19"/>
          <p:cNvSpPr/>
          <p:nvPr/>
        </p:nvSpPr>
        <p:spPr>
          <a:xfrm>
            <a:off x="576072" y="2103120"/>
            <a:ext cx="2048256" cy="493776"/>
          </a:xfrm>
          <a:prstGeom prst="rect">
            <a:avLst/>
          </a:prstGeom>
          <a:noFill/>
          <a:ln/>
        </p:spPr>
        <p:txBody>
          <a:bodyPr wrap="square" lIns="0" tIns="0" rIns="0" bIns="0" rtlCol="0" anchor="ctr"/>
          <a:lstStyle/>
          <a:p>
            <a:pPr marL="0" indent="0" algn="l">
              <a:lnSpc>
                <a:spcPct val="110000"/>
              </a:lnSpc>
              <a:buNone/>
            </a:pPr>
            <a:r>
              <a:rPr lang="en-US" sz="950" b="1" dirty="0">
                <a:solidFill>
                  <a:srgbClr val="1B2A4A"/>
                </a:solidFill>
                <a:latin typeface="Arial" pitchFamily="34" charset="0"/>
                <a:ea typeface="Arial" pitchFamily="34" charset="-122"/>
                <a:cs typeface="Arial" pitchFamily="34" charset="-120"/>
              </a:rPr>
              <a:t>History Pagination</a:t>
            </a:r>
            <a:endParaRPr lang="en-US" sz="950" dirty="0"/>
          </a:p>
        </p:txBody>
      </p:sp>
      <p:sp>
        <p:nvSpPr>
          <p:cNvPr id="22" name="Shape 20"/>
          <p:cNvSpPr/>
          <p:nvPr/>
        </p:nvSpPr>
        <p:spPr>
          <a:xfrm>
            <a:off x="2697480" y="2066544"/>
            <a:ext cx="3017520" cy="566928"/>
          </a:xfrm>
          <a:prstGeom prst="rect">
            <a:avLst/>
          </a:prstGeom>
          <a:solidFill>
            <a:srgbClr val="FFFFFF"/>
          </a:solidFill>
          <a:ln w="3810">
            <a:solidFill>
              <a:srgbClr val="F0F0F0"/>
            </a:solidFill>
            <a:prstDash val="solid"/>
          </a:ln>
        </p:spPr>
        <p:txBody>
          <a:bodyPr/>
          <a:lstStyle/>
          <a:p>
            <a:endParaRPr lang="en-US"/>
          </a:p>
        </p:txBody>
      </p:sp>
      <p:sp>
        <p:nvSpPr>
          <p:cNvPr id="23" name="Text 21"/>
          <p:cNvSpPr/>
          <p:nvPr/>
        </p:nvSpPr>
        <p:spPr>
          <a:xfrm>
            <a:off x="2770632" y="2103120"/>
            <a:ext cx="2871216" cy="493776"/>
          </a:xfrm>
          <a:prstGeom prst="rect">
            <a:avLst/>
          </a:prstGeom>
          <a:noFill/>
          <a:ln/>
        </p:spPr>
        <p:txBody>
          <a:bodyPr wrap="square" lIns="0" tIns="0" rIns="0" bIns="0" rtlCol="0" anchor="ctr"/>
          <a:lstStyle/>
          <a:p>
            <a:pPr marL="0" indent="0" algn="l">
              <a:lnSpc>
                <a:spcPct val="110000"/>
              </a:lnSpc>
              <a:buNone/>
            </a:pPr>
            <a:r>
              <a:rPr lang="en-US" sz="900" dirty="0">
                <a:solidFill>
                  <a:srgbClr val="333333"/>
                </a:solidFill>
                <a:latin typeface="Arial" pitchFamily="34" charset="0"/>
                <a:ea typeface="Arial" pitchFamily="34" charset="-122"/>
                <a:cs typeface="Arial" pitchFamily="34" charset="-120"/>
              </a:rPr>
              <a:t>No paginated GET for conversation messages — client must load entire history at once.</a:t>
            </a:r>
            <a:endParaRPr lang="en-US" sz="900" dirty="0"/>
          </a:p>
        </p:txBody>
      </p:sp>
      <p:sp>
        <p:nvSpPr>
          <p:cNvPr id="24" name="Shape 22"/>
          <p:cNvSpPr/>
          <p:nvPr/>
        </p:nvSpPr>
        <p:spPr>
          <a:xfrm>
            <a:off x="5715000" y="2066544"/>
            <a:ext cx="2148840" cy="566928"/>
          </a:xfrm>
          <a:prstGeom prst="rect">
            <a:avLst/>
          </a:prstGeom>
          <a:solidFill>
            <a:srgbClr val="FFFFFF"/>
          </a:solidFill>
          <a:ln w="3810">
            <a:solidFill>
              <a:srgbClr val="F0F0F0"/>
            </a:solidFill>
            <a:prstDash val="solid"/>
          </a:ln>
        </p:spPr>
        <p:txBody>
          <a:bodyPr/>
          <a:lstStyle/>
          <a:p>
            <a:endParaRPr lang="en-US"/>
          </a:p>
        </p:txBody>
      </p:sp>
      <p:sp>
        <p:nvSpPr>
          <p:cNvPr id="25" name="Text 23"/>
          <p:cNvSpPr/>
          <p:nvPr/>
        </p:nvSpPr>
        <p:spPr>
          <a:xfrm>
            <a:off x="5788152" y="2103120"/>
            <a:ext cx="2002536" cy="493776"/>
          </a:xfrm>
          <a:prstGeom prst="rect">
            <a:avLst/>
          </a:prstGeom>
          <a:noFill/>
          <a:ln/>
        </p:spPr>
        <p:txBody>
          <a:bodyPr wrap="square" lIns="0" tIns="0" rIns="0" bIns="0" rtlCol="0" anchor="ctr"/>
          <a:lstStyle/>
          <a:p>
            <a:pPr marL="0" indent="0" algn="l">
              <a:lnSpc>
                <a:spcPct val="110000"/>
              </a:lnSpc>
              <a:buNone/>
            </a:pPr>
            <a:r>
              <a:rPr lang="en-US" sz="900" dirty="0">
                <a:solidFill>
                  <a:srgbClr val="333333"/>
                </a:solidFill>
                <a:latin typeface="Arial" pitchFamily="34" charset="0"/>
                <a:ea typeface="Arial" pitchFamily="34" charset="-122"/>
                <a:cs typeface="Arial" pitchFamily="34" charset="-120"/>
              </a:rPr>
              <a:t>Add GET /v1/conversations/{id}/messages?limit=N&amp;offset=M returning {messages, total, has_more}</a:t>
            </a:r>
            <a:endParaRPr lang="en-US" sz="900" dirty="0"/>
          </a:p>
        </p:txBody>
      </p:sp>
      <p:sp>
        <p:nvSpPr>
          <p:cNvPr id="26" name="Shape 24"/>
          <p:cNvSpPr/>
          <p:nvPr/>
        </p:nvSpPr>
        <p:spPr>
          <a:xfrm>
            <a:off x="7863840" y="2066544"/>
            <a:ext cx="777240" cy="566928"/>
          </a:xfrm>
          <a:prstGeom prst="rect">
            <a:avLst/>
          </a:prstGeom>
          <a:solidFill>
            <a:srgbClr val="2E7D32"/>
          </a:solidFill>
          <a:ln w="3810">
            <a:solidFill>
              <a:srgbClr val="F0F0F0"/>
            </a:solidFill>
            <a:prstDash val="solid"/>
          </a:ln>
        </p:spPr>
        <p:txBody>
          <a:bodyPr/>
          <a:lstStyle/>
          <a:p>
            <a:endParaRPr lang="en-US"/>
          </a:p>
        </p:txBody>
      </p:sp>
      <p:sp>
        <p:nvSpPr>
          <p:cNvPr id="27" name="Text 25"/>
          <p:cNvSpPr/>
          <p:nvPr/>
        </p:nvSpPr>
        <p:spPr>
          <a:xfrm>
            <a:off x="7936992" y="2103120"/>
            <a:ext cx="630936" cy="493776"/>
          </a:xfrm>
          <a:prstGeom prst="rect">
            <a:avLst/>
          </a:prstGeom>
          <a:noFill/>
          <a:ln/>
        </p:spPr>
        <p:txBody>
          <a:bodyPr wrap="square" lIns="0" tIns="0" rIns="0" bIns="0" rtlCol="0" anchor="ctr"/>
          <a:lstStyle/>
          <a:p>
            <a:pPr marL="0" indent="0" algn="ctr">
              <a:lnSpc>
                <a:spcPct val="110000"/>
              </a:lnSpc>
              <a:buNone/>
            </a:pPr>
            <a:r>
              <a:rPr lang="en-US" sz="900" b="1" dirty="0">
                <a:solidFill>
                  <a:srgbClr val="FFFFFF"/>
                </a:solidFill>
                <a:latin typeface="Arial" pitchFamily="34" charset="0"/>
                <a:ea typeface="Arial" pitchFamily="34" charset="-122"/>
                <a:cs typeface="Arial" pitchFamily="34" charset="-120"/>
              </a:rPr>
              <a:t>~1 day</a:t>
            </a:r>
            <a:endParaRPr lang="en-US" sz="900" dirty="0"/>
          </a:p>
        </p:txBody>
      </p:sp>
      <p:sp>
        <p:nvSpPr>
          <p:cNvPr id="28" name="Shape 26"/>
          <p:cNvSpPr/>
          <p:nvPr/>
        </p:nvSpPr>
        <p:spPr>
          <a:xfrm>
            <a:off x="502920" y="2633472"/>
            <a:ext cx="2194560" cy="566928"/>
          </a:xfrm>
          <a:prstGeom prst="rect">
            <a:avLst/>
          </a:prstGeom>
          <a:solidFill>
            <a:srgbClr val="E0F7FA"/>
          </a:solidFill>
          <a:ln w="3810">
            <a:solidFill>
              <a:srgbClr val="F0F0F0"/>
            </a:solidFill>
            <a:prstDash val="solid"/>
          </a:ln>
        </p:spPr>
        <p:txBody>
          <a:bodyPr/>
          <a:lstStyle/>
          <a:p>
            <a:endParaRPr lang="en-US"/>
          </a:p>
        </p:txBody>
      </p:sp>
      <p:sp>
        <p:nvSpPr>
          <p:cNvPr id="29" name="Text 27"/>
          <p:cNvSpPr/>
          <p:nvPr/>
        </p:nvSpPr>
        <p:spPr>
          <a:xfrm>
            <a:off x="576072" y="2670048"/>
            <a:ext cx="2048256" cy="493776"/>
          </a:xfrm>
          <a:prstGeom prst="rect">
            <a:avLst/>
          </a:prstGeom>
          <a:noFill/>
          <a:ln/>
        </p:spPr>
        <p:txBody>
          <a:bodyPr wrap="square" lIns="0" tIns="0" rIns="0" bIns="0" rtlCol="0" anchor="ctr"/>
          <a:lstStyle/>
          <a:p>
            <a:pPr marL="0" indent="0" algn="l">
              <a:lnSpc>
                <a:spcPct val="110000"/>
              </a:lnSpc>
              <a:buNone/>
            </a:pPr>
            <a:r>
              <a:rPr lang="en-US" sz="950" b="1" dirty="0">
                <a:solidFill>
                  <a:srgbClr val="1B2A4A"/>
                </a:solidFill>
                <a:latin typeface="Arial" pitchFamily="34" charset="0"/>
                <a:ea typeface="Arial" pitchFamily="34" charset="-122"/>
                <a:cs typeface="Arial" pitchFamily="34" charset="-120"/>
              </a:rPr>
              <a:t>Skill Version Diff</a:t>
            </a:r>
            <a:endParaRPr lang="en-US" sz="950" dirty="0"/>
          </a:p>
        </p:txBody>
      </p:sp>
      <p:sp>
        <p:nvSpPr>
          <p:cNvPr id="30" name="Shape 28"/>
          <p:cNvSpPr/>
          <p:nvPr/>
        </p:nvSpPr>
        <p:spPr>
          <a:xfrm>
            <a:off x="2697480" y="2633472"/>
            <a:ext cx="3017520" cy="566928"/>
          </a:xfrm>
          <a:prstGeom prst="rect">
            <a:avLst/>
          </a:prstGeom>
          <a:solidFill>
            <a:srgbClr val="F5F5F5"/>
          </a:solidFill>
          <a:ln w="3810">
            <a:solidFill>
              <a:srgbClr val="F0F0F0"/>
            </a:solidFill>
            <a:prstDash val="solid"/>
          </a:ln>
        </p:spPr>
        <p:txBody>
          <a:bodyPr/>
          <a:lstStyle/>
          <a:p>
            <a:endParaRPr lang="en-US"/>
          </a:p>
        </p:txBody>
      </p:sp>
      <p:sp>
        <p:nvSpPr>
          <p:cNvPr id="31" name="Text 29"/>
          <p:cNvSpPr/>
          <p:nvPr/>
        </p:nvSpPr>
        <p:spPr>
          <a:xfrm>
            <a:off x="2770632" y="2670048"/>
            <a:ext cx="2871216" cy="493776"/>
          </a:xfrm>
          <a:prstGeom prst="rect">
            <a:avLst/>
          </a:prstGeom>
          <a:noFill/>
          <a:ln/>
        </p:spPr>
        <p:txBody>
          <a:bodyPr wrap="square" lIns="0" tIns="0" rIns="0" bIns="0" rtlCol="0" anchor="ctr"/>
          <a:lstStyle/>
          <a:p>
            <a:pPr marL="0" indent="0" algn="l">
              <a:lnSpc>
                <a:spcPct val="110000"/>
              </a:lnSpc>
              <a:buNone/>
            </a:pPr>
            <a:r>
              <a:rPr lang="en-US" sz="900" dirty="0">
                <a:solidFill>
                  <a:srgbClr val="333333"/>
                </a:solidFill>
                <a:latin typeface="Arial" pitchFamily="34" charset="0"/>
                <a:ea typeface="Arial" pitchFamily="34" charset="-122"/>
                <a:cs typeface="Arial" pitchFamily="34" charset="-120"/>
              </a:rPr>
              <a:t>Rollback exists but no way to diff two skill versions or branch from history without destructive rollback.</a:t>
            </a:r>
            <a:endParaRPr lang="en-US" sz="900" dirty="0"/>
          </a:p>
        </p:txBody>
      </p:sp>
      <p:sp>
        <p:nvSpPr>
          <p:cNvPr id="32" name="Shape 30"/>
          <p:cNvSpPr/>
          <p:nvPr/>
        </p:nvSpPr>
        <p:spPr>
          <a:xfrm>
            <a:off x="5715000" y="2633472"/>
            <a:ext cx="2148840" cy="566928"/>
          </a:xfrm>
          <a:prstGeom prst="rect">
            <a:avLst/>
          </a:prstGeom>
          <a:solidFill>
            <a:srgbClr val="F5F5F5"/>
          </a:solidFill>
          <a:ln w="3810">
            <a:solidFill>
              <a:srgbClr val="F0F0F0"/>
            </a:solidFill>
            <a:prstDash val="solid"/>
          </a:ln>
        </p:spPr>
        <p:txBody>
          <a:bodyPr/>
          <a:lstStyle/>
          <a:p>
            <a:endParaRPr lang="en-US"/>
          </a:p>
        </p:txBody>
      </p:sp>
      <p:sp>
        <p:nvSpPr>
          <p:cNvPr id="33" name="Text 31"/>
          <p:cNvSpPr/>
          <p:nvPr/>
        </p:nvSpPr>
        <p:spPr>
          <a:xfrm>
            <a:off x="5788152" y="2670048"/>
            <a:ext cx="2002536" cy="493776"/>
          </a:xfrm>
          <a:prstGeom prst="rect">
            <a:avLst/>
          </a:prstGeom>
          <a:noFill/>
          <a:ln/>
        </p:spPr>
        <p:txBody>
          <a:bodyPr wrap="square" lIns="0" tIns="0" rIns="0" bIns="0" rtlCol="0" anchor="ctr"/>
          <a:lstStyle/>
          <a:p>
            <a:pPr marL="0" indent="0" algn="l">
              <a:lnSpc>
                <a:spcPct val="110000"/>
              </a:lnSpc>
              <a:buNone/>
            </a:pPr>
            <a:r>
              <a:rPr lang="en-US" sz="900" dirty="0">
                <a:solidFill>
                  <a:srgbClr val="333333"/>
                </a:solidFill>
                <a:latin typeface="Arial" pitchFamily="34" charset="0"/>
                <a:ea typeface="Arial" pitchFamily="34" charset="-122"/>
                <a:cs typeface="Arial" pitchFamily="34" charset="-120"/>
              </a:rPr>
              <a:t>Add GET /v1/skills/{id}/versions/{v}/diff?compare_to=V and POST …/branch endpoint</a:t>
            </a:r>
            <a:endParaRPr lang="en-US" sz="900" dirty="0"/>
          </a:p>
        </p:txBody>
      </p:sp>
      <p:sp>
        <p:nvSpPr>
          <p:cNvPr id="34" name="Shape 32"/>
          <p:cNvSpPr/>
          <p:nvPr/>
        </p:nvSpPr>
        <p:spPr>
          <a:xfrm>
            <a:off x="7863840" y="2633472"/>
            <a:ext cx="777240" cy="566928"/>
          </a:xfrm>
          <a:prstGeom prst="rect">
            <a:avLst/>
          </a:prstGeom>
          <a:solidFill>
            <a:srgbClr val="2E7D32"/>
          </a:solidFill>
          <a:ln w="3810">
            <a:solidFill>
              <a:srgbClr val="F0F0F0"/>
            </a:solidFill>
            <a:prstDash val="solid"/>
          </a:ln>
        </p:spPr>
        <p:txBody>
          <a:bodyPr/>
          <a:lstStyle/>
          <a:p>
            <a:endParaRPr lang="en-US"/>
          </a:p>
        </p:txBody>
      </p:sp>
      <p:sp>
        <p:nvSpPr>
          <p:cNvPr id="35" name="Text 33"/>
          <p:cNvSpPr/>
          <p:nvPr/>
        </p:nvSpPr>
        <p:spPr>
          <a:xfrm>
            <a:off x="7936992" y="2670048"/>
            <a:ext cx="630936" cy="493776"/>
          </a:xfrm>
          <a:prstGeom prst="rect">
            <a:avLst/>
          </a:prstGeom>
          <a:noFill/>
          <a:ln/>
        </p:spPr>
        <p:txBody>
          <a:bodyPr wrap="square" lIns="0" tIns="0" rIns="0" bIns="0" rtlCol="0" anchor="ctr"/>
          <a:lstStyle/>
          <a:p>
            <a:pPr marL="0" indent="0" algn="ctr">
              <a:lnSpc>
                <a:spcPct val="110000"/>
              </a:lnSpc>
              <a:buNone/>
            </a:pPr>
            <a:r>
              <a:rPr lang="en-US" sz="900" b="1" dirty="0">
                <a:solidFill>
                  <a:srgbClr val="FFFFFF"/>
                </a:solidFill>
                <a:latin typeface="Arial" pitchFamily="34" charset="0"/>
                <a:ea typeface="Arial" pitchFamily="34" charset="-122"/>
                <a:cs typeface="Arial" pitchFamily="34" charset="-120"/>
              </a:rPr>
              <a:t>~2 days</a:t>
            </a:r>
            <a:endParaRPr lang="en-US" sz="900" dirty="0"/>
          </a:p>
        </p:txBody>
      </p:sp>
      <p:sp>
        <p:nvSpPr>
          <p:cNvPr id="36" name="Shape 34"/>
          <p:cNvSpPr/>
          <p:nvPr/>
        </p:nvSpPr>
        <p:spPr>
          <a:xfrm>
            <a:off x="502920" y="3200400"/>
            <a:ext cx="2194560" cy="566928"/>
          </a:xfrm>
          <a:prstGeom prst="rect">
            <a:avLst/>
          </a:prstGeom>
          <a:solidFill>
            <a:srgbClr val="E0F7FA"/>
          </a:solidFill>
          <a:ln w="3810">
            <a:solidFill>
              <a:srgbClr val="F0F0F0"/>
            </a:solidFill>
            <a:prstDash val="solid"/>
          </a:ln>
        </p:spPr>
        <p:txBody>
          <a:bodyPr/>
          <a:lstStyle/>
          <a:p>
            <a:endParaRPr lang="en-US"/>
          </a:p>
        </p:txBody>
      </p:sp>
      <p:sp>
        <p:nvSpPr>
          <p:cNvPr id="37" name="Text 35"/>
          <p:cNvSpPr/>
          <p:nvPr/>
        </p:nvSpPr>
        <p:spPr>
          <a:xfrm>
            <a:off x="576072" y="3236976"/>
            <a:ext cx="2048256" cy="493776"/>
          </a:xfrm>
          <a:prstGeom prst="rect">
            <a:avLst/>
          </a:prstGeom>
          <a:noFill/>
          <a:ln/>
        </p:spPr>
        <p:txBody>
          <a:bodyPr wrap="square" lIns="0" tIns="0" rIns="0" bIns="0" rtlCol="0" anchor="ctr"/>
          <a:lstStyle/>
          <a:p>
            <a:pPr marL="0" indent="0" algn="l">
              <a:lnSpc>
                <a:spcPct val="110000"/>
              </a:lnSpc>
              <a:buNone/>
            </a:pPr>
            <a:r>
              <a:rPr lang="en-US" sz="950" b="1" dirty="0">
                <a:solidFill>
                  <a:srgbClr val="1B2A4A"/>
                </a:solidFill>
                <a:latin typeface="Arial" pitchFamily="34" charset="0"/>
                <a:ea typeface="Arial" pitchFamily="34" charset="-122"/>
                <a:cs typeface="Arial" pitchFamily="34" charset="-120"/>
              </a:rPr>
              <a:t>Graph Query Cache</a:t>
            </a:r>
            <a:endParaRPr lang="en-US" sz="950" dirty="0"/>
          </a:p>
        </p:txBody>
      </p:sp>
      <p:sp>
        <p:nvSpPr>
          <p:cNvPr id="38" name="Shape 36"/>
          <p:cNvSpPr/>
          <p:nvPr/>
        </p:nvSpPr>
        <p:spPr>
          <a:xfrm>
            <a:off x="2697480" y="3200400"/>
            <a:ext cx="3017520" cy="566928"/>
          </a:xfrm>
          <a:prstGeom prst="rect">
            <a:avLst/>
          </a:prstGeom>
          <a:solidFill>
            <a:srgbClr val="FFFFFF"/>
          </a:solidFill>
          <a:ln w="3810">
            <a:solidFill>
              <a:srgbClr val="F0F0F0"/>
            </a:solidFill>
            <a:prstDash val="solid"/>
          </a:ln>
        </p:spPr>
        <p:txBody>
          <a:bodyPr/>
          <a:lstStyle/>
          <a:p>
            <a:endParaRPr lang="en-US"/>
          </a:p>
        </p:txBody>
      </p:sp>
      <p:sp>
        <p:nvSpPr>
          <p:cNvPr id="39" name="Text 37"/>
          <p:cNvSpPr/>
          <p:nvPr/>
        </p:nvSpPr>
        <p:spPr>
          <a:xfrm>
            <a:off x="2770632" y="3236976"/>
            <a:ext cx="2871216" cy="493776"/>
          </a:xfrm>
          <a:prstGeom prst="rect">
            <a:avLst/>
          </a:prstGeom>
          <a:noFill/>
          <a:ln/>
        </p:spPr>
        <p:txBody>
          <a:bodyPr wrap="square" lIns="0" tIns="0" rIns="0" bIns="0" rtlCol="0" anchor="ctr"/>
          <a:lstStyle/>
          <a:p>
            <a:pPr marL="0" indent="0" algn="l">
              <a:lnSpc>
                <a:spcPct val="110000"/>
              </a:lnSpc>
              <a:buNone/>
            </a:pPr>
            <a:r>
              <a:rPr lang="en-US" sz="900" dirty="0">
                <a:solidFill>
                  <a:srgbClr val="333333"/>
                </a:solidFill>
                <a:latin typeface="Arial" pitchFamily="34" charset="0"/>
                <a:ea typeface="Arial" pitchFamily="34" charset="-122"/>
                <a:cs typeface="Arial" pitchFamily="34" charset="-120"/>
              </a:rPr>
              <a:t>graph_query_cache_ttl_seconds is configured in Settings but never wired to Neo4jGraphStore._query().</a:t>
            </a:r>
            <a:endParaRPr lang="en-US" sz="900" dirty="0"/>
          </a:p>
        </p:txBody>
      </p:sp>
      <p:sp>
        <p:nvSpPr>
          <p:cNvPr id="40" name="Shape 38"/>
          <p:cNvSpPr/>
          <p:nvPr/>
        </p:nvSpPr>
        <p:spPr>
          <a:xfrm>
            <a:off x="5715000" y="3200400"/>
            <a:ext cx="2148840" cy="566928"/>
          </a:xfrm>
          <a:prstGeom prst="rect">
            <a:avLst/>
          </a:prstGeom>
          <a:solidFill>
            <a:srgbClr val="FFFFFF"/>
          </a:solidFill>
          <a:ln w="3810">
            <a:solidFill>
              <a:srgbClr val="F0F0F0"/>
            </a:solidFill>
            <a:prstDash val="solid"/>
          </a:ln>
        </p:spPr>
        <p:txBody>
          <a:bodyPr/>
          <a:lstStyle/>
          <a:p>
            <a:endParaRPr lang="en-US"/>
          </a:p>
        </p:txBody>
      </p:sp>
      <p:sp>
        <p:nvSpPr>
          <p:cNvPr id="41" name="Text 39"/>
          <p:cNvSpPr/>
          <p:nvPr/>
        </p:nvSpPr>
        <p:spPr>
          <a:xfrm>
            <a:off x="5788152" y="3236976"/>
            <a:ext cx="2002536" cy="493776"/>
          </a:xfrm>
          <a:prstGeom prst="rect">
            <a:avLst/>
          </a:prstGeom>
          <a:noFill/>
          <a:ln/>
        </p:spPr>
        <p:txBody>
          <a:bodyPr wrap="square" lIns="0" tIns="0" rIns="0" bIns="0" rtlCol="0" anchor="ctr"/>
          <a:lstStyle/>
          <a:p>
            <a:pPr marL="0" indent="0" algn="l">
              <a:lnSpc>
                <a:spcPct val="110000"/>
              </a:lnSpc>
              <a:buNone/>
            </a:pPr>
            <a:r>
              <a:rPr lang="en-US" sz="900" dirty="0">
                <a:solidFill>
                  <a:srgbClr val="333333"/>
                </a:solidFill>
                <a:latin typeface="Arial" pitchFamily="34" charset="0"/>
                <a:ea typeface="Arial" pitchFamily="34" charset="-122"/>
                <a:cs typeface="Arial" pitchFamily="34" charset="-120"/>
              </a:rPr>
              <a:t>Wrap _query() with TTL-based lru_cache using config value; expose hit-rate metric to EventSink</a:t>
            </a:r>
            <a:endParaRPr lang="en-US" sz="900" dirty="0"/>
          </a:p>
        </p:txBody>
      </p:sp>
      <p:sp>
        <p:nvSpPr>
          <p:cNvPr id="42" name="Shape 40"/>
          <p:cNvSpPr/>
          <p:nvPr/>
        </p:nvSpPr>
        <p:spPr>
          <a:xfrm>
            <a:off x="7863840" y="3200400"/>
            <a:ext cx="777240" cy="566928"/>
          </a:xfrm>
          <a:prstGeom prst="rect">
            <a:avLst/>
          </a:prstGeom>
          <a:solidFill>
            <a:srgbClr val="2E7D32"/>
          </a:solidFill>
          <a:ln w="3810">
            <a:solidFill>
              <a:srgbClr val="F0F0F0"/>
            </a:solidFill>
            <a:prstDash val="solid"/>
          </a:ln>
        </p:spPr>
        <p:txBody>
          <a:bodyPr/>
          <a:lstStyle/>
          <a:p>
            <a:endParaRPr lang="en-US"/>
          </a:p>
        </p:txBody>
      </p:sp>
      <p:sp>
        <p:nvSpPr>
          <p:cNvPr id="43" name="Text 41"/>
          <p:cNvSpPr/>
          <p:nvPr/>
        </p:nvSpPr>
        <p:spPr>
          <a:xfrm>
            <a:off x="7936992" y="3236976"/>
            <a:ext cx="630936" cy="493776"/>
          </a:xfrm>
          <a:prstGeom prst="rect">
            <a:avLst/>
          </a:prstGeom>
          <a:noFill/>
          <a:ln/>
        </p:spPr>
        <p:txBody>
          <a:bodyPr wrap="square" lIns="0" tIns="0" rIns="0" bIns="0" rtlCol="0" anchor="ctr"/>
          <a:lstStyle/>
          <a:p>
            <a:pPr marL="0" indent="0" algn="ctr">
              <a:lnSpc>
                <a:spcPct val="110000"/>
              </a:lnSpc>
              <a:buNone/>
            </a:pPr>
            <a:r>
              <a:rPr lang="en-US" sz="900" b="1" dirty="0">
                <a:solidFill>
                  <a:srgbClr val="FFFFFF"/>
                </a:solidFill>
                <a:latin typeface="Arial" pitchFamily="34" charset="0"/>
                <a:ea typeface="Arial" pitchFamily="34" charset="-122"/>
                <a:cs typeface="Arial" pitchFamily="34" charset="-120"/>
              </a:rPr>
              <a:t>~1 day</a:t>
            </a:r>
            <a:endParaRPr lang="en-US" sz="900" dirty="0"/>
          </a:p>
        </p:txBody>
      </p:sp>
      <p:sp>
        <p:nvSpPr>
          <p:cNvPr id="44" name="Shape 42"/>
          <p:cNvSpPr/>
          <p:nvPr/>
        </p:nvSpPr>
        <p:spPr>
          <a:xfrm>
            <a:off x="502920" y="3767328"/>
            <a:ext cx="2194560" cy="566928"/>
          </a:xfrm>
          <a:prstGeom prst="rect">
            <a:avLst/>
          </a:prstGeom>
          <a:solidFill>
            <a:srgbClr val="E0F7FA"/>
          </a:solidFill>
          <a:ln w="3810">
            <a:solidFill>
              <a:srgbClr val="F0F0F0"/>
            </a:solidFill>
            <a:prstDash val="solid"/>
          </a:ln>
        </p:spPr>
        <p:txBody>
          <a:bodyPr/>
          <a:lstStyle/>
          <a:p>
            <a:endParaRPr lang="en-US"/>
          </a:p>
        </p:txBody>
      </p:sp>
      <p:sp>
        <p:nvSpPr>
          <p:cNvPr id="45" name="Text 43"/>
          <p:cNvSpPr/>
          <p:nvPr/>
        </p:nvSpPr>
        <p:spPr>
          <a:xfrm>
            <a:off x="576072" y="3803904"/>
            <a:ext cx="2048256" cy="493776"/>
          </a:xfrm>
          <a:prstGeom prst="rect">
            <a:avLst/>
          </a:prstGeom>
          <a:noFill/>
          <a:ln/>
        </p:spPr>
        <p:txBody>
          <a:bodyPr wrap="square" lIns="0" tIns="0" rIns="0" bIns="0" rtlCol="0" anchor="ctr"/>
          <a:lstStyle/>
          <a:p>
            <a:pPr marL="0" indent="0" algn="l">
              <a:lnSpc>
                <a:spcPct val="110000"/>
              </a:lnSpc>
              <a:buNone/>
            </a:pPr>
            <a:r>
              <a:rPr lang="en-US" sz="950" b="1" dirty="0">
                <a:solidFill>
                  <a:srgbClr val="1B2A4A"/>
                </a:solidFill>
                <a:latin typeface="Arial" pitchFamily="34" charset="0"/>
                <a:ea typeface="Arial" pitchFamily="34" charset="-122"/>
                <a:cs typeface="Arial" pitchFamily="34" charset="-120"/>
              </a:rPr>
              <a:t>Doc Confidence Score</a:t>
            </a:r>
            <a:endParaRPr lang="en-US" sz="950" dirty="0"/>
          </a:p>
        </p:txBody>
      </p:sp>
      <p:sp>
        <p:nvSpPr>
          <p:cNvPr id="46" name="Shape 44"/>
          <p:cNvSpPr/>
          <p:nvPr/>
        </p:nvSpPr>
        <p:spPr>
          <a:xfrm>
            <a:off x="2697480" y="3767328"/>
            <a:ext cx="3017520" cy="566928"/>
          </a:xfrm>
          <a:prstGeom prst="rect">
            <a:avLst/>
          </a:prstGeom>
          <a:solidFill>
            <a:srgbClr val="F5F5F5"/>
          </a:solidFill>
          <a:ln w="3810">
            <a:solidFill>
              <a:srgbClr val="F0F0F0"/>
            </a:solidFill>
            <a:prstDash val="solid"/>
          </a:ln>
        </p:spPr>
        <p:txBody>
          <a:bodyPr/>
          <a:lstStyle/>
          <a:p>
            <a:endParaRPr lang="en-US"/>
          </a:p>
        </p:txBody>
      </p:sp>
      <p:sp>
        <p:nvSpPr>
          <p:cNvPr id="47" name="Text 45"/>
          <p:cNvSpPr/>
          <p:nvPr/>
        </p:nvSpPr>
        <p:spPr>
          <a:xfrm>
            <a:off x="2770632" y="3803904"/>
            <a:ext cx="2871216" cy="493776"/>
          </a:xfrm>
          <a:prstGeom prst="rect">
            <a:avLst/>
          </a:prstGeom>
          <a:noFill/>
          <a:ln/>
        </p:spPr>
        <p:txBody>
          <a:bodyPr wrap="square" lIns="0" tIns="0" rIns="0" bIns="0" rtlCol="0" anchor="ctr"/>
          <a:lstStyle/>
          <a:p>
            <a:pPr marL="0" indent="0" algn="l">
              <a:lnSpc>
                <a:spcPct val="110000"/>
              </a:lnSpc>
              <a:buNone/>
            </a:pPr>
            <a:r>
              <a:rPr lang="en-US" sz="900" dirty="0">
                <a:solidFill>
                  <a:srgbClr val="333333"/>
                </a:solidFill>
                <a:latin typeface="Arial" pitchFamily="34" charset="0"/>
                <a:ea typeface="Arial" pitchFamily="34" charset="-122"/>
                <a:cs typeface="Arial" pitchFamily="34" charset="-120"/>
              </a:rPr>
              <a:t>_prepare_synthesis_docs() ranks by title overlap only — no explicit confidence attached to retrieved evidence.</a:t>
            </a:r>
            <a:endParaRPr lang="en-US" sz="900" dirty="0"/>
          </a:p>
        </p:txBody>
      </p:sp>
      <p:sp>
        <p:nvSpPr>
          <p:cNvPr id="48" name="Shape 46"/>
          <p:cNvSpPr/>
          <p:nvPr/>
        </p:nvSpPr>
        <p:spPr>
          <a:xfrm>
            <a:off x="5715000" y="3767328"/>
            <a:ext cx="2148840" cy="566928"/>
          </a:xfrm>
          <a:prstGeom prst="rect">
            <a:avLst/>
          </a:prstGeom>
          <a:solidFill>
            <a:srgbClr val="F5F5F5"/>
          </a:solidFill>
          <a:ln w="3810">
            <a:solidFill>
              <a:srgbClr val="F0F0F0"/>
            </a:solidFill>
            <a:prstDash val="solid"/>
          </a:ln>
        </p:spPr>
        <p:txBody>
          <a:bodyPr/>
          <a:lstStyle/>
          <a:p>
            <a:endParaRPr lang="en-US"/>
          </a:p>
        </p:txBody>
      </p:sp>
      <p:sp>
        <p:nvSpPr>
          <p:cNvPr id="49" name="Text 47"/>
          <p:cNvSpPr/>
          <p:nvPr/>
        </p:nvSpPr>
        <p:spPr>
          <a:xfrm>
            <a:off x="5788152" y="3803904"/>
            <a:ext cx="2002536" cy="493776"/>
          </a:xfrm>
          <a:prstGeom prst="rect">
            <a:avLst/>
          </a:prstGeom>
          <a:noFill/>
          <a:ln/>
        </p:spPr>
        <p:txBody>
          <a:bodyPr wrap="square" lIns="0" tIns="0" rIns="0" bIns="0" rtlCol="0" anchor="ctr"/>
          <a:lstStyle/>
          <a:p>
            <a:pPr marL="0" indent="0" algn="l">
              <a:lnSpc>
                <a:spcPct val="110000"/>
              </a:lnSpc>
              <a:buNone/>
            </a:pPr>
            <a:r>
              <a:rPr lang="en-US" sz="900" dirty="0">
                <a:solidFill>
                  <a:srgbClr val="333333"/>
                </a:solidFill>
                <a:latin typeface="Arial" pitchFamily="34" charset="0"/>
                <a:ea typeface="Arial" pitchFamily="34" charset="-122"/>
                <a:cs typeface="Arial" pitchFamily="34" charset="-120"/>
              </a:rPr>
              <a:t>Compute RelevanceScore(bm25+semantic+recency) per doc in synthesis.py; pass scores in evidence JSON to LLM</a:t>
            </a:r>
            <a:endParaRPr lang="en-US" sz="900" dirty="0"/>
          </a:p>
        </p:txBody>
      </p:sp>
      <p:sp>
        <p:nvSpPr>
          <p:cNvPr id="50" name="Shape 48"/>
          <p:cNvSpPr/>
          <p:nvPr/>
        </p:nvSpPr>
        <p:spPr>
          <a:xfrm>
            <a:off x="7863840" y="3767328"/>
            <a:ext cx="777240" cy="566928"/>
          </a:xfrm>
          <a:prstGeom prst="rect">
            <a:avLst/>
          </a:prstGeom>
          <a:solidFill>
            <a:srgbClr val="2E7D32"/>
          </a:solidFill>
          <a:ln w="3810">
            <a:solidFill>
              <a:srgbClr val="F0F0F0"/>
            </a:solidFill>
            <a:prstDash val="solid"/>
          </a:ln>
        </p:spPr>
        <p:txBody>
          <a:bodyPr/>
          <a:lstStyle/>
          <a:p>
            <a:endParaRPr lang="en-US"/>
          </a:p>
        </p:txBody>
      </p:sp>
      <p:sp>
        <p:nvSpPr>
          <p:cNvPr id="51" name="Text 49"/>
          <p:cNvSpPr/>
          <p:nvPr/>
        </p:nvSpPr>
        <p:spPr>
          <a:xfrm>
            <a:off x="7936992" y="3803904"/>
            <a:ext cx="630936" cy="493776"/>
          </a:xfrm>
          <a:prstGeom prst="rect">
            <a:avLst/>
          </a:prstGeom>
          <a:noFill/>
          <a:ln/>
        </p:spPr>
        <p:txBody>
          <a:bodyPr wrap="square" lIns="0" tIns="0" rIns="0" bIns="0" rtlCol="0" anchor="ctr"/>
          <a:lstStyle/>
          <a:p>
            <a:pPr marL="0" indent="0" algn="ctr">
              <a:lnSpc>
                <a:spcPct val="110000"/>
              </a:lnSpc>
              <a:buNone/>
            </a:pPr>
            <a:r>
              <a:rPr lang="en-US" sz="900" b="1" dirty="0">
                <a:solidFill>
                  <a:srgbClr val="FFFFFF"/>
                </a:solidFill>
                <a:latin typeface="Arial" pitchFamily="34" charset="0"/>
                <a:ea typeface="Arial" pitchFamily="34" charset="-122"/>
                <a:cs typeface="Arial" pitchFamily="34" charset="-120"/>
              </a:rPr>
              <a:t>~2 days</a:t>
            </a:r>
            <a:endParaRPr lang="en-US" sz="900" dirty="0"/>
          </a:p>
        </p:txBody>
      </p:sp>
      <p:sp>
        <p:nvSpPr>
          <p:cNvPr id="52" name="Text 50"/>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api/main.py, rag/graph_store.py, rag/synthesis.py — all five are isolated single-file changes</a:t>
            </a:r>
            <a:endParaRPr lang="en-US" sz="9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UX Improvements — Reasoning Visibility &amp; Memory Lifecycle</a:t>
            </a:r>
            <a:endParaRPr lang="en-US" sz="2600" dirty="0"/>
          </a:p>
        </p:txBody>
      </p:sp>
      <p:sp>
        <p:nvSpPr>
          <p:cNvPr id="3" name="Text 1"/>
          <p:cNvSpPr/>
          <p:nvPr/>
        </p:nvSpPr>
        <p:spPr>
          <a:xfrm>
            <a:off x="502920" y="841248"/>
            <a:ext cx="8138160" cy="274320"/>
          </a:xfrm>
          <a:prstGeom prst="rect">
            <a:avLst/>
          </a:prstGeom>
          <a:noFill/>
          <a:ln/>
        </p:spPr>
        <p:txBody>
          <a:bodyPr wrap="square" lIns="0" tIns="0" rIns="0" bIns="0" rtlCol="0" anchor="ctr"/>
          <a:lstStyle/>
          <a:p>
            <a:pPr marL="0" indent="0">
              <a:buNone/>
            </a:pPr>
            <a:r>
              <a:rPr lang="en-US" sz="1050" dirty="0">
                <a:solidFill>
                  <a:srgbClr val="1B2A4A"/>
                </a:solidFill>
                <a:latin typeface="Arial" pitchFamily="34" charset="0"/>
                <a:ea typeface="Arial" pitchFamily="34" charset="-122"/>
                <a:cs typeface="Arial" pitchFamily="34" charset="-120"/>
              </a:rPr>
              <a:t>Two medium-effort improvements that directly change how users experience the system in production.</a:t>
            </a:r>
            <a:endParaRPr lang="en-US" sz="1050" dirty="0"/>
          </a:p>
        </p:txBody>
      </p:sp>
      <p:sp>
        <p:nvSpPr>
          <p:cNvPr id="4" name="Shape 2"/>
          <p:cNvSpPr/>
          <p:nvPr/>
        </p:nvSpPr>
        <p:spPr>
          <a:xfrm>
            <a:off x="502920" y="1188720"/>
            <a:ext cx="3977640" cy="2852928"/>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188720"/>
            <a:ext cx="3977640" cy="320040"/>
          </a:xfrm>
          <a:prstGeom prst="rect">
            <a:avLst/>
          </a:prstGeom>
          <a:solidFill>
            <a:srgbClr val="0097A7"/>
          </a:solidFill>
          <a:ln/>
        </p:spPr>
        <p:txBody>
          <a:bodyPr/>
          <a:lstStyle/>
          <a:p>
            <a:endParaRPr lang="en-US"/>
          </a:p>
        </p:txBody>
      </p:sp>
      <p:sp>
        <p:nvSpPr>
          <p:cNvPr id="6" name="Text 4"/>
          <p:cNvSpPr/>
          <p:nvPr/>
        </p:nvSpPr>
        <p:spPr>
          <a:xfrm>
            <a:off x="612648" y="1216152"/>
            <a:ext cx="37581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Streaming Reasoning — Complete the Loop</a:t>
            </a:r>
            <a:endParaRPr lang="en-US" sz="1200" dirty="0"/>
          </a:p>
        </p:txBody>
      </p:sp>
      <p:sp>
        <p:nvSpPr>
          <p:cNvPr id="7" name="Text 5"/>
          <p:cNvSpPr/>
          <p:nvPr/>
        </p:nvSpPr>
        <p:spPr>
          <a:xfrm>
            <a:off x="612648" y="1572768"/>
            <a:ext cx="3758184" cy="2377440"/>
          </a:xfrm>
          <a:prstGeom prst="rect">
            <a:avLst/>
          </a:prstGeom>
          <a:noFill/>
          <a:ln/>
        </p:spPr>
        <p:txBody>
          <a:bodyPr wrap="square" lIns="0" tIns="0" rIns="0" bIns="0" rtlCol="0" anchor="t"/>
          <a:lstStyle/>
          <a:p>
            <a:pPr marL="0" indent="0">
              <a:lnSpc>
                <a:spcPct val="110000"/>
              </a:lnSpc>
              <a:buNone/>
            </a:pPr>
            <a:r>
              <a:rPr lang="en-US" sz="900" dirty="0">
                <a:solidFill>
                  <a:srgbClr val="999999"/>
                </a:solidFill>
                <a:latin typeface="Courier New" pitchFamily="34" charset="0"/>
                <a:ea typeface="Courier New" pitchFamily="34" charset="-122"/>
                <a:cs typeface="Courier New" pitchFamily="34" charset="-120"/>
              </a:rPr>
              <a:t>api/main.py, live_progress.py, status_tracker.py
</a:t>
            </a:r>
            <a:endParaRPr lang="en-US" sz="1000" dirty="0"/>
          </a:p>
          <a:p>
            <a:pPr marL="0" indent="0">
              <a:lnSpc>
                <a:spcPct val="110000"/>
              </a:lnSpc>
              <a:buNone/>
            </a:pPr>
            <a:r>
              <a:rPr lang="en-US" sz="1000" b="1" dirty="0">
                <a:solidFill>
                  <a:srgbClr val="2E7D32"/>
                </a:solidFill>
                <a:latin typeface="Arial" pitchFamily="34" charset="0"/>
                <a:ea typeface="Arial" pitchFamily="34" charset="-122"/>
                <a:cs typeface="Arial" pitchFamily="34" charset="-120"/>
              </a:rPr>
              <a:t>Progress: </a:t>
            </a:r>
            <a:r>
              <a:rPr lang="en-US" sz="1000" dirty="0">
                <a:solidFill>
                  <a:srgbClr val="333333"/>
                </a:solidFill>
                <a:latin typeface="Arial" pitchFamily="34" charset="0"/>
                <a:ea typeface="Arial" pitchFamily="34" charset="-122"/>
                <a:cs typeface="Arial" pitchFamily="34" charset="-120"/>
              </a:rPr>
              <a:t>SSE now streams status events via _named_sse_event(). live_progress.py (265 lines) + status_tracker.py (558 lines) provide real-time job progress.
</a:t>
            </a:r>
            <a:endParaRPr lang="en-US" sz="1000" dirty="0"/>
          </a:p>
          <a:p>
            <a:pPr marL="0" indent="0">
              <a:lnSpc>
                <a:spcPct val="110000"/>
              </a:lnSpc>
              <a:buNone/>
            </a:pPr>
            <a:r>
              <a:rPr lang="en-US" sz="1000" b="1" dirty="0">
                <a:solidFill>
                  <a:srgbClr val="C62828"/>
                </a:solidFill>
                <a:latin typeface="Arial" pitchFamily="34" charset="0"/>
                <a:ea typeface="Arial" pitchFamily="34" charset="-122"/>
                <a:cs typeface="Arial" pitchFamily="34" charset="-120"/>
              </a:rPr>
              <a:t>Remaining gap: </a:t>
            </a:r>
            <a:r>
              <a:rPr lang="en-US" sz="1000" dirty="0">
                <a:solidFill>
                  <a:srgbClr val="333333"/>
                </a:solidFill>
                <a:latin typeface="Arial" pitchFamily="34" charset="0"/>
                <a:ea typeface="Arial" pitchFamily="34" charset="-122"/>
                <a:cs typeface="Arial" pitchFamily="34" charset="-120"/>
              </a:rPr>
              <a:t>Status events are coarse-grained (job-level). No per-tool-call or per-reasoning-step events yet — users see progress but not which tool is executing.
</a:t>
            </a:r>
            <a:endParaRPr lang="en-US" sz="1000" dirty="0"/>
          </a:p>
          <a:p>
            <a:pPr marL="0" indent="0">
              <a:lnSpc>
                <a:spcPct val="110000"/>
              </a:lnSpc>
              <a:buNone/>
            </a:pPr>
            <a:r>
              <a:rPr lang="en-US" sz="1000" b="1" dirty="0">
                <a:solidFill>
                  <a:srgbClr val="333333"/>
                </a:solidFill>
                <a:latin typeface="Arial" pitchFamily="34" charset="0"/>
                <a:ea typeface="Arial" pitchFamily="34" charset="-122"/>
                <a:cs typeface="Arial" pitchFamily="34" charset="-120"/>
              </a:rPr>
              <a:t>Fix: </a:t>
            </a:r>
            <a:r>
              <a:rPr lang="en-US" sz="1000" dirty="0">
                <a:solidFill>
                  <a:srgbClr val="333333"/>
                </a:solidFill>
                <a:latin typeface="Arial" pitchFamily="34" charset="0"/>
                <a:ea typeface="Arial" pitchFamily="34" charset="-122"/>
                <a:cs typeface="Arial" pitchFamily="34" charset="-120"/>
              </a:rPr>
              <a:t>Emit fine-grained SSE events (tool_call_start, tool_result, reasoning_step) from within the ReAct loop. Add client-side event_type filter.
</a:t>
            </a:r>
            <a:endParaRPr lang="en-US" sz="1000" dirty="0"/>
          </a:p>
          <a:p>
            <a:pPr marL="0" indent="0">
              <a:lnSpc>
                <a:spcPct val="110000"/>
              </a:lnSpc>
              <a:buNone/>
            </a:pPr>
            <a:r>
              <a:rPr lang="en-US" sz="1000" dirty="0">
                <a:solidFill>
                  <a:srgbClr val="666666"/>
                </a:solidFill>
                <a:latin typeface="Arial" pitchFamily="34" charset="0"/>
                <a:ea typeface="Arial" pitchFamily="34" charset="-122"/>
                <a:cs typeface="Arial" pitchFamily="34" charset="-120"/>
              </a:rPr>
              <a:t>Effort: ~1 week (foundation done)   Impact: full transparency into agent reasoning</a:t>
            </a:r>
            <a:endParaRPr lang="en-US" sz="1000" dirty="0"/>
          </a:p>
        </p:txBody>
      </p:sp>
      <p:sp>
        <p:nvSpPr>
          <p:cNvPr id="8" name="Shape 6"/>
          <p:cNvSpPr/>
          <p:nvPr/>
        </p:nvSpPr>
        <p:spPr>
          <a:xfrm>
            <a:off x="4663440" y="1188720"/>
            <a:ext cx="3977640" cy="2852928"/>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4663440" y="1188720"/>
            <a:ext cx="3977640" cy="320040"/>
          </a:xfrm>
          <a:prstGeom prst="rect">
            <a:avLst/>
          </a:prstGeom>
          <a:solidFill>
            <a:srgbClr val="00796B"/>
          </a:solidFill>
          <a:ln/>
        </p:spPr>
        <p:txBody>
          <a:bodyPr/>
          <a:lstStyle/>
          <a:p>
            <a:endParaRPr lang="en-US"/>
          </a:p>
        </p:txBody>
      </p:sp>
      <p:sp>
        <p:nvSpPr>
          <p:cNvPr id="10" name="Text 8"/>
          <p:cNvSpPr/>
          <p:nvPr/>
        </p:nvSpPr>
        <p:spPr>
          <a:xfrm>
            <a:off x="4773168" y="1216152"/>
            <a:ext cx="37581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Memory Lifecycle — Wire Up Summarization</a:t>
            </a:r>
            <a:endParaRPr lang="en-US" sz="1200" dirty="0"/>
          </a:p>
        </p:txBody>
      </p:sp>
      <p:sp>
        <p:nvSpPr>
          <p:cNvPr id="11" name="Text 9"/>
          <p:cNvSpPr/>
          <p:nvPr/>
        </p:nvSpPr>
        <p:spPr>
          <a:xfrm>
            <a:off x="4773168" y="1572768"/>
            <a:ext cx="3758184" cy="2377440"/>
          </a:xfrm>
          <a:prstGeom prst="rect">
            <a:avLst/>
          </a:prstGeom>
          <a:noFill/>
          <a:ln/>
        </p:spPr>
        <p:txBody>
          <a:bodyPr wrap="square" lIns="0" tIns="0" rIns="0" bIns="0" rtlCol="0" anchor="t"/>
          <a:lstStyle/>
          <a:p>
            <a:pPr marL="0" indent="0">
              <a:lnSpc>
                <a:spcPct val="110000"/>
              </a:lnSpc>
              <a:buNone/>
            </a:pPr>
            <a:r>
              <a:rPr lang="en-US" sz="900" dirty="0">
                <a:solidFill>
                  <a:srgbClr val="999999"/>
                </a:solidFill>
                <a:latin typeface="Courier New" pitchFamily="34" charset="0"/>
                <a:ea typeface="Courier New" pitchFamily="34" charset="-122"/>
                <a:cs typeface="Courier New" pitchFamily="34" charset="-120"/>
              </a:rPr>
              <a:t>persistence/postgres/memory_v2.py (831 lines)
</a:t>
            </a:r>
            <a:endParaRPr lang="en-US" sz="1000" dirty="0"/>
          </a:p>
          <a:p>
            <a:pPr marL="0" indent="0">
              <a:lnSpc>
                <a:spcPct val="110000"/>
              </a:lnSpc>
              <a:buNone/>
            </a:pPr>
            <a:r>
              <a:rPr lang="en-US" sz="1000" b="1" dirty="0">
                <a:solidFill>
                  <a:srgbClr val="2E7D32"/>
                </a:solidFill>
                <a:latin typeface="Arial" pitchFamily="34" charset="0"/>
                <a:ea typeface="Arial" pitchFamily="34" charset="-122"/>
                <a:cs typeface="Arial" pitchFamily="34" charset="-120"/>
              </a:rPr>
              <a:t>Progress: </a:t>
            </a:r>
            <a:r>
              <a:rPr lang="en-US" sz="1000" dirty="0">
                <a:solidFill>
                  <a:srgbClr val="333333"/>
                </a:solidFill>
                <a:latin typeface="Arial" pitchFamily="34" charset="0"/>
                <a:ea typeface="Arial" pitchFamily="34" charset="-122"/>
                <a:cs typeface="Arial" pitchFamily="34" charset="-120"/>
              </a:rPr>
              <a:t>memory_v2.py adds episodes, importance/confidence scoring, TTL hints, supersession tracking, and provenance per turn.
</a:t>
            </a:r>
            <a:endParaRPr lang="en-US" sz="1000" dirty="0"/>
          </a:p>
          <a:p>
            <a:pPr marL="0" indent="0">
              <a:lnSpc>
                <a:spcPct val="110000"/>
              </a:lnSpc>
              <a:buNone/>
            </a:pPr>
            <a:r>
              <a:rPr lang="en-US" sz="1000" b="1" dirty="0">
                <a:solidFill>
                  <a:srgbClr val="C62828"/>
                </a:solidFill>
                <a:latin typeface="Arial" pitchFamily="34" charset="0"/>
                <a:ea typeface="Arial" pitchFamily="34" charset="-122"/>
                <a:cs typeface="Arial" pitchFamily="34" charset="-120"/>
              </a:rPr>
              <a:t>Remaining gap: </a:t>
            </a:r>
            <a:r>
              <a:rPr lang="en-US" sz="1000" dirty="0">
                <a:solidFill>
                  <a:srgbClr val="333333"/>
                </a:solidFill>
                <a:latin typeface="Arial" pitchFamily="34" charset="0"/>
                <a:ea typeface="Arial" pitchFamily="34" charset="-122"/>
                <a:cs typeface="Arial" pitchFamily="34" charset="-120"/>
              </a:rPr>
              <a:t>TTL hints are stored but no background reaper job enforces them. No LLM summarizer condenses old episodes.
</a:t>
            </a:r>
            <a:endParaRPr lang="en-US" sz="1000" dirty="0"/>
          </a:p>
          <a:p>
            <a:pPr marL="0" indent="0">
              <a:lnSpc>
                <a:spcPct val="110000"/>
              </a:lnSpc>
              <a:buNone/>
            </a:pPr>
            <a:r>
              <a:rPr lang="en-US" sz="1000" b="1" dirty="0">
                <a:solidFill>
                  <a:srgbClr val="333333"/>
                </a:solidFill>
                <a:latin typeface="Arial" pitchFamily="34" charset="0"/>
                <a:ea typeface="Arial" pitchFamily="34" charset="-122"/>
                <a:cs typeface="Arial" pitchFamily="34" charset="-120"/>
              </a:rPr>
              <a:t>Fix: </a:t>
            </a:r>
            <a:r>
              <a:rPr lang="en-US" sz="1000" dirty="0">
                <a:solidFill>
                  <a:srgbClr val="333333"/>
                </a:solidFill>
                <a:latin typeface="Arial" pitchFamily="34" charset="0"/>
                <a:ea typeface="Arial" pitchFamily="34" charset="-122"/>
                <a:cs typeface="Arial" pitchFamily="34" charset="-120"/>
              </a:rPr>
              <a:t>Add memory/reaper.py cron job that enforces TTL hints, and an async summarizer that condenses episode chains when context_builder approaches max_chars.
</a:t>
            </a:r>
            <a:endParaRPr lang="en-US" sz="1000" dirty="0"/>
          </a:p>
          <a:p>
            <a:pPr marL="0" indent="0">
              <a:lnSpc>
                <a:spcPct val="110000"/>
              </a:lnSpc>
              <a:buNone/>
            </a:pPr>
            <a:r>
              <a:rPr lang="en-US" sz="1000" dirty="0">
                <a:solidFill>
                  <a:srgbClr val="666666"/>
                </a:solidFill>
                <a:latin typeface="Arial" pitchFamily="34" charset="0"/>
                <a:ea typeface="Arial" pitchFamily="34" charset="-122"/>
                <a:cs typeface="Arial" pitchFamily="34" charset="-120"/>
              </a:rPr>
              <a:t>Effort: ~1 week (schema done)   Impact: prevents context overflow, enables long-lived sessions</a:t>
            </a:r>
            <a:endParaRPr lang="en-US" sz="1000" dirty="0"/>
          </a:p>
        </p:txBody>
      </p:sp>
      <p:sp>
        <p:nvSpPr>
          <p:cNvPr id="12" name="Text 10"/>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api/main.py, api/live_progress.py, api/status_tracker.py, persistence/postgres/memory_v2.py</a:t>
            </a:r>
            <a:endParaRPr lang="en-US" sz="9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Operational Hardening — 3 Production-Safety Features</a:t>
            </a:r>
            <a:endParaRPr lang="en-US" sz="2600" dirty="0"/>
          </a:p>
        </p:txBody>
      </p:sp>
      <p:sp>
        <p:nvSpPr>
          <p:cNvPr id="3" name="Text 1"/>
          <p:cNvSpPr/>
          <p:nvPr/>
        </p:nvSpPr>
        <p:spPr>
          <a:xfrm>
            <a:off x="502920" y="841248"/>
            <a:ext cx="8138160" cy="274320"/>
          </a:xfrm>
          <a:prstGeom prst="rect">
            <a:avLst/>
          </a:prstGeom>
          <a:noFill/>
          <a:ln/>
        </p:spPr>
        <p:txBody>
          <a:bodyPr wrap="square" lIns="0" tIns="0" rIns="0" bIns="0" rtlCol="0" anchor="ctr"/>
          <a:lstStyle/>
          <a:p>
            <a:pPr marL="0" indent="0">
              <a:buNone/>
            </a:pPr>
            <a:r>
              <a:rPr lang="en-US" sz="1050" dirty="0">
                <a:solidFill>
                  <a:srgbClr val="1B2A4A"/>
                </a:solidFill>
                <a:latin typeface="Arial" pitchFamily="34" charset="0"/>
                <a:ea typeface="Arial" pitchFamily="34" charset="-122"/>
                <a:cs typeface="Arial" pitchFamily="34" charset="-120"/>
              </a:rPr>
              <a:t>Three gaps that matter before opening this system to multiple users or teams. All build on existing infrastructure.</a:t>
            </a:r>
            <a:endParaRPr lang="en-US" sz="1050" dirty="0"/>
          </a:p>
        </p:txBody>
      </p:sp>
      <p:sp>
        <p:nvSpPr>
          <p:cNvPr id="4" name="Shape 2"/>
          <p:cNvSpPr/>
          <p:nvPr/>
        </p:nvSpPr>
        <p:spPr>
          <a:xfrm>
            <a:off x="502920" y="1188720"/>
            <a:ext cx="2590800" cy="265176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188720"/>
            <a:ext cx="2590800" cy="320040"/>
          </a:xfrm>
          <a:prstGeom prst="rect">
            <a:avLst/>
          </a:prstGeom>
          <a:solidFill>
            <a:srgbClr val="F9A825"/>
          </a:solidFill>
          <a:ln/>
        </p:spPr>
        <p:txBody>
          <a:bodyPr/>
          <a:lstStyle/>
          <a:p>
            <a:endParaRPr lang="en-US"/>
          </a:p>
        </p:txBody>
      </p:sp>
      <p:sp>
        <p:nvSpPr>
          <p:cNvPr id="6" name="Text 4"/>
          <p:cNvSpPr/>
          <p:nvPr/>
        </p:nvSpPr>
        <p:spPr>
          <a:xfrm>
            <a:off x="612648" y="1216152"/>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Rate Limiting — Generalize</a:t>
            </a:r>
            <a:endParaRPr lang="en-US" sz="1200" dirty="0"/>
          </a:p>
        </p:txBody>
      </p:sp>
      <p:sp>
        <p:nvSpPr>
          <p:cNvPr id="7" name="Text 5"/>
          <p:cNvSpPr/>
          <p:nvPr/>
        </p:nvSpPr>
        <p:spPr>
          <a:xfrm>
            <a:off x="612648" y="1572768"/>
            <a:ext cx="2371344" cy="2176272"/>
          </a:xfrm>
          <a:prstGeom prst="rect">
            <a:avLst/>
          </a:prstGeom>
          <a:noFill/>
          <a:ln/>
        </p:spPr>
        <p:txBody>
          <a:bodyPr wrap="square" lIns="0" tIns="0" rIns="0" bIns="0" rtlCol="0" anchor="t"/>
          <a:lstStyle/>
          <a:p>
            <a:pPr marL="0" indent="0">
              <a:lnSpc>
                <a:spcPct val="110000"/>
              </a:lnSpc>
              <a:buNone/>
            </a:pPr>
            <a:r>
              <a:rPr lang="en-US" sz="900" dirty="0">
                <a:solidFill>
                  <a:srgbClr val="999999"/>
                </a:solidFill>
                <a:latin typeface="Courier New" pitchFamily="34" charset="0"/>
                <a:ea typeface="Courier New" pitchFamily="34" charset="-122"/>
                <a:cs typeface="Courier New" pitchFamily="34" charset="-120"/>
              </a:rPr>
              <a:t>api/connector_security.py (partial)
</a:t>
            </a:r>
            <a:endParaRPr lang="en-US" sz="1000" dirty="0"/>
          </a:p>
          <a:p>
            <a:pPr marL="0" indent="0">
              <a:lnSpc>
                <a:spcPct val="110000"/>
              </a:lnSpc>
              <a:buNone/>
            </a:pPr>
            <a:r>
              <a:rPr lang="en-US" sz="1000" b="1" dirty="0">
                <a:solidFill>
                  <a:srgbClr val="2E7D32"/>
                </a:solidFill>
                <a:latin typeface="Arial" pitchFamily="34" charset="0"/>
                <a:ea typeface="Arial" pitchFamily="34" charset="-122"/>
                <a:cs typeface="Arial" pitchFamily="34" charset="-120"/>
              </a:rPr>
              <a:t>Progress: </a:t>
            </a:r>
            <a:r>
              <a:rPr lang="en-US" sz="1000" dirty="0">
                <a:solidFill>
                  <a:srgbClr val="333333"/>
                </a:solidFill>
                <a:latin typeface="Arial" pitchFamily="34" charset="0"/>
                <a:ea typeface="Arial" pitchFamily="34" charset="-122"/>
                <a:cs typeface="Arial" pitchFamily="34" charset="-120"/>
              </a:rPr>
              <a:t>connector_security.py enforces _enforce_publishable_rate_limit() on connector endpoints.
</a:t>
            </a:r>
            <a:endParaRPr lang="en-US" sz="1000" dirty="0"/>
          </a:p>
          <a:p>
            <a:pPr marL="0" indent="0">
              <a:lnSpc>
                <a:spcPct val="110000"/>
              </a:lnSpc>
              <a:buNone/>
            </a:pPr>
            <a:r>
              <a:rPr lang="en-US" sz="1000" b="1" dirty="0">
                <a:solidFill>
                  <a:srgbClr val="C62828"/>
                </a:solidFill>
                <a:latin typeface="Arial" pitchFamily="34" charset="0"/>
                <a:ea typeface="Arial" pitchFamily="34" charset="-122"/>
                <a:cs typeface="Arial" pitchFamily="34" charset="-120"/>
              </a:rPr>
              <a:t>Gap: </a:t>
            </a:r>
            <a:r>
              <a:rPr lang="en-US" sz="1000" dirty="0">
                <a:solidFill>
                  <a:srgbClr val="333333"/>
                </a:solidFill>
                <a:latin typeface="Arial" pitchFamily="34" charset="0"/>
                <a:ea typeface="Arial" pitchFamily="34" charset="-122"/>
                <a:cs typeface="Arial" pitchFamily="34" charset="-120"/>
              </a:rPr>
              <a:t>Rate limiting only covers connector routes. Main /v1/chat/completions and all other endpoints are unprotected.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Extend to global FastAPI middleware keyed by user_id+tenant_id across all routes. Add per-tenant quota tracking.
</a:t>
            </a:r>
            <a:endParaRPr lang="en-US" sz="1000" dirty="0"/>
          </a:p>
          <a:p>
            <a:pPr marL="0" indent="0">
              <a:lnSpc>
                <a:spcPct val="110000"/>
              </a:lnSpc>
              <a:buNone/>
            </a:pPr>
            <a:r>
              <a:rPr lang="en-US" sz="1000" b="1" dirty="0">
                <a:solidFill>
                  <a:srgbClr val="333333"/>
                </a:solidFill>
                <a:latin typeface="Arial" pitchFamily="34" charset="0"/>
                <a:ea typeface="Arial" pitchFamily="34" charset="-122"/>
                <a:cs typeface="Arial" pitchFamily="34" charset="-120"/>
              </a:rPr>
              <a:t>Effort: ~3 days (foundation done)</a:t>
            </a:r>
            <a:endParaRPr lang="en-US" sz="1000" dirty="0"/>
          </a:p>
        </p:txBody>
      </p:sp>
      <p:sp>
        <p:nvSpPr>
          <p:cNvPr id="8" name="Shape 6"/>
          <p:cNvSpPr/>
          <p:nvPr/>
        </p:nvSpPr>
        <p:spPr>
          <a:xfrm>
            <a:off x="3276600" y="1188720"/>
            <a:ext cx="2590800" cy="265176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3276600" y="1188720"/>
            <a:ext cx="2590800" cy="320040"/>
          </a:xfrm>
          <a:prstGeom prst="rect">
            <a:avLst/>
          </a:prstGeom>
          <a:solidFill>
            <a:srgbClr val="1B2A4A"/>
          </a:solidFill>
          <a:ln/>
        </p:spPr>
        <p:txBody>
          <a:bodyPr/>
          <a:lstStyle/>
          <a:p>
            <a:endParaRPr lang="en-US"/>
          </a:p>
        </p:txBody>
      </p:sp>
      <p:sp>
        <p:nvSpPr>
          <p:cNvPr id="10" name="Text 8"/>
          <p:cNvSpPr/>
          <p:nvPr/>
        </p:nvSpPr>
        <p:spPr>
          <a:xfrm>
            <a:off x="3386328" y="1216152"/>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Structured Audit Trail</a:t>
            </a:r>
            <a:endParaRPr lang="en-US" sz="1200" dirty="0"/>
          </a:p>
        </p:txBody>
      </p:sp>
      <p:sp>
        <p:nvSpPr>
          <p:cNvPr id="11" name="Text 9"/>
          <p:cNvSpPr/>
          <p:nvPr/>
        </p:nvSpPr>
        <p:spPr>
          <a:xfrm>
            <a:off x="3386328" y="1572768"/>
            <a:ext cx="2371344" cy="2176272"/>
          </a:xfrm>
          <a:prstGeom prst="rect">
            <a:avLst/>
          </a:prstGeom>
          <a:noFill/>
          <a:ln/>
        </p:spPr>
        <p:txBody>
          <a:bodyPr wrap="square" lIns="0" tIns="0" rIns="0" bIns="0" rtlCol="0" anchor="t"/>
          <a:lstStyle/>
          <a:p>
            <a:pPr marL="0" indent="0">
              <a:lnSpc>
                <a:spcPct val="110000"/>
              </a:lnSpc>
              <a:buNone/>
            </a:pPr>
            <a:r>
              <a:rPr lang="en-US" sz="900" dirty="0">
                <a:solidFill>
                  <a:srgbClr val="999999"/>
                </a:solidFill>
                <a:latin typeface="Courier New" pitchFamily="34" charset="0"/>
                <a:ea typeface="Courier New" pitchFamily="34" charset="-122"/>
                <a:cs typeface="Courier New" pitchFamily="34" charset="-120"/>
              </a:rPr>
              <a:t>runtime/kernel.py + api/main.py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RuntimeEventSink emits events but no structured per-turn AuditLogEntry captures full lineage: user → routing decision → tool calls → answer.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Extend TranscriptStore to write AuditLogEntry per turn. Add GET /v1/audit-log?conversation_id=X endpoint. Enables compliance review and session replay.
</a:t>
            </a:r>
            <a:endParaRPr lang="en-US" sz="1000" dirty="0"/>
          </a:p>
          <a:p>
            <a:pPr marL="0" indent="0">
              <a:lnSpc>
                <a:spcPct val="110000"/>
              </a:lnSpc>
              <a:buNone/>
            </a:pPr>
            <a:r>
              <a:rPr lang="en-US" sz="1000" b="1" dirty="0">
                <a:solidFill>
                  <a:srgbClr val="333333"/>
                </a:solidFill>
                <a:latin typeface="Arial" pitchFamily="34" charset="0"/>
                <a:ea typeface="Arial" pitchFamily="34" charset="-122"/>
                <a:cs typeface="Arial" pitchFamily="34" charset="-120"/>
              </a:rPr>
              <a:t>Effort: 1-2 weeks</a:t>
            </a:r>
            <a:endParaRPr lang="en-US" sz="1000" dirty="0"/>
          </a:p>
        </p:txBody>
      </p:sp>
      <p:sp>
        <p:nvSpPr>
          <p:cNvPr id="12" name="Shape 10"/>
          <p:cNvSpPr/>
          <p:nvPr/>
        </p:nvSpPr>
        <p:spPr>
          <a:xfrm>
            <a:off x="6050280" y="1188720"/>
            <a:ext cx="2590800" cy="265176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3" name="Shape 11"/>
          <p:cNvSpPr/>
          <p:nvPr/>
        </p:nvSpPr>
        <p:spPr>
          <a:xfrm>
            <a:off x="6050280" y="1188720"/>
            <a:ext cx="2590800" cy="320040"/>
          </a:xfrm>
          <a:prstGeom prst="rect">
            <a:avLst/>
          </a:prstGeom>
          <a:solidFill>
            <a:srgbClr val="00796B"/>
          </a:solidFill>
          <a:ln/>
        </p:spPr>
        <p:txBody>
          <a:bodyPr/>
          <a:lstStyle/>
          <a:p>
            <a:endParaRPr lang="en-US"/>
          </a:p>
        </p:txBody>
      </p:sp>
      <p:sp>
        <p:nvSpPr>
          <p:cNvPr id="14" name="Text 12"/>
          <p:cNvSpPr/>
          <p:nvPr/>
        </p:nvSpPr>
        <p:spPr>
          <a:xfrm>
            <a:off x="6160008" y="1216152"/>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Cross-Tenant Auth — Middleware</a:t>
            </a:r>
            <a:endParaRPr lang="en-US" sz="1200" dirty="0"/>
          </a:p>
        </p:txBody>
      </p:sp>
      <p:sp>
        <p:nvSpPr>
          <p:cNvPr id="15" name="Text 13"/>
          <p:cNvSpPr/>
          <p:nvPr/>
        </p:nvSpPr>
        <p:spPr>
          <a:xfrm>
            <a:off x="6160008" y="1572768"/>
            <a:ext cx="2371344" cy="2176272"/>
          </a:xfrm>
          <a:prstGeom prst="rect">
            <a:avLst/>
          </a:prstGeom>
          <a:noFill/>
          <a:ln/>
        </p:spPr>
        <p:txBody>
          <a:bodyPr wrap="square" lIns="0" tIns="0" rIns="0" bIns="0" rtlCol="0" anchor="t"/>
          <a:lstStyle/>
          <a:p>
            <a:pPr marL="0" indent="0">
              <a:lnSpc>
                <a:spcPct val="110000"/>
              </a:lnSpc>
              <a:buNone/>
            </a:pPr>
            <a:r>
              <a:rPr lang="en-US" sz="900" dirty="0">
                <a:solidFill>
                  <a:srgbClr val="999999"/>
                </a:solidFill>
                <a:latin typeface="Courier New" pitchFamily="34" charset="0"/>
                <a:ea typeface="Courier New" pitchFamily="34" charset="-122"/>
                <a:cs typeface="Courier New" pitchFamily="34" charset="-120"/>
              </a:rPr>
              <a:t>authz/service.py (267 lines, partial)
</a:t>
            </a:r>
            <a:endParaRPr lang="en-US" sz="1000" dirty="0"/>
          </a:p>
          <a:p>
            <a:pPr marL="0" indent="0">
              <a:lnSpc>
                <a:spcPct val="110000"/>
              </a:lnSpc>
              <a:buNone/>
            </a:pPr>
            <a:r>
              <a:rPr lang="en-US" sz="1000" b="1" dirty="0">
                <a:solidFill>
                  <a:srgbClr val="2E7D32"/>
                </a:solidFill>
                <a:latin typeface="Arial" pitchFamily="34" charset="0"/>
                <a:ea typeface="Arial" pitchFamily="34" charset="-122"/>
                <a:cs typeface="Arial" pitchFamily="34" charset="-120"/>
              </a:rPr>
              <a:t>Progress: </a:t>
            </a:r>
            <a:r>
              <a:rPr lang="en-US" sz="1000" dirty="0">
                <a:solidFill>
                  <a:srgbClr val="333333"/>
                </a:solidFill>
                <a:latin typeface="Arial" pitchFamily="34" charset="0"/>
                <a:ea typeface="Arial" pitchFamily="34" charset="-122"/>
                <a:cs typeface="Arial" pitchFamily="34" charset="-120"/>
              </a:rPr>
              <a:t>authz/service.py provides RBAC with principal/role membership and tenant-scoped resource access control.
</a:t>
            </a:r>
            <a:endParaRPr lang="en-US" sz="1000" dirty="0"/>
          </a:p>
          <a:p>
            <a:pPr marL="0" indent="0">
              <a:lnSpc>
                <a:spcPct val="110000"/>
              </a:lnSpc>
              <a:buNone/>
            </a:pPr>
            <a:r>
              <a:rPr lang="en-US" sz="1000" b="1" dirty="0">
                <a:solidFill>
                  <a:srgbClr val="C62828"/>
                </a:solidFill>
                <a:latin typeface="Arial" pitchFamily="34" charset="0"/>
                <a:ea typeface="Arial" pitchFamily="34" charset="-122"/>
                <a:cs typeface="Arial" pitchFamily="34" charset="-120"/>
              </a:rPr>
              <a:t>Gap: </a:t>
            </a:r>
            <a:r>
              <a:rPr lang="en-US" sz="1000" dirty="0">
                <a:solidFill>
                  <a:srgbClr val="333333"/>
                </a:solidFill>
                <a:latin typeface="Arial" pitchFamily="34" charset="0"/>
                <a:ea typeface="Arial" pitchFamily="34" charset="-122"/>
                <a:cs typeface="Arial" pitchFamily="34" charset="-120"/>
              </a:rPr>
              <a:t>RBAC is service-layer only — not enforced as FastAPI middleware. No early rejection at API boundary.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Lift authz checks into FastAPI dependency so every request validates tenant claims before reaching handlers.
</a:t>
            </a:r>
            <a:endParaRPr lang="en-US" sz="1000" dirty="0"/>
          </a:p>
          <a:p>
            <a:pPr marL="0" indent="0">
              <a:lnSpc>
                <a:spcPct val="110000"/>
              </a:lnSpc>
              <a:buNone/>
            </a:pPr>
            <a:r>
              <a:rPr lang="en-US" sz="1000" b="1" dirty="0">
                <a:solidFill>
                  <a:srgbClr val="333333"/>
                </a:solidFill>
                <a:latin typeface="Arial" pitchFamily="34" charset="0"/>
                <a:ea typeface="Arial" pitchFamily="34" charset="-122"/>
                <a:cs typeface="Arial" pitchFamily="34" charset="-120"/>
              </a:rPr>
              <a:t>Effort: ~3 days (service layer done)</a:t>
            </a:r>
            <a:endParaRPr lang="en-US" sz="1000" dirty="0"/>
          </a:p>
        </p:txBody>
      </p:sp>
      <p:sp>
        <p:nvSpPr>
          <p:cNvPr id="16" name="Shape 14"/>
          <p:cNvSpPr/>
          <p:nvPr/>
        </p:nvSpPr>
        <p:spPr>
          <a:xfrm>
            <a:off x="502920" y="3931920"/>
            <a:ext cx="8138160" cy="365760"/>
          </a:xfrm>
          <a:prstGeom prst="rect">
            <a:avLst/>
          </a:prstGeom>
          <a:solidFill>
            <a:srgbClr val="E0F7FA"/>
          </a:solidFill>
          <a:ln w="12700">
            <a:solidFill>
              <a:srgbClr val="0097A7"/>
            </a:solidFill>
            <a:prstDash val="solid"/>
          </a:ln>
        </p:spPr>
        <p:txBody>
          <a:bodyPr/>
          <a:lstStyle/>
          <a:p>
            <a:endParaRPr lang="en-US"/>
          </a:p>
        </p:txBody>
      </p:sp>
      <p:sp>
        <p:nvSpPr>
          <p:cNvPr id="17" name="Text 15"/>
          <p:cNvSpPr/>
          <p:nvPr/>
        </p:nvSpPr>
        <p:spPr>
          <a:xfrm>
            <a:off x="594360" y="3931920"/>
            <a:ext cx="7955280" cy="36576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Rate limiting and tenant auth are partially built — close the gaps to middleware enforcement. Audit trail remains the largest compliance blocker.</a:t>
            </a:r>
            <a:endParaRPr lang="en-US" sz="1000" dirty="0"/>
          </a:p>
        </p:txBody>
      </p:sp>
      <p:sp>
        <p:nvSpPr>
          <p:cNvPr id="18" name="Text 16"/>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api/connector_security.py, authz/service.py, runtime/kernel.py, runtime/transcript_store.py</a:t>
            </a:r>
            <a:endParaRPr lang="en-US" sz="9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Advanced Capabilities — 3 Architectural Extensions</a:t>
            </a:r>
            <a:endParaRPr lang="en-US" sz="2600" dirty="0"/>
          </a:p>
        </p:txBody>
      </p:sp>
      <p:sp>
        <p:nvSpPr>
          <p:cNvPr id="3" name="Text 1"/>
          <p:cNvSpPr/>
          <p:nvPr/>
        </p:nvSpPr>
        <p:spPr>
          <a:xfrm>
            <a:off x="502920" y="841248"/>
            <a:ext cx="8138160" cy="274320"/>
          </a:xfrm>
          <a:prstGeom prst="rect">
            <a:avLst/>
          </a:prstGeom>
          <a:noFill/>
          <a:ln/>
        </p:spPr>
        <p:txBody>
          <a:bodyPr wrap="square" lIns="0" tIns="0" rIns="0" bIns="0" rtlCol="0" anchor="ctr"/>
          <a:lstStyle/>
          <a:p>
            <a:pPr marL="0" indent="0">
              <a:buNone/>
            </a:pPr>
            <a:r>
              <a:rPr lang="en-US" sz="1050" dirty="0">
                <a:solidFill>
                  <a:srgbClr val="1B2A4A"/>
                </a:solidFill>
                <a:latin typeface="Arial" pitchFamily="34" charset="0"/>
                <a:ea typeface="Arial" pitchFamily="34" charset="-122"/>
                <a:cs typeface="Arial" pitchFamily="34" charset="-120"/>
              </a:rPr>
              <a:t>Three larger investments that unlock new integration patterns, multi-agent workflows, and model iteration.</a:t>
            </a:r>
            <a:endParaRPr lang="en-US" sz="1050" dirty="0"/>
          </a:p>
        </p:txBody>
      </p:sp>
      <p:sp>
        <p:nvSpPr>
          <p:cNvPr id="4" name="Shape 2"/>
          <p:cNvSpPr/>
          <p:nvPr/>
        </p:nvSpPr>
        <p:spPr>
          <a:xfrm>
            <a:off x="502920" y="1188720"/>
            <a:ext cx="2560320" cy="283464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188720"/>
            <a:ext cx="2560320" cy="320040"/>
          </a:xfrm>
          <a:prstGeom prst="rect">
            <a:avLst/>
          </a:prstGeom>
          <a:solidFill>
            <a:srgbClr val="1B2A4A"/>
          </a:solidFill>
          <a:ln/>
        </p:spPr>
        <p:txBody>
          <a:bodyPr/>
          <a:lstStyle/>
          <a:p>
            <a:endParaRPr lang="en-US"/>
          </a:p>
        </p:txBody>
      </p:sp>
      <p:sp>
        <p:nvSpPr>
          <p:cNvPr id="6" name="Text 4"/>
          <p:cNvSpPr/>
          <p:nvPr/>
        </p:nvSpPr>
        <p:spPr>
          <a:xfrm>
            <a:off x="612648" y="1216152"/>
            <a:ext cx="234086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Webhook Notifications for Jobs</a:t>
            </a:r>
            <a:endParaRPr lang="en-US" sz="1200" dirty="0"/>
          </a:p>
        </p:txBody>
      </p:sp>
      <p:sp>
        <p:nvSpPr>
          <p:cNvPr id="7" name="Text 5"/>
          <p:cNvSpPr/>
          <p:nvPr/>
        </p:nvSpPr>
        <p:spPr>
          <a:xfrm>
            <a:off x="612648" y="1572768"/>
            <a:ext cx="2340864" cy="2359152"/>
          </a:xfrm>
          <a:prstGeom prst="rect">
            <a:avLst/>
          </a:prstGeom>
          <a:noFill/>
          <a:ln/>
        </p:spPr>
        <p:txBody>
          <a:bodyPr wrap="square" lIns="0" tIns="0" rIns="0" bIns="0" rtlCol="0" anchor="t"/>
          <a:lstStyle/>
          <a:p>
            <a:pPr marL="0" indent="0">
              <a:lnSpc>
                <a:spcPct val="110000"/>
              </a:lnSpc>
              <a:buNone/>
            </a:pPr>
            <a:r>
              <a:rPr lang="en-US" sz="900" dirty="0">
                <a:solidFill>
                  <a:srgbClr val="999999"/>
                </a:solidFill>
                <a:latin typeface="Courier New" pitchFamily="34" charset="0"/>
                <a:ea typeface="Courier New" pitchFamily="34" charset="-122"/>
                <a:cs typeface="Courier New" pitchFamily="34" charset="-120"/>
              </a:rPr>
              <a:t>runtime/job_manager.py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Clients must poll /v1/jobs/{job_id} to check if a background coordinator job completed — no push notification.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Add JobWebhookConfig to Settings (webhook_urls dict). On job terminal state, RuntimeJobManager fires httpx POST with JobRecord payload + HMAC signature.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Enables Zapier/n8n/Slack integrations to trigger when an agent job finishes.
</a:t>
            </a:r>
            <a:endParaRPr lang="en-US" sz="1000" dirty="0"/>
          </a:p>
          <a:p>
            <a:pPr marL="0" indent="0">
              <a:lnSpc>
                <a:spcPct val="110000"/>
              </a:lnSpc>
              <a:buNone/>
            </a:pPr>
            <a:r>
              <a:rPr lang="en-US" sz="1000" b="1" dirty="0">
                <a:solidFill>
                  <a:srgbClr val="333333"/>
                </a:solidFill>
                <a:latin typeface="Arial" pitchFamily="34" charset="0"/>
                <a:ea typeface="Arial" pitchFamily="34" charset="-122"/>
                <a:cs typeface="Arial" pitchFamily="34" charset="-120"/>
              </a:rPr>
              <a:t>Effort: 1-2 weeks</a:t>
            </a:r>
            <a:endParaRPr lang="en-US" sz="1000" dirty="0"/>
          </a:p>
        </p:txBody>
      </p:sp>
      <p:sp>
        <p:nvSpPr>
          <p:cNvPr id="8" name="Shape 6"/>
          <p:cNvSpPr/>
          <p:nvPr/>
        </p:nvSpPr>
        <p:spPr>
          <a:xfrm>
            <a:off x="3246120" y="1188720"/>
            <a:ext cx="2834640" cy="283464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3246120" y="1188720"/>
            <a:ext cx="2834640" cy="320040"/>
          </a:xfrm>
          <a:prstGeom prst="rect">
            <a:avLst/>
          </a:prstGeom>
          <a:solidFill>
            <a:srgbClr val="00796B"/>
          </a:solidFill>
          <a:ln/>
        </p:spPr>
        <p:txBody>
          <a:bodyPr/>
          <a:lstStyle/>
          <a:p>
            <a:endParaRPr lang="en-US"/>
          </a:p>
        </p:txBody>
      </p:sp>
      <p:sp>
        <p:nvSpPr>
          <p:cNvPr id="10" name="Text 8"/>
          <p:cNvSpPr/>
          <p:nvPr/>
        </p:nvSpPr>
        <p:spPr>
          <a:xfrm>
            <a:off x="3355848" y="1216152"/>
            <a:ext cx="26151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Automated Eval &amp; Regression Harness</a:t>
            </a:r>
            <a:endParaRPr lang="en-US" sz="1200" dirty="0"/>
          </a:p>
        </p:txBody>
      </p:sp>
      <p:sp>
        <p:nvSpPr>
          <p:cNvPr id="11" name="Text 9"/>
          <p:cNvSpPr/>
          <p:nvPr/>
        </p:nvSpPr>
        <p:spPr>
          <a:xfrm>
            <a:off x="3355848" y="1572768"/>
            <a:ext cx="2615184" cy="2359152"/>
          </a:xfrm>
          <a:prstGeom prst="rect">
            <a:avLst/>
          </a:prstGeom>
          <a:noFill/>
          <a:ln/>
        </p:spPr>
        <p:txBody>
          <a:bodyPr wrap="square" lIns="0" tIns="0" rIns="0" bIns="0" rtlCol="0" anchor="t"/>
          <a:lstStyle/>
          <a:p>
            <a:pPr marL="0" indent="0">
              <a:lnSpc>
                <a:spcPct val="110000"/>
              </a:lnSpc>
              <a:buNone/>
            </a:pPr>
            <a:r>
              <a:rPr lang="en-US" sz="900" dirty="0">
                <a:solidFill>
                  <a:srgbClr val="999999"/>
                </a:solidFill>
                <a:latin typeface="Courier New" pitchFamily="34" charset="0"/>
                <a:ea typeface="Courier New" pitchFamily="34" charset="-122"/>
                <a:cs typeface="Courier New" pitchFamily="34" charset="-120"/>
              </a:rPr>
              <a:t>benchmark/ + runtime/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benchmark/defense_corpus.py is skeletal. No continuous evaluation of agent quality across routing, retrieval, and synthesis.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Build benchmark/eval_harness.py with golden-set test cases per agent mode. Run nightly: measure routing accuracy, retrieval recall, answer quality (LLM-as-judge). Alert on regressions.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Agentic best practice: every agent system needs automated evals to catch silent quality degradation.
</a:t>
            </a:r>
            <a:endParaRPr lang="en-US" sz="1000" dirty="0"/>
          </a:p>
          <a:p>
            <a:pPr marL="0" indent="0">
              <a:lnSpc>
                <a:spcPct val="110000"/>
              </a:lnSpc>
              <a:buNone/>
            </a:pPr>
            <a:r>
              <a:rPr lang="en-US" sz="1000" b="1" dirty="0">
                <a:solidFill>
                  <a:srgbClr val="333333"/>
                </a:solidFill>
                <a:latin typeface="Arial" pitchFamily="34" charset="0"/>
                <a:ea typeface="Arial" pitchFamily="34" charset="-122"/>
                <a:cs typeface="Arial" pitchFamily="34" charset="-120"/>
              </a:rPr>
              <a:t>Effort: 3-4 weeks</a:t>
            </a:r>
            <a:endParaRPr lang="en-US" sz="1000" dirty="0"/>
          </a:p>
        </p:txBody>
      </p:sp>
      <p:sp>
        <p:nvSpPr>
          <p:cNvPr id="12" name="Shape 10"/>
          <p:cNvSpPr/>
          <p:nvPr/>
        </p:nvSpPr>
        <p:spPr>
          <a:xfrm>
            <a:off x="6263640" y="1188720"/>
            <a:ext cx="2560320" cy="283464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3" name="Shape 11"/>
          <p:cNvSpPr/>
          <p:nvPr/>
        </p:nvSpPr>
        <p:spPr>
          <a:xfrm>
            <a:off x="6263640" y="1188720"/>
            <a:ext cx="2560320" cy="320040"/>
          </a:xfrm>
          <a:prstGeom prst="rect">
            <a:avLst/>
          </a:prstGeom>
          <a:solidFill>
            <a:srgbClr val="F9A825"/>
          </a:solidFill>
          <a:ln/>
        </p:spPr>
        <p:txBody>
          <a:bodyPr/>
          <a:lstStyle/>
          <a:p>
            <a:endParaRPr lang="en-US"/>
          </a:p>
        </p:txBody>
      </p:sp>
      <p:sp>
        <p:nvSpPr>
          <p:cNvPr id="14" name="Text 12"/>
          <p:cNvSpPr/>
          <p:nvPr/>
        </p:nvSpPr>
        <p:spPr>
          <a:xfrm>
            <a:off x="6373368" y="1216152"/>
            <a:ext cx="234086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A/B Model Testing Framework</a:t>
            </a:r>
            <a:endParaRPr lang="en-US" sz="1200" dirty="0"/>
          </a:p>
        </p:txBody>
      </p:sp>
      <p:sp>
        <p:nvSpPr>
          <p:cNvPr id="15" name="Text 13"/>
          <p:cNvSpPr/>
          <p:nvPr/>
        </p:nvSpPr>
        <p:spPr>
          <a:xfrm>
            <a:off x="6373368" y="1572768"/>
            <a:ext cx="2340864" cy="2359152"/>
          </a:xfrm>
          <a:prstGeom prst="rect">
            <a:avLst/>
          </a:prstGeom>
          <a:noFill/>
          <a:ln/>
        </p:spPr>
        <p:txBody>
          <a:bodyPr wrap="square" lIns="0" tIns="0" rIns="0" bIns="0" rtlCol="0" anchor="t"/>
          <a:lstStyle/>
          <a:p>
            <a:pPr marL="0" indent="0">
              <a:lnSpc>
                <a:spcPct val="110000"/>
              </a:lnSpc>
              <a:buNone/>
            </a:pPr>
            <a:r>
              <a:rPr lang="en-US" sz="900" dirty="0">
                <a:solidFill>
                  <a:srgbClr val="999999"/>
                </a:solidFill>
                <a:latin typeface="Courier New" pitchFamily="34" charset="0"/>
                <a:ea typeface="Courier New" pitchFamily="34" charset="-122"/>
                <a:cs typeface="Courier New" pitchFamily="34" charset="-120"/>
              </a:rPr>
              <a:t>api/main.py + providers/factory.py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No way to run two models on the same query and compare quality. Cannot safely roll out a new model without risking production regressions.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Add POST /v1/experiments that forks execution with model_a and model_b, stores both responses, tracks user preference via thumbs up/down. Report via GET /v1/experiments.
</a:t>
            </a:r>
            <a:endParaRPr lang="en-US" sz="1000" dirty="0"/>
          </a:p>
          <a:p>
            <a:pPr marL="0" indent="0">
              <a:lnSpc>
                <a:spcPct val="110000"/>
              </a:lnSpc>
              <a:buNone/>
            </a:pPr>
            <a:r>
              <a:rPr lang="en-US" sz="1000" dirty="0">
                <a:solidFill>
                  <a:srgbClr val="333333"/>
                </a:solidFill>
                <a:latin typeface="Arial" pitchFamily="34" charset="0"/>
                <a:ea typeface="Arial" pitchFamily="34" charset="-122"/>
                <a:cs typeface="Arial" pitchFamily="34" charset="-120"/>
              </a:rPr>
              <a:t>Enables data-driven model selection.
</a:t>
            </a:r>
            <a:endParaRPr lang="en-US" sz="1000" dirty="0"/>
          </a:p>
          <a:p>
            <a:pPr marL="0" indent="0">
              <a:lnSpc>
                <a:spcPct val="110000"/>
              </a:lnSpc>
              <a:buNone/>
            </a:pPr>
            <a:r>
              <a:rPr lang="en-US" sz="1000" b="1" dirty="0">
                <a:solidFill>
                  <a:srgbClr val="333333"/>
                </a:solidFill>
                <a:latin typeface="Arial" pitchFamily="34" charset="0"/>
                <a:ea typeface="Arial" pitchFamily="34" charset="-122"/>
                <a:cs typeface="Arial" pitchFamily="34" charset="-120"/>
              </a:rPr>
              <a:t>Effort: 3-4 weeks</a:t>
            </a:r>
            <a:endParaRPr lang="en-US" sz="1000" dirty="0"/>
          </a:p>
        </p:txBody>
      </p:sp>
      <p:sp>
        <p:nvSpPr>
          <p:cNvPr id="16" name="Text 14"/>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runtime/job_manager.py, benchmark/, api/main.py, providers/factory.py</a:t>
            </a:r>
            <a:endParaRPr lang="en-US" sz="90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Feature Roadmap — All 13 Improvements</a:t>
            </a:r>
            <a:endParaRPr lang="en-US" sz="2600" dirty="0"/>
          </a:p>
        </p:txBody>
      </p:sp>
      <p:sp>
        <p:nvSpPr>
          <p:cNvPr id="3" name="Shape 1"/>
          <p:cNvSpPr/>
          <p:nvPr/>
        </p:nvSpPr>
        <p:spPr>
          <a:xfrm>
            <a:off x="502920" y="804672"/>
            <a:ext cx="3931920" cy="237744"/>
          </a:xfrm>
          <a:prstGeom prst="rect">
            <a:avLst/>
          </a:prstGeom>
          <a:solidFill>
            <a:srgbClr val="1B2A4A"/>
          </a:solidFill>
          <a:ln/>
        </p:spPr>
        <p:txBody>
          <a:bodyPr/>
          <a:lstStyle/>
          <a:p>
            <a:endParaRPr lang="en-US"/>
          </a:p>
        </p:txBody>
      </p:sp>
      <p:sp>
        <p:nvSpPr>
          <p:cNvPr id="4" name="Text 2"/>
          <p:cNvSpPr/>
          <p:nvPr/>
        </p:nvSpPr>
        <p:spPr>
          <a:xfrm>
            <a:off x="576072" y="804672"/>
            <a:ext cx="2103120" cy="237744"/>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Feature</a:t>
            </a:r>
            <a:endParaRPr lang="en-US" sz="900" dirty="0"/>
          </a:p>
        </p:txBody>
      </p:sp>
      <p:sp>
        <p:nvSpPr>
          <p:cNvPr id="5" name="Text 3"/>
          <p:cNvSpPr/>
          <p:nvPr/>
        </p:nvSpPr>
        <p:spPr>
          <a:xfrm>
            <a:off x="2697480" y="804672"/>
            <a:ext cx="1097280" cy="237744"/>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File / Module</a:t>
            </a:r>
            <a:endParaRPr lang="en-US" sz="900" dirty="0"/>
          </a:p>
        </p:txBody>
      </p:sp>
      <p:sp>
        <p:nvSpPr>
          <p:cNvPr id="6" name="Text 4"/>
          <p:cNvSpPr/>
          <p:nvPr/>
        </p:nvSpPr>
        <p:spPr>
          <a:xfrm>
            <a:off x="3886200" y="804672"/>
            <a:ext cx="548640"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Effort</a:t>
            </a:r>
            <a:endParaRPr lang="en-US" sz="900" dirty="0"/>
          </a:p>
        </p:txBody>
      </p:sp>
      <p:sp>
        <p:nvSpPr>
          <p:cNvPr id="7" name="Shape 5"/>
          <p:cNvSpPr/>
          <p:nvPr/>
        </p:nvSpPr>
        <p:spPr>
          <a:xfrm>
            <a:off x="4709160" y="804672"/>
            <a:ext cx="3931920" cy="237744"/>
          </a:xfrm>
          <a:prstGeom prst="rect">
            <a:avLst/>
          </a:prstGeom>
          <a:solidFill>
            <a:srgbClr val="1B2A4A"/>
          </a:solidFill>
          <a:ln/>
        </p:spPr>
        <p:txBody>
          <a:bodyPr/>
          <a:lstStyle/>
          <a:p>
            <a:endParaRPr lang="en-US"/>
          </a:p>
        </p:txBody>
      </p:sp>
      <p:sp>
        <p:nvSpPr>
          <p:cNvPr id="8" name="Text 6"/>
          <p:cNvSpPr/>
          <p:nvPr/>
        </p:nvSpPr>
        <p:spPr>
          <a:xfrm>
            <a:off x="4782312" y="804672"/>
            <a:ext cx="2103120" cy="237744"/>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Feature</a:t>
            </a:r>
            <a:endParaRPr lang="en-US" sz="900" dirty="0"/>
          </a:p>
        </p:txBody>
      </p:sp>
      <p:sp>
        <p:nvSpPr>
          <p:cNvPr id="9" name="Text 7"/>
          <p:cNvSpPr/>
          <p:nvPr/>
        </p:nvSpPr>
        <p:spPr>
          <a:xfrm>
            <a:off x="6903720" y="804672"/>
            <a:ext cx="1097280" cy="237744"/>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File / Module</a:t>
            </a:r>
            <a:endParaRPr lang="en-US" sz="900" dirty="0"/>
          </a:p>
        </p:txBody>
      </p:sp>
      <p:sp>
        <p:nvSpPr>
          <p:cNvPr id="10" name="Text 8"/>
          <p:cNvSpPr/>
          <p:nvPr/>
        </p:nvSpPr>
        <p:spPr>
          <a:xfrm>
            <a:off x="8092440" y="804672"/>
            <a:ext cx="548640" cy="237744"/>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Effort</a:t>
            </a:r>
            <a:endParaRPr lang="en-US" sz="900" dirty="0"/>
          </a:p>
        </p:txBody>
      </p:sp>
      <p:sp>
        <p:nvSpPr>
          <p:cNvPr id="11" name="Shape 9"/>
          <p:cNvSpPr/>
          <p:nvPr/>
        </p:nvSpPr>
        <p:spPr>
          <a:xfrm>
            <a:off x="502920" y="1078992"/>
            <a:ext cx="2194560" cy="310896"/>
          </a:xfrm>
          <a:prstGeom prst="rect">
            <a:avLst/>
          </a:prstGeom>
          <a:solidFill>
            <a:srgbClr val="F5F5F5"/>
          </a:solidFill>
          <a:ln w="3810">
            <a:solidFill>
              <a:srgbClr val="F0F0F0"/>
            </a:solidFill>
            <a:prstDash val="solid"/>
          </a:ln>
        </p:spPr>
        <p:txBody>
          <a:bodyPr/>
          <a:lstStyle/>
          <a:p>
            <a:endParaRPr lang="en-US"/>
          </a:p>
        </p:txBody>
      </p:sp>
      <p:sp>
        <p:nvSpPr>
          <p:cNvPr id="12" name="Text 10"/>
          <p:cNvSpPr/>
          <p:nvPr/>
        </p:nvSpPr>
        <p:spPr>
          <a:xfrm>
            <a:off x="557784" y="1078992"/>
            <a:ext cx="2084832" cy="310896"/>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Conversation Export</a:t>
            </a:r>
            <a:endParaRPr lang="en-US" sz="850" dirty="0"/>
          </a:p>
        </p:txBody>
      </p:sp>
      <p:sp>
        <p:nvSpPr>
          <p:cNvPr id="13" name="Shape 11"/>
          <p:cNvSpPr/>
          <p:nvPr/>
        </p:nvSpPr>
        <p:spPr>
          <a:xfrm>
            <a:off x="2697480" y="1078992"/>
            <a:ext cx="1188720" cy="310896"/>
          </a:xfrm>
          <a:prstGeom prst="rect">
            <a:avLst/>
          </a:prstGeom>
          <a:solidFill>
            <a:srgbClr val="F5F5F5"/>
          </a:solidFill>
          <a:ln w="3810">
            <a:solidFill>
              <a:srgbClr val="F0F0F0"/>
            </a:solidFill>
            <a:prstDash val="solid"/>
          </a:ln>
        </p:spPr>
        <p:txBody>
          <a:bodyPr/>
          <a:lstStyle/>
          <a:p>
            <a:endParaRPr lang="en-US"/>
          </a:p>
        </p:txBody>
      </p:sp>
      <p:sp>
        <p:nvSpPr>
          <p:cNvPr id="14" name="Text 12"/>
          <p:cNvSpPr/>
          <p:nvPr/>
        </p:nvSpPr>
        <p:spPr>
          <a:xfrm>
            <a:off x="2743200" y="1078992"/>
            <a:ext cx="1097280" cy="310896"/>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api/main.py</a:t>
            </a:r>
            <a:endParaRPr lang="en-US" sz="800" dirty="0"/>
          </a:p>
        </p:txBody>
      </p:sp>
      <p:sp>
        <p:nvSpPr>
          <p:cNvPr id="15" name="Shape 13"/>
          <p:cNvSpPr/>
          <p:nvPr/>
        </p:nvSpPr>
        <p:spPr>
          <a:xfrm>
            <a:off x="3886200" y="1078992"/>
            <a:ext cx="548640" cy="310896"/>
          </a:xfrm>
          <a:prstGeom prst="rect">
            <a:avLst/>
          </a:prstGeom>
          <a:solidFill>
            <a:srgbClr val="2E7D32"/>
          </a:solidFill>
          <a:ln/>
        </p:spPr>
        <p:txBody>
          <a:bodyPr/>
          <a:lstStyle/>
          <a:p>
            <a:endParaRPr lang="en-US"/>
          </a:p>
        </p:txBody>
      </p:sp>
      <p:sp>
        <p:nvSpPr>
          <p:cNvPr id="16" name="Text 14"/>
          <p:cNvSpPr/>
          <p:nvPr/>
        </p:nvSpPr>
        <p:spPr>
          <a:xfrm>
            <a:off x="3913632" y="1078992"/>
            <a:ext cx="49377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~1d</a:t>
            </a:r>
            <a:endParaRPr lang="en-US" sz="800" dirty="0"/>
          </a:p>
        </p:txBody>
      </p:sp>
      <p:sp>
        <p:nvSpPr>
          <p:cNvPr id="17" name="Shape 15"/>
          <p:cNvSpPr/>
          <p:nvPr/>
        </p:nvSpPr>
        <p:spPr>
          <a:xfrm>
            <a:off x="502920" y="1389888"/>
            <a:ext cx="2194560" cy="310896"/>
          </a:xfrm>
          <a:prstGeom prst="rect">
            <a:avLst/>
          </a:prstGeom>
          <a:solidFill>
            <a:srgbClr val="FFFFFF"/>
          </a:solidFill>
          <a:ln w="3810">
            <a:solidFill>
              <a:srgbClr val="F0F0F0"/>
            </a:solidFill>
            <a:prstDash val="solid"/>
          </a:ln>
        </p:spPr>
        <p:txBody>
          <a:bodyPr/>
          <a:lstStyle/>
          <a:p>
            <a:endParaRPr lang="en-US"/>
          </a:p>
        </p:txBody>
      </p:sp>
      <p:sp>
        <p:nvSpPr>
          <p:cNvPr id="18" name="Text 16"/>
          <p:cNvSpPr/>
          <p:nvPr/>
        </p:nvSpPr>
        <p:spPr>
          <a:xfrm>
            <a:off x="557784" y="1389888"/>
            <a:ext cx="2084832" cy="310896"/>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History Pagination</a:t>
            </a:r>
            <a:endParaRPr lang="en-US" sz="850" dirty="0"/>
          </a:p>
        </p:txBody>
      </p:sp>
      <p:sp>
        <p:nvSpPr>
          <p:cNvPr id="19" name="Shape 17"/>
          <p:cNvSpPr/>
          <p:nvPr/>
        </p:nvSpPr>
        <p:spPr>
          <a:xfrm>
            <a:off x="2697480" y="1389888"/>
            <a:ext cx="1188720" cy="310896"/>
          </a:xfrm>
          <a:prstGeom prst="rect">
            <a:avLst/>
          </a:prstGeom>
          <a:solidFill>
            <a:srgbClr val="FFFFFF"/>
          </a:solidFill>
          <a:ln w="3810">
            <a:solidFill>
              <a:srgbClr val="F0F0F0"/>
            </a:solidFill>
            <a:prstDash val="solid"/>
          </a:ln>
        </p:spPr>
        <p:txBody>
          <a:bodyPr/>
          <a:lstStyle/>
          <a:p>
            <a:endParaRPr lang="en-US"/>
          </a:p>
        </p:txBody>
      </p:sp>
      <p:sp>
        <p:nvSpPr>
          <p:cNvPr id="20" name="Text 18"/>
          <p:cNvSpPr/>
          <p:nvPr/>
        </p:nvSpPr>
        <p:spPr>
          <a:xfrm>
            <a:off x="2743200" y="1389888"/>
            <a:ext cx="1097280" cy="310896"/>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api/main.py</a:t>
            </a:r>
            <a:endParaRPr lang="en-US" sz="800" dirty="0"/>
          </a:p>
        </p:txBody>
      </p:sp>
      <p:sp>
        <p:nvSpPr>
          <p:cNvPr id="21" name="Shape 19"/>
          <p:cNvSpPr/>
          <p:nvPr/>
        </p:nvSpPr>
        <p:spPr>
          <a:xfrm>
            <a:off x="3886200" y="1389888"/>
            <a:ext cx="548640" cy="310896"/>
          </a:xfrm>
          <a:prstGeom prst="rect">
            <a:avLst/>
          </a:prstGeom>
          <a:solidFill>
            <a:srgbClr val="2E7D32"/>
          </a:solidFill>
          <a:ln/>
        </p:spPr>
        <p:txBody>
          <a:bodyPr/>
          <a:lstStyle/>
          <a:p>
            <a:endParaRPr lang="en-US"/>
          </a:p>
        </p:txBody>
      </p:sp>
      <p:sp>
        <p:nvSpPr>
          <p:cNvPr id="22" name="Text 20"/>
          <p:cNvSpPr/>
          <p:nvPr/>
        </p:nvSpPr>
        <p:spPr>
          <a:xfrm>
            <a:off x="3913632" y="1389888"/>
            <a:ext cx="49377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~1d</a:t>
            </a:r>
            <a:endParaRPr lang="en-US" sz="800" dirty="0"/>
          </a:p>
        </p:txBody>
      </p:sp>
      <p:sp>
        <p:nvSpPr>
          <p:cNvPr id="23" name="Shape 21"/>
          <p:cNvSpPr/>
          <p:nvPr/>
        </p:nvSpPr>
        <p:spPr>
          <a:xfrm>
            <a:off x="502920" y="1700784"/>
            <a:ext cx="2194560" cy="310896"/>
          </a:xfrm>
          <a:prstGeom prst="rect">
            <a:avLst/>
          </a:prstGeom>
          <a:solidFill>
            <a:srgbClr val="F5F5F5"/>
          </a:solidFill>
          <a:ln w="3810">
            <a:solidFill>
              <a:srgbClr val="F0F0F0"/>
            </a:solidFill>
            <a:prstDash val="solid"/>
          </a:ln>
        </p:spPr>
        <p:txBody>
          <a:bodyPr/>
          <a:lstStyle/>
          <a:p>
            <a:endParaRPr lang="en-US"/>
          </a:p>
        </p:txBody>
      </p:sp>
      <p:sp>
        <p:nvSpPr>
          <p:cNvPr id="24" name="Text 22"/>
          <p:cNvSpPr/>
          <p:nvPr/>
        </p:nvSpPr>
        <p:spPr>
          <a:xfrm>
            <a:off x="557784" y="1700784"/>
            <a:ext cx="2084832" cy="310896"/>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Skill Version Diff/Branch</a:t>
            </a:r>
            <a:endParaRPr lang="en-US" sz="850" dirty="0"/>
          </a:p>
        </p:txBody>
      </p:sp>
      <p:sp>
        <p:nvSpPr>
          <p:cNvPr id="25" name="Shape 23"/>
          <p:cNvSpPr/>
          <p:nvPr/>
        </p:nvSpPr>
        <p:spPr>
          <a:xfrm>
            <a:off x="2697480" y="1700784"/>
            <a:ext cx="1188720" cy="310896"/>
          </a:xfrm>
          <a:prstGeom prst="rect">
            <a:avLst/>
          </a:prstGeom>
          <a:solidFill>
            <a:srgbClr val="F5F5F5"/>
          </a:solidFill>
          <a:ln w="3810">
            <a:solidFill>
              <a:srgbClr val="F0F0F0"/>
            </a:solidFill>
            <a:prstDash val="solid"/>
          </a:ln>
        </p:spPr>
        <p:txBody>
          <a:bodyPr/>
          <a:lstStyle/>
          <a:p>
            <a:endParaRPr lang="en-US"/>
          </a:p>
        </p:txBody>
      </p:sp>
      <p:sp>
        <p:nvSpPr>
          <p:cNvPr id="26" name="Text 24"/>
          <p:cNvSpPr/>
          <p:nvPr/>
        </p:nvSpPr>
        <p:spPr>
          <a:xfrm>
            <a:off x="2743200" y="1700784"/>
            <a:ext cx="1097280" cy="310896"/>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skills API</a:t>
            </a:r>
            <a:endParaRPr lang="en-US" sz="800" dirty="0"/>
          </a:p>
        </p:txBody>
      </p:sp>
      <p:sp>
        <p:nvSpPr>
          <p:cNvPr id="27" name="Shape 25"/>
          <p:cNvSpPr/>
          <p:nvPr/>
        </p:nvSpPr>
        <p:spPr>
          <a:xfrm>
            <a:off x="3886200" y="1700784"/>
            <a:ext cx="548640" cy="310896"/>
          </a:xfrm>
          <a:prstGeom prst="rect">
            <a:avLst/>
          </a:prstGeom>
          <a:solidFill>
            <a:srgbClr val="2E7D32"/>
          </a:solidFill>
          <a:ln/>
        </p:spPr>
        <p:txBody>
          <a:bodyPr/>
          <a:lstStyle/>
          <a:p>
            <a:endParaRPr lang="en-US"/>
          </a:p>
        </p:txBody>
      </p:sp>
      <p:sp>
        <p:nvSpPr>
          <p:cNvPr id="28" name="Text 26"/>
          <p:cNvSpPr/>
          <p:nvPr/>
        </p:nvSpPr>
        <p:spPr>
          <a:xfrm>
            <a:off x="3913632" y="1700784"/>
            <a:ext cx="49377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~2d</a:t>
            </a:r>
            <a:endParaRPr lang="en-US" sz="800" dirty="0"/>
          </a:p>
        </p:txBody>
      </p:sp>
      <p:sp>
        <p:nvSpPr>
          <p:cNvPr id="29" name="Shape 27"/>
          <p:cNvSpPr/>
          <p:nvPr/>
        </p:nvSpPr>
        <p:spPr>
          <a:xfrm>
            <a:off x="502920" y="2011680"/>
            <a:ext cx="2194560" cy="310896"/>
          </a:xfrm>
          <a:prstGeom prst="rect">
            <a:avLst/>
          </a:prstGeom>
          <a:solidFill>
            <a:srgbClr val="FFFFFF"/>
          </a:solidFill>
          <a:ln w="3810">
            <a:solidFill>
              <a:srgbClr val="F0F0F0"/>
            </a:solidFill>
            <a:prstDash val="solid"/>
          </a:ln>
        </p:spPr>
        <p:txBody>
          <a:bodyPr/>
          <a:lstStyle/>
          <a:p>
            <a:endParaRPr lang="en-US"/>
          </a:p>
        </p:txBody>
      </p:sp>
      <p:sp>
        <p:nvSpPr>
          <p:cNvPr id="30" name="Text 28"/>
          <p:cNvSpPr/>
          <p:nvPr/>
        </p:nvSpPr>
        <p:spPr>
          <a:xfrm>
            <a:off x="557784" y="2011680"/>
            <a:ext cx="2084832" cy="310896"/>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Graph Query Cache</a:t>
            </a:r>
            <a:endParaRPr lang="en-US" sz="850" dirty="0"/>
          </a:p>
        </p:txBody>
      </p:sp>
      <p:sp>
        <p:nvSpPr>
          <p:cNvPr id="31" name="Shape 29"/>
          <p:cNvSpPr/>
          <p:nvPr/>
        </p:nvSpPr>
        <p:spPr>
          <a:xfrm>
            <a:off x="2697480" y="2011680"/>
            <a:ext cx="1188720" cy="310896"/>
          </a:xfrm>
          <a:prstGeom prst="rect">
            <a:avLst/>
          </a:prstGeom>
          <a:solidFill>
            <a:srgbClr val="FFFFFF"/>
          </a:solidFill>
          <a:ln w="3810">
            <a:solidFill>
              <a:srgbClr val="F0F0F0"/>
            </a:solidFill>
            <a:prstDash val="solid"/>
          </a:ln>
        </p:spPr>
        <p:txBody>
          <a:bodyPr/>
          <a:lstStyle/>
          <a:p>
            <a:endParaRPr lang="en-US"/>
          </a:p>
        </p:txBody>
      </p:sp>
      <p:sp>
        <p:nvSpPr>
          <p:cNvPr id="32" name="Text 30"/>
          <p:cNvSpPr/>
          <p:nvPr/>
        </p:nvSpPr>
        <p:spPr>
          <a:xfrm>
            <a:off x="2743200" y="2011680"/>
            <a:ext cx="1097280" cy="310896"/>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rag/graph_store.py</a:t>
            </a:r>
            <a:endParaRPr lang="en-US" sz="800" dirty="0"/>
          </a:p>
        </p:txBody>
      </p:sp>
      <p:sp>
        <p:nvSpPr>
          <p:cNvPr id="33" name="Shape 31"/>
          <p:cNvSpPr/>
          <p:nvPr/>
        </p:nvSpPr>
        <p:spPr>
          <a:xfrm>
            <a:off x="3886200" y="2011680"/>
            <a:ext cx="548640" cy="310896"/>
          </a:xfrm>
          <a:prstGeom prst="rect">
            <a:avLst/>
          </a:prstGeom>
          <a:solidFill>
            <a:srgbClr val="2E7D32"/>
          </a:solidFill>
          <a:ln/>
        </p:spPr>
        <p:txBody>
          <a:bodyPr/>
          <a:lstStyle/>
          <a:p>
            <a:endParaRPr lang="en-US"/>
          </a:p>
        </p:txBody>
      </p:sp>
      <p:sp>
        <p:nvSpPr>
          <p:cNvPr id="34" name="Text 32"/>
          <p:cNvSpPr/>
          <p:nvPr/>
        </p:nvSpPr>
        <p:spPr>
          <a:xfrm>
            <a:off x="3913632" y="2011680"/>
            <a:ext cx="49377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~1d</a:t>
            </a:r>
            <a:endParaRPr lang="en-US" sz="800" dirty="0"/>
          </a:p>
        </p:txBody>
      </p:sp>
      <p:sp>
        <p:nvSpPr>
          <p:cNvPr id="35" name="Shape 33"/>
          <p:cNvSpPr/>
          <p:nvPr/>
        </p:nvSpPr>
        <p:spPr>
          <a:xfrm>
            <a:off x="502920" y="2322576"/>
            <a:ext cx="2194560" cy="310896"/>
          </a:xfrm>
          <a:prstGeom prst="rect">
            <a:avLst/>
          </a:prstGeom>
          <a:solidFill>
            <a:srgbClr val="F5F5F5"/>
          </a:solidFill>
          <a:ln w="3810">
            <a:solidFill>
              <a:srgbClr val="F0F0F0"/>
            </a:solidFill>
            <a:prstDash val="solid"/>
          </a:ln>
        </p:spPr>
        <p:txBody>
          <a:bodyPr/>
          <a:lstStyle/>
          <a:p>
            <a:endParaRPr lang="en-US"/>
          </a:p>
        </p:txBody>
      </p:sp>
      <p:sp>
        <p:nvSpPr>
          <p:cNvPr id="36" name="Text 34"/>
          <p:cNvSpPr/>
          <p:nvPr/>
        </p:nvSpPr>
        <p:spPr>
          <a:xfrm>
            <a:off x="557784" y="2322576"/>
            <a:ext cx="2084832" cy="310896"/>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Doc Confidence Scoring</a:t>
            </a:r>
            <a:endParaRPr lang="en-US" sz="850" dirty="0"/>
          </a:p>
        </p:txBody>
      </p:sp>
      <p:sp>
        <p:nvSpPr>
          <p:cNvPr id="37" name="Shape 35"/>
          <p:cNvSpPr/>
          <p:nvPr/>
        </p:nvSpPr>
        <p:spPr>
          <a:xfrm>
            <a:off x="2697480" y="2322576"/>
            <a:ext cx="1188720" cy="310896"/>
          </a:xfrm>
          <a:prstGeom prst="rect">
            <a:avLst/>
          </a:prstGeom>
          <a:solidFill>
            <a:srgbClr val="F5F5F5"/>
          </a:solidFill>
          <a:ln w="3810">
            <a:solidFill>
              <a:srgbClr val="F0F0F0"/>
            </a:solidFill>
            <a:prstDash val="solid"/>
          </a:ln>
        </p:spPr>
        <p:txBody>
          <a:bodyPr/>
          <a:lstStyle/>
          <a:p>
            <a:endParaRPr lang="en-US"/>
          </a:p>
        </p:txBody>
      </p:sp>
      <p:sp>
        <p:nvSpPr>
          <p:cNvPr id="38" name="Text 36"/>
          <p:cNvSpPr/>
          <p:nvPr/>
        </p:nvSpPr>
        <p:spPr>
          <a:xfrm>
            <a:off x="2743200" y="2322576"/>
            <a:ext cx="1097280" cy="310896"/>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rag/synthesis.py</a:t>
            </a:r>
            <a:endParaRPr lang="en-US" sz="800" dirty="0"/>
          </a:p>
        </p:txBody>
      </p:sp>
      <p:sp>
        <p:nvSpPr>
          <p:cNvPr id="39" name="Shape 37"/>
          <p:cNvSpPr/>
          <p:nvPr/>
        </p:nvSpPr>
        <p:spPr>
          <a:xfrm>
            <a:off x="3886200" y="2322576"/>
            <a:ext cx="548640" cy="310896"/>
          </a:xfrm>
          <a:prstGeom prst="rect">
            <a:avLst/>
          </a:prstGeom>
          <a:solidFill>
            <a:srgbClr val="2E7D32"/>
          </a:solidFill>
          <a:ln/>
        </p:spPr>
        <p:txBody>
          <a:bodyPr/>
          <a:lstStyle/>
          <a:p>
            <a:endParaRPr lang="en-US"/>
          </a:p>
        </p:txBody>
      </p:sp>
      <p:sp>
        <p:nvSpPr>
          <p:cNvPr id="40" name="Text 38"/>
          <p:cNvSpPr/>
          <p:nvPr/>
        </p:nvSpPr>
        <p:spPr>
          <a:xfrm>
            <a:off x="3913632" y="2322576"/>
            <a:ext cx="49377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~2d</a:t>
            </a:r>
            <a:endParaRPr lang="en-US" sz="800" dirty="0"/>
          </a:p>
        </p:txBody>
      </p:sp>
      <p:sp>
        <p:nvSpPr>
          <p:cNvPr id="41" name="Shape 39"/>
          <p:cNvSpPr/>
          <p:nvPr/>
        </p:nvSpPr>
        <p:spPr>
          <a:xfrm>
            <a:off x="502920" y="2633472"/>
            <a:ext cx="2194560" cy="310896"/>
          </a:xfrm>
          <a:prstGeom prst="rect">
            <a:avLst/>
          </a:prstGeom>
          <a:solidFill>
            <a:srgbClr val="FFFFFF"/>
          </a:solidFill>
          <a:ln w="3810">
            <a:solidFill>
              <a:srgbClr val="F0F0F0"/>
            </a:solidFill>
            <a:prstDash val="solid"/>
          </a:ln>
        </p:spPr>
        <p:txBody>
          <a:bodyPr/>
          <a:lstStyle/>
          <a:p>
            <a:endParaRPr lang="en-US"/>
          </a:p>
        </p:txBody>
      </p:sp>
      <p:sp>
        <p:nvSpPr>
          <p:cNvPr id="42" name="Text 40"/>
          <p:cNvSpPr/>
          <p:nvPr/>
        </p:nvSpPr>
        <p:spPr>
          <a:xfrm>
            <a:off x="557784" y="2633472"/>
            <a:ext cx="2084832" cy="310896"/>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Streaming Reasoning (▲)</a:t>
            </a:r>
            <a:endParaRPr lang="en-US" sz="850" dirty="0"/>
          </a:p>
        </p:txBody>
      </p:sp>
      <p:sp>
        <p:nvSpPr>
          <p:cNvPr id="43" name="Shape 41"/>
          <p:cNvSpPr/>
          <p:nvPr/>
        </p:nvSpPr>
        <p:spPr>
          <a:xfrm>
            <a:off x="2697480" y="2633472"/>
            <a:ext cx="1188720" cy="310896"/>
          </a:xfrm>
          <a:prstGeom prst="rect">
            <a:avLst/>
          </a:prstGeom>
          <a:solidFill>
            <a:srgbClr val="FFFFFF"/>
          </a:solidFill>
          <a:ln w="3810">
            <a:solidFill>
              <a:srgbClr val="F0F0F0"/>
            </a:solidFill>
            <a:prstDash val="solid"/>
          </a:ln>
        </p:spPr>
        <p:txBody>
          <a:bodyPr/>
          <a:lstStyle/>
          <a:p>
            <a:endParaRPr lang="en-US"/>
          </a:p>
        </p:txBody>
      </p:sp>
      <p:sp>
        <p:nvSpPr>
          <p:cNvPr id="44" name="Text 42"/>
          <p:cNvSpPr/>
          <p:nvPr/>
        </p:nvSpPr>
        <p:spPr>
          <a:xfrm>
            <a:off x="2743200" y="2633472"/>
            <a:ext cx="1097280" cy="310896"/>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api/live_progress.py</a:t>
            </a:r>
            <a:endParaRPr lang="en-US" sz="800" dirty="0"/>
          </a:p>
        </p:txBody>
      </p:sp>
      <p:sp>
        <p:nvSpPr>
          <p:cNvPr id="45" name="Shape 43"/>
          <p:cNvSpPr/>
          <p:nvPr/>
        </p:nvSpPr>
        <p:spPr>
          <a:xfrm>
            <a:off x="3886200" y="2633472"/>
            <a:ext cx="548640" cy="310896"/>
          </a:xfrm>
          <a:prstGeom prst="rect">
            <a:avLst/>
          </a:prstGeom>
          <a:solidFill>
            <a:srgbClr val="0097A7"/>
          </a:solidFill>
          <a:ln/>
        </p:spPr>
        <p:txBody>
          <a:bodyPr/>
          <a:lstStyle/>
          <a:p>
            <a:endParaRPr lang="en-US"/>
          </a:p>
        </p:txBody>
      </p:sp>
      <p:sp>
        <p:nvSpPr>
          <p:cNvPr id="46" name="Text 44"/>
          <p:cNvSpPr/>
          <p:nvPr/>
        </p:nvSpPr>
        <p:spPr>
          <a:xfrm>
            <a:off x="3913632" y="2633472"/>
            <a:ext cx="49377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~1w</a:t>
            </a:r>
            <a:endParaRPr lang="en-US" sz="800" dirty="0"/>
          </a:p>
        </p:txBody>
      </p:sp>
      <p:sp>
        <p:nvSpPr>
          <p:cNvPr id="47" name="Shape 45"/>
          <p:cNvSpPr/>
          <p:nvPr/>
        </p:nvSpPr>
        <p:spPr>
          <a:xfrm>
            <a:off x="502920" y="2944368"/>
            <a:ext cx="2194560" cy="310896"/>
          </a:xfrm>
          <a:prstGeom prst="rect">
            <a:avLst/>
          </a:prstGeom>
          <a:solidFill>
            <a:srgbClr val="F5F5F5"/>
          </a:solidFill>
          <a:ln w="3810">
            <a:solidFill>
              <a:srgbClr val="F0F0F0"/>
            </a:solidFill>
            <a:prstDash val="solid"/>
          </a:ln>
        </p:spPr>
        <p:txBody>
          <a:bodyPr/>
          <a:lstStyle/>
          <a:p>
            <a:endParaRPr lang="en-US"/>
          </a:p>
        </p:txBody>
      </p:sp>
      <p:sp>
        <p:nvSpPr>
          <p:cNvPr id="48" name="Text 46"/>
          <p:cNvSpPr/>
          <p:nvPr/>
        </p:nvSpPr>
        <p:spPr>
          <a:xfrm>
            <a:off x="557784" y="2944368"/>
            <a:ext cx="2084832" cy="310896"/>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Memory Lifecycle (▲)</a:t>
            </a:r>
            <a:endParaRPr lang="en-US" sz="850" dirty="0"/>
          </a:p>
        </p:txBody>
      </p:sp>
      <p:sp>
        <p:nvSpPr>
          <p:cNvPr id="49" name="Shape 47"/>
          <p:cNvSpPr/>
          <p:nvPr/>
        </p:nvSpPr>
        <p:spPr>
          <a:xfrm>
            <a:off x="2697480" y="2944368"/>
            <a:ext cx="1188720" cy="310896"/>
          </a:xfrm>
          <a:prstGeom prst="rect">
            <a:avLst/>
          </a:prstGeom>
          <a:solidFill>
            <a:srgbClr val="F5F5F5"/>
          </a:solidFill>
          <a:ln w="3810">
            <a:solidFill>
              <a:srgbClr val="F0F0F0"/>
            </a:solidFill>
            <a:prstDash val="solid"/>
          </a:ln>
        </p:spPr>
        <p:txBody>
          <a:bodyPr/>
          <a:lstStyle/>
          <a:p>
            <a:endParaRPr lang="en-US"/>
          </a:p>
        </p:txBody>
      </p:sp>
      <p:sp>
        <p:nvSpPr>
          <p:cNvPr id="50" name="Text 48"/>
          <p:cNvSpPr/>
          <p:nvPr/>
        </p:nvSpPr>
        <p:spPr>
          <a:xfrm>
            <a:off x="2743200" y="2944368"/>
            <a:ext cx="1097280" cy="310896"/>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persistence/memory_v2.py</a:t>
            </a:r>
            <a:endParaRPr lang="en-US" sz="800" dirty="0"/>
          </a:p>
        </p:txBody>
      </p:sp>
      <p:sp>
        <p:nvSpPr>
          <p:cNvPr id="51" name="Shape 49"/>
          <p:cNvSpPr/>
          <p:nvPr/>
        </p:nvSpPr>
        <p:spPr>
          <a:xfrm>
            <a:off x="3886200" y="2944368"/>
            <a:ext cx="548640" cy="310896"/>
          </a:xfrm>
          <a:prstGeom prst="rect">
            <a:avLst/>
          </a:prstGeom>
          <a:solidFill>
            <a:srgbClr val="0097A7"/>
          </a:solidFill>
          <a:ln/>
        </p:spPr>
        <p:txBody>
          <a:bodyPr/>
          <a:lstStyle/>
          <a:p>
            <a:endParaRPr lang="en-US"/>
          </a:p>
        </p:txBody>
      </p:sp>
      <p:sp>
        <p:nvSpPr>
          <p:cNvPr id="52" name="Text 50"/>
          <p:cNvSpPr/>
          <p:nvPr/>
        </p:nvSpPr>
        <p:spPr>
          <a:xfrm>
            <a:off x="3913632" y="2944368"/>
            <a:ext cx="49377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~1w</a:t>
            </a:r>
            <a:endParaRPr lang="en-US" sz="800" dirty="0"/>
          </a:p>
        </p:txBody>
      </p:sp>
      <p:sp>
        <p:nvSpPr>
          <p:cNvPr id="53" name="Shape 51"/>
          <p:cNvSpPr/>
          <p:nvPr/>
        </p:nvSpPr>
        <p:spPr>
          <a:xfrm>
            <a:off x="4709160" y="1078992"/>
            <a:ext cx="2194560" cy="310896"/>
          </a:xfrm>
          <a:prstGeom prst="rect">
            <a:avLst/>
          </a:prstGeom>
          <a:solidFill>
            <a:srgbClr val="F5F5F5"/>
          </a:solidFill>
          <a:ln w="3810">
            <a:solidFill>
              <a:srgbClr val="F0F0F0"/>
            </a:solidFill>
            <a:prstDash val="solid"/>
          </a:ln>
        </p:spPr>
        <p:txBody>
          <a:bodyPr/>
          <a:lstStyle/>
          <a:p>
            <a:endParaRPr lang="en-US"/>
          </a:p>
        </p:txBody>
      </p:sp>
      <p:sp>
        <p:nvSpPr>
          <p:cNvPr id="54" name="Text 52"/>
          <p:cNvSpPr/>
          <p:nvPr/>
        </p:nvSpPr>
        <p:spPr>
          <a:xfrm>
            <a:off x="4764024" y="1078992"/>
            <a:ext cx="2084832" cy="310896"/>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Rate Limiting (▲)</a:t>
            </a:r>
            <a:endParaRPr lang="en-US" sz="850" dirty="0"/>
          </a:p>
        </p:txBody>
      </p:sp>
      <p:sp>
        <p:nvSpPr>
          <p:cNvPr id="55" name="Shape 53"/>
          <p:cNvSpPr/>
          <p:nvPr/>
        </p:nvSpPr>
        <p:spPr>
          <a:xfrm>
            <a:off x="6903720" y="1078992"/>
            <a:ext cx="1188720" cy="310896"/>
          </a:xfrm>
          <a:prstGeom prst="rect">
            <a:avLst/>
          </a:prstGeom>
          <a:solidFill>
            <a:srgbClr val="F5F5F5"/>
          </a:solidFill>
          <a:ln w="3810">
            <a:solidFill>
              <a:srgbClr val="F0F0F0"/>
            </a:solidFill>
            <a:prstDash val="solid"/>
          </a:ln>
        </p:spPr>
        <p:txBody>
          <a:bodyPr/>
          <a:lstStyle/>
          <a:p>
            <a:endParaRPr lang="en-US"/>
          </a:p>
        </p:txBody>
      </p:sp>
      <p:sp>
        <p:nvSpPr>
          <p:cNvPr id="56" name="Text 54"/>
          <p:cNvSpPr/>
          <p:nvPr/>
        </p:nvSpPr>
        <p:spPr>
          <a:xfrm>
            <a:off x="6949440" y="1078992"/>
            <a:ext cx="1097280" cy="310896"/>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connector_security.py</a:t>
            </a:r>
            <a:endParaRPr lang="en-US" sz="800" dirty="0"/>
          </a:p>
        </p:txBody>
      </p:sp>
      <p:sp>
        <p:nvSpPr>
          <p:cNvPr id="57" name="Shape 55"/>
          <p:cNvSpPr/>
          <p:nvPr/>
        </p:nvSpPr>
        <p:spPr>
          <a:xfrm>
            <a:off x="8092440" y="1078992"/>
            <a:ext cx="548640" cy="310896"/>
          </a:xfrm>
          <a:prstGeom prst="rect">
            <a:avLst/>
          </a:prstGeom>
          <a:solidFill>
            <a:srgbClr val="2E7D32"/>
          </a:solidFill>
          <a:ln/>
        </p:spPr>
        <p:txBody>
          <a:bodyPr/>
          <a:lstStyle/>
          <a:p>
            <a:endParaRPr lang="en-US"/>
          </a:p>
        </p:txBody>
      </p:sp>
      <p:sp>
        <p:nvSpPr>
          <p:cNvPr id="58" name="Text 56"/>
          <p:cNvSpPr/>
          <p:nvPr/>
        </p:nvSpPr>
        <p:spPr>
          <a:xfrm>
            <a:off x="8119872" y="1078992"/>
            <a:ext cx="49377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~3d</a:t>
            </a:r>
            <a:endParaRPr lang="en-US" sz="800" dirty="0"/>
          </a:p>
        </p:txBody>
      </p:sp>
      <p:sp>
        <p:nvSpPr>
          <p:cNvPr id="59" name="Shape 57"/>
          <p:cNvSpPr/>
          <p:nvPr/>
        </p:nvSpPr>
        <p:spPr>
          <a:xfrm>
            <a:off x="4709160" y="1389888"/>
            <a:ext cx="2194560" cy="310896"/>
          </a:xfrm>
          <a:prstGeom prst="rect">
            <a:avLst/>
          </a:prstGeom>
          <a:solidFill>
            <a:srgbClr val="FFFFFF"/>
          </a:solidFill>
          <a:ln w="3810">
            <a:solidFill>
              <a:srgbClr val="F0F0F0"/>
            </a:solidFill>
            <a:prstDash val="solid"/>
          </a:ln>
        </p:spPr>
        <p:txBody>
          <a:bodyPr/>
          <a:lstStyle/>
          <a:p>
            <a:endParaRPr lang="en-US"/>
          </a:p>
        </p:txBody>
      </p:sp>
      <p:sp>
        <p:nvSpPr>
          <p:cNvPr id="60" name="Text 58"/>
          <p:cNvSpPr/>
          <p:nvPr/>
        </p:nvSpPr>
        <p:spPr>
          <a:xfrm>
            <a:off x="4764024" y="1389888"/>
            <a:ext cx="2084832" cy="310896"/>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Structured Audit Trail</a:t>
            </a:r>
            <a:endParaRPr lang="en-US" sz="850" dirty="0"/>
          </a:p>
        </p:txBody>
      </p:sp>
      <p:sp>
        <p:nvSpPr>
          <p:cNvPr id="61" name="Shape 59"/>
          <p:cNvSpPr/>
          <p:nvPr/>
        </p:nvSpPr>
        <p:spPr>
          <a:xfrm>
            <a:off x="6903720" y="1389888"/>
            <a:ext cx="1188720" cy="310896"/>
          </a:xfrm>
          <a:prstGeom prst="rect">
            <a:avLst/>
          </a:prstGeom>
          <a:solidFill>
            <a:srgbClr val="FFFFFF"/>
          </a:solidFill>
          <a:ln w="3810">
            <a:solidFill>
              <a:srgbClr val="F0F0F0"/>
            </a:solidFill>
            <a:prstDash val="solid"/>
          </a:ln>
        </p:spPr>
        <p:txBody>
          <a:bodyPr/>
          <a:lstStyle/>
          <a:p>
            <a:endParaRPr lang="en-US"/>
          </a:p>
        </p:txBody>
      </p:sp>
      <p:sp>
        <p:nvSpPr>
          <p:cNvPr id="62" name="Text 60"/>
          <p:cNvSpPr/>
          <p:nvPr/>
        </p:nvSpPr>
        <p:spPr>
          <a:xfrm>
            <a:off x="6949440" y="1389888"/>
            <a:ext cx="1097280" cy="310896"/>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runtime/kernel.py</a:t>
            </a:r>
            <a:endParaRPr lang="en-US" sz="800" dirty="0"/>
          </a:p>
        </p:txBody>
      </p:sp>
      <p:sp>
        <p:nvSpPr>
          <p:cNvPr id="63" name="Shape 61"/>
          <p:cNvSpPr/>
          <p:nvPr/>
        </p:nvSpPr>
        <p:spPr>
          <a:xfrm>
            <a:off x="8092440" y="1389888"/>
            <a:ext cx="548640" cy="310896"/>
          </a:xfrm>
          <a:prstGeom prst="rect">
            <a:avLst/>
          </a:prstGeom>
          <a:solidFill>
            <a:srgbClr val="F9A825"/>
          </a:solidFill>
          <a:ln/>
        </p:spPr>
        <p:txBody>
          <a:bodyPr/>
          <a:lstStyle/>
          <a:p>
            <a:endParaRPr lang="en-US"/>
          </a:p>
        </p:txBody>
      </p:sp>
      <p:sp>
        <p:nvSpPr>
          <p:cNvPr id="64" name="Text 62"/>
          <p:cNvSpPr/>
          <p:nvPr/>
        </p:nvSpPr>
        <p:spPr>
          <a:xfrm>
            <a:off x="8119872" y="1389888"/>
            <a:ext cx="49377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~2w</a:t>
            </a:r>
            <a:endParaRPr lang="en-US" sz="800" dirty="0"/>
          </a:p>
        </p:txBody>
      </p:sp>
      <p:sp>
        <p:nvSpPr>
          <p:cNvPr id="65" name="Shape 63"/>
          <p:cNvSpPr/>
          <p:nvPr/>
        </p:nvSpPr>
        <p:spPr>
          <a:xfrm>
            <a:off x="4709160" y="1700784"/>
            <a:ext cx="2194560" cy="310896"/>
          </a:xfrm>
          <a:prstGeom prst="rect">
            <a:avLst/>
          </a:prstGeom>
          <a:solidFill>
            <a:srgbClr val="F5F5F5"/>
          </a:solidFill>
          <a:ln w="3810">
            <a:solidFill>
              <a:srgbClr val="F0F0F0"/>
            </a:solidFill>
            <a:prstDash val="solid"/>
          </a:ln>
        </p:spPr>
        <p:txBody>
          <a:bodyPr/>
          <a:lstStyle/>
          <a:p>
            <a:endParaRPr lang="en-US"/>
          </a:p>
        </p:txBody>
      </p:sp>
      <p:sp>
        <p:nvSpPr>
          <p:cNvPr id="66" name="Text 64"/>
          <p:cNvSpPr/>
          <p:nvPr/>
        </p:nvSpPr>
        <p:spPr>
          <a:xfrm>
            <a:off x="4764024" y="1700784"/>
            <a:ext cx="2084832" cy="310896"/>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Tenant Auth Middleware (▲)</a:t>
            </a:r>
            <a:endParaRPr lang="en-US" sz="850" dirty="0"/>
          </a:p>
        </p:txBody>
      </p:sp>
      <p:sp>
        <p:nvSpPr>
          <p:cNvPr id="67" name="Shape 65"/>
          <p:cNvSpPr/>
          <p:nvPr/>
        </p:nvSpPr>
        <p:spPr>
          <a:xfrm>
            <a:off x="6903720" y="1700784"/>
            <a:ext cx="1188720" cy="310896"/>
          </a:xfrm>
          <a:prstGeom prst="rect">
            <a:avLst/>
          </a:prstGeom>
          <a:solidFill>
            <a:srgbClr val="F5F5F5"/>
          </a:solidFill>
          <a:ln w="3810">
            <a:solidFill>
              <a:srgbClr val="F0F0F0"/>
            </a:solidFill>
            <a:prstDash val="solid"/>
          </a:ln>
        </p:spPr>
        <p:txBody>
          <a:bodyPr/>
          <a:lstStyle/>
          <a:p>
            <a:endParaRPr lang="en-US"/>
          </a:p>
        </p:txBody>
      </p:sp>
      <p:sp>
        <p:nvSpPr>
          <p:cNvPr id="68" name="Text 66"/>
          <p:cNvSpPr/>
          <p:nvPr/>
        </p:nvSpPr>
        <p:spPr>
          <a:xfrm>
            <a:off x="6949440" y="1700784"/>
            <a:ext cx="1097280" cy="310896"/>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authz/service.py</a:t>
            </a:r>
            <a:endParaRPr lang="en-US" sz="800" dirty="0"/>
          </a:p>
        </p:txBody>
      </p:sp>
      <p:sp>
        <p:nvSpPr>
          <p:cNvPr id="69" name="Shape 67"/>
          <p:cNvSpPr/>
          <p:nvPr/>
        </p:nvSpPr>
        <p:spPr>
          <a:xfrm>
            <a:off x="8092440" y="1700784"/>
            <a:ext cx="548640" cy="310896"/>
          </a:xfrm>
          <a:prstGeom prst="rect">
            <a:avLst/>
          </a:prstGeom>
          <a:solidFill>
            <a:srgbClr val="2E7D32"/>
          </a:solidFill>
          <a:ln/>
        </p:spPr>
        <p:txBody>
          <a:bodyPr/>
          <a:lstStyle/>
          <a:p>
            <a:endParaRPr lang="en-US"/>
          </a:p>
        </p:txBody>
      </p:sp>
      <p:sp>
        <p:nvSpPr>
          <p:cNvPr id="70" name="Text 68"/>
          <p:cNvSpPr/>
          <p:nvPr/>
        </p:nvSpPr>
        <p:spPr>
          <a:xfrm>
            <a:off x="8119872" y="1700784"/>
            <a:ext cx="49377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~3d</a:t>
            </a:r>
            <a:endParaRPr lang="en-US" sz="800" dirty="0"/>
          </a:p>
        </p:txBody>
      </p:sp>
      <p:sp>
        <p:nvSpPr>
          <p:cNvPr id="71" name="Shape 69"/>
          <p:cNvSpPr/>
          <p:nvPr/>
        </p:nvSpPr>
        <p:spPr>
          <a:xfrm>
            <a:off x="4709160" y="2011680"/>
            <a:ext cx="2194560" cy="310896"/>
          </a:xfrm>
          <a:prstGeom prst="rect">
            <a:avLst/>
          </a:prstGeom>
          <a:solidFill>
            <a:srgbClr val="FFFFFF"/>
          </a:solidFill>
          <a:ln w="3810">
            <a:solidFill>
              <a:srgbClr val="F0F0F0"/>
            </a:solidFill>
            <a:prstDash val="solid"/>
          </a:ln>
        </p:spPr>
        <p:txBody>
          <a:bodyPr/>
          <a:lstStyle/>
          <a:p>
            <a:endParaRPr lang="en-US"/>
          </a:p>
        </p:txBody>
      </p:sp>
      <p:sp>
        <p:nvSpPr>
          <p:cNvPr id="72" name="Text 70"/>
          <p:cNvSpPr/>
          <p:nvPr/>
        </p:nvSpPr>
        <p:spPr>
          <a:xfrm>
            <a:off x="4764024" y="2011680"/>
            <a:ext cx="2084832" cy="310896"/>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Webhook Job Notifications</a:t>
            </a:r>
            <a:endParaRPr lang="en-US" sz="850" dirty="0"/>
          </a:p>
        </p:txBody>
      </p:sp>
      <p:sp>
        <p:nvSpPr>
          <p:cNvPr id="73" name="Shape 71"/>
          <p:cNvSpPr/>
          <p:nvPr/>
        </p:nvSpPr>
        <p:spPr>
          <a:xfrm>
            <a:off x="6903720" y="2011680"/>
            <a:ext cx="1188720" cy="310896"/>
          </a:xfrm>
          <a:prstGeom prst="rect">
            <a:avLst/>
          </a:prstGeom>
          <a:solidFill>
            <a:srgbClr val="FFFFFF"/>
          </a:solidFill>
          <a:ln w="3810">
            <a:solidFill>
              <a:srgbClr val="F0F0F0"/>
            </a:solidFill>
            <a:prstDash val="solid"/>
          </a:ln>
        </p:spPr>
        <p:txBody>
          <a:bodyPr/>
          <a:lstStyle/>
          <a:p>
            <a:endParaRPr lang="en-US"/>
          </a:p>
        </p:txBody>
      </p:sp>
      <p:sp>
        <p:nvSpPr>
          <p:cNvPr id="74" name="Text 72"/>
          <p:cNvSpPr/>
          <p:nvPr/>
        </p:nvSpPr>
        <p:spPr>
          <a:xfrm>
            <a:off x="6949440" y="2011680"/>
            <a:ext cx="1097280" cy="310896"/>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runtime/job_manager.py</a:t>
            </a:r>
            <a:endParaRPr lang="en-US" sz="800" dirty="0"/>
          </a:p>
        </p:txBody>
      </p:sp>
      <p:sp>
        <p:nvSpPr>
          <p:cNvPr id="75" name="Shape 73"/>
          <p:cNvSpPr/>
          <p:nvPr/>
        </p:nvSpPr>
        <p:spPr>
          <a:xfrm>
            <a:off x="8092440" y="2011680"/>
            <a:ext cx="548640" cy="310896"/>
          </a:xfrm>
          <a:prstGeom prst="rect">
            <a:avLst/>
          </a:prstGeom>
          <a:solidFill>
            <a:srgbClr val="F9A825"/>
          </a:solidFill>
          <a:ln/>
        </p:spPr>
        <p:txBody>
          <a:bodyPr/>
          <a:lstStyle/>
          <a:p>
            <a:endParaRPr lang="en-US"/>
          </a:p>
        </p:txBody>
      </p:sp>
      <p:sp>
        <p:nvSpPr>
          <p:cNvPr id="76" name="Text 74"/>
          <p:cNvSpPr/>
          <p:nvPr/>
        </p:nvSpPr>
        <p:spPr>
          <a:xfrm>
            <a:off x="8119872" y="2011680"/>
            <a:ext cx="49377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~2w</a:t>
            </a:r>
            <a:endParaRPr lang="en-US" sz="800" dirty="0"/>
          </a:p>
        </p:txBody>
      </p:sp>
      <p:sp>
        <p:nvSpPr>
          <p:cNvPr id="77" name="Shape 75"/>
          <p:cNvSpPr/>
          <p:nvPr/>
        </p:nvSpPr>
        <p:spPr>
          <a:xfrm>
            <a:off x="4709160" y="2322576"/>
            <a:ext cx="2194560" cy="310896"/>
          </a:xfrm>
          <a:prstGeom prst="rect">
            <a:avLst/>
          </a:prstGeom>
          <a:solidFill>
            <a:srgbClr val="F5F5F5"/>
          </a:solidFill>
          <a:ln w="3810">
            <a:solidFill>
              <a:srgbClr val="F0F0F0"/>
            </a:solidFill>
            <a:prstDash val="solid"/>
          </a:ln>
        </p:spPr>
        <p:txBody>
          <a:bodyPr/>
          <a:lstStyle/>
          <a:p>
            <a:endParaRPr lang="en-US"/>
          </a:p>
        </p:txBody>
      </p:sp>
      <p:sp>
        <p:nvSpPr>
          <p:cNvPr id="78" name="Text 76"/>
          <p:cNvSpPr/>
          <p:nvPr/>
        </p:nvSpPr>
        <p:spPr>
          <a:xfrm>
            <a:off x="4764024" y="2322576"/>
            <a:ext cx="2084832" cy="310896"/>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Automated Eval Harness</a:t>
            </a:r>
            <a:endParaRPr lang="en-US" sz="850" dirty="0"/>
          </a:p>
        </p:txBody>
      </p:sp>
      <p:sp>
        <p:nvSpPr>
          <p:cNvPr id="79" name="Shape 77"/>
          <p:cNvSpPr/>
          <p:nvPr/>
        </p:nvSpPr>
        <p:spPr>
          <a:xfrm>
            <a:off x="6903720" y="2322576"/>
            <a:ext cx="1188720" cy="310896"/>
          </a:xfrm>
          <a:prstGeom prst="rect">
            <a:avLst/>
          </a:prstGeom>
          <a:solidFill>
            <a:srgbClr val="F5F5F5"/>
          </a:solidFill>
          <a:ln w="3810">
            <a:solidFill>
              <a:srgbClr val="F0F0F0"/>
            </a:solidFill>
            <a:prstDash val="solid"/>
          </a:ln>
        </p:spPr>
        <p:txBody>
          <a:bodyPr/>
          <a:lstStyle/>
          <a:p>
            <a:endParaRPr lang="en-US"/>
          </a:p>
        </p:txBody>
      </p:sp>
      <p:sp>
        <p:nvSpPr>
          <p:cNvPr id="80" name="Text 78"/>
          <p:cNvSpPr/>
          <p:nvPr/>
        </p:nvSpPr>
        <p:spPr>
          <a:xfrm>
            <a:off x="6949440" y="2322576"/>
            <a:ext cx="1097280" cy="310896"/>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benchmark/eval_harness.py</a:t>
            </a:r>
            <a:endParaRPr lang="en-US" sz="800" dirty="0"/>
          </a:p>
        </p:txBody>
      </p:sp>
      <p:sp>
        <p:nvSpPr>
          <p:cNvPr id="81" name="Shape 79"/>
          <p:cNvSpPr/>
          <p:nvPr/>
        </p:nvSpPr>
        <p:spPr>
          <a:xfrm>
            <a:off x="8092440" y="2322576"/>
            <a:ext cx="548640" cy="310896"/>
          </a:xfrm>
          <a:prstGeom prst="rect">
            <a:avLst/>
          </a:prstGeom>
          <a:solidFill>
            <a:srgbClr val="C62828"/>
          </a:solidFill>
          <a:ln/>
        </p:spPr>
        <p:txBody>
          <a:bodyPr/>
          <a:lstStyle/>
          <a:p>
            <a:endParaRPr lang="en-US"/>
          </a:p>
        </p:txBody>
      </p:sp>
      <p:sp>
        <p:nvSpPr>
          <p:cNvPr id="82" name="Text 80"/>
          <p:cNvSpPr/>
          <p:nvPr/>
        </p:nvSpPr>
        <p:spPr>
          <a:xfrm>
            <a:off x="8119872" y="2322576"/>
            <a:ext cx="49377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~4w</a:t>
            </a:r>
            <a:endParaRPr lang="en-US" sz="800" dirty="0"/>
          </a:p>
        </p:txBody>
      </p:sp>
      <p:sp>
        <p:nvSpPr>
          <p:cNvPr id="83" name="Shape 81"/>
          <p:cNvSpPr/>
          <p:nvPr/>
        </p:nvSpPr>
        <p:spPr>
          <a:xfrm>
            <a:off x="4709160" y="2633472"/>
            <a:ext cx="2194560" cy="310896"/>
          </a:xfrm>
          <a:prstGeom prst="rect">
            <a:avLst/>
          </a:prstGeom>
          <a:solidFill>
            <a:srgbClr val="FFFFFF"/>
          </a:solidFill>
          <a:ln w="3810">
            <a:solidFill>
              <a:srgbClr val="F0F0F0"/>
            </a:solidFill>
            <a:prstDash val="solid"/>
          </a:ln>
        </p:spPr>
        <p:txBody>
          <a:bodyPr/>
          <a:lstStyle/>
          <a:p>
            <a:endParaRPr lang="en-US"/>
          </a:p>
        </p:txBody>
      </p:sp>
      <p:sp>
        <p:nvSpPr>
          <p:cNvPr id="84" name="Text 82"/>
          <p:cNvSpPr/>
          <p:nvPr/>
        </p:nvSpPr>
        <p:spPr>
          <a:xfrm>
            <a:off x="4764024" y="2633472"/>
            <a:ext cx="2084832" cy="310896"/>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A/B Model Testing</a:t>
            </a:r>
            <a:endParaRPr lang="en-US" sz="850" dirty="0"/>
          </a:p>
        </p:txBody>
      </p:sp>
      <p:sp>
        <p:nvSpPr>
          <p:cNvPr id="85" name="Shape 83"/>
          <p:cNvSpPr/>
          <p:nvPr/>
        </p:nvSpPr>
        <p:spPr>
          <a:xfrm>
            <a:off x="6903720" y="2633472"/>
            <a:ext cx="1188720" cy="310896"/>
          </a:xfrm>
          <a:prstGeom prst="rect">
            <a:avLst/>
          </a:prstGeom>
          <a:solidFill>
            <a:srgbClr val="FFFFFF"/>
          </a:solidFill>
          <a:ln w="3810">
            <a:solidFill>
              <a:srgbClr val="F0F0F0"/>
            </a:solidFill>
            <a:prstDash val="solid"/>
          </a:ln>
        </p:spPr>
        <p:txBody>
          <a:bodyPr/>
          <a:lstStyle/>
          <a:p>
            <a:endParaRPr lang="en-US"/>
          </a:p>
        </p:txBody>
      </p:sp>
      <p:sp>
        <p:nvSpPr>
          <p:cNvPr id="86" name="Text 84"/>
          <p:cNvSpPr/>
          <p:nvPr/>
        </p:nvSpPr>
        <p:spPr>
          <a:xfrm>
            <a:off x="6949440" y="2633472"/>
            <a:ext cx="1097280" cy="310896"/>
          </a:xfrm>
          <a:prstGeom prst="rect">
            <a:avLst/>
          </a:prstGeom>
          <a:noFill/>
          <a:ln/>
        </p:spPr>
        <p:txBody>
          <a:bodyPr wrap="square" lIns="0" tIns="0" rIns="0" bIns="0" rtlCol="0" anchor="ctr"/>
          <a:lstStyle/>
          <a:p>
            <a:pPr marL="0" indent="0">
              <a:buNone/>
            </a:pPr>
            <a:r>
              <a:rPr lang="en-US" sz="800" dirty="0">
                <a:solidFill>
                  <a:srgbClr val="333333"/>
                </a:solidFill>
                <a:latin typeface="Courier New" pitchFamily="34" charset="0"/>
                <a:ea typeface="Courier New" pitchFamily="34" charset="-122"/>
                <a:cs typeface="Courier New" pitchFamily="34" charset="-120"/>
              </a:rPr>
              <a:t>api/main.py + providers</a:t>
            </a:r>
            <a:endParaRPr lang="en-US" sz="800" dirty="0"/>
          </a:p>
        </p:txBody>
      </p:sp>
      <p:sp>
        <p:nvSpPr>
          <p:cNvPr id="87" name="Shape 85"/>
          <p:cNvSpPr/>
          <p:nvPr/>
        </p:nvSpPr>
        <p:spPr>
          <a:xfrm>
            <a:off x="8092440" y="2633472"/>
            <a:ext cx="548640" cy="310896"/>
          </a:xfrm>
          <a:prstGeom prst="rect">
            <a:avLst/>
          </a:prstGeom>
          <a:solidFill>
            <a:srgbClr val="C62828"/>
          </a:solidFill>
          <a:ln/>
        </p:spPr>
        <p:txBody>
          <a:bodyPr/>
          <a:lstStyle/>
          <a:p>
            <a:endParaRPr lang="en-US"/>
          </a:p>
        </p:txBody>
      </p:sp>
      <p:sp>
        <p:nvSpPr>
          <p:cNvPr id="88" name="Text 86"/>
          <p:cNvSpPr/>
          <p:nvPr/>
        </p:nvSpPr>
        <p:spPr>
          <a:xfrm>
            <a:off x="8119872" y="2633472"/>
            <a:ext cx="493776" cy="310896"/>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~4w</a:t>
            </a:r>
            <a:endParaRPr lang="en-US" sz="800" dirty="0"/>
          </a:p>
        </p:txBody>
      </p:sp>
      <p:sp>
        <p:nvSpPr>
          <p:cNvPr id="89" name="Text 87"/>
          <p:cNvSpPr/>
          <p:nvPr/>
        </p:nvSpPr>
        <p:spPr>
          <a:xfrm>
            <a:off x="502920" y="3364992"/>
            <a:ext cx="822960" cy="237744"/>
          </a:xfrm>
          <a:prstGeom prst="rect">
            <a:avLst/>
          </a:prstGeom>
          <a:noFill/>
          <a:ln/>
        </p:spPr>
        <p:txBody>
          <a:bodyPr wrap="square" lIns="0" tIns="0" rIns="0" bIns="0" rtlCol="0" anchor="ctr"/>
          <a:lstStyle/>
          <a:p>
            <a:pPr marL="0" indent="0">
              <a:buNone/>
            </a:pPr>
            <a:r>
              <a:rPr lang="en-US" sz="850" dirty="0">
                <a:solidFill>
                  <a:srgbClr val="999999"/>
                </a:solidFill>
                <a:latin typeface="Arial" pitchFamily="34" charset="0"/>
                <a:ea typeface="Arial" pitchFamily="34" charset="-122"/>
                <a:cs typeface="Arial" pitchFamily="34" charset="-120"/>
              </a:rPr>
              <a:t>Effort key:</a:t>
            </a:r>
            <a:endParaRPr lang="en-US" sz="850" dirty="0"/>
          </a:p>
        </p:txBody>
      </p:sp>
      <p:sp>
        <p:nvSpPr>
          <p:cNvPr id="90" name="Shape 88"/>
          <p:cNvSpPr/>
          <p:nvPr/>
        </p:nvSpPr>
        <p:spPr>
          <a:xfrm>
            <a:off x="1344168" y="3401568"/>
            <a:ext cx="548640" cy="164592"/>
          </a:xfrm>
          <a:prstGeom prst="rect">
            <a:avLst/>
          </a:prstGeom>
          <a:solidFill>
            <a:srgbClr val="2E7D32"/>
          </a:solidFill>
          <a:ln/>
        </p:spPr>
        <p:txBody>
          <a:bodyPr/>
          <a:lstStyle/>
          <a:p>
            <a:endParaRPr lang="en-US"/>
          </a:p>
        </p:txBody>
      </p:sp>
      <p:sp>
        <p:nvSpPr>
          <p:cNvPr id="91" name="Text 89"/>
          <p:cNvSpPr/>
          <p:nvPr/>
        </p:nvSpPr>
        <p:spPr>
          <a:xfrm>
            <a:off x="1938528" y="3364992"/>
            <a:ext cx="914400" cy="237744"/>
          </a:xfrm>
          <a:prstGeom prst="rect">
            <a:avLst/>
          </a:prstGeom>
          <a:noFill/>
          <a:ln/>
        </p:spPr>
        <p:txBody>
          <a:bodyPr wrap="square" lIns="0" tIns="0" rIns="0" bIns="0" rtlCol="0" anchor="ctr"/>
          <a:lstStyle/>
          <a:p>
            <a:pPr marL="0" indent="0">
              <a:buNone/>
            </a:pPr>
            <a:r>
              <a:rPr lang="en-US" sz="850" dirty="0">
                <a:solidFill>
                  <a:srgbClr val="666666"/>
                </a:solidFill>
                <a:latin typeface="Arial" pitchFamily="34" charset="0"/>
                <a:ea typeface="Arial" pitchFamily="34" charset="-122"/>
                <a:cs typeface="Arial" pitchFamily="34" charset="-120"/>
              </a:rPr>
              <a:t>~1-2 days</a:t>
            </a:r>
            <a:endParaRPr lang="en-US" sz="850" dirty="0"/>
          </a:p>
        </p:txBody>
      </p:sp>
      <p:sp>
        <p:nvSpPr>
          <p:cNvPr id="92" name="Shape 90"/>
          <p:cNvSpPr/>
          <p:nvPr/>
        </p:nvSpPr>
        <p:spPr>
          <a:xfrm>
            <a:off x="2880360" y="3401568"/>
            <a:ext cx="548640" cy="164592"/>
          </a:xfrm>
          <a:prstGeom prst="rect">
            <a:avLst/>
          </a:prstGeom>
          <a:solidFill>
            <a:srgbClr val="0097A7"/>
          </a:solidFill>
          <a:ln/>
        </p:spPr>
        <p:txBody>
          <a:bodyPr/>
          <a:lstStyle/>
          <a:p>
            <a:endParaRPr lang="en-US"/>
          </a:p>
        </p:txBody>
      </p:sp>
      <p:sp>
        <p:nvSpPr>
          <p:cNvPr id="93" name="Text 91"/>
          <p:cNvSpPr/>
          <p:nvPr/>
        </p:nvSpPr>
        <p:spPr>
          <a:xfrm>
            <a:off x="3474720" y="3364992"/>
            <a:ext cx="914400" cy="237744"/>
          </a:xfrm>
          <a:prstGeom prst="rect">
            <a:avLst/>
          </a:prstGeom>
          <a:noFill/>
          <a:ln/>
        </p:spPr>
        <p:txBody>
          <a:bodyPr wrap="square" lIns="0" tIns="0" rIns="0" bIns="0" rtlCol="0" anchor="ctr"/>
          <a:lstStyle/>
          <a:p>
            <a:pPr marL="0" indent="0">
              <a:buNone/>
            </a:pPr>
            <a:r>
              <a:rPr lang="en-US" sz="850" dirty="0">
                <a:solidFill>
                  <a:srgbClr val="666666"/>
                </a:solidFill>
                <a:latin typeface="Arial" pitchFamily="34" charset="0"/>
                <a:ea typeface="Arial" pitchFamily="34" charset="-122"/>
                <a:cs typeface="Arial" pitchFamily="34" charset="-120"/>
              </a:rPr>
              <a:t>~1 week</a:t>
            </a:r>
            <a:endParaRPr lang="en-US" sz="850" dirty="0"/>
          </a:p>
        </p:txBody>
      </p:sp>
      <p:sp>
        <p:nvSpPr>
          <p:cNvPr id="94" name="Shape 92"/>
          <p:cNvSpPr/>
          <p:nvPr/>
        </p:nvSpPr>
        <p:spPr>
          <a:xfrm>
            <a:off x="4416552" y="3401568"/>
            <a:ext cx="548640" cy="164592"/>
          </a:xfrm>
          <a:prstGeom prst="rect">
            <a:avLst/>
          </a:prstGeom>
          <a:solidFill>
            <a:srgbClr val="F9A825"/>
          </a:solidFill>
          <a:ln/>
        </p:spPr>
        <p:txBody>
          <a:bodyPr/>
          <a:lstStyle/>
          <a:p>
            <a:endParaRPr lang="en-US"/>
          </a:p>
        </p:txBody>
      </p:sp>
      <p:sp>
        <p:nvSpPr>
          <p:cNvPr id="95" name="Text 93"/>
          <p:cNvSpPr/>
          <p:nvPr/>
        </p:nvSpPr>
        <p:spPr>
          <a:xfrm>
            <a:off x="5010912" y="3364992"/>
            <a:ext cx="914400" cy="237744"/>
          </a:xfrm>
          <a:prstGeom prst="rect">
            <a:avLst/>
          </a:prstGeom>
          <a:noFill/>
          <a:ln/>
        </p:spPr>
        <p:txBody>
          <a:bodyPr wrap="square" lIns="0" tIns="0" rIns="0" bIns="0" rtlCol="0" anchor="ctr"/>
          <a:lstStyle/>
          <a:p>
            <a:pPr marL="0" indent="0">
              <a:buNone/>
            </a:pPr>
            <a:r>
              <a:rPr lang="en-US" sz="850" dirty="0">
                <a:solidFill>
                  <a:srgbClr val="666666"/>
                </a:solidFill>
                <a:latin typeface="Arial" pitchFamily="34" charset="0"/>
                <a:ea typeface="Arial" pitchFamily="34" charset="-122"/>
                <a:cs typeface="Arial" pitchFamily="34" charset="-120"/>
              </a:rPr>
              <a:t>~2 weeks</a:t>
            </a:r>
            <a:endParaRPr lang="en-US" sz="850" dirty="0"/>
          </a:p>
        </p:txBody>
      </p:sp>
      <p:sp>
        <p:nvSpPr>
          <p:cNvPr id="96" name="Shape 94"/>
          <p:cNvSpPr/>
          <p:nvPr/>
        </p:nvSpPr>
        <p:spPr>
          <a:xfrm>
            <a:off x="5952744" y="3401568"/>
            <a:ext cx="548640" cy="164592"/>
          </a:xfrm>
          <a:prstGeom prst="rect">
            <a:avLst/>
          </a:prstGeom>
          <a:solidFill>
            <a:srgbClr val="C62828"/>
          </a:solidFill>
          <a:ln/>
        </p:spPr>
        <p:txBody>
          <a:bodyPr/>
          <a:lstStyle/>
          <a:p>
            <a:endParaRPr lang="en-US"/>
          </a:p>
        </p:txBody>
      </p:sp>
      <p:sp>
        <p:nvSpPr>
          <p:cNvPr id="97" name="Text 95"/>
          <p:cNvSpPr/>
          <p:nvPr/>
        </p:nvSpPr>
        <p:spPr>
          <a:xfrm>
            <a:off x="6547104" y="3364992"/>
            <a:ext cx="914400" cy="237744"/>
          </a:xfrm>
          <a:prstGeom prst="rect">
            <a:avLst/>
          </a:prstGeom>
          <a:noFill/>
          <a:ln/>
        </p:spPr>
        <p:txBody>
          <a:bodyPr wrap="square" lIns="0" tIns="0" rIns="0" bIns="0" rtlCol="0" anchor="ctr"/>
          <a:lstStyle/>
          <a:p>
            <a:pPr marL="0" indent="0">
              <a:buNone/>
            </a:pPr>
            <a:r>
              <a:rPr lang="en-US" sz="850" dirty="0">
                <a:solidFill>
                  <a:srgbClr val="666666"/>
                </a:solidFill>
                <a:latin typeface="Arial" pitchFamily="34" charset="0"/>
                <a:ea typeface="Arial" pitchFamily="34" charset="-122"/>
                <a:cs typeface="Arial" pitchFamily="34" charset="-120"/>
              </a:rPr>
              <a:t>3-4 weeks</a:t>
            </a:r>
            <a:endParaRPr lang="en-US" sz="85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02920" y="1463040"/>
            <a:ext cx="8138160" cy="73152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What's New — Architecture Updates</a:t>
            </a:r>
            <a:endParaRPr lang="en-US" sz="3200" dirty="0"/>
          </a:p>
        </p:txBody>
      </p:sp>
      <p:sp>
        <p:nvSpPr>
          <p:cNvPr id="3" name="Text 1"/>
          <p:cNvSpPr/>
          <p:nvPr/>
        </p:nvSpPr>
        <p:spPr>
          <a:xfrm>
            <a:off x="502920" y="2286000"/>
            <a:ext cx="8138160" cy="457200"/>
          </a:xfrm>
          <a:prstGeom prst="rect">
            <a:avLst/>
          </a:prstGeom>
          <a:noFill/>
          <a:ln/>
        </p:spPr>
        <p:txBody>
          <a:bodyPr wrap="square" lIns="0" tIns="0" rIns="0" bIns="0" rtlCol="0" anchor="ctr"/>
          <a:lstStyle/>
          <a:p>
            <a:pPr marL="0" indent="0">
              <a:buNone/>
            </a:pPr>
            <a:r>
              <a:rPr lang="en-US" sz="1600" dirty="0">
                <a:solidFill>
                  <a:srgbClr val="0097A7"/>
                </a:solidFill>
                <a:latin typeface="Arial" pitchFamily="34" charset="0"/>
                <a:ea typeface="Arial" pitchFamily="34" charset="-122"/>
                <a:cs typeface="Arial" pitchFamily="34" charset="-120"/>
              </a:rPr>
              <a:t>4 major capabilities added since the previous version: GraphRAG, Adaptive Retrieval, Router Feedback Loop, Worker Scheduler</a:t>
            </a:r>
            <a:endParaRPr lang="en-US" sz="160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GraphRAG — Knowledge Graph Integration</a:t>
            </a:r>
            <a:endParaRPr lang="en-US" sz="2600" dirty="0"/>
          </a:p>
        </p:txBody>
      </p:sp>
      <p:sp>
        <p:nvSpPr>
          <p:cNvPr id="3" name="Text 1"/>
          <p:cNvSpPr/>
          <p:nvPr/>
        </p:nvSpPr>
        <p:spPr>
          <a:xfrm>
            <a:off x="502920" y="804672"/>
            <a:ext cx="8138160" cy="320040"/>
          </a:xfrm>
          <a:prstGeom prst="rect">
            <a:avLst/>
          </a:prstGeom>
          <a:noFill/>
          <a:ln/>
        </p:spPr>
        <p:txBody>
          <a:bodyPr wrap="square" lIns="0" tIns="0" rIns="0" bIns="0" rtlCol="0" anchor="ctr"/>
          <a:lstStyle/>
          <a:p>
            <a:pPr marL="0" indent="0">
              <a:buNone/>
            </a:pPr>
            <a:r>
              <a:rPr lang="en-US" sz="1050" dirty="0">
                <a:solidFill>
                  <a:srgbClr val="666666"/>
                </a:solidFill>
                <a:latin typeface="Arial" pitchFamily="34" charset="0"/>
                <a:ea typeface="Arial" pitchFamily="34" charset="-122"/>
                <a:cs typeface="Arial" pitchFamily="34" charset="-120"/>
              </a:rPr>
              <a:t>A new graph/ module adds Microsoft GraphRAG and Neo4j backends. A dedicated graph_manager agent uses 5 new graph tools to query entity relationships, discover sources, and plan retrieval strategies.</a:t>
            </a:r>
            <a:endParaRPr lang="en-US" sz="1050" dirty="0"/>
          </a:p>
        </p:txBody>
      </p:sp>
      <p:sp>
        <p:nvSpPr>
          <p:cNvPr id="4" name="Shape 2"/>
          <p:cNvSpPr/>
          <p:nvPr/>
        </p:nvSpPr>
        <p:spPr>
          <a:xfrm>
            <a:off x="502920" y="1234440"/>
            <a:ext cx="3977640" cy="22860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234440"/>
            <a:ext cx="3977640" cy="320040"/>
          </a:xfrm>
          <a:prstGeom prst="rect">
            <a:avLst/>
          </a:prstGeom>
          <a:solidFill>
            <a:srgbClr val="0097A7"/>
          </a:solidFill>
          <a:ln/>
        </p:spPr>
        <p:txBody>
          <a:bodyPr/>
          <a:lstStyle/>
          <a:p>
            <a:endParaRPr lang="en-US"/>
          </a:p>
        </p:txBody>
      </p:sp>
      <p:sp>
        <p:nvSpPr>
          <p:cNvPr id="6" name="Text 4"/>
          <p:cNvSpPr/>
          <p:nvPr/>
        </p:nvSpPr>
        <p:spPr>
          <a:xfrm>
            <a:off x="612648" y="1261872"/>
            <a:ext cx="37581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graph/ Module — What Was Built</a:t>
            </a:r>
            <a:endParaRPr lang="en-US" sz="1200" dirty="0"/>
          </a:p>
        </p:txBody>
      </p:sp>
      <p:sp>
        <p:nvSpPr>
          <p:cNvPr id="7" name="Text 5"/>
          <p:cNvSpPr/>
          <p:nvPr/>
        </p:nvSpPr>
        <p:spPr>
          <a:xfrm>
            <a:off x="612648" y="1618488"/>
            <a:ext cx="3758184" cy="1810512"/>
          </a:xfrm>
          <a:prstGeom prst="rect">
            <a:avLst/>
          </a:prstGeom>
          <a:noFill/>
          <a:ln/>
        </p:spPr>
        <p:txBody>
          <a:bodyPr wrap="square" lIns="0" tIns="0" rIns="0" bIns="0" rtlCol="0" anchor="t"/>
          <a:lstStyle/>
          <a:p>
            <a:pPr marL="0" indent="0">
              <a:lnSpc>
                <a:spcPct val="110000"/>
              </a:lnSpc>
              <a:buNone/>
            </a:pPr>
            <a:r>
              <a:rPr lang="en-US" sz="950" b="1" dirty="0">
                <a:solidFill>
                  <a:srgbClr val="0097A7"/>
                </a:solidFill>
                <a:latin typeface="Arial" pitchFamily="34" charset="0"/>
                <a:ea typeface="Arial" pitchFamily="34" charset="-122"/>
                <a:cs typeface="Arial" pitchFamily="34" charset="-120"/>
              </a:rPr>
              <a:t>GraphService</a:t>
            </a:r>
            <a:r>
              <a:rPr lang="en-US" sz="950" dirty="0">
                <a:solidFill>
                  <a:srgbClr val="333333"/>
                </a:solidFill>
                <a:latin typeface="Arial" pitchFamily="34" charset="0"/>
                <a:ea typeface="Arial" pitchFamily="34" charset="-122"/>
                <a:cs typeface="Arial" pitchFamily="34" charset="-120"/>
              </a:rPr>
              <a:t> — tenant-scoped service managing indexing, querying, and artifact storage
</a:t>
            </a:r>
            <a:r>
              <a:rPr lang="en-US" sz="950" b="1" dirty="0">
                <a:solidFill>
                  <a:srgbClr val="1B2A4A"/>
                </a:solidFill>
                <a:latin typeface="Arial" pitchFamily="34" charset="0"/>
                <a:ea typeface="Arial" pitchFamily="34" charset="-122"/>
                <a:cs typeface="Arial" pitchFamily="34" charset="-120"/>
              </a:rPr>
              <a:t>Backends</a:t>
            </a:r>
            <a:r>
              <a:rPr lang="en-US" sz="950" dirty="0">
                <a:solidFill>
                  <a:srgbClr val="333333"/>
                </a:solidFill>
                <a:latin typeface="Arial" pitchFamily="34" charset="0"/>
                <a:ea typeface="Arial" pitchFamily="34" charset="-122"/>
                <a:cs typeface="Arial" pitchFamily="34" charset="-120"/>
              </a:rPr>
              <a:t>: MicrosoftGraphRagBackend + Neo4jGraphImportBackend (switchable via settings.graph_backend)
</a:t>
            </a:r>
            <a:r>
              <a:rPr lang="en-US" sz="950" b="1" dirty="0">
                <a:solidFill>
                  <a:srgbClr val="0097A7"/>
                </a:solidFill>
                <a:latin typeface="Courier New" pitchFamily="34" charset="0"/>
                <a:ea typeface="Courier New" pitchFamily="34" charset="-122"/>
                <a:cs typeface="Courier New" pitchFamily="34" charset="-120"/>
              </a:rPr>
              <a:t>graph/planner.py</a:t>
            </a:r>
            <a:r>
              <a:rPr lang="en-US" sz="950" dirty="0">
                <a:solidFill>
                  <a:srgbClr val="333333"/>
                </a:solidFill>
                <a:latin typeface="Arial" pitchFamily="34" charset="0"/>
                <a:ea typeface="Arial" pitchFamily="34" charset="-122"/>
                <a:cs typeface="Arial" pitchFamily="34" charset="-120"/>
              </a:rPr>
              <a:t> — plan_sources() selects which graph indexes to query for a given task
</a:t>
            </a:r>
            <a:r>
              <a:rPr lang="en-US" sz="950" b="1" dirty="0">
                <a:solidFill>
                  <a:srgbClr val="0097A7"/>
                </a:solidFill>
                <a:latin typeface="Courier New" pitchFamily="34" charset="0"/>
                <a:ea typeface="Courier New" pitchFamily="34" charset="-122"/>
                <a:cs typeface="Courier New" pitchFamily="34" charset="-120"/>
              </a:rPr>
              <a:t>graph/artifacts.py</a:t>
            </a:r>
            <a:r>
              <a:rPr lang="en-US" sz="950" dirty="0">
                <a:solidFill>
                  <a:srgbClr val="333333"/>
                </a:solidFill>
                <a:latin typeface="Arial" pitchFamily="34" charset="0"/>
                <a:ea typeface="Arial" pitchFamily="34" charset="-122"/>
                <a:cs typeface="Arial" pitchFamily="34" charset="-120"/>
              </a:rPr>
              <a:t> — loads and serialises GraphRAG output bundles for downstream agents</a:t>
            </a:r>
            <a:endParaRPr lang="en-US" sz="1000" dirty="0"/>
          </a:p>
        </p:txBody>
      </p:sp>
      <p:sp>
        <p:nvSpPr>
          <p:cNvPr id="8" name="Shape 6"/>
          <p:cNvSpPr/>
          <p:nvPr/>
        </p:nvSpPr>
        <p:spPr>
          <a:xfrm>
            <a:off x="4663440" y="1234440"/>
            <a:ext cx="3977640" cy="22860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4663440" y="1234440"/>
            <a:ext cx="3977640" cy="320040"/>
          </a:xfrm>
          <a:prstGeom prst="rect">
            <a:avLst/>
          </a:prstGeom>
          <a:solidFill>
            <a:srgbClr val="F9A825"/>
          </a:solidFill>
          <a:ln/>
        </p:spPr>
        <p:txBody>
          <a:bodyPr/>
          <a:lstStyle/>
          <a:p>
            <a:endParaRPr lang="en-US"/>
          </a:p>
        </p:txBody>
      </p:sp>
      <p:sp>
        <p:nvSpPr>
          <p:cNvPr id="10" name="Text 8"/>
          <p:cNvSpPr/>
          <p:nvPr/>
        </p:nvSpPr>
        <p:spPr>
          <a:xfrm>
            <a:off x="4773168" y="1261872"/>
            <a:ext cx="37581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graph_manager Agent — New Worker</a:t>
            </a:r>
            <a:endParaRPr lang="en-US" sz="1200" dirty="0"/>
          </a:p>
        </p:txBody>
      </p:sp>
      <p:sp>
        <p:nvSpPr>
          <p:cNvPr id="11" name="Text 9"/>
          <p:cNvSpPr/>
          <p:nvPr/>
        </p:nvSpPr>
        <p:spPr>
          <a:xfrm>
            <a:off x="4773168" y="1618488"/>
            <a:ext cx="3758184" cy="1810512"/>
          </a:xfrm>
          <a:prstGeom prst="rect">
            <a:avLst/>
          </a:prstGeom>
          <a:noFill/>
          <a:ln/>
        </p:spPr>
        <p:txBody>
          <a:bodyPr wrap="square" lIns="0" tIns="0" rIns="0" bIns="0" rtlCol="0" anchor="t"/>
          <a:lstStyle/>
          <a:p>
            <a:pPr marL="0" indent="0">
              <a:lnSpc>
                <a:spcPct val="110000"/>
              </a:lnSpc>
              <a:buNone/>
            </a:pPr>
            <a:r>
              <a:rPr lang="en-US" sz="950" b="1" dirty="0">
                <a:solidFill>
                  <a:srgbClr val="1B2A4A"/>
                </a:solidFill>
                <a:latin typeface="Arial" pitchFamily="34" charset="0"/>
                <a:ea typeface="Arial" pitchFamily="34" charset="-122"/>
                <a:cs typeface="Arial" pitchFamily="34" charset="-120"/>
              </a:rPr>
              <a:t>Role: </a:t>
            </a:r>
            <a:r>
              <a:rPr lang="en-US" sz="950" dirty="0">
                <a:solidFill>
                  <a:srgbClr val="333333"/>
                </a:solidFill>
                <a:latin typeface="Arial" pitchFamily="34" charset="0"/>
                <a:ea typeface="Arial" pitchFamily="34" charset="-122"/>
                <a:cs typeface="Arial" pitchFamily="34" charset="-120"/>
              </a:rPr>
              <a:t>worker-only (entry_path: delegated_only), dispatched by coordinator or general agent
</a:t>
            </a:r>
            <a:r>
              <a:rPr lang="en-US" sz="950" b="1" dirty="0">
                <a:solidFill>
                  <a:srgbClr val="1B2A4A"/>
                </a:solidFill>
                <a:latin typeface="Arial" pitchFamily="34" charset="0"/>
                <a:ea typeface="Arial" pitchFamily="34" charset="-122"/>
                <a:cs typeface="Arial" pitchFamily="34" charset="-120"/>
              </a:rPr>
              <a:t>5 tools: </a:t>
            </a:r>
            <a:r>
              <a:rPr lang="en-US" sz="950" dirty="0">
                <a:solidFill>
                  <a:srgbClr val="333333"/>
                </a:solidFill>
                <a:latin typeface="Courier New" pitchFamily="34" charset="0"/>
                <a:ea typeface="Courier New" pitchFamily="34" charset="-122"/>
                <a:cs typeface="Courier New" pitchFamily="34" charset="-120"/>
              </a:rPr>
              <a:t>list_graph_indexes, inspect_graph_index, search_graph_index, explain_source_plan, invoke_agent
</a:t>
            </a:r>
            <a:r>
              <a:rPr lang="en-US" sz="950" b="1" dirty="0">
                <a:solidFill>
                  <a:srgbClr val="1B2A4A"/>
                </a:solidFill>
                <a:latin typeface="Arial" pitchFamily="34" charset="0"/>
                <a:ea typeface="Arial" pitchFamily="34" charset="-122"/>
                <a:cs typeface="Arial" pitchFamily="34" charset="-120"/>
              </a:rPr>
              <a:t>Can delegate to: </a:t>
            </a:r>
            <a:r>
              <a:rPr lang="en-US" sz="950" dirty="0">
                <a:solidFill>
                  <a:srgbClr val="333333"/>
                </a:solidFill>
                <a:latin typeface="Arial" pitchFamily="34" charset="0"/>
                <a:ea typeface="Arial" pitchFamily="34" charset="-122"/>
                <a:cs typeface="Arial" pitchFamily="34" charset="-120"/>
              </a:rPr>
              <a:t>rag_worker or general agent for synthesis after graph retrieval
</a:t>
            </a:r>
            <a:r>
              <a:rPr lang="en-US" sz="950" b="1" dirty="0">
                <a:solidFill>
                  <a:srgbClr val="1B2A4A"/>
                </a:solidFill>
                <a:latin typeface="Arial" pitchFamily="34" charset="0"/>
                <a:ea typeface="Arial" pitchFamily="34" charset="-122"/>
                <a:cs typeface="Arial" pitchFamily="34" charset="-120"/>
              </a:rPr>
              <a:t>Use case: </a:t>
            </a:r>
            <a:r>
              <a:rPr lang="en-US" sz="950" dirty="0">
                <a:solidFill>
                  <a:srgbClr val="333333"/>
                </a:solidFill>
                <a:latin typeface="Arial" pitchFamily="34" charset="0"/>
                <a:ea typeface="Arial" pitchFamily="34" charset="-122"/>
                <a:cs typeface="Arial" pitchFamily="34" charset="-120"/>
              </a:rPr>
              <a:t>"What entities connect contract risk to vendor performance?" — traverses graph instead of vector search</a:t>
            </a:r>
            <a:endParaRPr lang="en-US" sz="1000" dirty="0"/>
          </a:p>
        </p:txBody>
      </p:sp>
      <p:sp>
        <p:nvSpPr>
          <p:cNvPr id="12" name="Text 10"/>
          <p:cNvSpPr/>
          <p:nvPr/>
        </p:nvSpPr>
        <p:spPr>
          <a:xfrm>
            <a:off x="502920" y="3639312"/>
            <a:ext cx="8138160" cy="219456"/>
          </a:xfrm>
          <a:prstGeom prst="rect">
            <a:avLst/>
          </a:prstGeom>
          <a:noFill/>
          <a:ln/>
        </p:spPr>
        <p:txBody>
          <a:bodyPr wrap="square" lIns="0" tIns="0" rIns="0" bIns="0" rtlCol="0" anchor="ctr"/>
          <a:lstStyle/>
          <a:p>
            <a:pPr marL="0" indent="0">
              <a:buNone/>
            </a:pPr>
            <a:r>
              <a:rPr lang="en-US" sz="1000" b="1" dirty="0">
                <a:solidFill>
                  <a:srgbClr val="1B2A4A"/>
                </a:solidFill>
                <a:latin typeface="Arial" pitchFamily="34" charset="0"/>
                <a:ea typeface="Arial" pitchFamily="34" charset="-122"/>
                <a:cs typeface="Arial" pitchFamily="34" charset="-120"/>
              </a:rPr>
              <a:t>New Graph API Endpoints (5)</a:t>
            </a:r>
            <a:endParaRPr lang="en-US" sz="1000" dirty="0"/>
          </a:p>
        </p:txBody>
      </p:sp>
      <p:sp>
        <p:nvSpPr>
          <p:cNvPr id="13" name="Shape 11"/>
          <p:cNvSpPr/>
          <p:nvPr/>
        </p:nvSpPr>
        <p:spPr>
          <a:xfrm>
            <a:off x="502920" y="3904488"/>
            <a:ext cx="1591056" cy="502920"/>
          </a:xfrm>
          <a:prstGeom prst="rect">
            <a:avLst/>
          </a:prstGeom>
          <a:solidFill>
            <a:srgbClr val="E0F7FA"/>
          </a:solidFill>
          <a:ln w="6350">
            <a:solidFill>
              <a:srgbClr val="0097A7"/>
            </a:solidFill>
            <a:prstDash val="solid"/>
          </a:ln>
        </p:spPr>
        <p:txBody>
          <a:bodyPr/>
          <a:lstStyle/>
          <a:p>
            <a:endParaRPr lang="en-US"/>
          </a:p>
        </p:txBody>
      </p:sp>
      <p:sp>
        <p:nvSpPr>
          <p:cNvPr id="14" name="Text 12"/>
          <p:cNvSpPr/>
          <p:nvPr/>
        </p:nvSpPr>
        <p:spPr>
          <a:xfrm>
            <a:off x="548640" y="3922776"/>
            <a:ext cx="1499616" cy="201168"/>
          </a:xfrm>
          <a:prstGeom prst="rect">
            <a:avLst/>
          </a:prstGeom>
          <a:noFill/>
          <a:ln/>
        </p:spPr>
        <p:txBody>
          <a:bodyPr wrap="square" lIns="0" tIns="0" rIns="0" bIns="0" rtlCol="0" anchor="ctr"/>
          <a:lstStyle/>
          <a:p>
            <a:pPr marL="0" indent="0">
              <a:buNone/>
            </a:pPr>
            <a:r>
              <a:rPr lang="en-US" sz="800" b="1" dirty="0">
                <a:solidFill>
                  <a:srgbClr val="00796B"/>
                </a:solidFill>
                <a:latin typeface="Courier New" pitchFamily="34" charset="0"/>
                <a:ea typeface="Courier New" pitchFamily="34" charset="-122"/>
                <a:cs typeface="Courier New" pitchFamily="34" charset="-120"/>
              </a:rPr>
              <a:t>GET /v1/graphs</a:t>
            </a:r>
            <a:endParaRPr lang="en-US" sz="800" dirty="0"/>
          </a:p>
        </p:txBody>
      </p:sp>
      <p:sp>
        <p:nvSpPr>
          <p:cNvPr id="15" name="Text 13"/>
          <p:cNvSpPr/>
          <p:nvPr/>
        </p:nvSpPr>
        <p:spPr>
          <a:xfrm>
            <a:off x="548640" y="4123944"/>
            <a:ext cx="1499616" cy="219456"/>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List graph indexes</a:t>
            </a:r>
            <a:endParaRPr lang="en-US" sz="850" dirty="0"/>
          </a:p>
        </p:txBody>
      </p:sp>
      <p:sp>
        <p:nvSpPr>
          <p:cNvPr id="16" name="Shape 14"/>
          <p:cNvSpPr/>
          <p:nvPr/>
        </p:nvSpPr>
        <p:spPr>
          <a:xfrm>
            <a:off x="2130552" y="3904488"/>
            <a:ext cx="1591056" cy="502920"/>
          </a:xfrm>
          <a:prstGeom prst="rect">
            <a:avLst/>
          </a:prstGeom>
          <a:solidFill>
            <a:srgbClr val="E8F5E9"/>
          </a:solidFill>
          <a:ln w="6350">
            <a:solidFill>
              <a:srgbClr val="0097A7"/>
            </a:solidFill>
            <a:prstDash val="solid"/>
          </a:ln>
        </p:spPr>
        <p:txBody>
          <a:bodyPr/>
          <a:lstStyle/>
          <a:p>
            <a:endParaRPr lang="en-US"/>
          </a:p>
        </p:txBody>
      </p:sp>
      <p:sp>
        <p:nvSpPr>
          <p:cNvPr id="17" name="Text 15"/>
          <p:cNvSpPr/>
          <p:nvPr/>
        </p:nvSpPr>
        <p:spPr>
          <a:xfrm>
            <a:off x="2176272" y="3922776"/>
            <a:ext cx="1499616" cy="201168"/>
          </a:xfrm>
          <a:prstGeom prst="rect">
            <a:avLst/>
          </a:prstGeom>
          <a:noFill/>
          <a:ln/>
        </p:spPr>
        <p:txBody>
          <a:bodyPr wrap="square" lIns="0" tIns="0" rIns="0" bIns="0" rtlCol="0" anchor="ctr"/>
          <a:lstStyle/>
          <a:p>
            <a:pPr marL="0" indent="0">
              <a:buNone/>
            </a:pPr>
            <a:r>
              <a:rPr lang="en-US" sz="800" b="1" dirty="0">
                <a:solidFill>
                  <a:srgbClr val="00796B"/>
                </a:solidFill>
                <a:latin typeface="Courier New" pitchFamily="34" charset="0"/>
                <a:ea typeface="Courier New" pitchFamily="34" charset="-122"/>
                <a:cs typeface="Courier New" pitchFamily="34" charset="-120"/>
              </a:rPr>
              <a:t>GET /v1/graphs/{id}</a:t>
            </a:r>
            <a:endParaRPr lang="en-US" sz="800" dirty="0"/>
          </a:p>
        </p:txBody>
      </p:sp>
      <p:sp>
        <p:nvSpPr>
          <p:cNvPr id="18" name="Text 16"/>
          <p:cNvSpPr/>
          <p:nvPr/>
        </p:nvSpPr>
        <p:spPr>
          <a:xfrm>
            <a:off x="2176272" y="4123944"/>
            <a:ext cx="1499616" cy="219456"/>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Graph metadata</a:t>
            </a:r>
            <a:endParaRPr lang="en-US" sz="850" dirty="0"/>
          </a:p>
        </p:txBody>
      </p:sp>
      <p:sp>
        <p:nvSpPr>
          <p:cNvPr id="19" name="Shape 17"/>
          <p:cNvSpPr/>
          <p:nvPr/>
        </p:nvSpPr>
        <p:spPr>
          <a:xfrm>
            <a:off x="3758184" y="3904488"/>
            <a:ext cx="1591056" cy="502920"/>
          </a:xfrm>
          <a:prstGeom prst="rect">
            <a:avLst/>
          </a:prstGeom>
          <a:solidFill>
            <a:srgbClr val="E0F7FA"/>
          </a:solidFill>
          <a:ln w="6350">
            <a:solidFill>
              <a:srgbClr val="0097A7"/>
            </a:solidFill>
            <a:prstDash val="solid"/>
          </a:ln>
        </p:spPr>
        <p:txBody>
          <a:bodyPr/>
          <a:lstStyle/>
          <a:p>
            <a:endParaRPr lang="en-US"/>
          </a:p>
        </p:txBody>
      </p:sp>
      <p:sp>
        <p:nvSpPr>
          <p:cNvPr id="20" name="Text 18"/>
          <p:cNvSpPr/>
          <p:nvPr/>
        </p:nvSpPr>
        <p:spPr>
          <a:xfrm>
            <a:off x="3803904" y="3922776"/>
            <a:ext cx="1499616" cy="201168"/>
          </a:xfrm>
          <a:prstGeom prst="rect">
            <a:avLst/>
          </a:prstGeom>
          <a:noFill/>
          <a:ln/>
        </p:spPr>
        <p:txBody>
          <a:bodyPr wrap="square" lIns="0" tIns="0" rIns="0" bIns="0" rtlCol="0" anchor="ctr"/>
          <a:lstStyle/>
          <a:p>
            <a:pPr marL="0" indent="0">
              <a:buNone/>
            </a:pPr>
            <a:r>
              <a:rPr lang="en-US" sz="800" b="1" dirty="0">
                <a:solidFill>
                  <a:srgbClr val="00796B"/>
                </a:solidFill>
                <a:latin typeface="Courier New" pitchFamily="34" charset="0"/>
                <a:ea typeface="Courier New" pitchFamily="34" charset="-122"/>
                <a:cs typeface="Courier New" pitchFamily="34" charset="-120"/>
              </a:rPr>
              <a:t>POST /v1/graphs/index</a:t>
            </a:r>
            <a:endParaRPr lang="en-US" sz="800" dirty="0"/>
          </a:p>
        </p:txBody>
      </p:sp>
      <p:sp>
        <p:nvSpPr>
          <p:cNvPr id="21" name="Text 19"/>
          <p:cNvSpPr/>
          <p:nvPr/>
        </p:nvSpPr>
        <p:spPr>
          <a:xfrm>
            <a:off x="3803904" y="4123944"/>
            <a:ext cx="1499616" cy="219456"/>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Run indexing</a:t>
            </a:r>
            <a:endParaRPr lang="en-US" sz="850" dirty="0"/>
          </a:p>
        </p:txBody>
      </p:sp>
      <p:sp>
        <p:nvSpPr>
          <p:cNvPr id="22" name="Shape 20"/>
          <p:cNvSpPr/>
          <p:nvPr/>
        </p:nvSpPr>
        <p:spPr>
          <a:xfrm>
            <a:off x="5385816" y="3904488"/>
            <a:ext cx="1591056" cy="502920"/>
          </a:xfrm>
          <a:prstGeom prst="rect">
            <a:avLst/>
          </a:prstGeom>
          <a:solidFill>
            <a:srgbClr val="E8F5E9"/>
          </a:solidFill>
          <a:ln w="6350">
            <a:solidFill>
              <a:srgbClr val="0097A7"/>
            </a:solidFill>
            <a:prstDash val="solid"/>
          </a:ln>
        </p:spPr>
        <p:txBody>
          <a:bodyPr/>
          <a:lstStyle/>
          <a:p>
            <a:endParaRPr lang="en-US"/>
          </a:p>
        </p:txBody>
      </p:sp>
      <p:sp>
        <p:nvSpPr>
          <p:cNvPr id="23" name="Text 21"/>
          <p:cNvSpPr/>
          <p:nvPr/>
        </p:nvSpPr>
        <p:spPr>
          <a:xfrm>
            <a:off x="5431536" y="3922776"/>
            <a:ext cx="1499616" cy="201168"/>
          </a:xfrm>
          <a:prstGeom prst="rect">
            <a:avLst/>
          </a:prstGeom>
          <a:noFill/>
          <a:ln/>
        </p:spPr>
        <p:txBody>
          <a:bodyPr wrap="square" lIns="0" tIns="0" rIns="0" bIns="0" rtlCol="0" anchor="ctr"/>
          <a:lstStyle/>
          <a:p>
            <a:pPr marL="0" indent="0">
              <a:buNone/>
            </a:pPr>
            <a:r>
              <a:rPr lang="en-US" sz="800" b="1" dirty="0">
                <a:solidFill>
                  <a:srgbClr val="00796B"/>
                </a:solidFill>
                <a:latin typeface="Courier New" pitchFamily="34" charset="0"/>
                <a:ea typeface="Courier New" pitchFamily="34" charset="-122"/>
                <a:cs typeface="Courier New" pitchFamily="34" charset="-120"/>
              </a:rPr>
              <a:t>POST /v1/graphs/import</a:t>
            </a:r>
            <a:endParaRPr lang="en-US" sz="800" dirty="0"/>
          </a:p>
        </p:txBody>
      </p:sp>
      <p:sp>
        <p:nvSpPr>
          <p:cNvPr id="24" name="Text 22"/>
          <p:cNvSpPr/>
          <p:nvPr/>
        </p:nvSpPr>
        <p:spPr>
          <a:xfrm>
            <a:off x="5431536" y="4123944"/>
            <a:ext cx="1499616" cy="219456"/>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Import Neo4j/GraphRAG</a:t>
            </a:r>
            <a:endParaRPr lang="en-US" sz="850" dirty="0"/>
          </a:p>
        </p:txBody>
      </p:sp>
      <p:sp>
        <p:nvSpPr>
          <p:cNvPr id="25" name="Shape 23"/>
          <p:cNvSpPr/>
          <p:nvPr/>
        </p:nvSpPr>
        <p:spPr>
          <a:xfrm>
            <a:off x="7013448" y="3904488"/>
            <a:ext cx="1591056" cy="502920"/>
          </a:xfrm>
          <a:prstGeom prst="rect">
            <a:avLst/>
          </a:prstGeom>
          <a:solidFill>
            <a:srgbClr val="E0F7FA"/>
          </a:solidFill>
          <a:ln w="6350">
            <a:solidFill>
              <a:srgbClr val="0097A7"/>
            </a:solidFill>
            <a:prstDash val="solid"/>
          </a:ln>
        </p:spPr>
        <p:txBody>
          <a:bodyPr/>
          <a:lstStyle/>
          <a:p>
            <a:endParaRPr lang="en-US"/>
          </a:p>
        </p:txBody>
      </p:sp>
      <p:sp>
        <p:nvSpPr>
          <p:cNvPr id="26" name="Text 24"/>
          <p:cNvSpPr/>
          <p:nvPr/>
        </p:nvSpPr>
        <p:spPr>
          <a:xfrm>
            <a:off x="7059168" y="3922776"/>
            <a:ext cx="1499616" cy="201168"/>
          </a:xfrm>
          <a:prstGeom prst="rect">
            <a:avLst/>
          </a:prstGeom>
          <a:noFill/>
          <a:ln/>
        </p:spPr>
        <p:txBody>
          <a:bodyPr wrap="square" lIns="0" tIns="0" rIns="0" bIns="0" rtlCol="0" anchor="ctr"/>
          <a:lstStyle/>
          <a:p>
            <a:pPr marL="0" indent="0">
              <a:buNone/>
            </a:pPr>
            <a:r>
              <a:rPr lang="en-US" sz="800" b="1" dirty="0">
                <a:solidFill>
                  <a:srgbClr val="00796B"/>
                </a:solidFill>
                <a:latin typeface="Courier New" pitchFamily="34" charset="0"/>
                <a:ea typeface="Courier New" pitchFamily="34" charset="-122"/>
                <a:cs typeface="Courier New" pitchFamily="34" charset="-120"/>
              </a:rPr>
              <a:t>POST /v1/graphs/query</a:t>
            </a:r>
            <a:endParaRPr lang="en-US" sz="800" dirty="0"/>
          </a:p>
        </p:txBody>
      </p:sp>
      <p:sp>
        <p:nvSpPr>
          <p:cNvPr id="27" name="Text 25"/>
          <p:cNvSpPr/>
          <p:nvPr/>
        </p:nvSpPr>
        <p:spPr>
          <a:xfrm>
            <a:off x="7059168" y="4123944"/>
            <a:ext cx="1499616" cy="219456"/>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Direct graph query</a:t>
            </a:r>
            <a:endParaRPr lang="en-US" sz="850" dirty="0"/>
          </a:p>
        </p:txBody>
      </p:sp>
      <p:sp>
        <p:nvSpPr>
          <p:cNvPr id="28" name="Text 26"/>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graph/service.py, graph/planner.py, graph/backend.py — MicrosoftGraphRagBackend + Neo4jGraphImportBackend</a:t>
            </a:r>
            <a:endParaRPr lang="en-US" sz="90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Deep RAG &amp; Adaptive Retrieval</a:t>
            </a:r>
            <a:endParaRPr lang="en-US" sz="2600" dirty="0"/>
          </a:p>
        </p:txBody>
      </p:sp>
      <p:sp>
        <p:nvSpPr>
          <p:cNvPr id="3" name="Text 1"/>
          <p:cNvSpPr/>
          <p:nvPr/>
        </p:nvSpPr>
        <p:spPr>
          <a:xfrm>
            <a:off x="502920" y="804672"/>
            <a:ext cx="8138160" cy="320040"/>
          </a:xfrm>
          <a:prstGeom prst="rect">
            <a:avLst/>
          </a:prstGeom>
          <a:noFill/>
          <a:ln/>
        </p:spPr>
        <p:txBody>
          <a:bodyPr wrap="square" lIns="0" tIns="0" rIns="0" bIns="0" rtlCol="0" anchor="ctr"/>
          <a:lstStyle/>
          <a:p>
            <a:pPr marL="0" indent="0">
              <a:buNone/>
            </a:pPr>
            <a:r>
              <a:rPr lang="en-US" sz="1050" dirty="0">
                <a:solidFill>
                  <a:srgbClr val="666666"/>
                </a:solidFill>
                <a:latin typeface="Arial" pitchFamily="34" charset="0"/>
                <a:ea typeface="Arial" pitchFamily="34" charset="-122"/>
                <a:cs typeface="Arial" pitchFamily="34" charset="-120"/>
              </a:rPr>
              <a:t>Two new layers sit above the base RAG pipeline: DeepRagRequest controls search depth, and CorpusRetrievalAdapter orchestrates multi-step, entity-linked, and graph-augmented retrieval.</a:t>
            </a:r>
            <a:endParaRPr lang="en-US" sz="1050" dirty="0"/>
          </a:p>
        </p:txBody>
      </p:sp>
      <p:sp>
        <p:nvSpPr>
          <p:cNvPr id="4" name="Shape 2"/>
          <p:cNvSpPr/>
          <p:nvPr/>
        </p:nvSpPr>
        <p:spPr>
          <a:xfrm>
            <a:off x="502920" y="1234440"/>
            <a:ext cx="3977640" cy="25603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234440"/>
            <a:ext cx="3977640" cy="320040"/>
          </a:xfrm>
          <a:prstGeom prst="rect">
            <a:avLst/>
          </a:prstGeom>
          <a:solidFill>
            <a:srgbClr val="0097A7"/>
          </a:solidFill>
          <a:ln/>
        </p:spPr>
        <p:txBody>
          <a:bodyPr/>
          <a:lstStyle/>
          <a:p>
            <a:endParaRPr lang="en-US"/>
          </a:p>
        </p:txBody>
      </p:sp>
      <p:sp>
        <p:nvSpPr>
          <p:cNvPr id="6" name="Text 4"/>
          <p:cNvSpPr/>
          <p:nvPr/>
        </p:nvSpPr>
        <p:spPr>
          <a:xfrm>
            <a:off x="612648" y="1261872"/>
            <a:ext cx="37581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runtime/deep_rag.py — Search Modes</a:t>
            </a:r>
            <a:endParaRPr lang="en-US" sz="1200" dirty="0"/>
          </a:p>
        </p:txBody>
      </p:sp>
      <p:sp>
        <p:nvSpPr>
          <p:cNvPr id="7" name="Text 5"/>
          <p:cNvSpPr/>
          <p:nvPr/>
        </p:nvSpPr>
        <p:spPr>
          <a:xfrm>
            <a:off x="612648" y="1618488"/>
            <a:ext cx="3758184" cy="2084832"/>
          </a:xfrm>
          <a:prstGeom prst="rect">
            <a:avLst/>
          </a:prstGeom>
          <a:noFill/>
          <a:ln/>
        </p:spPr>
        <p:txBody>
          <a:bodyPr wrap="square" lIns="0" tIns="0" rIns="0" bIns="0" rtlCol="0" anchor="t"/>
          <a:lstStyle/>
          <a:p>
            <a:pPr marL="0" indent="0">
              <a:lnSpc>
                <a:spcPct val="110000"/>
              </a:lnSpc>
              <a:buNone/>
            </a:pPr>
            <a:r>
              <a:rPr lang="en-US" sz="950" b="1" dirty="0">
                <a:solidFill>
                  <a:srgbClr val="0097A7"/>
                </a:solidFill>
                <a:latin typeface="Courier New" pitchFamily="34" charset="0"/>
                <a:ea typeface="Courier New" pitchFamily="34" charset="-122"/>
                <a:cs typeface="Courier New" pitchFamily="34" charset="-120"/>
              </a:rPr>
              <a:t>DeepRagRequest </a:t>
            </a:r>
            <a:r>
              <a:rPr lang="en-US" sz="950" dirty="0">
                <a:solidFill>
                  <a:srgbClr val="333333"/>
                </a:solidFill>
                <a:latin typeface="Arial" pitchFamily="34" charset="0"/>
                <a:ea typeface="Arial" pitchFamily="34" charset="-122"/>
                <a:cs typeface="Arial" pitchFamily="34" charset="-120"/>
              </a:rPr>
              <a:t>controls per-turn retrieval policy:
</a:t>
            </a:r>
            <a:r>
              <a:rPr lang="en-US" sz="950" b="1" dirty="0">
                <a:solidFill>
                  <a:srgbClr val="1B2A4A"/>
                </a:solidFill>
                <a:latin typeface="Arial" pitchFamily="34" charset="0"/>
                <a:ea typeface="Arial" pitchFamily="34" charset="-122"/>
                <a:cs typeface="Arial" pitchFamily="34" charset="-120"/>
              </a:rPr>
              <a:t>mode: </a:t>
            </a:r>
            <a:r>
              <a:rPr lang="en-US" sz="950" dirty="0">
                <a:solidFill>
                  <a:srgbClr val="333333"/>
                </a:solidFill>
                <a:latin typeface="Courier New" pitchFamily="34" charset="0"/>
                <a:ea typeface="Courier New" pitchFamily="34" charset="-122"/>
                <a:cs typeface="Courier New" pitchFamily="34" charset="-120"/>
              </a:rPr>
              <a:t>off | auto | force
</a:t>
            </a:r>
            <a:r>
              <a:rPr lang="en-US" sz="950" b="1" dirty="0">
                <a:solidFill>
                  <a:srgbClr val="1B2A4A"/>
                </a:solidFill>
                <a:latin typeface="Arial" pitchFamily="34" charset="0"/>
                <a:ea typeface="Arial" pitchFamily="34" charset="-122"/>
                <a:cs typeface="Arial" pitchFamily="34" charset="-120"/>
              </a:rPr>
              <a:t>search_mode: </a:t>
            </a:r>
            <a:r>
              <a:rPr lang="en-US" sz="950" dirty="0">
                <a:solidFill>
                  <a:srgbClr val="333333"/>
                </a:solidFill>
                <a:latin typeface="Courier New" pitchFamily="34" charset="0"/>
                <a:ea typeface="Courier New" pitchFamily="34" charset="-122"/>
                <a:cs typeface="Courier New" pitchFamily="34" charset="-120"/>
              </a:rPr>
              <a:t>fast | auto | deep
</a:t>
            </a:r>
            <a:r>
              <a:rPr lang="en-US" sz="950" b="1" dirty="0">
                <a:solidFill>
                  <a:srgbClr val="0097A7"/>
                </a:solidFill>
                <a:latin typeface="Courier New" pitchFamily="34" charset="0"/>
                <a:ea typeface="Courier New" pitchFamily="34" charset="-122"/>
                <a:cs typeface="Courier New" pitchFamily="34" charset="-120"/>
              </a:rPr>
              <a:t>auto</a:t>
            </a:r>
            <a:r>
              <a:rPr lang="en-US" sz="950" dirty="0">
                <a:solidFill>
                  <a:srgbClr val="333333"/>
                </a:solidFill>
                <a:latin typeface="Arial" pitchFamily="34" charset="0"/>
                <a:ea typeface="Arial" pitchFamily="34" charset="-122"/>
                <a:cs typeface="Arial" pitchFamily="34" charset="-120"/>
              </a:rPr>
              <a:t>: LLM policy planner decides based on query complexity
</a:t>
            </a:r>
            <a:r>
              <a:rPr lang="en-US" sz="950" b="1" dirty="0">
                <a:solidFill>
                  <a:srgbClr val="C62828"/>
                </a:solidFill>
                <a:latin typeface="Courier New" pitchFamily="34" charset="0"/>
                <a:ea typeface="Courier New" pitchFamily="34" charset="-122"/>
                <a:cs typeface="Courier New" pitchFamily="34" charset="-120"/>
              </a:rPr>
              <a:t>deep</a:t>
            </a:r>
            <a:r>
              <a:rPr lang="en-US" sz="950" dirty="0">
                <a:solidFill>
                  <a:srgbClr val="333333"/>
                </a:solidFill>
                <a:latin typeface="Arial" pitchFamily="34" charset="0"/>
                <a:ea typeface="Arial" pitchFamily="34" charset="-122"/>
                <a:cs typeface="Arial" pitchFamily="34" charset="-120"/>
              </a:rPr>
              <a:t>: Forces CorpusRetrievalAdapter for multi-stage, entity-linked, graph-augmented retrieval
</a:t>
            </a:r>
            <a:r>
              <a:rPr lang="en-US" sz="950" b="1" dirty="0">
                <a:solidFill>
                  <a:srgbClr val="2E7D32"/>
                </a:solidFill>
                <a:latin typeface="Courier New" pitchFamily="34" charset="0"/>
                <a:ea typeface="Courier New" pitchFamily="34" charset="-122"/>
                <a:cs typeface="Courier New" pitchFamily="34" charset="-120"/>
              </a:rPr>
              <a:t>fast</a:t>
            </a:r>
            <a:r>
              <a:rPr lang="en-US" sz="950" dirty="0">
                <a:solidFill>
                  <a:srgbClr val="333333"/>
                </a:solidFill>
                <a:latin typeface="Arial" pitchFamily="34" charset="0"/>
                <a:ea typeface="Arial" pitchFamily="34" charset="-122"/>
                <a:cs typeface="Arial" pitchFamily="34" charset="-120"/>
              </a:rPr>
              <a:t>: Single-pass vector + BM25 (same as before)</a:t>
            </a:r>
            <a:endParaRPr lang="en-US" sz="1000" dirty="0"/>
          </a:p>
        </p:txBody>
      </p:sp>
      <p:sp>
        <p:nvSpPr>
          <p:cNvPr id="8" name="Shape 6"/>
          <p:cNvSpPr/>
          <p:nvPr/>
        </p:nvSpPr>
        <p:spPr>
          <a:xfrm>
            <a:off x="4663440" y="1234440"/>
            <a:ext cx="3977640" cy="25603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4663440" y="1234440"/>
            <a:ext cx="3977640" cy="320040"/>
          </a:xfrm>
          <a:prstGeom prst="rect">
            <a:avLst/>
          </a:prstGeom>
          <a:solidFill>
            <a:srgbClr val="00796B"/>
          </a:solidFill>
          <a:ln/>
        </p:spPr>
        <p:txBody>
          <a:bodyPr/>
          <a:lstStyle/>
          <a:p>
            <a:endParaRPr lang="en-US"/>
          </a:p>
        </p:txBody>
      </p:sp>
      <p:sp>
        <p:nvSpPr>
          <p:cNvPr id="10" name="Text 8"/>
          <p:cNvSpPr/>
          <p:nvPr/>
        </p:nvSpPr>
        <p:spPr>
          <a:xfrm>
            <a:off x="4773168" y="1261872"/>
            <a:ext cx="37581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rag/adaptive.py — CorpusRetrievalAdapter</a:t>
            </a:r>
            <a:endParaRPr lang="en-US" sz="1200" dirty="0"/>
          </a:p>
        </p:txBody>
      </p:sp>
      <p:sp>
        <p:nvSpPr>
          <p:cNvPr id="11" name="Text 9"/>
          <p:cNvSpPr/>
          <p:nvPr/>
        </p:nvSpPr>
        <p:spPr>
          <a:xfrm>
            <a:off x="4773168" y="1618488"/>
            <a:ext cx="3758184" cy="2084832"/>
          </a:xfrm>
          <a:prstGeom prst="rect">
            <a:avLst/>
          </a:prstGeom>
          <a:noFill/>
          <a:ln/>
        </p:spPr>
        <p:txBody>
          <a:bodyPr wrap="square" lIns="0" tIns="0" rIns="0" bIns="0" rtlCol="0" anchor="t"/>
          <a:lstStyle/>
          <a:p>
            <a:pPr marL="0" indent="0">
              <a:lnSpc>
                <a:spcPct val="110000"/>
              </a:lnSpc>
              <a:buNone/>
            </a:pPr>
            <a:r>
              <a:rPr lang="en-US" sz="950" b="1" dirty="0">
                <a:solidFill>
                  <a:srgbClr val="00796B"/>
                </a:solidFill>
                <a:latin typeface="Courier New" pitchFamily="34" charset="0"/>
                <a:ea typeface="Courier New" pitchFamily="34" charset="-122"/>
                <a:cs typeface="Courier New" pitchFamily="34" charset="-120"/>
              </a:rPr>
              <a:t>CorpusRetrievalAdapter </a:t>
            </a:r>
            <a:r>
              <a:rPr lang="en-US" sz="950" dirty="0">
                <a:solidFill>
                  <a:srgbClr val="333333"/>
                </a:solidFill>
                <a:latin typeface="Arial" pitchFamily="34" charset="0"/>
                <a:ea typeface="Arial" pitchFamily="34" charset="-122"/>
                <a:cs typeface="Arial" pitchFamily="34" charset="-120"/>
              </a:rPr>
              <a:t>(113KB) — the full deep retrieval pipeline:
</a:t>
            </a:r>
            <a:r>
              <a:rPr lang="en-US" sz="950" b="1" dirty="0">
                <a:solidFill>
                  <a:srgbClr val="1B2A4A"/>
                </a:solidFill>
                <a:latin typeface="Arial" pitchFamily="34" charset="0"/>
                <a:ea typeface="Arial" pitchFamily="34" charset="-122"/>
                <a:cs typeface="Arial" pitchFamily="34" charset="-120"/>
              </a:rPr>
              <a:t>① Entity linking </a:t>
            </a:r>
            <a:r>
              <a:rPr lang="en-US" sz="950" dirty="0">
                <a:solidFill>
                  <a:srgbClr val="333333"/>
                </a:solidFill>
                <a:latin typeface="Arial" pitchFamily="34" charset="0"/>
                <a:ea typeface="Arial" pitchFamily="34" charset="-122"/>
                <a:cs typeface="Arial" pitchFamily="34" charset="-120"/>
              </a:rPr>
              <a:t>— rag/entity_linking.py resolves query entities against the KB before searching
</a:t>
            </a:r>
            <a:r>
              <a:rPr lang="en-US" sz="950" b="1" dirty="0">
                <a:solidFill>
                  <a:srgbClr val="1B2A4A"/>
                </a:solidFill>
                <a:latin typeface="Arial" pitchFamily="34" charset="0"/>
                <a:ea typeface="Arial" pitchFamily="34" charset="-122"/>
                <a:cs typeface="Arial" pitchFamily="34" charset="-120"/>
              </a:rPr>
              <a:t>② Discovery precision </a:t>
            </a:r>
            <a:r>
              <a:rPr lang="en-US" sz="950" dirty="0">
                <a:solidFill>
                  <a:srgbClr val="333333"/>
                </a:solidFill>
                <a:latin typeface="Arial" pitchFamily="34" charset="0"/>
                <a:ea typeface="Arial" pitchFamily="34" charset="-122"/>
                <a:cs typeface="Arial" pitchFamily="34" charset="-120"/>
              </a:rPr>
              <a:t>— filters candidate docs using topic seed terms
</a:t>
            </a:r>
            <a:r>
              <a:rPr lang="en-US" sz="950" b="1" dirty="0">
                <a:solidFill>
                  <a:srgbClr val="1B2A4A"/>
                </a:solidFill>
                <a:latin typeface="Arial" pitchFamily="34" charset="0"/>
                <a:ea typeface="Arial" pitchFamily="34" charset="-122"/>
                <a:cs typeface="Arial" pitchFamily="34" charset="-120"/>
              </a:rPr>
              <a:t>③ Retrieval verification </a:t>
            </a:r>
            <a:r>
              <a:rPr lang="en-US" sz="950" dirty="0">
                <a:solidFill>
                  <a:srgbClr val="333333"/>
                </a:solidFill>
                <a:latin typeface="Arial" pitchFamily="34" charset="0"/>
                <a:ea typeface="Arial" pitchFamily="34" charset="-122"/>
                <a:cs typeface="Arial" pitchFamily="34" charset="-120"/>
              </a:rPr>
              <a:t>— rag/verification.py validates quality before synthesis
</a:t>
            </a:r>
            <a:r>
              <a:rPr lang="en-US" sz="950" b="1" dirty="0">
                <a:solidFill>
                  <a:srgbClr val="1B2A4A"/>
                </a:solidFill>
                <a:latin typeface="Arial" pitchFamily="34" charset="0"/>
                <a:ea typeface="Arial" pitchFamily="34" charset="-122"/>
                <a:cs typeface="Arial" pitchFamily="34" charset="-120"/>
              </a:rPr>
              <a:t>④ Graph augmentation </a:t>
            </a:r>
            <a:r>
              <a:rPr lang="en-US" sz="950" dirty="0">
                <a:solidFill>
                  <a:srgbClr val="333333"/>
                </a:solidFill>
                <a:latin typeface="Arial" pitchFamily="34" charset="0"/>
                <a:ea typeface="Arial" pitchFamily="34" charset="-122"/>
                <a:cs typeface="Arial" pitchFamily="34" charset="-120"/>
              </a:rPr>
              <a:t>— integrates GraphService results when graph indexes exist</a:t>
            </a:r>
            <a:endParaRPr lang="en-US" sz="1000" dirty="0"/>
          </a:p>
        </p:txBody>
      </p:sp>
      <p:sp>
        <p:nvSpPr>
          <p:cNvPr id="12" name="Shape 10"/>
          <p:cNvSpPr/>
          <p:nvPr/>
        </p:nvSpPr>
        <p:spPr>
          <a:xfrm>
            <a:off x="502920" y="3904488"/>
            <a:ext cx="8138160" cy="402336"/>
          </a:xfrm>
          <a:prstGeom prst="rect">
            <a:avLst/>
          </a:prstGeom>
          <a:solidFill>
            <a:srgbClr val="E0F7FA"/>
          </a:solidFill>
          <a:ln w="12700">
            <a:solidFill>
              <a:srgbClr val="0097A7"/>
            </a:solidFill>
            <a:prstDash val="solid"/>
          </a:ln>
        </p:spPr>
        <p:txBody>
          <a:bodyPr/>
          <a:lstStyle/>
          <a:p>
            <a:endParaRPr lang="en-US"/>
          </a:p>
        </p:txBody>
      </p:sp>
      <p:sp>
        <p:nvSpPr>
          <p:cNvPr id="13" name="Text 11"/>
          <p:cNvSpPr/>
          <p:nvPr/>
        </p:nvSpPr>
        <p:spPr>
          <a:xfrm>
            <a:off x="594360" y="3904488"/>
            <a:ext cx="7955280" cy="402336"/>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Deep RAG activates automatically for broad research queries ("comprehensive", "end-to-end", "identify all documents") or when search_mode=deep is forced in controller_hints.</a:t>
            </a:r>
            <a:endParaRPr lang="en-US" sz="1000" dirty="0"/>
          </a:p>
        </p:txBody>
      </p:sp>
      <p:sp>
        <p:nvSpPr>
          <p:cNvPr id="14" name="Text 12"/>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runtime/deep_rag.py, rag/adaptive.py (113KB), rag/entity_linking.py, rag/verification.py, rag/discovery_precision.py</a:t>
            </a:r>
            <a:endParaRPr lang="en-US" sz="90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Router Feedback Loop &amp; Worker Scheduler — Built</a:t>
            </a:r>
            <a:endParaRPr lang="en-US" sz="2600" dirty="0"/>
          </a:p>
        </p:txBody>
      </p:sp>
      <p:sp>
        <p:nvSpPr>
          <p:cNvPr id="3" name="Text 1"/>
          <p:cNvSpPr/>
          <p:nvPr/>
        </p:nvSpPr>
        <p:spPr>
          <a:xfrm>
            <a:off x="502920" y="804672"/>
            <a:ext cx="8138160" cy="274320"/>
          </a:xfrm>
          <a:prstGeom prst="rect">
            <a:avLst/>
          </a:prstGeom>
          <a:noFill/>
          <a:ln/>
        </p:spPr>
        <p:txBody>
          <a:bodyPr wrap="square" lIns="0" tIns="0" rIns="0" bIns="0" rtlCol="0" anchor="ctr"/>
          <a:lstStyle/>
          <a:p>
            <a:pPr marL="0" indent="0">
              <a:buNone/>
            </a:pPr>
            <a:r>
              <a:rPr lang="en-US" sz="1100" dirty="0">
                <a:solidFill>
                  <a:srgbClr val="666666"/>
                </a:solidFill>
                <a:latin typeface="Arial" pitchFamily="34" charset="0"/>
                <a:ea typeface="Arial" pitchFamily="34" charset="-122"/>
                <a:cs typeface="Arial" pitchFamily="34" charset="-120"/>
              </a:rPr>
              <a:t>Two operational improvements recommended in earlier analysis are now implemented and active in the codebase.</a:t>
            </a:r>
            <a:endParaRPr lang="en-US" sz="1100" dirty="0"/>
          </a:p>
        </p:txBody>
      </p:sp>
      <p:sp>
        <p:nvSpPr>
          <p:cNvPr id="4" name="Shape 2"/>
          <p:cNvSpPr/>
          <p:nvPr/>
        </p:nvSpPr>
        <p:spPr>
          <a:xfrm>
            <a:off x="502920" y="1188720"/>
            <a:ext cx="3977640" cy="27432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188720"/>
            <a:ext cx="3977640" cy="320040"/>
          </a:xfrm>
          <a:prstGeom prst="rect">
            <a:avLst/>
          </a:prstGeom>
          <a:solidFill>
            <a:srgbClr val="0097A7"/>
          </a:solidFill>
          <a:ln/>
        </p:spPr>
        <p:txBody>
          <a:bodyPr/>
          <a:lstStyle/>
          <a:p>
            <a:endParaRPr lang="en-US"/>
          </a:p>
        </p:txBody>
      </p:sp>
      <p:sp>
        <p:nvSpPr>
          <p:cNvPr id="6" name="Text 4"/>
          <p:cNvSpPr/>
          <p:nvPr/>
        </p:nvSpPr>
        <p:spPr>
          <a:xfrm>
            <a:off x="612648" y="1216152"/>
            <a:ext cx="37581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router/feedback_loop.py — Built</a:t>
            </a:r>
            <a:endParaRPr lang="en-US" sz="1200" dirty="0"/>
          </a:p>
        </p:txBody>
      </p:sp>
      <p:sp>
        <p:nvSpPr>
          <p:cNvPr id="7" name="Text 5"/>
          <p:cNvSpPr/>
          <p:nvPr/>
        </p:nvSpPr>
        <p:spPr>
          <a:xfrm>
            <a:off x="612648" y="1572768"/>
            <a:ext cx="3758184" cy="2267712"/>
          </a:xfrm>
          <a:prstGeom prst="rect">
            <a:avLst/>
          </a:prstGeom>
          <a:noFill/>
          <a:ln/>
        </p:spPr>
        <p:txBody>
          <a:bodyPr wrap="square" lIns="0" tIns="0" rIns="0" bIns="0" rtlCol="0" anchor="t"/>
          <a:lstStyle/>
          <a:p>
            <a:pPr marL="0" indent="0">
              <a:lnSpc>
                <a:spcPct val="110000"/>
              </a:lnSpc>
              <a:buNone/>
            </a:pPr>
            <a:r>
              <a:rPr lang="en-US" sz="950" b="1" dirty="0">
                <a:solidFill>
                  <a:srgbClr val="1B2A4A"/>
                </a:solidFill>
                <a:latin typeface="Arial" pitchFamily="34" charset="0"/>
                <a:ea typeface="Arial" pitchFamily="34" charset="-122"/>
                <a:cs typeface="Arial" pitchFamily="34" charset="-120"/>
              </a:rPr>
              <a:t>Tracks outcome per RouterDecision:
</a:t>
            </a:r>
            <a:r>
              <a:rPr lang="en-US" sz="950" dirty="0">
                <a:solidFill>
                  <a:srgbClr val="333333"/>
                </a:solidFill>
                <a:latin typeface="Courier New" pitchFamily="34" charset="0"/>
                <a:ea typeface="Courier New" pitchFamily="34" charset="-122"/>
                <a:cs typeface="Courier New" pitchFamily="34" charset="-120"/>
              </a:rPr>
              <a:t>POSITIVE / NEUTRAL / NEGATIVE
</a:t>
            </a:r>
            <a:r>
              <a:rPr lang="en-US" sz="950" b="1" dirty="0">
                <a:solidFill>
                  <a:srgbClr val="C62828"/>
                </a:solidFill>
                <a:latin typeface="Arial" pitchFamily="34" charset="0"/>
                <a:ea typeface="Arial" pitchFamily="34" charset="-122"/>
                <a:cs typeface="Arial" pitchFamily="34" charset="-120"/>
              </a:rPr>
              <a:t>Dissatisfaction detector </a:t>
            </a:r>
            <a:r>
              <a:rPr lang="en-US" sz="950" dirty="0">
                <a:solidFill>
                  <a:srgbClr val="333333"/>
                </a:solidFill>
                <a:latin typeface="Arial" pitchFamily="34" charset="0"/>
                <a:ea typeface="Arial" pitchFamily="34" charset="-122"/>
                <a:cs typeface="Arial" pitchFamily="34" charset="-120"/>
              </a:rPr>
              <a:t>— regex matches "try again", "you missed", "wrong", "rephrase" in follow-up messages
</a:t>
            </a:r>
            <a:r>
              <a:rPr lang="en-US" sz="950" b="1" dirty="0">
                <a:solidFill>
                  <a:srgbClr val="1B2A4A"/>
                </a:solidFill>
                <a:latin typeface="Arial" pitchFamily="34" charset="0"/>
                <a:ea typeface="Arial" pitchFamily="34" charset="-122"/>
                <a:cs typeface="Arial" pitchFamily="34" charset="-120"/>
              </a:rPr>
              <a:t>Sampling </a:t>
            </a:r>
            <a:r>
              <a:rPr lang="en-US" sz="950" dirty="0">
                <a:solidFill>
                  <a:srgbClr val="333333"/>
                </a:solidFill>
                <a:latin typeface="Arial" pitchFamily="34" charset="0"/>
                <a:ea typeface="Arial" pitchFamily="34" charset="-122"/>
                <a:cs typeface="Arial" pitchFamily="34" charset="-120"/>
              </a:rPr>
              <a:t>— 10% neutral sample rate, 25 reviews/tenant/day cap prevents noise
</a:t>
            </a:r>
            <a:r>
              <a:rPr lang="en-US" sz="950" b="1" dirty="0">
                <a:solidFill>
                  <a:srgbClr val="1B2A4A"/>
                </a:solidFill>
                <a:latin typeface="Arial" pitchFamily="34" charset="0"/>
                <a:ea typeface="Arial" pitchFamily="34" charset="-122"/>
                <a:cs typeface="Arial" pitchFamily="34" charset="-120"/>
              </a:rPr>
              <a:t>Outputs </a:t>
            </a:r>
            <a:r>
              <a:rPr lang="en-US" sz="950" dirty="0">
                <a:solidFill>
                  <a:srgbClr val="333333"/>
                </a:solidFill>
                <a:latin typeface="Arial" pitchFamily="34" charset="0"/>
                <a:ea typeface="Arial" pitchFamily="34" charset="-122"/>
                <a:cs typeface="Arial" pitchFamily="34" charset="-120"/>
              </a:rPr>
              <a:t>JSONL review files — structured labeled pool for quarterly pattern retraining</a:t>
            </a:r>
            <a:endParaRPr lang="en-US" sz="1000" dirty="0"/>
          </a:p>
        </p:txBody>
      </p:sp>
      <p:sp>
        <p:nvSpPr>
          <p:cNvPr id="8" name="Shape 6"/>
          <p:cNvSpPr/>
          <p:nvPr/>
        </p:nvSpPr>
        <p:spPr>
          <a:xfrm>
            <a:off x="4663440" y="1188720"/>
            <a:ext cx="3977640" cy="27432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4663440" y="1188720"/>
            <a:ext cx="3977640" cy="320040"/>
          </a:xfrm>
          <a:prstGeom prst="rect">
            <a:avLst/>
          </a:prstGeom>
          <a:solidFill>
            <a:srgbClr val="00796B"/>
          </a:solidFill>
          <a:ln/>
        </p:spPr>
        <p:txBody>
          <a:bodyPr/>
          <a:lstStyle/>
          <a:p>
            <a:endParaRPr lang="en-US"/>
          </a:p>
        </p:txBody>
      </p:sp>
      <p:sp>
        <p:nvSpPr>
          <p:cNvPr id="10" name="Text 8"/>
          <p:cNvSpPr/>
          <p:nvPr/>
        </p:nvSpPr>
        <p:spPr>
          <a:xfrm>
            <a:off x="4773168" y="1216152"/>
            <a:ext cx="37581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runtime/worker_scheduler.py — Built</a:t>
            </a:r>
            <a:endParaRPr lang="en-US" sz="1200" dirty="0"/>
          </a:p>
        </p:txBody>
      </p:sp>
      <p:sp>
        <p:nvSpPr>
          <p:cNvPr id="11" name="Text 9"/>
          <p:cNvSpPr/>
          <p:nvPr/>
        </p:nvSpPr>
        <p:spPr>
          <a:xfrm>
            <a:off x="4773168" y="1572768"/>
            <a:ext cx="3758184" cy="2267712"/>
          </a:xfrm>
          <a:prstGeom prst="rect">
            <a:avLst/>
          </a:prstGeom>
          <a:noFill/>
          <a:ln/>
        </p:spPr>
        <p:txBody>
          <a:bodyPr wrap="square" lIns="0" tIns="0" rIns="0" bIns="0" rtlCol="0" anchor="t"/>
          <a:lstStyle/>
          <a:p>
            <a:pPr marL="0" indent="0">
              <a:lnSpc>
                <a:spcPct val="110000"/>
              </a:lnSpc>
              <a:buNone/>
            </a:pPr>
            <a:r>
              <a:rPr lang="en-US" sz="950" b="1" dirty="0">
                <a:solidFill>
                  <a:srgbClr val="1B2A4A"/>
                </a:solidFill>
                <a:latin typeface="Arial" pitchFamily="34" charset="0"/>
                <a:ea typeface="Arial" pitchFamily="34" charset="-122"/>
                <a:cs typeface="Arial" pitchFamily="34" charset="-120"/>
              </a:rPr>
              <a:t>3 queue classes with weighted fair queuing:
</a:t>
            </a:r>
            <a:r>
              <a:rPr lang="en-US" sz="950" dirty="0">
                <a:solidFill>
                  <a:srgbClr val="333333"/>
                </a:solidFill>
                <a:latin typeface="Courier New" pitchFamily="34" charset="0"/>
                <a:ea typeface="Courier New" pitchFamily="34" charset="-122"/>
                <a:cs typeface="Courier New" pitchFamily="34" charset="-120"/>
              </a:rPr>
              <a:t>urgent (weight 8) | interactive (3) | background (1)
</a:t>
            </a:r>
            <a:r>
              <a:rPr lang="en-US" sz="950" b="1" dirty="0">
                <a:solidFill>
                  <a:srgbClr val="00796B"/>
                </a:solidFill>
                <a:latin typeface="Arial" pitchFamily="34" charset="0"/>
                <a:ea typeface="Arial" pitchFamily="34" charset="-122"/>
                <a:cs typeface="Arial" pitchFamily="34" charset="-120"/>
              </a:rPr>
              <a:t>Per-tenant token budgets </a:t>
            </a:r>
            <a:r>
              <a:rPr lang="en-US" sz="950" dirty="0">
                <a:solidFill>
                  <a:srgbClr val="333333"/>
                </a:solidFill>
                <a:latin typeface="Arial" pitchFamily="34" charset="0"/>
                <a:ea typeface="Arial" pitchFamily="34" charset="-122"/>
                <a:cs typeface="Arial" pitchFamily="34" charset="-120"/>
              </a:rPr>
              <a:t>— prevents one noisy tenant from starving others
</a:t>
            </a:r>
            <a:r>
              <a:rPr lang="en-US" sz="950" b="1" dirty="0">
                <a:solidFill>
                  <a:srgbClr val="00796B"/>
                </a:solidFill>
                <a:latin typeface="Arial" pitchFamily="34" charset="0"/>
                <a:ea typeface="Arial" pitchFamily="34" charset="-122"/>
                <a:cs typeface="Arial" pitchFamily="34" charset="-120"/>
              </a:rPr>
              <a:t>Token estimation </a:t>
            </a:r>
            <a:r>
              <a:rPr lang="en-US" sz="950" dirty="0">
                <a:solidFill>
                  <a:srgbClr val="333333"/>
                </a:solidFill>
                <a:latin typeface="Arial" pitchFamily="34" charset="0"/>
                <a:ea typeface="Arial" pitchFamily="34" charset="-122"/>
                <a:cs typeface="Arial" pitchFamily="34" charset="-120"/>
              </a:rPr>
              <a:t>— _estimate_text_tokens() measures job weight for fair scheduling
</a:t>
            </a:r>
            <a:r>
              <a:rPr lang="en-US" sz="950" b="1" dirty="0">
                <a:solidFill>
                  <a:srgbClr val="00796B"/>
                </a:solidFill>
                <a:latin typeface="Arial" pitchFamily="34" charset="0"/>
                <a:ea typeface="Arial" pitchFamily="34" charset="-122"/>
                <a:cs typeface="Arial" pitchFamily="34" charset="-120"/>
              </a:rPr>
              <a:t>Preemption </a:t>
            </a:r>
            <a:r>
              <a:rPr lang="en-US" sz="950" dirty="0">
                <a:solidFill>
                  <a:srgbClr val="333333"/>
                </a:solidFill>
                <a:latin typeface="Arial" pitchFamily="34" charset="0"/>
                <a:ea typeface="Arial" pitchFamily="34" charset="-122"/>
                <a:cs typeface="Arial" pitchFamily="34" charset="-120"/>
              </a:rPr>
              <a:t>— urgent jobs (escalations, SLA-critical tasks) jump ahead of background batch work</a:t>
            </a:r>
            <a:endParaRPr lang="en-US" sz="1000" dirty="0"/>
          </a:p>
        </p:txBody>
      </p:sp>
      <p:sp>
        <p:nvSpPr>
          <p:cNvPr id="12" name="Shape 10"/>
          <p:cNvSpPr/>
          <p:nvPr/>
        </p:nvSpPr>
        <p:spPr>
          <a:xfrm>
            <a:off x="3566160" y="1207008"/>
            <a:ext cx="822960" cy="201168"/>
          </a:xfrm>
          <a:prstGeom prst="rect">
            <a:avLst/>
          </a:prstGeom>
          <a:solidFill>
            <a:srgbClr val="2E7D32"/>
          </a:solidFill>
          <a:ln/>
        </p:spPr>
        <p:txBody>
          <a:bodyPr/>
          <a:lstStyle/>
          <a:p>
            <a:endParaRPr lang="en-US"/>
          </a:p>
        </p:txBody>
      </p:sp>
      <p:sp>
        <p:nvSpPr>
          <p:cNvPr id="13" name="Text 11"/>
          <p:cNvSpPr/>
          <p:nvPr/>
        </p:nvSpPr>
        <p:spPr>
          <a:xfrm>
            <a:off x="3566160" y="1207008"/>
            <a:ext cx="822960" cy="201168"/>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 BUILT</a:t>
            </a:r>
            <a:endParaRPr lang="en-US" sz="900" dirty="0"/>
          </a:p>
        </p:txBody>
      </p:sp>
      <p:sp>
        <p:nvSpPr>
          <p:cNvPr id="14" name="Shape 12"/>
          <p:cNvSpPr/>
          <p:nvPr/>
        </p:nvSpPr>
        <p:spPr>
          <a:xfrm>
            <a:off x="7726680" y="1207008"/>
            <a:ext cx="822960" cy="201168"/>
          </a:xfrm>
          <a:prstGeom prst="rect">
            <a:avLst/>
          </a:prstGeom>
          <a:solidFill>
            <a:srgbClr val="2E7D32"/>
          </a:solidFill>
          <a:ln/>
        </p:spPr>
        <p:txBody>
          <a:bodyPr/>
          <a:lstStyle/>
          <a:p>
            <a:endParaRPr lang="en-US"/>
          </a:p>
        </p:txBody>
      </p:sp>
      <p:sp>
        <p:nvSpPr>
          <p:cNvPr id="15" name="Text 13"/>
          <p:cNvSpPr/>
          <p:nvPr/>
        </p:nvSpPr>
        <p:spPr>
          <a:xfrm>
            <a:off x="7726680" y="1207008"/>
            <a:ext cx="822960" cy="201168"/>
          </a:xfrm>
          <a:prstGeom prst="rect">
            <a:avLst/>
          </a:prstGeom>
          <a:noFill/>
          <a:ln/>
        </p:spPr>
        <p:txBody>
          <a:bodyPr wrap="square" lIns="0" tIns="0" rIns="0" bIns="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 BUILT</a:t>
            </a:r>
            <a:endParaRPr lang="en-US" sz="900" dirty="0"/>
          </a:p>
        </p:txBody>
      </p:sp>
      <p:sp>
        <p:nvSpPr>
          <p:cNvPr id="16" name="Shape 14"/>
          <p:cNvSpPr/>
          <p:nvPr/>
        </p:nvSpPr>
        <p:spPr>
          <a:xfrm>
            <a:off x="502920" y="4041648"/>
            <a:ext cx="8138160" cy="402336"/>
          </a:xfrm>
          <a:prstGeom prst="rect">
            <a:avLst/>
          </a:prstGeom>
          <a:solidFill>
            <a:srgbClr val="E0F7FA"/>
          </a:solidFill>
          <a:ln w="12700">
            <a:solidFill>
              <a:srgbClr val="0097A7"/>
            </a:solidFill>
            <a:prstDash val="solid"/>
          </a:ln>
        </p:spPr>
        <p:txBody>
          <a:bodyPr/>
          <a:lstStyle/>
          <a:p>
            <a:endParaRPr lang="en-US"/>
          </a:p>
        </p:txBody>
      </p:sp>
      <p:sp>
        <p:nvSpPr>
          <p:cNvPr id="17" name="Text 15"/>
          <p:cNvSpPr/>
          <p:nvPr/>
        </p:nvSpPr>
        <p:spPr>
          <a:xfrm>
            <a:off x="594360" y="4041648"/>
            <a:ext cx="7955280" cy="402336"/>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Both modules are active in the live codebase. The feedback loop feeds labeled data for router pattern improvement. The scheduler ensures coordinator workers run fairly across tenants even under high load.</a:t>
            </a:r>
            <a:endParaRPr lang="en-US" sz="1000" dirty="0"/>
          </a:p>
        </p:txBody>
      </p:sp>
      <p:sp>
        <p:nvSpPr>
          <p:cNvPr id="18" name="Text 16"/>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router/feedback_loop.py (31KB), runtime/worker_scheduler.py (21KB)</a:t>
            </a:r>
            <a:endParaRPr lang="en-US" sz="90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New Infrastructure — 7 Modules Added</a:t>
            </a:r>
            <a:endParaRPr lang="en-US" sz="2600" dirty="0"/>
          </a:p>
        </p:txBody>
      </p:sp>
      <p:sp>
        <p:nvSpPr>
          <p:cNvPr id="3" name="Text 1"/>
          <p:cNvSpPr/>
          <p:nvPr/>
        </p:nvSpPr>
        <p:spPr>
          <a:xfrm>
            <a:off x="502920" y="804672"/>
            <a:ext cx="8138160" cy="274320"/>
          </a:xfrm>
          <a:prstGeom prst="rect">
            <a:avLst/>
          </a:prstGeom>
          <a:noFill/>
          <a:ln/>
        </p:spPr>
        <p:txBody>
          <a:bodyPr wrap="square" lIns="0" tIns="0" rIns="0" bIns="0" rtlCol="0" anchor="ctr"/>
          <a:lstStyle/>
          <a:p>
            <a:pPr marL="0" indent="0">
              <a:buNone/>
            </a:pPr>
            <a:r>
              <a:rPr lang="en-US" sz="1050" dirty="0">
                <a:solidFill>
                  <a:srgbClr val="666666"/>
                </a:solidFill>
                <a:latin typeface="Arial" pitchFamily="34" charset="0"/>
                <a:ea typeface="Arial" pitchFamily="34" charset="-122"/>
                <a:cs typeface="Arial" pitchFamily="34" charset="-120"/>
              </a:rPr>
              <a:t>Seven new modules strengthen auth, memory, observability, parallelism, prompt resilience, and task routing — moving several enterprise and harness recommendations toward completion.</a:t>
            </a:r>
            <a:endParaRPr lang="en-US" sz="1050" dirty="0"/>
          </a:p>
        </p:txBody>
      </p:sp>
      <p:sp>
        <p:nvSpPr>
          <p:cNvPr id="4" name="Shape 2"/>
          <p:cNvSpPr/>
          <p:nvPr/>
        </p:nvSpPr>
        <p:spPr>
          <a:xfrm>
            <a:off x="502920" y="1170432"/>
            <a:ext cx="3931920" cy="169164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170432"/>
            <a:ext cx="3931920" cy="320040"/>
          </a:xfrm>
          <a:prstGeom prst="rect">
            <a:avLst/>
          </a:prstGeom>
          <a:solidFill>
            <a:srgbClr val="0097A7"/>
          </a:solidFill>
          <a:ln/>
        </p:spPr>
        <p:txBody>
          <a:bodyPr/>
          <a:lstStyle/>
          <a:p>
            <a:endParaRPr lang="en-US"/>
          </a:p>
        </p:txBody>
      </p:sp>
      <p:sp>
        <p:nvSpPr>
          <p:cNvPr id="6" name="Text 4"/>
          <p:cNvSpPr/>
          <p:nvPr/>
        </p:nvSpPr>
        <p:spPr>
          <a:xfrm>
            <a:off x="612648" y="1197864"/>
            <a:ext cx="371246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authz/service.py — RBAC Service (267 lines)</a:t>
            </a:r>
            <a:endParaRPr lang="en-US" sz="1200" dirty="0"/>
          </a:p>
        </p:txBody>
      </p:sp>
      <p:sp>
        <p:nvSpPr>
          <p:cNvPr id="7" name="Text 5"/>
          <p:cNvSpPr/>
          <p:nvPr/>
        </p:nvSpPr>
        <p:spPr>
          <a:xfrm>
            <a:off x="612648" y="1554480"/>
            <a:ext cx="3712464" cy="1216152"/>
          </a:xfrm>
          <a:prstGeom prst="rect">
            <a:avLst/>
          </a:prstGeom>
          <a:noFill/>
          <a:ln/>
        </p:spPr>
        <p:txBody>
          <a:bodyPr wrap="square" lIns="0" tIns="0" rIns="0" bIns="0" rtlCol="0" anchor="t"/>
          <a:lstStyle/>
          <a:p>
            <a:pPr marL="0" indent="0">
              <a:lnSpc>
                <a:spcPct val="110000"/>
              </a:lnSpc>
              <a:buNone/>
            </a:pPr>
            <a:r>
              <a:rPr lang="en-US" sz="950" dirty="0">
                <a:solidFill>
                  <a:srgbClr val="333333"/>
                </a:solidFill>
                <a:latin typeface="Arial" pitchFamily="34" charset="0"/>
                <a:ea typeface="Arial" pitchFamily="34" charset="-122"/>
                <a:cs typeface="Arial" pitchFamily="34" charset="-120"/>
              </a:rPr>
              <a:t>Principal &amp; role membership tracking
Tenant-scoped resource access control
Foundation for ABAC extension (dataset/column-level)
</a:t>
            </a:r>
            <a:r>
              <a:rPr lang="en-US" sz="950" dirty="0">
                <a:solidFill>
                  <a:srgbClr val="999999"/>
                </a:solidFill>
                <a:latin typeface="Courier New" pitchFamily="34" charset="0"/>
                <a:ea typeface="Courier New" pitchFamily="34" charset="-122"/>
                <a:cs typeface="Courier New" pitchFamily="34" charset="-120"/>
              </a:rPr>
              <a:t>persistence/postgres/access.py adds RBAC data layer</a:t>
            </a:r>
            <a:endParaRPr lang="en-US" sz="1000" dirty="0"/>
          </a:p>
        </p:txBody>
      </p:sp>
      <p:sp>
        <p:nvSpPr>
          <p:cNvPr id="8" name="Shape 6"/>
          <p:cNvSpPr/>
          <p:nvPr/>
        </p:nvSpPr>
        <p:spPr>
          <a:xfrm>
            <a:off x="4709160" y="1170432"/>
            <a:ext cx="3931920" cy="169164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4709160" y="1170432"/>
            <a:ext cx="3931920" cy="320040"/>
          </a:xfrm>
          <a:prstGeom prst="rect">
            <a:avLst/>
          </a:prstGeom>
          <a:solidFill>
            <a:srgbClr val="00796B"/>
          </a:solidFill>
          <a:ln/>
        </p:spPr>
        <p:txBody>
          <a:bodyPr/>
          <a:lstStyle/>
          <a:p>
            <a:endParaRPr lang="en-US"/>
          </a:p>
        </p:txBody>
      </p:sp>
      <p:sp>
        <p:nvSpPr>
          <p:cNvPr id="10" name="Text 8"/>
          <p:cNvSpPr/>
          <p:nvPr/>
        </p:nvSpPr>
        <p:spPr>
          <a:xfrm>
            <a:off x="4818888" y="1197864"/>
            <a:ext cx="371246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persistence/postgres/memory_v2.py (831 lines)</a:t>
            </a:r>
            <a:endParaRPr lang="en-US" sz="1200" dirty="0"/>
          </a:p>
        </p:txBody>
      </p:sp>
      <p:sp>
        <p:nvSpPr>
          <p:cNvPr id="11" name="Text 9"/>
          <p:cNvSpPr/>
          <p:nvPr/>
        </p:nvSpPr>
        <p:spPr>
          <a:xfrm>
            <a:off x="4818888" y="1554480"/>
            <a:ext cx="3712464" cy="1216152"/>
          </a:xfrm>
          <a:prstGeom prst="rect">
            <a:avLst/>
          </a:prstGeom>
          <a:noFill/>
          <a:ln/>
        </p:spPr>
        <p:txBody>
          <a:bodyPr wrap="square" lIns="0" tIns="0" rIns="0" bIns="0" rtlCol="0" anchor="t"/>
          <a:lstStyle/>
          <a:p>
            <a:pPr marL="0" indent="0">
              <a:lnSpc>
                <a:spcPct val="110000"/>
              </a:lnSpc>
              <a:buNone/>
            </a:pPr>
            <a:r>
              <a:rPr lang="en-US" sz="950" dirty="0">
                <a:solidFill>
                  <a:srgbClr val="333333"/>
                </a:solidFill>
                <a:latin typeface="Arial" pitchFamily="34" charset="0"/>
                <a:ea typeface="Arial" pitchFamily="34" charset="-122"/>
                <a:cs typeface="Arial" pitchFamily="34" charset="-120"/>
              </a:rPr>
              <a:t>MemoryEpisode + ManagedMemoryRecord types
Importance/confidence scoring per entry
TTL hints + supersession tracking + provenance
</a:t>
            </a:r>
            <a:r>
              <a:rPr lang="en-US" sz="950" dirty="0">
                <a:solidFill>
                  <a:srgbClr val="999999"/>
                </a:solidFill>
                <a:latin typeface="Arial" pitchFamily="34" charset="0"/>
                <a:ea typeface="Arial" pitchFamily="34" charset="-122"/>
                <a:cs typeface="Arial" pitchFamily="34" charset="-120"/>
              </a:rPr>
              <a:t>Multi-scope: conversation + user scopes</a:t>
            </a:r>
            <a:endParaRPr lang="en-US" sz="1000" dirty="0"/>
          </a:p>
        </p:txBody>
      </p:sp>
      <p:sp>
        <p:nvSpPr>
          <p:cNvPr id="12" name="Shape 10"/>
          <p:cNvSpPr/>
          <p:nvPr/>
        </p:nvSpPr>
        <p:spPr>
          <a:xfrm>
            <a:off x="502920" y="2971800"/>
            <a:ext cx="1931670" cy="132588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3" name="Shape 11"/>
          <p:cNvSpPr/>
          <p:nvPr/>
        </p:nvSpPr>
        <p:spPr>
          <a:xfrm>
            <a:off x="502920" y="2971800"/>
            <a:ext cx="1931670" cy="320040"/>
          </a:xfrm>
          <a:prstGeom prst="rect">
            <a:avLst/>
          </a:prstGeom>
          <a:solidFill>
            <a:srgbClr val="1B2A4A"/>
          </a:solidFill>
          <a:ln/>
        </p:spPr>
        <p:txBody>
          <a:bodyPr/>
          <a:lstStyle/>
          <a:p>
            <a:endParaRPr lang="en-US"/>
          </a:p>
        </p:txBody>
      </p:sp>
      <p:sp>
        <p:nvSpPr>
          <p:cNvPr id="14" name="Text 12"/>
          <p:cNvSpPr/>
          <p:nvPr/>
        </p:nvSpPr>
        <p:spPr>
          <a:xfrm>
            <a:off x="612648" y="2999232"/>
            <a:ext cx="171221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live_progress + status_tracker</a:t>
            </a:r>
            <a:endParaRPr lang="en-US" sz="1200" dirty="0"/>
          </a:p>
        </p:txBody>
      </p:sp>
      <p:sp>
        <p:nvSpPr>
          <p:cNvPr id="15" name="Text 13"/>
          <p:cNvSpPr/>
          <p:nvPr/>
        </p:nvSpPr>
        <p:spPr>
          <a:xfrm>
            <a:off x="612648" y="3355848"/>
            <a:ext cx="1712214" cy="850392"/>
          </a:xfrm>
          <a:prstGeom prst="rect">
            <a:avLst/>
          </a:prstGeom>
          <a:noFill/>
          <a:ln/>
        </p:spPr>
        <p:txBody>
          <a:bodyPr wrap="square" lIns="0" tIns="0" rIns="0" bIns="0" rtlCol="0" anchor="t"/>
          <a:lstStyle/>
          <a:p>
            <a:pPr marL="0" indent="0">
              <a:lnSpc>
                <a:spcPct val="110000"/>
              </a:lnSpc>
              <a:buNone/>
            </a:pPr>
            <a:r>
              <a:rPr lang="en-US" sz="850" dirty="0">
                <a:solidFill>
                  <a:srgbClr val="333333"/>
                </a:solidFill>
                <a:latin typeface="Arial" pitchFamily="34" charset="0"/>
                <a:ea typeface="Arial" pitchFamily="34" charset="-122"/>
                <a:cs typeface="Arial" pitchFamily="34" charset="-120"/>
              </a:rPr>
              <a:t>SSE status events, job progress
</a:t>
            </a:r>
            <a:r>
              <a:rPr lang="en-US" sz="850" dirty="0">
                <a:solidFill>
                  <a:srgbClr val="2E7D32"/>
                </a:solidFill>
                <a:latin typeface="Arial" pitchFamily="34" charset="0"/>
                <a:ea typeface="Arial" pitchFamily="34" charset="-122"/>
                <a:cs typeface="Arial" pitchFamily="34" charset="-120"/>
              </a:rPr>
              <a:t>status_tracker.py 558→827L (+269)
</a:t>
            </a:r>
            <a:r>
              <a:rPr lang="en-US" sz="850" dirty="0">
                <a:solidFill>
                  <a:srgbClr val="333333"/>
                </a:solidFill>
                <a:latin typeface="Arial" pitchFamily="34" charset="0"/>
                <a:ea typeface="Arial" pitchFamily="34" charset="-122"/>
                <a:cs typeface="Arial" pitchFamily="34" charset="-120"/>
              </a:rPr>
              <a:t>Per-tool-call granularity ready</a:t>
            </a:r>
            <a:endParaRPr lang="en-US" sz="1000" dirty="0"/>
          </a:p>
        </p:txBody>
      </p:sp>
      <p:sp>
        <p:nvSpPr>
          <p:cNvPr id="16" name="Shape 14"/>
          <p:cNvSpPr/>
          <p:nvPr/>
        </p:nvSpPr>
        <p:spPr>
          <a:xfrm>
            <a:off x="2571750" y="2971800"/>
            <a:ext cx="1931670" cy="132588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7" name="Shape 15"/>
          <p:cNvSpPr/>
          <p:nvPr/>
        </p:nvSpPr>
        <p:spPr>
          <a:xfrm>
            <a:off x="2571750" y="2971800"/>
            <a:ext cx="1931670" cy="320040"/>
          </a:xfrm>
          <a:prstGeom prst="rect">
            <a:avLst/>
          </a:prstGeom>
          <a:solidFill>
            <a:srgbClr val="2E7D32"/>
          </a:solidFill>
          <a:ln/>
        </p:spPr>
        <p:txBody>
          <a:bodyPr/>
          <a:lstStyle/>
          <a:p>
            <a:endParaRPr lang="en-US"/>
          </a:p>
        </p:txBody>
      </p:sp>
      <p:sp>
        <p:nvSpPr>
          <p:cNvPr id="18" name="Text 16"/>
          <p:cNvSpPr/>
          <p:nvPr/>
        </p:nvSpPr>
        <p:spPr>
          <a:xfrm>
            <a:off x="2681478" y="2999232"/>
            <a:ext cx="171221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tool_parallelism.py (181L)</a:t>
            </a:r>
            <a:endParaRPr lang="en-US" sz="1200" dirty="0"/>
          </a:p>
        </p:txBody>
      </p:sp>
      <p:sp>
        <p:nvSpPr>
          <p:cNvPr id="19" name="Text 17"/>
          <p:cNvSpPr/>
          <p:nvPr/>
        </p:nvSpPr>
        <p:spPr>
          <a:xfrm>
            <a:off x="2681478" y="3355848"/>
            <a:ext cx="1712214" cy="850392"/>
          </a:xfrm>
          <a:prstGeom prst="rect">
            <a:avLst/>
          </a:prstGeom>
          <a:noFill/>
          <a:ln/>
        </p:spPr>
        <p:txBody>
          <a:bodyPr wrap="square" lIns="0" tIns="0" rIns="0" bIns="0" rtlCol="0" anchor="t"/>
          <a:lstStyle/>
          <a:p>
            <a:pPr marL="0" indent="0">
              <a:lnSpc>
                <a:spcPct val="110000"/>
              </a:lnSpc>
              <a:buNone/>
            </a:pPr>
            <a:r>
              <a:rPr lang="en-US" sz="850" dirty="0">
                <a:solidFill>
                  <a:srgbClr val="333333"/>
                </a:solidFill>
                <a:latin typeface="Arial" pitchFamily="34" charset="0"/>
                <a:ea typeface="Arial" pitchFamily="34" charset="-122"/>
                <a:cs typeface="Arial" pitchFamily="34" charset="-120"/>
              </a:rPr>
              <a:t>Wave-based parallel tool exec
Concurrency key conflict detect
</a:t>
            </a:r>
            <a:r>
              <a:rPr lang="en-US" sz="850" dirty="0">
                <a:solidFill>
                  <a:srgbClr val="2E7D32"/>
                </a:solidFill>
                <a:latin typeface="Arial" pitchFamily="34" charset="0"/>
                <a:ea typeface="Arial" pitchFamily="34" charset="-122"/>
                <a:cs typeface="Arial" pitchFamily="34" charset="-120"/>
              </a:rPr>
              <a:t>Budget: max 12 calls/turn</a:t>
            </a:r>
            <a:endParaRPr lang="en-US" sz="1000" dirty="0"/>
          </a:p>
        </p:txBody>
      </p:sp>
      <p:sp>
        <p:nvSpPr>
          <p:cNvPr id="20" name="Shape 18"/>
          <p:cNvSpPr/>
          <p:nvPr/>
        </p:nvSpPr>
        <p:spPr>
          <a:xfrm>
            <a:off x="4640580" y="2971800"/>
            <a:ext cx="1931670" cy="132588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21" name="Shape 19"/>
          <p:cNvSpPr/>
          <p:nvPr/>
        </p:nvSpPr>
        <p:spPr>
          <a:xfrm>
            <a:off x="4640580" y="2971800"/>
            <a:ext cx="1931670" cy="320040"/>
          </a:xfrm>
          <a:prstGeom prst="rect">
            <a:avLst/>
          </a:prstGeom>
          <a:solidFill>
            <a:srgbClr val="F9A825"/>
          </a:solidFill>
          <a:ln/>
        </p:spPr>
        <p:txBody>
          <a:bodyPr/>
          <a:lstStyle/>
          <a:p>
            <a:endParaRPr lang="en-US"/>
          </a:p>
        </p:txBody>
      </p:sp>
      <p:sp>
        <p:nvSpPr>
          <p:cNvPr id="22" name="Text 20"/>
          <p:cNvSpPr/>
          <p:nvPr/>
        </p:nvSpPr>
        <p:spPr>
          <a:xfrm>
            <a:off x="4750308" y="2999232"/>
            <a:ext cx="171221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prompt_fallbacks.py (181L)</a:t>
            </a:r>
            <a:endParaRPr lang="en-US" sz="1200" dirty="0"/>
          </a:p>
        </p:txBody>
      </p:sp>
      <p:sp>
        <p:nvSpPr>
          <p:cNvPr id="23" name="Text 21"/>
          <p:cNvSpPr/>
          <p:nvPr/>
        </p:nvSpPr>
        <p:spPr>
          <a:xfrm>
            <a:off x="4750308" y="3355848"/>
            <a:ext cx="1712214" cy="850392"/>
          </a:xfrm>
          <a:prstGeom prst="rect">
            <a:avLst/>
          </a:prstGeom>
          <a:noFill/>
          <a:ln/>
        </p:spPr>
        <p:txBody>
          <a:bodyPr wrap="square" lIns="0" tIns="0" rIns="0" bIns="0" rtlCol="0" anchor="t"/>
          <a:lstStyle/>
          <a:p>
            <a:pPr marL="0" indent="0">
              <a:lnSpc>
                <a:spcPct val="110000"/>
              </a:lnSpc>
              <a:buNone/>
            </a:pPr>
            <a:r>
              <a:rPr lang="en-US" sz="850" dirty="0">
                <a:solidFill>
                  <a:srgbClr val="333333"/>
                </a:solidFill>
                <a:latin typeface="Arial" pitchFamily="34" charset="0"/>
                <a:ea typeface="Arial" pitchFamily="34" charset="-122"/>
                <a:cs typeface="Arial" pitchFamily="34" charset="-120"/>
              </a:rPr>
              <a:t>Fallback prompts for 10 roles
Shared charter + per-role mission
</a:t>
            </a:r>
            <a:r>
              <a:rPr lang="en-US" sz="850" dirty="0">
                <a:solidFill>
                  <a:srgbClr val="2E7D32"/>
                </a:solidFill>
                <a:latin typeface="Arial" pitchFamily="34" charset="0"/>
                <a:ea typeface="Arial" pitchFamily="34" charset="-122"/>
                <a:cs typeface="Arial" pitchFamily="34" charset="-120"/>
              </a:rPr>
              <a:t>Resilience when files missing</a:t>
            </a:r>
            <a:endParaRPr lang="en-US" sz="1000" dirty="0"/>
          </a:p>
        </p:txBody>
      </p:sp>
      <p:sp>
        <p:nvSpPr>
          <p:cNvPr id="24" name="Shape 22"/>
          <p:cNvSpPr/>
          <p:nvPr/>
        </p:nvSpPr>
        <p:spPr>
          <a:xfrm>
            <a:off x="6709410" y="2971800"/>
            <a:ext cx="1931670" cy="132588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25" name="Shape 23"/>
          <p:cNvSpPr/>
          <p:nvPr/>
        </p:nvSpPr>
        <p:spPr>
          <a:xfrm>
            <a:off x="6709410" y="2971800"/>
            <a:ext cx="1931670" cy="320040"/>
          </a:xfrm>
          <a:prstGeom prst="rect">
            <a:avLst/>
          </a:prstGeom>
          <a:solidFill>
            <a:srgbClr val="0097A7"/>
          </a:solidFill>
          <a:ln/>
        </p:spPr>
        <p:txBody>
          <a:bodyPr/>
          <a:lstStyle/>
          <a:p>
            <a:endParaRPr lang="en-US"/>
          </a:p>
        </p:txBody>
      </p:sp>
      <p:sp>
        <p:nvSpPr>
          <p:cNvPr id="26" name="Text 24"/>
          <p:cNvSpPr/>
          <p:nvPr/>
        </p:nvSpPr>
        <p:spPr>
          <a:xfrm>
            <a:off x="6819138" y="2999232"/>
            <a:ext cx="171221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task_decomposition.py (232L)</a:t>
            </a:r>
            <a:endParaRPr lang="en-US" sz="1200" dirty="0"/>
          </a:p>
        </p:txBody>
      </p:sp>
      <p:sp>
        <p:nvSpPr>
          <p:cNvPr id="27" name="Text 25"/>
          <p:cNvSpPr/>
          <p:nvPr/>
        </p:nvSpPr>
        <p:spPr>
          <a:xfrm>
            <a:off x="6819138" y="3355848"/>
            <a:ext cx="1712214" cy="850392"/>
          </a:xfrm>
          <a:prstGeom prst="rect">
            <a:avLst/>
          </a:prstGeom>
          <a:noFill/>
          <a:ln/>
        </p:spPr>
        <p:txBody>
          <a:bodyPr wrap="square" lIns="0" tIns="0" rIns="0" bIns="0" rtlCol="0" anchor="t"/>
          <a:lstStyle/>
          <a:p>
            <a:pPr marL="0" indent="0">
              <a:lnSpc>
                <a:spcPct val="110000"/>
              </a:lnSpc>
              <a:buNone/>
            </a:pPr>
            <a:r>
              <a:rPr lang="en-US" sz="850" dirty="0">
                <a:solidFill>
                  <a:srgbClr val="333333"/>
                </a:solidFill>
                <a:latin typeface="Arial" pitchFamily="34" charset="0"/>
                <a:ea typeface="Arial" pitchFamily="34" charset="-122"/>
                <a:cs typeface="Arial" pitchFamily="34" charset="-120"/>
              </a:rPr>
              <a:t>Mixed-intent request detection
Routes to coordinator or direct
</a:t>
            </a:r>
            <a:r>
              <a:rPr lang="en-US" sz="850" dirty="0">
                <a:solidFill>
                  <a:srgbClr val="2E7D32"/>
                </a:solidFill>
                <a:latin typeface="Arial" pitchFamily="34" charset="0"/>
                <a:ea typeface="Arial" pitchFamily="34" charset="-122"/>
                <a:cs typeface="Arial" pitchFamily="34" charset="-120"/>
              </a:rPr>
              <a:t>Arithmetic + RAG + analysis slices</a:t>
            </a:r>
            <a:endParaRPr lang="en-US" sz="1000" dirty="0"/>
          </a:p>
        </p:txBody>
      </p:sp>
      <p:sp>
        <p:nvSpPr>
          <p:cNvPr id="28" name="Text 26"/>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authz/service.py, memory_v2.py, live_progress.py, status_tracker.py, tool_parallelism.py, prompt_fallbacks.py, task_decomposition.py</a:t>
            </a:r>
            <a:endParaRPr lang="en-US" sz="90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Agentic Harness — 6 Runtime Improvements</a:t>
            </a:r>
            <a:endParaRPr lang="en-US" sz="2600" dirty="0"/>
          </a:p>
        </p:txBody>
      </p:sp>
      <p:sp>
        <p:nvSpPr>
          <p:cNvPr id="3" name="Text 1"/>
          <p:cNvSpPr/>
          <p:nvPr/>
        </p:nvSpPr>
        <p:spPr>
          <a:xfrm>
            <a:off x="502920" y="804672"/>
            <a:ext cx="8138160" cy="274320"/>
          </a:xfrm>
          <a:prstGeom prst="rect">
            <a:avLst/>
          </a:prstGeom>
          <a:noFill/>
          <a:ln/>
        </p:spPr>
        <p:txBody>
          <a:bodyPr wrap="square" lIns="0" tIns="0" rIns="0" bIns="0" rtlCol="0" anchor="ctr"/>
          <a:lstStyle/>
          <a:p>
            <a:pPr marL="0" indent="0">
              <a:buNone/>
            </a:pPr>
            <a:r>
              <a:rPr lang="en-US" sz="1050" dirty="0">
                <a:solidFill>
                  <a:srgbClr val="666666"/>
                </a:solidFill>
                <a:latin typeface="Arial" pitchFamily="34" charset="0"/>
                <a:ea typeface="Arial" pitchFamily="34" charset="-122"/>
                <a:cs typeface="Arial" pitchFamily="34" charset="-120"/>
              </a:rPr>
              <a:t>The ReAct loop in query_loop.py and kernel.py is functional but lacks patterns that production agentic systems need for reliability and observability.</a:t>
            </a:r>
            <a:endParaRPr lang="en-US" sz="1050" dirty="0"/>
          </a:p>
        </p:txBody>
      </p:sp>
      <p:sp>
        <p:nvSpPr>
          <p:cNvPr id="4" name="Shape 2"/>
          <p:cNvSpPr/>
          <p:nvPr/>
        </p:nvSpPr>
        <p:spPr>
          <a:xfrm>
            <a:off x="502920" y="1170432"/>
            <a:ext cx="2148840" cy="256032"/>
          </a:xfrm>
          <a:prstGeom prst="rect">
            <a:avLst/>
          </a:prstGeom>
          <a:solidFill>
            <a:srgbClr val="1B2A4A"/>
          </a:solidFill>
          <a:ln w="3810">
            <a:solidFill>
              <a:srgbClr val="F0F0F0"/>
            </a:solidFill>
            <a:prstDash val="solid"/>
          </a:ln>
        </p:spPr>
        <p:txBody>
          <a:bodyPr/>
          <a:lstStyle/>
          <a:p>
            <a:endParaRPr lang="en-US"/>
          </a:p>
        </p:txBody>
      </p:sp>
      <p:sp>
        <p:nvSpPr>
          <p:cNvPr id="5" name="Text 3"/>
          <p:cNvSpPr/>
          <p:nvPr/>
        </p:nvSpPr>
        <p:spPr>
          <a:xfrm>
            <a:off x="576072" y="1170432"/>
            <a:ext cx="2002536" cy="256032"/>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Improvement</a:t>
            </a:r>
            <a:endParaRPr lang="en-US" sz="950" dirty="0"/>
          </a:p>
        </p:txBody>
      </p:sp>
      <p:sp>
        <p:nvSpPr>
          <p:cNvPr id="6" name="Shape 4"/>
          <p:cNvSpPr/>
          <p:nvPr/>
        </p:nvSpPr>
        <p:spPr>
          <a:xfrm>
            <a:off x="2651760" y="1170432"/>
            <a:ext cx="3291840" cy="256032"/>
          </a:xfrm>
          <a:prstGeom prst="rect">
            <a:avLst/>
          </a:prstGeom>
          <a:solidFill>
            <a:srgbClr val="1B2A4A"/>
          </a:solidFill>
          <a:ln w="3810">
            <a:solidFill>
              <a:srgbClr val="F0F0F0"/>
            </a:solidFill>
            <a:prstDash val="solid"/>
          </a:ln>
        </p:spPr>
        <p:txBody>
          <a:bodyPr/>
          <a:lstStyle/>
          <a:p>
            <a:endParaRPr lang="en-US"/>
          </a:p>
        </p:txBody>
      </p:sp>
      <p:sp>
        <p:nvSpPr>
          <p:cNvPr id="7" name="Text 5"/>
          <p:cNvSpPr/>
          <p:nvPr/>
        </p:nvSpPr>
        <p:spPr>
          <a:xfrm>
            <a:off x="2724912" y="1170432"/>
            <a:ext cx="3145536" cy="256032"/>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What's Missing &amp; Why It Matters</a:t>
            </a:r>
            <a:endParaRPr lang="en-US" sz="950" dirty="0"/>
          </a:p>
        </p:txBody>
      </p:sp>
      <p:sp>
        <p:nvSpPr>
          <p:cNvPr id="8" name="Shape 6"/>
          <p:cNvSpPr/>
          <p:nvPr/>
        </p:nvSpPr>
        <p:spPr>
          <a:xfrm>
            <a:off x="5943600" y="1170432"/>
            <a:ext cx="2971800" cy="256032"/>
          </a:xfrm>
          <a:prstGeom prst="rect">
            <a:avLst/>
          </a:prstGeom>
          <a:solidFill>
            <a:srgbClr val="1B2A4A"/>
          </a:solidFill>
          <a:ln w="3810">
            <a:solidFill>
              <a:srgbClr val="F0F0F0"/>
            </a:solidFill>
            <a:prstDash val="solid"/>
          </a:ln>
        </p:spPr>
        <p:txBody>
          <a:bodyPr/>
          <a:lstStyle/>
          <a:p>
            <a:endParaRPr lang="en-US"/>
          </a:p>
        </p:txBody>
      </p:sp>
      <p:sp>
        <p:nvSpPr>
          <p:cNvPr id="9" name="Text 7"/>
          <p:cNvSpPr/>
          <p:nvPr/>
        </p:nvSpPr>
        <p:spPr>
          <a:xfrm>
            <a:off x="6016752" y="1170432"/>
            <a:ext cx="2825496" cy="256032"/>
          </a:xfrm>
          <a:prstGeom prst="rect">
            <a:avLst/>
          </a:prstGeom>
          <a:noFill/>
          <a:ln/>
        </p:spPr>
        <p:txBody>
          <a:bodyPr wrap="square" lIns="0" tIns="0" rIns="0" bIns="0" rtlCol="0" anchor="ctr"/>
          <a:lstStyle/>
          <a:p>
            <a:pPr marL="0" indent="0">
              <a:buNone/>
            </a:pPr>
            <a:r>
              <a:rPr lang="en-US" sz="950" b="1" dirty="0">
                <a:solidFill>
                  <a:srgbClr val="FFFFFF"/>
                </a:solidFill>
                <a:latin typeface="Arial" pitchFamily="34" charset="0"/>
                <a:ea typeface="Arial" pitchFamily="34" charset="-122"/>
                <a:cs typeface="Arial" pitchFamily="34" charset="-120"/>
              </a:rPr>
              <a:t>Implementation Path</a:t>
            </a:r>
            <a:endParaRPr lang="en-US" sz="950" dirty="0"/>
          </a:p>
        </p:txBody>
      </p:sp>
      <p:sp>
        <p:nvSpPr>
          <p:cNvPr id="10" name="Shape 8"/>
          <p:cNvSpPr/>
          <p:nvPr/>
        </p:nvSpPr>
        <p:spPr>
          <a:xfrm>
            <a:off x="502920" y="1426464"/>
            <a:ext cx="2148840" cy="548640"/>
          </a:xfrm>
          <a:prstGeom prst="rect">
            <a:avLst/>
          </a:prstGeom>
          <a:solidFill>
            <a:srgbClr val="E0F7FA"/>
          </a:solidFill>
          <a:ln w="3810">
            <a:solidFill>
              <a:srgbClr val="F0F0F0"/>
            </a:solidFill>
            <a:prstDash val="solid"/>
          </a:ln>
        </p:spPr>
        <p:txBody>
          <a:bodyPr/>
          <a:lstStyle/>
          <a:p>
            <a:endParaRPr lang="en-US"/>
          </a:p>
        </p:txBody>
      </p:sp>
      <p:sp>
        <p:nvSpPr>
          <p:cNvPr id="11" name="Text 9"/>
          <p:cNvSpPr/>
          <p:nvPr/>
        </p:nvSpPr>
        <p:spPr>
          <a:xfrm>
            <a:off x="576072" y="1453896"/>
            <a:ext cx="2002536" cy="493776"/>
          </a:xfrm>
          <a:prstGeom prst="rect">
            <a:avLst/>
          </a:prstGeom>
          <a:noFill/>
          <a:ln/>
        </p:spPr>
        <p:txBody>
          <a:bodyPr wrap="square" lIns="0" tIns="0" rIns="0" bIns="0" rtlCol="0" anchor="ctr"/>
          <a:lstStyle/>
          <a:p>
            <a:pPr marL="0" indent="0">
              <a:lnSpc>
                <a:spcPct val="105000"/>
              </a:lnSpc>
              <a:buNone/>
            </a:pPr>
            <a:r>
              <a:rPr lang="en-US" sz="900" b="1" dirty="0">
                <a:solidFill>
                  <a:srgbClr val="1B2A4A"/>
                </a:solidFill>
                <a:latin typeface="Arial" pitchFamily="34" charset="0"/>
                <a:ea typeface="Arial" pitchFamily="34" charset="-122"/>
                <a:cs typeface="Arial" pitchFamily="34" charset="-120"/>
              </a:rPr>
              <a:t>Step-Level Retry Policy</a:t>
            </a:r>
            <a:endParaRPr lang="en-US" sz="900" dirty="0"/>
          </a:p>
        </p:txBody>
      </p:sp>
      <p:sp>
        <p:nvSpPr>
          <p:cNvPr id="12" name="Shape 10"/>
          <p:cNvSpPr/>
          <p:nvPr/>
        </p:nvSpPr>
        <p:spPr>
          <a:xfrm>
            <a:off x="2651760" y="1426464"/>
            <a:ext cx="3291840" cy="548640"/>
          </a:xfrm>
          <a:prstGeom prst="rect">
            <a:avLst/>
          </a:prstGeom>
          <a:solidFill>
            <a:srgbClr val="F5F5F5"/>
          </a:solidFill>
          <a:ln w="3810">
            <a:solidFill>
              <a:srgbClr val="F0F0F0"/>
            </a:solidFill>
            <a:prstDash val="solid"/>
          </a:ln>
        </p:spPr>
        <p:txBody>
          <a:bodyPr/>
          <a:lstStyle/>
          <a:p>
            <a:endParaRPr lang="en-US"/>
          </a:p>
        </p:txBody>
      </p:sp>
      <p:sp>
        <p:nvSpPr>
          <p:cNvPr id="13" name="Text 11"/>
          <p:cNvSpPr/>
          <p:nvPr/>
        </p:nvSpPr>
        <p:spPr>
          <a:xfrm>
            <a:off x="2724912" y="1453896"/>
            <a:ext cx="3145536" cy="493776"/>
          </a:xfrm>
          <a:prstGeom prst="rect">
            <a:avLst/>
          </a:prstGeom>
          <a:noFill/>
          <a:ln/>
        </p:spPr>
        <p:txBody>
          <a:bodyPr wrap="square" lIns="0" tIns="0" rIns="0" bIns="0" rtlCol="0" anchor="ctr"/>
          <a:lstStyle/>
          <a:p>
            <a:pPr marL="0" indent="0">
              <a:lnSpc>
                <a:spcPct val="105000"/>
              </a:lnSpc>
              <a:buNone/>
            </a:pPr>
            <a:r>
              <a:rPr lang="en-US" sz="850" dirty="0">
                <a:solidFill>
                  <a:srgbClr val="333333"/>
                </a:solidFill>
                <a:latin typeface="Arial" pitchFamily="34" charset="0"/>
                <a:ea typeface="Arial" pitchFamily="34" charset="-122"/>
                <a:cs typeface="Arial" pitchFamily="34" charset="-120"/>
              </a:rPr>
              <a:t>Tool failures halt the entire turn. No exponential backoff, no retry budgets. Recovery only at _finalize_messages().</a:t>
            </a:r>
            <a:endParaRPr lang="en-US" sz="850" dirty="0"/>
          </a:p>
        </p:txBody>
      </p:sp>
      <p:sp>
        <p:nvSpPr>
          <p:cNvPr id="14" name="Shape 12"/>
          <p:cNvSpPr/>
          <p:nvPr/>
        </p:nvSpPr>
        <p:spPr>
          <a:xfrm>
            <a:off x="5943600" y="1426464"/>
            <a:ext cx="2971800" cy="548640"/>
          </a:xfrm>
          <a:prstGeom prst="rect">
            <a:avLst/>
          </a:prstGeom>
          <a:solidFill>
            <a:srgbClr val="F5F5F5"/>
          </a:solidFill>
          <a:ln w="3810">
            <a:solidFill>
              <a:srgbClr val="F0F0F0"/>
            </a:solidFill>
            <a:prstDash val="solid"/>
          </a:ln>
        </p:spPr>
        <p:txBody>
          <a:bodyPr/>
          <a:lstStyle/>
          <a:p>
            <a:endParaRPr lang="en-US"/>
          </a:p>
        </p:txBody>
      </p:sp>
      <p:sp>
        <p:nvSpPr>
          <p:cNvPr id="15" name="Text 13"/>
          <p:cNvSpPr/>
          <p:nvPr/>
        </p:nvSpPr>
        <p:spPr>
          <a:xfrm>
            <a:off x="6016752" y="1453896"/>
            <a:ext cx="2825496" cy="493776"/>
          </a:xfrm>
          <a:prstGeom prst="rect">
            <a:avLst/>
          </a:prstGeom>
          <a:noFill/>
          <a:ln/>
        </p:spPr>
        <p:txBody>
          <a:bodyPr wrap="square" lIns="0" tIns="0" rIns="0" bIns="0" rtlCol="0" anchor="ctr"/>
          <a:lstStyle/>
          <a:p>
            <a:pPr marL="0" indent="0">
              <a:lnSpc>
                <a:spcPct val="105000"/>
              </a:lnSpc>
              <a:buNone/>
            </a:pPr>
            <a:r>
              <a:rPr lang="en-US" sz="850" dirty="0">
                <a:solidFill>
                  <a:srgbClr val="333333"/>
                </a:solidFill>
                <a:latin typeface="Arial" pitchFamily="34" charset="0"/>
                <a:ea typeface="Arial" pitchFamily="34" charset="-122"/>
                <a:cs typeface="Arial" pitchFamily="34" charset="-120"/>
              </a:rPr>
              <a:t>Add RetryPolicy per tool: max_retries, backoff, fallback_tool. Wrap tool calls in retry_with_policy() in general_agent.py.</a:t>
            </a:r>
            <a:endParaRPr lang="en-US" sz="850" dirty="0"/>
          </a:p>
        </p:txBody>
      </p:sp>
      <p:sp>
        <p:nvSpPr>
          <p:cNvPr id="16" name="Shape 14"/>
          <p:cNvSpPr/>
          <p:nvPr/>
        </p:nvSpPr>
        <p:spPr>
          <a:xfrm>
            <a:off x="502920" y="1975104"/>
            <a:ext cx="2148840" cy="548640"/>
          </a:xfrm>
          <a:prstGeom prst="rect">
            <a:avLst/>
          </a:prstGeom>
          <a:solidFill>
            <a:srgbClr val="E0F7FA"/>
          </a:solidFill>
          <a:ln w="3810">
            <a:solidFill>
              <a:srgbClr val="F0F0F0"/>
            </a:solidFill>
            <a:prstDash val="solid"/>
          </a:ln>
        </p:spPr>
        <p:txBody>
          <a:bodyPr/>
          <a:lstStyle/>
          <a:p>
            <a:endParaRPr lang="en-US"/>
          </a:p>
        </p:txBody>
      </p:sp>
      <p:sp>
        <p:nvSpPr>
          <p:cNvPr id="17" name="Text 15"/>
          <p:cNvSpPr/>
          <p:nvPr/>
        </p:nvSpPr>
        <p:spPr>
          <a:xfrm>
            <a:off x="576072" y="2002536"/>
            <a:ext cx="2002536" cy="493776"/>
          </a:xfrm>
          <a:prstGeom prst="rect">
            <a:avLst/>
          </a:prstGeom>
          <a:noFill/>
          <a:ln/>
        </p:spPr>
        <p:txBody>
          <a:bodyPr wrap="square" lIns="0" tIns="0" rIns="0" bIns="0" rtlCol="0" anchor="ctr"/>
          <a:lstStyle/>
          <a:p>
            <a:pPr marL="0" indent="0">
              <a:lnSpc>
                <a:spcPct val="105000"/>
              </a:lnSpc>
              <a:buNone/>
            </a:pPr>
            <a:r>
              <a:rPr lang="en-US" sz="900" b="1" dirty="0">
                <a:solidFill>
                  <a:srgbClr val="1B2A4A"/>
                </a:solidFill>
                <a:latin typeface="Arial" pitchFamily="34" charset="0"/>
                <a:ea typeface="Arial" pitchFamily="34" charset="-122"/>
                <a:cs typeface="Arial" pitchFamily="34" charset="-120"/>
              </a:rPr>
              <a:t>Per-Step Observability</a:t>
            </a:r>
            <a:endParaRPr lang="en-US" sz="900" dirty="0"/>
          </a:p>
        </p:txBody>
      </p:sp>
      <p:sp>
        <p:nvSpPr>
          <p:cNvPr id="18" name="Shape 16"/>
          <p:cNvSpPr/>
          <p:nvPr/>
        </p:nvSpPr>
        <p:spPr>
          <a:xfrm>
            <a:off x="2651760" y="1975104"/>
            <a:ext cx="3291840" cy="548640"/>
          </a:xfrm>
          <a:prstGeom prst="rect">
            <a:avLst/>
          </a:prstGeom>
          <a:solidFill>
            <a:srgbClr val="FFFFFF"/>
          </a:solidFill>
          <a:ln w="3810">
            <a:solidFill>
              <a:srgbClr val="F0F0F0"/>
            </a:solidFill>
            <a:prstDash val="solid"/>
          </a:ln>
        </p:spPr>
        <p:txBody>
          <a:bodyPr/>
          <a:lstStyle/>
          <a:p>
            <a:endParaRPr lang="en-US"/>
          </a:p>
        </p:txBody>
      </p:sp>
      <p:sp>
        <p:nvSpPr>
          <p:cNvPr id="19" name="Text 17"/>
          <p:cNvSpPr/>
          <p:nvPr/>
        </p:nvSpPr>
        <p:spPr>
          <a:xfrm>
            <a:off x="2724912" y="2002536"/>
            <a:ext cx="3145536" cy="493776"/>
          </a:xfrm>
          <a:prstGeom prst="rect">
            <a:avLst/>
          </a:prstGeom>
          <a:noFill/>
          <a:ln/>
        </p:spPr>
        <p:txBody>
          <a:bodyPr wrap="square" lIns="0" tIns="0" rIns="0" bIns="0" rtlCol="0" anchor="ctr"/>
          <a:lstStyle/>
          <a:p>
            <a:pPr marL="0" indent="0">
              <a:lnSpc>
                <a:spcPct val="105000"/>
              </a:lnSpc>
              <a:buNone/>
            </a:pPr>
            <a:r>
              <a:rPr lang="en-US" sz="850" dirty="0">
                <a:solidFill>
                  <a:srgbClr val="333333"/>
                </a:solidFill>
                <a:latin typeface="Arial" pitchFamily="34" charset="0"/>
                <a:ea typeface="Arial" pitchFamily="34" charset="-122"/>
                <a:cs typeface="Arial" pitchFamily="34" charset="-120"/>
              </a:rPr>
              <a:t>Events emitted at turn level only. No tool timing, no failure categorization (timeout vs validation vs missing data).</a:t>
            </a:r>
            <a:endParaRPr lang="en-US" sz="850" dirty="0"/>
          </a:p>
        </p:txBody>
      </p:sp>
      <p:sp>
        <p:nvSpPr>
          <p:cNvPr id="20" name="Shape 18"/>
          <p:cNvSpPr/>
          <p:nvPr/>
        </p:nvSpPr>
        <p:spPr>
          <a:xfrm>
            <a:off x="5943600" y="1975104"/>
            <a:ext cx="2971800" cy="548640"/>
          </a:xfrm>
          <a:prstGeom prst="rect">
            <a:avLst/>
          </a:prstGeom>
          <a:solidFill>
            <a:srgbClr val="FFFFFF"/>
          </a:solidFill>
          <a:ln w="3810">
            <a:solidFill>
              <a:srgbClr val="F0F0F0"/>
            </a:solidFill>
            <a:prstDash val="solid"/>
          </a:ln>
        </p:spPr>
        <p:txBody>
          <a:bodyPr/>
          <a:lstStyle/>
          <a:p>
            <a:endParaRPr lang="en-US"/>
          </a:p>
        </p:txBody>
      </p:sp>
      <p:sp>
        <p:nvSpPr>
          <p:cNvPr id="21" name="Text 19"/>
          <p:cNvSpPr/>
          <p:nvPr/>
        </p:nvSpPr>
        <p:spPr>
          <a:xfrm>
            <a:off x="6016752" y="2002536"/>
            <a:ext cx="2825496" cy="493776"/>
          </a:xfrm>
          <a:prstGeom prst="rect">
            <a:avLst/>
          </a:prstGeom>
          <a:noFill/>
          <a:ln/>
        </p:spPr>
        <p:txBody>
          <a:bodyPr wrap="square" lIns="0" tIns="0" rIns="0" bIns="0" rtlCol="0" anchor="ctr"/>
          <a:lstStyle/>
          <a:p>
            <a:pPr marL="0" indent="0">
              <a:lnSpc>
                <a:spcPct val="105000"/>
              </a:lnSpc>
              <a:buNone/>
            </a:pPr>
            <a:r>
              <a:rPr lang="en-US" sz="850" dirty="0">
                <a:solidFill>
                  <a:srgbClr val="333333"/>
                </a:solidFill>
                <a:latin typeface="Arial" pitchFamily="34" charset="0"/>
                <a:ea typeface="Arial" pitchFamily="34" charset="-122"/>
                <a:cs typeface="Arial" pitchFamily="34" charset="-120"/>
              </a:rPr>
              <a:t>Emit StepEvent(tool, latency_ms, tokens, status, error_type) per tool call. Feed to status_tracker for live SSE per-step events.</a:t>
            </a:r>
            <a:endParaRPr lang="en-US" sz="850" dirty="0"/>
          </a:p>
        </p:txBody>
      </p:sp>
      <p:sp>
        <p:nvSpPr>
          <p:cNvPr id="22" name="Shape 20"/>
          <p:cNvSpPr/>
          <p:nvPr/>
        </p:nvSpPr>
        <p:spPr>
          <a:xfrm>
            <a:off x="502920" y="2523744"/>
            <a:ext cx="2148840" cy="548640"/>
          </a:xfrm>
          <a:prstGeom prst="rect">
            <a:avLst/>
          </a:prstGeom>
          <a:solidFill>
            <a:srgbClr val="E0F7FA"/>
          </a:solidFill>
          <a:ln w="3810">
            <a:solidFill>
              <a:srgbClr val="F0F0F0"/>
            </a:solidFill>
            <a:prstDash val="solid"/>
          </a:ln>
        </p:spPr>
        <p:txBody>
          <a:bodyPr/>
          <a:lstStyle/>
          <a:p>
            <a:endParaRPr lang="en-US"/>
          </a:p>
        </p:txBody>
      </p:sp>
      <p:sp>
        <p:nvSpPr>
          <p:cNvPr id="23" name="Text 21"/>
          <p:cNvSpPr/>
          <p:nvPr/>
        </p:nvSpPr>
        <p:spPr>
          <a:xfrm>
            <a:off x="576072" y="2551176"/>
            <a:ext cx="2002536" cy="493776"/>
          </a:xfrm>
          <a:prstGeom prst="rect">
            <a:avLst/>
          </a:prstGeom>
          <a:noFill/>
          <a:ln/>
        </p:spPr>
        <p:txBody>
          <a:bodyPr wrap="square" lIns="0" tIns="0" rIns="0" bIns="0" rtlCol="0" anchor="ctr"/>
          <a:lstStyle/>
          <a:p>
            <a:pPr marL="0" indent="0">
              <a:lnSpc>
                <a:spcPct val="105000"/>
              </a:lnSpc>
              <a:buNone/>
            </a:pPr>
            <a:r>
              <a:rPr lang="en-US" sz="900" b="1" dirty="0">
                <a:solidFill>
                  <a:srgbClr val="1B2A4A"/>
                </a:solidFill>
                <a:latin typeface="Arial" pitchFamily="34" charset="0"/>
                <a:ea typeface="Arial" pitchFamily="34" charset="-122"/>
                <a:cs typeface="Arial" pitchFamily="34" charset="-120"/>
              </a:rPr>
              <a:t>Dynamic Memory Refresh</a:t>
            </a:r>
            <a:endParaRPr lang="en-US" sz="900" dirty="0"/>
          </a:p>
        </p:txBody>
      </p:sp>
      <p:sp>
        <p:nvSpPr>
          <p:cNvPr id="24" name="Shape 22"/>
          <p:cNvSpPr/>
          <p:nvPr/>
        </p:nvSpPr>
        <p:spPr>
          <a:xfrm>
            <a:off x="2651760" y="2523744"/>
            <a:ext cx="3291840" cy="548640"/>
          </a:xfrm>
          <a:prstGeom prst="rect">
            <a:avLst/>
          </a:prstGeom>
          <a:solidFill>
            <a:srgbClr val="F5F5F5"/>
          </a:solidFill>
          <a:ln w="3810">
            <a:solidFill>
              <a:srgbClr val="F0F0F0"/>
            </a:solidFill>
            <a:prstDash val="solid"/>
          </a:ln>
        </p:spPr>
        <p:txBody>
          <a:bodyPr/>
          <a:lstStyle/>
          <a:p>
            <a:endParaRPr lang="en-US"/>
          </a:p>
        </p:txBody>
      </p:sp>
      <p:sp>
        <p:nvSpPr>
          <p:cNvPr id="25" name="Text 23"/>
          <p:cNvSpPr/>
          <p:nvPr/>
        </p:nvSpPr>
        <p:spPr>
          <a:xfrm>
            <a:off x="2724912" y="2551176"/>
            <a:ext cx="3145536" cy="493776"/>
          </a:xfrm>
          <a:prstGeom prst="rect">
            <a:avLst/>
          </a:prstGeom>
          <a:noFill/>
          <a:ln/>
        </p:spPr>
        <p:txBody>
          <a:bodyPr wrap="square" lIns="0" tIns="0" rIns="0" bIns="0" rtlCol="0" anchor="ctr"/>
          <a:lstStyle/>
          <a:p>
            <a:pPr marL="0" indent="0">
              <a:lnSpc>
                <a:spcPct val="105000"/>
              </a:lnSpc>
              <a:buNone/>
            </a:pPr>
            <a:r>
              <a:rPr lang="en-US" sz="850" dirty="0">
                <a:solidFill>
                  <a:srgbClr val="333333"/>
                </a:solidFill>
                <a:latin typeface="Arial" pitchFamily="34" charset="0"/>
                <a:ea typeface="Arial" pitchFamily="34" charset="-122"/>
                <a:cs typeface="Arial" pitchFamily="34" charset="-120"/>
              </a:rPr>
              <a:t>Memory loads once at turn start (kernel.py:183). Long-running turns can't access facts saved mid-turn.</a:t>
            </a:r>
            <a:endParaRPr lang="en-US" sz="850" dirty="0"/>
          </a:p>
        </p:txBody>
      </p:sp>
      <p:sp>
        <p:nvSpPr>
          <p:cNvPr id="26" name="Shape 24"/>
          <p:cNvSpPr/>
          <p:nvPr/>
        </p:nvSpPr>
        <p:spPr>
          <a:xfrm>
            <a:off x="5943600" y="2523744"/>
            <a:ext cx="2971800" cy="548640"/>
          </a:xfrm>
          <a:prstGeom prst="rect">
            <a:avLst/>
          </a:prstGeom>
          <a:solidFill>
            <a:srgbClr val="F5F5F5"/>
          </a:solidFill>
          <a:ln w="3810">
            <a:solidFill>
              <a:srgbClr val="F0F0F0"/>
            </a:solidFill>
            <a:prstDash val="solid"/>
          </a:ln>
        </p:spPr>
        <p:txBody>
          <a:bodyPr/>
          <a:lstStyle/>
          <a:p>
            <a:endParaRPr lang="en-US"/>
          </a:p>
        </p:txBody>
      </p:sp>
      <p:sp>
        <p:nvSpPr>
          <p:cNvPr id="27" name="Text 25"/>
          <p:cNvSpPr/>
          <p:nvPr/>
        </p:nvSpPr>
        <p:spPr>
          <a:xfrm>
            <a:off x="6016752" y="2551176"/>
            <a:ext cx="2825496" cy="493776"/>
          </a:xfrm>
          <a:prstGeom prst="rect">
            <a:avLst/>
          </a:prstGeom>
          <a:noFill/>
          <a:ln/>
        </p:spPr>
        <p:txBody>
          <a:bodyPr wrap="square" lIns="0" tIns="0" rIns="0" bIns="0" rtlCol="0" anchor="ctr"/>
          <a:lstStyle/>
          <a:p>
            <a:pPr marL="0" indent="0">
              <a:lnSpc>
                <a:spcPct val="105000"/>
              </a:lnSpc>
              <a:buNone/>
            </a:pPr>
            <a:r>
              <a:rPr lang="en-US" sz="850" dirty="0">
                <a:solidFill>
                  <a:srgbClr val="333333"/>
                </a:solidFill>
                <a:latin typeface="Arial" pitchFamily="34" charset="0"/>
                <a:ea typeface="Arial" pitchFamily="34" charset="-122"/>
                <a:cs typeface="Arial" pitchFamily="34" charset="-120"/>
              </a:rPr>
              <a:t>Add memory_refresh_after_steps=N config. Re-inject memory context after high-impact tool calls (memory_save, workspace_write).</a:t>
            </a:r>
            <a:endParaRPr lang="en-US" sz="850" dirty="0"/>
          </a:p>
        </p:txBody>
      </p:sp>
      <p:sp>
        <p:nvSpPr>
          <p:cNvPr id="28" name="Shape 26"/>
          <p:cNvSpPr/>
          <p:nvPr/>
        </p:nvSpPr>
        <p:spPr>
          <a:xfrm>
            <a:off x="502920" y="3072384"/>
            <a:ext cx="2148840" cy="548640"/>
          </a:xfrm>
          <a:prstGeom prst="rect">
            <a:avLst/>
          </a:prstGeom>
          <a:solidFill>
            <a:srgbClr val="E0F7FA"/>
          </a:solidFill>
          <a:ln w="3810">
            <a:solidFill>
              <a:srgbClr val="F0F0F0"/>
            </a:solidFill>
            <a:prstDash val="solid"/>
          </a:ln>
        </p:spPr>
        <p:txBody>
          <a:bodyPr/>
          <a:lstStyle/>
          <a:p>
            <a:endParaRPr lang="en-US"/>
          </a:p>
        </p:txBody>
      </p:sp>
      <p:sp>
        <p:nvSpPr>
          <p:cNvPr id="29" name="Text 27"/>
          <p:cNvSpPr/>
          <p:nvPr/>
        </p:nvSpPr>
        <p:spPr>
          <a:xfrm>
            <a:off x="576072" y="3099816"/>
            <a:ext cx="2002536" cy="493776"/>
          </a:xfrm>
          <a:prstGeom prst="rect">
            <a:avLst/>
          </a:prstGeom>
          <a:noFill/>
          <a:ln/>
        </p:spPr>
        <p:txBody>
          <a:bodyPr wrap="square" lIns="0" tIns="0" rIns="0" bIns="0" rtlCol="0" anchor="ctr"/>
          <a:lstStyle/>
          <a:p>
            <a:pPr marL="0" indent="0">
              <a:lnSpc>
                <a:spcPct val="105000"/>
              </a:lnSpc>
              <a:buNone/>
            </a:pPr>
            <a:r>
              <a:rPr lang="en-US" sz="900" b="1" dirty="0">
                <a:solidFill>
                  <a:srgbClr val="1B2A4A"/>
                </a:solidFill>
                <a:latin typeface="Arial" pitchFamily="34" charset="0"/>
                <a:ea typeface="Arial" pitchFamily="34" charset="-122"/>
                <a:cs typeface="Arial" pitchFamily="34" charset="-120"/>
              </a:rPr>
              <a:t>Parallel Tool Execution ✓</a:t>
            </a:r>
            <a:endParaRPr lang="en-US" sz="900" dirty="0"/>
          </a:p>
        </p:txBody>
      </p:sp>
      <p:sp>
        <p:nvSpPr>
          <p:cNvPr id="30" name="Shape 28"/>
          <p:cNvSpPr/>
          <p:nvPr/>
        </p:nvSpPr>
        <p:spPr>
          <a:xfrm>
            <a:off x="2651760" y="3072384"/>
            <a:ext cx="3291840" cy="548640"/>
          </a:xfrm>
          <a:prstGeom prst="rect">
            <a:avLst/>
          </a:prstGeom>
          <a:solidFill>
            <a:srgbClr val="FFFFFF"/>
          </a:solidFill>
          <a:ln w="3810">
            <a:solidFill>
              <a:srgbClr val="F0F0F0"/>
            </a:solidFill>
            <a:prstDash val="solid"/>
          </a:ln>
        </p:spPr>
        <p:txBody>
          <a:bodyPr/>
          <a:lstStyle/>
          <a:p>
            <a:endParaRPr lang="en-US"/>
          </a:p>
        </p:txBody>
      </p:sp>
      <p:sp>
        <p:nvSpPr>
          <p:cNvPr id="31" name="Text 29"/>
          <p:cNvSpPr/>
          <p:nvPr/>
        </p:nvSpPr>
        <p:spPr>
          <a:xfrm>
            <a:off x="2724912" y="3099816"/>
            <a:ext cx="3145536" cy="493776"/>
          </a:xfrm>
          <a:prstGeom prst="rect">
            <a:avLst/>
          </a:prstGeom>
          <a:noFill/>
          <a:ln/>
        </p:spPr>
        <p:txBody>
          <a:bodyPr wrap="square" lIns="0" tIns="0" rIns="0" bIns="0" rtlCol="0" anchor="ctr"/>
          <a:lstStyle/>
          <a:p>
            <a:pPr marL="0" indent="0">
              <a:lnSpc>
                <a:spcPct val="105000"/>
              </a:lnSpc>
              <a:buNone/>
            </a:pPr>
            <a:r>
              <a:rPr lang="en-US" sz="850" dirty="0">
                <a:solidFill>
                  <a:srgbClr val="333333"/>
                </a:solidFill>
                <a:latin typeface="Arial" pitchFamily="34" charset="0"/>
                <a:ea typeface="Arial" pitchFamily="34" charset="-122"/>
                <a:cs typeface="Arial" pitchFamily="34" charset="-120"/>
              </a:rPr>
              <a:t>✓ BUILT — tool_parallelism.py (181L). Wave-based execution with concurrency key conflict detection and 12-call/turn budget.</a:t>
            </a:r>
            <a:endParaRPr lang="en-US" sz="850" dirty="0"/>
          </a:p>
        </p:txBody>
      </p:sp>
      <p:sp>
        <p:nvSpPr>
          <p:cNvPr id="32" name="Shape 30"/>
          <p:cNvSpPr/>
          <p:nvPr/>
        </p:nvSpPr>
        <p:spPr>
          <a:xfrm>
            <a:off x="5943600" y="3072384"/>
            <a:ext cx="2971800" cy="548640"/>
          </a:xfrm>
          <a:prstGeom prst="rect">
            <a:avLst/>
          </a:prstGeom>
          <a:solidFill>
            <a:srgbClr val="FFFFFF"/>
          </a:solidFill>
          <a:ln w="3810">
            <a:solidFill>
              <a:srgbClr val="F0F0F0"/>
            </a:solidFill>
            <a:prstDash val="solid"/>
          </a:ln>
        </p:spPr>
        <p:txBody>
          <a:bodyPr/>
          <a:lstStyle/>
          <a:p>
            <a:endParaRPr lang="en-US"/>
          </a:p>
        </p:txBody>
      </p:sp>
      <p:sp>
        <p:nvSpPr>
          <p:cNvPr id="33" name="Text 31"/>
          <p:cNvSpPr/>
          <p:nvPr/>
        </p:nvSpPr>
        <p:spPr>
          <a:xfrm>
            <a:off x="6016752" y="3099816"/>
            <a:ext cx="2825496" cy="493776"/>
          </a:xfrm>
          <a:prstGeom prst="rect">
            <a:avLst/>
          </a:prstGeom>
          <a:noFill/>
          <a:ln/>
        </p:spPr>
        <p:txBody>
          <a:bodyPr wrap="square" lIns="0" tIns="0" rIns="0" bIns="0" rtlCol="0" anchor="ctr"/>
          <a:lstStyle/>
          <a:p>
            <a:pPr marL="0" indent="0">
              <a:lnSpc>
                <a:spcPct val="105000"/>
              </a:lnSpc>
              <a:buNone/>
            </a:pPr>
            <a:r>
              <a:rPr lang="en-US" sz="850" dirty="0">
                <a:solidFill>
                  <a:srgbClr val="333333"/>
                </a:solidFill>
                <a:latin typeface="Arial" pitchFamily="34" charset="0"/>
                <a:ea typeface="Arial" pitchFamily="34" charset="-122"/>
                <a:cs typeface="Arial" pitchFamily="34" charset="-120"/>
              </a:rPr>
              <a:t>Done. Extend: add per-wave timeout, retry integration, and step-event emission per parallel batch.</a:t>
            </a:r>
            <a:endParaRPr lang="en-US" sz="850" dirty="0"/>
          </a:p>
        </p:txBody>
      </p:sp>
      <p:sp>
        <p:nvSpPr>
          <p:cNvPr id="34" name="Shape 32"/>
          <p:cNvSpPr/>
          <p:nvPr/>
        </p:nvSpPr>
        <p:spPr>
          <a:xfrm>
            <a:off x="502920" y="3621024"/>
            <a:ext cx="2148840" cy="548640"/>
          </a:xfrm>
          <a:prstGeom prst="rect">
            <a:avLst/>
          </a:prstGeom>
          <a:solidFill>
            <a:srgbClr val="E0F7FA"/>
          </a:solidFill>
          <a:ln w="3810">
            <a:solidFill>
              <a:srgbClr val="F0F0F0"/>
            </a:solidFill>
            <a:prstDash val="solid"/>
          </a:ln>
        </p:spPr>
        <p:txBody>
          <a:bodyPr/>
          <a:lstStyle/>
          <a:p>
            <a:endParaRPr lang="en-US"/>
          </a:p>
        </p:txBody>
      </p:sp>
      <p:sp>
        <p:nvSpPr>
          <p:cNvPr id="35" name="Text 33"/>
          <p:cNvSpPr/>
          <p:nvPr/>
        </p:nvSpPr>
        <p:spPr>
          <a:xfrm>
            <a:off x="576072" y="3648456"/>
            <a:ext cx="2002536" cy="493776"/>
          </a:xfrm>
          <a:prstGeom prst="rect">
            <a:avLst/>
          </a:prstGeom>
          <a:noFill/>
          <a:ln/>
        </p:spPr>
        <p:txBody>
          <a:bodyPr wrap="square" lIns="0" tIns="0" rIns="0" bIns="0" rtlCol="0" anchor="ctr"/>
          <a:lstStyle/>
          <a:p>
            <a:pPr marL="0" indent="0">
              <a:lnSpc>
                <a:spcPct val="105000"/>
              </a:lnSpc>
              <a:buNone/>
            </a:pPr>
            <a:r>
              <a:rPr lang="en-US" sz="900" b="1" dirty="0">
                <a:solidFill>
                  <a:srgbClr val="1B2A4A"/>
                </a:solidFill>
                <a:latin typeface="Arial" pitchFamily="34" charset="0"/>
                <a:ea typeface="Arial" pitchFamily="34" charset="-122"/>
                <a:cs typeface="Arial" pitchFamily="34" charset="-120"/>
              </a:rPr>
              <a:t>Chain-of-Thought Capture</a:t>
            </a:r>
            <a:endParaRPr lang="en-US" sz="900" dirty="0"/>
          </a:p>
        </p:txBody>
      </p:sp>
      <p:sp>
        <p:nvSpPr>
          <p:cNvPr id="36" name="Shape 34"/>
          <p:cNvSpPr/>
          <p:nvPr/>
        </p:nvSpPr>
        <p:spPr>
          <a:xfrm>
            <a:off x="2651760" y="3621024"/>
            <a:ext cx="3291840" cy="548640"/>
          </a:xfrm>
          <a:prstGeom prst="rect">
            <a:avLst/>
          </a:prstGeom>
          <a:solidFill>
            <a:srgbClr val="F5F5F5"/>
          </a:solidFill>
          <a:ln w="3810">
            <a:solidFill>
              <a:srgbClr val="F0F0F0"/>
            </a:solidFill>
            <a:prstDash val="solid"/>
          </a:ln>
        </p:spPr>
        <p:txBody>
          <a:bodyPr/>
          <a:lstStyle/>
          <a:p>
            <a:endParaRPr lang="en-US"/>
          </a:p>
        </p:txBody>
      </p:sp>
      <p:sp>
        <p:nvSpPr>
          <p:cNvPr id="37" name="Text 35"/>
          <p:cNvSpPr/>
          <p:nvPr/>
        </p:nvSpPr>
        <p:spPr>
          <a:xfrm>
            <a:off x="2724912" y="3648456"/>
            <a:ext cx="3145536" cy="493776"/>
          </a:xfrm>
          <a:prstGeom prst="rect">
            <a:avLst/>
          </a:prstGeom>
          <a:noFill/>
          <a:ln/>
        </p:spPr>
        <p:txBody>
          <a:bodyPr wrap="square" lIns="0" tIns="0" rIns="0" bIns="0" rtlCol="0" anchor="ctr"/>
          <a:lstStyle/>
          <a:p>
            <a:pPr marL="0" indent="0">
              <a:lnSpc>
                <a:spcPct val="105000"/>
              </a:lnSpc>
              <a:buNone/>
            </a:pPr>
            <a:r>
              <a:rPr lang="en-US" sz="850" dirty="0">
                <a:solidFill>
                  <a:srgbClr val="333333"/>
                </a:solidFill>
                <a:latin typeface="Arial" pitchFamily="34" charset="0"/>
                <a:ea typeface="Arial" pitchFamily="34" charset="-122"/>
                <a:cs typeface="Arial" pitchFamily="34" charset="-120"/>
              </a:rPr>
              <a:t>CoT reasoning exists only in LLM tokens. Intermediate conclusions aren't stored for verification or replay.</a:t>
            </a:r>
            <a:endParaRPr lang="en-US" sz="850" dirty="0"/>
          </a:p>
        </p:txBody>
      </p:sp>
      <p:sp>
        <p:nvSpPr>
          <p:cNvPr id="38" name="Shape 36"/>
          <p:cNvSpPr/>
          <p:nvPr/>
        </p:nvSpPr>
        <p:spPr>
          <a:xfrm>
            <a:off x="5943600" y="3621024"/>
            <a:ext cx="2971800" cy="548640"/>
          </a:xfrm>
          <a:prstGeom prst="rect">
            <a:avLst/>
          </a:prstGeom>
          <a:solidFill>
            <a:srgbClr val="F5F5F5"/>
          </a:solidFill>
          <a:ln w="3810">
            <a:solidFill>
              <a:srgbClr val="F0F0F0"/>
            </a:solidFill>
            <a:prstDash val="solid"/>
          </a:ln>
        </p:spPr>
        <p:txBody>
          <a:bodyPr/>
          <a:lstStyle/>
          <a:p>
            <a:endParaRPr lang="en-US"/>
          </a:p>
        </p:txBody>
      </p:sp>
      <p:sp>
        <p:nvSpPr>
          <p:cNvPr id="39" name="Text 37"/>
          <p:cNvSpPr/>
          <p:nvPr/>
        </p:nvSpPr>
        <p:spPr>
          <a:xfrm>
            <a:off x="6016752" y="3648456"/>
            <a:ext cx="2825496" cy="493776"/>
          </a:xfrm>
          <a:prstGeom prst="rect">
            <a:avLst/>
          </a:prstGeom>
          <a:noFill/>
          <a:ln/>
        </p:spPr>
        <p:txBody>
          <a:bodyPr wrap="square" lIns="0" tIns="0" rIns="0" bIns="0" rtlCol="0" anchor="ctr"/>
          <a:lstStyle/>
          <a:p>
            <a:pPr marL="0" indent="0">
              <a:lnSpc>
                <a:spcPct val="105000"/>
              </a:lnSpc>
              <a:buNone/>
            </a:pPr>
            <a:r>
              <a:rPr lang="en-US" sz="850" dirty="0">
                <a:solidFill>
                  <a:srgbClr val="333333"/>
                </a:solidFill>
                <a:latin typeface="Arial" pitchFamily="34" charset="0"/>
                <a:ea typeface="Arial" pitchFamily="34" charset="-122"/>
                <a:cs typeface="Arial" pitchFamily="34" charset="-120"/>
              </a:rPr>
              <a:t>Persist ReasoningArtifact per step: (step_num, thought, action, observation). Store in session for verifier access and debug replay.</a:t>
            </a:r>
            <a:endParaRPr lang="en-US" sz="850" dirty="0"/>
          </a:p>
        </p:txBody>
      </p:sp>
      <p:sp>
        <p:nvSpPr>
          <p:cNvPr id="40" name="Shape 38"/>
          <p:cNvSpPr/>
          <p:nvPr/>
        </p:nvSpPr>
        <p:spPr>
          <a:xfrm>
            <a:off x="502920" y="4169664"/>
            <a:ext cx="2148840" cy="548640"/>
          </a:xfrm>
          <a:prstGeom prst="rect">
            <a:avLst/>
          </a:prstGeom>
          <a:solidFill>
            <a:srgbClr val="E0F7FA"/>
          </a:solidFill>
          <a:ln w="3810">
            <a:solidFill>
              <a:srgbClr val="F0F0F0"/>
            </a:solidFill>
            <a:prstDash val="solid"/>
          </a:ln>
        </p:spPr>
        <p:txBody>
          <a:bodyPr/>
          <a:lstStyle/>
          <a:p>
            <a:endParaRPr lang="en-US"/>
          </a:p>
        </p:txBody>
      </p:sp>
      <p:sp>
        <p:nvSpPr>
          <p:cNvPr id="41" name="Text 39"/>
          <p:cNvSpPr/>
          <p:nvPr/>
        </p:nvSpPr>
        <p:spPr>
          <a:xfrm>
            <a:off x="576072" y="4197096"/>
            <a:ext cx="2002536" cy="493776"/>
          </a:xfrm>
          <a:prstGeom prst="rect">
            <a:avLst/>
          </a:prstGeom>
          <a:noFill/>
          <a:ln/>
        </p:spPr>
        <p:txBody>
          <a:bodyPr wrap="square" lIns="0" tIns="0" rIns="0" bIns="0" rtlCol="0" anchor="ctr"/>
          <a:lstStyle/>
          <a:p>
            <a:pPr marL="0" indent="0">
              <a:lnSpc>
                <a:spcPct val="105000"/>
              </a:lnSpc>
              <a:buNone/>
            </a:pPr>
            <a:r>
              <a:rPr lang="en-US" sz="900" b="1" dirty="0">
                <a:solidFill>
                  <a:srgbClr val="1B2A4A"/>
                </a:solidFill>
                <a:latin typeface="Arial" pitchFamily="34" charset="0"/>
                <a:ea typeface="Arial" pitchFamily="34" charset="-122"/>
                <a:cs typeface="Arial" pitchFamily="34" charset="-120"/>
              </a:rPr>
              <a:t>Configurable Fallback Chains</a:t>
            </a:r>
            <a:endParaRPr lang="en-US" sz="900" dirty="0"/>
          </a:p>
        </p:txBody>
      </p:sp>
      <p:sp>
        <p:nvSpPr>
          <p:cNvPr id="42" name="Shape 40"/>
          <p:cNvSpPr/>
          <p:nvPr/>
        </p:nvSpPr>
        <p:spPr>
          <a:xfrm>
            <a:off x="2651760" y="4169664"/>
            <a:ext cx="3291840" cy="548640"/>
          </a:xfrm>
          <a:prstGeom prst="rect">
            <a:avLst/>
          </a:prstGeom>
          <a:solidFill>
            <a:srgbClr val="FFFFFF"/>
          </a:solidFill>
          <a:ln w="3810">
            <a:solidFill>
              <a:srgbClr val="F0F0F0"/>
            </a:solidFill>
            <a:prstDash val="solid"/>
          </a:ln>
        </p:spPr>
        <p:txBody>
          <a:bodyPr/>
          <a:lstStyle/>
          <a:p>
            <a:endParaRPr lang="en-US"/>
          </a:p>
        </p:txBody>
      </p:sp>
      <p:sp>
        <p:nvSpPr>
          <p:cNvPr id="43" name="Text 41"/>
          <p:cNvSpPr/>
          <p:nvPr/>
        </p:nvSpPr>
        <p:spPr>
          <a:xfrm>
            <a:off x="2724912" y="4197096"/>
            <a:ext cx="3145536" cy="493776"/>
          </a:xfrm>
          <a:prstGeom prst="rect">
            <a:avLst/>
          </a:prstGeom>
          <a:noFill/>
          <a:ln/>
        </p:spPr>
        <p:txBody>
          <a:bodyPr wrap="square" lIns="0" tIns="0" rIns="0" bIns="0" rtlCol="0" anchor="ctr"/>
          <a:lstStyle/>
          <a:p>
            <a:pPr marL="0" indent="0">
              <a:lnSpc>
                <a:spcPct val="105000"/>
              </a:lnSpc>
              <a:buNone/>
            </a:pPr>
            <a:r>
              <a:rPr lang="en-US" sz="850" dirty="0">
                <a:solidFill>
                  <a:srgbClr val="333333"/>
                </a:solidFill>
                <a:latin typeface="Arial" pitchFamily="34" charset="0"/>
                <a:ea typeface="Arial" pitchFamily="34" charset="-122"/>
                <a:cs typeface="Arial" pitchFamily="34" charset="-120"/>
              </a:rPr>
              <a:t>_finalize_messages() tries 4 hardcoded recovery strategies. No per-agent or per-tool customization.</a:t>
            </a:r>
            <a:endParaRPr lang="en-US" sz="850" dirty="0"/>
          </a:p>
        </p:txBody>
      </p:sp>
      <p:sp>
        <p:nvSpPr>
          <p:cNvPr id="44" name="Shape 42"/>
          <p:cNvSpPr/>
          <p:nvPr/>
        </p:nvSpPr>
        <p:spPr>
          <a:xfrm>
            <a:off x="5943600" y="4169664"/>
            <a:ext cx="2971800" cy="548640"/>
          </a:xfrm>
          <a:prstGeom prst="rect">
            <a:avLst/>
          </a:prstGeom>
          <a:solidFill>
            <a:srgbClr val="FFFFFF"/>
          </a:solidFill>
          <a:ln w="3810">
            <a:solidFill>
              <a:srgbClr val="F0F0F0"/>
            </a:solidFill>
            <a:prstDash val="solid"/>
          </a:ln>
        </p:spPr>
        <p:txBody>
          <a:bodyPr/>
          <a:lstStyle/>
          <a:p>
            <a:endParaRPr lang="en-US"/>
          </a:p>
        </p:txBody>
      </p:sp>
      <p:sp>
        <p:nvSpPr>
          <p:cNvPr id="45" name="Text 43"/>
          <p:cNvSpPr/>
          <p:nvPr/>
        </p:nvSpPr>
        <p:spPr>
          <a:xfrm>
            <a:off x="6016752" y="4197096"/>
            <a:ext cx="2825496" cy="493776"/>
          </a:xfrm>
          <a:prstGeom prst="rect">
            <a:avLst/>
          </a:prstGeom>
          <a:noFill/>
          <a:ln/>
        </p:spPr>
        <p:txBody>
          <a:bodyPr wrap="square" lIns="0" tIns="0" rIns="0" bIns="0" rtlCol="0" anchor="ctr"/>
          <a:lstStyle/>
          <a:p>
            <a:pPr marL="0" indent="0">
              <a:lnSpc>
                <a:spcPct val="105000"/>
              </a:lnSpc>
              <a:buNone/>
            </a:pPr>
            <a:r>
              <a:rPr lang="en-US" sz="850" dirty="0">
                <a:solidFill>
                  <a:srgbClr val="333333"/>
                </a:solidFill>
                <a:latin typeface="Arial" pitchFamily="34" charset="0"/>
                <a:ea typeface="Arial" pitchFamily="34" charset="-122"/>
                <a:cs typeface="Arial" pitchFamily="34" charset="-120"/>
              </a:rPr>
              <a:t>Add FallbackChain config to AgentDefinition. Each chain: [strategy_1, strategy_2, ...]. Priority order configurable per agent mode.</a:t>
            </a:r>
            <a:endParaRPr lang="en-US" sz="850" dirty="0"/>
          </a:p>
        </p:txBody>
      </p:sp>
      <p:sp>
        <p:nvSpPr>
          <p:cNvPr id="46" name="Text 44"/>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runtime/kernel.py (1782 lines), runtime/query_loop.py (1350 lines), general_agent.py (1430 lines)</a:t>
            </a:r>
            <a:endParaRPr lang="en-US" sz="90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New Tools — 12 High-Value Additions</a:t>
            </a:r>
            <a:endParaRPr lang="en-US" sz="2600" dirty="0"/>
          </a:p>
        </p:txBody>
      </p:sp>
      <p:sp>
        <p:nvSpPr>
          <p:cNvPr id="3" name="Text 1"/>
          <p:cNvSpPr/>
          <p:nvPr/>
        </p:nvSpPr>
        <p:spPr>
          <a:xfrm>
            <a:off x="502920" y="804672"/>
            <a:ext cx="8138160" cy="274320"/>
          </a:xfrm>
          <a:prstGeom prst="rect">
            <a:avLst/>
          </a:prstGeom>
          <a:noFill/>
          <a:ln/>
        </p:spPr>
        <p:txBody>
          <a:bodyPr wrap="square" lIns="0" tIns="0" rIns="0" bIns="0" rtlCol="0" anchor="ctr"/>
          <a:lstStyle/>
          <a:p>
            <a:pPr marL="0" indent="0">
              <a:buNone/>
            </a:pPr>
            <a:r>
              <a:rPr lang="en-US" sz="1050" dirty="0">
                <a:solidFill>
                  <a:srgbClr val="666666"/>
                </a:solidFill>
                <a:latin typeface="Arial" pitchFamily="34" charset="0"/>
                <a:ea typeface="Arial" pitchFamily="34" charset="-122"/>
                <a:cs typeface="Arial" pitchFamily="34" charset="-120"/>
              </a:rPr>
              <a:t>The system has 37 tools today. These 12 additions fill the biggest capability gaps — organized by category with concrete implementation paths.</a:t>
            </a:r>
            <a:endParaRPr lang="en-US" sz="1050" dirty="0"/>
          </a:p>
        </p:txBody>
      </p:sp>
      <p:sp>
        <p:nvSpPr>
          <p:cNvPr id="4" name="Shape 2"/>
          <p:cNvSpPr/>
          <p:nvPr/>
        </p:nvSpPr>
        <p:spPr>
          <a:xfrm>
            <a:off x="502920" y="1170432"/>
            <a:ext cx="2590800" cy="306324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170432"/>
            <a:ext cx="2590800" cy="320040"/>
          </a:xfrm>
          <a:prstGeom prst="rect">
            <a:avLst/>
          </a:prstGeom>
          <a:solidFill>
            <a:srgbClr val="0097A7"/>
          </a:solidFill>
          <a:ln/>
        </p:spPr>
        <p:txBody>
          <a:bodyPr/>
          <a:lstStyle/>
          <a:p>
            <a:endParaRPr lang="en-US"/>
          </a:p>
        </p:txBody>
      </p:sp>
      <p:sp>
        <p:nvSpPr>
          <p:cNvPr id="6" name="Text 4"/>
          <p:cNvSpPr/>
          <p:nvPr/>
        </p:nvSpPr>
        <p:spPr>
          <a:xfrm>
            <a:off x="612648" y="1197864"/>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Web &amp; External Data (4 tools)</a:t>
            </a:r>
            <a:endParaRPr lang="en-US" sz="1200" dirty="0"/>
          </a:p>
        </p:txBody>
      </p:sp>
      <p:sp>
        <p:nvSpPr>
          <p:cNvPr id="7" name="Text 5"/>
          <p:cNvSpPr/>
          <p:nvPr/>
        </p:nvSpPr>
        <p:spPr>
          <a:xfrm>
            <a:off x="612648" y="1554480"/>
            <a:ext cx="2371344" cy="2587752"/>
          </a:xfrm>
          <a:prstGeom prst="rect">
            <a:avLst/>
          </a:prstGeom>
          <a:noFill/>
          <a:ln/>
        </p:spPr>
        <p:txBody>
          <a:bodyPr wrap="square" lIns="0" tIns="0" rIns="0" bIns="0" rtlCol="0" anchor="t"/>
          <a:lstStyle/>
          <a:p>
            <a:pPr marL="0" indent="0">
              <a:lnSpc>
                <a:spcPct val="110000"/>
              </a:lnSpc>
              <a:buNone/>
            </a:pPr>
            <a:r>
              <a:rPr lang="en-US" sz="900" b="1" dirty="0">
                <a:solidFill>
                  <a:srgbClr val="0097A7"/>
                </a:solidFill>
                <a:latin typeface="Courier New" pitchFamily="34" charset="0"/>
                <a:ea typeface="Courier New" pitchFamily="34" charset="-122"/>
                <a:cs typeface="Courier New" pitchFamily="34" charset="-120"/>
              </a:rPr>
              <a:t>web_search</a:t>
            </a:r>
            <a:r>
              <a:rPr lang="en-US" sz="900" dirty="0">
                <a:solidFill>
                  <a:srgbClr val="333333"/>
                </a:solidFill>
                <a:latin typeface="Arial" pitchFamily="34" charset="0"/>
                <a:ea typeface="Arial" pitchFamily="34" charset="-122"/>
                <a:cs typeface="Arial" pitchFamily="34" charset="-120"/>
              </a:rPr>
              <a:t> — Search via SerpAPI/Brave. Returns title, snippet, URL. Agents can answer questions beyond the KB.
</a:t>
            </a:r>
            <a:r>
              <a:rPr lang="en-US" sz="900" b="1" dirty="0">
                <a:solidFill>
                  <a:srgbClr val="0097A7"/>
                </a:solidFill>
                <a:latin typeface="Courier New" pitchFamily="34" charset="0"/>
                <a:ea typeface="Courier New" pitchFamily="34" charset="-122"/>
                <a:cs typeface="Courier New" pitchFamily="34" charset="-120"/>
              </a:rPr>
              <a:t>fetch_url</a:t>
            </a:r>
            <a:r>
              <a:rPr lang="en-US" sz="900" dirty="0">
                <a:solidFill>
                  <a:srgbClr val="333333"/>
                </a:solidFill>
                <a:latin typeface="Arial" pitchFamily="34" charset="0"/>
                <a:ea typeface="Arial" pitchFamily="34" charset="-122"/>
                <a:cs typeface="Arial" pitchFamily="34" charset="-120"/>
              </a:rPr>
              <a:t> — HTTP GET with HTML→text extraction (readability). Agents can read linked sources.
</a:t>
            </a:r>
            <a:r>
              <a:rPr lang="en-US" sz="900" b="1" dirty="0">
                <a:solidFill>
                  <a:srgbClr val="0097A7"/>
                </a:solidFill>
                <a:latin typeface="Courier New" pitchFamily="34" charset="0"/>
                <a:ea typeface="Courier New" pitchFamily="34" charset="-122"/>
                <a:cs typeface="Courier New" pitchFamily="34" charset="-120"/>
              </a:rPr>
              <a:t>http_request</a:t>
            </a:r>
            <a:r>
              <a:rPr lang="en-US" sz="900" dirty="0">
                <a:solidFill>
                  <a:srgbClr val="333333"/>
                </a:solidFill>
                <a:latin typeface="Arial" pitchFamily="34" charset="0"/>
                <a:ea typeface="Arial" pitchFamily="34" charset="-122"/>
                <a:cs typeface="Arial" pitchFamily="34" charset="-120"/>
              </a:rPr>
              <a:t> — Generic REST client (GET/POST/PUT). Agents can call external APIs on behalf of users.
</a:t>
            </a:r>
            <a:r>
              <a:rPr lang="en-US" sz="900" b="1" dirty="0">
                <a:solidFill>
                  <a:srgbClr val="0097A7"/>
                </a:solidFill>
                <a:latin typeface="Courier New" pitchFamily="34" charset="0"/>
                <a:ea typeface="Courier New" pitchFamily="34" charset="-122"/>
                <a:cs typeface="Courier New" pitchFamily="34" charset="-120"/>
              </a:rPr>
              <a:t>webhook_trigger</a:t>
            </a:r>
            <a:r>
              <a:rPr lang="en-US" sz="900" dirty="0">
                <a:solidFill>
                  <a:srgbClr val="333333"/>
                </a:solidFill>
                <a:latin typeface="Arial" pitchFamily="34" charset="0"/>
                <a:ea typeface="Arial" pitchFamily="34" charset="-122"/>
                <a:cs typeface="Arial" pitchFamily="34" charset="-120"/>
              </a:rPr>
              <a:t> — Fire outbound webhooks with HMAC signing. Enables Slack/Zapier/n8n integrations.</a:t>
            </a:r>
            <a:endParaRPr lang="en-US" sz="1000" dirty="0"/>
          </a:p>
        </p:txBody>
      </p:sp>
      <p:sp>
        <p:nvSpPr>
          <p:cNvPr id="8" name="Shape 6"/>
          <p:cNvSpPr/>
          <p:nvPr/>
        </p:nvSpPr>
        <p:spPr>
          <a:xfrm>
            <a:off x="3276600" y="1170432"/>
            <a:ext cx="2590800" cy="306324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3276600" y="1170432"/>
            <a:ext cx="2590800" cy="320040"/>
          </a:xfrm>
          <a:prstGeom prst="rect">
            <a:avLst/>
          </a:prstGeom>
          <a:solidFill>
            <a:srgbClr val="00796B"/>
          </a:solidFill>
          <a:ln/>
        </p:spPr>
        <p:txBody>
          <a:bodyPr/>
          <a:lstStyle/>
          <a:p>
            <a:endParaRPr lang="en-US"/>
          </a:p>
        </p:txBody>
      </p:sp>
      <p:sp>
        <p:nvSpPr>
          <p:cNvPr id="10" name="Text 8"/>
          <p:cNvSpPr/>
          <p:nvPr/>
        </p:nvSpPr>
        <p:spPr>
          <a:xfrm>
            <a:off x="3386328" y="1197864"/>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Document Generation (4 tools)</a:t>
            </a:r>
            <a:endParaRPr lang="en-US" sz="1200" dirty="0"/>
          </a:p>
        </p:txBody>
      </p:sp>
      <p:sp>
        <p:nvSpPr>
          <p:cNvPr id="11" name="Text 9"/>
          <p:cNvSpPr/>
          <p:nvPr/>
        </p:nvSpPr>
        <p:spPr>
          <a:xfrm>
            <a:off x="3386328" y="1554480"/>
            <a:ext cx="2371344" cy="2587752"/>
          </a:xfrm>
          <a:prstGeom prst="rect">
            <a:avLst/>
          </a:prstGeom>
          <a:noFill/>
          <a:ln/>
        </p:spPr>
        <p:txBody>
          <a:bodyPr wrap="square" lIns="0" tIns="0" rIns="0" bIns="0" rtlCol="0" anchor="t"/>
          <a:lstStyle/>
          <a:p>
            <a:pPr marL="0" indent="0">
              <a:lnSpc>
                <a:spcPct val="110000"/>
              </a:lnSpc>
              <a:buNone/>
            </a:pPr>
            <a:r>
              <a:rPr lang="en-US" sz="900" b="1" dirty="0">
                <a:solidFill>
                  <a:srgbClr val="00796B"/>
                </a:solidFill>
                <a:latin typeface="Courier New" pitchFamily="34" charset="0"/>
                <a:ea typeface="Courier New" pitchFamily="34" charset="-122"/>
                <a:cs typeface="Courier New" pitchFamily="34" charset="-120"/>
              </a:rPr>
              <a:t>generate_pdf</a:t>
            </a:r>
            <a:r>
              <a:rPr lang="en-US" sz="900" dirty="0">
                <a:solidFill>
                  <a:srgbClr val="333333"/>
                </a:solidFill>
                <a:latin typeface="Arial" pitchFamily="34" charset="0"/>
                <a:ea typeface="Arial" pitchFamily="34" charset="-122"/>
                <a:cs typeface="Arial" pitchFamily="34" charset="-120"/>
              </a:rPr>
              <a:t> — Create PDFs from markdown/HTML via WeasyPrint. Save to workspace for download.
</a:t>
            </a:r>
            <a:r>
              <a:rPr lang="en-US" sz="900" b="1" dirty="0">
                <a:solidFill>
                  <a:srgbClr val="00796B"/>
                </a:solidFill>
                <a:latin typeface="Courier New" pitchFamily="34" charset="0"/>
                <a:ea typeface="Courier New" pitchFamily="34" charset="-122"/>
                <a:cs typeface="Courier New" pitchFamily="34" charset="-120"/>
              </a:rPr>
              <a:t>generate_spreadsheet</a:t>
            </a:r>
            <a:r>
              <a:rPr lang="en-US" sz="900" dirty="0">
                <a:solidFill>
                  <a:srgbClr val="333333"/>
                </a:solidFill>
                <a:latin typeface="Arial" pitchFamily="34" charset="0"/>
                <a:ea typeface="Arial" pitchFamily="34" charset="-122"/>
                <a:cs typeface="Arial" pitchFamily="34" charset="-120"/>
              </a:rPr>
              <a:t> — Build .xlsx from tabular data via openpyxl. Charts, formatting, multi-sheet.
</a:t>
            </a:r>
            <a:r>
              <a:rPr lang="en-US" sz="900" b="1" dirty="0">
                <a:solidFill>
                  <a:srgbClr val="00796B"/>
                </a:solidFill>
                <a:latin typeface="Courier New" pitchFamily="34" charset="0"/>
                <a:ea typeface="Courier New" pitchFamily="34" charset="-122"/>
                <a:cs typeface="Courier New" pitchFamily="34" charset="-120"/>
              </a:rPr>
              <a:t>generate_chart</a:t>
            </a:r>
            <a:r>
              <a:rPr lang="en-US" sz="900" dirty="0">
                <a:solidFill>
                  <a:srgbClr val="333333"/>
                </a:solidFill>
                <a:latin typeface="Arial" pitchFamily="34" charset="0"/>
                <a:ea typeface="Arial" pitchFamily="34" charset="-122"/>
                <a:cs typeface="Arial" pitchFamily="34" charset="-120"/>
              </a:rPr>
              <a:t> — Create PNG/SVG visualizations via matplotlib/plotly. Register as workspace artifact.
</a:t>
            </a:r>
            <a:r>
              <a:rPr lang="en-US" sz="900" b="1" dirty="0">
                <a:solidFill>
                  <a:srgbClr val="00796B"/>
                </a:solidFill>
                <a:latin typeface="Courier New" pitchFamily="34" charset="0"/>
                <a:ea typeface="Courier New" pitchFamily="34" charset="-122"/>
                <a:cs typeface="Courier New" pitchFamily="34" charset="-120"/>
              </a:rPr>
              <a:t>file_convert</a:t>
            </a:r>
            <a:r>
              <a:rPr lang="en-US" sz="900" dirty="0">
                <a:solidFill>
                  <a:srgbClr val="333333"/>
                </a:solidFill>
                <a:latin typeface="Arial" pitchFamily="34" charset="0"/>
                <a:ea typeface="Arial" pitchFamily="34" charset="-122"/>
                <a:cs typeface="Arial" pitchFamily="34" charset="-120"/>
              </a:rPr>
              <a:t> — Convert between formats (DOCX→PDF, CSV→XLSX, HTML→MD). Runs in sandbox.</a:t>
            </a:r>
            <a:endParaRPr lang="en-US" sz="1000" dirty="0"/>
          </a:p>
        </p:txBody>
      </p:sp>
      <p:sp>
        <p:nvSpPr>
          <p:cNvPr id="12" name="Shape 10"/>
          <p:cNvSpPr/>
          <p:nvPr/>
        </p:nvSpPr>
        <p:spPr>
          <a:xfrm>
            <a:off x="6050280" y="1170432"/>
            <a:ext cx="2590800" cy="306324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3" name="Shape 11"/>
          <p:cNvSpPr/>
          <p:nvPr/>
        </p:nvSpPr>
        <p:spPr>
          <a:xfrm>
            <a:off x="6050280" y="1170432"/>
            <a:ext cx="2590800" cy="320040"/>
          </a:xfrm>
          <a:prstGeom prst="rect">
            <a:avLst/>
          </a:prstGeom>
          <a:solidFill>
            <a:srgbClr val="1B2A4A"/>
          </a:solidFill>
          <a:ln/>
        </p:spPr>
        <p:txBody>
          <a:bodyPr/>
          <a:lstStyle/>
          <a:p>
            <a:endParaRPr lang="en-US"/>
          </a:p>
        </p:txBody>
      </p:sp>
      <p:sp>
        <p:nvSpPr>
          <p:cNvPr id="14" name="Text 12"/>
          <p:cNvSpPr/>
          <p:nvPr/>
        </p:nvSpPr>
        <p:spPr>
          <a:xfrm>
            <a:off x="6160008" y="1197864"/>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Notification &amp; Cloud (4 tools)</a:t>
            </a:r>
            <a:endParaRPr lang="en-US" sz="1200" dirty="0"/>
          </a:p>
        </p:txBody>
      </p:sp>
      <p:sp>
        <p:nvSpPr>
          <p:cNvPr id="15" name="Text 13"/>
          <p:cNvSpPr/>
          <p:nvPr/>
        </p:nvSpPr>
        <p:spPr>
          <a:xfrm>
            <a:off x="6160008" y="1554480"/>
            <a:ext cx="2371344" cy="2587752"/>
          </a:xfrm>
          <a:prstGeom prst="rect">
            <a:avLst/>
          </a:prstGeom>
          <a:noFill/>
          <a:ln/>
        </p:spPr>
        <p:txBody>
          <a:bodyPr wrap="square" lIns="0" tIns="0" rIns="0" bIns="0" rtlCol="0" anchor="t"/>
          <a:lstStyle/>
          <a:p>
            <a:pPr marL="0" indent="0">
              <a:lnSpc>
                <a:spcPct val="110000"/>
              </a:lnSpc>
              <a:buNone/>
            </a:pPr>
            <a:r>
              <a:rPr lang="en-US" sz="900" b="1" dirty="0">
                <a:solidFill>
                  <a:srgbClr val="1B2A4A"/>
                </a:solidFill>
                <a:latin typeface="Courier New" pitchFamily="34" charset="0"/>
                <a:ea typeface="Courier New" pitchFamily="34" charset="-122"/>
                <a:cs typeface="Courier New" pitchFamily="34" charset="-120"/>
              </a:rPr>
              <a:t>send_email</a:t>
            </a:r>
            <a:r>
              <a:rPr lang="en-US" sz="900" dirty="0">
                <a:solidFill>
                  <a:srgbClr val="333333"/>
                </a:solidFill>
                <a:latin typeface="Arial" pitchFamily="34" charset="0"/>
                <a:ea typeface="Arial" pitchFamily="34" charset="-122"/>
                <a:cs typeface="Arial" pitchFamily="34" charset="-120"/>
              </a:rPr>
              <a:t> — SMTP integration. Draft + confirm pattern for safety. Agents can deliver reports.
</a:t>
            </a:r>
            <a:r>
              <a:rPr lang="en-US" sz="900" b="1" dirty="0">
                <a:solidFill>
                  <a:srgbClr val="1B2A4A"/>
                </a:solidFill>
                <a:latin typeface="Courier New" pitchFamily="34" charset="0"/>
                <a:ea typeface="Courier New" pitchFamily="34" charset="-122"/>
                <a:cs typeface="Courier New" pitchFamily="34" charset="-120"/>
              </a:rPr>
              <a:t>send_notification</a:t>
            </a:r>
            <a:r>
              <a:rPr lang="en-US" sz="900" dirty="0">
                <a:solidFill>
                  <a:srgbClr val="333333"/>
                </a:solidFill>
                <a:latin typeface="Arial" pitchFamily="34" charset="0"/>
                <a:ea typeface="Arial" pitchFamily="34" charset="-122"/>
                <a:cs typeface="Arial" pitchFamily="34" charset="-120"/>
              </a:rPr>
              <a:t> — Push to Slack/Teams/webhook. Agents notify humans when background jobs complete.
</a:t>
            </a:r>
            <a:r>
              <a:rPr lang="en-US" sz="900" b="1" dirty="0">
                <a:solidFill>
                  <a:srgbClr val="1B2A4A"/>
                </a:solidFill>
                <a:latin typeface="Courier New" pitchFamily="34" charset="0"/>
                <a:ea typeface="Courier New" pitchFamily="34" charset="-122"/>
                <a:cs typeface="Courier New" pitchFamily="34" charset="-120"/>
              </a:rPr>
              <a:t>cloud_storage</a:t>
            </a:r>
            <a:r>
              <a:rPr lang="en-US" sz="900" dirty="0">
                <a:solidFill>
                  <a:srgbClr val="333333"/>
                </a:solidFill>
                <a:latin typeface="Arial" pitchFamily="34" charset="0"/>
                <a:ea typeface="Arial" pitchFamily="34" charset="-122"/>
                <a:cs typeface="Arial" pitchFamily="34" charset="-120"/>
              </a:rPr>
              <a:t> — Upload/download to S3/GCS/Azure Blob. Persistent artifact storage beyond session.
</a:t>
            </a:r>
            <a:r>
              <a:rPr lang="en-US" sz="900" b="1" dirty="0">
                <a:solidFill>
                  <a:srgbClr val="1B2A4A"/>
                </a:solidFill>
                <a:latin typeface="Courier New" pitchFamily="34" charset="0"/>
                <a:ea typeface="Courier New" pitchFamily="34" charset="-122"/>
                <a:cs typeface="Courier New" pitchFamily="34" charset="-120"/>
              </a:rPr>
              <a:t>schedule_task</a:t>
            </a:r>
            <a:r>
              <a:rPr lang="en-US" sz="900" dirty="0">
                <a:solidFill>
                  <a:srgbClr val="333333"/>
                </a:solidFill>
                <a:latin typeface="Arial" pitchFamily="34" charset="0"/>
                <a:ea typeface="Arial" pitchFamily="34" charset="-122"/>
                <a:cs typeface="Arial" pitchFamily="34" charset="-120"/>
              </a:rPr>
              <a:t> — Cron-style scheduling. Agents can set up recurring reports, checks, or data refreshes.</a:t>
            </a:r>
            <a:endParaRPr lang="en-US" sz="1000" dirty="0"/>
          </a:p>
        </p:txBody>
      </p:sp>
      <p:sp>
        <p:nvSpPr>
          <p:cNvPr id="16" name="Shape 14"/>
          <p:cNvSpPr/>
          <p:nvPr/>
        </p:nvSpPr>
        <p:spPr>
          <a:xfrm>
            <a:off x="502920" y="4352544"/>
            <a:ext cx="8138160" cy="292608"/>
          </a:xfrm>
          <a:prstGeom prst="rect">
            <a:avLst/>
          </a:prstGeom>
          <a:solidFill>
            <a:srgbClr val="E0F7FA"/>
          </a:solidFill>
          <a:ln w="12700">
            <a:solidFill>
              <a:srgbClr val="0097A7"/>
            </a:solidFill>
            <a:prstDash val="solid"/>
          </a:ln>
        </p:spPr>
        <p:txBody>
          <a:bodyPr/>
          <a:lstStyle/>
          <a:p>
            <a:endParaRPr lang="en-US"/>
          </a:p>
        </p:txBody>
      </p:sp>
      <p:sp>
        <p:nvSpPr>
          <p:cNvPr id="17" name="Text 15"/>
          <p:cNvSpPr/>
          <p:nvPr/>
        </p:nvSpPr>
        <p:spPr>
          <a:xfrm>
            <a:off x="594360" y="4352544"/>
            <a:ext cx="7955280" cy="292608"/>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All 12 tools follow the existing ToolDefinition contract in tools/registry.py. Each gets a policy entry in tools/policy.py and agent allowlist in data/agents/*.md.</a:t>
            </a:r>
            <a:endParaRPr lang="en-US" sz="1000" dirty="0"/>
          </a:p>
        </p:txBody>
      </p:sp>
      <p:sp>
        <p:nvSpPr>
          <p:cNvPr id="18" name="Text 16"/>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tools/registry.py (877 lines), tools/policy.py (59 lines), tools/executor.py — extend with 12 new tool modules</a:t>
            </a:r>
            <a:endParaRPr lang="en-US" sz="90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New Skills — 12 Packs to Add</a:t>
            </a:r>
            <a:endParaRPr lang="en-US" sz="2600" dirty="0"/>
          </a:p>
        </p:txBody>
      </p:sp>
      <p:sp>
        <p:nvSpPr>
          <p:cNvPr id="3" name="Text 1"/>
          <p:cNvSpPr/>
          <p:nvPr/>
        </p:nvSpPr>
        <p:spPr>
          <a:xfrm>
            <a:off x="502920" y="804672"/>
            <a:ext cx="8138160" cy="274320"/>
          </a:xfrm>
          <a:prstGeom prst="rect">
            <a:avLst/>
          </a:prstGeom>
          <a:noFill/>
          <a:ln/>
        </p:spPr>
        <p:txBody>
          <a:bodyPr wrap="square" lIns="0" tIns="0" rIns="0" bIns="0" rtlCol="0" anchor="ctr"/>
          <a:lstStyle/>
          <a:p>
            <a:pPr marL="0" indent="0">
              <a:buNone/>
            </a:pPr>
            <a:r>
              <a:rPr lang="en-US" sz="1050" dirty="0">
                <a:solidFill>
                  <a:srgbClr val="666666"/>
                </a:solidFill>
                <a:latin typeface="Arial" pitchFamily="34" charset="0"/>
                <a:ea typeface="Arial" pitchFamily="34" charset="-122"/>
                <a:cs typeface="Arial" pitchFamily="34" charset="-120"/>
              </a:rPr>
              <a:t>11 skill packs exist today (agent-level guidance). These 12 new packs add domain expertise, workflow patterns, and integration know-how — making agents specialists.</a:t>
            </a:r>
            <a:endParaRPr lang="en-US" sz="1050" dirty="0"/>
          </a:p>
        </p:txBody>
      </p:sp>
      <p:sp>
        <p:nvSpPr>
          <p:cNvPr id="4" name="Shape 2"/>
          <p:cNvSpPr/>
          <p:nvPr/>
        </p:nvSpPr>
        <p:spPr>
          <a:xfrm>
            <a:off x="502920" y="1170432"/>
            <a:ext cx="2590800" cy="310896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170432"/>
            <a:ext cx="2590800" cy="320040"/>
          </a:xfrm>
          <a:prstGeom prst="rect">
            <a:avLst/>
          </a:prstGeom>
          <a:solidFill>
            <a:srgbClr val="0097A7"/>
          </a:solidFill>
          <a:ln/>
        </p:spPr>
        <p:txBody>
          <a:bodyPr/>
          <a:lstStyle/>
          <a:p>
            <a:endParaRPr lang="en-US"/>
          </a:p>
        </p:txBody>
      </p:sp>
      <p:sp>
        <p:nvSpPr>
          <p:cNvPr id="6" name="Text 4"/>
          <p:cNvSpPr/>
          <p:nvPr/>
        </p:nvSpPr>
        <p:spPr>
          <a:xfrm>
            <a:off x="612648" y="1197864"/>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Domain-Specific Skills (4)</a:t>
            </a:r>
            <a:endParaRPr lang="en-US" sz="1200" dirty="0"/>
          </a:p>
        </p:txBody>
      </p:sp>
      <p:sp>
        <p:nvSpPr>
          <p:cNvPr id="7" name="Text 5"/>
          <p:cNvSpPr/>
          <p:nvPr/>
        </p:nvSpPr>
        <p:spPr>
          <a:xfrm>
            <a:off x="612648" y="1554480"/>
            <a:ext cx="2371344" cy="2633472"/>
          </a:xfrm>
          <a:prstGeom prst="rect">
            <a:avLst/>
          </a:prstGeom>
          <a:noFill/>
          <a:ln/>
        </p:spPr>
        <p:txBody>
          <a:bodyPr wrap="square" lIns="0" tIns="0" rIns="0" bIns="0" rtlCol="0" anchor="t"/>
          <a:lstStyle/>
          <a:p>
            <a:pPr marL="0" indent="0">
              <a:lnSpc>
                <a:spcPct val="110000"/>
              </a:lnSpc>
              <a:buNone/>
            </a:pPr>
            <a:r>
              <a:rPr lang="en-US" sz="900" b="1" dirty="0">
                <a:solidFill>
                  <a:srgbClr val="0097A7"/>
                </a:solidFill>
                <a:latin typeface="Courier New" pitchFamily="34" charset="0"/>
                <a:ea typeface="Courier New" pitchFamily="34" charset="-122"/>
                <a:cs typeface="Courier New" pitchFamily="34" charset="-120"/>
              </a:rPr>
              <a:t>contract_review.md
</a:t>
            </a:r>
            <a:r>
              <a:rPr lang="en-US" sz="900" dirty="0">
                <a:solidFill>
                  <a:srgbClr val="333333"/>
                </a:solidFill>
                <a:latin typeface="Arial" pitchFamily="34" charset="0"/>
                <a:ea typeface="Arial" pitchFamily="34" charset="-122"/>
                <a:cs typeface="Arial" pitchFamily="34" charset="-120"/>
              </a:rPr>
              <a:t>Legal contract analysis: clause extraction, risk flags, obligation tracking, redline comparison patterns.
</a:t>
            </a:r>
            <a:r>
              <a:rPr lang="en-US" sz="900" b="1" dirty="0">
                <a:solidFill>
                  <a:srgbClr val="0097A7"/>
                </a:solidFill>
                <a:latin typeface="Courier New" pitchFamily="34" charset="0"/>
                <a:ea typeface="Courier New" pitchFamily="34" charset="-122"/>
                <a:cs typeface="Courier New" pitchFamily="34" charset="-120"/>
              </a:rPr>
              <a:t>financial_analysis.md
</a:t>
            </a:r>
            <a:r>
              <a:rPr lang="en-US" sz="900" dirty="0">
                <a:solidFill>
                  <a:srgbClr val="333333"/>
                </a:solidFill>
                <a:latin typeface="Arial" pitchFamily="34" charset="0"/>
                <a:ea typeface="Arial" pitchFamily="34" charset="-122"/>
                <a:cs typeface="Arial" pitchFamily="34" charset="-120"/>
              </a:rPr>
              <a:t>Financial modeling: ratio analysis, DCF templates, variance analysis, forecast guidance.
</a:t>
            </a:r>
            <a:r>
              <a:rPr lang="en-US" sz="900" b="1" dirty="0">
                <a:solidFill>
                  <a:srgbClr val="0097A7"/>
                </a:solidFill>
                <a:latin typeface="Courier New" pitchFamily="34" charset="0"/>
                <a:ea typeface="Courier New" pitchFamily="34" charset="-122"/>
                <a:cs typeface="Courier New" pitchFamily="34" charset="-120"/>
              </a:rPr>
              <a:t>compliance_check.md
</a:t>
            </a:r>
            <a:r>
              <a:rPr lang="en-US" sz="900" dirty="0">
                <a:solidFill>
                  <a:srgbClr val="333333"/>
                </a:solidFill>
                <a:latin typeface="Arial" pitchFamily="34" charset="0"/>
                <a:ea typeface="Arial" pitchFamily="34" charset="-122"/>
                <a:cs typeface="Arial" pitchFamily="34" charset="-120"/>
              </a:rPr>
              <a:t>Regulatory compliance: SOC2/GDPR/HIPAA checklists, evidence collection, gap analysis patterns.
</a:t>
            </a:r>
            <a:r>
              <a:rPr lang="en-US" sz="900" b="1" dirty="0">
                <a:solidFill>
                  <a:srgbClr val="0097A7"/>
                </a:solidFill>
                <a:latin typeface="Courier New" pitchFamily="34" charset="0"/>
                <a:ea typeface="Courier New" pitchFamily="34" charset="-122"/>
                <a:cs typeface="Courier New" pitchFamily="34" charset="-120"/>
              </a:rPr>
              <a:t>root_cause_analysis.md
</a:t>
            </a:r>
            <a:r>
              <a:rPr lang="en-US" sz="900" dirty="0">
                <a:solidFill>
                  <a:srgbClr val="333333"/>
                </a:solidFill>
                <a:latin typeface="Arial" pitchFamily="34" charset="0"/>
                <a:ea typeface="Arial" pitchFamily="34" charset="-122"/>
                <a:cs typeface="Arial" pitchFamily="34" charset="-120"/>
              </a:rPr>
              <a:t>Incident RCA: 5-Whys, fishbone, timeline construction, contributing factor identification.</a:t>
            </a:r>
            <a:endParaRPr lang="en-US" sz="1000" dirty="0"/>
          </a:p>
        </p:txBody>
      </p:sp>
      <p:sp>
        <p:nvSpPr>
          <p:cNvPr id="8" name="Shape 6"/>
          <p:cNvSpPr/>
          <p:nvPr/>
        </p:nvSpPr>
        <p:spPr>
          <a:xfrm>
            <a:off x="3276600" y="1170432"/>
            <a:ext cx="2590800" cy="310896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3276600" y="1170432"/>
            <a:ext cx="2590800" cy="320040"/>
          </a:xfrm>
          <a:prstGeom prst="rect">
            <a:avLst/>
          </a:prstGeom>
          <a:solidFill>
            <a:srgbClr val="00796B"/>
          </a:solidFill>
          <a:ln/>
        </p:spPr>
        <p:txBody>
          <a:bodyPr/>
          <a:lstStyle/>
          <a:p>
            <a:endParaRPr lang="en-US"/>
          </a:p>
        </p:txBody>
      </p:sp>
      <p:sp>
        <p:nvSpPr>
          <p:cNvPr id="10" name="Text 8"/>
          <p:cNvSpPr/>
          <p:nvPr/>
        </p:nvSpPr>
        <p:spPr>
          <a:xfrm>
            <a:off x="3386328" y="1197864"/>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Workflow Skills (4)</a:t>
            </a:r>
            <a:endParaRPr lang="en-US" sz="1200" dirty="0"/>
          </a:p>
        </p:txBody>
      </p:sp>
      <p:sp>
        <p:nvSpPr>
          <p:cNvPr id="11" name="Text 9"/>
          <p:cNvSpPr/>
          <p:nvPr/>
        </p:nvSpPr>
        <p:spPr>
          <a:xfrm>
            <a:off x="3386328" y="1554480"/>
            <a:ext cx="2371344" cy="2633472"/>
          </a:xfrm>
          <a:prstGeom prst="rect">
            <a:avLst/>
          </a:prstGeom>
          <a:noFill/>
          <a:ln/>
        </p:spPr>
        <p:txBody>
          <a:bodyPr wrap="square" lIns="0" tIns="0" rIns="0" bIns="0" rtlCol="0" anchor="t"/>
          <a:lstStyle/>
          <a:p>
            <a:pPr marL="0" indent="0">
              <a:lnSpc>
                <a:spcPct val="110000"/>
              </a:lnSpc>
              <a:buNone/>
            </a:pPr>
            <a:r>
              <a:rPr lang="en-US" sz="900" b="1" dirty="0">
                <a:solidFill>
                  <a:srgbClr val="00796B"/>
                </a:solidFill>
                <a:latin typeface="Courier New" pitchFamily="34" charset="0"/>
                <a:ea typeface="Courier New" pitchFamily="34" charset="-122"/>
                <a:cs typeface="Courier New" pitchFamily="34" charset="-120"/>
              </a:rPr>
              <a:t>report_writer.md
</a:t>
            </a:r>
            <a:r>
              <a:rPr lang="en-US" sz="900" dirty="0">
                <a:solidFill>
                  <a:srgbClr val="333333"/>
                </a:solidFill>
                <a:latin typeface="Arial" pitchFamily="34" charset="0"/>
                <a:ea typeface="Arial" pitchFamily="34" charset="-122"/>
                <a:cs typeface="Arial" pitchFamily="34" charset="-120"/>
              </a:rPr>
              <a:t>Structured report creation: outline → sections → citations → executive summary. Uses generate_pdf tool.
</a:t>
            </a:r>
            <a:r>
              <a:rPr lang="en-US" sz="900" b="1" dirty="0">
                <a:solidFill>
                  <a:srgbClr val="00796B"/>
                </a:solidFill>
                <a:latin typeface="Courier New" pitchFamily="34" charset="0"/>
                <a:ea typeface="Courier New" pitchFamily="34" charset="-122"/>
                <a:cs typeface="Courier New" pitchFamily="34" charset="-120"/>
              </a:rPr>
              <a:t>meeting_prep.md
</a:t>
            </a:r>
            <a:r>
              <a:rPr lang="en-US" sz="900" dirty="0">
                <a:solidFill>
                  <a:srgbClr val="333333"/>
                </a:solidFill>
                <a:latin typeface="Arial" pitchFamily="34" charset="0"/>
                <a:ea typeface="Arial" pitchFamily="34" charset="-122"/>
                <a:cs typeface="Arial" pitchFamily="34" charset="-120"/>
              </a:rPr>
              <a:t>Meeting preparation: agenda building, background research, talking points, action item tracking.
</a:t>
            </a:r>
            <a:r>
              <a:rPr lang="en-US" sz="900" b="1" dirty="0">
                <a:solidFill>
                  <a:srgbClr val="00796B"/>
                </a:solidFill>
                <a:latin typeface="Courier New" pitchFamily="34" charset="0"/>
                <a:ea typeface="Courier New" pitchFamily="34" charset="-122"/>
                <a:cs typeface="Courier New" pitchFamily="34" charset="-120"/>
              </a:rPr>
              <a:t>data_pipeline.md
</a:t>
            </a:r>
            <a:r>
              <a:rPr lang="en-US" sz="900" dirty="0">
                <a:solidFill>
                  <a:srgbClr val="333333"/>
                </a:solidFill>
                <a:latin typeface="Arial" pitchFamily="34" charset="0"/>
                <a:ea typeface="Arial" pitchFamily="34" charset="-122"/>
                <a:cs typeface="Arial" pitchFamily="34" charset="-120"/>
              </a:rPr>
              <a:t>Multi-step data analysis: load → clean → transform → analyze → visualize → save. Guides sandbox usage.
</a:t>
            </a:r>
            <a:r>
              <a:rPr lang="en-US" sz="900" b="1" dirty="0">
                <a:solidFill>
                  <a:srgbClr val="00796B"/>
                </a:solidFill>
                <a:latin typeface="Courier New" pitchFamily="34" charset="0"/>
                <a:ea typeface="Courier New" pitchFamily="34" charset="-122"/>
                <a:cs typeface="Courier New" pitchFamily="34" charset="-120"/>
              </a:rPr>
              <a:t>error_recovery.md
</a:t>
            </a:r>
            <a:r>
              <a:rPr lang="en-US" sz="900" dirty="0">
                <a:solidFill>
                  <a:srgbClr val="333333"/>
                </a:solidFill>
                <a:latin typeface="Arial" pitchFamily="34" charset="0"/>
                <a:ea typeface="Arial" pitchFamily="34" charset="-122"/>
                <a:cs typeface="Arial" pitchFamily="34" charset="-120"/>
              </a:rPr>
              <a:t>Tool failure patterns: retry strategies per tool type, fallback workflows, degraded-mode responses.</a:t>
            </a:r>
            <a:endParaRPr lang="en-US" sz="1000" dirty="0"/>
          </a:p>
        </p:txBody>
      </p:sp>
      <p:sp>
        <p:nvSpPr>
          <p:cNvPr id="12" name="Shape 10"/>
          <p:cNvSpPr/>
          <p:nvPr/>
        </p:nvSpPr>
        <p:spPr>
          <a:xfrm>
            <a:off x="6050280" y="1170432"/>
            <a:ext cx="2590800" cy="310896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3" name="Shape 11"/>
          <p:cNvSpPr/>
          <p:nvPr/>
        </p:nvSpPr>
        <p:spPr>
          <a:xfrm>
            <a:off x="6050280" y="1170432"/>
            <a:ext cx="2590800" cy="320040"/>
          </a:xfrm>
          <a:prstGeom prst="rect">
            <a:avLst/>
          </a:prstGeom>
          <a:solidFill>
            <a:srgbClr val="1B2A4A"/>
          </a:solidFill>
          <a:ln/>
        </p:spPr>
        <p:txBody>
          <a:bodyPr/>
          <a:lstStyle/>
          <a:p>
            <a:endParaRPr lang="en-US"/>
          </a:p>
        </p:txBody>
      </p:sp>
      <p:sp>
        <p:nvSpPr>
          <p:cNvPr id="14" name="Text 12"/>
          <p:cNvSpPr/>
          <p:nvPr/>
        </p:nvSpPr>
        <p:spPr>
          <a:xfrm>
            <a:off x="6160008" y="1197864"/>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Integration Skills (4)</a:t>
            </a:r>
            <a:endParaRPr lang="en-US" sz="1200" dirty="0"/>
          </a:p>
        </p:txBody>
      </p:sp>
      <p:sp>
        <p:nvSpPr>
          <p:cNvPr id="15" name="Text 13"/>
          <p:cNvSpPr/>
          <p:nvPr/>
        </p:nvSpPr>
        <p:spPr>
          <a:xfrm>
            <a:off x="6160008" y="1554480"/>
            <a:ext cx="2371344" cy="2633472"/>
          </a:xfrm>
          <a:prstGeom prst="rect">
            <a:avLst/>
          </a:prstGeom>
          <a:noFill/>
          <a:ln/>
        </p:spPr>
        <p:txBody>
          <a:bodyPr wrap="square" lIns="0" tIns="0" rIns="0" bIns="0" rtlCol="0" anchor="t"/>
          <a:lstStyle/>
          <a:p>
            <a:pPr marL="0" indent="0">
              <a:lnSpc>
                <a:spcPct val="110000"/>
              </a:lnSpc>
              <a:buNone/>
            </a:pPr>
            <a:r>
              <a:rPr lang="en-US" sz="900" b="1" dirty="0">
                <a:solidFill>
                  <a:srgbClr val="1B2A4A"/>
                </a:solidFill>
                <a:latin typeface="Courier New" pitchFamily="34" charset="0"/>
                <a:ea typeface="Courier New" pitchFamily="34" charset="-122"/>
                <a:cs typeface="Courier New" pitchFamily="34" charset="-120"/>
              </a:rPr>
              <a:t>github_workflow.md
</a:t>
            </a:r>
            <a:r>
              <a:rPr lang="en-US" sz="900" dirty="0">
                <a:solidFill>
                  <a:srgbClr val="333333"/>
                </a:solidFill>
                <a:latin typeface="Arial" pitchFamily="34" charset="0"/>
                <a:ea typeface="Arial" pitchFamily="34" charset="-122"/>
                <a:cs typeface="Arial" pitchFamily="34" charset="-120"/>
              </a:rPr>
              <a:t>GitHub integration: PR review, issue triage, code search patterns, commit analysis.
</a:t>
            </a:r>
            <a:r>
              <a:rPr lang="en-US" sz="900" b="1" dirty="0">
                <a:solidFill>
                  <a:srgbClr val="1B2A4A"/>
                </a:solidFill>
                <a:latin typeface="Courier New" pitchFamily="34" charset="0"/>
                <a:ea typeface="Courier New" pitchFamily="34" charset="-122"/>
                <a:cs typeface="Courier New" pitchFamily="34" charset="-120"/>
              </a:rPr>
              <a:t>jira_workflow.md
</a:t>
            </a:r>
            <a:r>
              <a:rPr lang="en-US" sz="900" dirty="0">
                <a:solidFill>
                  <a:srgbClr val="333333"/>
                </a:solidFill>
                <a:latin typeface="Arial" pitchFamily="34" charset="0"/>
                <a:ea typeface="Arial" pitchFamily="34" charset="-122"/>
                <a:cs typeface="Arial" pitchFamily="34" charset="-120"/>
              </a:rPr>
              <a:t>Jira ticket management: status updates, sprint planning, dependency tracking, estimation.
</a:t>
            </a:r>
            <a:r>
              <a:rPr lang="en-US" sz="900" b="1" dirty="0">
                <a:solidFill>
                  <a:srgbClr val="1B2A4A"/>
                </a:solidFill>
                <a:latin typeface="Courier New" pitchFamily="34" charset="0"/>
                <a:ea typeface="Courier New" pitchFamily="34" charset="-122"/>
                <a:cs typeface="Courier New" pitchFamily="34" charset="-120"/>
              </a:rPr>
              <a:t>slack_integration.md
</a:t>
            </a:r>
            <a:r>
              <a:rPr lang="en-US" sz="900" dirty="0">
                <a:solidFill>
                  <a:srgbClr val="333333"/>
                </a:solidFill>
                <a:latin typeface="Arial" pitchFamily="34" charset="0"/>
                <a:ea typeface="Arial" pitchFamily="34" charset="-122"/>
                <a:cs typeface="Arial" pitchFamily="34" charset="-120"/>
              </a:rPr>
              <a:t>Slack workflows: channel summarization, thread responses, notification routing, standup reports.
</a:t>
            </a:r>
            <a:r>
              <a:rPr lang="en-US" sz="900" b="1" dirty="0">
                <a:solidFill>
                  <a:srgbClr val="1B2A4A"/>
                </a:solidFill>
                <a:latin typeface="Courier New" pitchFamily="34" charset="0"/>
                <a:ea typeface="Courier New" pitchFamily="34" charset="-122"/>
                <a:cs typeface="Courier New" pitchFamily="34" charset="-120"/>
              </a:rPr>
              <a:t>api_integration.md
</a:t>
            </a:r>
            <a:r>
              <a:rPr lang="en-US" sz="900" dirty="0">
                <a:solidFill>
                  <a:srgbClr val="333333"/>
                </a:solidFill>
                <a:latin typeface="Arial" pitchFamily="34" charset="0"/>
                <a:ea typeface="Arial" pitchFamily="34" charset="-122"/>
                <a:cs typeface="Arial" pitchFamily="34" charset="-120"/>
              </a:rPr>
              <a:t>Generic API calling: authentication patterns, pagination, rate limit handling, error mapping.</a:t>
            </a:r>
            <a:endParaRPr lang="en-US" sz="1000" dirty="0"/>
          </a:p>
        </p:txBody>
      </p:sp>
      <p:sp>
        <p:nvSpPr>
          <p:cNvPr id="16" name="Shape 14"/>
          <p:cNvSpPr/>
          <p:nvPr/>
        </p:nvSpPr>
        <p:spPr>
          <a:xfrm>
            <a:off x="502920" y="4389120"/>
            <a:ext cx="8138160" cy="201168"/>
          </a:xfrm>
          <a:prstGeom prst="rect">
            <a:avLst/>
          </a:prstGeom>
          <a:solidFill>
            <a:srgbClr val="E0F7FA"/>
          </a:solidFill>
          <a:ln w="12700">
            <a:solidFill>
              <a:srgbClr val="0097A7"/>
            </a:solidFill>
            <a:prstDash val="solid"/>
          </a:ln>
        </p:spPr>
        <p:txBody>
          <a:bodyPr/>
          <a:lstStyle/>
          <a:p>
            <a:endParaRPr lang="en-US"/>
          </a:p>
        </p:txBody>
      </p:sp>
      <p:sp>
        <p:nvSpPr>
          <p:cNvPr id="17" name="Text 15"/>
          <p:cNvSpPr/>
          <p:nvPr/>
        </p:nvSpPr>
        <p:spPr>
          <a:xfrm>
            <a:off x="594360" y="4389120"/>
            <a:ext cx="7955280" cy="201168"/>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All packs use the existing skill frontmatter schema. Loaded via pack_loader.py, matched via SkillResolver, injected into agent prompts by skills/runtime.py.</a:t>
            </a:r>
            <a:endParaRPr lang="en-US" sz="1000" dirty="0"/>
          </a:p>
        </p:txBody>
      </p:sp>
      <p:sp>
        <p:nvSpPr>
          <p:cNvPr id="18" name="Text 16"/>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skills/pack_loader.py (314 lines), skills/resolver.py (105 lines), skills/runtime.py (176 lines) — 11 packs today, expand to 23</a:t>
            </a:r>
            <a:endParaRPr lang="en-US" sz="90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Sandbox as Persistent Agent Filesystem</a:t>
            </a:r>
            <a:endParaRPr lang="en-US" sz="2600" dirty="0"/>
          </a:p>
        </p:txBody>
      </p:sp>
      <p:sp>
        <p:nvSpPr>
          <p:cNvPr id="3" name="Text 1"/>
          <p:cNvSpPr/>
          <p:nvPr/>
        </p:nvSpPr>
        <p:spPr>
          <a:xfrm>
            <a:off x="502920" y="804672"/>
            <a:ext cx="8138160" cy="320040"/>
          </a:xfrm>
          <a:prstGeom prst="rect">
            <a:avLst/>
          </a:prstGeom>
          <a:noFill/>
          <a:ln/>
        </p:spPr>
        <p:txBody>
          <a:bodyPr wrap="square" lIns="0" tIns="0" rIns="0" bIns="0" rtlCol="0" anchor="ctr"/>
          <a:lstStyle/>
          <a:p>
            <a:pPr marL="0" indent="0">
              <a:buNone/>
            </a:pPr>
            <a:r>
              <a:rPr lang="en-US" sz="1050" dirty="0">
                <a:solidFill>
                  <a:srgbClr val="666666"/>
                </a:solidFill>
                <a:latin typeface="Arial" pitchFamily="34" charset="0"/>
                <a:ea typeface="Arial" pitchFamily="34" charset="-122"/>
                <a:cs typeface="Arial" pitchFamily="34" charset="-120"/>
              </a:rPr>
              <a:t>Today the sandbox spins up fresh per tool call. Transform it into a persistent workspace that agents read/write across turns — like a shared drive.</a:t>
            </a:r>
            <a:endParaRPr lang="en-US" sz="1050" dirty="0"/>
          </a:p>
        </p:txBody>
      </p:sp>
      <p:sp>
        <p:nvSpPr>
          <p:cNvPr id="4" name="Shape 2"/>
          <p:cNvSpPr/>
          <p:nvPr/>
        </p:nvSpPr>
        <p:spPr>
          <a:xfrm>
            <a:off x="502920" y="1207008"/>
            <a:ext cx="3977640" cy="18288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207008"/>
            <a:ext cx="3977640" cy="320040"/>
          </a:xfrm>
          <a:prstGeom prst="rect">
            <a:avLst/>
          </a:prstGeom>
          <a:solidFill>
            <a:srgbClr val="666666"/>
          </a:solidFill>
          <a:ln/>
        </p:spPr>
        <p:txBody>
          <a:bodyPr/>
          <a:lstStyle/>
          <a:p>
            <a:endParaRPr lang="en-US"/>
          </a:p>
        </p:txBody>
      </p:sp>
      <p:sp>
        <p:nvSpPr>
          <p:cNvPr id="6" name="Text 4"/>
          <p:cNvSpPr/>
          <p:nvPr/>
        </p:nvSpPr>
        <p:spPr>
          <a:xfrm>
            <a:off x="612648" y="1234440"/>
            <a:ext cx="37581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Today: Ephemeral Containers</a:t>
            </a:r>
            <a:endParaRPr lang="en-US" sz="1200" dirty="0"/>
          </a:p>
        </p:txBody>
      </p:sp>
      <p:sp>
        <p:nvSpPr>
          <p:cNvPr id="7" name="Text 5"/>
          <p:cNvSpPr/>
          <p:nvPr/>
        </p:nvSpPr>
        <p:spPr>
          <a:xfrm>
            <a:off x="612648" y="1591056"/>
            <a:ext cx="3758184" cy="1353312"/>
          </a:xfrm>
          <a:prstGeom prst="rect">
            <a:avLst/>
          </a:prstGeom>
          <a:noFill/>
          <a:ln/>
        </p:spPr>
        <p:txBody>
          <a:bodyPr wrap="square" lIns="0" tIns="0" rIns="0" bIns="0" rtlCol="0" anchor="t"/>
          <a:lstStyle/>
          <a:p>
            <a:pPr marL="0" indent="0">
              <a:lnSpc>
                <a:spcPct val="110000"/>
              </a:lnSpc>
              <a:buNone/>
            </a:pPr>
            <a:r>
              <a:rPr lang="en-US" sz="900" dirty="0">
                <a:solidFill>
                  <a:srgbClr val="999999"/>
                </a:solidFill>
                <a:latin typeface="Courier New" pitchFamily="34" charset="0"/>
                <a:ea typeface="Courier New" pitchFamily="34" charset="-122"/>
                <a:cs typeface="Courier New" pitchFamily="34" charset="-120"/>
              </a:rPr>
              <a:t>docker_exec.py</a:t>
            </a:r>
            <a:r>
              <a:rPr lang="en-US" sz="900" dirty="0">
                <a:solidFill>
                  <a:srgbClr val="333333"/>
                </a:solidFill>
                <a:latin typeface="Arial" pitchFamily="34" charset="0"/>
                <a:ea typeface="Arial" pitchFamily="34" charset="-122"/>
                <a:cs typeface="Arial" pitchFamily="34" charset="-120"/>
              </a:rPr>
              <a:t> — spins up fresh container per execute_code call
</a:t>
            </a:r>
            <a:r>
              <a:rPr lang="en-US" sz="900" dirty="0">
                <a:solidFill>
                  <a:srgbClr val="999999"/>
                </a:solidFill>
                <a:latin typeface="Courier New" pitchFamily="34" charset="0"/>
                <a:ea typeface="Courier New" pitchFamily="34" charset="-122"/>
                <a:cs typeface="Courier New" pitchFamily="34" charset="-120"/>
              </a:rPr>
              <a:t>workspace.py</a:t>
            </a:r>
            <a:r>
              <a:rPr lang="en-US" sz="900" dirty="0">
                <a:solidFill>
                  <a:srgbClr val="333333"/>
                </a:solidFill>
                <a:latin typeface="Arial" pitchFamily="34" charset="0"/>
                <a:ea typeface="Arial" pitchFamily="34" charset="-122"/>
                <a:cs typeface="Arial" pitchFamily="34" charset="-120"/>
              </a:rPr>
              <a:t> — persistent per-session file store exists but is underutilized
</a:t>
            </a:r>
            <a:r>
              <a:rPr lang="en-US" sz="900" b="1" dirty="0">
                <a:solidFill>
                  <a:srgbClr val="C62828"/>
                </a:solidFill>
                <a:latin typeface="Arial" pitchFamily="34" charset="0"/>
                <a:ea typeface="Arial" pitchFamily="34" charset="-122"/>
                <a:cs typeface="Arial" pitchFamily="34" charset="-120"/>
              </a:rPr>
              <a:t>Problem: </a:t>
            </a:r>
            <a:r>
              <a:rPr lang="en-US" sz="900" dirty="0">
                <a:solidFill>
                  <a:srgbClr val="333333"/>
                </a:solidFill>
                <a:latin typeface="Arial" pitchFamily="34" charset="0"/>
                <a:ea typeface="Arial" pitchFamily="34" charset="-122"/>
                <a:cs typeface="Arial" pitchFamily="34" charset="-120"/>
              </a:rPr>
              <a:t>Each tool call starts from scratch. Data analyst can't build on previous results. Agents can't accumulate files across a multi-step workflow.</a:t>
            </a:r>
            <a:endParaRPr lang="en-US" sz="1000" dirty="0"/>
          </a:p>
        </p:txBody>
      </p:sp>
      <p:sp>
        <p:nvSpPr>
          <p:cNvPr id="8" name="Shape 6"/>
          <p:cNvSpPr/>
          <p:nvPr/>
        </p:nvSpPr>
        <p:spPr>
          <a:xfrm>
            <a:off x="4663440" y="1207008"/>
            <a:ext cx="3977640" cy="18288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4663440" y="1207008"/>
            <a:ext cx="3977640" cy="320040"/>
          </a:xfrm>
          <a:prstGeom prst="rect">
            <a:avLst/>
          </a:prstGeom>
          <a:solidFill>
            <a:srgbClr val="0097A7"/>
          </a:solidFill>
          <a:ln/>
        </p:spPr>
        <p:txBody>
          <a:bodyPr/>
          <a:lstStyle/>
          <a:p>
            <a:endParaRPr lang="en-US"/>
          </a:p>
        </p:txBody>
      </p:sp>
      <p:sp>
        <p:nvSpPr>
          <p:cNvPr id="10" name="Text 8"/>
          <p:cNvSpPr/>
          <p:nvPr/>
        </p:nvSpPr>
        <p:spPr>
          <a:xfrm>
            <a:off x="4773168" y="1234440"/>
            <a:ext cx="37581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Target: Persistent Agent Filesystem</a:t>
            </a:r>
            <a:endParaRPr lang="en-US" sz="1200" dirty="0"/>
          </a:p>
        </p:txBody>
      </p:sp>
      <p:sp>
        <p:nvSpPr>
          <p:cNvPr id="11" name="Text 9"/>
          <p:cNvSpPr/>
          <p:nvPr/>
        </p:nvSpPr>
        <p:spPr>
          <a:xfrm>
            <a:off x="4773168" y="1591056"/>
            <a:ext cx="3758184" cy="1353312"/>
          </a:xfrm>
          <a:prstGeom prst="rect">
            <a:avLst/>
          </a:prstGeom>
          <a:noFill/>
          <a:ln/>
        </p:spPr>
        <p:txBody>
          <a:bodyPr wrap="square" lIns="0" tIns="0" rIns="0" bIns="0" rtlCol="0" anchor="t"/>
          <a:lstStyle/>
          <a:p>
            <a:pPr marL="0" indent="0">
              <a:lnSpc>
                <a:spcPct val="110000"/>
              </a:lnSpc>
              <a:buNone/>
            </a:pPr>
            <a:r>
              <a:rPr lang="en-US" sz="900" b="1" dirty="0">
                <a:solidFill>
                  <a:srgbClr val="1B2A4A"/>
                </a:solidFill>
                <a:latin typeface="Arial" pitchFamily="34" charset="0"/>
                <a:ea typeface="Arial" pitchFamily="34" charset="-122"/>
                <a:cs typeface="Arial" pitchFamily="34" charset="-120"/>
              </a:rPr>
              <a:t>Bind-mount workspace to every sandbox container:
</a:t>
            </a:r>
            <a:r>
              <a:rPr lang="en-US" sz="900" dirty="0">
                <a:solidFill>
                  <a:srgbClr val="333333"/>
                </a:solidFill>
                <a:latin typeface="Courier New" pitchFamily="34" charset="0"/>
                <a:ea typeface="Courier New" pitchFamily="34" charset="-122"/>
                <a:cs typeface="Courier New" pitchFamily="34" charset="-120"/>
              </a:rPr>
              <a:t>/workspace → session workspace directory
</a:t>
            </a:r>
            <a:r>
              <a:rPr lang="en-US" sz="900" b="1" dirty="0">
                <a:solidFill>
                  <a:srgbClr val="2E7D32"/>
                </a:solidFill>
                <a:latin typeface="Arial" pitchFamily="34" charset="0"/>
                <a:ea typeface="Arial" pitchFamily="34" charset="-122"/>
                <a:cs typeface="Arial" pitchFamily="34" charset="-120"/>
              </a:rPr>
              <a:t>Agents see a shared drive: </a:t>
            </a:r>
            <a:r>
              <a:rPr lang="en-US" sz="900" dirty="0">
                <a:solidFill>
                  <a:srgbClr val="333333"/>
                </a:solidFill>
                <a:latin typeface="Arial" pitchFamily="34" charset="0"/>
                <a:ea typeface="Arial" pitchFamily="34" charset="-122"/>
                <a:cs typeface="Arial" pitchFamily="34" charset="-120"/>
              </a:rPr>
              <a:t>save a CSV in step 1, load it in step 3, generate a chart in step 5 — all from /workspace.
</a:t>
            </a:r>
            <a:r>
              <a:rPr lang="en-US" sz="900" b="1" dirty="0">
                <a:solidFill>
                  <a:srgbClr val="2E7D32"/>
                </a:solidFill>
                <a:latin typeface="Arial" pitchFamily="34" charset="0"/>
                <a:ea typeface="Arial" pitchFamily="34" charset="-122"/>
                <a:cs typeface="Arial" pitchFamily="34" charset="-120"/>
              </a:rPr>
              <a:t>Files persist across turns: </a:t>
            </a:r>
            <a:r>
              <a:rPr lang="en-US" sz="900" dirty="0">
                <a:solidFill>
                  <a:srgbClr val="333333"/>
                </a:solidFill>
                <a:latin typeface="Arial" pitchFamily="34" charset="0"/>
                <a:ea typeface="Arial" pitchFamily="34" charset="-122"/>
                <a:cs typeface="Arial" pitchFamily="34" charset="-120"/>
              </a:rPr>
              <a:t>user uploads a file → agent transforms it → user downloads the result. All via workspace.</a:t>
            </a:r>
            <a:endParaRPr lang="en-US" sz="1000" dirty="0"/>
          </a:p>
        </p:txBody>
      </p:sp>
      <p:sp>
        <p:nvSpPr>
          <p:cNvPr id="12" name="Text 10"/>
          <p:cNvSpPr/>
          <p:nvPr/>
        </p:nvSpPr>
        <p:spPr>
          <a:xfrm>
            <a:off x="502920" y="3154680"/>
            <a:ext cx="8138160" cy="219456"/>
          </a:xfrm>
          <a:prstGeom prst="rect">
            <a:avLst/>
          </a:prstGeom>
          <a:noFill/>
          <a:ln/>
        </p:spPr>
        <p:txBody>
          <a:bodyPr wrap="square" lIns="0" tIns="0" rIns="0" bIns="0" rtlCol="0" anchor="ctr"/>
          <a:lstStyle/>
          <a:p>
            <a:pPr marL="0" indent="0">
              <a:buNone/>
            </a:pPr>
            <a:r>
              <a:rPr lang="en-US" sz="1100" b="1" dirty="0">
                <a:solidFill>
                  <a:srgbClr val="1B2A4A"/>
                </a:solidFill>
                <a:latin typeface="Arial" pitchFamily="34" charset="0"/>
                <a:ea typeface="Arial" pitchFamily="34" charset="-122"/>
                <a:cs typeface="Arial" pitchFamily="34" charset="-120"/>
              </a:rPr>
              <a:t>Implementation — 5 Steps</a:t>
            </a:r>
            <a:endParaRPr lang="en-US" sz="1100" dirty="0"/>
          </a:p>
        </p:txBody>
      </p:sp>
      <p:sp>
        <p:nvSpPr>
          <p:cNvPr id="13" name="Shape 11"/>
          <p:cNvSpPr/>
          <p:nvPr/>
        </p:nvSpPr>
        <p:spPr>
          <a:xfrm>
            <a:off x="502920" y="3429000"/>
            <a:ext cx="1554480" cy="1188720"/>
          </a:xfrm>
          <a:prstGeom prst="rect">
            <a:avLst/>
          </a:prstGeom>
          <a:solidFill>
            <a:srgbClr val="FFFFFF"/>
          </a:solidFill>
          <a:ln w="12700">
            <a:solidFill>
              <a:srgbClr val="0097A7"/>
            </a:solidFill>
            <a:prstDash val="solid"/>
          </a:ln>
          <a:effectLst>
            <a:outerShdw blurRad="50800" dist="25400" dir="8100000" algn="bl" rotWithShape="0">
              <a:srgbClr val="000000">
                <a:alpha val="12000"/>
              </a:srgbClr>
            </a:outerShdw>
          </a:effectLst>
        </p:spPr>
        <p:txBody>
          <a:bodyPr/>
          <a:lstStyle/>
          <a:p>
            <a:endParaRPr lang="en-US"/>
          </a:p>
        </p:txBody>
      </p:sp>
      <p:sp>
        <p:nvSpPr>
          <p:cNvPr id="14" name="Shape 12"/>
          <p:cNvSpPr/>
          <p:nvPr/>
        </p:nvSpPr>
        <p:spPr>
          <a:xfrm>
            <a:off x="502920" y="3429000"/>
            <a:ext cx="320040" cy="256032"/>
          </a:xfrm>
          <a:prstGeom prst="rect">
            <a:avLst/>
          </a:prstGeom>
          <a:solidFill>
            <a:srgbClr val="0097A7"/>
          </a:solidFill>
          <a:ln/>
        </p:spPr>
        <p:txBody>
          <a:bodyPr/>
          <a:lstStyle/>
          <a:p>
            <a:endParaRPr lang="en-US"/>
          </a:p>
        </p:txBody>
      </p:sp>
      <p:sp>
        <p:nvSpPr>
          <p:cNvPr id="15" name="Text 13"/>
          <p:cNvSpPr/>
          <p:nvPr/>
        </p:nvSpPr>
        <p:spPr>
          <a:xfrm>
            <a:off x="502920" y="3429000"/>
            <a:ext cx="320040"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6" name="Text 14"/>
          <p:cNvSpPr/>
          <p:nvPr/>
        </p:nvSpPr>
        <p:spPr>
          <a:xfrm>
            <a:off x="868680" y="3447288"/>
            <a:ext cx="1115568" cy="219456"/>
          </a:xfrm>
          <a:prstGeom prst="rect">
            <a:avLst/>
          </a:prstGeom>
          <a:noFill/>
          <a:ln/>
        </p:spPr>
        <p:txBody>
          <a:bodyPr wrap="square" lIns="0" tIns="0" rIns="0" bIns="0" rtlCol="0" anchor="ctr"/>
          <a:lstStyle/>
          <a:p>
            <a:pPr marL="0" indent="0">
              <a:buNone/>
            </a:pPr>
            <a:r>
              <a:rPr lang="en-US" sz="950" b="1" dirty="0">
                <a:solidFill>
                  <a:srgbClr val="1B2A4A"/>
                </a:solidFill>
                <a:latin typeface="Arial" pitchFamily="34" charset="0"/>
                <a:ea typeface="Arial" pitchFamily="34" charset="-122"/>
                <a:cs typeface="Arial" pitchFamily="34" charset="-120"/>
              </a:rPr>
              <a:t>Auto-Mount</a:t>
            </a:r>
            <a:endParaRPr lang="en-US" sz="950" dirty="0"/>
          </a:p>
        </p:txBody>
      </p:sp>
      <p:sp>
        <p:nvSpPr>
          <p:cNvPr id="17" name="Text 15"/>
          <p:cNvSpPr/>
          <p:nvPr/>
        </p:nvSpPr>
        <p:spPr>
          <a:xfrm>
            <a:off x="576072" y="3721608"/>
            <a:ext cx="1408176" cy="841248"/>
          </a:xfrm>
          <a:prstGeom prst="rect">
            <a:avLst/>
          </a:prstGeom>
          <a:noFill/>
          <a:ln/>
        </p:spPr>
        <p:txBody>
          <a:bodyPr wrap="square" lIns="0" tIns="0" rIns="0" bIns="0" rtlCol="0" anchor="t"/>
          <a:lstStyle/>
          <a:p>
            <a:pPr marL="0" indent="0">
              <a:lnSpc>
                <a:spcPct val="110000"/>
              </a:lnSpc>
              <a:buNone/>
            </a:pPr>
            <a:r>
              <a:rPr lang="en-US" sz="800" dirty="0">
                <a:solidFill>
                  <a:srgbClr val="333333"/>
                </a:solidFill>
                <a:latin typeface="Arial" pitchFamily="34" charset="0"/>
                <a:ea typeface="Arial" pitchFamily="34" charset="-122"/>
                <a:cs typeface="Arial" pitchFamily="34" charset="-120"/>
              </a:rPr>
              <a:t>Always bind workspace_root to /workspace in docker_exec.py containers. Files written inside persist outside.</a:t>
            </a:r>
            <a:endParaRPr lang="en-US" sz="800" dirty="0"/>
          </a:p>
        </p:txBody>
      </p:sp>
      <p:sp>
        <p:nvSpPr>
          <p:cNvPr id="18" name="Shape 16"/>
          <p:cNvSpPr/>
          <p:nvPr/>
        </p:nvSpPr>
        <p:spPr>
          <a:xfrm>
            <a:off x="2148840" y="3429000"/>
            <a:ext cx="1554480" cy="1188720"/>
          </a:xfrm>
          <a:prstGeom prst="rect">
            <a:avLst/>
          </a:prstGeom>
          <a:solidFill>
            <a:srgbClr val="FFFFFF"/>
          </a:solidFill>
          <a:ln w="12700">
            <a:solidFill>
              <a:srgbClr val="0097A7"/>
            </a:solidFill>
            <a:prstDash val="solid"/>
          </a:ln>
          <a:effectLst>
            <a:outerShdw blurRad="50800" dist="25400" dir="8100000" algn="bl" rotWithShape="0">
              <a:srgbClr val="000000">
                <a:alpha val="12000"/>
              </a:srgbClr>
            </a:outerShdw>
          </a:effectLst>
        </p:spPr>
        <p:txBody>
          <a:bodyPr/>
          <a:lstStyle/>
          <a:p>
            <a:endParaRPr lang="en-US"/>
          </a:p>
        </p:txBody>
      </p:sp>
      <p:sp>
        <p:nvSpPr>
          <p:cNvPr id="19" name="Shape 17"/>
          <p:cNvSpPr/>
          <p:nvPr/>
        </p:nvSpPr>
        <p:spPr>
          <a:xfrm>
            <a:off x="2148840" y="3429000"/>
            <a:ext cx="320040" cy="256032"/>
          </a:xfrm>
          <a:prstGeom prst="rect">
            <a:avLst/>
          </a:prstGeom>
          <a:solidFill>
            <a:srgbClr val="0097A7"/>
          </a:solidFill>
          <a:ln/>
        </p:spPr>
        <p:txBody>
          <a:bodyPr/>
          <a:lstStyle/>
          <a:p>
            <a:endParaRPr lang="en-US"/>
          </a:p>
        </p:txBody>
      </p:sp>
      <p:sp>
        <p:nvSpPr>
          <p:cNvPr id="20" name="Text 18"/>
          <p:cNvSpPr/>
          <p:nvPr/>
        </p:nvSpPr>
        <p:spPr>
          <a:xfrm>
            <a:off x="2148840" y="3429000"/>
            <a:ext cx="320040"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21" name="Text 19"/>
          <p:cNvSpPr/>
          <p:nvPr/>
        </p:nvSpPr>
        <p:spPr>
          <a:xfrm>
            <a:off x="2514600" y="3447288"/>
            <a:ext cx="1115568" cy="219456"/>
          </a:xfrm>
          <a:prstGeom prst="rect">
            <a:avLst/>
          </a:prstGeom>
          <a:noFill/>
          <a:ln/>
        </p:spPr>
        <p:txBody>
          <a:bodyPr wrap="square" lIns="0" tIns="0" rIns="0" bIns="0" rtlCol="0" anchor="ctr"/>
          <a:lstStyle/>
          <a:p>
            <a:pPr marL="0" indent="0">
              <a:buNone/>
            </a:pPr>
            <a:r>
              <a:rPr lang="en-US" sz="950" b="1" dirty="0">
                <a:solidFill>
                  <a:srgbClr val="1B2A4A"/>
                </a:solidFill>
                <a:latin typeface="Arial" pitchFamily="34" charset="0"/>
                <a:ea typeface="Arial" pitchFamily="34" charset="-122"/>
                <a:cs typeface="Arial" pitchFamily="34" charset="-120"/>
              </a:rPr>
              <a:t>Workspace Index</a:t>
            </a:r>
            <a:endParaRPr lang="en-US" sz="950" dirty="0"/>
          </a:p>
        </p:txBody>
      </p:sp>
      <p:sp>
        <p:nvSpPr>
          <p:cNvPr id="22" name="Text 20"/>
          <p:cNvSpPr/>
          <p:nvPr/>
        </p:nvSpPr>
        <p:spPr>
          <a:xfrm>
            <a:off x="2221992" y="3721608"/>
            <a:ext cx="1408176" cy="841248"/>
          </a:xfrm>
          <a:prstGeom prst="rect">
            <a:avLst/>
          </a:prstGeom>
          <a:noFill/>
          <a:ln/>
        </p:spPr>
        <p:txBody>
          <a:bodyPr wrap="square" lIns="0" tIns="0" rIns="0" bIns="0" rtlCol="0" anchor="t"/>
          <a:lstStyle/>
          <a:p>
            <a:pPr marL="0" indent="0">
              <a:lnSpc>
                <a:spcPct val="110000"/>
              </a:lnSpc>
              <a:buNone/>
            </a:pPr>
            <a:r>
              <a:rPr lang="en-US" sz="800" dirty="0">
                <a:solidFill>
                  <a:srgbClr val="333333"/>
                </a:solidFill>
                <a:latin typeface="Arial" pitchFamily="34" charset="0"/>
                <a:ea typeface="Arial" pitchFamily="34" charset="-122"/>
                <a:cs typeface="Arial" pitchFamily="34" charset="-120"/>
              </a:rPr>
              <a:t>Add workspace_index tool: lists files with size, type, modified date. Agents know what's available.</a:t>
            </a:r>
            <a:endParaRPr lang="en-US" sz="800" dirty="0"/>
          </a:p>
        </p:txBody>
      </p:sp>
      <p:sp>
        <p:nvSpPr>
          <p:cNvPr id="23" name="Shape 21"/>
          <p:cNvSpPr/>
          <p:nvPr/>
        </p:nvSpPr>
        <p:spPr>
          <a:xfrm>
            <a:off x="3794760" y="3429000"/>
            <a:ext cx="1554480" cy="1188720"/>
          </a:xfrm>
          <a:prstGeom prst="rect">
            <a:avLst/>
          </a:prstGeom>
          <a:solidFill>
            <a:srgbClr val="FFFFFF"/>
          </a:solidFill>
          <a:ln w="12700">
            <a:solidFill>
              <a:srgbClr val="0097A7"/>
            </a:solidFill>
            <a:prstDash val="solid"/>
          </a:ln>
          <a:effectLst>
            <a:outerShdw blurRad="50800" dist="25400" dir="8100000" algn="bl" rotWithShape="0">
              <a:srgbClr val="000000">
                <a:alpha val="12000"/>
              </a:srgbClr>
            </a:outerShdw>
          </a:effectLst>
        </p:spPr>
        <p:txBody>
          <a:bodyPr/>
          <a:lstStyle/>
          <a:p>
            <a:endParaRPr lang="en-US"/>
          </a:p>
        </p:txBody>
      </p:sp>
      <p:sp>
        <p:nvSpPr>
          <p:cNvPr id="24" name="Shape 22"/>
          <p:cNvSpPr/>
          <p:nvPr/>
        </p:nvSpPr>
        <p:spPr>
          <a:xfrm>
            <a:off x="3794760" y="3429000"/>
            <a:ext cx="320040" cy="256032"/>
          </a:xfrm>
          <a:prstGeom prst="rect">
            <a:avLst/>
          </a:prstGeom>
          <a:solidFill>
            <a:srgbClr val="0097A7"/>
          </a:solidFill>
          <a:ln/>
        </p:spPr>
        <p:txBody>
          <a:bodyPr/>
          <a:lstStyle/>
          <a:p>
            <a:endParaRPr lang="en-US"/>
          </a:p>
        </p:txBody>
      </p:sp>
      <p:sp>
        <p:nvSpPr>
          <p:cNvPr id="25" name="Text 23"/>
          <p:cNvSpPr/>
          <p:nvPr/>
        </p:nvSpPr>
        <p:spPr>
          <a:xfrm>
            <a:off x="3794760" y="3429000"/>
            <a:ext cx="320040"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26" name="Text 24"/>
          <p:cNvSpPr/>
          <p:nvPr/>
        </p:nvSpPr>
        <p:spPr>
          <a:xfrm>
            <a:off x="4160520" y="3447288"/>
            <a:ext cx="1115568" cy="219456"/>
          </a:xfrm>
          <a:prstGeom prst="rect">
            <a:avLst/>
          </a:prstGeom>
          <a:noFill/>
          <a:ln/>
        </p:spPr>
        <p:txBody>
          <a:bodyPr wrap="square" lIns="0" tIns="0" rIns="0" bIns="0" rtlCol="0" anchor="ctr"/>
          <a:lstStyle/>
          <a:p>
            <a:pPr marL="0" indent="0">
              <a:buNone/>
            </a:pPr>
            <a:r>
              <a:rPr lang="en-US" sz="950" b="1" dirty="0">
                <a:solidFill>
                  <a:srgbClr val="1B2A4A"/>
                </a:solidFill>
                <a:latin typeface="Arial" pitchFamily="34" charset="0"/>
                <a:ea typeface="Arial" pitchFamily="34" charset="-122"/>
                <a:cs typeface="Arial" pitchFamily="34" charset="-120"/>
              </a:rPr>
              <a:t>Upload Ingest</a:t>
            </a:r>
            <a:endParaRPr lang="en-US" sz="950" dirty="0"/>
          </a:p>
        </p:txBody>
      </p:sp>
      <p:sp>
        <p:nvSpPr>
          <p:cNvPr id="27" name="Text 25"/>
          <p:cNvSpPr/>
          <p:nvPr/>
        </p:nvSpPr>
        <p:spPr>
          <a:xfrm>
            <a:off x="3867912" y="3721608"/>
            <a:ext cx="1408176" cy="841248"/>
          </a:xfrm>
          <a:prstGeom prst="rect">
            <a:avLst/>
          </a:prstGeom>
          <a:noFill/>
          <a:ln/>
        </p:spPr>
        <p:txBody>
          <a:bodyPr wrap="square" lIns="0" tIns="0" rIns="0" bIns="0" rtlCol="0" anchor="t"/>
          <a:lstStyle/>
          <a:p>
            <a:pPr marL="0" indent="0">
              <a:lnSpc>
                <a:spcPct val="110000"/>
              </a:lnSpc>
              <a:buNone/>
            </a:pPr>
            <a:r>
              <a:rPr lang="en-US" sz="800" dirty="0">
                <a:solidFill>
                  <a:srgbClr val="333333"/>
                </a:solidFill>
                <a:latin typeface="Arial" pitchFamily="34" charset="0"/>
                <a:ea typeface="Arial" pitchFamily="34" charset="-122"/>
                <a:cs typeface="Arial" pitchFamily="34" charset="-120"/>
              </a:rPr>
              <a:t>Route /v1/upload files into workspace. Agents access uploads via /workspace/{filename} in sandbox.</a:t>
            </a:r>
            <a:endParaRPr lang="en-US" sz="800" dirty="0"/>
          </a:p>
        </p:txBody>
      </p:sp>
      <p:sp>
        <p:nvSpPr>
          <p:cNvPr id="28" name="Shape 26"/>
          <p:cNvSpPr/>
          <p:nvPr/>
        </p:nvSpPr>
        <p:spPr>
          <a:xfrm>
            <a:off x="5440680" y="3429000"/>
            <a:ext cx="1554480" cy="1188720"/>
          </a:xfrm>
          <a:prstGeom prst="rect">
            <a:avLst/>
          </a:prstGeom>
          <a:solidFill>
            <a:srgbClr val="FFFFFF"/>
          </a:solidFill>
          <a:ln w="12700">
            <a:solidFill>
              <a:srgbClr val="0097A7"/>
            </a:solidFill>
            <a:prstDash val="solid"/>
          </a:ln>
          <a:effectLst>
            <a:outerShdw blurRad="50800" dist="25400" dir="8100000" algn="bl" rotWithShape="0">
              <a:srgbClr val="000000">
                <a:alpha val="12000"/>
              </a:srgbClr>
            </a:outerShdw>
          </a:effectLst>
        </p:spPr>
        <p:txBody>
          <a:bodyPr/>
          <a:lstStyle/>
          <a:p>
            <a:endParaRPr lang="en-US"/>
          </a:p>
        </p:txBody>
      </p:sp>
      <p:sp>
        <p:nvSpPr>
          <p:cNvPr id="29" name="Shape 27"/>
          <p:cNvSpPr/>
          <p:nvPr/>
        </p:nvSpPr>
        <p:spPr>
          <a:xfrm>
            <a:off x="5440680" y="3429000"/>
            <a:ext cx="320040" cy="256032"/>
          </a:xfrm>
          <a:prstGeom prst="rect">
            <a:avLst/>
          </a:prstGeom>
          <a:solidFill>
            <a:srgbClr val="0097A7"/>
          </a:solidFill>
          <a:ln/>
        </p:spPr>
        <p:txBody>
          <a:bodyPr/>
          <a:lstStyle/>
          <a:p>
            <a:endParaRPr lang="en-US"/>
          </a:p>
        </p:txBody>
      </p:sp>
      <p:sp>
        <p:nvSpPr>
          <p:cNvPr id="30" name="Text 28"/>
          <p:cNvSpPr/>
          <p:nvPr/>
        </p:nvSpPr>
        <p:spPr>
          <a:xfrm>
            <a:off x="5440680" y="3429000"/>
            <a:ext cx="320040"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4</a:t>
            </a:r>
            <a:endParaRPr lang="en-US" sz="1000" dirty="0"/>
          </a:p>
        </p:txBody>
      </p:sp>
      <p:sp>
        <p:nvSpPr>
          <p:cNvPr id="31" name="Text 29"/>
          <p:cNvSpPr/>
          <p:nvPr/>
        </p:nvSpPr>
        <p:spPr>
          <a:xfrm>
            <a:off x="5806440" y="3447288"/>
            <a:ext cx="1115568" cy="219456"/>
          </a:xfrm>
          <a:prstGeom prst="rect">
            <a:avLst/>
          </a:prstGeom>
          <a:noFill/>
          <a:ln/>
        </p:spPr>
        <p:txBody>
          <a:bodyPr wrap="square" lIns="0" tIns="0" rIns="0" bIns="0" rtlCol="0" anchor="ctr"/>
          <a:lstStyle/>
          <a:p>
            <a:pPr marL="0" indent="0">
              <a:buNone/>
            </a:pPr>
            <a:r>
              <a:rPr lang="en-US" sz="950" b="1" dirty="0">
                <a:solidFill>
                  <a:srgbClr val="1B2A4A"/>
                </a:solidFill>
                <a:latin typeface="Arial" pitchFamily="34" charset="0"/>
                <a:ea typeface="Arial" pitchFamily="34" charset="-122"/>
                <a:cs typeface="Arial" pitchFamily="34" charset="-120"/>
              </a:rPr>
              <a:t>Artifact DAG</a:t>
            </a:r>
            <a:endParaRPr lang="en-US" sz="950" dirty="0"/>
          </a:p>
        </p:txBody>
      </p:sp>
      <p:sp>
        <p:nvSpPr>
          <p:cNvPr id="32" name="Text 30"/>
          <p:cNvSpPr/>
          <p:nvPr/>
        </p:nvSpPr>
        <p:spPr>
          <a:xfrm>
            <a:off x="5513832" y="3721608"/>
            <a:ext cx="1408176" cy="841248"/>
          </a:xfrm>
          <a:prstGeom prst="rect">
            <a:avLst/>
          </a:prstGeom>
          <a:noFill/>
          <a:ln/>
        </p:spPr>
        <p:txBody>
          <a:bodyPr wrap="square" lIns="0" tIns="0" rIns="0" bIns="0" rtlCol="0" anchor="t"/>
          <a:lstStyle/>
          <a:p>
            <a:pPr marL="0" indent="0">
              <a:lnSpc>
                <a:spcPct val="110000"/>
              </a:lnSpc>
              <a:buNone/>
            </a:pPr>
            <a:r>
              <a:rPr lang="en-US" sz="800" dirty="0">
                <a:solidFill>
                  <a:srgbClr val="333333"/>
                </a:solidFill>
                <a:latin typeface="Arial" pitchFamily="34" charset="0"/>
                <a:ea typeface="Arial" pitchFamily="34" charset="-122"/>
                <a:cs typeface="Arial" pitchFamily="34" charset="-120"/>
              </a:rPr>
              <a:t>Track file lineage: which tool created which file from which input. Enables provenance and cleanup.</a:t>
            </a:r>
            <a:endParaRPr lang="en-US" sz="800" dirty="0"/>
          </a:p>
        </p:txBody>
      </p:sp>
      <p:sp>
        <p:nvSpPr>
          <p:cNvPr id="33" name="Shape 31"/>
          <p:cNvSpPr/>
          <p:nvPr/>
        </p:nvSpPr>
        <p:spPr>
          <a:xfrm>
            <a:off x="7086600" y="3429000"/>
            <a:ext cx="1554480" cy="1188720"/>
          </a:xfrm>
          <a:prstGeom prst="rect">
            <a:avLst/>
          </a:prstGeom>
          <a:solidFill>
            <a:srgbClr val="FFFFFF"/>
          </a:solidFill>
          <a:ln w="12700">
            <a:solidFill>
              <a:srgbClr val="0097A7"/>
            </a:solidFill>
            <a:prstDash val="solid"/>
          </a:ln>
          <a:effectLst>
            <a:outerShdw blurRad="50800" dist="25400" dir="8100000" algn="bl" rotWithShape="0">
              <a:srgbClr val="000000">
                <a:alpha val="12000"/>
              </a:srgbClr>
            </a:outerShdw>
          </a:effectLst>
        </p:spPr>
        <p:txBody>
          <a:bodyPr/>
          <a:lstStyle/>
          <a:p>
            <a:endParaRPr lang="en-US"/>
          </a:p>
        </p:txBody>
      </p:sp>
      <p:sp>
        <p:nvSpPr>
          <p:cNvPr id="34" name="Shape 32"/>
          <p:cNvSpPr/>
          <p:nvPr/>
        </p:nvSpPr>
        <p:spPr>
          <a:xfrm>
            <a:off x="7086600" y="3429000"/>
            <a:ext cx="320040" cy="256032"/>
          </a:xfrm>
          <a:prstGeom prst="rect">
            <a:avLst/>
          </a:prstGeom>
          <a:solidFill>
            <a:srgbClr val="0097A7"/>
          </a:solidFill>
          <a:ln/>
        </p:spPr>
        <p:txBody>
          <a:bodyPr/>
          <a:lstStyle/>
          <a:p>
            <a:endParaRPr lang="en-US"/>
          </a:p>
        </p:txBody>
      </p:sp>
      <p:sp>
        <p:nvSpPr>
          <p:cNvPr id="35" name="Text 33"/>
          <p:cNvSpPr/>
          <p:nvPr/>
        </p:nvSpPr>
        <p:spPr>
          <a:xfrm>
            <a:off x="7086600" y="3429000"/>
            <a:ext cx="320040"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5</a:t>
            </a:r>
            <a:endParaRPr lang="en-US" sz="1000" dirty="0"/>
          </a:p>
        </p:txBody>
      </p:sp>
      <p:sp>
        <p:nvSpPr>
          <p:cNvPr id="36" name="Text 34"/>
          <p:cNvSpPr/>
          <p:nvPr/>
        </p:nvSpPr>
        <p:spPr>
          <a:xfrm>
            <a:off x="7452360" y="3447288"/>
            <a:ext cx="1115568" cy="219456"/>
          </a:xfrm>
          <a:prstGeom prst="rect">
            <a:avLst/>
          </a:prstGeom>
          <a:noFill/>
          <a:ln/>
        </p:spPr>
        <p:txBody>
          <a:bodyPr wrap="square" lIns="0" tIns="0" rIns="0" bIns="0" rtlCol="0" anchor="ctr"/>
          <a:lstStyle/>
          <a:p>
            <a:pPr marL="0" indent="0">
              <a:buNone/>
            </a:pPr>
            <a:r>
              <a:rPr lang="en-US" sz="950" b="1" dirty="0">
                <a:solidFill>
                  <a:srgbClr val="1B2A4A"/>
                </a:solidFill>
                <a:latin typeface="Arial" pitchFamily="34" charset="0"/>
                <a:ea typeface="Arial" pitchFamily="34" charset="-122"/>
                <a:cs typeface="Arial" pitchFamily="34" charset="-120"/>
              </a:rPr>
              <a:t>Workspace RAG</a:t>
            </a:r>
            <a:endParaRPr lang="en-US" sz="950" dirty="0"/>
          </a:p>
        </p:txBody>
      </p:sp>
      <p:sp>
        <p:nvSpPr>
          <p:cNvPr id="37" name="Text 35"/>
          <p:cNvSpPr/>
          <p:nvPr/>
        </p:nvSpPr>
        <p:spPr>
          <a:xfrm>
            <a:off x="7159752" y="3721608"/>
            <a:ext cx="1408176" cy="841248"/>
          </a:xfrm>
          <a:prstGeom prst="rect">
            <a:avLst/>
          </a:prstGeom>
          <a:noFill/>
          <a:ln/>
        </p:spPr>
        <p:txBody>
          <a:bodyPr wrap="square" lIns="0" tIns="0" rIns="0" bIns="0" rtlCol="0" anchor="t"/>
          <a:lstStyle/>
          <a:p>
            <a:pPr marL="0" indent="0">
              <a:lnSpc>
                <a:spcPct val="110000"/>
              </a:lnSpc>
              <a:buNone/>
            </a:pPr>
            <a:r>
              <a:rPr lang="en-US" sz="800" dirty="0">
                <a:solidFill>
                  <a:srgbClr val="333333"/>
                </a:solidFill>
                <a:latin typeface="Arial" pitchFamily="34" charset="0"/>
                <a:ea typeface="Arial" pitchFamily="34" charset="-122"/>
                <a:cs typeface="Arial" pitchFamily="34" charset="-120"/>
              </a:rPr>
              <a:t>Index workspace files into session-scoped KB. Agents can search/cite workspace documents via RAG.</a:t>
            </a:r>
            <a:endParaRPr lang="en-US" sz="800" dirty="0"/>
          </a:p>
        </p:txBody>
      </p:sp>
      <p:sp>
        <p:nvSpPr>
          <p:cNvPr id="38" name="Text 36"/>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sandbox/docker_exec.py (200 lines), sandbox/workspace.py (140 lines) — 5-step evolution to persistent agent filesystem</a:t>
            </a:r>
            <a:endParaRPr lang="en-US" sz="90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Memory System — 8 Robustness Upgrades</a:t>
            </a:r>
            <a:endParaRPr lang="en-US" sz="2600" dirty="0"/>
          </a:p>
        </p:txBody>
      </p:sp>
      <p:sp>
        <p:nvSpPr>
          <p:cNvPr id="3" name="Text 1"/>
          <p:cNvSpPr/>
          <p:nvPr/>
        </p:nvSpPr>
        <p:spPr>
          <a:xfrm>
            <a:off x="502920" y="804672"/>
            <a:ext cx="8138160" cy="274320"/>
          </a:xfrm>
          <a:prstGeom prst="rect">
            <a:avLst/>
          </a:prstGeom>
          <a:noFill/>
          <a:ln/>
        </p:spPr>
        <p:txBody>
          <a:bodyPr wrap="square" lIns="0" tIns="0" rIns="0" bIns="0" rtlCol="0" anchor="ctr"/>
          <a:lstStyle/>
          <a:p>
            <a:pPr marL="0" indent="0">
              <a:buNone/>
            </a:pPr>
            <a:r>
              <a:rPr lang="en-US" sz="1050" dirty="0">
                <a:solidFill>
                  <a:srgbClr val="666666"/>
                </a:solidFill>
                <a:latin typeface="Arial" pitchFamily="34" charset="0"/>
                <a:ea typeface="Arial" pitchFamily="34" charset="-122"/>
                <a:cs typeface="Arial" pitchFamily="34" charset="-120"/>
              </a:rPr>
              <a:t>Two stores coexist today: FileMemoryStore (257 lines) and PostgresMemoryStore (831 lines). They don't sync. These 8 changes unify them and close lifecycle gaps.</a:t>
            </a:r>
            <a:endParaRPr lang="en-US" sz="1050" dirty="0"/>
          </a:p>
        </p:txBody>
      </p:sp>
      <p:sp>
        <p:nvSpPr>
          <p:cNvPr id="4" name="Text 2"/>
          <p:cNvSpPr/>
          <p:nvPr/>
        </p:nvSpPr>
        <p:spPr>
          <a:xfrm>
            <a:off x="502920" y="1188720"/>
            <a:ext cx="274320" cy="329184"/>
          </a:xfrm>
          <a:prstGeom prst="rect">
            <a:avLst/>
          </a:prstGeom>
          <a:solidFill>
            <a:srgbClr val="1B2A4A"/>
          </a:solidFill>
          <a:ln/>
        </p:spPr>
        <p:txBody>
          <a:bodyPr wrap="square" lIns="25400" tIns="50800" rIns="50800" bIns="2540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a:t>
            </a:r>
            <a:endParaRPr lang="en-US" sz="900" dirty="0"/>
          </a:p>
        </p:txBody>
      </p:sp>
      <p:sp>
        <p:nvSpPr>
          <p:cNvPr id="5" name="Text 3"/>
          <p:cNvSpPr/>
          <p:nvPr/>
        </p:nvSpPr>
        <p:spPr>
          <a:xfrm>
            <a:off x="777240" y="1188720"/>
            <a:ext cx="1508760" cy="329184"/>
          </a:xfrm>
          <a:prstGeom prst="rect">
            <a:avLst/>
          </a:prstGeom>
          <a:solidFill>
            <a:srgbClr val="1B2A4A"/>
          </a:solidFill>
          <a:ln/>
        </p:spPr>
        <p:txBody>
          <a:bodyPr wrap="square" lIns="25400" tIns="50800" rIns="50800" bIns="25400" rtlCol="0" anchor="ctr"/>
          <a:lstStyle/>
          <a:p>
            <a:pPr marL="0" indent="0" algn="ctr">
              <a:buNone/>
            </a:pPr>
            <a:r>
              <a:rPr lang="en-US" sz="900" b="1" dirty="0">
                <a:solidFill>
                  <a:srgbClr val="FFFFFF"/>
                </a:solidFill>
                <a:latin typeface="Arial" pitchFamily="34" charset="0"/>
                <a:ea typeface="Arial" pitchFamily="34" charset="-122"/>
                <a:cs typeface="Arial" pitchFamily="34" charset="-120"/>
              </a:rPr>
              <a:t>Upgrade</a:t>
            </a:r>
            <a:endParaRPr lang="en-US" sz="900" dirty="0"/>
          </a:p>
        </p:txBody>
      </p:sp>
      <p:sp>
        <p:nvSpPr>
          <p:cNvPr id="6" name="Text 4"/>
          <p:cNvSpPr/>
          <p:nvPr/>
        </p:nvSpPr>
        <p:spPr>
          <a:xfrm>
            <a:off x="2286000" y="1188720"/>
            <a:ext cx="3017520" cy="329184"/>
          </a:xfrm>
          <a:prstGeom prst="rect">
            <a:avLst/>
          </a:prstGeom>
          <a:solidFill>
            <a:srgbClr val="1B2A4A"/>
          </a:solidFill>
          <a:ln/>
        </p:spPr>
        <p:txBody>
          <a:bodyPr wrap="square" lIns="25400" tIns="50800" rIns="50800" bIns="25400" rtlCol="0" anchor="ctr"/>
          <a:lstStyle/>
          <a:p>
            <a:pPr marL="0" indent="0" algn="l">
              <a:buNone/>
            </a:pPr>
            <a:r>
              <a:rPr lang="en-US" sz="900" b="1" dirty="0">
                <a:solidFill>
                  <a:srgbClr val="FFFFFF"/>
                </a:solidFill>
                <a:latin typeface="Arial" pitchFamily="34" charset="0"/>
                <a:ea typeface="Arial" pitchFamily="34" charset="-122"/>
                <a:cs typeface="Arial" pitchFamily="34" charset="-120"/>
              </a:rPr>
              <a:t>Current Gap</a:t>
            </a:r>
            <a:endParaRPr lang="en-US" sz="900" dirty="0"/>
          </a:p>
        </p:txBody>
      </p:sp>
      <p:sp>
        <p:nvSpPr>
          <p:cNvPr id="7" name="Text 5"/>
          <p:cNvSpPr/>
          <p:nvPr/>
        </p:nvSpPr>
        <p:spPr>
          <a:xfrm>
            <a:off x="5303520" y="1188720"/>
            <a:ext cx="3337560" cy="329184"/>
          </a:xfrm>
          <a:prstGeom prst="rect">
            <a:avLst/>
          </a:prstGeom>
          <a:solidFill>
            <a:srgbClr val="1B2A4A"/>
          </a:solidFill>
          <a:ln/>
        </p:spPr>
        <p:txBody>
          <a:bodyPr wrap="square" lIns="25400" tIns="50800" rIns="50800" bIns="25400" rtlCol="0" anchor="ctr"/>
          <a:lstStyle/>
          <a:p>
            <a:pPr marL="0" indent="0" algn="l">
              <a:buNone/>
            </a:pPr>
            <a:r>
              <a:rPr lang="en-US" sz="900" b="1" dirty="0">
                <a:solidFill>
                  <a:srgbClr val="FFFFFF"/>
                </a:solidFill>
                <a:latin typeface="Arial" pitchFamily="34" charset="0"/>
                <a:ea typeface="Arial" pitchFamily="34" charset="-122"/>
                <a:cs typeface="Arial" pitchFamily="34" charset="-120"/>
              </a:rPr>
              <a:t>Implementation Path</a:t>
            </a:r>
            <a:endParaRPr lang="en-US" sz="900" dirty="0"/>
          </a:p>
        </p:txBody>
      </p:sp>
      <p:sp>
        <p:nvSpPr>
          <p:cNvPr id="8" name="Text 6"/>
          <p:cNvSpPr/>
          <p:nvPr/>
        </p:nvSpPr>
        <p:spPr>
          <a:xfrm>
            <a:off x="502920" y="1517904"/>
            <a:ext cx="274320" cy="329184"/>
          </a:xfrm>
          <a:prstGeom prst="rect">
            <a:avLst/>
          </a:prstGeom>
          <a:solidFill>
            <a:srgbClr val="F5F5F5"/>
          </a:solidFill>
          <a:ln/>
        </p:spPr>
        <p:txBody>
          <a:bodyPr wrap="square" lIns="25400" tIns="50800" rIns="50800" bIns="25400" rtlCol="0" anchor="t"/>
          <a:lstStyle/>
          <a:p>
            <a:pPr marL="0" indent="0" algn="ctr">
              <a:buNone/>
            </a:pPr>
            <a:r>
              <a:rPr lang="en-US" sz="750" b="1" dirty="0">
                <a:solidFill>
                  <a:srgbClr val="333333"/>
                </a:solidFill>
                <a:latin typeface="Arial" pitchFamily="34" charset="0"/>
                <a:ea typeface="Arial" pitchFamily="34" charset="-122"/>
                <a:cs typeface="Arial" pitchFamily="34" charset="-120"/>
              </a:rPr>
              <a:t>1</a:t>
            </a:r>
            <a:endParaRPr lang="en-US" sz="750" dirty="0"/>
          </a:p>
        </p:txBody>
      </p:sp>
      <p:sp>
        <p:nvSpPr>
          <p:cNvPr id="9" name="Text 7"/>
          <p:cNvSpPr/>
          <p:nvPr/>
        </p:nvSpPr>
        <p:spPr>
          <a:xfrm>
            <a:off x="777240" y="1517904"/>
            <a:ext cx="1508760" cy="329184"/>
          </a:xfrm>
          <a:prstGeom prst="rect">
            <a:avLst/>
          </a:prstGeom>
          <a:solidFill>
            <a:srgbClr val="F5F5F5"/>
          </a:solidFill>
          <a:ln/>
        </p:spPr>
        <p:txBody>
          <a:bodyPr wrap="square" lIns="25400" tIns="50800" rIns="50800" bIns="25400" rtlCol="0" anchor="t"/>
          <a:lstStyle/>
          <a:p>
            <a:pPr marL="0" indent="0" algn="ctr">
              <a:buNone/>
            </a:pPr>
            <a:r>
              <a:rPr lang="en-US" sz="750" b="1" dirty="0">
                <a:solidFill>
                  <a:srgbClr val="333333"/>
                </a:solidFill>
                <a:latin typeface="Arial" pitchFamily="34" charset="0"/>
                <a:ea typeface="Arial" pitchFamily="34" charset="-122"/>
                <a:cs typeface="Arial" pitchFamily="34" charset="-120"/>
              </a:rPr>
              <a:t>Unified Store</a:t>
            </a:r>
            <a:endParaRPr lang="en-US" sz="750" dirty="0"/>
          </a:p>
          <a:p>
            <a:pPr marL="0" indent="0" algn="ctr">
              <a:buNone/>
            </a:pPr>
            <a:r>
              <a:rPr lang="en-US" sz="750" b="1" dirty="0">
                <a:solidFill>
                  <a:srgbClr val="333333"/>
                </a:solidFill>
                <a:latin typeface="Arial" pitchFamily="34" charset="0"/>
                <a:ea typeface="Arial" pitchFamily="34" charset="-122"/>
                <a:cs typeface="Arial" pitchFamily="34" charset="-120"/>
              </a:rPr>
              <a:t>Facade</a:t>
            </a:r>
            <a:endParaRPr lang="en-US" sz="750" dirty="0"/>
          </a:p>
        </p:txBody>
      </p:sp>
      <p:sp>
        <p:nvSpPr>
          <p:cNvPr id="10" name="Text 8"/>
          <p:cNvSpPr/>
          <p:nvPr/>
        </p:nvSpPr>
        <p:spPr>
          <a:xfrm>
            <a:off x="2286000" y="1517904"/>
            <a:ext cx="3017520" cy="329184"/>
          </a:xfrm>
          <a:prstGeom prst="rect">
            <a:avLst/>
          </a:prstGeom>
          <a:solidFill>
            <a:srgbClr val="F5F5F5"/>
          </a:solidFill>
          <a:ln/>
        </p:spPr>
        <p:txBody>
          <a:bodyPr wrap="square" lIns="25400" tIns="50800" rIns="50800" bIns="25400" rtlCol="0" anchor="t"/>
          <a:lstStyle/>
          <a:p>
            <a:pPr marL="0" indent="0" algn="l">
              <a:buNone/>
            </a:pPr>
            <a:r>
              <a:rPr lang="en-US" sz="750" dirty="0">
                <a:solidFill>
                  <a:srgbClr val="333333"/>
                </a:solidFill>
                <a:latin typeface="Arial" pitchFamily="34" charset="0"/>
                <a:ea typeface="Arial" pitchFamily="34" charset="-122"/>
                <a:cs typeface="Arial" pitchFamily="34" charset="-120"/>
              </a:rPr>
              <a:t>FileMemoryStore and PostgresMemoryStore operate independently. If Postgres is unavailable, writes go to file store only — no sync back.</a:t>
            </a:r>
            <a:endParaRPr lang="en-US" sz="750" dirty="0"/>
          </a:p>
        </p:txBody>
      </p:sp>
      <p:sp>
        <p:nvSpPr>
          <p:cNvPr id="11" name="Text 9"/>
          <p:cNvSpPr/>
          <p:nvPr/>
        </p:nvSpPr>
        <p:spPr>
          <a:xfrm>
            <a:off x="5303520" y="1517904"/>
            <a:ext cx="3337560" cy="329184"/>
          </a:xfrm>
          <a:prstGeom prst="rect">
            <a:avLst/>
          </a:prstGeom>
          <a:solidFill>
            <a:srgbClr val="F5F5F5"/>
          </a:solidFill>
          <a:ln/>
        </p:spPr>
        <p:txBody>
          <a:bodyPr wrap="square" lIns="25400" tIns="50800" rIns="50800" bIns="25400" rtlCol="0" anchor="t"/>
          <a:lstStyle/>
          <a:p>
            <a:pPr marL="0" indent="0" algn="l">
              <a:buNone/>
            </a:pPr>
            <a:r>
              <a:rPr lang="en-US" sz="750" dirty="0">
                <a:solidFill>
                  <a:srgbClr val="333333"/>
                </a:solidFill>
                <a:latin typeface="Arial" pitchFamily="34" charset="0"/>
                <a:ea typeface="Arial" pitchFamily="34" charset="-122"/>
                <a:cs typeface="Arial" pitchFamily="34" charset="-120"/>
              </a:rPr>
              <a:t>Add MemoryFacade that writes to both stores. Postgres is primary; file store is projection. On startup, reconcile file→Postgres drift.</a:t>
            </a:r>
            <a:endParaRPr lang="en-US" sz="750" dirty="0"/>
          </a:p>
        </p:txBody>
      </p:sp>
      <p:sp>
        <p:nvSpPr>
          <p:cNvPr id="12" name="Text 10"/>
          <p:cNvSpPr/>
          <p:nvPr/>
        </p:nvSpPr>
        <p:spPr>
          <a:xfrm>
            <a:off x="502920" y="1847088"/>
            <a:ext cx="274320" cy="329184"/>
          </a:xfrm>
          <a:prstGeom prst="rect">
            <a:avLst/>
          </a:prstGeom>
          <a:solidFill>
            <a:srgbClr val="FFFFFF"/>
          </a:solidFill>
          <a:ln/>
        </p:spPr>
        <p:txBody>
          <a:bodyPr wrap="square" lIns="25400" tIns="50800" rIns="50800" bIns="25400" rtlCol="0" anchor="t"/>
          <a:lstStyle/>
          <a:p>
            <a:pPr marL="0" indent="0" algn="ctr">
              <a:buNone/>
            </a:pPr>
            <a:r>
              <a:rPr lang="en-US" sz="750" b="1" dirty="0">
                <a:solidFill>
                  <a:srgbClr val="333333"/>
                </a:solidFill>
                <a:latin typeface="Arial" pitchFamily="34" charset="0"/>
                <a:ea typeface="Arial" pitchFamily="34" charset="-122"/>
                <a:cs typeface="Arial" pitchFamily="34" charset="-120"/>
              </a:rPr>
              <a:t>2</a:t>
            </a:r>
            <a:endParaRPr lang="en-US" sz="750" dirty="0"/>
          </a:p>
        </p:txBody>
      </p:sp>
      <p:sp>
        <p:nvSpPr>
          <p:cNvPr id="13" name="Text 11"/>
          <p:cNvSpPr/>
          <p:nvPr/>
        </p:nvSpPr>
        <p:spPr>
          <a:xfrm>
            <a:off x="777240" y="1847088"/>
            <a:ext cx="1508760" cy="329184"/>
          </a:xfrm>
          <a:prstGeom prst="rect">
            <a:avLst/>
          </a:prstGeom>
          <a:solidFill>
            <a:srgbClr val="FFFFFF"/>
          </a:solidFill>
          <a:ln/>
        </p:spPr>
        <p:txBody>
          <a:bodyPr wrap="square" lIns="25400" tIns="50800" rIns="50800" bIns="25400" rtlCol="0" anchor="t"/>
          <a:lstStyle/>
          <a:p>
            <a:pPr marL="0" indent="0" algn="ctr">
              <a:buNone/>
            </a:pPr>
            <a:r>
              <a:rPr lang="en-US" sz="750" b="1" dirty="0">
                <a:solidFill>
                  <a:srgbClr val="333333"/>
                </a:solidFill>
                <a:latin typeface="Arial" pitchFamily="34" charset="0"/>
                <a:ea typeface="Arial" pitchFamily="34" charset="-122"/>
                <a:cs typeface="Arial" pitchFamily="34" charset="-120"/>
              </a:rPr>
              <a:t>TTL</a:t>
            </a:r>
            <a:endParaRPr lang="en-US" sz="750" dirty="0"/>
          </a:p>
          <a:p>
            <a:pPr marL="0" indent="0" algn="ctr">
              <a:buNone/>
            </a:pPr>
            <a:r>
              <a:rPr lang="en-US" sz="750" b="1" dirty="0">
                <a:solidFill>
                  <a:srgbClr val="333333"/>
                </a:solidFill>
                <a:latin typeface="Arial" pitchFamily="34" charset="0"/>
                <a:ea typeface="Arial" pitchFamily="34" charset="-122"/>
                <a:cs typeface="Arial" pitchFamily="34" charset="-120"/>
              </a:rPr>
              <a:t>Enforcement</a:t>
            </a:r>
            <a:endParaRPr lang="en-US" sz="750" dirty="0"/>
          </a:p>
        </p:txBody>
      </p:sp>
      <p:sp>
        <p:nvSpPr>
          <p:cNvPr id="14" name="Text 12"/>
          <p:cNvSpPr/>
          <p:nvPr/>
        </p:nvSpPr>
        <p:spPr>
          <a:xfrm>
            <a:off x="2286000" y="1847088"/>
            <a:ext cx="3017520" cy="329184"/>
          </a:xfrm>
          <a:prstGeom prst="rect">
            <a:avLst/>
          </a:prstGeom>
          <a:solidFill>
            <a:srgbClr val="FFFFFF"/>
          </a:solidFill>
          <a:ln/>
        </p:spPr>
        <p:txBody>
          <a:bodyPr wrap="square" lIns="25400" tIns="50800" rIns="50800" bIns="25400" rtlCol="0" anchor="t"/>
          <a:lstStyle/>
          <a:p>
            <a:pPr marL="0" indent="0" algn="l">
              <a:buNone/>
            </a:pPr>
            <a:r>
              <a:rPr lang="en-US" sz="750" dirty="0">
                <a:solidFill>
                  <a:srgbClr val="333333"/>
                </a:solidFill>
                <a:latin typeface="Arial" pitchFamily="34" charset="0"/>
                <a:ea typeface="Arial" pitchFamily="34" charset="-122"/>
                <a:cs typeface="Arial" pitchFamily="34" charset="-120"/>
              </a:rPr>
              <a:t>ttl_hint field is set on records but never read. Expired memories stay active forever, polluting context.</a:t>
            </a:r>
            <a:endParaRPr lang="en-US" sz="750" dirty="0"/>
          </a:p>
        </p:txBody>
      </p:sp>
      <p:sp>
        <p:nvSpPr>
          <p:cNvPr id="15" name="Text 13"/>
          <p:cNvSpPr/>
          <p:nvPr/>
        </p:nvSpPr>
        <p:spPr>
          <a:xfrm>
            <a:off x="5303520" y="1847088"/>
            <a:ext cx="3337560" cy="329184"/>
          </a:xfrm>
          <a:prstGeom prst="rect">
            <a:avLst/>
          </a:prstGeom>
          <a:solidFill>
            <a:srgbClr val="FFFFFF"/>
          </a:solidFill>
          <a:ln/>
        </p:spPr>
        <p:txBody>
          <a:bodyPr wrap="square" lIns="25400" tIns="50800" rIns="50800" bIns="25400" rtlCol="0" anchor="t"/>
          <a:lstStyle/>
          <a:p>
            <a:pPr marL="0" indent="0" algn="l">
              <a:buNone/>
            </a:pPr>
            <a:r>
              <a:rPr lang="en-US" sz="750" dirty="0">
                <a:solidFill>
                  <a:srgbClr val="333333"/>
                </a:solidFill>
                <a:latin typeface="Arial" pitchFamily="34" charset="0"/>
                <a:ea typeface="Arial" pitchFamily="34" charset="-122"/>
                <a:cs typeface="Arial" pitchFamily="34" charset="-120"/>
              </a:rPr>
              <a:t>Add periodic sweep (cron or on-read): query WHERE ttl_hint &lt; NOW() AND active = TRUE → set active=FALSE. Expose ttl_policy per memory type.</a:t>
            </a:r>
            <a:endParaRPr lang="en-US" sz="750" dirty="0"/>
          </a:p>
        </p:txBody>
      </p:sp>
      <p:sp>
        <p:nvSpPr>
          <p:cNvPr id="16" name="Text 14"/>
          <p:cNvSpPr/>
          <p:nvPr/>
        </p:nvSpPr>
        <p:spPr>
          <a:xfrm>
            <a:off x="502920" y="2176272"/>
            <a:ext cx="274320" cy="329184"/>
          </a:xfrm>
          <a:prstGeom prst="rect">
            <a:avLst/>
          </a:prstGeom>
          <a:solidFill>
            <a:srgbClr val="F5F5F5"/>
          </a:solidFill>
          <a:ln/>
        </p:spPr>
        <p:txBody>
          <a:bodyPr wrap="square" lIns="25400" tIns="50800" rIns="50800" bIns="25400" rtlCol="0" anchor="t"/>
          <a:lstStyle/>
          <a:p>
            <a:pPr marL="0" indent="0" algn="ctr">
              <a:buNone/>
            </a:pPr>
            <a:r>
              <a:rPr lang="en-US" sz="750" b="1" dirty="0">
                <a:solidFill>
                  <a:srgbClr val="333333"/>
                </a:solidFill>
                <a:latin typeface="Arial" pitchFamily="34" charset="0"/>
                <a:ea typeface="Arial" pitchFamily="34" charset="-122"/>
                <a:cs typeface="Arial" pitchFamily="34" charset="-120"/>
              </a:rPr>
              <a:t>3</a:t>
            </a:r>
            <a:endParaRPr lang="en-US" sz="750" dirty="0"/>
          </a:p>
        </p:txBody>
      </p:sp>
      <p:sp>
        <p:nvSpPr>
          <p:cNvPr id="17" name="Text 15"/>
          <p:cNvSpPr/>
          <p:nvPr/>
        </p:nvSpPr>
        <p:spPr>
          <a:xfrm>
            <a:off x="777240" y="2176272"/>
            <a:ext cx="1508760" cy="329184"/>
          </a:xfrm>
          <a:prstGeom prst="rect">
            <a:avLst/>
          </a:prstGeom>
          <a:solidFill>
            <a:srgbClr val="F5F5F5"/>
          </a:solidFill>
          <a:ln/>
        </p:spPr>
        <p:txBody>
          <a:bodyPr wrap="square" lIns="25400" tIns="50800" rIns="50800" bIns="25400" rtlCol="0" anchor="t"/>
          <a:lstStyle/>
          <a:p>
            <a:pPr marL="0" indent="0" algn="ctr">
              <a:buNone/>
            </a:pPr>
            <a:r>
              <a:rPr lang="en-US" sz="750" b="1" dirty="0">
                <a:solidFill>
                  <a:srgbClr val="333333"/>
                </a:solidFill>
                <a:latin typeface="Arial" pitchFamily="34" charset="0"/>
                <a:ea typeface="Arial" pitchFamily="34" charset="-122"/>
                <a:cs typeface="Arial" pitchFamily="34" charset="-120"/>
              </a:rPr>
              <a:t>Importance</a:t>
            </a:r>
            <a:endParaRPr lang="en-US" sz="750" dirty="0"/>
          </a:p>
          <a:p>
            <a:pPr marL="0" indent="0" algn="ctr">
              <a:buNone/>
            </a:pPr>
            <a:r>
              <a:rPr lang="en-US" sz="750" b="1" dirty="0">
                <a:solidFill>
                  <a:srgbClr val="333333"/>
                </a:solidFill>
                <a:latin typeface="Arial" pitchFamily="34" charset="0"/>
                <a:ea typeface="Arial" pitchFamily="34" charset="-122"/>
                <a:cs typeface="Arial" pitchFamily="34" charset="-120"/>
              </a:rPr>
              <a:t>Decay</a:t>
            </a:r>
            <a:endParaRPr lang="en-US" sz="750" dirty="0"/>
          </a:p>
        </p:txBody>
      </p:sp>
      <p:sp>
        <p:nvSpPr>
          <p:cNvPr id="18" name="Text 16"/>
          <p:cNvSpPr/>
          <p:nvPr/>
        </p:nvSpPr>
        <p:spPr>
          <a:xfrm>
            <a:off x="2286000" y="2176272"/>
            <a:ext cx="3017520" cy="329184"/>
          </a:xfrm>
          <a:prstGeom prst="rect">
            <a:avLst/>
          </a:prstGeom>
          <a:solidFill>
            <a:srgbClr val="F5F5F5"/>
          </a:solidFill>
          <a:ln/>
        </p:spPr>
        <p:txBody>
          <a:bodyPr wrap="square" lIns="25400" tIns="50800" rIns="50800" bIns="25400" rtlCol="0" anchor="t"/>
          <a:lstStyle/>
          <a:p>
            <a:pPr marL="0" indent="0" algn="l">
              <a:buNone/>
            </a:pPr>
            <a:r>
              <a:rPr lang="en-US" sz="750" dirty="0">
                <a:solidFill>
                  <a:srgbClr val="333333"/>
                </a:solidFill>
                <a:latin typeface="Arial" pitchFamily="34" charset="0"/>
                <a:ea typeface="Arial" pitchFamily="34" charset="-122"/>
                <a:cs typeface="Arial" pitchFamily="34" charset="-120"/>
              </a:rPr>
              <a:t>Importance score is static once set. Old memories rank equally with fresh ones, crowding the context window.</a:t>
            </a:r>
            <a:endParaRPr lang="en-US" sz="750" dirty="0"/>
          </a:p>
        </p:txBody>
      </p:sp>
      <p:sp>
        <p:nvSpPr>
          <p:cNvPr id="19" name="Text 17"/>
          <p:cNvSpPr/>
          <p:nvPr/>
        </p:nvSpPr>
        <p:spPr>
          <a:xfrm>
            <a:off x="5303520" y="2176272"/>
            <a:ext cx="3337560" cy="329184"/>
          </a:xfrm>
          <a:prstGeom prst="rect">
            <a:avLst/>
          </a:prstGeom>
          <a:solidFill>
            <a:srgbClr val="F5F5F5"/>
          </a:solidFill>
          <a:ln/>
        </p:spPr>
        <p:txBody>
          <a:bodyPr wrap="square" lIns="25400" tIns="50800" rIns="50800" bIns="25400" rtlCol="0" anchor="t"/>
          <a:lstStyle/>
          <a:p>
            <a:pPr marL="0" indent="0" algn="l">
              <a:buNone/>
            </a:pPr>
            <a:r>
              <a:rPr lang="en-US" sz="750" dirty="0">
                <a:solidFill>
                  <a:srgbClr val="333333"/>
                </a:solidFill>
                <a:latin typeface="Arial" pitchFamily="34" charset="0"/>
                <a:ea typeface="Arial" pitchFamily="34" charset="-122"/>
                <a:cs typeface="Arial" pitchFamily="34" charset="-120"/>
              </a:rPr>
              <a:t>Apply time-decay: effective_importance = importance × decay^(days_since_last_used). Tune decay per type (profile=0.99, task_state=0.90).</a:t>
            </a:r>
            <a:endParaRPr lang="en-US" sz="750" dirty="0"/>
          </a:p>
        </p:txBody>
      </p:sp>
      <p:sp>
        <p:nvSpPr>
          <p:cNvPr id="20" name="Text 18"/>
          <p:cNvSpPr/>
          <p:nvPr/>
        </p:nvSpPr>
        <p:spPr>
          <a:xfrm>
            <a:off x="502920" y="2505456"/>
            <a:ext cx="274320" cy="329184"/>
          </a:xfrm>
          <a:prstGeom prst="rect">
            <a:avLst/>
          </a:prstGeom>
          <a:solidFill>
            <a:srgbClr val="FFFFFF"/>
          </a:solidFill>
          <a:ln/>
        </p:spPr>
        <p:txBody>
          <a:bodyPr wrap="square" lIns="25400" tIns="50800" rIns="50800" bIns="25400" rtlCol="0" anchor="t"/>
          <a:lstStyle/>
          <a:p>
            <a:pPr marL="0" indent="0" algn="ctr">
              <a:buNone/>
            </a:pPr>
            <a:r>
              <a:rPr lang="en-US" sz="750" b="1" dirty="0">
                <a:solidFill>
                  <a:srgbClr val="333333"/>
                </a:solidFill>
                <a:latin typeface="Arial" pitchFamily="34" charset="0"/>
                <a:ea typeface="Arial" pitchFamily="34" charset="-122"/>
                <a:cs typeface="Arial" pitchFamily="34" charset="-120"/>
              </a:rPr>
              <a:t>4</a:t>
            </a:r>
            <a:endParaRPr lang="en-US" sz="750" dirty="0"/>
          </a:p>
        </p:txBody>
      </p:sp>
      <p:sp>
        <p:nvSpPr>
          <p:cNvPr id="21" name="Text 19"/>
          <p:cNvSpPr/>
          <p:nvPr/>
        </p:nvSpPr>
        <p:spPr>
          <a:xfrm>
            <a:off x="777240" y="2505456"/>
            <a:ext cx="1508760" cy="329184"/>
          </a:xfrm>
          <a:prstGeom prst="rect">
            <a:avLst/>
          </a:prstGeom>
          <a:solidFill>
            <a:srgbClr val="FFFFFF"/>
          </a:solidFill>
          <a:ln/>
        </p:spPr>
        <p:txBody>
          <a:bodyPr wrap="square" lIns="25400" tIns="50800" rIns="50800" bIns="25400" rtlCol="0" anchor="t"/>
          <a:lstStyle/>
          <a:p>
            <a:pPr marL="0" indent="0" algn="ctr">
              <a:buNone/>
            </a:pPr>
            <a:r>
              <a:rPr lang="en-US" sz="750" b="1" dirty="0">
                <a:solidFill>
                  <a:srgbClr val="333333"/>
                </a:solidFill>
                <a:latin typeface="Arial" pitchFamily="34" charset="0"/>
                <a:ea typeface="Arial" pitchFamily="34" charset="-122"/>
                <a:cs typeface="Arial" pitchFamily="34" charset="-120"/>
              </a:rPr>
              <a:t>Auto</a:t>
            </a:r>
            <a:endParaRPr lang="en-US" sz="750" dirty="0"/>
          </a:p>
          <a:p>
            <a:pPr marL="0" indent="0" algn="ctr">
              <a:buNone/>
            </a:pPr>
            <a:r>
              <a:rPr lang="en-US" sz="750" b="1" dirty="0">
                <a:solidFill>
                  <a:srgbClr val="333333"/>
                </a:solidFill>
                <a:latin typeface="Arial" pitchFamily="34" charset="0"/>
                <a:ea typeface="Arial" pitchFamily="34" charset="-122"/>
                <a:cs typeface="Arial" pitchFamily="34" charset="-120"/>
              </a:rPr>
              <a:t>Consolidation</a:t>
            </a:r>
            <a:endParaRPr lang="en-US" sz="750" dirty="0"/>
          </a:p>
        </p:txBody>
      </p:sp>
      <p:sp>
        <p:nvSpPr>
          <p:cNvPr id="22" name="Text 20"/>
          <p:cNvSpPr/>
          <p:nvPr/>
        </p:nvSpPr>
        <p:spPr>
          <a:xfrm>
            <a:off x="2286000" y="2505456"/>
            <a:ext cx="3017520" cy="329184"/>
          </a:xfrm>
          <a:prstGeom prst="rect">
            <a:avLst/>
          </a:prstGeom>
          <a:solidFill>
            <a:srgbClr val="FFFFFF"/>
          </a:solidFill>
          <a:ln/>
        </p:spPr>
        <p:txBody>
          <a:bodyPr wrap="square" lIns="25400" tIns="50800" rIns="50800" bIns="25400" rtlCol="0" anchor="t"/>
          <a:lstStyle/>
          <a:p>
            <a:pPr marL="0" indent="0" algn="l">
              <a:buNone/>
            </a:pPr>
            <a:r>
              <a:rPr lang="en-US" sz="750" dirty="0">
                <a:solidFill>
                  <a:srgbClr val="333333"/>
                </a:solidFill>
                <a:latin typeface="Arial" pitchFamily="34" charset="0"/>
                <a:ea typeface="Arial" pitchFamily="34" charset="-122"/>
                <a:cs typeface="Arial" pitchFamily="34" charset="-120"/>
              </a:rPr>
              <a:t>Duplicate/near-duplicate memories accumulate. No dedup beyond exact canonical_text match.</a:t>
            </a:r>
            <a:endParaRPr lang="en-US" sz="750" dirty="0"/>
          </a:p>
        </p:txBody>
      </p:sp>
      <p:sp>
        <p:nvSpPr>
          <p:cNvPr id="23" name="Text 21"/>
          <p:cNvSpPr/>
          <p:nvPr/>
        </p:nvSpPr>
        <p:spPr>
          <a:xfrm>
            <a:off x="5303520" y="2505456"/>
            <a:ext cx="3337560" cy="329184"/>
          </a:xfrm>
          <a:prstGeom prst="rect">
            <a:avLst/>
          </a:prstGeom>
          <a:solidFill>
            <a:srgbClr val="FFFFFF"/>
          </a:solidFill>
          <a:ln/>
        </p:spPr>
        <p:txBody>
          <a:bodyPr wrap="square" lIns="25400" tIns="50800" rIns="50800" bIns="25400" rtlCol="0" anchor="t"/>
          <a:lstStyle/>
          <a:p>
            <a:pPr marL="0" indent="0" algn="l">
              <a:buNone/>
            </a:pPr>
            <a:r>
              <a:rPr lang="en-US" sz="750" dirty="0">
                <a:solidFill>
                  <a:srgbClr val="333333"/>
                </a:solidFill>
                <a:latin typeface="Arial" pitchFamily="34" charset="0"/>
                <a:ea typeface="Arial" pitchFamily="34" charset="-122"/>
                <a:cs typeface="Arial" pitchFamily="34" charset="-120"/>
              </a:rPr>
              <a:t>Nightly job: vector-cluster active records (cosine &gt; 0.92). Merge clusters into single record, supersede originals. Log as consolidation observation.</a:t>
            </a:r>
            <a:endParaRPr lang="en-US" sz="750" dirty="0"/>
          </a:p>
        </p:txBody>
      </p:sp>
      <p:sp>
        <p:nvSpPr>
          <p:cNvPr id="24" name="Text 22"/>
          <p:cNvSpPr/>
          <p:nvPr/>
        </p:nvSpPr>
        <p:spPr>
          <a:xfrm>
            <a:off x="502920" y="2834640"/>
            <a:ext cx="274320" cy="329184"/>
          </a:xfrm>
          <a:prstGeom prst="rect">
            <a:avLst/>
          </a:prstGeom>
          <a:solidFill>
            <a:srgbClr val="F5F5F5"/>
          </a:solidFill>
          <a:ln/>
        </p:spPr>
        <p:txBody>
          <a:bodyPr wrap="square" lIns="25400" tIns="50800" rIns="50800" bIns="25400" rtlCol="0" anchor="t"/>
          <a:lstStyle/>
          <a:p>
            <a:pPr marL="0" indent="0" algn="ctr">
              <a:buNone/>
            </a:pPr>
            <a:r>
              <a:rPr lang="en-US" sz="750" b="1" dirty="0">
                <a:solidFill>
                  <a:srgbClr val="333333"/>
                </a:solidFill>
                <a:latin typeface="Arial" pitchFamily="34" charset="0"/>
                <a:ea typeface="Arial" pitchFamily="34" charset="-122"/>
                <a:cs typeface="Arial" pitchFamily="34" charset="-120"/>
              </a:rPr>
              <a:t>5</a:t>
            </a:r>
            <a:endParaRPr lang="en-US" sz="750" dirty="0"/>
          </a:p>
        </p:txBody>
      </p:sp>
      <p:sp>
        <p:nvSpPr>
          <p:cNvPr id="25" name="Text 23"/>
          <p:cNvSpPr/>
          <p:nvPr/>
        </p:nvSpPr>
        <p:spPr>
          <a:xfrm>
            <a:off x="777240" y="2834640"/>
            <a:ext cx="1508760" cy="329184"/>
          </a:xfrm>
          <a:prstGeom prst="rect">
            <a:avLst/>
          </a:prstGeom>
          <a:solidFill>
            <a:srgbClr val="F5F5F5"/>
          </a:solidFill>
          <a:ln/>
        </p:spPr>
        <p:txBody>
          <a:bodyPr wrap="square" lIns="25400" tIns="50800" rIns="50800" bIns="25400" rtlCol="0" anchor="t"/>
          <a:lstStyle/>
          <a:p>
            <a:pPr marL="0" indent="0" algn="ctr">
              <a:buNone/>
            </a:pPr>
            <a:r>
              <a:rPr lang="en-US" sz="750" b="1" dirty="0">
                <a:solidFill>
                  <a:srgbClr val="333333"/>
                </a:solidFill>
                <a:latin typeface="Arial" pitchFamily="34" charset="0"/>
                <a:ea typeface="Arial" pitchFamily="34" charset="-122"/>
                <a:cs typeface="Arial" pitchFamily="34" charset="-120"/>
              </a:rPr>
              <a:t>Confidence</a:t>
            </a:r>
            <a:endParaRPr lang="en-US" sz="750" dirty="0"/>
          </a:p>
          <a:p>
            <a:pPr marL="0" indent="0" algn="ctr">
              <a:buNone/>
            </a:pPr>
            <a:r>
              <a:rPr lang="en-US" sz="750" b="1" dirty="0">
                <a:solidFill>
                  <a:srgbClr val="333333"/>
                </a:solidFill>
                <a:latin typeface="Arial" pitchFamily="34" charset="0"/>
                <a:ea typeface="Arial" pitchFamily="34" charset="-122"/>
                <a:cs typeface="Arial" pitchFamily="34" charset="-120"/>
              </a:rPr>
              <a:t>Threshold</a:t>
            </a:r>
            <a:endParaRPr lang="en-US" sz="750" dirty="0"/>
          </a:p>
        </p:txBody>
      </p:sp>
      <p:sp>
        <p:nvSpPr>
          <p:cNvPr id="26" name="Text 24"/>
          <p:cNvSpPr/>
          <p:nvPr/>
        </p:nvSpPr>
        <p:spPr>
          <a:xfrm>
            <a:off x="2286000" y="2834640"/>
            <a:ext cx="3017520" cy="329184"/>
          </a:xfrm>
          <a:prstGeom prst="rect">
            <a:avLst/>
          </a:prstGeom>
          <a:solidFill>
            <a:srgbClr val="F5F5F5"/>
          </a:solidFill>
          <a:ln/>
        </p:spPr>
        <p:txBody>
          <a:bodyPr wrap="square" lIns="25400" tIns="50800" rIns="50800" bIns="25400" rtlCol="0" anchor="t"/>
          <a:lstStyle/>
          <a:p>
            <a:pPr marL="0" indent="0" algn="l">
              <a:buNone/>
            </a:pPr>
            <a:r>
              <a:rPr lang="en-US" sz="750" dirty="0">
                <a:solidFill>
                  <a:srgbClr val="333333"/>
                </a:solidFill>
                <a:latin typeface="Arial" pitchFamily="34" charset="0"/>
                <a:ea typeface="Arial" pitchFamily="34" charset="-122"/>
                <a:cs typeface="Arial" pitchFamily="34" charset="-120"/>
              </a:rPr>
              <a:t>MemorySelector returns all candidates regardless of confidence. Low-confidence facts injected into prompts.</a:t>
            </a:r>
            <a:endParaRPr lang="en-US" sz="750" dirty="0"/>
          </a:p>
        </p:txBody>
      </p:sp>
      <p:sp>
        <p:nvSpPr>
          <p:cNvPr id="27" name="Text 25"/>
          <p:cNvSpPr/>
          <p:nvPr/>
        </p:nvSpPr>
        <p:spPr>
          <a:xfrm>
            <a:off x="5303520" y="2834640"/>
            <a:ext cx="3337560" cy="329184"/>
          </a:xfrm>
          <a:prstGeom prst="rect">
            <a:avLst/>
          </a:prstGeom>
          <a:solidFill>
            <a:srgbClr val="F5F5F5"/>
          </a:solidFill>
          <a:ln/>
        </p:spPr>
        <p:txBody>
          <a:bodyPr wrap="square" lIns="25400" tIns="50800" rIns="50800" bIns="25400" rtlCol="0" anchor="t"/>
          <a:lstStyle/>
          <a:p>
            <a:pPr marL="0" indent="0" algn="l">
              <a:buNone/>
            </a:pPr>
            <a:r>
              <a:rPr lang="en-US" sz="750" dirty="0">
                <a:solidFill>
                  <a:srgbClr val="333333"/>
                </a:solidFill>
                <a:latin typeface="Arial" pitchFamily="34" charset="0"/>
                <a:ea typeface="Arial" pitchFamily="34" charset="-122"/>
                <a:cs typeface="Arial" pitchFamily="34" charset="-120"/>
              </a:rPr>
              <a:t>Filter candidates where confidence &lt; 0.4 before selection. Surface low-confidence memories with [uncertain] tag so agents can verify.</a:t>
            </a:r>
            <a:endParaRPr lang="en-US" sz="750" dirty="0"/>
          </a:p>
        </p:txBody>
      </p:sp>
      <p:sp>
        <p:nvSpPr>
          <p:cNvPr id="28" name="Text 26"/>
          <p:cNvSpPr/>
          <p:nvPr/>
        </p:nvSpPr>
        <p:spPr>
          <a:xfrm>
            <a:off x="502920" y="3163824"/>
            <a:ext cx="274320" cy="329184"/>
          </a:xfrm>
          <a:prstGeom prst="rect">
            <a:avLst/>
          </a:prstGeom>
          <a:solidFill>
            <a:srgbClr val="FFFFFF"/>
          </a:solidFill>
          <a:ln/>
        </p:spPr>
        <p:txBody>
          <a:bodyPr wrap="square" lIns="25400" tIns="50800" rIns="50800" bIns="25400" rtlCol="0" anchor="t"/>
          <a:lstStyle/>
          <a:p>
            <a:pPr marL="0" indent="0" algn="ctr">
              <a:buNone/>
            </a:pPr>
            <a:r>
              <a:rPr lang="en-US" sz="750" b="1" dirty="0">
                <a:solidFill>
                  <a:srgbClr val="333333"/>
                </a:solidFill>
                <a:latin typeface="Arial" pitchFamily="34" charset="0"/>
                <a:ea typeface="Arial" pitchFamily="34" charset="-122"/>
                <a:cs typeface="Arial" pitchFamily="34" charset="-120"/>
              </a:rPr>
              <a:t>6</a:t>
            </a:r>
            <a:endParaRPr lang="en-US" sz="750" dirty="0"/>
          </a:p>
        </p:txBody>
      </p:sp>
      <p:sp>
        <p:nvSpPr>
          <p:cNvPr id="29" name="Text 27"/>
          <p:cNvSpPr/>
          <p:nvPr/>
        </p:nvSpPr>
        <p:spPr>
          <a:xfrm>
            <a:off x="777240" y="3163824"/>
            <a:ext cx="1508760" cy="329184"/>
          </a:xfrm>
          <a:prstGeom prst="rect">
            <a:avLst/>
          </a:prstGeom>
          <a:solidFill>
            <a:srgbClr val="FFFFFF"/>
          </a:solidFill>
          <a:ln/>
        </p:spPr>
        <p:txBody>
          <a:bodyPr wrap="square" lIns="25400" tIns="50800" rIns="50800" bIns="25400" rtlCol="0" anchor="t"/>
          <a:lstStyle/>
          <a:p>
            <a:pPr marL="0" indent="0" algn="ctr">
              <a:buNone/>
            </a:pPr>
            <a:r>
              <a:rPr lang="en-US" sz="750" b="1" dirty="0">
                <a:solidFill>
                  <a:srgbClr val="333333"/>
                </a:solidFill>
                <a:latin typeface="Arial" pitchFamily="34" charset="0"/>
                <a:ea typeface="Arial" pitchFamily="34" charset="-122"/>
                <a:cs typeface="Arial" pitchFamily="34" charset="-120"/>
              </a:rPr>
              <a:t>Cross-Session</a:t>
            </a:r>
            <a:endParaRPr lang="en-US" sz="750" dirty="0"/>
          </a:p>
          <a:p>
            <a:pPr marL="0" indent="0" algn="ctr">
              <a:buNone/>
            </a:pPr>
            <a:r>
              <a:rPr lang="en-US" sz="750" b="1" dirty="0">
                <a:solidFill>
                  <a:srgbClr val="333333"/>
                </a:solidFill>
                <a:latin typeface="Arial" pitchFamily="34" charset="0"/>
                <a:ea typeface="Arial" pitchFamily="34" charset="-122"/>
                <a:cs typeface="Arial" pitchFamily="34" charset="-120"/>
              </a:rPr>
              <a:t>Links</a:t>
            </a:r>
            <a:endParaRPr lang="en-US" sz="750" dirty="0"/>
          </a:p>
        </p:txBody>
      </p:sp>
      <p:sp>
        <p:nvSpPr>
          <p:cNvPr id="30" name="Text 28"/>
          <p:cNvSpPr/>
          <p:nvPr/>
        </p:nvSpPr>
        <p:spPr>
          <a:xfrm>
            <a:off x="2286000" y="3163824"/>
            <a:ext cx="3017520" cy="329184"/>
          </a:xfrm>
          <a:prstGeom prst="rect">
            <a:avLst/>
          </a:prstGeom>
          <a:solidFill>
            <a:srgbClr val="FFFFFF"/>
          </a:solidFill>
          <a:ln/>
        </p:spPr>
        <p:txBody>
          <a:bodyPr wrap="square" lIns="25400" tIns="50800" rIns="50800" bIns="25400" rtlCol="0" anchor="t"/>
          <a:lstStyle/>
          <a:p>
            <a:pPr marL="0" indent="0" algn="l">
              <a:buNone/>
            </a:pPr>
            <a:r>
              <a:rPr lang="en-US" sz="750" dirty="0">
                <a:solidFill>
                  <a:srgbClr val="333333"/>
                </a:solidFill>
                <a:latin typeface="Arial" pitchFamily="34" charset="0"/>
                <a:ea typeface="Arial" pitchFamily="34" charset="-122"/>
                <a:cs typeface="Arial" pitchFamily="34" charset="-120"/>
              </a:rPr>
              <a:t>Memories scoped to conversation or user. No way to link related facts across sessions.</a:t>
            </a:r>
            <a:endParaRPr lang="en-US" sz="750" dirty="0"/>
          </a:p>
        </p:txBody>
      </p:sp>
      <p:sp>
        <p:nvSpPr>
          <p:cNvPr id="31" name="Text 29"/>
          <p:cNvSpPr/>
          <p:nvPr/>
        </p:nvSpPr>
        <p:spPr>
          <a:xfrm>
            <a:off x="5303520" y="3163824"/>
            <a:ext cx="3337560" cy="329184"/>
          </a:xfrm>
          <a:prstGeom prst="rect">
            <a:avLst/>
          </a:prstGeom>
          <a:solidFill>
            <a:srgbClr val="FFFFFF"/>
          </a:solidFill>
          <a:ln/>
        </p:spPr>
        <p:txBody>
          <a:bodyPr wrap="square" lIns="25400" tIns="50800" rIns="50800" bIns="25400" rtlCol="0" anchor="t"/>
          <a:lstStyle/>
          <a:p>
            <a:pPr marL="0" indent="0" algn="l">
              <a:buNone/>
            </a:pPr>
            <a:r>
              <a:rPr lang="en-US" sz="750" dirty="0">
                <a:solidFill>
                  <a:srgbClr val="333333"/>
                </a:solidFill>
                <a:latin typeface="Arial" pitchFamily="34" charset="0"/>
                <a:ea typeface="Arial" pitchFamily="34" charset="-122"/>
                <a:cs typeface="Arial" pitchFamily="34" charset="-120"/>
              </a:rPr>
              <a:t>Add parent_memory_id FK. When agent references prior conversation memory, link via cross_session_resolve() lookup.</a:t>
            </a:r>
            <a:endParaRPr lang="en-US" sz="750" dirty="0"/>
          </a:p>
        </p:txBody>
      </p:sp>
      <p:sp>
        <p:nvSpPr>
          <p:cNvPr id="32" name="Text 30"/>
          <p:cNvSpPr/>
          <p:nvPr/>
        </p:nvSpPr>
        <p:spPr>
          <a:xfrm>
            <a:off x="502920" y="3493008"/>
            <a:ext cx="274320" cy="329184"/>
          </a:xfrm>
          <a:prstGeom prst="rect">
            <a:avLst/>
          </a:prstGeom>
          <a:solidFill>
            <a:srgbClr val="F5F5F5"/>
          </a:solidFill>
          <a:ln/>
        </p:spPr>
        <p:txBody>
          <a:bodyPr wrap="square" lIns="25400" tIns="50800" rIns="50800" bIns="25400" rtlCol="0" anchor="t"/>
          <a:lstStyle/>
          <a:p>
            <a:pPr marL="0" indent="0" algn="ctr">
              <a:buNone/>
            </a:pPr>
            <a:r>
              <a:rPr lang="en-US" sz="750" b="1" dirty="0">
                <a:solidFill>
                  <a:srgbClr val="333333"/>
                </a:solidFill>
                <a:latin typeface="Arial" pitchFamily="34" charset="0"/>
                <a:ea typeface="Arial" pitchFamily="34" charset="-122"/>
                <a:cs typeface="Arial" pitchFamily="34" charset="-120"/>
              </a:rPr>
              <a:t>7</a:t>
            </a:r>
            <a:endParaRPr lang="en-US" sz="750" dirty="0"/>
          </a:p>
        </p:txBody>
      </p:sp>
      <p:sp>
        <p:nvSpPr>
          <p:cNvPr id="33" name="Text 31"/>
          <p:cNvSpPr/>
          <p:nvPr/>
        </p:nvSpPr>
        <p:spPr>
          <a:xfrm>
            <a:off x="777240" y="3493008"/>
            <a:ext cx="1508760" cy="329184"/>
          </a:xfrm>
          <a:prstGeom prst="rect">
            <a:avLst/>
          </a:prstGeom>
          <a:solidFill>
            <a:srgbClr val="F5F5F5"/>
          </a:solidFill>
          <a:ln/>
        </p:spPr>
        <p:txBody>
          <a:bodyPr wrap="square" lIns="25400" tIns="50800" rIns="50800" bIns="25400" rtlCol="0" anchor="t"/>
          <a:lstStyle/>
          <a:p>
            <a:pPr marL="0" indent="0" algn="ctr">
              <a:buNone/>
            </a:pPr>
            <a:r>
              <a:rPr lang="en-US" sz="750" b="1" dirty="0">
                <a:solidFill>
                  <a:srgbClr val="333333"/>
                </a:solidFill>
                <a:latin typeface="Arial" pitchFamily="34" charset="0"/>
                <a:ea typeface="Arial" pitchFamily="34" charset="-122"/>
                <a:cs typeface="Arial" pitchFamily="34" charset="-120"/>
              </a:rPr>
              <a:t>Hard Delete</a:t>
            </a:r>
            <a:endParaRPr lang="en-US" sz="750" dirty="0"/>
          </a:p>
          <a:p>
            <a:pPr marL="0" indent="0" algn="ctr">
              <a:buNone/>
            </a:pPr>
            <a:r>
              <a:rPr lang="en-US" sz="750" b="1" dirty="0">
                <a:solidFill>
                  <a:srgbClr val="333333"/>
                </a:solidFill>
                <a:latin typeface="Arial" pitchFamily="34" charset="0"/>
                <a:ea typeface="Arial" pitchFamily="34" charset="-122"/>
                <a:cs typeface="Arial" pitchFamily="34" charset="-120"/>
              </a:rPr>
              <a:t>&amp; Archive</a:t>
            </a:r>
            <a:endParaRPr lang="en-US" sz="750" dirty="0"/>
          </a:p>
        </p:txBody>
      </p:sp>
      <p:sp>
        <p:nvSpPr>
          <p:cNvPr id="34" name="Text 32"/>
          <p:cNvSpPr/>
          <p:nvPr/>
        </p:nvSpPr>
        <p:spPr>
          <a:xfrm>
            <a:off x="2286000" y="3493008"/>
            <a:ext cx="3017520" cy="329184"/>
          </a:xfrm>
          <a:prstGeom prst="rect">
            <a:avLst/>
          </a:prstGeom>
          <a:solidFill>
            <a:srgbClr val="F5F5F5"/>
          </a:solidFill>
          <a:ln/>
        </p:spPr>
        <p:txBody>
          <a:bodyPr wrap="square" lIns="25400" tIns="50800" rIns="50800" bIns="25400" rtlCol="0" anchor="t"/>
          <a:lstStyle/>
          <a:p>
            <a:pPr marL="0" indent="0" algn="l">
              <a:buNone/>
            </a:pPr>
            <a:r>
              <a:rPr lang="en-US" sz="750" dirty="0">
                <a:solidFill>
                  <a:srgbClr val="333333"/>
                </a:solidFill>
                <a:latin typeface="Arial" pitchFamily="34" charset="0"/>
                <a:ea typeface="Arial" pitchFamily="34" charset="-122"/>
                <a:cs typeface="Arial" pitchFamily="34" charset="-120"/>
              </a:rPr>
              <a:t>Only soft-delete via supersession. No way to permanently remove PII or archive old records.</a:t>
            </a:r>
            <a:endParaRPr lang="en-US" sz="750" dirty="0"/>
          </a:p>
        </p:txBody>
      </p:sp>
      <p:sp>
        <p:nvSpPr>
          <p:cNvPr id="35" name="Text 33"/>
          <p:cNvSpPr/>
          <p:nvPr/>
        </p:nvSpPr>
        <p:spPr>
          <a:xfrm>
            <a:off x="5303520" y="3493008"/>
            <a:ext cx="3337560" cy="329184"/>
          </a:xfrm>
          <a:prstGeom prst="rect">
            <a:avLst/>
          </a:prstGeom>
          <a:solidFill>
            <a:srgbClr val="F5F5F5"/>
          </a:solidFill>
          <a:ln/>
        </p:spPr>
        <p:txBody>
          <a:bodyPr wrap="square" lIns="25400" tIns="50800" rIns="50800" bIns="25400" rtlCol="0" anchor="t"/>
          <a:lstStyle/>
          <a:p>
            <a:pPr marL="0" indent="0" algn="l">
              <a:buNone/>
            </a:pPr>
            <a:r>
              <a:rPr lang="en-US" sz="750" dirty="0">
                <a:solidFill>
                  <a:srgbClr val="333333"/>
                </a:solidFill>
                <a:latin typeface="Arial" pitchFamily="34" charset="0"/>
                <a:ea typeface="Arial" pitchFamily="34" charset="-122"/>
                <a:cs typeface="Arial" pitchFamily="34" charset="-120"/>
              </a:rPr>
              <a:t>Add delete_permanently(memory_id) for PII compliance. Add archive_inactive() to move superseded records to cold storage table.</a:t>
            </a:r>
            <a:endParaRPr lang="en-US" sz="750" dirty="0"/>
          </a:p>
        </p:txBody>
      </p:sp>
      <p:sp>
        <p:nvSpPr>
          <p:cNvPr id="36" name="Text 34"/>
          <p:cNvSpPr/>
          <p:nvPr/>
        </p:nvSpPr>
        <p:spPr>
          <a:xfrm>
            <a:off x="502920" y="3822192"/>
            <a:ext cx="274320" cy="329184"/>
          </a:xfrm>
          <a:prstGeom prst="rect">
            <a:avLst/>
          </a:prstGeom>
          <a:solidFill>
            <a:srgbClr val="FFFFFF"/>
          </a:solidFill>
          <a:ln/>
        </p:spPr>
        <p:txBody>
          <a:bodyPr wrap="square" lIns="25400" tIns="50800" rIns="50800" bIns="25400" rtlCol="0" anchor="t"/>
          <a:lstStyle/>
          <a:p>
            <a:pPr marL="0" indent="0" algn="ctr">
              <a:buNone/>
            </a:pPr>
            <a:r>
              <a:rPr lang="en-US" sz="750" b="1" dirty="0">
                <a:solidFill>
                  <a:srgbClr val="333333"/>
                </a:solidFill>
                <a:latin typeface="Arial" pitchFamily="34" charset="0"/>
                <a:ea typeface="Arial" pitchFamily="34" charset="-122"/>
                <a:cs typeface="Arial" pitchFamily="34" charset="-120"/>
              </a:rPr>
              <a:t>8</a:t>
            </a:r>
            <a:endParaRPr lang="en-US" sz="750" dirty="0"/>
          </a:p>
        </p:txBody>
      </p:sp>
      <p:sp>
        <p:nvSpPr>
          <p:cNvPr id="37" name="Text 35"/>
          <p:cNvSpPr/>
          <p:nvPr/>
        </p:nvSpPr>
        <p:spPr>
          <a:xfrm>
            <a:off x="777240" y="3822192"/>
            <a:ext cx="1508760" cy="329184"/>
          </a:xfrm>
          <a:prstGeom prst="rect">
            <a:avLst/>
          </a:prstGeom>
          <a:solidFill>
            <a:srgbClr val="FFFFFF"/>
          </a:solidFill>
          <a:ln/>
        </p:spPr>
        <p:txBody>
          <a:bodyPr wrap="square" lIns="25400" tIns="50800" rIns="50800" bIns="25400" rtlCol="0" anchor="t"/>
          <a:lstStyle/>
          <a:p>
            <a:pPr marL="0" indent="0" algn="ctr">
              <a:buNone/>
            </a:pPr>
            <a:r>
              <a:rPr lang="en-US" sz="750" b="1" dirty="0">
                <a:solidFill>
                  <a:srgbClr val="333333"/>
                </a:solidFill>
                <a:latin typeface="Arial" pitchFamily="34" charset="0"/>
                <a:ea typeface="Arial" pitchFamily="34" charset="-122"/>
                <a:cs typeface="Arial" pitchFamily="34" charset="-120"/>
              </a:rPr>
              <a:t>Multi-Language</a:t>
            </a:r>
            <a:endParaRPr lang="en-US" sz="750" dirty="0"/>
          </a:p>
          <a:p>
            <a:pPr marL="0" indent="0" algn="ctr">
              <a:buNone/>
            </a:pPr>
            <a:r>
              <a:rPr lang="en-US" sz="750" b="1" dirty="0">
                <a:solidFill>
                  <a:srgbClr val="333333"/>
                </a:solidFill>
                <a:latin typeface="Arial" pitchFamily="34" charset="0"/>
                <a:ea typeface="Arial" pitchFamily="34" charset="-122"/>
                <a:cs typeface="Arial" pitchFamily="34" charset="-120"/>
              </a:rPr>
              <a:t>Search</a:t>
            </a:r>
            <a:endParaRPr lang="en-US" sz="750" dirty="0"/>
          </a:p>
        </p:txBody>
      </p:sp>
      <p:sp>
        <p:nvSpPr>
          <p:cNvPr id="38" name="Text 36"/>
          <p:cNvSpPr/>
          <p:nvPr/>
        </p:nvSpPr>
        <p:spPr>
          <a:xfrm>
            <a:off x="2286000" y="3822192"/>
            <a:ext cx="3017520" cy="329184"/>
          </a:xfrm>
          <a:prstGeom prst="rect">
            <a:avLst/>
          </a:prstGeom>
          <a:solidFill>
            <a:srgbClr val="FFFFFF"/>
          </a:solidFill>
          <a:ln/>
        </p:spPr>
        <p:txBody>
          <a:bodyPr wrap="square" lIns="25400" tIns="50800" rIns="50800" bIns="25400" rtlCol="0" anchor="t"/>
          <a:lstStyle/>
          <a:p>
            <a:pPr marL="0" indent="0" algn="l">
              <a:buNone/>
            </a:pPr>
            <a:r>
              <a:rPr lang="en-US" sz="750" dirty="0">
                <a:solidFill>
                  <a:srgbClr val="333333"/>
                </a:solidFill>
                <a:latin typeface="Arial" pitchFamily="34" charset="0"/>
                <a:ea typeface="Arial" pitchFamily="34" charset="-122"/>
                <a:cs typeface="Arial" pitchFamily="34" charset="-120"/>
              </a:rPr>
              <a:t>Keyword search uses ts_rank_cd with English-only tsvector. Non-English content gets poor recall.</a:t>
            </a:r>
            <a:endParaRPr lang="en-US" sz="750" dirty="0"/>
          </a:p>
        </p:txBody>
      </p:sp>
      <p:sp>
        <p:nvSpPr>
          <p:cNvPr id="39" name="Text 37"/>
          <p:cNvSpPr/>
          <p:nvPr/>
        </p:nvSpPr>
        <p:spPr>
          <a:xfrm>
            <a:off x="5303520" y="3822192"/>
            <a:ext cx="3337560" cy="329184"/>
          </a:xfrm>
          <a:prstGeom prst="rect">
            <a:avLst/>
          </a:prstGeom>
          <a:solidFill>
            <a:srgbClr val="FFFFFF"/>
          </a:solidFill>
          <a:ln/>
        </p:spPr>
        <p:txBody>
          <a:bodyPr wrap="square" lIns="25400" tIns="50800" rIns="50800" bIns="25400" rtlCol="0" anchor="t"/>
          <a:lstStyle/>
          <a:p>
            <a:pPr marL="0" indent="0" algn="l">
              <a:buNone/>
            </a:pPr>
            <a:r>
              <a:rPr lang="en-US" sz="750" dirty="0">
                <a:solidFill>
                  <a:srgbClr val="333333"/>
                </a:solidFill>
                <a:latin typeface="Arial" pitchFamily="34" charset="0"/>
                <a:ea typeface="Arial" pitchFamily="34" charset="-122"/>
                <a:cs typeface="Arial" pitchFamily="34" charset="-120"/>
              </a:rPr>
              <a:t>Use pg_catalog.simple dictionary for language-agnostic stemming. Add language column; route to language-specific dictionaries at query time.</a:t>
            </a:r>
            <a:endParaRPr lang="en-US" sz="750" dirty="0"/>
          </a:p>
        </p:txBody>
      </p:sp>
      <p:sp>
        <p:nvSpPr>
          <p:cNvPr id="40" name="Text 38"/>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persistence/postgres/memory_v2.py (831 lines), memory/file_store.py (257 lines), tools/groups/memory.py (114 lines)</a:t>
            </a:r>
            <a:endParaRPr lang="en-US" sz="90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Sandbox Overhaul — Agent Workbench</a:t>
            </a:r>
            <a:endParaRPr lang="en-US" sz="2600" dirty="0"/>
          </a:p>
        </p:txBody>
      </p:sp>
      <p:sp>
        <p:nvSpPr>
          <p:cNvPr id="3" name="Text 1"/>
          <p:cNvSpPr/>
          <p:nvPr/>
        </p:nvSpPr>
        <p:spPr>
          <a:xfrm>
            <a:off x="502920" y="804672"/>
            <a:ext cx="8138160" cy="228600"/>
          </a:xfrm>
          <a:prstGeom prst="rect">
            <a:avLst/>
          </a:prstGeom>
          <a:noFill/>
          <a:ln/>
        </p:spPr>
        <p:txBody>
          <a:bodyPr wrap="square" lIns="0" tIns="0" rIns="0" bIns="0" rtlCol="0" anchor="ctr"/>
          <a:lstStyle/>
          <a:p>
            <a:pPr marL="0" indent="0">
              <a:buNone/>
            </a:pPr>
            <a:r>
              <a:rPr lang="en-US" sz="1050" dirty="0">
                <a:solidFill>
                  <a:srgbClr val="666666"/>
                </a:solidFill>
                <a:latin typeface="Arial" pitchFamily="34" charset="0"/>
                <a:ea typeface="Arial" pitchFamily="34" charset="-122"/>
                <a:cs typeface="Arial" pitchFamily="34" charset="-120"/>
              </a:rPr>
              <a:t>Today: a code runner with 6 pre-installed packages. Target: a full agent workbench with file management, dev tools, and data pipelines.</a:t>
            </a:r>
            <a:endParaRPr lang="en-US" sz="1050" dirty="0"/>
          </a:p>
        </p:txBody>
      </p:sp>
      <p:sp>
        <p:nvSpPr>
          <p:cNvPr id="4" name="Shape 2"/>
          <p:cNvSpPr/>
          <p:nvPr/>
        </p:nvSpPr>
        <p:spPr>
          <a:xfrm>
            <a:off x="502920" y="1097280"/>
            <a:ext cx="2590800" cy="196596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097280"/>
            <a:ext cx="2590800" cy="320040"/>
          </a:xfrm>
          <a:prstGeom prst="rect">
            <a:avLst/>
          </a:prstGeom>
          <a:solidFill>
            <a:srgbClr val="0097A7"/>
          </a:solidFill>
          <a:ln/>
        </p:spPr>
        <p:txBody>
          <a:bodyPr/>
          <a:lstStyle/>
          <a:p>
            <a:endParaRPr lang="en-US"/>
          </a:p>
        </p:txBody>
      </p:sp>
      <p:sp>
        <p:nvSpPr>
          <p:cNvPr id="6" name="Text 4"/>
          <p:cNvSpPr/>
          <p:nvPr/>
        </p:nvSpPr>
        <p:spPr>
          <a:xfrm>
            <a:off x="612648" y="1124712"/>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File Management (5 tools)</a:t>
            </a:r>
            <a:endParaRPr lang="en-US" sz="1200" dirty="0"/>
          </a:p>
        </p:txBody>
      </p:sp>
      <p:sp>
        <p:nvSpPr>
          <p:cNvPr id="7" name="Text 5"/>
          <p:cNvSpPr/>
          <p:nvPr/>
        </p:nvSpPr>
        <p:spPr>
          <a:xfrm>
            <a:off x="612648" y="1481328"/>
            <a:ext cx="2371344" cy="1490472"/>
          </a:xfrm>
          <a:prstGeom prst="rect">
            <a:avLst/>
          </a:prstGeom>
          <a:noFill/>
          <a:ln/>
        </p:spPr>
        <p:txBody>
          <a:bodyPr wrap="square" lIns="0" tIns="0" rIns="0" bIns="0" rtlCol="0" anchor="t"/>
          <a:lstStyle/>
          <a:p>
            <a:pPr marL="0" indent="0">
              <a:lnSpc>
                <a:spcPct val="110000"/>
              </a:lnSpc>
              <a:buNone/>
            </a:pPr>
            <a:r>
              <a:rPr lang="en-US" sz="800" b="1" dirty="0">
                <a:solidFill>
                  <a:srgbClr val="0097A7"/>
                </a:solidFill>
                <a:latin typeface="Courier New" pitchFamily="34" charset="0"/>
                <a:ea typeface="Courier New" pitchFamily="34" charset="-122"/>
                <a:cs typeface="Courier New" pitchFamily="34" charset="-120"/>
              </a:rPr>
              <a:t>folder_upload</a:t>
            </a:r>
            <a:r>
              <a:rPr lang="en-US" sz="800" dirty="0">
                <a:solidFill>
                  <a:srgbClr val="333333"/>
                </a:solidFill>
                <a:latin typeface="Arial" pitchFamily="34" charset="0"/>
                <a:ea typeface="Arial" pitchFamily="34" charset="-122"/>
                <a:cs typeface="Arial" pitchFamily="34" charset="-120"/>
              </a:rPr>
              <a:t> — Accept ZIP/dir via /v1/upload. Extract, detect types, route to subfolders.
</a:t>
            </a:r>
            <a:r>
              <a:rPr lang="en-US" sz="800" b="1" dirty="0">
                <a:solidFill>
                  <a:srgbClr val="0097A7"/>
                </a:solidFill>
                <a:latin typeface="Courier New" pitchFamily="34" charset="0"/>
                <a:ea typeface="Courier New" pitchFamily="34" charset="-122"/>
                <a:cs typeface="Courier New" pitchFamily="34" charset="-120"/>
              </a:rPr>
              <a:t>auto_organize</a:t>
            </a:r>
            <a:r>
              <a:rPr lang="en-US" sz="800" dirty="0">
                <a:solidFill>
                  <a:srgbClr val="333333"/>
                </a:solidFill>
                <a:latin typeface="Arial" pitchFamily="34" charset="0"/>
                <a:ea typeface="Arial" pitchFamily="34" charset="-122"/>
                <a:cs typeface="Arial" pitchFamily="34" charset="-120"/>
              </a:rPr>
              <a:t> — Classify files (docs/data/code/images), create subfolders, move files.
</a:t>
            </a:r>
            <a:r>
              <a:rPr lang="en-US" sz="800" b="1" dirty="0">
                <a:solidFill>
                  <a:srgbClr val="0097A7"/>
                </a:solidFill>
                <a:latin typeface="Courier New" pitchFamily="34" charset="0"/>
                <a:ea typeface="Courier New" pitchFamily="34" charset="-122"/>
                <a:cs typeface="Courier New" pitchFamily="34" charset="-120"/>
              </a:rPr>
              <a:t>workspace_search</a:t>
            </a:r>
            <a:r>
              <a:rPr lang="en-US" sz="800" dirty="0">
                <a:solidFill>
                  <a:srgbClr val="333333"/>
                </a:solidFill>
                <a:latin typeface="Arial" pitchFamily="34" charset="0"/>
                <a:ea typeface="Arial" pitchFamily="34" charset="-122"/>
                <a:cs typeface="Arial" pitchFamily="34" charset="-120"/>
              </a:rPr>
              <a:t> — Full-text search across workspace. Path, line, snippet.
</a:t>
            </a:r>
            <a:r>
              <a:rPr lang="en-US" sz="800" b="1" dirty="0">
                <a:solidFill>
                  <a:srgbClr val="0097A7"/>
                </a:solidFill>
                <a:latin typeface="Courier New" pitchFamily="34" charset="0"/>
                <a:ea typeface="Courier New" pitchFamily="34" charset="-122"/>
                <a:cs typeface="Courier New" pitchFamily="34" charset="-120"/>
              </a:rPr>
              <a:t>file_metadata</a:t>
            </a:r>
            <a:r>
              <a:rPr lang="en-US" sz="800" dirty="0">
                <a:solidFill>
                  <a:srgbClr val="333333"/>
                </a:solidFill>
                <a:latin typeface="Arial" pitchFamily="34" charset="0"/>
                <a:ea typeface="Arial" pitchFamily="34" charset="-122"/>
                <a:cs typeface="Arial" pitchFamily="34" charset="-120"/>
              </a:rPr>
              <a:t> — Size, type, modified date per file.
</a:t>
            </a:r>
            <a:r>
              <a:rPr lang="en-US" sz="800" b="1" dirty="0">
                <a:solidFill>
                  <a:srgbClr val="0097A7"/>
                </a:solidFill>
                <a:latin typeface="Courier New" pitchFamily="34" charset="0"/>
                <a:ea typeface="Courier New" pitchFamily="34" charset="-122"/>
                <a:cs typeface="Courier New" pitchFamily="34" charset="-120"/>
              </a:rPr>
              <a:t>dir_tree</a:t>
            </a:r>
            <a:r>
              <a:rPr lang="en-US" sz="800" dirty="0">
                <a:solidFill>
                  <a:srgbClr val="333333"/>
                </a:solidFill>
                <a:latin typeface="Arial" pitchFamily="34" charset="0"/>
                <a:ea typeface="Arial" pitchFamily="34" charset="-122"/>
                <a:cs typeface="Arial" pitchFamily="34" charset="-120"/>
              </a:rPr>
              <a:t> — Recursive tree with file counts per directory.</a:t>
            </a:r>
            <a:endParaRPr lang="en-US" sz="1000" dirty="0"/>
          </a:p>
        </p:txBody>
      </p:sp>
      <p:sp>
        <p:nvSpPr>
          <p:cNvPr id="8" name="Shape 6"/>
          <p:cNvSpPr/>
          <p:nvPr/>
        </p:nvSpPr>
        <p:spPr>
          <a:xfrm>
            <a:off x="3276600" y="1097280"/>
            <a:ext cx="2590800" cy="196596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3276600" y="1097280"/>
            <a:ext cx="2590800" cy="320040"/>
          </a:xfrm>
          <a:prstGeom prst="rect">
            <a:avLst/>
          </a:prstGeom>
          <a:solidFill>
            <a:srgbClr val="00796B"/>
          </a:solidFill>
          <a:ln/>
        </p:spPr>
        <p:txBody>
          <a:bodyPr/>
          <a:lstStyle/>
          <a:p>
            <a:endParaRPr lang="en-US"/>
          </a:p>
        </p:txBody>
      </p:sp>
      <p:sp>
        <p:nvSpPr>
          <p:cNvPr id="10" name="Text 8"/>
          <p:cNvSpPr/>
          <p:nvPr/>
        </p:nvSpPr>
        <p:spPr>
          <a:xfrm>
            <a:off x="3386328" y="1124712"/>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Dev Environment (4 tools)</a:t>
            </a:r>
            <a:endParaRPr lang="en-US" sz="1200" dirty="0"/>
          </a:p>
        </p:txBody>
      </p:sp>
      <p:sp>
        <p:nvSpPr>
          <p:cNvPr id="11" name="Text 9"/>
          <p:cNvSpPr/>
          <p:nvPr/>
        </p:nvSpPr>
        <p:spPr>
          <a:xfrm>
            <a:off x="3386328" y="1481328"/>
            <a:ext cx="2371344" cy="1490472"/>
          </a:xfrm>
          <a:prstGeom prst="rect">
            <a:avLst/>
          </a:prstGeom>
          <a:noFill/>
          <a:ln/>
        </p:spPr>
        <p:txBody>
          <a:bodyPr wrap="square" lIns="0" tIns="0" rIns="0" bIns="0" rtlCol="0" anchor="t"/>
          <a:lstStyle/>
          <a:p>
            <a:pPr marL="0" indent="0">
              <a:lnSpc>
                <a:spcPct val="110000"/>
              </a:lnSpc>
              <a:buNone/>
            </a:pPr>
            <a:r>
              <a:rPr lang="en-US" sz="800" b="1" dirty="0">
                <a:solidFill>
                  <a:srgbClr val="00796B"/>
                </a:solidFill>
                <a:latin typeface="Courier New" pitchFamily="34" charset="0"/>
                <a:ea typeface="Courier New" pitchFamily="34" charset="-122"/>
                <a:cs typeface="Courier New" pitchFamily="34" charset="-120"/>
              </a:rPr>
              <a:t>install_package</a:t>
            </a:r>
            <a:r>
              <a:rPr lang="en-US" sz="800" dirty="0">
                <a:solidFill>
                  <a:srgbClr val="333333"/>
                </a:solidFill>
                <a:latin typeface="Arial" pitchFamily="34" charset="0"/>
                <a:ea typeface="Arial" pitchFamily="34" charset="-122"/>
                <a:cs typeface="Arial" pitchFamily="34" charset="-120"/>
              </a:rPr>
              <a:t> — pip/npm into persistent layer. Cached across calls. Allowlisted.
</a:t>
            </a:r>
            <a:r>
              <a:rPr lang="en-US" sz="800" b="1" dirty="0">
                <a:solidFill>
                  <a:srgbClr val="00796B"/>
                </a:solidFill>
                <a:latin typeface="Courier New" pitchFamily="34" charset="0"/>
                <a:ea typeface="Courier New" pitchFamily="34" charset="-122"/>
                <a:cs typeface="Courier New" pitchFamily="34" charset="-120"/>
              </a:rPr>
              <a:t>git_clone</a:t>
            </a:r>
            <a:r>
              <a:rPr lang="en-US" sz="800" dirty="0">
                <a:solidFill>
                  <a:srgbClr val="333333"/>
                </a:solidFill>
                <a:latin typeface="Arial" pitchFamily="34" charset="0"/>
                <a:ea typeface="Arial" pitchFamily="34" charset="-122"/>
                <a:cs typeface="Arial" pitchFamily="34" charset="-120"/>
              </a:rPr>
              <a:t> — Clone repos into workspace. Shallow, depth-limited, read-only.
</a:t>
            </a:r>
            <a:r>
              <a:rPr lang="en-US" sz="800" b="1" dirty="0">
                <a:solidFill>
                  <a:srgbClr val="00796B"/>
                </a:solidFill>
                <a:latin typeface="Courier New" pitchFamily="34" charset="0"/>
                <a:ea typeface="Courier New" pitchFamily="34" charset="-122"/>
                <a:cs typeface="Courier New" pitchFamily="34" charset="-120"/>
              </a:rPr>
              <a:t>run_tests</a:t>
            </a:r>
            <a:r>
              <a:rPr lang="en-US" sz="800" dirty="0">
                <a:solidFill>
                  <a:srgbClr val="333333"/>
                </a:solidFill>
                <a:latin typeface="Arial" pitchFamily="34" charset="0"/>
                <a:ea typeface="Arial" pitchFamily="34" charset="-122"/>
                <a:cs typeface="Arial" pitchFamily="34" charset="-120"/>
              </a:rPr>
              <a:t> — pytest/unittest in sandbox. Structured pass/fail/error report.
</a:t>
            </a:r>
            <a:r>
              <a:rPr lang="en-US" sz="800" b="1" dirty="0">
                <a:solidFill>
                  <a:srgbClr val="00796B"/>
                </a:solidFill>
                <a:latin typeface="Courier New" pitchFamily="34" charset="0"/>
                <a:ea typeface="Courier New" pitchFamily="34" charset="-122"/>
                <a:cs typeface="Courier New" pitchFamily="34" charset="-120"/>
              </a:rPr>
              <a:t>lint_code</a:t>
            </a:r>
            <a:r>
              <a:rPr lang="en-US" sz="800" dirty="0">
                <a:solidFill>
                  <a:srgbClr val="333333"/>
                </a:solidFill>
                <a:latin typeface="Arial" pitchFamily="34" charset="0"/>
                <a:ea typeface="Arial" pitchFamily="34" charset="-122"/>
                <a:cs typeface="Arial" pitchFamily="34" charset="-120"/>
              </a:rPr>
              <a:t> — ruff/flake8/eslint. File, line, severity. Agents can auto-fix.</a:t>
            </a:r>
            <a:endParaRPr lang="en-US" sz="1000" dirty="0"/>
          </a:p>
        </p:txBody>
      </p:sp>
      <p:sp>
        <p:nvSpPr>
          <p:cNvPr id="12" name="Shape 10"/>
          <p:cNvSpPr/>
          <p:nvPr/>
        </p:nvSpPr>
        <p:spPr>
          <a:xfrm>
            <a:off x="6050280" y="1097280"/>
            <a:ext cx="2590800" cy="196596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3" name="Shape 11"/>
          <p:cNvSpPr/>
          <p:nvPr/>
        </p:nvSpPr>
        <p:spPr>
          <a:xfrm>
            <a:off x="6050280" y="1097280"/>
            <a:ext cx="2590800" cy="320040"/>
          </a:xfrm>
          <a:prstGeom prst="rect">
            <a:avLst/>
          </a:prstGeom>
          <a:solidFill>
            <a:srgbClr val="1B2A4A"/>
          </a:solidFill>
          <a:ln/>
        </p:spPr>
        <p:txBody>
          <a:bodyPr/>
          <a:lstStyle/>
          <a:p>
            <a:endParaRPr lang="en-US"/>
          </a:p>
        </p:txBody>
      </p:sp>
      <p:sp>
        <p:nvSpPr>
          <p:cNvPr id="14" name="Text 12"/>
          <p:cNvSpPr/>
          <p:nvPr/>
        </p:nvSpPr>
        <p:spPr>
          <a:xfrm>
            <a:off x="6160008" y="1124712"/>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Data Pipeline (4 tools)</a:t>
            </a:r>
            <a:endParaRPr lang="en-US" sz="1200" dirty="0"/>
          </a:p>
        </p:txBody>
      </p:sp>
      <p:sp>
        <p:nvSpPr>
          <p:cNvPr id="15" name="Text 13"/>
          <p:cNvSpPr/>
          <p:nvPr/>
        </p:nvSpPr>
        <p:spPr>
          <a:xfrm>
            <a:off x="6160008" y="1481328"/>
            <a:ext cx="2371344" cy="1490472"/>
          </a:xfrm>
          <a:prstGeom prst="rect">
            <a:avLst/>
          </a:prstGeom>
          <a:noFill/>
          <a:ln/>
        </p:spPr>
        <p:txBody>
          <a:bodyPr wrap="square" lIns="0" tIns="0" rIns="0" bIns="0" rtlCol="0" anchor="t"/>
          <a:lstStyle/>
          <a:p>
            <a:pPr marL="0" indent="0">
              <a:lnSpc>
                <a:spcPct val="110000"/>
              </a:lnSpc>
              <a:buNone/>
            </a:pPr>
            <a:r>
              <a:rPr lang="en-US" sz="800" b="1" dirty="0">
                <a:solidFill>
                  <a:srgbClr val="1B2A4A"/>
                </a:solidFill>
                <a:latin typeface="Courier New" pitchFamily="34" charset="0"/>
                <a:ea typeface="Courier New" pitchFamily="34" charset="-122"/>
                <a:cs typeface="Courier New" pitchFamily="34" charset="-120"/>
              </a:rPr>
              <a:t>data_profile</a:t>
            </a:r>
            <a:r>
              <a:rPr lang="en-US" sz="800" dirty="0">
                <a:solidFill>
                  <a:srgbClr val="333333"/>
                </a:solidFill>
                <a:latin typeface="Arial" pitchFamily="34" charset="0"/>
                <a:ea typeface="Arial" pitchFamily="34" charset="-122"/>
                <a:cs typeface="Arial" pitchFamily="34" charset="-120"/>
              </a:rPr>
              <a:t> — Auto-profile CSV/Excel: rows, dtypes, nulls, distributions. One-call EDA.
</a:t>
            </a:r>
            <a:r>
              <a:rPr lang="en-US" sz="800" b="1" dirty="0">
                <a:solidFill>
                  <a:srgbClr val="1B2A4A"/>
                </a:solidFill>
                <a:latin typeface="Courier New" pitchFamily="34" charset="0"/>
                <a:ea typeface="Courier New" pitchFamily="34" charset="-122"/>
                <a:cs typeface="Courier New" pitchFamily="34" charset="-120"/>
              </a:rPr>
              <a:t>data_clean</a:t>
            </a:r>
            <a:r>
              <a:rPr lang="en-US" sz="800" dirty="0">
                <a:solidFill>
                  <a:srgbClr val="333333"/>
                </a:solidFill>
                <a:latin typeface="Arial" pitchFamily="34" charset="0"/>
                <a:ea typeface="Arial" pitchFamily="34" charset="-122"/>
                <a:cs typeface="Arial" pitchFamily="34" charset="-120"/>
              </a:rPr>
              <a:t> — Drop dupes, fill nulls, normalize dates, fix encodings. Configurable.
</a:t>
            </a:r>
            <a:r>
              <a:rPr lang="en-US" sz="800" b="1" dirty="0">
                <a:solidFill>
                  <a:srgbClr val="1B2A4A"/>
                </a:solidFill>
                <a:latin typeface="Courier New" pitchFamily="34" charset="0"/>
                <a:ea typeface="Courier New" pitchFamily="34" charset="-122"/>
                <a:cs typeface="Courier New" pitchFamily="34" charset="-120"/>
              </a:rPr>
              <a:t>batch_transform</a:t>
            </a:r>
            <a:r>
              <a:rPr lang="en-US" sz="800" dirty="0">
                <a:solidFill>
                  <a:srgbClr val="333333"/>
                </a:solidFill>
                <a:latin typeface="Arial" pitchFamily="34" charset="0"/>
                <a:ea typeface="Arial" pitchFamily="34" charset="-122"/>
                <a:cs typeface="Arial" pitchFamily="34" charset="-120"/>
              </a:rPr>
              <a:t> — Apply transform across files matching a glob. Map/filter/aggregate.
</a:t>
            </a:r>
            <a:r>
              <a:rPr lang="en-US" sz="800" b="1" dirty="0">
                <a:solidFill>
                  <a:srgbClr val="1B2A4A"/>
                </a:solidFill>
                <a:latin typeface="Courier New" pitchFamily="34" charset="0"/>
                <a:ea typeface="Courier New" pitchFamily="34" charset="-122"/>
                <a:cs typeface="Courier New" pitchFamily="34" charset="-120"/>
              </a:rPr>
              <a:t>export_report</a:t>
            </a:r>
            <a:r>
              <a:rPr lang="en-US" sz="800" dirty="0">
                <a:solidFill>
                  <a:srgbClr val="333333"/>
                </a:solidFill>
                <a:latin typeface="Arial" pitchFamily="34" charset="0"/>
                <a:ea typeface="Arial" pitchFamily="34" charset="-122"/>
                <a:cs typeface="Arial" pitchFamily="34" charset="-120"/>
              </a:rPr>
              <a:t> — HTML/PDF report from analysis. Charts, tables, narrative from artifacts.</a:t>
            </a:r>
            <a:endParaRPr lang="en-US" sz="1000" dirty="0"/>
          </a:p>
        </p:txBody>
      </p:sp>
      <p:sp>
        <p:nvSpPr>
          <p:cNvPr id="16" name="Text 14"/>
          <p:cNvSpPr/>
          <p:nvPr/>
        </p:nvSpPr>
        <p:spPr>
          <a:xfrm>
            <a:off x="502920" y="3163824"/>
            <a:ext cx="8138160" cy="201168"/>
          </a:xfrm>
          <a:prstGeom prst="rect">
            <a:avLst/>
          </a:prstGeom>
          <a:noFill/>
          <a:ln/>
        </p:spPr>
        <p:txBody>
          <a:bodyPr wrap="square" lIns="0" tIns="0" rIns="0" bIns="0" rtlCol="0" anchor="ctr"/>
          <a:lstStyle/>
          <a:p>
            <a:pPr marL="0" indent="0">
              <a:buNone/>
            </a:pPr>
            <a:r>
              <a:rPr lang="en-US" sz="1100" b="1" dirty="0">
                <a:solidFill>
                  <a:srgbClr val="1B2A4A"/>
                </a:solidFill>
                <a:latin typeface="Arial" pitchFamily="34" charset="0"/>
                <a:ea typeface="Arial" pitchFamily="34" charset="-122"/>
                <a:cs typeface="Arial" pitchFamily="34" charset="-120"/>
              </a:rPr>
              <a:t>Folder Upload &amp; Auto-Organize Flow</a:t>
            </a:r>
            <a:endParaRPr lang="en-US" sz="1100" dirty="0"/>
          </a:p>
        </p:txBody>
      </p:sp>
      <p:sp>
        <p:nvSpPr>
          <p:cNvPr id="17" name="Shape 15"/>
          <p:cNvSpPr/>
          <p:nvPr/>
        </p:nvSpPr>
        <p:spPr>
          <a:xfrm>
            <a:off x="626364" y="3401568"/>
            <a:ext cx="1417320" cy="45720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18" name="Text 16"/>
          <p:cNvSpPr/>
          <p:nvPr/>
        </p:nvSpPr>
        <p:spPr>
          <a:xfrm>
            <a:off x="626364" y="3401568"/>
            <a:ext cx="141732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User uploads</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ZIP/folder</a:t>
            </a:r>
            <a:endParaRPr lang="en-US" sz="1000" dirty="0"/>
          </a:p>
        </p:txBody>
      </p:sp>
      <p:sp>
        <p:nvSpPr>
          <p:cNvPr id="19" name="Text 17"/>
          <p:cNvSpPr/>
          <p:nvPr/>
        </p:nvSpPr>
        <p:spPr>
          <a:xfrm>
            <a:off x="2043684" y="3456432"/>
            <a:ext cx="201168" cy="320040"/>
          </a:xfrm>
          <a:prstGeom prst="rect">
            <a:avLst/>
          </a:prstGeom>
          <a:noFill/>
          <a:ln/>
        </p:spPr>
        <p:txBody>
          <a:bodyPr wrap="square" lIns="0" tIns="0" rIns="0" bIns="0" rtlCol="0" anchor="ctr"/>
          <a:lstStyle/>
          <a:p>
            <a:pPr marL="0" indent="0" algn="ctr">
              <a:buNone/>
            </a:pPr>
            <a:r>
              <a:rPr lang="en-US" sz="1600" dirty="0">
                <a:solidFill>
                  <a:srgbClr val="999999"/>
                </a:solidFill>
                <a:latin typeface="Arial" pitchFamily="34" charset="0"/>
                <a:ea typeface="Arial" pitchFamily="34" charset="-122"/>
                <a:cs typeface="Arial" pitchFamily="34" charset="-120"/>
              </a:rPr>
              <a:t>→</a:t>
            </a:r>
            <a:endParaRPr lang="en-US" sz="1600" dirty="0"/>
          </a:p>
        </p:txBody>
      </p:sp>
      <p:sp>
        <p:nvSpPr>
          <p:cNvPr id="20" name="Shape 18"/>
          <p:cNvSpPr/>
          <p:nvPr/>
        </p:nvSpPr>
        <p:spPr>
          <a:xfrm>
            <a:off x="2244852" y="3401568"/>
            <a:ext cx="1417320" cy="45720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21" name="Text 19"/>
          <p:cNvSpPr/>
          <p:nvPr/>
        </p:nvSpPr>
        <p:spPr>
          <a:xfrm>
            <a:off x="2244852" y="3401568"/>
            <a:ext cx="141732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/v1/upload</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extracts files</a:t>
            </a:r>
            <a:endParaRPr lang="en-US" sz="1000" dirty="0"/>
          </a:p>
        </p:txBody>
      </p:sp>
      <p:sp>
        <p:nvSpPr>
          <p:cNvPr id="22" name="Text 20"/>
          <p:cNvSpPr/>
          <p:nvPr/>
        </p:nvSpPr>
        <p:spPr>
          <a:xfrm>
            <a:off x="3662172" y="3456432"/>
            <a:ext cx="201168" cy="320040"/>
          </a:xfrm>
          <a:prstGeom prst="rect">
            <a:avLst/>
          </a:prstGeom>
          <a:noFill/>
          <a:ln/>
        </p:spPr>
        <p:txBody>
          <a:bodyPr wrap="square" lIns="0" tIns="0" rIns="0" bIns="0" rtlCol="0" anchor="ctr"/>
          <a:lstStyle/>
          <a:p>
            <a:pPr marL="0" indent="0" algn="ctr">
              <a:buNone/>
            </a:pPr>
            <a:r>
              <a:rPr lang="en-US" sz="1600" dirty="0">
                <a:solidFill>
                  <a:srgbClr val="999999"/>
                </a:solidFill>
                <a:latin typeface="Arial" pitchFamily="34" charset="0"/>
                <a:ea typeface="Arial" pitchFamily="34" charset="-122"/>
                <a:cs typeface="Arial" pitchFamily="34" charset="-120"/>
              </a:rPr>
              <a:t>→</a:t>
            </a:r>
            <a:endParaRPr lang="en-US" sz="1600" dirty="0"/>
          </a:p>
        </p:txBody>
      </p:sp>
      <p:sp>
        <p:nvSpPr>
          <p:cNvPr id="23" name="Shape 21"/>
          <p:cNvSpPr/>
          <p:nvPr/>
        </p:nvSpPr>
        <p:spPr>
          <a:xfrm>
            <a:off x="3863340" y="3401568"/>
            <a:ext cx="1417320" cy="45720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24" name="Text 22"/>
          <p:cNvSpPr/>
          <p:nvPr/>
        </p:nvSpPr>
        <p:spPr>
          <a:xfrm>
            <a:off x="3863340" y="3401568"/>
            <a:ext cx="141732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Type detection</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(MIME + ext)</a:t>
            </a:r>
            <a:endParaRPr lang="en-US" sz="1000" dirty="0"/>
          </a:p>
        </p:txBody>
      </p:sp>
      <p:sp>
        <p:nvSpPr>
          <p:cNvPr id="25" name="Text 23"/>
          <p:cNvSpPr/>
          <p:nvPr/>
        </p:nvSpPr>
        <p:spPr>
          <a:xfrm>
            <a:off x="5280660" y="3456432"/>
            <a:ext cx="201168" cy="320040"/>
          </a:xfrm>
          <a:prstGeom prst="rect">
            <a:avLst/>
          </a:prstGeom>
          <a:noFill/>
          <a:ln/>
        </p:spPr>
        <p:txBody>
          <a:bodyPr wrap="square" lIns="0" tIns="0" rIns="0" bIns="0" rtlCol="0" anchor="ctr"/>
          <a:lstStyle/>
          <a:p>
            <a:pPr marL="0" indent="0" algn="ctr">
              <a:buNone/>
            </a:pPr>
            <a:r>
              <a:rPr lang="en-US" sz="1600" dirty="0">
                <a:solidFill>
                  <a:srgbClr val="999999"/>
                </a:solidFill>
                <a:latin typeface="Arial" pitchFamily="34" charset="0"/>
                <a:ea typeface="Arial" pitchFamily="34" charset="-122"/>
                <a:cs typeface="Arial" pitchFamily="34" charset="-120"/>
              </a:rPr>
              <a:t>→</a:t>
            </a:r>
            <a:endParaRPr lang="en-US" sz="1600" dirty="0"/>
          </a:p>
        </p:txBody>
      </p:sp>
      <p:sp>
        <p:nvSpPr>
          <p:cNvPr id="26" name="Shape 24"/>
          <p:cNvSpPr/>
          <p:nvPr/>
        </p:nvSpPr>
        <p:spPr>
          <a:xfrm>
            <a:off x="5481828" y="3401568"/>
            <a:ext cx="1417320" cy="45720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27" name="Text 25"/>
          <p:cNvSpPr/>
          <p:nvPr/>
        </p:nvSpPr>
        <p:spPr>
          <a:xfrm>
            <a:off x="5481828" y="3401568"/>
            <a:ext cx="141732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auto_organize</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sorts to dirs</a:t>
            </a:r>
            <a:endParaRPr lang="en-US" sz="1000" dirty="0"/>
          </a:p>
        </p:txBody>
      </p:sp>
      <p:sp>
        <p:nvSpPr>
          <p:cNvPr id="28" name="Text 26"/>
          <p:cNvSpPr/>
          <p:nvPr/>
        </p:nvSpPr>
        <p:spPr>
          <a:xfrm>
            <a:off x="6899148" y="3456432"/>
            <a:ext cx="201168" cy="320040"/>
          </a:xfrm>
          <a:prstGeom prst="rect">
            <a:avLst/>
          </a:prstGeom>
          <a:noFill/>
          <a:ln/>
        </p:spPr>
        <p:txBody>
          <a:bodyPr wrap="square" lIns="0" tIns="0" rIns="0" bIns="0" rtlCol="0" anchor="ctr"/>
          <a:lstStyle/>
          <a:p>
            <a:pPr marL="0" indent="0" algn="ctr">
              <a:buNone/>
            </a:pPr>
            <a:r>
              <a:rPr lang="en-US" sz="1600" dirty="0">
                <a:solidFill>
                  <a:srgbClr val="999999"/>
                </a:solidFill>
                <a:latin typeface="Arial" pitchFamily="34" charset="0"/>
                <a:ea typeface="Arial" pitchFamily="34" charset="-122"/>
                <a:cs typeface="Arial" pitchFamily="34" charset="-120"/>
              </a:rPr>
              <a:t>→</a:t>
            </a:r>
            <a:endParaRPr lang="en-US" sz="1600" dirty="0"/>
          </a:p>
        </p:txBody>
      </p:sp>
      <p:sp>
        <p:nvSpPr>
          <p:cNvPr id="29" name="Shape 27"/>
          <p:cNvSpPr/>
          <p:nvPr/>
        </p:nvSpPr>
        <p:spPr>
          <a:xfrm>
            <a:off x="7100316" y="3401568"/>
            <a:ext cx="1417320" cy="45720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30" name="Text 28"/>
          <p:cNvSpPr/>
          <p:nvPr/>
        </p:nvSpPr>
        <p:spPr>
          <a:xfrm>
            <a:off x="7100316" y="3401568"/>
            <a:ext cx="1417320" cy="45720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workspace_index</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updates catalog</a:t>
            </a:r>
            <a:endParaRPr lang="en-US" sz="1000" dirty="0"/>
          </a:p>
        </p:txBody>
      </p:sp>
      <p:sp>
        <p:nvSpPr>
          <p:cNvPr id="31" name="Shape 29"/>
          <p:cNvSpPr/>
          <p:nvPr/>
        </p:nvSpPr>
        <p:spPr>
          <a:xfrm>
            <a:off x="502920" y="3950208"/>
            <a:ext cx="8138160" cy="320040"/>
          </a:xfrm>
          <a:prstGeom prst="rect">
            <a:avLst/>
          </a:prstGeom>
          <a:solidFill>
            <a:srgbClr val="E0F7FA"/>
          </a:solidFill>
          <a:ln w="12700">
            <a:solidFill>
              <a:srgbClr val="0097A7"/>
            </a:solidFill>
            <a:prstDash val="solid"/>
          </a:ln>
        </p:spPr>
        <p:txBody>
          <a:bodyPr/>
          <a:lstStyle/>
          <a:p>
            <a:endParaRPr lang="en-US"/>
          </a:p>
        </p:txBody>
      </p:sp>
      <p:sp>
        <p:nvSpPr>
          <p:cNvPr id="32" name="Text 30"/>
          <p:cNvSpPr/>
          <p:nvPr/>
        </p:nvSpPr>
        <p:spPr>
          <a:xfrm>
            <a:off x="594360" y="3950208"/>
            <a:ext cx="7955280" cy="32004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Hardening: Add write-size limits (50 MB/session), concurrent-access locking on workspace, swap limits on containers, AST validation before execution, and workspace TTL eviction for idle sessions.</a:t>
            </a:r>
            <a:endParaRPr lang="en-US" sz="1000" dirty="0"/>
          </a:p>
        </p:txBody>
      </p:sp>
      <p:sp>
        <p:nvSpPr>
          <p:cNvPr id="33" name="Text 31"/>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sandbox/docker_exec.py (200 lines), sandbox/workspace.py (140 lines), data_analyst_tools.py (744 lines) — 13 new tools</a:t>
            </a:r>
            <a:endParaRPr lang="en-US" sz="90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Prompt Architecture — How Prompts Are Built</a:t>
            </a:r>
            <a:endParaRPr lang="en-US" sz="2600" dirty="0"/>
          </a:p>
        </p:txBody>
      </p:sp>
      <p:sp>
        <p:nvSpPr>
          <p:cNvPr id="3" name="Text 1"/>
          <p:cNvSpPr/>
          <p:nvPr/>
        </p:nvSpPr>
        <p:spPr>
          <a:xfrm>
            <a:off x="502920" y="804672"/>
            <a:ext cx="8138160" cy="228600"/>
          </a:xfrm>
          <a:prstGeom prst="rect">
            <a:avLst/>
          </a:prstGeom>
          <a:noFill/>
          <a:ln/>
        </p:spPr>
        <p:txBody>
          <a:bodyPr wrap="square" lIns="0" tIns="0" rIns="0" bIns="0" rtlCol="0" anchor="ctr"/>
          <a:lstStyle/>
          <a:p>
            <a:pPr marL="0" indent="0">
              <a:buNone/>
            </a:pPr>
            <a:r>
              <a:rPr lang="en-US" sz="1050" dirty="0">
                <a:solidFill>
                  <a:srgbClr val="666666"/>
                </a:solidFill>
                <a:latin typeface="Arial" pitchFamily="34" charset="0"/>
                <a:ea typeface="Arial" pitchFamily="34" charset="-122"/>
                <a:cs typeface="Arial" pitchFamily="34" charset="-120"/>
              </a:rPr>
              <a:t>query_loop.py _build_system_prompt() assembles 8 blocks in order. Skills and memory are injected dynamically. Fallback prompts cover 10 roles.</a:t>
            </a:r>
            <a:endParaRPr lang="en-US" sz="1050" dirty="0"/>
          </a:p>
        </p:txBody>
      </p:sp>
      <p:sp>
        <p:nvSpPr>
          <p:cNvPr id="4" name="Shape 2"/>
          <p:cNvSpPr/>
          <p:nvPr/>
        </p:nvSpPr>
        <p:spPr>
          <a:xfrm>
            <a:off x="530352" y="1115568"/>
            <a:ext cx="914400" cy="41148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5" name="Text 3"/>
          <p:cNvSpPr/>
          <p:nvPr/>
        </p:nvSpPr>
        <p:spPr>
          <a:xfrm>
            <a:off x="530352" y="1115568"/>
            <a:ext cx="914400" cy="4114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Base Prompt</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(agent .md file)</a:t>
            </a:r>
            <a:endParaRPr lang="en-US" sz="1000" dirty="0"/>
          </a:p>
        </p:txBody>
      </p:sp>
      <p:sp>
        <p:nvSpPr>
          <p:cNvPr id="6" name="Text 4"/>
          <p:cNvSpPr/>
          <p:nvPr/>
        </p:nvSpPr>
        <p:spPr>
          <a:xfrm>
            <a:off x="530352" y="1536192"/>
            <a:ext cx="914400" cy="128016"/>
          </a:xfrm>
          <a:prstGeom prst="rect">
            <a:avLst/>
          </a:prstGeom>
          <a:noFill/>
          <a:ln/>
        </p:spPr>
        <p:txBody>
          <a:bodyPr wrap="square" lIns="0" tIns="0" rIns="0" bIns="0" rtlCol="0" anchor="ctr"/>
          <a:lstStyle/>
          <a:p>
            <a:pPr marL="0" indent="0" algn="ctr">
              <a:buNone/>
            </a:pPr>
            <a:r>
              <a:rPr lang="en-US" sz="700" dirty="0">
                <a:solidFill>
                  <a:srgbClr val="999999"/>
                </a:solidFill>
                <a:latin typeface="Arial" pitchFamily="34" charset="0"/>
                <a:ea typeface="Arial" pitchFamily="34" charset="-122"/>
                <a:cs typeface="Arial" pitchFamily="34" charset="-120"/>
              </a:rPr>
              <a:t>1</a:t>
            </a:r>
            <a:endParaRPr lang="en-US" sz="700" dirty="0"/>
          </a:p>
        </p:txBody>
      </p:sp>
      <p:sp>
        <p:nvSpPr>
          <p:cNvPr id="7" name="Text 5"/>
          <p:cNvSpPr/>
          <p:nvPr/>
        </p:nvSpPr>
        <p:spPr>
          <a:xfrm>
            <a:off x="1444752" y="1170432"/>
            <a:ext cx="109728" cy="320040"/>
          </a:xfrm>
          <a:prstGeom prst="rect">
            <a:avLst/>
          </a:prstGeom>
          <a:noFill/>
          <a:ln/>
        </p:spPr>
        <p:txBody>
          <a:bodyPr wrap="square" lIns="0" tIns="0" rIns="0" bIns="0" rtlCol="0" anchor="ctr"/>
          <a:lstStyle/>
          <a:p>
            <a:pPr marL="0" indent="0" algn="ctr">
              <a:buNone/>
            </a:pPr>
            <a:r>
              <a:rPr lang="en-US" sz="1200" dirty="0">
                <a:solidFill>
                  <a:srgbClr val="999999"/>
                </a:solidFill>
                <a:latin typeface="Arial" pitchFamily="34" charset="0"/>
                <a:ea typeface="Arial" pitchFamily="34" charset="-122"/>
                <a:cs typeface="Arial" pitchFamily="34" charset="-120"/>
              </a:rPr>
              <a:t>→</a:t>
            </a:r>
            <a:endParaRPr lang="en-US" sz="1200" dirty="0"/>
          </a:p>
        </p:txBody>
      </p:sp>
      <p:sp>
        <p:nvSpPr>
          <p:cNvPr id="8" name="Shape 6"/>
          <p:cNvSpPr/>
          <p:nvPr/>
        </p:nvSpPr>
        <p:spPr>
          <a:xfrm>
            <a:off x="1554480" y="1115568"/>
            <a:ext cx="914400" cy="41148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9" name="Text 7"/>
          <p:cNvSpPr/>
          <p:nvPr/>
        </p:nvSpPr>
        <p:spPr>
          <a:xfrm>
            <a:off x="1554480" y="1115568"/>
            <a:ext cx="914400" cy="4114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Clarification</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Policy</a:t>
            </a:r>
            <a:endParaRPr lang="en-US" sz="1000" dirty="0"/>
          </a:p>
        </p:txBody>
      </p:sp>
      <p:sp>
        <p:nvSpPr>
          <p:cNvPr id="10" name="Text 8"/>
          <p:cNvSpPr/>
          <p:nvPr/>
        </p:nvSpPr>
        <p:spPr>
          <a:xfrm>
            <a:off x="1554480" y="1536192"/>
            <a:ext cx="914400" cy="128016"/>
          </a:xfrm>
          <a:prstGeom prst="rect">
            <a:avLst/>
          </a:prstGeom>
          <a:noFill/>
          <a:ln/>
        </p:spPr>
        <p:txBody>
          <a:bodyPr wrap="square" lIns="0" tIns="0" rIns="0" bIns="0" rtlCol="0" anchor="ctr"/>
          <a:lstStyle/>
          <a:p>
            <a:pPr marL="0" indent="0" algn="ctr">
              <a:buNone/>
            </a:pPr>
            <a:r>
              <a:rPr lang="en-US" sz="700" dirty="0">
                <a:solidFill>
                  <a:srgbClr val="999999"/>
                </a:solidFill>
                <a:latin typeface="Arial" pitchFamily="34" charset="0"/>
                <a:ea typeface="Arial" pitchFamily="34" charset="-122"/>
                <a:cs typeface="Arial" pitchFamily="34" charset="-120"/>
              </a:rPr>
              <a:t>2</a:t>
            </a:r>
            <a:endParaRPr lang="en-US" sz="700" dirty="0"/>
          </a:p>
        </p:txBody>
      </p:sp>
      <p:sp>
        <p:nvSpPr>
          <p:cNvPr id="11" name="Text 9"/>
          <p:cNvSpPr/>
          <p:nvPr/>
        </p:nvSpPr>
        <p:spPr>
          <a:xfrm>
            <a:off x="2468880" y="1170432"/>
            <a:ext cx="109728" cy="320040"/>
          </a:xfrm>
          <a:prstGeom prst="rect">
            <a:avLst/>
          </a:prstGeom>
          <a:noFill/>
          <a:ln/>
        </p:spPr>
        <p:txBody>
          <a:bodyPr wrap="square" lIns="0" tIns="0" rIns="0" bIns="0" rtlCol="0" anchor="ctr"/>
          <a:lstStyle/>
          <a:p>
            <a:pPr marL="0" indent="0" algn="ctr">
              <a:buNone/>
            </a:pPr>
            <a:r>
              <a:rPr lang="en-US" sz="1200" dirty="0">
                <a:solidFill>
                  <a:srgbClr val="999999"/>
                </a:solidFill>
                <a:latin typeface="Arial" pitchFamily="34" charset="0"/>
                <a:ea typeface="Arial" pitchFamily="34" charset="-122"/>
                <a:cs typeface="Arial" pitchFamily="34" charset="-120"/>
              </a:rPr>
              <a:t>→</a:t>
            </a:r>
            <a:endParaRPr lang="en-US" sz="1200" dirty="0"/>
          </a:p>
        </p:txBody>
      </p:sp>
      <p:sp>
        <p:nvSpPr>
          <p:cNvPr id="12" name="Shape 10"/>
          <p:cNvSpPr/>
          <p:nvPr/>
        </p:nvSpPr>
        <p:spPr>
          <a:xfrm>
            <a:off x="2578608" y="1115568"/>
            <a:ext cx="914400" cy="41148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13" name="Text 11"/>
          <p:cNvSpPr/>
          <p:nvPr/>
        </p:nvSpPr>
        <p:spPr>
          <a:xfrm>
            <a:off x="2578608" y="1115568"/>
            <a:ext cx="914400" cy="4114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Pending</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Clarifications</a:t>
            </a:r>
            <a:endParaRPr lang="en-US" sz="1000" dirty="0"/>
          </a:p>
        </p:txBody>
      </p:sp>
      <p:sp>
        <p:nvSpPr>
          <p:cNvPr id="14" name="Text 12"/>
          <p:cNvSpPr/>
          <p:nvPr/>
        </p:nvSpPr>
        <p:spPr>
          <a:xfrm>
            <a:off x="2578608" y="1536192"/>
            <a:ext cx="914400" cy="128016"/>
          </a:xfrm>
          <a:prstGeom prst="rect">
            <a:avLst/>
          </a:prstGeom>
          <a:noFill/>
          <a:ln/>
        </p:spPr>
        <p:txBody>
          <a:bodyPr wrap="square" lIns="0" tIns="0" rIns="0" bIns="0" rtlCol="0" anchor="ctr"/>
          <a:lstStyle/>
          <a:p>
            <a:pPr marL="0" indent="0" algn="ctr">
              <a:buNone/>
            </a:pPr>
            <a:r>
              <a:rPr lang="en-US" sz="700" dirty="0">
                <a:solidFill>
                  <a:srgbClr val="999999"/>
                </a:solidFill>
                <a:latin typeface="Arial" pitchFamily="34" charset="0"/>
                <a:ea typeface="Arial" pitchFamily="34" charset="-122"/>
                <a:cs typeface="Arial" pitchFamily="34" charset="-120"/>
              </a:rPr>
              <a:t>3</a:t>
            </a:r>
            <a:endParaRPr lang="en-US" sz="700" dirty="0"/>
          </a:p>
        </p:txBody>
      </p:sp>
      <p:sp>
        <p:nvSpPr>
          <p:cNvPr id="15" name="Text 13"/>
          <p:cNvSpPr/>
          <p:nvPr/>
        </p:nvSpPr>
        <p:spPr>
          <a:xfrm>
            <a:off x="3493008" y="1170432"/>
            <a:ext cx="109728" cy="320040"/>
          </a:xfrm>
          <a:prstGeom prst="rect">
            <a:avLst/>
          </a:prstGeom>
          <a:noFill/>
          <a:ln/>
        </p:spPr>
        <p:txBody>
          <a:bodyPr wrap="square" lIns="0" tIns="0" rIns="0" bIns="0" rtlCol="0" anchor="ctr"/>
          <a:lstStyle/>
          <a:p>
            <a:pPr marL="0" indent="0" algn="ctr">
              <a:buNone/>
            </a:pPr>
            <a:r>
              <a:rPr lang="en-US" sz="1200" dirty="0">
                <a:solidFill>
                  <a:srgbClr val="999999"/>
                </a:solidFill>
                <a:latin typeface="Arial" pitchFamily="34" charset="0"/>
                <a:ea typeface="Arial" pitchFamily="34" charset="-122"/>
                <a:cs typeface="Arial" pitchFamily="34" charset="-120"/>
              </a:rPr>
              <a:t>→</a:t>
            </a:r>
            <a:endParaRPr lang="en-US" sz="1200" dirty="0"/>
          </a:p>
        </p:txBody>
      </p:sp>
      <p:sp>
        <p:nvSpPr>
          <p:cNvPr id="16" name="Shape 14"/>
          <p:cNvSpPr/>
          <p:nvPr/>
        </p:nvSpPr>
        <p:spPr>
          <a:xfrm>
            <a:off x="3602736" y="1115568"/>
            <a:ext cx="914400" cy="41148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17" name="Text 15"/>
          <p:cNvSpPr/>
          <p:nvPr/>
        </p:nvSpPr>
        <p:spPr>
          <a:xfrm>
            <a:off x="3602736" y="1115568"/>
            <a:ext cx="914400" cy="4114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Resolved</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Intent</a:t>
            </a:r>
            <a:endParaRPr lang="en-US" sz="1000" dirty="0"/>
          </a:p>
        </p:txBody>
      </p:sp>
      <p:sp>
        <p:nvSpPr>
          <p:cNvPr id="18" name="Text 16"/>
          <p:cNvSpPr/>
          <p:nvPr/>
        </p:nvSpPr>
        <p:spPr>
          <a:xfrm>
            <a:off x="3602736" y="1536192"/>
            <a:ext cx="914400" cy="128016"/>
          </a:xfrm>
          <a:prstGeom prst="rect">
            <a:avLst/>
          </a:prstGeom>
          <a:noFill/>
          <a:ln/>
        </p:spPr>
        <p:txBody>
          <a:bodyPr wrap="square" lIns="0" tIns="0" rIns="0" bIns="0" rtlCol="0" anchor="ctr"/>
          <a:lstStyle/>
          <a:p>
            <a:pPr marL="0" indent="0" algn="ctr">
              <a:buNone/>
            </a:pPr>
            <a:r>
              <a:rPr lang="en-US" sz="700" dirty="0">
                <a:solidFill>
                  <a:srgbClr val="999999"/>
                </a:solidFill>
                <a:latin typeface="Arial" pitchFamily="34" charset="0"/>
                <a:ea typeface="Arial" pitchFamily="34" charset="-122"/>
                <a:cs typeface="Arial" pitchFamily="34" charset="-120"/>
              </a:rPr>
              <a:t>4</a:t>
            </a:r>
            <a:endParaRPr lang="en-US" sz="700" dirty="0"/>
          </a:p>
        </p:txBody>
      </p:sp>
      <p:sp>
        <p:nvSpPr>
          <p:cNvPr id="19" name="Text 17"/>
          <p:cNvSpPr/>
          <p:nvPr/>
        </p:nvSpPr>
        <p:spPr>
          <a:xfrm>
            <a:off x="4517136" y="1170432"/>
            <a:ext cx="109728" cy="320040"/>
          </a:xfrm>
          <a:prstGeom prst="rect">
            <a:avLst/>
          </a:prstGeom>
          <a:noFill/>
          <a:ln/>
        </p:spPr>
        <p:txBody>
          <a:bodyPr wrap="square" lIns="0" tIns="0" rIns="0" bIns="0" rtlCol="0" anchor="ctr"/>
          <a:lstStyle/>
          <a:p>
            <a:pPr marL="0" indent="0" algn="ctr">
              <a:buNone/>
            </a:pPr>
            <a:r>
              <a:rPr lang="en-US" sz="1200" dirty="0">
                <a:solidFill>
                  <a:srgbClr val="999999"/>
                </a:solidFill>
                <a:latin typeface="Arial" pitchFamily="34" charset="0"/>
                <a:ea typeface="Arial" pitchFamily="34" charset="-122"/>
                <a:cs typeface="Arial" pitchFamily="34" charset="-120"/>
              </a:rPr>
              <a:t>→</a:t>
            </a:r>
            <a:endParaRPr lang="en-US" sz="1200" dirty="0"/>
          </a:p>
        </p:txBody>
      </p:sp>
      <p:sp>
        <p:nvSpPr>
          <p:cNvPr id="20" name="Shape 18"/>
          <p:cNvSpPr/>
          <p:nvPr/>
        </p:nvSpPr>
        <p:spPr>
          <a:xfrm>
            <a:off x="4626864" y="1115568"/>
            <a:ext cx="914400" cy="41148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21" name="Text 19"/>
          <p:cNvSpPr/>
          <p:nvPr/>
        </p:nvSpPr>
        <p:spPr>
          <a:xfrm>
            <a:off x="4626864" y="1115568"/>
            <a:ext cx="914400" cy="4114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Active Doc</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Focus</a:t>
            </a:r>
            <a:endParaRPr lang="en-US" sz="1000" dirty="0"/>
          </a:p>
        </p:txBody>
      </p:sp>
      <p:sp>
        <p:nvSpPr>
          <p:cNvPr id="22" name="Text 20"/>
          <p:cNvSpPr/>
          <p:nvPr/>
        </p:nvSpPr>
        <p:spPr>
          <a:xfrm>
            <a:off x="4626864" y="1536192"/>
            <a:ext cx="914400" cy="128016"/>
          </a:xfrm>
          <a:prstGeom prst="rect">
            <a:avLst/>
          </a:prstGeom>
          <a:noFill/>
          <a:ln/>
        </p:spPr>
        <p:txBody>
          <a:bodyPr wrap="square" lIns="0" tIns="0" rIns="0" bIns="0" rtlCol="0" anchor="ctr"/>
          <a:lstStyle/>
          <a:p>
            <a:pPr marL="0" indent="0" algn="ctr">
              <a:buNone/>
            </a:pPr>
            <a:r>
              <a:rPr lang="en-US" sz="700" dirty="0">
                <a:solidFill>
                  <a:srgbClr val="999999"/>
                </a:solidFill>
                <a:latin typeface="Arial" pitchFamily="34" charset="0"/>
                <a:ea typeface="Arial" pitchFamily="34" charset="-122"/>
                <a:cs typeface="Arial" pitchFamily="34" charset="-120"/>
              </a:rPr>
              <a:t>5</a:t>
            </a:r>
            <a:endParaRPr lang="en-US" sz="700" dirty="0"/>
          </a:p>
        </p:txBody>
      </p:sp>
      <p:sp>
        <p:nvSpPr>
          <p:cNvPr id="23" name="Text 21"/>
          <p:cNvSpPr/>
          <p:nvPr/>
        </p:nvSpPr>
        <p:spPr>
          <a:xfrm>
            <a:off x="5541264" y="1170432"/>
            <a:ext cx="109728" cy="320040"/>
          </a:xfrm>
          <a:prstGeom prst="rect">
            <a:avLst/>
          </a:prstGeom>
          <a:noFill/>
          <a:ln/>
        </p:spPr>
        <p:txBody>
          <a:bodyPr wrap="square" lIns="0" tIns="0" rIns="0" bIns="0" rtlCol="0" anchor="ctr"/>
          <a:lstStyle/>
          <a:p>
            <a:pPr marL="0" indent="0" algn="ctr">
              <a:buNone/>
            </a:pPr>
            <a:r>
              <a:rPr lang="en-US" sz="1200" dirty="0">
                <a:solidFill>
                  <a:srgbClr val="999999"/>
                </a:solidFill>
                <a:latin typeface="Arial" pitchFamily="34" charset="0"/>
                <a:ea typeface="Arial" pitchFamily="34" charset="-122"/>
                <a:cs typeface="Arial" pitchFamily="34" charset="-120"/>
              </a:rPr>
              <a:t>→</a:t>
            </a:r>
            <a:endParaRPr lang="en-US" sz="1200" dirty="0"/>
          </a:p>
        </p:txBody>
      </p:sp>
      <p:sp>
        <p:nvSpPr>
          <p:cNvPr id="24" name="Shape 22"/>
          <p:cNvSpPr/>
          <p:nvPr/>
        </p:nvSpPr>
        <p:spPr>
          <a:xfrm>
            <a:off x="5650992" y="1115568"/>
            <a:ext cx="914400" cy="411480"/>
          </a:xfrm>
          <a:prstGeom prst="rect">
            <a:avLst/>
          </a:prstGeom>
          <a:solidFill>
            <a:srgbClr val="0097A7"/>
          </a:solidFill>
          <a:ln/>
          <a:effectLst>
            <a:outerShdw blurRad="50800" dist="25400" dir="8100000" algn="bl" rotWithShape="0">
              <a:srgbClr val="000000">
                <a:alpha val="12000"/>
              </a:srgbClr>
            </a:outerShdw>
          </a:effectLst>
        </p:spPr>
        <p:txBody>
          <a:bodyPr/>
          <a:lstStyle/>
          <a:p>
            <a:endParaRPr lang="en-US"/>
          </a:p>
        </p:txBody>
      </p:sp>
      <p:sp>
        <p:nvSpPr>
          <p:cNvPr id="25" name="Text 23"/>
          <p:cNvSpPr/>
          <p:nvPr/>
        </p:nvSpPr>
        <p:spPr>
          <a:xfrm>
            <a:off x="5650992" y="1115568"/>
            <a:ext cx="914400" cy="4114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Task</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Context</a:t>
            </a:r>
            <a:endParaRPr lang="en-US" sz="1000" dirty="0"/>
          </a:p>
        </p:txBody>
      </p:sp>
      <p:sp>
        <p:nvSpPr>
          <p:cNvPr id="26" name="Text 24"/>
          <p:cNvSpPr/>
          <p:nvPr/>
        </p:nvSpPr>
        <p:spPr>
          <a:xfrm>
            <a:off x="5650992" y="1536192"/>
            <a:ext cx="914400" cy="128016"/>
          </a:xfrm>
          <a:prstGeom prst="rect">
            <a:avLst/>
          </a:prstGeom>
          <a:noFill/>
          <a:ln/>
        </p:spPr>
        <p:txBody>
          <a:bodyPr wrap="square" lIns="0" tIns="0" rIns="0" bIns="0" rtlCol="0" anchor="ctr"/>
          <a:lstStyle/>
          <a:p>
            <a:pPr marL="0" indent="0" algn="ctr">
              <a:buNone/>
            </a:pPr>
            <a:r>
              <a:rPr lang="en-US" sz="700" dirty="0">
                <a:solidFill>
                  <a:srgbClr val="999999"/>
                </a:solidFill>
                <a:latin typeface="Arial" pitchFamily="34" charset="0"/>
                <a:ea typeface="Arial" pitchFamily="34" charset="-122"/>
                <a:cs typeface="Arial" pitchFamily="34" charset="-120"/>
              </a:rPr>
              <a:t>6</a:t>
            </a:r>
            <a:endParaRPr lang="en-US" sz="700" dirty="0"/>
          </a:p>
        </p:txBody>
      </p:sp>
      <p:sp>
        <p:nvSpPr>
          <p:cNvPr id="27" name="Text 25"/>
          <p:cNvSpPr/>
          <p:nvPr/>
        </p:nvSpPr>
        <p:spPr>
          <a:xfrm>
            <a:off x="6565392" y="1170432"/>
            <a:ext cx="109728" cy="320040"/>
          </a:xfrm>
          <a:prstGeom prst="rect">
            <a:avLst/>
          </a:prstGeom>
          <a:noFill/>
          <a:ln/>
        </p:spPr>
        <p:txBody>
          <a:bodyPr wrap="square" lIns="0" tIns="0" rIns="0" bIns="0" rtlCol="0" anchor="ctr"/>
          <a:lstStyle/>
          <a:p>
            <a:pPr marL="0" indent="0" algn="ctr">
              <a:buNone/>
            </a:pPr>
            <a:r>
              <a:rPr lang="en-US" sz="1200" dirty="0">
                <a:solidFill>
                  <a:srgbClr val="999999"/>
                </a:solidFill>
                <a:latin typeface="Arial" pitchFamily="34" charset="0"/>
                <a:ea typeface="Arial" pitchFamily="34" charset="-122"/>
                <a:cs typeface="Arial" pitchFamily="34" charset="-120"/>
              </a:rPr>
              <a:t>→</a:t>
            </a:r>
            <a:endParaRPr lang="en-US" sz="1200" dirty="0"/>
          </a:p>
        </p:txBody>
      </p:sp>
      <p:sp>
        <p:nvSpPr>
          <p:cNvPr id="28" name="Shape 26"/>
          <p:cNvSpPr/>
          <p:nvPr/>
        </p:nvSpPr>
        <p:spPr>
          <a:xfrm>
            <a:off x="6675120" y="1115568"/>
            <a:ext cx="914400" cy="411480"/>
          </a:xfrm>
          <a:prstGeom prst="rect">
            <a:avLst/>
          </a:prstGeom>
          <a:solidFill>
            <a:srgbClr val="1B2A4A"/>
          </a:solidFill>
          <a:ln/>
          <a:effectLst>
            <a:outerShdw blurRad="50800" dist="25400" dir="8100000" algn="bl" rotWithShape="0">
              <a:srgbClr val="000000">
                <a:alpha val="12000"/>
              </a:srgbClr>
            </a:outerShdw>
          </a:effectLst>
        </p:spPr>
        <p:txBody>
          <a:bodyPr/>
          <a:lstStyle/>
          <a:p>
            <a:endParaRPr lang="en-US"/>
          </a:p>
        </p:txBody>
      </p:sp>
      <p:sp>
        <p:nvSpPr>
          <p:cNvPr id="29" name="Text 27"/>
          <p:cNvSpPr/>
          <p:nvPr/>
        </p:nvSpPr>
        <p:spPr>
          <a:xfrm>
            <a:off x="6675120" y="1115568"/>
            <a:ext cx="914400" cy="4114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Skill</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Context</a:t>
            </a:r>
            <a:endParaRPr lang="en-US" sz="1000" dirty="0"/>
          </a:p>
        </p:txBody>
      </p:sp>
      <p:sp>
        <p:nvSpPr>
          <p:cNvPr id="30" name="Text 28"/>
          <p:cNvSpPr/>
          <p:nvPr/>
        </p:nvSpPr>
        <p:spPr>
          <a:xfrm>
            <a:off x="6675120" y="1536192"/>
            <a:ext cx="914400" cy="128016"/>
          </a:xfrm>
          <a:prstGeom prst="rect">
            <a:avLst/>
          </a:prstGeom>
          <a:noFill/>
          <a:ln/>
        </p:spPr>
        <p:txBody>
          <a:bodyPr wrap="square" lIns="0" tIns="0" rIns="0" bIns="0" rtlCol="0" anchor="ctr"/>
          <a:lstStyle/>
          <a:p>
            <a:pPr marL="0" indent="0" algn="ctr">
              <a:buNone/>
            </a:pPr>
            <a:r>
              <a:rPr lang="en-US" sz="700" dirty="0">
                <a:solidFill>
                  <a:srgbClr val="999999"/>
                </a:solidFill>
                <a:latin typeface="Arial" pitchFamily="34" charset="0"/>
                <a:ea typeface="Arial" pitchFamily="34" charset="-122"/>
                <a:cs typeface="Arial" pitchFamily="34" charset="-120"/>
              </a:rPr>
              <a:t>7</a:t>
            </a:r>
            <a:endParaRPr lang="en-US" sz="700" dirty="0"/>
          </a:p>
        </p:txBody>
      </p:sp>
      <p:sp>
        <p:nvSpPr>
          <p:cNvPr id="31" name="Text 29"/>
          <p:cNvSpPr/>
          <p:nvPr/>
        </p:nvSpPr>
        <p:spPr>
          <a:xfrm>
            <a:off x="7589520" y="1170432"/>
            <a:ext cx="109728" cy="320040"/>
          </a:xfrm>
          <a:prstGeom prst="rect">
            <a:avLst/>
          </a:prstGeom>
          <a:noFill/>
          <a:ln/>
        </p:spPr>
        <p:txBody>
          <a:bodyPr wrap="square" lIns="0" tIns="0" rIns="0" bIns="0" rtlCol="0" anchor="ctr"/>
          <a:lstStyle/>
          <a:p>
            <a:pPr marL="0" indent="0" algn="ctr">
              <a:buNone/>
            </a:pPr>
            <a:r>
              <a:rPr lang="en-US" sz="1200" dirty="0">
                <a:solidFill>
                  <a:srgbClr val="999999"/>
                </a:solidFill>
                <a:latin typeface="Arial" pitchFamily="34" charset="0"/>
                <a:ea typeface="Arial" pitchFamily="34" charset="-122"/>
                <a:cs typeface="Arial" pitchFamily="34" charset="-120"/>
              </a:rPr>
              <a:t>→</a:t>
            </a:r>
            <a:endParaRPr lang="en-US" sz="1200" dirty="0"/>
          </a:p>
        </p:txBody>
      </p:sp>
      <p:sp>
        <p:nvSpPr>
          <p:cNvPr id="32" name="Shape 30"/>
          <p:cNvSpPr/>
          <p:nvPr/>
        </p:nvSpPr>
        <p:spPr>
          <a:xfrm>
            <a:off x="7699248" y="1115568"/>
            <a:ext cx="914400" cy="411480"/>
          </a:xfrm>
          <a:prstGeom prst="rect">
            <a:avLst/>
          </a:prstGeom>
          <a:solidFill>
            <a:srgbClr val="00796B"/>
          </a:solidFill>
          <a:ln/>
          <a:effectLst>
            <a:outerShdw blurRad="50800" dist="25400" dir="8100000" algn="bl" rotWithShape="0">
              <a:srgbClr val="000000">
                <a:alpha val="12000"/>
              </a:srgbClr>
            </a:outerShdw>
          </a:effectLst>
        </p:spPr>
        <p:txBody>
          <a:bodyPr/>
          <a:lstStyle/>
          <a:p>
            <a:endParaRPr lang="en-US"/>
          </a:p>
        </p:txBody>
      </p:sp>
      <p:sp>
        <p:nvSpPr>
          <p:cNvPr id="33" name="Text 31"/>
          <p:cNvSpPr/>
          <p:nvPr/>
        </p:nvSpPr>
        <p:spPr>
          <a:xfrm>
            <a:off x="7699248" y="1115568"/>
            <a:ext cx="914400" cy="411480"/>
          </a:xfrm>
          <a:prstGeom prst="rect">
            <a:avLst/>
          </a:prstGeom>
          <a:noFill/>
          <a:ln/>
        </p:spPr>
        <p:txBody>
          <a:bodyPr wrap="square" lIns="0" tIns="0" rIns="0" bIns="0" rtlCol="0" anchor="ctr"/>
          <a:lstStyle/>
          <a:p>
            <a:pPr marL="0" indent="0" algn="ctr">
              <a:buNone/>
            </a:pPr>
            <a:r>
              <a:rPr lang="en-US" sz="1000" dirty="0">
                <a:solidFill>
                  <a:srgbClr val="FFFFFF"/>
                </a:solidFill>
                <a:latin typeface="Arial" pitchFamily="34" charset="0"/>
                <a:ea typeface="Arial" pitchFamily="34" charset="-122"/>
                <a:cs typeface="Arial" pitchFamily="34" charset="-120"/>
              </a:rPr>
              <a:t>Memory</a:t>
            </a:r>
            <a:endParaRPr lang="en-US" sz="1000" dirty="0"/>
          </a:p>
          <a:p>
            <a:pPr marL="0" indent="0" algn="ctr">
              <a:buNone/>
            </a:pPr>
            <a:r>
              <a:rPr lang="en-US" sz="1000" dirty="0">
                <a:solidFill>
                  <a:srgbClr val="FFFFFF"/>
                </a:solidFill>
                <a:latin typeface="Arial" pitchFamily="34" charset="0"/>
                <a:ea typeface="Arial" pitchFamily="34" charset="-122"/>
                <a:cs typeface="Arial" pitchFamily="34" charset="-120"/>
              </a:rPr>
              <a:t>Context</a:t>
            </a:r>
            <a:endParaRPr lang="en-US" sz="1000" dirty="0"/>
          </a:p>
        </p:txBody>
      </p:sp>
      <p:sp>
        <p:nvSpPr>
          <p:cNvPr id="34" name="Text 32"/>
          <p:cNvSpPr/>
          <p:nvPr/>
        </p:nvSpPr>
        <p:spPr>
          <a:xfrm>
            <a:off x="7699248" y="1536192"/>
            <a:ext cx="914400" cy="128016"/>
          </a:xfrm>
          <a:prstGeom prst="rect">
            <a:avLst/>
          </a:prstGeom>
          <a:noFill/>
          <a:ln/>
        </p:spPr>
        <p:txBody>
          <a:bodyPr wrap="square" lIns="0" tIns="0" rIns="0" bIns="0" rtlCol="0" anchor="ctr"/>
          <a:lstStyle/>
          <a:p>
            <a:pPr marL="0" indent="0" algn="ctr">
              <a:buNone/>
            </a:pPr>
            <a:r>
              <a:rPr lang="en-US" sz="700" dirty="0">
                <a:solidFill>
                  <a:srgbClr val="999999"/>
                </a:solidFill>
                <a:latin typeface="Arial" pitchFamily="34" charset="0"/>
                <a:ea typeface="Arial" pitchFamily="34" charset="-122"/>
                <a:cs typeface="Arial" pitchFamily="34" charset="-120"/>
              </a:rPr>
              <a:t>8</a:t>
            </a:r>
            <a:endParaRPr lang="en-US" sz="700" dirty="0"/>
          </a:p>
        </p:txBody>
      </p:sp>
      <p:sp>
        <p:nvSpPr>
          <p:cNvPr id="35" name="Text 33"/>
          <p:cNvSpPr/>
          <p:nvPr/>
        </p:nvSpPr>
        <p:spPr>
          <a:xfrm>
            <a:off x="502920" y="1755648"/>
            <a:ext cx="8138160" cy="182880"/>
          </a:xfrm>
          <a:prstGeom prst="rect">
            <a:avLst/>
          </a:prstGeom>
          <a:noFill/>
          <a:ln/>
        </p:spPr>
        <p:txBody>
          <a:bodyPr wrap="square" lIns="0" tIns="0" rIns="0" bIns="0" rtlCol="0" anchor="ctr"/>
          <a:lstStyle/>
          <a:p>
            <a:pPr marL="0" indent="0">
              <a:buNone/>
            </a:pPr>
            <a:r>
              <a:rPr lang="en-US" sz="1000" b="1" dirty="0">
                <a:solidFill>
                  <a:srgbClr val="1B2A4A"/>
                </a:solidFill>
                <a:latin typeface="Arial" pitchFamily="34" charset="0"/>
                <a:ea typeface="Arial" pitchFamily="34" charset="-122"/>
                <a:cs typeface="Arial" pitchFamily="34" charset="-120"/>
              </a:rPr>
              <a:t>Block Details</a:t>
            </a:r>
            <a:endParaRPr lang="en-US" sz="1000" dirty="0"/>
          </a:p>
        </p:txBody>
      </p:sp>
      <p:sp>
        <p:nvSpPr>
          <p:cNvPr id="36" name="Text 34"/>
          <p:cNvSpPr/>
          <p:nvPr/>
        </p:nvSpPr>
        <p:spPr>
          <a:xfrm>
            <a:off x="502920" y="1965960"/>
            <a:ext cx="8138160" cy="347472"/>
          </a:xfrm>
          <a:prstGeom prst="rect">
            <a:avLst/>
          </a:prstGeom>
          <a:solidFill>
            <a:srgbClr val="F5F5F5"/>
          </a:solidFill>
          <a:ln/>
        </p:spPr>
        <p:txBody>
          <a:bodyPr wrap="square" lIns="38100" tIns="76200" rIns="76200" bIns="38100" rtlCol="0" anchor="t"/>
          <a:lstStyle/>
          <a:p>
            <a:pPr marL="0" indent="0">
              <a:buNone/>
            </a:pPr>
            <a:r>
              <a:rPr lang="en-US" sz="800" b="1" dirty="0">
                <a:solidFill>
                  <a:srgbClr val="1B2A4A"/>
                </a:solidFill>
              </a:rPr>
              <a:t>Block 1: Base Prompt: </a:t>
            </a:r>
            <a:r>
              <a:rPr lang="en-US" sz="750" dirty="0">
                <a:solidFill>
                  <a:srgbClr val="666666"/>
                </a:solidFill>
              </a:rPr>
              <a:t>Loaded from data/agents/{name}.md via skill_runtime.build_prompt(). Contains mission statement, tool &amp; delegation policy, capabilities/limits, anti-patterns. Falls back to prompt_fallbacks.py (181 lines) if file missing.</a:t>
            </a:r>
            <a:endParaRPr lang="en-US" sz="800" dirty="0"/>
          </a:p>
        </p:txBody>
      </p:sp>
      <p:sp>
        <p:nvSpPr>
          <p:cNvPr id="37" name="Text 35"/>
          <p:cNvSpPr/>
          <p:nvPr/>
        </p:nvSpPr>
        <p:spPr>
          <a:xfrm>
            <a:off x="502920" y="2313432"/>
            <a:ext cx="8138160" cy="347472"/>
          </a:xfrm>
          <a:prstGeom prst="rect">
            <a:avLst/>
          </a:prstGeom>
          <a:solidFill>
            <a:srgbClr val="FFFFFF"/>
          </a:solidFill>
          <a:ln/>
        </p:spPr>
        <p:txBody>
          <a:bodyPr wrap="square" lIns="38100" tIns="76200" rIns="76200" bIns="38100" rtlCol="0" anchor="t"/>
          <a:lstStyle/>
          <a:p>
            <a:pPr marL="0" indent="0">
              <a:buNone/>
            </a:pPr>
            <a:r>
              <a:rPr lang="en-US" sz="800" b="1" dirty="0">
                <a:solidFill>
                  <a:srgbClr val="1B2A4A"/>
                </a:solidFill>
              </a:rPr>
              <a:t>Block 2-5: Context: </a:t>
            </a:r>
            <a:r>
              <a:rPr lang="en-US" sz="750" dirty="0">
                <a:solidFill>
                  <a:srgbClr val="666666"/>
                </a:solidFill>
              </a:rPr>
              <a:t>Clarification policy (static), pending clarifications (session metadata), resolved intent (turn metadata), active doc focus (session metadata). All optional — empty blocks are filtered out.</a:t>
            </a:r>
            <a:endParaRPr lang="en-US" sz="800" dirty="0"/>
          </a:p>
        </p:txBody>
      </p:sp>
      <p:sp>
        <p:nvSpPr>
          <p:cNvPr id="38" name="Text 36"/>
          <p:cNvSpPr/>
          <p:nvPr/>
        </p:nvSpPr>
        <p:spPr>
          <a:xfrm>
            <a:off x="502920" y="2660904"/>
            <a:ext cx="8138160" cy="347472"/>
          </a:xfrm>
          <a:prstGeom prst="rect">
            <a:avLst/>
          </a:prstGeom>
          <a:solidFill>
            <a:srgbClr val="F5F5F5"/>
          </a:solidFill>
          <a:ln/>
        </p:spPr>
        <p:txBody>
          <a:bodyPr wrap="square" lIns="38100" tIns="76200" rIns="76200" bIns="38100" rtlCol="0" anchor="t"/>
          <a:lstStyle/>
          <a:p>
            <a:pPr marL="0" indent="0">
              <a:buNone/>
            </a:pPr>
            <a:r>
              <a:rPr lang="en-US" sz="800" b="1" dirty="0">
                <a:solidFill>
                  <a:srgbClr val="1B2A4A"/>
                </a:solidFill>
              </a:rPr>
              <a:t>Block 6: Task Context: </a:t>
            </a:r>
            <a:r>
              <a:rPr lang="en-US" sz="750" dirty="0">
                <a:solidFill>
                  <a:srgbClr val="666666"/>
                </a:solidFill>
              </a:rPr>
              <a:t>Injected when coordinator delegates via spawn_worker. Contains task_payload with instructions, expected output format, and artifact references.</a:t>
            </a:r>
            <a:endParaRPr lang="en-US" sz="800" dirty="0"/>
          </a:p>
        </p:txBody>
      </p:sp>
      <p:sp>
        <p:nvSpPr>
          <p:cNvPr id="39" name="Text 37"/>
          <p:cNvSpPr/>
          <p:nvPr/>
        </p:nvSpPr>
        <p:spPr>
          <a:xfrm>
            <a:off x="502920" y="3008376"/>
            <a:ext cx="8138160" cy="347472"/>
          </a:xfrm>
          <a:prstGeom prst="rect">
            <a:avLst/>
          </a:prstGeom>
          <a:solidFill>
            <a:srgbClr val="FFFFFF"/>
          </a:solidFill>
          <a:ln/>
        </p:spPr>
        <p:txBody>
          <a:bodyPr wrap="square" lIns="38100" tIns="76200" rIns="76200" bIns="38100" rtlCol="0" anchor="t"/>
          <a:lstStyle/>
          <a:p>
            <a:pPr marL="0" indent="0">
              <a:buNone/>
            </a:pPr>
            <a:r>
              <a:rPr lang="en-US" sz="800" b="1" dirty="0">
                <a:solidFill>
                  <a:srgbClr val="1B2A4A"/>
                </a:solidFill>
              </a:rPr>
              <a:t>Block 7: Skill Context: </a:t>
            </a:r>
            <a:r>
              <a:rPr lang="en-US" sz="750" dirty="0">
                <a:solidFill>
                  <a:srgbClr val="666666"/>
                </a:solidFill>
              </a:rPr>
              <a:t>SkillResolver matches query against skill packs via vector + BM25 scoring. Top matches injected as domain expertise. 11 packs today, scoped per agent.</a:t>
            </a:r>
            <a:endParaRPr lang="en-US" sz="800" dirty="0"/>
          </a:p>
        </p:txBody>
      </p:sp>
      <p:sp>
        <p:nvSpPr>
          <p:cNvPr id="40" name="Text 38"/>
          <p:cNvSpPr/>
          <p:nvPr/>
        </p:nvSpPr>
        <p:spPr>
          <a:xfrm>
            <a:off x="502920" y="3355848"/>
            <a:ext cx="8138160" cy="347472"/>
          </a:xfrm>
          <a:prstGeom prst="rect">
            <a:avLst/>
          </a:prstGeom>
          <a:solidFill>
            <a:srgbClr val="F5F5F5"/>
          </a:solidFill>
          <a:ln/>
        </p:spPr>
        <p:txBody>
          <a:bodyPr wrap="square" lIns="38100" tIns="76200" rIns="76200" bIns="38100" rtlCol="0" anchor="t"/>
          <a:lstStyle/>
          <a:p>
            <a:pPr marL="0" indent="0">
              <a:buNone/>
            </a:pPr>
            <a:r>
              <a:rPr lang="en-US" sz="800" b="1" dirty="0">
                <a:solidFill>
                  <a:srgbClr val="1B2A4A"/>
                </a:solidFill>
              </a:rPr>
              <a:t>Block 8: Memory: </a:t>
            </a:r>
            <a:r>
              <a:rPr lang="en-US" sz="750" dirty="0">
                <a:solidFill>
                  <a:srgbClr val="666666"/>
                </a:solidFill>
              </a:rPr>
              <a:t>User-scoped and conversation-scoped memories from PostgresMemoryStore. Selected by MemorySelector (deterministic or LLM mode). Capped at ~6 candidates.</a:t>
            </a:r>
            <a:endParaRPr lang="en-US" sz="800" dirty="0"/>
          </a:p>
        </p:txBody>
      </p:sp>
      <p:sp>
        <p:nvSpPr>
          <p:cNvPr id="41" name="Shape 39"/>
          <p:cNvSpPr/>
          <p:nvPr/>
        </p:nvSpPr>
        <p:spPr>
          <a:xfrm>
            <a:off x="502920" y="3794760"/>
            <a:ext cx="8138160" cy="320040"/>
          </a:xfrm>
          <a:prstGeom prst="rect">
            <a:avLst/>
          </a:prstGeom>
          <a:solidFill>
            <a:srgbClr val="E0F7FA"/>
          </a:solidFill>
          <a:ln w="12700">
            <a:solidFill>
              <a:srgbClr val="0097A7"/>
            </a:solidFill>
            <a:prstDash val="solid"/>
          </a:ln>
        </p:spPr>
        <p:txBody>
          <a:bodyPr/>
          <a:lstStyle/>
          <a:p>
            <a:endParaRPr lang="en-US"/>
          </a:p>
        </p:txBody>
      </p:sp>
      <p:sp>
        <p:nvSpPr>
          <p:cNvPr id="42" name="Text 40"/>
          <p:cNvSpPr/>
          <p:nvPr/>
        </p:nvSpPr>
        <p:spPr>
          <a:xfrm>
            <a:off x="594360" y="3794760"/>
            <a:ext cx="7955280" cy="32004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Key gap: No reasoning protocol, self-reflection checkpoints, or confidence scoring injected into any block. Agents get missions and tools but no structured thinking instructions.</a:t>
            </a:r>
            <a:endParaRPr lang="en-US" sz="1000" dirty="0"/>
          </a:p>
        </p:txBody>
      </p:sp>
      <p:sp>
        <p:nvSpPr>
          <p:cNvPr id="43" name="Text 41"/>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runtime/query_loop.py (line 405), prompt_fallbacks.py (181 lines), skills/runtime.py (176 lines), data/agents/*.md (11 files)</a:t>
            </a:r>
            <a:endParaRPr lang="en-US" sz="90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8 Prompt Improvements for Agentic Reasoning</a:t>
            </a:r>
            <a:endParaRPr lang="en-US" sz="2600" dirty="0"/>
          </a:p>
        </p:txBody>
      </p:sp>
      <p:sp>
        <p:nvSpPr>
          <p:cNvPr id="3" name="Text 1"/>
          <p:cNvSpPr/>
          <p:nvPr/>
        </p:nvSpPr>
        <p:spPr>
          <a:xfrm>
            <a:off x="502920" y="804672"/>
            <a:ext cx="8138160" cy="228600"/>
          </a:xfrm>
          <a:prstGeom prst="rect">
            <a:avLst/>
          </a:prstGeom>
          <a:noFill/>
          <a:ln/>
        </p:spPr>
        <p:txBody>
          <a:bodyPr wrap="square" lIns="0" tIns="0" rIns="0" bIns="0" rtlCol="0" anchor="ctr"/>
          <a:lstStyle/>
          <a:p>
            <a:pPr marL="0" indent="0">
              <a:buNone/>
            </a:pPr>
            <a:r>
              <a:rPr lang="en-US" sz="1050" dirty="0">
                <a:solidFill>
                  <a:srgbClr val="666666"/>
                </a:solidFill>
                <a:latin typeface="Arial" pitchFamily="34" charset="0"/>
                <a:ea typeface="Arial" pitchFamily="34" charset="-122"/>
                <a:cs typeface="Arial" pitchFamily="34" charset="-120"/>
              </a:rPr>
              <a:t>Inject structured thinking instructions into every agent's system prompt. These patterns improve planning, tool use, error recovery, and output quality.</a:t>
            </a:r>
            <a:endParaRPr lang="en-US" sz="1050" dirty="0"/>
          </a:p>
        </p:txBody>
      </p:sp>
      <p:sp>
        <p:nvSpPr>
          <p:cNvPr id="4" name="Text 2"/>
          <p:cNvSpPr/>
          <p:nvPr/>
        </p:nvSpPr>
        <p:spPr>
          <a:xfrm>
            <a:off x="502920" y="1115568"/>
            <a:ext cx="274320" cy="256032"/>
          </a:xfrm>
          <a:prstGeom prst="rect">
            <a:avLst/>
          </a:prstGeom>
          <a:solidFill>
            <a:srgbClr val="1B2A4A"/>
          </a:solidFill>
          <a:ln/>
        </p:spPr>
        <p:txBody>
          <a:bodyPr wrap="square" lIns="25400" tIns="50800" rIns="50800" bIns="2540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a:t>
            </a:r>
            <a:endParaRPr lang="en-US" sz="850" dirty="0"/>
          </a:p>
        </p:txBody>
      </p:sp>
      <p:sp>
        <p:nvSpPr>
          <p:cNvPr id="5" name="Text 3"/>
          <p:cNvSpPr/>
          <p:nvPr/>
        </p:nvSpPr>
        <p:spPr>
          <a:xfrm>
            <a:off x="777240" y="1115568"/>
            <a:ext cx="1508760" cy="256032"/>
          </a:xfrm>
          <a:prstGeom prst="rect">
            <a:avLst/>
          </a:prstGeom>
          <a:solidFill>
            <a:srgbClr val="1B2A4A"/>
          </a:solidFill>
          <a:ln/>
        </p:spPr>
        <p:txBody>
          <a:bodyPr wrap="square" lIns="25400" tIns="50800" rIns="50800" bIns="2540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Improvement</a:t>
            </a:r>
            <a:endParaRPr lang="en-US" sz="850" dirty="0"/>
          </a:p>
        </p:txBody>
      </p:sp>
      <p:sp>
        <p:nvSpPr>
          <p:cNvPr id="6" name="Text 4"/>
          <p:cNvSpPr/>
          <p:nvPr/>
        </p:nvSpPr>
        <p:spPr>
          <a:xfrm>
            <a:off x="2286000" y="1115568"/>
            <a:ext cx="3108960" cy="256032"/>
          </a:xfrm>
          <a:prstGeom prst="rect">
            <a:avLst/>
          </a:prstGeom>
          <a:solidFill>
            <a:srgbClr val="1B2A4A"/>
          </a:solidFill>
          <a:ln/>
        </p:spPr>
        <p:txBody>
          <a:bodyPr wrap="square" lIns="25400" tIns="50800" rIns="50800" bIns="25400" rtlCol="0" anchor="ctr"/>
          <a:lstStyle/>
          <a:p>
            <a:pPr marL="0" indent="0" algn="l">
              <a:buNone/>
            </a:pPr>
            <a:r>
              <a:rPr lang="en-US" sz="850" b="1" dirty="0">
                <a:solidFill>
                  <a:srgbClr val="FFFFFF"/>
                </a:solidFill>
                <a:latin typeface="Arial" pitchFamily="34" charset="0"/>
                <a:ea typeface="Arial" pitchFamily="34" charset="-122"/>
                <a:cs typeface="Arial" pitchFamily="34" charset="-120"/>
              </a:rPr>
              <a:t>What to Add to System Prompt</a:t>
            </a:r>
            <a:endParaRPr lang="en-US" sz="850" dirty="0"/>
          </a:p>
        </p:txBody>
      </p:sp>
      <p:sp>
        <p:nvSpPr>
          <p:cNvPr id="7" name="Text 5"/>
          <p:cNvSpPr/>
          <p:nvPr/>
        </p:nvSpPr>
        <p:spPr>
          <a:xfrm>
            <a:off x="5394960" y="1115568"/>
            <a:ext cx="3246120" cy="256032"/>
          </a:xfrm>
          <a:prstGeom prst="rect">
            <a:avLst/>
          </a:prstGeom>
          <a:solidFill>
            <a:srgbClr val="1B2A4A"/>
          </a:solidFill>
          <a:ln/>
        </p:spPr>
        <p:txBody>
          <a:bodyPr wrap="square" lIns="25400" tIns="50800" rIns="50800" bIns="25400" rtlCol="0" anchor="ctr"/>
          <a:lstStyle/>
          <a:p>
            <a:pPr marL="0" indent="0" algn="l">
              <a:buNone/>
            </a:pPr>
            <a:r>
              <a:rPr lang="en-US" sz="850" b="1" dirty="0">
                <a:solidFill>
                  <a:srgbClr val="FFFFFF"/>
                </a:solidFill>
                <a:latin typeface="Arial" pitchFamily="34" charset="0"/>
                <a:ea typeface="Arial" pitchFamily="34" charset="-122"/>
                <a:cs typeface="Arial" pitchFamily="34" charset="-120"/>
              </a:rPr>
              <a:t>Why It Matters</a:t>
            </a:r>
            <a:endParaRPr lang="en-US" sz="850" dirty="0"/>
          </a:p>
        </p:txBody>
      </p:sp>
      <p:sp>
        <p:nvSpPr>
          <p:cNvPr id="8" name="Text 6"/>
          <p:cNvSpPr/>
          <p:nvPr/>
        </p:nvSpPr>
        <p:spPr>
          <a:xfrm>
            <a:off x="502920" y="1371600"/>
            <a:ext cx="274320" cy="384048"/>
          </a:xfrm>
          <a:prstGeom prst="rect">
            <a:avLst/>
          </a:prstGeom>
          <a:solidFill>
            <a:srgbClr val="F5F5F5"/>
          </a:solidFill>
          <a:ln/>
        </p:spPr>
        <p:txBody>
          <a:bodyPr wrap="square" lIns="25400" tIns="50800" rIns="50800" bIns="25400" rtlCol="0" anchor="t"/>
          <a:lstStyle/>
          <a:p>
            <a:pPr marL="0" indent="0" algn="ctr">
              <a:buNone/>
            </a:pPr>
            <a:r>
              <a:rPr lang="en-US" sz="700" b="1" dirty="0">
                <a:solidFill>
                  <a:srgbClr val="333333"/>
                </a:solidFill>
                <a:latin typeface="Arial" pitchFamily="34" charset="0"/>
                <a:ea typeface="Arial" pitchFamily="34" charset="-122"/>
                <a:cs typeface="Arial" pitchFamily="34" charset="-120"/>
              </a:rPr>
              <a:t>1</a:t>
            </a:r>
            <a:endParaRPr lang="en-US" sz="700" dirty="0"/>
          </a:p>
        </p:txBody>
      </p:sp>
      <p:sp>
        <p:nvSpPr>
          <p:cNvPr id="9" name="Text 7"/>
          <p:cNvSpPr/>
          <p:nvPr/>
        </p:nvSpPr>
        <p:spPr>
          <a:xfrm>
            <a:off x="777240" y="1371600"/>
            <a:ext cx="1508760" cy="384048"/>
          </a:xfrm>
          <a:prstGeom prst="rect">
            <a:avLst/>
          </a:prstGeom>
          <a:solidFill>
            <a:srgbClr val="F5F5F5"/>
          </a:solidFill>
          <a:ln/>
        </p:spPr>
        <p:txBody>
          <a:bodyPr wrap="square" lIns="25400" tIns="50800" rIns="50800" bIns="25400" rtlCol="0" anchor="t"/>
          <a:lstStyle/>
          <a:p>
            <a:pPr marL="0" indent="0" algn="ctr">
              <a:buNone/>
            </a:pPr>
            <a:r>
              <a:rPr lang="en-US" sz="700" b="1" dirty="0">
                <a:solidFill>
                  <a:srgbClr val="333333"/>
                </a:solidFill>
                <a:latin typeface="Arial" pitchFamily="34" charset="0"/>
                <a:ea typeface="Arial" pitchFamily="34" charset="-122"/>
                <a:cs typeface="Arial" pitchFamily="34" charset="-120"/>
              </a:rPr>
              <a:t>Reasoning</a:t>
            </a:r>
            <a:endParaRPr lang="en-US" sz="700" dirty="0"/>
          </a:p>
          <a:p>
            <a:pPr marL="0" indent="0" algn="ctr">
              <a:buNone/>
            </a:pPr>
            <a:r>
              <a:rPr lang="en-US" sz="700" b="1" dirty="0">
                <a:solidFill>
                  <a:srgbClr val="333333"/>
                </a:solidFill>
                <a:latin typeface="Arial" pitchFamily="34" charset="0"/>
                <a:ea typeface="Arial" pitchFamily="34" charset="-122"/>
                <a:cs typeface="Arial" pitchFamily="34" charset="-120"/>
              </a:rPr>
              <a:t>Protocol</a:t>
            </a:r>
            <a:endParaRPr lang="en-US" sz="700" dirty="0"/>
          </a:p>
        </p:txBody>
      </p:sp>
      <p:sp>
        <p:nvSpPr>
          <p:cNvPr id="10" name="Text 8"/>
          <p:cNvSpPr/>
          <p:nvPr/>
        </p:nvSpPr>
        <p:spPr>
          <a:xfrm>
            <a:off x="2286000" y="1371600"/>
            <a:ext cx="3108960" cy="384048"/>
          </a:xfrm>
          <a:prstGeom prst="rect">
            <a:avLst/>
          </a:prstGeom>
          <a:solidFill>
            <a:srgbClr val="F5F5F5"/>
          </a:solidFill>
          <a:ln/>
        </p:spPr>
        <p:txBody>
          <a:bodyPr wrap="square" lIns="25400" tIns="50800" rIns="50800" bIns="25400" rtlCol="0" anchor="t"/>
          <a:lstStyle/>
          <a:p>
            <a:pPr marL="0" indent="0" algn="l">
              <a:buNone/>
            </a:pPr>
            <a:r>
              <a:rPr lang="en-US" sz="700" dirty="0">
                <a:solidFill>
                  <a:srgbClr val="333333"/>
                </a:solidFill>
                <a:latin typeface="Arial" pitchFamily="34" charset="0"/>
                <a:ea typeface="Arial" pitchFamily="34" charset="-122"/>
                <a:cs typeface="Arial" pitchFamily="34" charset="-120"/>
              </a:rPr>
              <a:t>"Before invoking tools, list the sub-steps needed. After each tool result, evaluate: continue, verify, or escalate."</a:t>
            </a:r>
            <a:endParaRPr lang="en-US" sz="700" dirty="0"/>
          </a:p>
        </p:txBody>
      </p:sp>
      <p:sp>
        <p:nvSpPr>
          <p:cNvPr id="11" name="Text 9"/>
          <p:cNvSpPr/>
          <p:nvPr/>
        </p:nvSpPr>
        <p:spPr>
          <a:xfrm>
            <a:off x="5394960" y="1371600"/>
            <a:ext cx="3246120" cy="384048"/>
          </a:xfrm>
          <a:prstGeom prst="rect">
            <a:avLst/>
          </a:prstGeom>
          <a:solidFill>
            <a:srgbClr val="F5F5F5"/>
          </a:solidFill>
          <a:ln/>
        </p:spPr>
        <p:txBody>
          <a:bodyPr wrap="square" lIns="25400" tIns="50800" rIns="50800" bIns="25400" rtlCol="0" anchor="t"/>
          <a:lstStyle/>
          <a:p>
            <a:pPr marL="0" indent="0" algn="l">
              <a:buNone/>
            </a:pPr>
            <a:r>
              <a:rPr lang="en-US" sz="700" dirty="0">
                <a:solidFill>
                  <a:srgbClr val="333333"/>
                </a:solidFill>
                <a:latin typeface="Arial" pitchFamily="34" charset="0"/>
                <a:ea typeface="Arial" pitchFamily="34" charset="-122"/>
                <a:cs typeface="Arial" pitchFamily="34" charset="-120"/>
              </a:rPr>
              <a:t>Agents currently jump straight to tool calls. Explicit step decomposition reduces hallucination and improves multi-step task success.</a:t>
            </a:r>
            <a:endParaRPr lang="en-US" sz="700" dirty="0"/>
          </a:p>
        </p:txBody>
      </p:sp>
      <p:sp>
        <p:nvSpPr>
          <p:cNvPr id="12" name="Text 10"/>
          <p:cNvSpPr/>
          <p:nvPr/>
        </p:nvSpPr>
        <p:spPr>
          <a:xfrm>
            <a:off x="502920" y="1755648"/>
            <a:ext cx="274320" cy="384048"/>
          </a:xfrm>
          <a:prstGeom prst="rect">
            <a:avLst/>
          </a:prstGeom>
          <a:solidFill>
            <a:srgbClr val="FFFFFF"/>
          </a:solidFill>
          <a:ln/>
        </p:spPr>
        <p:txBody>
          <a:bodyPr wrap="square" lIns="25400" tIns="50800" rIns="50800" bIns="25400" rtlCol="0" anchor="t"/>
          <a:lstStyle/>
          <a:p>
            <a:pPr marL="0" indent="0" algn="ctr">
              <a:buNone/>
            </a:pPr>
            <a:r>
              <a:rPr lang="en-US" sz="700" b="1" dirty="0">
                <a:solidFill>
                  <a:srgbClr val="333333"/>
                </a:solidFill>
                <a:latin typeface="Arial" pitchFamily="34" charset="0"/>
                <a:ea typeface="Arial" pitchFamily="34" charset="-122"/>
                <a:cs typeface="Arial" pitchFamily="34" charset="-120"/>
              </a:rPr>
              <a:t>2</a:t>
            </a:r>
            <a:endParaRPr lang="en-US" sz="700" dirty="0"/>
          </a:p>
        </p:txBody>
      </p:sp>
      <p:sp>
        <p:nvSpPr>
          <p:cNvPr id="13" name="Text 11"/>
          <p:cNvSpPr/>
          <p:nvPr/>
        </p:nvSpPr>
        <p:spPr>
          <a:xfrm>
            <a:off x="777240" y="1755648"/>
            <a:ext cx="1508760" cy="384048"/>
          </a:xfrm>
          <a:prstGeom prst="rect">
            <a:avLst/>
          </a:prstGeom>
          <a:solidFill>
            <a:srgbClr val="FFFFFF"/>
          </a:solidFill>
          <a:ln/>
        </p:spPr>
        <p:txBody>
          <a:bodyPr wrap="square" lIns="25400" tIns="50800" rIns="50800" bIns="25400" rtlCol="0" anchor="t"/>
          <a:lstStyle/>
          <a:p>
            <a:pPr marL="0" indent="0" algn="ctr">
              <a:buNone/>
            </a:pPr>
            <a:r>
              <a:rPr lang="en-US" sz="700" b="1" dirty="0">
                <a:solidFill>
                  <a:srgbClr val="333333"/>
                </a:solidFill>
                <a:latin typeface="Arial" pitchFamily="34" charset="0"/>
                <a:ea typeface="Arial" pitchFamily="34" charset="-122"/>
                <a:cs typeface="Arial" pitchFamily="34" charset="-120"/>
              </a:rPr>
              <a:t>Confidence</a:t>
            </a:r>
            <a:endParaRPr lang="en-US" sz="700" dirty="0"/>
          </a:p>
          <a:p>
            <a:pPr marL="0" indent="0" algn="ctr">
              <a:buNone/>
            </a:pPr>
            <a:r>
              <a:rPr lang="en-US" sz="700" b="1" dirty="0">
                <a:solidFill>
                  <a:srgbClr val="333333"/>
                </a:solidFill>
                <a:latin typeface="Arial" pitchFamily="34" charset="0"/>
                <a:ea typeface="Arial" pitchFamily="34" charset="-122"/>
                <a:cs typeface="Arial" pitchFamily="34" charset="-120"/>
              </a:rPr>
              <a:t>Scoring</a:t>
            </a:r>
            <a:endParaRPr lang="en-US" sz="700" dirty="0"/>
          </a:p>
        </p:txBody>
      </p:sp>
      <p:sp>
        <p:nvSpPr>
          <p:cNvPr id="14" name="Text 12"/>
          <p:cNvSpPr/>
          <p:nvPr/>
        </p:nvSpPr>
        <p:spPr>
          <a:xfrm>
            <a:off x="2286000" y="1755648"/>
            <a:ext cx="3108960" cy="384048"/>
          </a:xfrm>
          <a:prstGeom prst="rect">
            <a:avLst/>
          </a:prstGeom>
          <a:solidFill>
            <a:srgbClr val="FFFFFF"/>
          </a:solidFill>
          <a:ln/>
        </p:spPr>
        <p:txBody>
          <a:bodyPr wrap="square" lIns="25400" tIns="50800" rIns="50800" bIns="25400" rtlCol="0" anchor="t"/>
          <a:lstStyle/>
          <a:p>
            <a:pPr marL="0" indent="0" algn="l">
              <a:buNone/>
            </a:pPr>
            <a:r>
              <a:rPr lang="en-US" sz="700" dirty="0">
                <a:solidFill>
                  <a:srgbClr val="333333"/>
                </a:solidFill>
                <a:latin typeface="Arial" pitchFamily="34" charset="0"/>
                <a:ea typeface="Arial" pitchFamily="34" charset="-122"/>
                <a:cs typeface="Arial" pitchFamily="34" charset="-120"/>
              </a:rPr>
              <a:t>"Rate your confidence 0.0-1.0 before answering. If &lt; 0.7, state what you're uncertain about. If &lt; 0.4, recommend verification."</a:t>
            </a:r>
            <a:endParaRPr lang="en-US" sz="700" dirty="0"/>
          </a:p>
        </p:txBody>
      </p:sp>
      <p:sp>
        <p:nvSpPr>
          <p:cNvPr id="15" name="Text 13"/>
          <p:cNvSpPr/>
          <p:nvPr/>
        </p:nvSpPr>
        <p:spPr>
          <a:xfrm>
            <a:off x="5394960" y="1755648"/>
            <a:ext cx="3246120" cy="384048"/>
          </a:xfrm>
          <a:prstGeom prst="rect">
            <a:avLst/>
          </a:prstGeom>
          <a:solidFill>
            <a:srgbClr val="FFFFFF"/>
          </a:solidFill>
          <a:ln/>
        </p:spPr>
        <p:txBody>
          <a:bodyPr wrap="square" lIns="25400" tIns="50800" rIns="50800" bIns="25400" rtlCol="0" anchor="t"/>
          <a:lstStyle/>
          <a:p>
            <a:pPr marL="0" indent="0" algn="l">
              <a:buNone/>
            </a:pPr>
            <a:r>
              <a:rPr lang="en-US" sz="700" dirty="0">
                <a:solidFill>
                  <a:srgbClr val="333333"/>
                </a:solidFill>
                <a:latin typeface="Arial" pitchFamily="34" charset="0"/>
                <a:ea typeface="Arial" pitchFamily="34" charset="-122"/>
                <a:cs typeface="Arial" pitchFamily="34" charset="-120"/>
              </a:rPr>
              <a:t>RAG agent has confidence_hint but no other agents do. Surfacing uncertainty helps users and enables automated verification.</a:t>
            </a:r>
            <a:endParaRPr lang="en-US" sz="700" dirty="0"/>
          </a:p>
        </p:txBody>
      </p:sp>
      <p:sp>
        <p:nvSpPr>
          <p:cNvPr id="16" name="Text 14"/>
          <p:cNvSpPr/>
          <p:nvPr/>
        </p:nvSpPr>
        <p:spPr>
          <a:xfrm>
            <a:off x="502920" y="2139696"/>
            <a:ext cx="274320" cy="384048"/>
          </a:xfrm>
          <a:prstGeom prst="rect">
            <a:avLst/>
          </a:prstGeom>
          <a:solidFill>
            <a:srgbClr val="F5F5F5"/>
          </a:solidFill>
          <a:ln/>
        </p:spPr>
        <p:txBody>
          <a:bodyPr wrap="square" lIns="25400" tIns="50800" rIns="50800" bIns="25400" rtlCol="0" anchor="t"/>
          <a:lstStyle/>
          <a:p>
            <a:pPr marL="0" indent="0" algn="ctr">
              <a:buNone/>
            </a:pPr>
            <a:r>
              <a:rPr lang="en-US" sz="700" b="1" dirty="0">
                <a:solidFill>
                  <a:srgbClr val="333333"/>
                </a:solidFill>
                <a:latin typeface="Arial" pitchFamily="34" charset="0"/>
                <a:ea typeface="Arial" pitchFamily="34" charset="-122"/>
                <a:cs typeface="Arial" pitchFamily="34" charset="-120"/>
              </a:rPr>
              <a:t>3</a:t>
            </a:r>
            <a:endParaRPr lang="en-US" sz="700" dirty="0"/>
          </a:p>
        </p:txBody>
      </p:sp>
      <p:sp>
        <p:nvSpPr>
          <p:cNvPr id="17" name="Text 15"/>
          <p:cNvSpPr/>
          <p:nvPr/>
        </p:nvSpPr>
        <p:spPr>
          <a:xfrm>
            <a:off x="777240" y="2139696"/>
            <a:ext cx="1508760" cy="384048"/>
          </a:xfrm>
          <a:prstGeom prst="rect">
            <a:avLst/>
          </a:prstGeom>
          <a:solidFill>
            <a:srgbClr val="F5F5F5"/>
          </a:solidFill>
          <a:ln/>
        </p:spPr>
        <p:txBody>
          <a:bodyPr wrap="square" lIns="25400" tIns="50800" rIns="50800" bIns="25400" rtlCol="0" anchor="t"/>
          <a:lstStyle/>
          <a:p>
            <a:pPr marL="0" indent="0" algn="ctr">
              <a:buNone/>
            </a:pPr>
            <a:r>
              <a:rPr lang="en-US" sz="700" b="1" dirty="0">
                <a:solidFill>
                  <a:srgbClr val="333333"/>
                </a:solidFill>
                <a:latin typeface="Arial" pitchFamily="34" charset="0"/>
                <a:ea typeface="Arial" pitchFamily="34" charset="-122"/>
                <a:cs typeface="Arial" pitchFamily="34" charset="-120"/>
              </a:rPr>
              <a:t>Self-Reflection</a:t>
            </a:r>
            <a:endParaRPr lang="en-US" sz="700" dirty="0"/>
          </a:p>
          <a:p>
            <a:pPr marL="0" indent="0" algn="ctr">
              <a:buNone/>
            </a:pPr>
            <a:r>
              <a:rPr lang="en-US" sz="700" b="1" dirty="0">
                <a:solidFill>
                  <a:srgbClr val="333333"/>
                </a:solidFill>
                <a:latin typeface="Arial" pitchFamily="34" charset="0"/>
                <a:ea typeface="Arial" pitchFamily="34" charset="-122"/>
                <a:cs typeface="Arial" pitchFamily="34" charset="-120"/>
              </a:rPr>
              <a:t>Checkpoints</a:t>
            </a:r>
            <a:endParaRPr lang="en-US" sz="700" dirty="0"/>
          </a:p>
        </p:txBody>
      </p:sp>
      <p:sp>
        <p:nvSpPr>
          <p:cNvPr id="18" name="Text 16"/>
          <p:cNvSpPr/>
          <p:nvPr/>
        </p:nvSpPr>
        <p:spPr>
          <a:xfrm>
            <a:off x="2286000" y="2139696"/>
            <a:ext cx="3108960" cy="384048"/>
          </a:xfrm>
          <a:prstGeom prst="rect">
            <a:avLst/>
          </a:prstGeom>
          <a:solidFill>
            <a:srgbClr val="F5F5F5"/>
          </a:solidFill>
          <a:ln/>
        </p:spPr>
        <p:txBody>
          <a:bodyPr wrap="square" lIns="25400" tIns="50800" rIns="50800" bIns="25400" rtlCol="0" anchor="t"/>
          <a:lstStyle/>
          <a:p>
            <a:pPr marL="0" indent="0" algn="l">
              <a:buNone/>
            </a:pPr>
            <a:r>
              <a:rPr lang="en-US" sz="700" dirty="0">
                <a:solidFill>
                  <a:srgbClr val="333333"/>
                </a:solidFill>
                <a:latin typeface="Arial" pitchFamily="34" charset="0"/>
                <a:ea typeface="Arial" pitchFamily="34" charset="-122"/>
                <a:cs typeface="Arial" pitchFamily="34" charset="-120"/>
              </a:rPr>
              <a:t>"After every 3+ tool calls, pause and review: Is my approach working? Have I found contradictory evidence? Should I change strategy?"</a:t>
            </a:r>
            <a:endParaRPr lang="en-US" sz="700" dirty="0"/>
          </a:p>
        </p:txBody>
      </p:sp>
      <p:sp>
        <p:nvSpPr>
          <p:cNvPr id="19" name="Text 17"/>
          <p:cNvSpPr/>
          <p:nvPr/>
        </p:nvSpPr>
        <p:spPr>
          <a:xfrm>
            <a:off x="5394960" y="2139696"/>
            <a:ext cx="3246120" cy="384048"/>
          </a:xfrm>
          <a:prstGeom prst="rect">
            <a:avLst/>
          </a:prstGeom>
          <a:solidFill>
            <a:srgbClr val="F5F5F5"/>
          </a:solidFill>
          <a:ln/>
        </p:spPr>
        <p:txBody>
          <a:bodyPr wrap="square" lIns="25400" tIns="50800" rIns="50800" bIns="25400" rtlCol="0" anchor="t"/>
          <a:lstStyle/>
          <a:p>
            <a:pPr marL="0" indent="0" algn="l">
              <a:buNone/>
            </a:pPr>
            <a:r>
              <a:rPr lang="en-US" sz="700" dirty="0">
                <a:solidFill>
                  <a:srgbClr val="333333"/>
                </a:solidFill>
                <a:latin typeface="Arial" pitchFamily="34" charset="0"/>
                <a:ea typeface="Arial" pitchFamily="34" charset="-122"/>
                <a:cs typeface="Arial" pitchFamily="34" charset="-120"/>
              </a:rPr>
              <a:t>Long tool chains drift without checkpoints. This mirrors human expert behavior of periodically reassessing approach.</a:t>
            </a:r>
            <a:endParaRPr lang="en-US" sz="700" dirty="0"/>
          </a:p>
        </p:txBody>
      </p:sp>
      <p:sp>
        <p:nvSpPr>
          <p:cNvPr id="20" name="Text 18"/>
          <p:cNvSpPr/>
          <p:nvPr/>
        </p:nvSpPr>
        <p:spPr>
          <a:xfrm>
            <a:off x="502920" y="2523744"/>
            <a:ext cx="274320" cy="384048"/>
          </a:xfrm>
          <a:prstGeom prst="rect">
            <a:avLst/>
          </a:prstGeom>
          <a:solidFill>
            <a:srgbClr val="FFFFFF"/>
          </a:solidFill>
          <a:ln/>
        </p:spPr>
        <p:txBody>
          <a:bodyPr wrap="square" lIns="25400" tIns="50800" rIns="50800" bIns="25400" rtlCol="0" anchor="t"/>
          <a:lstStyle/>
          <a:p>
            <a:pPr marL="0" indent="0" algn="ctr">
              <a:buNone/>
            </a:pPr>
            <a:r>
              <a:rPr lang="en-US" sz="700" b="1" dirty="0">
                <a:solidFill>
                  <a:srgbClr val="333333"/>
                </a:solidFill>
                <a:latin typeface="Arial" pitchFamily="34" charset="0"/>
                <a:ea typeface="Arial" pitchFamily="34" charset="-122"/>
                <a:cs typeface="Arial" pitchFamily="34" charset="-120"/>
              </a:rPr>
              <a:t>4</a:t>
            </a:r>
            <a:endParaRPr lang="en-US" sz="700" dirty="0"/>
          </a:p>
        </p:txBody>
      </p:sp>
      <p:sp>
        <p:nvSpPr>
          <p:cNvPr id="21" name="Text 19"/>
          <p:cNvSpPr/>
          <p:nvPr/>
        </p:nvSpPr>
        <p:spPr>
          <a:xfrm>
            <a:off x="777240" y="2523744"/>
            <a:ext cx="1508760" cy="384048"/>
          </a:xfrm>
          <a:prstGeom prst="rect">
            <a:avLst/>
          </a:prstGeom>
          <a:solidFill>
            <a:srgbClr val="FFFFFF"/>
          </a:solidFill>
          <a:ln/>
        </p:spPr>
        <p:txBody>
          <a:bodyPr wrap="square" lIns="25400" tIns="50800" rIns="50800" bIns="25400" rtlCol="0" anchor="t"/>
          <a:lstStyle/>
          <a:p>
            <a:pPr marL="0" indent="0" algn="ctr">
              <a:buNone/>
            </a:pPr>
            <a:r>
              <a:rPr lang="en-US" sz="700" b="1" dirty="0">
                <a:solidFill>
                  <a:srgbClr val="333333"/>
                </a:solidFill>
                <a:latin typeface="Arial" pitchFamily="34" charset="0"/>
                <a:ea typeface="Arial" pitchFamily="34" charset="-122"/>
                <a:cs typeface="Arial" pitchFamily="34" charset="-120"/>
              </a:rPr>
              <a:t>Tool Selection</a:t>
            </a:r>
            <a:endParaRPr lang="en-US" sz="700" dirty="0"/>
          </a:p>
          <a:p>
            <a:pPr marL="0" indent="0" algn="ctr">
              <a:buNone/>
            </a:pPr>
            <a:r>
              <a:rPr lang="en-US" sz="700" b="1" dirty="0">
                <a:solidFill>
                  <a:srgbClr val="333333"/>
                </a:solidFill>
                <a:latin typeface="Arial" pitchFamily="34" charset="0"/>
                <a:ea typeface="Arial" pitchFamily="34" charset="-122"/>
                <a:cs typeface="Arial" pitchFamily="34" charset="-120"/>
              </a:rPr>
              <a:t>Justification</a:t>
            </a:r>
            <a:endParaRPr lang="en-US" sz="700" dirty="0"/>
          </a:p>
        </p:txBody>
      </p:sp>
      <p:sp>
        <p:nvSpPr>
          <p:cNvPr id="22" name="Text 20"/>
          <p:cNvSpPr/>
          <p:nvPr/>
        </p:nvSpPr>
        <p:spPr>
          <a:xfrm>
            <a:off x="2286000" y="2523744"/>
            <a:ext cx="3108960" cy="384048"/>
          </a:xfrm>
          <a:prstGeom prst="rect">
            <a:avLst/>
          </a:prstGeom>
          <a:solidFill>
            <a:srgbClr val="FFFFFF"/>
          </a:solidFill>
          <a:ln/>
        </p:spPr>
        <p:txBody>
          <a:bodyPr wrap="square" lIns="25400" tIns="50800" rIns="50800" bIns="25400" rtlCol="0" anchor="t"/>
          <a:lstStyle/>
          <a:p>
            <a:pPr marL="0" indent="0" algn="l">
              <a:buNone/>
            </a:pPr>
            <a:r>
              <a:rPr lang="en-US" sz="700" dirty="0">
                <a:solidFill>
                  <a:srgbClr val="333333"/>
                </a:solidFill>
                <a:latin typeface="Arial" pitchFamily="34" charset="0"/>
                <a:ea typeface="Arial" pitchFamily="34" charset="-122"/>
                <a:cs typeface="Arial" pitchFamily="34" charset="-120"/>
              </a:rPr>
              <a:t>"When multiple tools could work, briefly explain why you chose this one. Consider: specificity, reliability, and whether the task needs verified facts."</a:t>
            </a:r>
            <a:endParaRPr lang="en-US" sz="700" dirty="0"/>
          </a:p>
        </p:txBody>
      </p:sp>
      <p:sp>
        <p:nvSpPr>
          <p:cNvPr id="23" name="Text 21"/>
          <p:cNvSpPr/>
          <p:nvPr/>
        </p:nvSpPr>
        <p:spPr>
          <a:xfrm>
            <a:off x="5394960" y="2523744"/>
            <a:ext cx="3246120" cy="384048"/>
          </a:xfrm>
          <a:prstGeom prst="rect">
            <a:avLst/>
          </a:prstGeom>
          <a:solidFill>
            <a:srgbClr val="FFFFFF"/>
          </a:solidFill>
          <a:ln/>
        </p:spPr>
        <p:txBody>
          <a:bodyPr wrap="square" lIns="25400" tIns="50800" rIns="50800" bIns="25400" rtlCol="0" anchor="t"/>
          <a:lstStyle/>
          <a:p>
            <a:pPr marL="0" indent="0" algn="l">
              <a:buNone/>
            </a:pPr>
            <a:r>
              <a:rPr lang="en-US" sz="700" dirty="0">
                <a:solidFill>
                  <a:srgbClr val="333333"/>
                </a:solidFill>
                <a:latin typeface="Arial" pitchFamily="34" charset="0"/>
                <a:ea typeface="Arial" pitchFamily="34" charset="-122"/>
                <a:cs typeface="Arial" pitchFamily="34" charset="-120"/>
              </a:rPr>
              <a:t>Agents are told 'use the narrowest tool' but not how to reason about it. Explicit justification improves tool choice quality.</a:t>
            </a:r>
            <a:endParaRPr lang="en-US" sz="700" dirty="0"/>
          </a:p>
        </p:txBody>
      </p:sp>
      <p:sp>
        <p:nvSpPr>
          <p:cNvPr id="24" name="Text 22"/>
          <p:cNvSpPr/>
          <p:nvPr/>
        </p:nvSpPr>
        <p:spPr>
          <a:xfrm>
            <a:off x="502920" y="2907792"/>
            <a:ext cx="274320" cy="384048"/>
          </a:xfrm>
          <a:prstGeom prst="rect">
            <a:avLst/>
          </a:prstGeom>
          <a:solidFill>
            <a:srgbClr val="F5F5F5"/>
          </a:solidFill>
          <a:ln/>
        </p:spPr>
        <p:txBody>
          <a:bodyPr wrap="square" lIns="25400" tIns="50800" rIns="50800" bIns="25400" rtlCol="0" anchor="t"/>
          <a:lstStyle/>
          <a:p>
            <a:pPr marL="0" indent="0" algn="ctr">
              <a:buNone/>
            </a:pPr>
            <a:r>
              <a:rPr lang="en-US" sz="700" b="1" dirty="0">
                <a:solidFill>
                  <a:srgbClr val="333333"/>
                </a:solidFill>
                <a:latin typeface="Arial" pitchFamily="34" charset="0"/>
                <a:ea typeface="Arial" pitchFamily="34" charset="-122"/>
                <a:cs typeface="Arial" pitchFamily="34" charset="-120"/>
              </a:rPr>
              <a:t>5</a:t>
            </a:r>
            <a:endParaRPr lang="en-US" sz="700" dirty="0"/>
          </a:p>
        </p:txBody>
      </p:sp>
      <p:sp>
        <p:nvSpPr>
          <p:cNvPr id="25" name="Text 23"/>
          <p:cNvSpPr/>
          <p:nvPr/>
        </p:nvSpPr>
        <p:spPr>
          <a:xfrm>
            <a:off x="777240" y="2907792"/>
            <a:ext cx="1508760" cy="384048"/>
          </a:xfrm>
          <a:prstGeom prst="rect">
            <a:avLst/>
          </a:prstGeom>
          <a:solidFill>
            <a:srgbClr val="F5F5F5"/>
          </a:solidFill>
          <a:ln/>
        </p:spPr>
        <p:txBody>
          <a:bodyPr wrap="square" lIns="25400" tIns="50800" rIns="50800" bIns="25400" rtlCol="0" anchor="t"/>
          <a:lstStyle/>
          <a:p>
            <a:pPr marL="0" indent="0" algn="ctr">
              <a:buNone/>
            </a:pPr>
            <a:r>
              <a:rPr lang="en-US" sz="700" b="1" dirty="0">
                <a:solidFill>
                  <a:srgbClr val="333333"/>
                </a:solidFill>
                <a:latin typeface="Arial" pitchFamily="34" charset="0"/>
                <a:ea typeface="Arial" pitchFamily="34" charset="-122"/>
                <a:cs typeface="Arial" pitchFamily="34" charset="-120"/>
              </a:rPr>
              <a:t>Error Recovery</a:t>
            </a:r>
            <a:endParaRPr lang="en-US" sz="700" dirty="0"/>
          </a:p>
          <a:p>
            <a:pPr marL="0" indent="0" algn="ctr">
              <a:buNone/>
            </a:pPr>
            <a:r>
              <a:rPr lang="en-US" sz="700" b="1" dirty="0">
                <a:solidFill>
                  <a:srgbClr val="333333"/>
                </a:solidFill>
                <a:latin typeface="Arial" pitchFamily="34" charset="0"/>
                <a:ea typeface="Arial" pitchFamily="34" charset="-122"/>
                <a:cs typeface="Arial" pitchFamily="34" charset="-120"/>
              </a:rPr>
              <a:t>Playbook</a:t>
            </a:r>
            <a:endParaRPr lang="en-US" sz="700" dirty="0"/>
          </a:p>
        </p:txBody>
      </p:sp>
      <p:sp>
        <p:nvSpPr>
          <p:cNvPr id="26" name="Text 24"/>
          <p:cNvSpPr/>
          <p:nvPr/>
        </p:nvSpPr>
        <p:spPr>
          <a:xfrm>
            <a:off x="2286000" y="2907792"/>
            <a:ext cx="3108960" cy="384048"/>
          </a:xfrm>
          <a:prstGeom prst="rect">
            <a:avLst/>
          </a:prstGeom>
          <a:solidFill>
            <a:srgbClr val="F5F5F5"/>
          </a:solidFill>
          <a:ln/>
        </p:spPr>
        <p:txBody>
          <a:bodyPr wrap="square" lIns="25400" tIns="50800" rIns="50800" bIns="25400" rtlCol="0" anchor="t"/>
          <a:lstStyle/>
          <a:p>
            <a:pPr marL="0" indent="0" algn="l">
              <a:buNone/>
            </a:pPr>
            <a:r>
              <a:rPr lang="en-US" sz="700" dirty="0">
                <a:solidFill>
                  <a:srgbClr val="333333"/>
                </a:solidFill>
                <a:latin typeface="Arial" pitchFamily="34" charset="0"/>
                <a:ea typeface="Arial" pitchFamily="34" charset="-122"/>
                <a:cs typeface="Arial" pitchFamily="34" charset="-120"/>
              </a:rPr>
              <a:t>"On tool failure: 1) Check if input was malformed. 2) Try an alternative tool. 3) If no alternative, tell the user what failed and why. Never silently skip."</a:t>
            </a:r>
            <a:endParaRPr lang="en-US" sz="700" dirty="0"/>
          </a:p>
        </p:txBody>
      </p:sp>
      <p:sp>
        <p:nvSpPr>
          <p:cNvPr id="27" name="Text 25"/>
          <p:cNvSpPr/>
          <p:nvPr/>
        </p:nvSpPr>
        <p:spPr>
          <a:xfrm>
            <a:off x="5394960" y="2907792"/>
            <a:ext cx="3246120" cy="384048"/>
          </a:xfrm>
          <a:prstGeom prst="rect">
            <a:avLst/>
          </a:prstGeom>
          <a:solidFill>
            <a:srgbClr val="F5F5F5"/>
          </a:solidFill>
          <a:ln/>
        </p:spPr>
        <p:txBody>
          <a:bodyPr wrap="square" lIns="25400" tIns="50800" rIns="50800" bIns="25400" rtlCol="0" anchor="t"/>
          <a:lstStyle/>
          <a:p>
            <a:pPr marL="0" indent="0" algn="l">
              <a:buNone/>
            </a:pPr>
            <a:r>
              <a:rPr lang="en-US" sz="700" dirty="0">
                <a:solidFill>
                  <a:srgbClr val="333333"/>
                </a:solidFill>
                <a:latin typeface="Arial" pitchFamily="34" charset="0"/>
                <a:ea typeface="Arial" pitchFamily="34" charset="-122"/>
                <a:cs typeface="Arial" pitchFamily="34" charset="-120"/>
              </a:rPr>
              <a:t>Only general and utility agents have recovery guidance. A universal playbook prevents silent failures across all 11 agents.</a:t>
            </a:r>
            <a:endParaRPr lang="en-US" sz="700" dirty="0"/>
          </a:p>
        </p:txBody>
      </p:sp>
      <p:sp>
        <p:nvSpPr>
          <p:cNvPr id="28" name="Text 26"/>
          <p:cNvSpPr/>
          <p:nvPr/>
        </p:nvSpPr>
        <p:spPr>
          <a:xfrm>
            <a:off x="502920" y="3291840"/>
            <a:ext cx="274320" cy="384048"/>
          </a:xfrm>
          <a:prstGeom prst="rect">
            <a:avLst/>
          </a:prstGeom>
          <a:solidFill>
            <a:srgbClr val="FFFFFF"/>
          </a:solidFill>
          <a:ln/>
        </p:spPr>
        <p:txBody>
          <a:bodyPr wrap="square" lIns="25400" tIns="50800" rIns="50800" bIns="25400" rtlCol="0" anchor="t"/>
          <a:lstStyle/>
          <a:p>
            <a:pPr marL="0" indent="0" algn="ctr">
              <a:buNone/>
            </a:pPr>
            <a:r>
              <a:rPr lang="en-US" sz="700" b="1" dirty="0">
                <a:solidFill>
                  <a:srgbClr val="333333"/>
                </a:solidFill>
                <a:latin typeface="Arial" pitchFamily="34" charset="0"/>
                <a:ea typeface="Arial" pitchFamily="34" charset="-122"/>
                <a:cs typeface="Arial" pitchFamily="34" charset="-120"/>
              </a:rPr>
              <a:t>6</a:t>
            </a:r>
            <a:endParaRPr lang="en-US" sz="700" dirty="0"/>
          </a:p>
        </p:txBody>
      </p:sp>
      <p:sp>
        <p:nvSpPr>
          <p:cNvPr id="29" name="Text 27"/>
          <p:cNvSpPr/>
          <p:nvPr/>
        </p:nvSpPr>
        <p:spPr>
          <a:xfrm>
            <a:off x="777240" y="3291840"/>
            <a:ext cx="1508760" cy="384048"/>
          </a:xfrm>
          <a:prstGeom prst="rect">
            <a:avLst/>
          </a:prstGeom>
          <a:solidFill>
            <a:srgbClr val="FFFFFF"/>
          </a:solidFill>
          <a:ln/>
        </p:spPr>
        <p:txBody>
          <a:bodyPr wrap="square" lIns="25400" tIns="50800" rIns="50800" bIns="25400" rtlCol="0" anchor="t"/>
          <a:lstStyle/>
          <a:p>
            <a:pPr marL="0" indent="0" algn="ctr">
              <a:buNone/>
            </a:pPr>
            <a:r>
              <a:rPr lang="en-US" sz="700" b="1" dirty="0">
                <a:solidFill>
                  <a:srgbClr val="333333"/>
                </a:solidFill>
                <a:latin typeface="Arial" pitchFamily="34" charset="0"/>
                <a:ea typeface="Arial" pitchFamily="34" charset="-122"/>
                <a:cs typeface="Arial" pitchFamily="34" charset="-120"/>
              </a:rPr>
              <a:t>Memory Trust</a:t>
            </a:r>
            <a:endParaRPr lang="en-US" sz="700" dirty="0"/>
          </a:p>
          <a:p>
            <a:pPr marL="0" indent="0" algn="ctr">
              <a:buNone/>
            </a:pPr>
            <a:r>
              <a:rPr lang="en-US" sz="700" b="1" dirty="0">
                <a:solidFill>
                  <a:srgbClr val="333333"/>
                </a:solidFill>
                <a:latin typeface="Arial" pitchFamily="34" charset="0"/>
                <a:ea typeface="Arial" pitchFamily="34" charset="-122"/>
                <a:cs typeface="Arial" pitchFamily="34" charset="-120"/>
              </a:rPr>
              <a:t>Framework</a:t>
            </a:r>
            <a:endParaRPr lang="en-US" sz="700" dirty="0"/>
          </a:p>
        </p:txBody>
      </p:sp>
      <p:sp>
        <p:nvSpPr>
          <p:cNvPr id="30" name="Text 28"/>
          <p:cNvSpPr/>
          <p:nvPr/>
        </p:nvSpPr>
        <p:spPr>
          <a:xfrm>
            <a:off x="2286000" y="3291840"/>
            <a:ext cx="3108960" cy="384048"/>
          </a:xfrm>
          <a:prstGeom prst="rect">
            <a:avLst/>
          </a:prstGeom>
          <a:solidFill>
            <a:srgbClr val="FFFFFF"/>
          </a:solidFill>
          <a:ln/>
        </p:spPr>
        <p:txBody>
          <a:bodyPr wrap="square" lIns="25400" tIns="50800" rIns="50800" bIns="25400" rtlCol="0" anchor="t"/>
          <a:lstStyle/>
          <a:p>
            <a:pPr marL="0" indent="0" algn="l">
              <a:buNone/>
            </a:pPr>
            <a:r>
              <a:rPr lang="en-US" sz="700" dirty="0">
                <a:solidFill>
                  <a:srgbClr val="333333"/>
                </a:solidFill>
                <a:latin typeface="Arial" pitchFamily="34" charset="0"/>
                <a:ea typeface="Arial" pitchFamily="34" charset="-122"/>
                <a:cs typeface="Arial" pitchFamily="34" charset="-120"/>
              </a:rPr>
              <a:t>"Memory entries may be outdated. Trust: verified facts from this session &gt; recent memories &gt; old memories. Flag stale facts with [from memory]."</a:t>
            </a:r>
            <a:endParaRPr lang="en-US" sz="700" dirty="0"/>
          </a:p>
        </p:txBody>
      </p:sp>
      <p:sp>
        <p:nvSpPr>
          <p:cNvPr id="31" name="Text 29"/>
          <p:cNvSpPr/>
          <p:nvPr/>
        </p:nvSpPr>
        <p:spPr>
          <a:xfrm>
            <a:off x="5394960" y="3291840"/>
            <a:ext cx="3246120" cy="384048"/>
          </a:xfrm>
          <a:prstGeom prst="rect">
            <a:avLst/>
          </a:prstGeom>
          <a:solidFill>
            <a:srgbClr val="FFFFFF"/>
          </a:solidFill>
          <a:ln/>
        </p:spPr>
        <p:txBody>
          <a:bodyPr wrap="square" lIns="25400" tIns="50800" rIns="50800" bIns="25400" rtlCol="0" anchor="t"/>
          <a:lstStyle/>
          <a:p>
            <a:pPr marL="0" indent="0" algn="l">
              <a:buNone/>
            </a:pPr>
            <a:r>
              <a:rPr lang="en-US" sz="700" dirty="0">
                <a:solidFill>
                  <a:srgbClr val="333333"/>
                </a:solidFill>
                <a:latin typeface="Arial" pitchFamily="34" charset="0"/>
                <a:ea typeface="Arial" pitchFamily="34" charset="-122"/>
                <a:cs typeface="Arial" pitchFamily="34" charset="-120"/>
              </a:rPr>
              <a:t>Memory context is injected without freshness guidance. Agents treat old memories as ground truth, causing stale-fact errors.</a:t>
            </a:r>
            <a:endParaRPr lang="en-US" sz="700" dirty="0"/>
          </a:p>
        </p:txBody>
      </p:sp>
      <p:sp>
        <p:nvSpPr>
          <p:cNvPr id="32" name="Text 30"/>
          <p:cNvSpPr/>
          <p:nvPr/>
        </p:nvSpPr>
        <p:spPr>
          <a:xfrm>
            <a:off x="502920" y="3675888"/>
            <a:ext cx="274320" cy="384048"/>
          </a:xfrm>
          <a:prstGeom prst="rect">
            <a:avLst/>
          </a:prstGeom>
          <a:solidFill>
            <a:srgbClr val="F5F5F5"/>
          </a:solidFill>
          <a:ln/>
        </p:spPr>
        <p:txBody>
          <a:bodyPr wrap="square" lIns="25400" tIns="50800" rIns="50800" bIns="25400" rtlCol="0" anchor="t"/>
          <a:lstStyle/>
          <a:p>
            <a:pPr marL="0" indent="0" algn="ctr">
              <a:buNone/>
            </a:pPr>
            <a:r>
              <a:rPr lang="en-US" sz="700" b="1" dirty="0">
                <a:solidFill>
                  <a:srgbClr val="333333"/>
                </a:solidFill>
                <a:latin typeface="Arial" pitchFamily="34" charset="0"/>
                <a:ea typeface="Arial" pitchFamily="34" charset="-122"/>
                <a:cs typeface="Arial" pitchFamily="34" charset="-120"/>
              </a:rPr>
              <a:t>7</a:t>
            </a:r>
            <a:endParaRPr lang="en-US" sz="700" dirty="0"/>
          </a:p>
        </p:txBody>
      </p:sp>
      <p:sp>
        <p:nvSpPr>
          <p:cNvPr id="33" name="Text 31"/>
          <p:cNvSpPr/>
          <p:nvPr/>
        </p:nvSpPr>
        <p:spPr>
          <a:xfrm>
            <a:off x="777240" y="3675888"/>
            <a:ext cx="1508760" cy="384048"/>
          </a:xfrm>
          <a:prstGeom prst="rect">
            <a:avLst/>
          </a:prstGeom>
          <a:solidFill>
            <a:srgbClr val="F5F5F5"/>
          </a:solidFill>
          <a:ln/>
        </p:spPr>
        <p:txBody>
          <a:bodyPr wrap="square" lIns="25400" tIns="50800" rIns="50800" bIns="25400" rtlCol="0" anchor="t"/>
          <a:lstStyle/>
          <a:p>
            <a:pPr marL="0" indent="0" algn="ctr">
              <a:buNone/>
            </a:pPr>
            <a:r>
              <a:rPr lang="en-US" sz="700" b="1" dirty="0">
                <a:solidFill>
                  <a:srgbClr val="333333"/>
                </a:solidFill>
                <a:latin typeface="Arial" pitchFamily="34" charset="0"/>
                <a:ea typeface="Arial" pitchFamily="34" charset="-122"/>
                <a:cs typeface="Arial" pitchFamily="34" charset="-120"/>
              </a:rPr>
              <a:t>Output Format</a:t>
            </a:r>
            <a:endParaRPr lang="en-US" sz="700" dirty="0"/>
          </a:p>
          <a:p>
            <a:pPr marL="0" indent="0" algn="ctr">
              <a:buNone/>
            </a:pPr>
            <a:r>
              <a:rPr lang="en-US" sz="700" b="1" dirty="0">
                <a:solidFill>
                  <a:srgbClr val="333333"/>
                </a:solidFill>
                <a:latin typeface="Arial" pitchFamily="34" charset="0"/>
                <a:ea typeface="Arial" pitchFamily="34" charset="-122"/>
                <a:cs typeface="Arial" pitchFamily="34" charset="-120"/>
              </a:rPr>
              <a:t>Contract</a:t>
            </a:r>
            <a:endParaRPr lang="en-US" sz="700" dirty="0"/>
          </a:p>
        </p:txBody>
      </p:sp>
      <p:sp>
        <p:nvSpPr>
          <p:cNvPr id="34" name="Text 32"/>
          <p:cNvSpPr/>
          <p:nvPr/>
        </p:nvSpPr>
        <p:spPr>
          <a:xfrm>
            <a:off x="2286000" y="3675888"/>
            <a:ext cx="3108960" cy="384048"/>
          </a:xfrm>
          <a:prstGeom prst="rect">
            <a:avLst/>
          </a:prstGeom>
          <a:solidFill>
            <a:srgbClr val="F5F5F5"/>
          </a:solidFill>
          <a:ln/>
        </p:spPr>
        <p:txBody>
          <a:bodyPr wrap="square" lIns="25400" tIns="50800" rIns="50800" bIns="25400" rtlCol="0" anchor="t"/>
          <a:lstStyle/>
          <a:p>
            <a:pPr marL="0" indent="0" algn="l">
              <a:buNone/>
            </a:pPr>
            <a:r>
              <a:rPr lang="en-US" sz="700" dirty="0">
                <a:solidFill>
                  <a:srgbClr val="333333"/>
                </a:solidFill>
                <a:latin typeface="Arial" pitchFamily="34" charset="0"/>
                <a:ea typeface="Arial" pitchFamily="34" charset="-122"/>
                <a:cs typeface="Arial" pitchFamily="34" charset="-120"/>
              </a:rPr>
              <a:t>"Match response format to task type: factual Q&amp;A → concise paragraph; analysis → structured sections; code → formatted blocks with explanation."</a:t>
            </a:r>
            <a:endParaRPr lang="en-US" sz="700" dirty="0"/>
          </a:p>
        </p:txBody>
      </p:sp>
      <p:sp>
        <p:nvSpPr>
          <p:cNvPr id="35" name="Text 33"/>
          <p:cNvSpPr/>
          <p:nvPr/>
        </p:nvSpPr>
        <p:spPr>
          <a:xfrm>
            <a:off x="5394960" y="3675888"/>
            <a:ext cx="3246120" cy="384048"/>
          </a:xfrm>
          <a:prstGeom prst="rect">
            <a:avLst/>
          </a:prstGeom>
          <a:solidFill>
            <a:srgbClr val="F5F5F5"/>
          </a:solidFill>
          <a:ln/>
        </p:spPr>
        <p:txBody>
          <a:bodyPr wrap="square" lIns="25400" tIns="50800" rIns="50800" bIns="25400" rtlCol="0" anchor="t"/>
          <a:lstStyle/>
          <a:p>
            <a:pPr marL="0" indent="0" algn="l">
              <a:buNone/>
            </a:pPr>
            <a:r>
              <a:rPr lang="en-US" sz="700" dirty="0">
                <a:solidFill>
                  <a:srgbClr val="333333"/>
                </a:solidFill>
                <a:latin typeface="Arial" pitchFamily="34" charset="0"/>
                <a:ea typeface="Arial" pitchFamily="34" charset="-122"/>
                <a:cs typeface="Arial" pitchFamily="34" charset="-120"/>
              </a:rPr>
              <a:t>Only planner and verifier have output format instructions. Other agents produce inconsistent formats that confuse users.</a:t>
            </a:r>
            <a:endParaRPr lang="en-US" sz="700" dirty="0"/>
          </a:p>
        </p:txBody>
      </p:sp>
      <p:sp>
        <p:nvSpPr>
          <p:cNvPr id="36" name="Text 34"/>
          <p:cNvSpPr/>
          <p:nvPr/>
        </p:nvSpPr>
        <p:spPr>
          <a:xfrm>
            <a:off x="502920" y="4059936"/>
            <a:ext cx="274320" cy="384048"/>
          </a:xfrm>
          <a:prstGeom prst="rect">
            <a:avLst/>
          </a:prstGeom>
          <a:solidFill>
            <a:srgbClr val="FFFFFF"/>
          </a:solidFill>
          <a:ln/>
        </p:spPr>
        <p:txBody>
          <a:bodyPr wrap="square" lIns="25400" tIns="50800" rIns="50800" bIns="25400" rtlCol="0" anchor="t"/>
          <a:lstStyle/>
          <a:p>
            <a:pPr marL="0" indent="0" algn="ctr">
              <a:buNone/>
            </a:pPr>
            <a:r>
              <a:rPr lang="en-US" sz="700" b="1" dirty="0">
                <a:solidFill>
                  <a:srgbClr val="333333"/>
                </a:solidFill>
                <a:latin typeface="Arial" pitchFamily="34" charset="0"/>
                <a:ea typeface="Arial" pitchFamily="34" charset="-122"/>
                <a:cs typeface="Arial" pitchFamily="34" charset="-120"/>
              </a:rPr>
              <a:t>8</a:t>
            </a:r>
            <a:endParaRPr lang="en-US" sz="700" dirty="0"/>
          </a:p>
        </p:txBody>
      </p:sp>
      <p:sp>
        <p:nvSpPr>
          <p:cNvPr id="37" name="Text 35"/>
          <p:cNvSpPr/>
          <p:nvPr/>
        </p:nvSpPr>
        <p:spPr>
          <a:xfrm>
            <a:off x="777240" y="4059936"/>
            <a:ext cx="1508760" cy="384048"/>
          </a:xfrm>
          <a:prstGeom prst="rect">
            <a:avLst/>
          </a:prstGeom>
          <a:solidFill>
            <a:srgbClr val="FFFFFF"/>
          </a:solidFill>
          <a:ln/>
        </p:spPr>
        <p:txBody>
          <a:bodyPr wrap="square" lIns="25400" tIns="50800" rIns="50800" bIns="25400" rtlCol="0" anchor="t"/>
          <a:lstStyle/>
          <a:p>
            <a:pPr marL="0" indent="0" algn="ctr">
              <a:buNone/>
            </a:pPr>
            <a:r>
              <a:rPr lang="en-US" sz="700" b="1" dirty="0">
                <a:solidFill>
                  <a:srgbClr val="333333"/>
                </a:solidFill>
                <a:latin typeface="Arial" pitchFamily="34" charset="0"/>
                <a:ea typeface="Arial" pitchFamily="34" charset="-122"/>
                <a:cs typeface="Arial" pitchFamily="34" charset="-120"/>
              </a:rPr>
              <a:t>Delegation</a:t>
            </a:r>
            <a:endParaRPr lang="en-US" sz="700" dirty="0"/>
          </a:p>
          <a:p>
            <a:pPr marL="0" indent="0" algn="ctr">
              <a:buNone/>
            </a:pPr>
            <a:r>
              <a:rPr lang="en-US" sz="700" b="1" dirty="0">
                <a:solidFill>
                  <a:srgbClr val="333333"/>
                </a:solidFill>
                <a:latin typeface="Arial" pitchFamily="34" charset="0"/>
                <a:ea typeface="Arial" pitchFamily="34" charset="-122"/>
                <a:cs typeface="Arial" pitchFamily="34" charset="-120"/>
              </a:rPr>
              <a:t>Context</a:t>
            </a:r>
            <a:endParaRPr lang="en-US" sz="700" dirty="0"/>
          </a:p>
        </p:txBody>
      </p:sp>
      <p:sp>
        <p:nvSpPr>
          <p:cNvPr id="38" name="Text 36"/>
          <p:cNvSpPr/>
          <p:nvPr/>
        </p:nvSpPr>
        <p:spPr>
          <a:xfrm>
            <a:off x="2286000" y="4059936"/>
            <a:ext cx="3108960" cy="384048"/>
          </a:xfrm>
          <a:prstGeom prst="rect">
            <a:avLst/>
          </a:prstGeom>
          <a:solidFill>
            <a:srgbClr val="FFFFFF"/>
          </a:solidFill>
          <a:ln/>
        </p:spPr>
        <p:txBody>
          <a:bodyPr wrap="square" lIns="25400" tIns="50800" rIns="50800" bIns="25400" rtlCol="0" anchor="t"/>
          <a:lstStyle/>
          <a:p>
            <a:pPr marL="0" indent="0" algn="l">
              <a:buNone/>
            </a:pPr>
            <a:r>
              <a:rPr lang="en-US" sz="700" dirty="0">
                <a:solidFill>
                  <a:srgbClr val="333333"/>
                </a:solidFill>
                <a:latin typeface="Arial" pitchFamily="34" charset="0"/>
                <a:ea typeface="Arial" pitchFamily="34" charset="-122"/>
                <a:cs typeface="Arial" pitchFamily="34" charset="-120"/>
              </a:rPr>
              <a:t>"When delegated a task, check: What was the original user request? What artifacts are available? What format does the coordinator expect?"</a:t>
            </a:r>
            <a:endParaRPr lang="en-US" sz="700" dirty="0"/>
          </a:p>
        </p:txBody>
      </p:sp>
      <p:sp>
        <p:nvSpPr>
          <p:cNvPr id="39" name="Text 37"/>
          <p:cNvSpPr/>
          <p:nvPr/>
        </p:nvSpPr>
        <p:spPr>
          <a:xfrm>
            <a:off x="5394960" y="4059936"/>
            <a:ext cx="3246120" cy="384048"/>
          </a:xfrm>
          <a:prstGeom prst="rect">
            <a:avLst/>
          </a:prstGeom>
          <a:solidFill>
            <a:srgbClr val="FFFFFF"/>
          </a:solidFill>
          <a:ln/>
        </p:spPr>
        <p:txBody>
          <a:bodyPr wrap="square" lIns="25400" tIns="50800" rIns="50800" bIns="25400" rtlCol="0" anchor="t"/>
          <a:lstStyle/>
          <a:p>
            <a:pPr marL="0" indent="0" algn="l">
              <a:buNone/>
            </a:pPr>
            <a:r>
              <a:rPr lang="en-US" sz="700" dirty="0">
                <a:solidFill>
                  <a:srgbClr val="333333"/>
                </a:solidFill>
                <a:latin typeface="Arial" pitchFamily="34" charset="0"/>
                <a:ea typeface="Arial" pitchFamily="34" charset="-122"/>
                <a:cs typeface="Arial" pitchFamily="34" charset="-120"/>
              </a:rPr>
              <a:t>Worker agents don't know they're in a delegated context. They miss artifact references and produce outputs the coordinator can't use.</a:t>
            </a:r>
            <a:endParaRPr lang="en-US" sz="700" dirty="0"/>
          </a:p>
        </p:txBody>
      </p:sp>
      <p:sp>
        <p:nvSpPr>
          <p:cNvPr id="40" name="Text 38"/>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Inject via: data/agents/*.md (11 files) or as new Block 1.5 in query_loop.py _build_system_prompt()</a:t>
            </a:r>
            <a:endParaRPr lang="en-US" sz="90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Agent .md Enhancements — Per-Role Upgrades</a:t>
            </a:r>
            <a:endParaRPr lang="en-US" sz="2600" dirty="0"/>
          </a:p>
        </p:txBody>
      </p:sp>
      <p:sp>
        <p:nvSpPr>
          <p:cNvPr id="3" name="Text 1"/>
          <p:cNvSpPr/>
          <p:nvPr/>
        </p:nvSpPr>
        <p:spPr>
          <a:xfrm>
            <a:off x="502920" y="804672"/>
            <a:ext cx="8138160" cy="228600"/>
          </a:xfrm>
          <a:prstGeom prst="rect">
            <a:avLst/>
          </a:prstGeom>
          <a:noFill/>
          <a:ln/>
        </p:spPr>
        <p:txBody>
          <a:bodyPr wrap="square" lIns="0" tIns="0" rIns="0" bIns="0" rtlCol="0" anchor="ctr"/>
          <a:lstStyle/>
          <a:p>
            <a:pPr marL="0" indent="0">
              <a:buNone/>
            </a:pPr>
            <a:r>
              <a:rPr lang="en-US" sz="1050" dirty="0">
                <a:solidFill>
                  <a:srgbClr val="666666"/>
                </a:solidFill>
                <a:latin typeface="Arial" pitchFamily="34" charset="0"/>
                <a:ea typeface="Arial" pitchFamily="34" charset="-122"/>
                <a:cs typeface="Arial" pitchFamily="34" charset="-120"/>
              </a:rPr>
              <a:t>Each agent definition needs targeted improvements based on its role. These changes go directly into data/agents/*.md files.</a:t>
            </a:r>
            <a:endParaRPr lang="en-US" sz="1050" dirty="0"/>
          </a:p>
        </p:txBody>
      </p:sp>
      <p:sp>
        <p:nvSpPr>
          <p:cNvPr id="4" name="Shape 2"/>
          <p:cNvSpPr/>
          <p:nvPr/>
        </p:nvSpPr>
        <p:spPr>
          <a:xfrm>
            <a:off x="502920" y="1115568"/>
            <a:ext cx="2590800" cy="192024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115568"/>
            <a:ext cx="2590800" cy="320040"/>
          </a:xfrm>
          <a:prstGeom prst="rect">
            <a:avLst/>
          </a:prstGeom>
          <a:solidFill>
            <a:srgbClr val="0097A7"/>
          </a:solidFill>
          <a:ln/>
        </p:spPr>
        <p:txBody>
          <a:bodyPr/>
          <a:lstStyle/>
          <a:p>
            <a:endParaRPr lang="en-US"/>
          </a:p>
        </p:txBody>
      </p:sp>
      <p:sp>
        <p:nvSpPr>
          <p:cNvPr id="6" name="Text 4"/>
          <p:cNvSpPr/>
          <p:nvPr/>
        </p:nvSpPr>
        <p:spPr>
          <a:xfrm>
            <a:off x="612648" y="1143000"/>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Top-Level Agents (3)</a:t>
            </a:r>
            <a:endParaRPr lang="en-US" sz="1200" dirty="0"/>
          </a:p>
        </p:txBody>
      </p:sp>
      <p:sp>
        <p:nvSpPr>
          <p:cNvPr id="7" name="Text 5"/>
          <p:cNvSpPr/>
          <p:nvPr/>
        </p:nvSpPr>
        <p:spPr>
          <a:xfrm>
            <a:off x="612648" y="1499616"/>
            <a:ext cx="2371344" cy="1444752"/>
          </a:xfrm>
          <a:prstGeom prst="rect">
            <a:avLst/>
          </a:prstGeom>
          <a:noFill/>
          <a:ln/>
        </p:spPr>
        <p:txBody>
          <a:bodyPr wrap="square" lIns="0" tIns="0" rIns="0" bIns="0" rtlCol="0" anchor="t"/>
          <a:lstStyle/>
          <a:p>
            <a:pPr marL="0" indent="0">
              <a:lnSpc>
                <a:spcPct val="110000"/>
              </a:lnSpc>
              <a:buNone/>
            </a:pPr>
            <a:r>
              <a:rPr lang="en-US" sz="800" b="1" dirty="0">
                <a:solidFill>
                  <a:srgbClr val="0097A7"/>
                </a:solidFill>
                <a:latin typeface="Courier New" pitchFamily="34" charset="0"/>
                <a:ea typeface="Courier New" pitchFamily="34" charset="-122"/>
                <a:cs typeface="Courier New" pitchFamily="34" charset="-120"/>
              </a:rPr>
              <a:t>general.md (19 tools)
</a:t>
            </a:r>
            <a:r>
              <a:rPr lang="en-US" sz="750" dirty="0">
                <a:solidFill>
                  <a:srgbClr val="333333"/>
                </a:solidFill>
                <a:latin typeface="Arial" pitchFamily="34" charset="0"/>
                <a:ea typeface="Arial" pitchFamily="34" charset="-122"/>
                <a:cs typeface="Arial" pitchFamily="34" charset="-120"/>
              </a:rPr>
              <a:t>+ Add: Reasoning Protocol, self-reflection after 3 steps, tool selection justification.
</a:t>
            </a:r>
            <a:r>
              <a:rPr lang="en-US" sz="800" b="1" dirty="0">
                <a:solidFill>
                  <a:srgbClr val="0097A7"/>
                </a:solidFill>
                <a:latin typeface="Courier New" pitchFamily="34" charset="0"/>
                <a:ea typeface="Courier New" pitchFamily="34" charset="-122"/>
                <a:cs typeface="Courier New" pitchFamily="34" charset="-120"/>
              </a:rPr>
              <a:t>basic.md (0 tools)
</a:t>
            </a:r>
            <a:r>
              <a:rPr lang="en-US" sz="750" dirty="0">
                <a:solidFill>
                  <a:srgbClr val="333333"/>
                </a:solidFill>
                <a:latin typeface="Arial" pitchFamily="34" charset="0"/>
                <a:ea typeface="Arial" pitchFamily="34" charset="-122"/>
                <a:cs typeface="Arial" pitchFamily="34" charset="-120"/>
              </a:rPr>
              <a:t>+ Add: Output format contract, confidence scoring, when to recommend upgrading to general agent.
</a:t>
            </a:r>
            <a:r>
              <a:rPr lang="en-US" sz="800" b="1" dirty="0">
                <a:solidFill>
                  <a:srgbClr val="0097A7"/>
                </a:solidFill>
                <a:latin typeface="Courier New" pitchFamily="34" charset="0"/>
                <a:ea typeface="Courier New" pitchFamily="34" charset="-122"/>
                <a:cs typeface="Courier New" pitchFamily="34" charset="-120"/>
              </a:rPr>
              <a:t>data_analyst.md (14 tools)
</a:t>
            </a:r>
            <a:r>
              <a:rPr lang="en-US" sz="750" dirty="0">
                <a:solidFill>
                  <a:srgbClr val="333333"/>
                </a:solidFill>
                <a:latin typeface="Arial" pitchFamily="34" charset="0"/>
                <a:ea typeface="Arial" pitchFamily="34" charset="-122"/>
                <a:cs typeface="Arial" pitchFamily="34" charset="-120"/>
              </a:rPr>
              <a:t>+ Add: Data validation checklist, error recovery for sandbox failures, result verification before reporting.</a:t>
            </a:r>
            <a:endParaRPr lang="en-US" sz="1000" dirty="0"/>
          </a:p>
        </p:txBody>
      </p:sp>
      <p:sp>
        <p:nvSpPr>
          <p:cNvPr id="8" name="Shape 6"/>
          <p:cNvSpPr/>
          <p:nvPr/>
        </p:nvSpPr>
        <p:spPr>
          <a:xfrm>
            <a:off x="3276600" y="1115568"/>
            <a:ext cx="2590800" cy="192024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3276600" y="1115568"/>
            <a:ext cx="2590800" cy="320040"/>
          </a:xfrm>
          <a:prstGeom prst="rect">
            <a:avLst/>
          </a:prstGeom>
          <a:solidFill>
            <a:srgbClr val="1B2A4A"/>
          </a:solidFill>
          <a:ln/>
        </p:spPr>
        <p:txBody>
          <a:bodyPr/>
          <a:lstStyle/>
          <a:p>
            <a:endParaRPr lang="en-US"/>
          </a:p>
        </p:txBody>
      </p:sp>
      <p:sp>
        <p:nvSpPr>
          <p:cNvPr id="10" name="Text 8"/>
          <p:cNvSpPr/>
          <p:nvPr/>
        </p:nvSpPr>
        <p:spPr>
          <a:xfrm>
            <a:off x="3386328" y="1143000"/>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Coordinator Stack (4)</a:t>
            </a:r>
            <a:endParaRPr lang="en-US" sz="1200" dirty="0"/>
          </a:p>
        </p:txBody>
      </p:sp>
      <p:sp>
        <p:nvSpPr>
          <p:cNvPr id="11" name="Text 9"/>
          <p:cNvSpPr/>
          <p:nvPr/>
        </p:nvSpPr>
        <p:spPr>
          <a:xfrm>
            <a:off x="3386328" y="1499616"/>
            <a:ext cx="2371344" cy="1444752"/>
          </a:xfrm>
          <a:prstGeom prst="rect">
            <a:avLst/>
          </a:prstGeom>
          <a:noFill/>
          <a:ln/>
        </p:spPr>
        <p:txBody>
          <a:bodyPr wrap="square" lIns="0" tIns="0" rIns="0" bIns="0" rtlCol="0" anchor="t"/>
          <a:lstStyle/>
          <a:p>
            <a:pPr marL="0" indent="0">
              <a:lnSpc>
                <a:spcPct val="110000"/>
              </a:lnSpc>
              <a:buNone/>
            </a:pPr>
            <a:r>
              <a:rPr lang="en-US" sz="800" b="1" dirty="0">
                <a:solidFill>
                  <a:srgbClr val="1B2A4A"/>
                </a:solidFill>
                <a:latin typeface="Courier New" pitchFamily="34" charset="0"/>
                <a:ea typeface="Courier New" pitchFamily="34" charset="-122"/>
                <a:cs typeface="Courier New" pitchFamily="34" charset="-120"/>
              </a:rPr>
              <a:t>coordinator.md (4 tools)
</a:t>
            </a:r>
            <a:r>
              <a:rPr lang="en-US" sz="750" dirty="0">
                <a:solidFill>
                  <a:srgbClr val="333333"/>
                </a:solidFill>
                <a:latin typeface="Arial" pitchFamily="34" charset="0"/>
                <a:ea typeface="Arial" pitchFamily="34" charset="-122"/>
                <a:cs typeface="Arial" pitchFamily="34" charset="-120"/>
              </a:rPr>
              <a:t>+ Add: Delegation context template, artifact tracking, worker output conflict resolution.
</a:t>
            </a:r>
            <a:r>
              <a:rPr lang="en-US" sz="800" b="1" dirty="0">
                <a:solidFill>
                  <a:srgbClr val="1B2A4A"/>
                </a:solidFill>
                <a:latin typeface="Courier New" pitchFamily="34" charset="0"/>
                <a:ea typeface="Courier New" pitchFamily="34" charset="-122"/>
                <a:cs typeface="Courier New" pitchFamily="34" charset="-120"/>
              </a:rPr>
              <a:t>planner.md (0 tools)
</a:t>
            </a:r>
            <a:r>
              <a:rPr lang="en-US" sz="750" dirty="0">
                <a:solidFill>
                  <a:srgbClr val="333333"/>
                </a:solidFill>
                <a:latin typeface="Arial" pitchFamily="34" charset="0"/>
                <a:ea typeface="Arial" pitchFamily="34" charset="-122"/>
                <a:cs typeface="Arial" pitchFamily="34" charset="-120"/>
              </a:rPr>
              <a:t>+ Add: Dependency graph awareness, parallel-safe task flagging, coverage estimation.
</a:t>
            </a:r>
            <a:r>
              <a:rPr lang="en-US" sz="800" b="1" dirty="0">
                <a:solidFill>
                  <a:srgbClr val="1B2A4A"/>
                </a:solidFill>
                <a:latin typeface="Courier New" pitchFamily="34" charset="0"/>
                <a:ea typeface="Courier New" pitchFamily="34" charset="-122"/>
                <a:cs typeface="Courier New" pitchFamily="34" charset="-120"/>
              </a:rPr>
              <a:t>verifier + finalizer
</a:t>
            </a:r>
            <a:r>
              <a:rPr lang="en-US" sz="750" dirty="0">
                <a:solidFill>
                  <a:srgbClr val="333333"/>
                </a:solidFill>
                <a:latin typeface="Arial" pitchFamily="34" charset="0"/>
                <a:ea typeface="Arial" pitchFamily="34" charset="-122"/>
                <a:cs typeface="Arial" pitchFamily="34" charset="-120"/>
              </a:rPr>
              <a:t>+ Verifier: confidence scoring per claim. Finalizer: output format matching user's original request tone.</a:t>
            </a:r>
            <a:endParaRPr lang="en-US" sz="1000" dirty="0"/>
          </a:p>
        </p:txBody>
      </p:sp>
      <p:sp>
        <p:nvSpPr>
          <p:cNvPr id="12" name="Shape 10"/>
          <p:cNvSpPr/>
          <p:nvPr/>
        </p:nvSpPr>
        <p:spPr>
          <a:xfrm>
            <a:off x="6050280" y="1115568"/>
            <a:ext cx="2590800" cy="192024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3" name="Shape 11"/>
          <p:cNvSpPr/>
          <p:nvPr/>
        </p:nvSpPr>
        <p:spPr>
          <a:xfrm>
            <a:off x="6050280" y="1115568"/>
            <a:ext cx="2590800" cy="320040"/>
          </a:xfrm>
          <a:prstGeom prst="rect">
            <a:avLst/>
          </a:prstGeom>
          <a:solidFill>
            <a:srgbClr val="00796B"/>
          </a:solidFill>
          <a:ln/>
        </p:spPr>
        <p:txBody>
          <a:bodyPr/>
          <a:lstStyle/>
          <a:p>
            <a:endParaRPr lang="en-US"/>
          </a:p>
        </p:txBody>
      </p:sp>
      <p:sp>
        <p:nvSpPr>
          <p:cNvPr id="14" name="Text 12"/>
          <p:cNvSpPr/>
          <p:nvPr/>
        </p:nvSpPr>
        <p:spPr>
          <a:xfrm>
            <a:off x="6160008" y="1143000"/>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Workers &amp; Specialist (4)</a:t>
            </a:r>
            <a:endParaRPr lang="en-US" sz="1200" dirty="0"/>
          </a:p>
        </p:txBody>
      </p:sp>
      <p:sp>
        <p:nvSpPr>
          <p:cNvPr id="15" name="Text 13"/>
          <p:cNvSpPr/>
          <p:nvPr/>
        </p:nvSpPr>
        <p:spPr>
          <a:xfrm>
            <a:off x="6160008" y="1499616"/>
            <a:ext cx="2371344" cy="1444752"/>
          </a:xfrm>
          <a:prstGeom prst="rect">
            <a:avLst/>
          </a:prstGeom>
          <a:noFill/>
          <a:ln/>
        </p:spPr>
        <p:txBody>
          <a:bodyPr wrap="square" lIns="0" tIns="0" rIns="0" bIns="0" rtlCol="0" anchor="t"/>
          <a:lstStyle/>
          <a:p>
            <a:pPr marL="0" indent="0">
              <a:lnSpc>
                <a:spcPct val="110000"/>
              </a:lnSpc>
              <a:buNone/>
            </a:pPr>
            <a:r>
              <a:rPr lang="en-US" sz="800" b="1" dirty="0">
                <a:solidFill>
                  <a:srgbClr val="00796B"/>
                </a:solidFill>
                <a:latin typeface="Courier New" pitchFamily="34" charset="0"/>
                <a:ea typeface="Courier New" pitchFamily="34" charset="-122"/>
                <a:cs typeface="Courier New" pitchFamily="34" charset="-120"/>
              </a:rPr>
              <a:t>rag_worker.md (0 tools)
</a:t>
            </a:r>
            <a:r>
              <a:rPr lang="en-US" sz="750" dirty="0">
                <a:solidFill>
                  <a:srgbClr val="333333"/>
                </a:solidFill>
                <a:latin typeface="Arial" pitchFamily="34" charset="0"/>
                <a:ea typeface="Arial" pitchFamily="34" charset="-122"/>
                <a:cs typeface="Arial" pitchFamily="34" charset="-120"/>
              </a:rPr>
              <a:t>+ Add: Source diversity requirement, contradictory evidence handling, citation format.
</a:t>
            </a:r>
            <a:r>
              <a:rPr lang="en-US" sz="800" b="1" dirty="0">
                <a:solidFill>
                  <a:srgbClr val="00796B"/>
                </a:solidFill>
                <a:latin typeface="Courier New" pitchFamily="34" charset="0"/>
                <a:ea typeface="Courier New" pitchFamily="34" charset="-122"/>
                <a:cs typeface="Courier New" pitchFamily="34" charset="-120"/>
              </a:rPr>
              <a:t>utility.md (7 tools)
</a:t>
            </a:r>
            <a:r>
              <a:rPr lang="en-US" sz="750" dirty="0">
                <a:solidFill>
                  <a:srgbClr val="333333"/>
                </a:solidFill>
                <a:latin typeface="Arial" pitchFamily="34" charset="0"/>
                <a:ea typeface="Arial" pitchFamily="34" charset="-122"/>
                <a:cs typeface="Arial" pitchFamily="34" charset="-120"/>
              </a:rPr>
              <a:t>+ Add: Speed-over-depth instruction, when to escalate to general agent.
</a:t>
            </a:r>
            <a:r>
              <a:rPr lang="en-US" sz="800" b="1" dirty="0">
                <a:solidFill>
                  <a:srgbClr val="00796B"/>
                </a:solidFill>
                <a:latin typeface="Courier New" pitchFamily="34" charset="0"/>
                <a:ea typeface="Courier New" pitchFamily="34" charset="-122"/>
                <a:cs typeface="Courier New" pitchFamily="34" charset="-120"/>
              </a:rPr>
              <a:t>graph_manager + memory_maint.
</a:t>
            </a:r>
            <a:r>
              <a:rPr lang="en-US" sz="750" dirty="0">
                <a:solidFill>
                  <a:srgbClr val="333333"/>
                </a:solidFill>
                <a:latin typeface="Arial" pitchFamily="34" charset="0"/>
                <a:ea typeface="Arial" pitchFamily="34" charset="-122"/>
                <a:cs typeface="Arial" pitchFamily="34" charset="-120"/>
              </a:rPr>
              <a:t>+ Graph: traversal strategy selection. Memory: dedup awareness, staleness check before saving.</a:t>
            </a:r>
            <a:endParaRPr lang="en-US" sz="1000" dirty="0"/>
          </a:p>
        </p:txBody>
      </p:sp>
      <p:sp>
        <p:nvSpPr>
          <p:cNvPr id="16" name="Text 14"/>
          <p:cNvSpPr/>
          <p:nvPr/>
        </p:nvSpPr>
        <p:spPr>
          <a:xfrm>
            <a:off x="502920" y="3145536"/>
            <a:ext cx="8138160" cy="182880"/>
          </a:xfrm>
          <a:prstGeom prst="rect">
            <a:avLst/>
          </a:prstGeom>
          <a:noFill/>
          <a:ln/>
        </p:spPr>
        <p:txBody>
          <a:bodyPr wrap="square" lIns="0" tIns="0" rIns="0" bIns="0" rtlCol="0" anchor="ctr"/>
          <a:lstStyle/>
          <a:p>
            <a:pPr marL="0" indent="0">
              <a:buNone/>
            </a:pPr>
            <a:r>
              <a:rPr lang="en-US" sz="1100" b="1" dirty="0">
                <a:solidFill>
                  <a:srgbClr val="1B2A4A"/>
                </a:solidFill>
                <a:latin typeface="Arial" pitchFamily="34" charset="0"/>
                <a:ea typeface="Arial" pitchFamily="34" charset="-122"/>
                <a:cs typeface="Arial" pitchFamily="34" charset="-120"/>
              </a:rPr>
              <a:t>New Reasoning Skill Packs to Create</a:t>
            </a:r>
            <a:endParaRPr lang="en-US" sz="1100" dirty="0"/>
          </a:p>
        </p:txBody>
      </p:sp>
      <p:sp>
        <p:nvSpPr>
          <p:cNvPr id="17" name="Text 15"/>
          <p:cNvSpPr/>
          <p:nvPr/>
        </p:nvSpPr>
        <p:spPr>
          <a:xfrm>
            <a:off x="502920" y="3383280"/>
            <a:ext cx="1554480" cy="777240"/>
          </a:xfrm>
          <a:prstGeom prst="rect">
            <a:avLst/>
          </a:prstGeom>
          <a:solidFill>
            <a:srgbClr val="F5F5F5"/>
          </a:solidFill>
          <a:ln/>
        </p:spPr>
        <p:txBody>
          <a:bodyPr wrap="square" lIns="50800" tIns="63500" rIns="63500" bIns="50800" rtlCol="0" anchor="t"/>
          <a:lstStyle/>
          <a:p>
            <a:pPr marL="0" indent="0">
              <a:buNone/>
            </a:pPr>
            <a:r>
              <a:rPr lang="en-US" sz="750" b="1" dirty="0">
                <a:solidFill>
                  <a:srgbClr val="0097A7"/>
                </a:solidFill>
                <a:latin typeface="Courier New" pitchFamily="34" charset="0"/>
                <a:ea typeface="Courier New" pitchFamily="34" charset="-122"/>
                <a:cs typeface="Courier New" pitchFamily="34" charset="-120"/>
              </a:rPr>
              <a:t>step_planning.md
</a:t>
            </a:r>
            <a:r>
              <a:rPr lang="en-US" sz="700" dirty="0">
                <a:solidFill>
                  <a:srgbClr val="666666"/>
                </a:solidFill>
              </a:rPr>
              <a:t>Decompose complex queries into ordered sub-tasks before acting</a:t>
            </a:r>
            <a:endParaRPr lang="en-US" sz="750" dirty="0"/>
          </a:p>
        </p:txBody>
      </p:sp>
      <p:sp>
        <p:nvSpPr>
          <p:cNvPr id="18" name="Text 16"/>
          <p:cNvSpPr/>
          <p:nvPr/>
        </p:nvSpPr>
        <p:spPr>
          <a:xfrm>
            <a:off x="2148840" y="3383280"/>
            <a:ext cx="1554480" cy="777240"/>
          </a:xfrm>
          <a:prstGeom prst="rect">
            <a:avLst/>
          </a:prstGeom>
          <a:solidFill>
            <a:srgbClr val="F5F5F5"/>
          </a:solidFill>
          <a:ln/>
        </p:spPr>
        <p:txBody>
          <a:bodyPr wrap="square" lIns="50800" tIns="63500" rIns="63500" bIns="50800" rtlCol="0" anchor="t"/>
          <a:lstStyle/>
          <a:p>
            <a:pPr marL="0" indent="0">
              <a:buNone/>
            </a:pPr>
            <a:r>
              <a:rPr lang="en-US" sz="750" b="1" dirty="0">
                <a:solidFill>
                  <a:srgbClr val="0097A7"/>
                </a:solidFill>
                <a:latin typeface="Courier New" pitchFamily="34" charset="0"/>
                <a:ea typeface="Courier New" pitchFamily="34" charset="-122"/>
                <a:cs typeface="Courier New" pitchFamily="34" charset="-120"/>
              </a:rPr>
              <a:t>self_verification.md
</a:t>
            </a:r>
            <a:r>
              <a:rPr lang="en-US" sz="700" dirty="0">
                <a:solidFill>
                  <a:srgbClr val="666666"/>
                </a:solidFill>
              </a:rPr>
              <a:t>Check work after multi-step tasks: re-read sources, cross-validate, flag gaps</a:t>
            </a:r>
            <a:endParaRPr lang="en-US" sz="750" dirty="0"/>
          </a:p>
        </p:txBody>
      </p:sp>
      <p:sp>
        <p:nvSpPr>
          <p:cNvPr id="19" name="Text 17"/>
          <p:cNvSpPr/>
          <p:nvPr/>
        </p:nvSpPr>
        <p:spPr>
          <a:xfrm>
            <a:off x="3794760" y="3383280"/>
            <a:ext cx="1554480" cy="777240"/>
          </a:xfrm>
          <a:prstGeom prst="rect">
            <a:avLst/>
          </a:prstGeom>
          <a:solidFill>
            <a:srgbClr val="F5F5F5"/>
          </a:solidFill>
          <a:ln/>
        </p:spPr>
        <p:txBody>
          <a:bodyPr wrap="square" lIns="50800" tIns="63500" rIns="63500" bIns="50800" rtlCol="0" anchor="t"/>
          <a:lstStyle/>
          <a:p>
            <a:pPr marL="0" indent="0">
              <a:buNone/>
            </a:pPr>
            <a:r>
              <a:rPr lang="en-US" sz="750" b="1" dirty="0">
                <a:solidFill>
                  <a:srgbClr val="0097A7"/>
                </a:solidFill>
                <a:latin typeface="Courier New" pitchFamily="34" charset="0"/>
                <a:ea typeface="Courier New" pitchFamily="34" charset="-122"/>
                <a:cs typeface="Courier New" pitchFamily="34" charset="-120"/>
              </a:rPr>
              <a:t>uncertainty_handling.md
</a:t>
            </a:r>
            <a:r>
              <a:rPr lang="en-US" sz="700" dirty="0">
                <a:solidFill>
                  <a:srgbClr val="666666"/>
                </a:solidFill>
              </a:rPr>
              <a:t>Score confidence, surface unknowns, recommend when to ask vs. guess</a:t>
            </a:r>
            <a:endParaRPr lang="en-US" sz="750" dirty="0"/>
          </a:p>
        </p:txBody>
      </p:sp>
      <p:sp>
        <p:nvSpPr>
          <p:cNvPr id="20" name="Text 18"/>
          <p:cNvSpPr/>
          <p:nvPr/>
        </p:nvSpPr>
        <p:spPr>
          <a:xfrm>
            <a:off x="5440680" y="3383280"/>
            <a:ext cx="1554480" cy="777240"/>
          </a:xfrm>
          <a:prstGeom prst="rect">
            <a:avLst/>
          </a:prstGeom>
          <a:solidFill>
            <a:srgbClr val="F5F5F5"/>
          </a:solidFill>
          <a:ln/>
        </p:spPr>
        <p:txBody>
          <a:bodyPr wrap="square" lIns="50800" tIns="63500" rIns="63500" bIns="50800" rtlCol="0" anchor="t"/>
          <a:lstStyle/>
          <a:p>
            <a:pPr marL="0" indent="0">
              <a:buNone/>
            </a:pPr>
            <a:r>
              <a:rPr lang="en-US" sz="750" b="1" dirty="0">
                <a:solidFill>
                  <a:srgbClr val="0097A7"/>
                </a:solidFill>
                <a:latin typeface="Courier New" pitchFamily="34" charset="0"/>
                <a:ea typeface="Courier New" pitchFamily="34" charset="-122"/>
                <a:cs typeface="Courier New" pitchFamily="34" charset="-120"/>
              </a:rPr>
              <a:t>error_recovery.md
</a:t>
            </a:r>
            <a:r>
              <a:rPr lang="en-US" sz="700" dirty="0">
                <a:solidFill>
                  <a:srgbClr val="666666"/>
                </a:solidFill>
              </a:rPr>
              <a:t>Standard playbook: diagnose, retry alt tool, degrade gracefully, inform user</a:t>
            </a:r>
            <a:endParaRPr lang="en-US" sz="750" dirty="0"/>
          </a:p>
        </p:txBody>
      </p:sp>
      <p:sp>
        <p:nvSpPr>
          <p:cNvPr id="21" name="Text 19"/>
          <p:cNvSpPr/>
          <p:nvPr/>
        </p:nvSpPr>
        <p:spPr>
          <a:xfrm>
            <a:off x="7086600" y="3383280"/>
            <a:ext cx="1554480" cy="777240"/>
          </a:xfrm>
          <a:prstGeom prst="rect">
            <a:avLst/>
          </a:prstGeom>
          <a:solidFill>
            <a:srgbClr val="F5F5F5"/>
          </a:solidFill>
          <a:ln/>
        </p:spPr>
        <p:txBody>
          <a:bodyPr wrap="square" lIns="50800" tIns="63500" rIns="63500" bIns="50800" rtlCol="0" anchor="t"/>
          <a:lstStyle/>
          <a:p>
            <a:pPr marL="0" indent="0">
              <a:buNone/>
            </a:pPr>
            <a:r>
              <a:rPr lang="en-US" sz="750" b="1" dirty="0">
                <a:solidFill>
                  <a:srgbClr val="0097A7"/>
                </a:solidFill>
                <a:latin typeface="Courier New" pitchFamily="34" charset="0"/>
                <a:ea typeface="Courier New" pitchFamily="34" charset="-122"/>
                <a:cs typeface="Courier New" pitchFamily="34" charset="-120"/>
              </a:rPr>
              <a:t>output_formatting.md
</a:t>
            </a:r>
            <a:r>
              <a:rPr lang="en-US" sz="700" dirty="0">
                <a:solidFill>
                  <a:srgbClr val="666666"/>
                </a:solidFill>
              </a:rPr>
              <a:t>Match response format to task type: Q&amp;A, analysis, code, comparison</a:t>
            </a:r>
            <a:endParaRPr lang="en-US" sz="750" dirty="0"/>
          </a:p>
        </p:txBody>
      </p:sp>
      <p:sp>
        <p:nvSpPr>
          <p:cNvPr id="22" name="Shape 20"/>
          <p:cNvSpPr/>
          <p:nvPr/>
        </p:nvSpPr>
        <p:spPr>
          <a:xfrm>
            <a:off x="502920" y="4224528"/>
            <a:ext cx="8138160" cy="201168"/>
          </a:xfrm>
          <a:prstGeom prst="rect">
            <a:avLst/>
          </a:prstGeom>
          <a:solidFill>
            <a:srgbClr val="E0F7FA"/>
          </a:solidFill>
          <a:ln w="12700">
            <a:solidFill>
              <a:srgbClr val="0097A7"/>
            </a:solidFill>
            <a:prstDash val="solid"/>
          </a:ln>
        </p:spPr>
        <p:txBody>
          <a:bodyPr/>
          <a:lstStyle/>
          <a:p>
            <a:endParaRPr lang="en-US"/>
          </a:p>
        </p:txBody>
      </p:sp>
      <p:sp>
        <p:nvSpPr>
          <p:cNvPr id="23" name="Text 21"/>
          <p:cNvSpPr/>
          <p:nvPr/>
        </p:nvSpPr>
        <p:spPr>
          <a:xfrm>
            <a:off x="594360" y="4224528"/>
            <a:ext cx="7955280" cy="201168"/>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These 5 skill packs are injected dynamically via SkillResolver — agents get reasoning guidance only when the query complexity warrants it.</a:t>
            </a:r>
            <a:endParaRPr lang="en-US" sz="1000" dirty="0"/>
          </a:p>
        </p:txBody>
      </p:sp>
      <p:sp>
        <p:nvSpPr>
          <p:cNvPr id="24" name="Text 22"/>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data/agents/*.md (11 files) · data/skills/ (5 new packs) · skills/resolver.py (add reasoning scope)</a:t>
            </a:r>
            <a:endParaRPr lang="en-US" sz="90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02920" y="1463040"/>
            <a:ext cx="8138160" cy="73152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Technical Implementation Guide</a:t>
            </a:r>
            <a:endParaRPr lang="en-US" sz="3200" dirty="0"/>
          </a:p>
        </p:txBody>
      </p:sp>
      <p:sp>
        <p:nvSpPr>
          <p:cNvPr id="3" name="Text 1"/>
          <p:cNvSpPr/>
          <p:nvPr/>
        </p:nvSpPr>
        <p:spPr>
          <a:xfrm>
            <a:off x="502920" y="2286000"/>
            <a:ext cx="8138160" cy="457200"/>
          </a:xfrm>
          <a:prstGeom prst="rect">
            <a:avLst/>
          </a:prstGeom>
          <a:noFill/>
          <a:ln/>
        </p:spPr>
        <p:txBody>
          <a:bodyPr wrap="square" lIns="0" tIns="0" rIns="0" bIns="0" rtlCol="0" anchor="ctr"/>
          <a:lstStyle/>
          <a:p>
            <a:pPr marL="0" indent="0">
              <a:buNone/>
            </a:pPr>
            <a:r>
              <a:rPr lang="en-US" sz="1600" dirty="0">
                <a:solidFill>
                  <a:srgbClr val="0097A7"/>
                </a:solidFill>
                <a:latin typeface="Arial" pitchFamily="34" charset="0"/>
                <a:ea typeface="Arial" pitchFamily="34" charset="-122"/>
                <a:cs typeface="Arial" pitchFamily="34" charset="-120"/>
              </a:rPr>
              <a:t>Step-by-step plans with code snippets for the highest-impact improvements. All changes fit within the existing harness.</a:t>
            </a:r>
            <a:endParaRPr lang="en-US" sz="160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Impl 1 — Memory Facade + TTL Enforcement</a:t>
            </a:r>
            <a:endParaRPr lang="en-US" sz="2600" dirty="0"/>
          </a:p>
        </p:txBody>
      </p:sp>
      <p:sp>
        <p:nvSpPr>
          <p:cNvPr id="3" name="Text 1"/>
          <p:cNvSpPr/>
          <p:nvPr/>
        </p:nvSpPr>
        <p:spPr>
          <a:xfrm>
            <a:off x="502920" y="804672"/>
            <a:ext cx="3840480" cy="201168"/>
          </a:xfrm>
          <a:prstGeom prst="rect">
            <a:avLst/>
          </a:prstGeom>
          <a:noFill/>
          <a:ln/>
        </p:spPr>
        <p:txBody>
          <a:bodyPr wrap="square" lIns="0" tIns="0" rIns="0" bIns="0" rtlCol="0" anchor="ctr"/>
          <a:lstStyle/>
          <a:p>
            <a:pPr marL="0" indent="0">
              <a:buNone/>
            </a:pPr>
            <a:r>
              <a:rPr lang="en-US" sz="1100" b="1" dirty="0">
                <a:solidFill>
                  <a:srgbClr val="1B2A4A"/>
                </a:solidFill>
                <a:latin typeface="Arial" pitchFamily="34" charset="0"/>
                <a:ea typeface="Arial" pitchFamily="34" charset="-122"/>
                <a:cs typeface="Arial" pitchFamily="34" charset="-120"/>
              </a:rPr>
              <a:t>Implementation Steps</a:t>
            </a:r>
            <a:endParaRPr lang="en-US" sz="1100" dirty="0"/>
          </a:p>
        </p:txBody>
      </p:sp>
      <p:sp>
        <p:nvSpPr>
          <p:cNvPr id="4" name="Text 2"/>
          <p:cNvSpPr/>
          <p:nvPr/>
        </p:nvSpPr>
        <p:spPr>
          <a:xfrm>
            <a:off x="502920" y="1051560"/>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1: </a:t>
            </a:r>
            <a:r>
              <a:rPr lang="en-US" sz="850" b="1" dirty="0">
                <a:solidFill>
                  <a:srgbClr val="1B2A4A"/>
                </a:solidFill>
              </a:rPr>
              <a:t>Create memory/facade.py
</a:t>
            </a:r>
            <a:r>
              <a:rPr lang="en-US" sz="750" dirty="0">
                <a:solidFill>
                  <a:srgbClr val="666666"/>
                </a:solidFill>
              </a:rPr>
              <a:t>New class MemoryFacade wraps both stores. Implements the same Protocol as PostgresMemoryStore. Every write goes to Postgres first, then projects to FileMemoryStore. Every read goes to Postgres only.</a:t>
            </a:r>
            <a:endParaRPr lang="en-US" sz="850" dirty="0"/>
          </a:p>
        </p:txBody>
      </p:sp>
      <p:sp>
        <p:nvSpPr>
          <p:cNvPr id="5" name="Text 3"/>
          <p:cNvSpPr/>
          <p:nvPr/>
        </p:nvSpPr>
        <p:spPr>
          <a:xfrm>
            <a:off x="502920" y="1435608"/>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2: </a:t>
            </a:r>
            <a:r>
              <a:rPr lang="en-US" sz="850" b="1" dirty="0">
                <a:solidFill>
                  <a:srgbClr val="1B2A4A"/>
                </a:solidFill>
              </a:rPr>
              <a:t>Update kernel.py init
</a:t>
            </a:r>
            <a:r>
              <a:rPr lang="en-US" sz="750" dirty="0">
                <a:solidFill>
                  <a:srgbClr val="666666"/>
                </a:solidFill>
              </a:rPr>
              <a:t>Replace the if/else branch at line 145 with: self.memory_store = MemoryFacade(postgres_store, file_store). Both stores always initialized.</a:t>
            </a:r>
            <a:endParaRPr lang="en-US" sz="850" dirty="0"/>
          </a:p>
        </p:txBody>
      </p:sp>
      <p:sp>
        <p:nvSpPr>
          <p:cNvPr id="6" name="Text 4"/>
          <p:cNvSpPr/>
          <p:nvPr/>
        </p:nvSpPr>
        <p:spPr>
          <a:xfrm>
            <a:off x="502920" y="1819656"/>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3: </a:t>
            </a:r>
            <a:r>
              <a:rPr lang="en-US" sz="850" b="1" dirty="0">
                <a:solidFill>
                  <a:srgbClr val="1B2A4A"/>
                </a:solidFill>
              </a:rPr>
              <a:t>Add reconcile_on_startup()
</a:t>
            </a:r>
            <a:r>
              <a:rPr lang="en-US" sz="750" dirty="0">
                <a:solidFill>
                  <a:srgbClr val="666666"/>
                </a:solidFill>
              </a:rPr>
              <a:t>On Facade.__init__, diff file store keys vs Postgres active records. Import any file-only records into Postgres. Log drift count.</a:t>
            </a:r>
            <a:endParaRPr lang="en-US" sz="850" dirty="0"/>
          </a:p>
        </p:txBody>
      </p:sp>
      <p:sp>
        <p:nvSpPr>
          <p:cNvPr id="7" name="Text 5"/>
          <p:cNvSpPr/>
          <p:nvPr/>
        </p:nvSpPr>
        <p:spPr>
          <a:xfrm>
            <a:off x="502920" y="2203704"/>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4: </a:t>
            </a:r>
            <a:r>
              <a:rPr lang="en-US" sz="850" b="1" dirty="0">
                <a:solidFill>
                  <a:srgbClr val="1B2A4A"/>
                </a:solidFill>
              </a:rPr>
              <a:t>Add TTL sweep to Facade
</a:t>
            </a:r>
            <a:r>
              <a:rPr lang="en-US" sz="750" dirty="0">
                <a:solidFill>
                  <a:srgbClr val="666666"/>
                </a:solidFill>
              </a:rPr>
              <a:t>New method sweep_expired(): query WHERE ttl_hint IS NOT NULL AND ttl_hint::interval &lt; NOW() - updated_at AND active = TRUE → set active=FALSE. Call from kernel on session start.</a:t>
            </a:r>
            <a:endParaRPr lang="en-US" sz="850" dirty="0"/>
          </a:p>
        </p:txBody>
      </p:sp>
      <p:sp>
        <p:nvSpPr>
          <p:cNvPr id="8" name="Text 6"/>
          <p:cNvSpPr/>
          <p:nvPr/>
        </p:nvSpPr>
        <p:spPr>
          <a:xfrm>
            <a:off x="502920" y="2587752"/>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5: </a:t>
            </a:r>
            <a:r>
              <a:rPr lang="en-US" sz="850" b="1" dirty="0">
                <a:solidFill>
                  <a:srgbClr val="1B2A4A"/>
                </a:solidFill>
              </a:rPr>
              <a:t>Expose ttl_policy config
</a:t>
            </a:r>
            <a:r>
              <a:rPr lang="en-US" sz="750" dirty="0">
                <a:solidFill>
                  <a:srgbClr val="666666"/>
                </a:solidFill>
              </a:rPr>
              <a:t>Add ttl_defaults dict to settings: {profile_preference: '90d', task_state: '7d', decision: '30d'}. Apply default TTL when none specified in save_explicit().</a:t>
            </a:r>
            <a:endParaRPr lang="en-US" sz="850" dirty="0"/>
          </a:p>
        </p:txBody>
      </p:sp>
      <p:sp>
        <p:nvSpPr>
          <p:cNvPr id="9" name="Text 7"/>
          <p:cNvSpPr/>
          <p:nvPr/>
        </p:nvSpPr>
        <p:spPr>
          <a:xfrm>
            <a:off x="4572000" y="804672"/>
            <a:ext cx="4069080" cy="201168"/>
          </a:xfrm>
          <a:prstGeom prst="rect">
            <a:avLst/>
          </a:prstGeom>
          <a:noFill/>
          <a:ln/>
        </p:spPr>
        <p:txBody>
          <a:bodyPr wrap="square" lIns="0" tIns="0" rIns="0" bIns="0" rtlCol="0" anchor="ctr"/>
          <a:lstStyle/>
          <a:p>
            <a:pPr marL="0" indent="0">
              <a:buNone/>
            </a:pPr>
            <a:r>
              <a:rPr lang="en-US" sz="1000" b="1" dirty="0">
                <a:solidFill>
                  <a:srgbClr val="1B2A4A"/>
                </a:solidFill>
                <a:latin typeface="Arial" pitchFamily="34" charset="0"/>
                <a:ea typeface="Arial" pitchFamily="34" charset="-122"/>
                <a:cs typeface="Arial" pitchFamily="34" charset="-120"/>
              </a:rPr>
              <a:t>memory/facade.py — Core Class</a:t>
            </a:r>
            <a:endParaRPr lang="en-US" sz="1000" dirty="0"/>
          </a:p>
        </p:txBody>
      </p:sp>
      <p:sp>
        <p:nvSpPr>
          <p:cNvPr id="10" name="Shape 8"/>
          <p:cNvSpPr/>
          <p:nvPr/>
        </p:nvSpPr>
        <p:spPr>
          <a:xfrm>
            <a:off x="4572000" y="1051560"/>
            <a:ext cx="4069080" cy="2331720"/>
          </a:xfrm>
          <a:prstGeom prst="rect">
            <a:avLst/>
          </a:prstGeom>
          <a:solidFill>
            <a:srgbClr val="2D2D2D"/>
          </a:solidFill>
          <a:ln/>
        </p:spPr>
        <p:txBody>
          <a:bodyPr/>
          <a:lstStyle/>
          <a:p>
            <a:endParaRPr lang="en-US"/>
          </a:p>
        </p:txBody>
      </p:sp>
      <p:sp>
        <p:nvSpPr>
          <p:cNvPr id="11" name="Text 9"/>
          <p:cNvSpPr/>
          <p:nvPr/>
        </p:nvSpPr>
        <p:spPr>
          <a:xfrm>
            <a:off x="4681728" y="1106424"/>
            <a:ext cx="3849624" cy="2221992"/>
          </a:xfrm>
          <a:prstGeom prst="rect">
            <a:avLst/>
          </a:prstGeom>
          <a:noFill/>
          <a:ln/>
        </p:spPr>
        <p:txBody>
          <a:bodyPr wrap="square" lIns="0" tIns="0" rIns="0" bIns="0" rtlCol="0" anchor="t"/>
          <a:lstStyle/>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class MemoryFacade: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"""Unified write-through facade."""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def __init__(self, pg, fs, settings):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self._pg = pg  # PostgresMemoryStore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self._fs = fs  # FileMemoryStore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self._ttl_defaults = settings.ttl_defaults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self._reconcile_drift()</a:t>
            </a:r>
            <a:endParaRPr lang="en-US" sz="900" dirty="0"/>
          </a:p>
          <a:p>
            <a:pPr marL="0" indent="0">
              <a:lnSpc>
                <a:spcPct val="115000"/>
              </a:lnSpc>
              <a:buNone/>
            </a:pP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def save_explicit(self, *, key, value,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scope, ttl_hint="", **kw):</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if not ttl_hint: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mtype = kw.get("memory_type","decision")</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ttl_hint = self._ttl_defaults.get(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mtype, "30d")</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rec = self._pg.save_explicit(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key=key, value=value, scope=scope,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ttl_hint=ttl_hint, **kw)</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self._fs.save(scope, key, value)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return rec</a:t>
            </a:r>
            <a:endParaRPr lang="en-US" sz="900" dirty="0"/>
          </a:p>
          <a:p>
            <a:pPr marL="0" indent="0">
              <a:lnSpc>
                <a:spcPct val="115000"/>
              </a:lnSpc>
              <a:buNone/>
            </a:pP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def sweep_expired(self) -&gt; int: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sql = """UPDATE memory_records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SET active=FALSE WHERE active=TRUE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AND ttl_hint IS NOT NULL</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AND updated_at+ttl_hint::interval&lt;NOW()"""</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return self._pg.execute(sql).rowcount</a:t>
            </a:r>
            <a:endParaRPr lang="en-US" sz="900" dirty="0"/>
          </a:p>
        </p:txBody>
      </p:sp>
      <p:sp>
        <p:nvSpPr>
          <p:cNvPr id="12" name="Shape 10"/>
          <p:cNvSpPr/>
          <p:nvPr/>
        </p:nvSpPr>
        <p:spPr>
          <a:xfrm>
            <a:off x="502920" y="3520440"/>
            <a:ext cx="8138160" cy="292608"/>
          </a:xfrm>
          <a:prstGeom prst="rect">
            <a:avLst/>
          </a:prstGeom>
          <a:solidFill>
            <a:srgbClr val="E0F7FA"/>
          </a:solidFill>
          <a:ln w="12700">
            <a:solidFill>
              <a:srgbClr val="0097A7"/>
            </a:solidFill>
            <a:prstDash val="solid"/>
          </a:ln>
        </p:spPr>
        <p:txBody>
          <a:bodyPr/>
          <a:lstStyle/>
          <a:p>
            <a:endParaRPr lang="en-US"/>
          </a:p>
        </p:txBody>
      </p:sp>
      <p:sp>
        <p:nvSpPr>
          <p:cNvPr id="13" name="Text 11"/>
          <p:cNvSpPr/>
          <p:nvPr/>
        </p:nvSpPr>
        <p:spPr>
          <a:xfrm>
            <a:off x="594360" y="3520440"/>
            <a:ext cx="7955280" cy="292608"/>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Integration: kernel.py line 145 — replace conditional init with MemoryFacade(pg_store, file_store, settings). All downstream code (memory_selector, memory_write_manager, tools/groups/memory.py) unchanged — Facade implements the same Protocol.</a:t>
            </a:r>
            <a:endParaRPr lang="en-US" sz="1000" dirty="0"/>
          </a:p>
        </p:txBody>
      </p:sp>
      <p:sp>
        <p:nvSpPr>
          <p:cNvPr id="14" name="Text 12"/>
          <p:cNvSpPr/>
          <p:nvPr/>
        </p:nvSpPr>
        <p:spPr>
          <a:xfrm>
            <a:off x="502920" y="3886200"/>
            <a:ext cx="8138160" cy="182880"/>
          </a:xfrm>
          <a:prstGeom prst="rect">
            <a:avLst/>
          </a:prstGeom>
          <a:noFill/>
          <a:ln/>
        </p:spPr>
        <p:txBody>
          <a:bodyPr wrap="square" lIns="0" tIns="0" rIns="0" bIns="0" rtlCol="0" anchor="ctr"/>
          <a:lstStyle/>
          <a:p>
            <a:pPr marL="0" indent="0">
              <a:buNone/>
            </a:pPr>
            <a:r>
              <a:rPr lang="en-US" sz="800" dirty="0">
                <a:solidFill>
                  <a:srgbClr val="999999"/>
                </a:solidFill>
                <a:latin typeface="Courier New" pitchFamily="34" charset="0"/>
                <a:ea typeface="Courier New" pitchFamily="34" charset="-122"/>
                <a:cs typeface="Courier New" pitchFamily="34" charset="-120"/>
              </a:rPr>
              <a:t>Files: memory/facade.py (new ~120 lines) · runtime/kernel.py (modify lines 145-168) · settings.py (add ttl_defaults)</a:t>
            </a:r>
            <a:endParaRPr lang="en-US" sz="800" dirty="0"/>
          </a:p>
        </p:txBody>
      </p:sp>
      <p:sp>
        <p:nvSpPr>
          <p:cNvPr id="15" name="Text 13"/>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Depends on: persistence/postgres/memory_v2.py (831 lines), memory/file_store.py (257 lines)</a:t>
            </a:r>
            <a:endParaRPr lang="en-US" sz="90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Impl 2 — Importance Decay + Confidence Filter</a:t>
            </a:r>
            <a:endParaRPr lang="en-US" sz="2600" dirty="0"/>
          </a:p>
        </p:txBody>
      </p:sp>
      <p:sp>
        <p:nvSpPr>
          <p:cNvPr id="3" name="Text 1"/>
          <p:cNvSpPr/>
          <p:nvPr/>
        </p:nvSpPr>
        <p:spPr>
          <a:xfrm>
            <a:off x="502920" y="804672"/>
            <a:ext cx="3840480" cy="201168"/>
          </a:xfrm>
          <a:prstGeom prst="rect">
            <a:avLst/>
          </a:prstGeom>
          <a:noFill/>
          <a:ln/>
        </p:spPr>
        <p:txBody>
          <a:bodyPr wrap="square" lIns="0" tIns="0" rIns="0" bIns="0" rtlCol="0" anchor="ctr"/>
          <a:lstStyle/>
          <a:p>
            <a:pPr marL="0" indent="0">
              <a:buNone/>
            </a:pPr>
            <a:r>
              <a:rPr lang="en-US" sz="1100" b="1" dirty="0">
                <a:solidFill>
                  <a:srgbClr val="1B2A4A"/>
                </a:solidFill>
                <a:latin typeface="Arial" pitchFamily="34" charset="0"/>
                <a:ea typeface="Arial" pitchFamily="34" charset="-122"/>
                <a:cs typeface="Arial" pitchFamily="34" charset="-120"/>
              </a:rPr>
              <a:t>Implementation Steps</a:t>
            </a:r>
            <a:endParaRPr lang="en-US" sz="1100" dirty="0"/>
          </a:p>
        </p:txBody>
      </p:sp>
      <p:sp>
        <p:nvSpPr>
          <p:cNvPr id="4" name="Text 2"/>
          <p:cNvSpPr/>
          <p:nvPr/>
        </p:nvSpPr>
        <p:spPr>
          <a:xfrm>
            <a:off x="502920" y="1051560"/>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1: </a:t>
            </a:r>
            <a:r>
              <a:rPr lang="en-US" sz="850" b="1" dirty="0">
                <a:solidFill>
                  <a:srgbClr val="1B2A4A"/>
                </a:solidFill>
              </a:rPr>
              <a:t>Add decay config to settings
</a:t>
            </a:r>
            <a:r>
              <a:rPr lang="en-US" sz="750" dirty="0">
                <a:solidFill>
                  <a:srgbClr val="666666"/>
                </a:solidFill>
              </a:rPr>
              <a:t>New dict decay_rates: {profile_preference: 0.998, task_state: 0.95, decision: 0.99, constraint: 0.995, open_loop: 0.96}. Controls how fast importance fades per memory type.</a:t>
            </a:r>
            <a:endParaRPr lang="en-US" sz="850" dirty="0"/>
          </a:p>
        </p:txBody>
      </p:sp>
      <p:sp>
        <p:nvSpPr>
          <p:cNvPr id="5" name="Text 3"/>
          <p:cNvSpPr/>
          <p:nvPr/>
        </p:nvSpPr>
        <p:spPr>
          <a:xfrm>
            <a:off x="502920" y="1435608"/>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2: </a:t>
            </a:r>
            <a:r>
              <a:rPr lang="en-US" sz="850" b="1" dirty="0">
                <a:solidFill>
                  <a:srgbClr val="1B2A4A"/>
                </a:solidFill>
              </a:rPr>
              <a:t>Add effective_importance() to store.py
</a:t>
            </a:r>
            <a:r>
              <a:rPr lang="en-US" sz="750" dirty="0">
                <a:solidFill>
                  <a:srgbClr val="666666"/>
                </a:solidFill>
              </a:rPr>
              <a:t>New method on ManagedMemoryRecord: computes importance × decay^days_since_last_used. Uses last_used_at (already tracked by touch_records()).</a:t>
            </a:r>
            <a:endParaRPr lang="en-US" sz="850" dirty="0"/>
          </a:p>
        </p:txBody>
      </p:sp>
      <p:sp>
        <p:nvSpPr>
          <p:cNvPr id="6" name="Text 4"/>
          <p:cNvSpPr/>
          <p:nvPr/>
        </p:nvSpPr>
        <p:spPr>
          <a:xfrm>
            <a:off x="502920" y="1819656"/>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3: </a:t>
            </a:r>
            <a:r>
              <a:rPr lang="en-US" sz="850" b="1" dirty="0">
                <a:solidFill>
                  <a:srgbClr val="1B2A4A"/>
                </a:solidFill>
              </a:rPr>
              <a:t>Modify search_candidates() ordering
</a:t>
            </a:r>
            <a:r>
              <a:rPr lang="en-US" sz="750" dirty="0">
                <a:solidFill>
                  <a:srgbClr val="666666"/>
                </a:solidFill>
              </a:rPr>
              <a:t>In memory_v2.py line ~520, replace ORDER BY importance DESC with a computed column using the decay formula. Postgres can compute this inline.</a:t>
            </a:r>
            <a:endParaRPr lang="en-US" sz="850" dirty="0"/>
          </a:p>
        </p:txBody>
      </p:sp>
      <p:sp>
        <p:nvSpPr>
          <p:cNvPr id="7" name="Text 5"/>
          <p:cNvSpPr/>
          <p:nvPr/>
        </p:nvSpPr>
        <p:spPr>
          <a:xfrm>
            <a:off x="502920" y="2203704"/>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4: </a:t>
            </a:r>
            <a:r>
              <a:rPr lang="en-US" sz="850" b="1" dirty="0">
                <a:solidFill>
                  <a:srgbClr val="1B2A4A"/>
                </a:solidFill>
              </a:rPr>
              <a:t>Add confidence filter to manager.py
</a:t>
            </a:r>
            <a:r>
              <a:rPr lang="en-US" sz="750" dirty="0">
                <a:solidFill>
                  <a:srgbClr val="666666"/>
                </a:solidFill>
              </a:rPr>
              <a:t>In MemorySelector.select_candidates(), filter out candidates with confidence &lt; threshold (default 0.4). Tag remaining low-confidence (0.4-0.6) with [uncertain].</a:t>
            </a:r>
            <a:endParaRPr lang="en-US" sz="850" dirty="0"/>
          </a:p>
        </p:txBody>
      </p:sp>
      <p:sp>
        <p:nvSpPr>
          <p:cNvPr id="8" name="Text 6"/>
          <p:cNvSpPr/>
          <p:nvPr/>
        </p:nvSpPr>
        <p:spPr>
          <a:xfrm>
            <a:off x="502920" y="2587752"/>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5: </a:t>
            </a:r>
            <a:r>
              <a:rPr lang="en-US" sz="850" b="1" dirty="0">
                <a:solidFill>
                  <a:srgbClr val="1B2A4A"/>
                </a:solidFill>
              </a:rPr>
              <a:t>Add confidence_threshold to settings
</a:t>
            </a:r>
            <a:r>
              <a:rPr lang="en-US" sz="750" dirty="0">
                <a:solidFill>
                  <a:srgbClr val="666666"/>
                </a:solidFill>
              </a:rPr>
              <a:t>Expose as configurable setting. Default 0.4. Agents can override via metadata.</a:t>
            </a:r>
            <a:endParaRPr lang="en-US" sz="850" dirty="0"/>
          </a:p>
        </p:txBody>
      </p:sp>
      <p:sp>
        <p:nvSpPr>
          <p:cNvPr id="9" name="Text 7"/>
          <p:cNvSpPr/>
          <p:nvPr/>
        </p:nvSpPr>
        <p:spPr>
          <a:xfrm>
            <a:off x="4572000" y="804672"/>
            <a:ext cx="4069080" cy="201168"/>
          </a:xfrm>
          <a:prstGeom prst="rect">
            <a:avLst/>
          </a:prstGeom>
          <a:noFill/>
          <a:ln/>
        </p:spPr>
        <p:txBody>
          <a:bodyPr wrap="square" lIns="0" tIns="0" rIns="0" bIns="0" rtlCol="0" anchor="ctr"/>
          <a:lstStyle/>
          <a:p>
            <a:pPr marL="0" indent="0">
              <a:buNone/>
            </a:pPr>
            <a:r>
              <a:rPr lang="en-US" sz="1000" b="1" dirty="0">
                <a:solidFill>
                  <a:srgbClr val="1B2A4A"/>
                </a:solidFill>
                <a:latin typeface="Arial" pitchFamily="34" charset="0"/>
                <a:ea typeface="Arial" pitchFamily="34" charset="-122"/>
                <a:cs typeface="Arial" pitchFamily="34" charset="-120"/>
              </a:rPr>
              <a:t>store.py — Decay Calculation</a:t>
            </a:r>
            <a:endParaRPr lang="en-US" sz="1000" dirty="0"/>
          </a:p>
        </p:txBody>
      </p:sp>
      <p:sp>
        <p:nvSpPr>
          <p:cNvPr id="10" name="Shape 8"/>
          <p:cNvSpPr/>
          <p:nvPr/>
        </p:nvSpPr>
        <p:spPr>
          <a:xfrm>
            <a:off x="4572000" y="1051560"/>
            <a:ext cx="4069080" cy="1234440"/>
          </a:xfrm>
          <a:prstGeom prst="rect">
            <a:avLst/>
          </a:prstGeom>
          <a:solidFill>
            <a:srgbClr val="2D2D2D"/>
          </a:solidFill>
          <a:ln/>
        </p:spPr>
        <p:txBody>
          <a:bodyPr/>
          <a:lstStyle/>
          <a:p>
            <a:endParaRPr lang="en-US"/>
          </a:p>
        </p:txBody>
      </p:sp>
      <p:sp>
        <p:nvSpPr>
          <p:cNvPr id="11" name="Text 9"/>
          <p:cNvSpPr/>
          <p:nvPr/>
        </p:nvSpPr>
        <p:spPr>
          <a:xfrm>
            <a:off x="4681728" y="1106424"/>
            <a:ext cx="3849624" cy="1124712"/>
          </a:xfrm>
          <a:prstGeom prst="rect">
            <a:avLst/>
          </a:prstGeom>
          <a:noFill/>
          <a:ln/>
        </p:spPr>
        <p:txBody>
          <a:bodyPr wrap="square" lIns="0" tIns="0" rIns="0" bIns="0" rtlCol="0" anchor="t"/>
          <a:lstStyle/>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Add to ManagedMemoryRecord dataclass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def effective_importance(self, decay_rates):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rate = decay_rates.get(self.memory_type, 0.99)</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if not self.last_used_at: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return self.importance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days = (datetime.utcnow()</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parse_iso(self.last_used_at)).days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return self.importance * (rate ** days)</a:t>
            </a:r>
            <a:endParaRPr lang="en-US" sz="900" dirty="0"/>
          </a:p>
        </p:txBody>
      </p:sp>
      <p:sp>
        <p:nvSpPr>
          <p:cNvPr id="12" name="Text 10"/>
          <p:cNvSpPr/>
          <p:nvPr/>
        </p:nvSpPr>
        <p:spPr>
          <a:xfrm>
            <a:off x="4572000" y="2377440"/>
            <a:ext cx="4069080" cy="201168"/>
          </a:xfrm>
          <a:prstGeom prst="rect">
            <a:avLst/>
          </a:prstGeom>
          <a:noFill/>
          <a:ln/>
        </p:spPr>
        <p:txBody>
          <a:bodyPr wrap="square" lIns="0" tIns="0" rIns="0" bIns="0" rtlCol="0" anchor="ctr"/>
          <a:lstStyle/>
          <a:p>
            <a:pPr marL="0" indent="0">
              <a:buNone/>
            </a:pPr>
            <a:r>
              <a:rPr lang="en-US" sz="1000" b="1" dirty="0">
                <a:solidFill>
                  <a:srgbClr val="1B2A4A"/>
                </a:solidFill>
                <a:latin typeface="Arial" pitchFamily="34" charset="0"/>
                <a:ea typeface="Arial" pitchFamily="34" charset="-122"/>
                <a:cs typeface="Arial" pitchFamily="34" charset="-120"/>
              </a:rPr>
              <a:t>memory_v2.py — SQL with Decay</a:t>
            </a:r>
            <a:endParaRPr lang="en-US" sz="1000" dirty="0"/>
          </a:p>
        </p:txBody>
      </p:sp>
      <p:sp>
        <p:nvSpPr>
          <p:cNvPr id="13" name="Shape 11"/>
          <p:cNvSpPr/>
          <p:nvPr/>
        </p:nvSpPr>
        <p:spPr>
          <a:xfrm>
            <a:off x="4572000" y="2606040"/>
            <a:ext cx="4069080" cy="914400"/>
          </a:xfrm>
          <a:prstGeom prst="rect">
            <a:avLst/>
          </a:prstGeom>
          <a:solidFill>
            <a:srgbClr val="2D2D2D"/>
          </a:solidFill>
          <a:ln/>
        </p:spPr>
        <p:txBody>
          <a:bodyPr/>
          <a:lstStyle/>
          <a:p>
            <a:endParaRPr lang="en-US"/>
          </a:p>
        </p:txBody>
      </p:sp>
      <p:sp>
        <p:nvSpPr>
          <p:cNvPr id="14" name="Text 12"/>
          <p:cNvSpPr/>
          <p:nvPr/>
        </p:nvSpPr>
        <p:spPr>
          <a:xfrm>
            <a:off x="4681728" y="2660904"/>
            <a:ext cx="3849624" cy="804672"/>
          </a:xfrm>
          <a:prstGeom prst="rect">
            <a:avLst/>
          </a:prstGeom>
          <a:noFill/>
          <a:ln/>
        </p:spPr>
        <p:txBody>
          <a:bodyPr wrap="square" lIns="0" tIns="0" rIns="0" bIns="0" rtlCol="0" anchor="t"/>
          <a:lstStyle/>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In search_candidates(), replace ORDER BY</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ORDER BY importance * POWER(</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COALESCE(decay_rate, 0.99),</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EXTRACT(EPOCH FROM NOW()-last_used_at)/86400</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DESC LIMIT %s</a:t>
            </a:r>
            <a:endParaRPr lang="en-US" sz="900" dirty="0"/>
          </a:p>
        </p:txBody>
      </p:sp>
      <p:sp>
        <p:nvSpPr>
          <p:cNvPr id="15" name="Text 13"/>
          <p:cNvSpPr/>
          <p:nvPr/>
        </p:nvSpPr>
        <p:spPr>
          <a:xfrm>
            <a:off x="4572000" y="3611880"/>
            <a:ext cx="4069080" cy="201168"/>
          </a:xfrm>
          <a:prstGeom prst="rect">
            <a:avLst/>
          </a:prstGeom>
          <a:noFill/>
          <a:ln/>
        </p:spPr>
        <p:txBody>
          <a:bodyPr wrap="square" lIns="0" tIns="0" rIns="0" bIns="0" rtlCol="0" anchor="ctr"/>
          <a:lstStyle/>
          <a:p>
            <a:pPr marL="0" indent="0">
              <a:buNone/>
            </a:pPr>
            <a:r>
              <a:rPr lang="en-US" sz="1000" b="1" dirty="0">
                <a:solidFill>
                  <a:srgbClr val="1B2A4A"/>
                </a:solidFill>
                <a:latin typeface="Arial" pitchFamily="34" charset="0"/>
                <a:ea typeface="Arial" pitchFamily="34" charset="-122"/>
                <a:cs typeface="Arial" pitchFamily="34" charset="-120"/>
              </a:rPr>
              <a:t>manager.py — Confidence Filter</a:t>
            </a:r>
            <a:endParaRPr lang="en-US" sz="1000" dirty="0"/>
          </a:p>
        </p:txBody>
      </p:sp>
      <p:sp>
        <p:nvSpPr>
          <p:cNvPr id="16" name="Shape 14"/>
          <p:cNvSpPr/>
          <p:nvPr/>
        </p:nvSpPr>
        <p:spPr>
          <a:xfrm>
            <a:off x="4572000" y="3840480"/>
            <a:ext cx="4069080" cy="594360"/>
          </a:xfrm>
          <a:prstGeom prst="rect">
            <a:avLst/>
          </a:prstGeom>
          <a:solidFill>
            <a:srgbClr val="2D2D2D"/>
          </a:solidFill>
          <a:ln/>
        </p:spPr>
        <p:txBody>
          <a:bodyPr/>
          <a:lstStyle/>
          <a:p>
            <a:endParaRPr lang="en-US"/>
          </a:p>
        </p:txBody>
      </p:sp>
      <p:sp>
        <p:nvSpPr>
          <p:cNvPr id="17" name="Text 15"/>
          <p:cNvSpPr/>
          <p:nvPr/>
        </p:nvSpPr>
        <p:spPr>
          <a:xfrm>
            <a:off x="4681728" y="3895344"/>
            <a:ext cx="3849624" cy="484632"/>
          </a:xfrm>
          <a:prstGeom prst="rect">
            <a:avLst/>
          </a:prstGeom>
          <a:noFill/>
          <a:ln/>
        </p:spPr>
        <p:txBody>
          <a:bodyPr wrap="square" lIns="0" tIns="0" rIns="0" bIns="0" rtlCol="0" anchor="t"/>
          <a:lstStyle/>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In select_candidates(), after search:</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candidates = [c for c in candidates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if (c.record is None or</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c.record.confidence &gt;= threshold)]</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Tag uncertain (0.4-0.6) with prefix</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for c in candidates: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if c.record and c.record.confidence &lt; 0.6:</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c.text = f"[uncertain] {c.text}"</a:t>
            </a:r>
            <a:endParaRPr lang="en-US" sz="900" dirty="0"/>
          </a:p>
        </p:txBody>
      </p:sp>
      <p:sp>
        <p:nvSpPr>
          <p:cNvPr id="18" name="Text 16"/>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memory/store.py (modify), persistence/postgres/memory_v2.py (modify line ~520), memory/manager.py (modify select_candidates)</a:t>
            </a:r>
            <a:endParaRPr lang="en-US" sz="90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Impl 3 — Step-Level Retry Policy</a:t>
            </a:r>
            <a:endParaRPr lang="en-US" sz="2600" dirty="0"/>
          </a:p>
        </p:txBody>
      </p:sp>
      <p:sp>
        <p:nvSpPr>
          <p:cNvPr id="3" name="Text 1"/>
          <p:cNvSpPr/>
          <p:nvPr/>
        </p:nvSpPr>
        <p:spPr>
          <a:xfrm>
            <a:off x="502920" y="804672"/>
            <a:ext cx="3840480" cy="201168"/>
          </a:xfrm>
          <a:prstGeom prst="rect">
            <a:avLst/>
          </a:prstGeom>
          <a:noFill/>
          <a:ln/>
        </p:spPr>
        <p:txBody>
          <a:bodyPr wrap="square" lIns="0" tIns="0" rIns="0" bIns="0" rtlCol="0" anchor="ctr"/>
          <a:lstStyle/>
          <a:p>
            <a:pPr marL="0" indent="0">
              <a:buNone/>
            </a:pPr>
            <a:r>
              <a:rPr lang="en-US" sz="1100" b="1" dirty="0">
                <a:solidFill>
                  <a:srgbClr val="1B2A4A"/>
                </a:solidFill>
                <a:latin typeface="Arial" pitchFamily="34" charset="0"/>
                <a:ea typeface="Arial" pitchFamily="34" charset="-122"/>
                <a:cs typeface="Arial" pitchFamily="34" charset="-120"/>
              </a:rPr>
              <a:t>Implementation Steps</a:t>
            </a:r>
            <a:endParaRPr lang="en-US" sz="1100" dirty="0"/>
          </a:p>
        </p:txBody>
      </p:sp>
      <p:sp>
        <p:nvSpPr>
          <p:cNvPr id="4" name="Text 2"/>
          <p:cNvSpPr/>
          <p:nvPr/>
        </p:nvSpPr>
        <p:spPr>
          <a:xfrm>
            <a:off x="502920" y="1051560"/>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1: </a:t>
            </a:r>
            <a:r>
              <a:rPr lang="en-US" sz="850" b="1" dirty="0">
                <a:solidFill>
                  <a:srgbClr val="1B2A4A"/>
                </a:solidFill>
              </a:rPr>
              <a:t>Create contracts/retry.py
</a:t>
            </a:r>
            <a:r>
              <a:rPr lang="en-US" sz="750" dirty="0">
                <a:solidFill>
                  <a:srgbClr val="666666"/>
                </a:solidFill>
              </a:rPr>
              <a:t>New dataclass RetryPolicy with max_retries, backoff_base, backoff_max, retryable_errors, fallback_tool. Default: 2 retries, 1s base, 30s max.</a:t>
            </a:r>
            <a:endParaRPr lang="en-US" sz="850" dirty="0"/>
          </a:p>
        </p:txBody>
      </p:sp>
      <p:sp>
        <p:nvSpPr>
          <p:cNvPr id="5" name="Text 3"/>
          <p:cNvSpPr/>
          <p:nvPr/>
        </p:nvSpPr>
        <p:spPr>
          <a:xfrm>
            <a:off x="502920" y="1435608"/>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2: </a:t>
            </a:r>
            <a:r>
              <a:rPr lang="en-US" sz="850" b="1" dirty="0">
                <a:solidFill>
                  <a:srgbClr val="1B2A4A"/>
                </a:solidFill>
              </a:rPr>
              <a:t>Add retry_policy to ToolDefinition
</a:t>
            </a:r>
            <a:r>
              <a:rPr lang="en-US" sz="750" dirty="0">
                <a:solidFill>
                  <a:srgbClr val="666666"/>
                </a:solidFill>
              </a:rPr>
              <a:t>New optional field in contracts/tools.py. Each tool can declare its own retry behavior. Default None = use global.</a:t>
            </a:r>
            <a:endParaRPr lang="en-US" sz="850" dirty="0"/>
          </a:p>
        </p:txBody>
      </p:sp>
      <p:sp>
        <p:nvSpPr>
          <p:cNvPr id="6" name="Text 4"/>
          <p:cNvSpPr/>
          <p:nvPr/>
        </p:nvSpPr>
        <p:spPr>
          <a:xfrm>
            <a:off x="502920" y="1819656"/>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3: </a:t>
            </a:r>
            <a:r>
              <a:rPr lang="en-US" sz="850" b="1" dirty="0">
                <a:solidFill>
                  <a:srgbClr val="1B2A4A"/>
                </a:solidFill>
              </a:rPr>
              <a:t>Create runtime/retry.py
</a:t>
            </a:r>
            <a:r>
              <a:rPr lang="en-US" sz="750" dirty="0">
                <a:solidFill>
                  <a:srgbClr val="666666"/>
                </a:solidFill>
              </a:rPr>
              <a:t>New async function retry_with_policy(tool_fn, args, policy). Implements exponential backoff with jitter. Catches retryable errors, falls back if exhausted.</a:t>
            </a:r>
            <a:endParaRPr lang="en-US" sz="850" dirty="0"/>
          </a:p>
        </p:txBody>
      </p:sp>
      <p:sp>
        <p:nvSpPr>
          <p:cNvPr id="7" name="Text 5"/>
          <p:cNvSpPr/>
          <p:nvPr/>
        </p:nvSpPr>
        <p:spPr>
          <a:xfrm>
            <a:off x="502920" y="2203704"/>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4: </a:t>
            </a:r>
            <a:r>
              <a:rPr lang="en-US" sz="850" b="1" dirty="0">
                <a:solidFill>
                  <a:srgbClr val="1B2A4A"/>
                </a:solidFill>
              </a:rPr>
              <a:t>Wrap tool invocation in executor.py
</a:t>
            </a:r>
            <a:r>
              <a:rPr lang="en-US" sz="750" dirty="0">
                <a:solidFill>
                  <a:srgbClr val="666666"/>
                </a:solidFill>
              </a:rPr>
              <a:t>In build_agent_tools(), wrap each tool's invoke function with retry_with_policy(). The wrapper is transparent to langchain.</a:t>
            </a:r>
            <a:endParaRPr lang="en-US" sz="850" dirty="0"/>
          </a:p>
        </p:txBody>
      </p:sp>
      <p:sp>
        <p:nvSpPr>
          <p:cNvPr id="8" name="Text 6"/>
          <p:cNvSpPr/>
          <p:nvPr/>
        </p:nvSpPr>
        <p:spPr>
          <a:xfrm>
            <a:off x="502920" y="2587752"/>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5: </a:t>
            </a:r>
            <a:r>
              <a:rPr lang="en-US" sz="850" b="1" dirty="0">
                <a:solidFill>
                  <a:srgbClr val="1B2A4A"/>
                </a:solidFill>
              </a:rPr>
              <a:t>Configure per-tool policies in registry.py
</a:t>
            </a:r>
            <a:r>
              <a:rPr lang="en-US" sz="750" dirty="0">
                <a:solidFill>
                  <a:srgbClr val="666666"/>
                </a:solidFill>
              </a:rPr>
              <a:t>Set aggressive retry for web/external tools (3 retries). No retry for destructive tools. 1 retry for memory tools.</a:t>
            </a:r>
            <a:endParaRPr lang="en-US" sz="850" dirty="0"/>
          </a:p>
        </p:txBody>
      </p:sp>
      <p:sp>
        <p:nvSpPr>
          <p:cNvPr id="9" name="Text 7"/>
          <p:cNvSpPr/>
          <p:nvPr/>
        </p:nvSpPr>
        <p:spPr>
          <a:xfrm>
            <a:off x="4572000" y="804672"/>
            <a:ext cx="4069080" cy="201168"/>
          </a:xfrm>
          <a:prstGeom prst="rect">
            <a:avLst/>
          </a:prstGeom>
          <a:noFill/>
          <a:ln/>
        </p:spPr>
        <p:txBody>
          <a:bodyPr wrap="square" lIns="0" tIns="0" rIns="0" bIns="0" rtlCol="0" anchor="ctr"/>
          <a:lstStyle/>
          <a:p>
            <a:pPr marL="0" indent="0">
              <a:buNone/>
            </a:pPr>
            <a:r>
              <a:rPr lang="en-US" sz="1000" b="1" dirty="0">
                <a:solidFill>
                  <a:srgbClr val="1B2A4A"/>
                </a:solidFill>
                <a:latin typeface="Arial" pitchFamily="34" charset="0"/>
                <a:ea typeface="Arial" pitchFamily="34" charset="-122"/>
                <a:cs typeface="Arial" pitchFamily="34" charset="-120"/>
              </a:rPr>
              <a:t>contracts/retry.py — Policy Dataclass</a:t>
            </a:r>
            <a:endParaRPr lang="en-US" sz="1000" dirty="0"/>
          </a:p>
        </p:txBody>
      </p:sp>
      <p:sp>
        <p:nvSpPr>
          <p:cNvPr id="10" name="Shape 8"/>
          <p:cNvSpPr/>
          <p:nvPr/>
        </p:nvSpPr>
        <p:spPr>
          <a:xfrm>
            <a:off x="4572000" y="1051560"/>
            <a:ext cx="4069080" cy="1234440"/>
          </a:xfrm>
          <a:prstGeom prst="rect">
            <a:avLst/>
          </a:prstGeom>
          <a:solidFill>
            <a:srgbClr val="2D2D2D"/>
          </a:solidFill>
          <a:ln/>
        </p:spPr>
        <p:txBody>
          <a:bodyPr/>
          <a:lstStyle/>
          <a:p>
            <a:endParaRPr lang="en-US"/>
          </a:p>
        </p:txBody>
      </p:sp>
      <p:sp>
        <p:nvSpPr>
          <p:cNvPr id="11" name="Text 9"/>
          <p:cNvSpPr/>
          <p:nvPr/>
        </p:nvSpPr>
        <p:spPr>
          <a:xfrm>
            <a:off x="4681728" y="1106424"/>
            <a:ext cx="3849624" cy="1124712"/>
          </a:xfrm>
          <a:prstGeom prst="rect">
            <a:avLst/>
          </a:prstGeom>
          <a:noFill/>
          <a:ln/>
        </p:spPr>
        <p:txBody>
          <a:bodyPr wrap="square" lIns="0" tIns="0" rIns="0" bIns="0" rtlCol="0" anchor="t"/>
          <a:lstStyle/>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@dataclass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class RetryPolicy:</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max_retries: int = 2</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backoff_base: float = 1.0   # seconds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backoff_max: float = 30.0</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retryable_errors: tuple = (</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TimeoutError, ConnectionError,</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SandboxUnavailableError)</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fallback_tool: str | None = None</a:t>
            </a:r>
            <a:endParaRPr lang="en-US" sz="900" dirty="0"/>
          </a:p>
        </p:txBody>
      </p:sp>
      <p:sp>
        <p:nvSpPr>
          <p:cNvPr id="12" name="Text 10"/>
          <p:cNvSpPr/>
          <p:nvPr/>
        </p:nvSpPr>
        <p:spPr>
          <a:xfrm>
            <a:off x="4572000" y="2377440"/>
            <a:ext cx="4069080" cy="201168"/>
          </a:xfrm>
          <a:prstGeom prst="rect">
            <a:avLst/>
          </a:prstGeom>
          <a:noFill/>
          <a:ln/>
        </p:spPr>
        <p:txBody>
          <a:bodyPr wrap="square" lIns="0" tIns="0" rIns="0" bIns="0" rtlCol="0" anchor="ctr"/>
          <a:lstStyle/>
          <a:p>
            <a:pPr marL="0" indent="0">
              <a:buNone/>
            </a:pPr>
            <a:r>
              <a:rPr lang="en-US" sz="1000" b="1" dirty="0">
                <a:solidFill>
                  <a:srgbClr val="1B2A4A"/>
                </a:solidFill>
                <a:latin typeface="Arial" pitchFamily="34" charset="0"/>
                <a:ea typeface="Arial" pitchFamily="34" charset="-122"/>
                <a:cs typeface="Arial" pitchFamily="34" charset="-120"/>
              </a:rPr>
              <a:t>runtime/retry.py — Retry Wrapper</a:t>
            </a:r>
            <a:endParaRPr lang="en-US" sz="1000" dirty="0"/>
          </a:p>
        </p:txBody>
      </p:sp>
      <p:sp>
        <p:nvSpPr>
          <p:cNvPr id="13" name="Shape 11"/>
          <p:cNvSpPr/>
          <p:nvPr/>
        </p:nvSpPr>
        <p:spPr>
          <a:xfrm>
            <a:off x="4572000" y="2606040"/>
            <a:ext cx="4069080" cy="1783080"/>
          </a:xfrm>
          <a:prstGeom prst="rect">
            <a:avLst/>
          </a:prstGeom>
          <a:solidFill>
            <a:srgbClr val="2D2D2D"/>
          </a:solidFill>
          <a:ln/>
        </p:spPr>
        <p:txBody>
          <a:bodyPr/>
          <a:lstStyle/>
          <a:p>
            <a:endParaRPr lang="en-US"/>
          </a:p>
        </p:txBody>
      </p:sp>
      <p:sp>
        <p:nvSpPr>
          <p:cNvPr id="14" name="Text 12"/>
          <p:cNvSpPr/>
          <p:nvPr/>
        </p:nvSpPr>
        <p:spPr>
          <a:xfrm>
            <a:off x="4681728" y="2660904"/>
            <a:ext cx="3849624" cy="1673352"/>
          </a:xfrm>
          <a:prstGeom prst="rect">
            <a:avLst/>
          </a:prstGeom>
          <a:noFill/>
          <a:ln/>
        </p:spPr>
        <p:txBody>
          <a:bodyPr wrap="square" lIns="0" tIns="0" rIns="0" bIns="0" rtlCol="0" anchor="t"/>
          <a:lstStyle/>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async def retry_with_policy(</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tool_fn, args, policy: RetryPolicy,</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tool_context=None):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last_err = None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for attempt in range(policy.max_retries + 1):</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try:</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return await tool_fn(**args)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except policy.retryable_errors as 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last_err = 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if attempt &lt; policy.max_retries: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wait = min(</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policy.backoff_base * (2**attempt)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random.uniform(0, 0.5),</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policy.backoff_max)</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await asyncio.sleep(wait)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Exhausted: try fallback tool</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if policy.fallback_tool and tool_context: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fb = tool_context.get(policy.fallback_tool)</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if fb:</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return await fb(**args)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raise last_err</a:t>
            </a:r>
            <a:endParaRPr lang="en-US" sz="900" dirty="0"/>
          </a:p>
        </p:txBody>
      </p:sp>
      <p:sp>
        <p:nvSpPr>
          <p:cNvPr id="15" name="Text 13"/>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contracts/retry.py (new ~30 lines) · runtime/retry.py (new ~50 lines) · tools/executor.py (wrap line ~25) · tools/registry.py (add policies)</a:t>
            </a:r>
            <a:endParaRPr lang="en-US" sz="90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Impl 4 — Parallel Tool Execution</a:t>
            </a:r>
            <a:endParaRPr lang="en-US" sz="2600" dirty="0"/>
          </a:p>
        </p:txBody>
      </p:sp>
      <p:sp>
        <p:nvSpPr>
          <p:cNvPr id="3" name="Text 1"/>
          <p:cNvSpPr/>
          <p:nvPr/>
        </p:nvSpPr>
        <p:spPr>
          <a:xfrm>
            <a:off x="502920" y="804672"/>
            <a:ext cx="3840480" cy="201168"/>
          </a:xfrm>
          <a:prstGeom prst="rect">
            <a:avLst/>
          </a:prstGeom>
          <a:noFill/>
          <a:ln/>
        </p:spPr>
        <p:txBody>
          <a:bodyPr wrap="square" lIns="0" tIns="0" rIns="0" bIns="0" rtlCol="0" anchor="ctr"/>
          <a:lstStyle/>
          <a:p>
            <a:pPr marL="0" indent="0">
              <a:buNone/>
            </a:pPr>
            <a:r>
              <a:rPr lang="en-US" sz="1100" b="1" dirty="0">
                <a:solidFill>
                  <a:srgbClr val="1B2A4A"/>
                </a:solidFill>
                <a:latin typeface="Arial" pitchFamily="34" charset="0"/>
                <a:ea typeface="Arial" pitchFamily="34" charset="-122"/>
                <a:cs typeface="Arial" pitchFamily="34" charset="-120"/>
              </a:rPr>
              <a:t>Implementation Steps</a:t>
            </a:r>
            <a:endParaRPr lang="en-US" sz="1100" dirty="0"/>
          </a:p>
        </p:txBody>
      </p:sp>
      <p:sp>
        <p:nvSpPr>
          <p:cNvPr id="4" name="Text 2"/>
          <p:cNvSpPr/>
          <p:nvPr/>
        </p:nvSpPr>
        <p:spPr>
          <a:xfrm>
            <a:off x="502920" y="1051560"/>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1: </a:t>
            </a:r>
            <a:r>
              <a:rPr lang="en-US" sz="850" b="1" dirty="0">
                <a:solidFill>
                  <a:srgbClr val="1B2A4A"/>
                </a:solidFill>
              </a:rPr>
              <a:t>Add concurrency_group to ToolDefinition
</a:t>
            </a:r>
            <a:r>
              <a:rPr lang="en-US" sz="750" dirty="0">
                <a:solidFill>
                  <a:srgbClr val="666666"/>
                </a:solidFill>
              </a:rPr>
              <a:t>Tag tools that share resources: memory tools → 'memory', workspace tools → 'workspace', sandbox → 'sandbox'. Null = no conflict.</a:t>
            </a:r>
            <a:endParaRPr lang="en-US" sz="850" dirty="0"/>
          </a:p>
        </p:txBody>
      </p:sp>
      <p:sp>
        <p:nvSpPr>
          <p:cNvPr id="5" name="Text 3"/>
          <p:cNvSpPr/>
          <p:nvPr/>
        </p:nvSpPr>
        <p:spPr>
          <a:xfrm>
            <a:off x="502920" y="1435608"/>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2: </a:t>
            </a:r>
            <a:r>
              <a:rPr lang="en-US" sz="850" b="1" dirty="0">
                <a:solidFill>
                  <a:srgbClr val="1B2A4A"/>
                </a:solidFill>
              </a:rPr>
              <a:t>Create runtime/parallel.py
</a:t>
            </a:r>
            <a:r>
              <a:rPr lang="en-US" sz="750" dirty="0">
                <a:solidFill>
                  <a:srgbClr val="666666"/>
                </a:solidFill>
              </a:rPr>
              <a:t>New class ParallelExecutor: takes list of (tool, args) pairs, builds dependency graph from concurrency_group conflicts, runs independent tools via asyncio.gather().</a:t>
            </a:r>
            <a:endParaRPr lang="en-US" sz="850" dirty="0"/>
          </a:p>
        </p:txBody>
      </p:sp>
      <p:sp>
        <p:nvSpPr>
          <p:cNvPr id="6" name="Text 4"/>
          <p:cNvSpPr/>
          <p:nvPr/>
        </p:nvSpPr>
        <p:spPr>
          <a:xfrm>
            <a:off x="502920" y="1819656"/>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3: </a:t>
            </a:r>
            <a:r>
              <a:rPr lang="en-US" sz="850" b="1" dirty="0">
                <a:solidFill>
                  <a:srgbClr val="1B2A4A"/>
                </a:solidFill>
              </a:rPr>
              <a:t>Detect parallel-safe batches
</a:t>
            </a:r>
            <a:r>
              <a:rPr lang="en-US" sz="750" dirty="0">
                <a:solidFill>
                  <a:srgbClr val="666666"/>
                </a:solidFill>
              </a:rPr>
              <a:t>When LLM emits multiple tool_calls in one response, check concurrency_groups. If no overlap → run all in parallel. If overlap → run conflicting tools sequentially.</a:t>
            </a:r>
            <a:endParaRPr lang="en-US" sz="850" dirty="0"/>
          </a:p>
        </p:txBody>
      </p:sp>
      <p:sp>
        <p:nvSpPr>
          <p:cNvPr id="7" name="Text 5"/>
          <p:cNvSpPr/>
          <p:nvPr/>
        </p:nvSpPr>
        <p:spPr>
          <a:xfrm>
            <a:off x="502920" y="2203704"/>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4: </a:t>
            </a:r>
            <a:r>
              <a:rPr lang="en-US" sz="850" b="1" dirty="0">
                <a:solidFill>
                  <a:srgbClr val="1B2A4A"/>
                </a:solidFill>
              </a:rPr>
              <a:t>Integrate into query_loop.py
</a:t>
            </a:r>
            <a:r>
              <a:rPr lang="en-US" sz="750" dirty="0">
                <a:solidFill>
                  <a:srgbClr val="666666"/>
                </a:solidFill>
              </a:rPr>
              <a:t>Replace sequential tool-call loop with ParallelExecutor.execute_batch(). Results returned in original order.</a:t>
            </a:r>
            <a:endParaRPr lang="en-US" sz="850" dirty="0"/>
          </a:p>
        </p:txBody>
      </p:sp>
      <p:sp>
        <p:nvSpPr>
          <p:cNvPr id="8" name="Text 6"/>
          <p:cNvSpPr/>
          <p:nvPr/>
        </p:nvSpPr>
        <p:spPr>
          <a:xfrm>
            <a:off x="502920" y="2587752"/>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5: </a:t>
            </a:r>
            <a:r>
              <a:rPr lang="en-US" sz="850" b="1" dirty="0">
                <a:solidFill>
                  <a:srgbClr val="1B2A4A"/>
                </a:solidFill>
              </a:rPr>
              <a:t>Add max_parallel to settings
</a:t>
            </a:r>
            <a:r>
              <a:rPr lang="en-US" sz="750" dirty="0">
                <a:solidFill>
                  <a:srgbClr val="666666"/>
                </a:solidFill>
              </a:rPr>
              <a:t>Default 4. Limits concurrent Docker containers / DB connections. Semaphore-based throttling.</a:t>
            </a:r>
            <a:endParaRPr lang="en-US" sz="850" dirty="0"/>
          </a:p>
        </p:txBody>
      </p:sp>
      <p:sp>
        <p:nvSpPr>
          <p:cNvPr id="9" name="Text 7"/>
          <p:cNvSpPr/>
          <p:nvPr/>
        </p:nvSpPr>
        <p:spPr>
          <a:xfrm>
            <a:off x="4572000" y="804672"/>
            <a:ext cx="4069080" cy="201168"/>
          </a:xfrm>
          <a:prstGeom prst="rect">
            <a:avLst/>
          </a:prstGeom>
          <a:noFill/>
          <a:ln/>
        </p:spPr>
        <p:txBody>
          <a:bodyPr wrap="square" lIns="0" tIns="0" rIns="0" bIns="0" rtlCol="0" anchor="ctr"/>
          <a:lstStyle/>
          <a:p>
            <a:pPr marL="0" indent="0">
              <a:buNone/>
            </a:pPr>
            <a:r>
              <a:rPr lang="en-US" sz="1000" b="1" dirty="0">
                <a:solidFill>
                  <a:srgbClr val="1B2A4A"/>
                </a:solidFill>
                <a:latin typeface="Arial" pitchFamily="34" charset="0"/>
                <a:ea typeface="Arial" pitchFamily="34" charset="-122"/>
                <a:cs typeface="Arial" pitchFamily="34" charset="-120"/>
              </a:rPr>
              <a:t>runtime/parallel.py — Executor</a:t>
            </a:r>
            <a:endParaRPr lang="en-US" sz="1000" dirty="0"/>
          </a:p>
        </p:txBody>
      </p:sp>
      <p:sp>
        <p:nvSpPr>
          <p:cNvPr id="10" name="Shape 8"/>
          <p:cNvSpPr/>
          <p:nvPr/>
        </p:nvSpPr>
        <p:spPr>
          <a:xfrm>
            <a:off x="4572000" y="1051560"/>
            <a:ext cx="4069080" cy="2377440"/>
          </a:xfrm>
          <a:prstGeom prst="rect">
            <a:avLst/>
          </a:prstGeom>
          <a:solidFill>
            <a:srgbClr val="2D2D2D"/>
          </a:solidFill>
          <a:ln/>
        </p:spPr>
        <p:txBody>
          <a:bodyPr/>
          <a:lstStyle/>
          <a:p>
            <a:endParaRPr lang="en-US"/>
          </a:p>
        </p:txBody>
      </p:sp>
      <p:sp>
        <p:nvSpPr>
          <p:cNvPr id="11" name="Text 9"/>
          <p:cNvSpPr/>
          <p:nvPr/>
        </p:nvSpPr>
        <p:spPr>
          <a:xfrm>
            <a:off x="4681728" y="1106424"/>
            <a:ext cx="3849624" cy="2267712"/>
          </a:xfrm>
          <a:prstGeom prst="rect">
            <a:avLst/>
          </a:prstGeom>
          <a:noFill/>
          <a:ln/>
        </p:spPr>
        <p:txBody>
          <a:bodyPr wrap="square" lIns="0" tIns="0" rIns="0" bIns="0" rtlCol="0" anchor="t"/>
          <a:lstStyle/>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class ParallelExecutor:</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def __init__(self, max_parallel=4):</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self._sem = asyncio.Semaphore(max_parallel)</a:t>
            </a:r>
            <a:endParaRPr lang="en-US" sz="900" dirty="0"/>
          </a:p>
          <a:p>
            <a:pPr marL="0" indent="0">
              <a:lnSpc>
                <a:spcPct val="115000"/>
              </a:lnSpc>
              <a:buNone/>
            </a:pP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async def execute_batch(self, calls, registry):</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groups = self._build_groups(calls, registry)</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results = [None] * len(calls)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for batch in groups:  # sequential batches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async def _run(idx, tool_fn, args):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async with self._sem:</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results[idx] = await tool_fn(**args)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await asyncio.gather(</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*[_run(i, fn, a) for i, fn, a in batch])</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return results</a:t>
            </a:r>
            <a:endParaRPr lang="en-US" sz="900" dirty="0"/>
          </a:p>
          <a:p>
            <a:pPr marL="0" indent="0">
              <a:lnSpc>
                <a:spcPct val="115000"/>
              </a:lnSpc>
              <a:buNone/>
            </a:pP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def _build_groups(self, calls, registry):</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 Group by concurrency_key conflicts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batches, seen_keys = [[]], set()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for i, (name, fn, args) in enumerate(calls):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key = registry[name].concurrency_key</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if key and key in seen_keys: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batches.append([])  # new sequential batch</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seen_keys = set()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seen_keys.add(key)</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batches[-1].append((i, fn, args))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return batches</a:t>
            </a:r>
            <a:endParaRPr lang="en-US" sz="900" dirty="0"/>
          </a:p>
        </p:txBody>
      </p:sp>
      <p:sp>
        <p:nvSpPr>
          <p:cNvPr id="12" name="Text 10"/>
          <p:cNvSpPr/>
          <p:nvPr/>
        </p:nvSpPr>
        <p:spPr>
          <a:xfrm>
            <a:off x="4572000" y="3520440"/>
            <a:ext cx="4069080" cy="201168"/>
          </a:xfrm>
          <a:prstGeom prst="rect">
            <a:avLst/>
          </a:prstGeom>
          <a:noFill/>
          <a:ln/>
        </p:spPr>
        <p:txBody>
          <a:bodyPr wrap="square" lIns="0" tIns="0" rIns="0" bIns="0" rtlCol="0" anchor="ctr"/>
          <a:lstStyle/>
          <a:p>
            <a:pPr marL="0" indent="0">
              <a:buNone/>
            </a:pPr>
            <a:r>
              <a:rPr lang="en-US" sz="1000" b="1" dirty="0">
                <a:solidFill>
                  <a:srgbClr val="1B2A4A"/>
                </a:solidFill>
                <a:latin typeface="Arial" pitchFamily="34" charset="0"/>
                <a:ea typeface="Arial" pitchFamily="34" charset="-122"/>
                <a:cs typeface="Arial" pitchFamily="34" charset="-120"/>
              </a:rPr>
              <a:t>query_loop.py — Integration Point</a:t>
            </a:r>
            <a:endParaRPr lang="en-US" sz="1000" dirty="0"/>
          </a:p>
        </p:txBody>
      </p:sp>
      <p:sp>
        <p:nvSpPr>
          <p:cNvPr id="13" name="Shape 11"/>
          <p:cNvSpPr/>
          <p:nvPr/>
        </p:nvSpPr>
        <p:spPr>
          <a:xfrm>
            <a:off x="4572000" y="3749040"/>
            <a:ext cx="4069080" cy="685800"/>
          </a:xfrm>
          <a:prstGeom prst="rect">
            <a:avLst/>
          </a:prstGeom>
          <a:solidFill>
            <a:srgbClr val="2D2D2D"/>
          </a:solidFill>
          <a:ln/>
        </p:spPr>
        <p:txBody>
          <a:bodyPr/>
          <a:lstStyle/>
          <a:p>
            <a:endParaRPr lang="en-US"/>
          </a:p>
        </p:txBody>
      </p:sp>
      <p:sp>
        <p:nvSpPr>
          <p:cNvPr id="14" name="Text 12"/>
          <p:cNvSpPr/>
          <p:nvPr/>
        </p:nvSpPr>
        <p:spPr>
          <a:xfrm>
            <a:off x="4681728" y="3803904"/>
            <a:ext cx="3849624" cy="576072"/>
          </a:xfrm>
          <a:prstGeom prst="rect">
            <a:avLst/>
          </a:prstGeom>
          <a:noFill/>
          <a:ln/>
        </p:spPr>
        <p:txBody>
          <a:bodyPr wrap="square" lIns="0" tIns="0" rIns="0" bIns="0" rtlCol="0" anchor="t"/>
          <a:lstStyle/>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Replace sequential loop with:</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executor = ParallelExecutor(settings.max_parallel)</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calls = [(tc.name, tc.fn, tc.args)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for tc in message.tool_calls]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results = await executor.execute_batch(</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calls, tool_registry)</a:t>
            </a:r>
            <a:endParaRPr lang="en-US" sz="900" dirty="0"/>
          </a:p>
        </p:txBody>
      </p:sp>
      <p:sp>
        <p:nvSpPr>
          <p:cNvPr id="15" name="Text 13"/>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runtime/parallel.py (new ~80 lines) · contracts/tools.py (add concurrency_key) · runtime/query_loop.py (modify tool loop)</a:t>
            </a:r>
            <a:endParaRPr lang="en-US" sz="90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Impl 5 — Fallback Chains + CoT Capture</a:t>
            </a:r>
            <a:endParaRPr lang="en-US" sz="2600" dirty="0"/>
          </a:p>
        </p:txBody>
      </p:sp>
      <p:sp>
        <p:nvSpPr>
          <p:cNvPr id="3" name="Shape 1"/>
          <p:cNvSpPr/>
          <p:nvPr/>
        </p:nvSpPr>
        <p:spPr>
          <a:xfrm>
            <a:off x="502920" y="841248"/>
            <a:ext cx="3977640" cy="36576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4" name="Shape 2"/>
          <p:cNvSpPr/>
          <p:nvPr/>
        </p:nvSpPr>
        <p:spPr>
          <a:xfrm>
            <a:off x="502920" y="841248"/>
            <a:ext cx="3977640" cy="320040"/>
          </a:xfrm>
          <a:prstGeom prst="rect">
            <a:avLst/>
          </a:prstGeom>
          <a:solidFill>
            <a:srgbClr val="0097A7"/>
          </a:solidFill>
          <a:ln/>
        </p:spPr>
        <p:txBody>
          <a:bodyPr/>
          <a:lstStyle/>
          <a:p>
            <a:endParaRPr lang="en-US"/>
          </a:p>
        </p:txBody>
      </p:sp>
      <p:sp>
        <p:nvSpPr>
          <p:cNvPr id="5" name="Text 3"/>
          <p:cNvSpPr/>
          <p:nvPr/>
        </p:nvSpPr>
        <p:spPr>
          <a:xfrm>
            <a:off x="612648" y="868680"/>
            <a:ext cx="37581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Configurable Fallback Chains</a:t>
            </a:r>
            <a:endParaRPr lang="en-US" sz="1200" dirty="0"/>
          </a:p>
        </p:txBody>
      </p:sp>
      <p:sp>
        <p:nvSpPr>
          <p:cNvPr id="6" name="Text 4"/>
          <p:cNvSpPr/>
          <p:nvPr/>
        </p:nvSpPr>
        <p:spPr>
          <a:xfrm>
            <a:off x="612648" y="1225296"/>
            <a:ext cx="3758184" cy="3182112"/>
          </a:xfrm>
          <a:prstGeom prst="rect">
            <a:avLst/>
          </a:prstGeom>
          <a:noFill/>
          <a:ln/>
        </p:spPr>
        <p:txBody>
          <a:bodyPr wrap="square" lIns="0" tIns="0" rIns="0" bIns="0" rtlCol="0" anchor="t"/>
          <a:lstStyle/>
          <a:p>
            <a:pPr marL="0" indent="0">
              <a:lnSpc>
                <a:spcPct val="110000"/>
              </a:lnSpc>
              <a:buNone/>
            </a:pPr>
            <a:r>
              <a:rPr lang="en-US" sz="800" b="1" dirty="0">
                <a:solidFill>
                  <a:srgbClr val="0097A7"/>
                </a:solidFill>
                <a:latin typeface="Arial" pitchFamily="34" charset="0"/>
                <a:ea typeface="Arial" pitchFamily="34" charset="-122"/>
                <a:cs typeface="Arial" pitchFamily="34" charset="-120"/>
              </a:rPr>
              <a:t>Step 1: Add fallback_chains to AgentDefinition
</a:t>
            </a:r>
            <a:r>
              <a:rPr lang="en-US" sz="750" dirty="0">
                <a:solidFill>
                  <a:srgbClr val="333333"/>
                </a:solidFill>
                <a:latin typeface="Arial" pitchFamily="34" charset="0"/>
                <a:ea typeface="Arial" pitchFamily="34" charset="-122"/>
                <a:cs typeface="Arial" pitchFamily="34" charset="-120"/>
              </a:rPr>
              <a:t>New field: Dict[str, List[str]]. Key = error class, value = ordered strategy list.
</a:t>
            </a:r>
            <a:r>
              <a:rPr lang="en-US" sz="800" b="1" dirty="0">
                <a:solidFill>
                  <a:srgbClr val="0097A7"/>
                </a:solidFill>
                <a:latin typeface="Arial" pitchFamily="34" charset="0"/>
                <a:ea typeface="Arial" pitchFamily="34" charset="-122"/>
                <a:cs typeface="Arial" pitchFamily="34" charset="-120"/>
              </a:rPr>
              <a:t>Step 2: Define strategy registry
</a:t>
            </a:r>
            <a:r>
              <a:rPr lang="en-US" sz="750" dirty="0">
                <a:solidFill>
                  <a:srgbClr val="333333"/>
                </a:solidFill>
                <a:latin typeface="Arial" pitchFamily="34" charset="0"/>
                <a:ea typeface="Arial" pitchFamily="34" charset="-122"/>
                <a:cs typeface="Arial" pitchFamily="34" charset="-120"/>
              </a:rPr>
              <a:t>Strategies: 'retry_simpler_prompt', 'fallback_to_basic_agent', 'ask_user_clarification', 'return_partial_result', 'escalate_to_coordinator'.
</a:t>
            </a:r>
            <a:r>
              <a:rPr lang="en-US" sz="800" b="1" dirty="0">
                <a:solidFill>
                  <a:srgbClr val="0097A7"/>
                </a:solidFill>
                <a:latin typeface="Arial" pitchFamily="34" charset="0"/>
                <a:ea typeface="Arial" pitchFamily="34" charset="-122"/>
                <a:cs typeface="Arial" pitchFamily="34" charset="-120"/>
              </a:rPr>
              <a:t>Step 3: Create runtime/fallback.py
</a:t>
            </a:r>
            <a:r>
              <a:rPr lang="en-US" sz="750" dirty="0">
                <a:solidFill>
                  <a:srgbClr val="333333"/>
                </a:solidFill>
                <a:latin typeface="Arial" pitchFamily="34" charset="0"/>
                <a:ea typeface="Arial" pitchFamily="34" charset="-122"/>
                <a:cs typeface="Arial" pitchFamily="34" charset="-120"/>
              </a:rPr>
              <a:t>FallbackChainExecutor walks the chain until one succeeds. Each strategy is an async function with (error, context) → result|None signature.
</a:t>
            </a:r>
            <a:r>
              <a:rPr lang="en-US" sz="800" b="1" dirty="0">
                <a:solidFill>
                  <a:srgbClr val="0097A7"/>
                </a:solidFill>
                <a:latin typeface="Arial" pitchFamily="34" charset="0"/>
                <a:ea typeface="Arial" pitchFamily="34" charset="-122"/>
                <a:cs typeface="Arial" pitchFamily="34" charset="-120"/>
              </a:rPr>
              <a:t>Step 4: Wire into _finalize_messages()
</a:t>
            </a:r>
            <a:r>
              <a:rPr lang="en-US" sz="750" dirty="0">
                <a:solidFill>
                  <a:srgbClr val="333333"/>
                </a:solidFill>
                <a:latin typeface="Arial" pitchFamily="34" charset="0"/>
                <a:ea typeface="Arial" pitchFamily="34" charset="-122"/>
                <a:cs typeface="Arial" pitchFamily="34" charset="-120"/>
              </a:rPr>
              <a:t>Replace hardcoded 4-strategy fallback in kernel.py with chain lookup from agent.fallback_chains[error_type].
</a:t>
            </a:r>
            <a:r>
              <a:rPr lang="en-US" sz="800" b="1" dirty="0">
                <a:solidFill>
                  <a:srgbClr val="1B2A4A"/>
                </a:solidFill>
                <a:latin typeface="Arial" pitchFamily="34" charset="0"/>
                <a:ea typeface="Arial" pitchFamily="34" charset="-122"/>
                <a:cs typeface="Arial" pitchFamily="34" charset="-120"/>
              </a:rPr>
              <a:t>Config in agent .md files:
</a:t>
            </a:r>
            <a:r>
              <a:rPr lang="en-US" sz="750" dirty="0">
                <a:solidFill>
                  <a:srgbClr val="666666"/>
                </a:solidFill>
                <a:latin typeface="Courier New" pitchFamily="34" charset="0"/>
                <a:ea typeface="Courier New" pitchFamily="34" charset="-122"/>
                <a:cs typeface="Courier New" pitchFamily="34" charset="-120"/>
              </a:rPr>
              <a:t>fallback_chains:</a:t>
            </a:r>
            <a:endParaRPr lang="en-US" sz="1000" dirty="0"/>
          </a:p>
          <a:p>
            <a:pPr marL="0" indent="0">
              <a:lnSpc>
                <a:spcPct val="110000"/>
              </a:lnSpc>
              <a:buNone/>
            </a:pPr>
            <a:r>
              <a:rPr lang="en-US" sz="750" dirty="0">
                <a:solidFill>
                  <a:srgbClr val="666666"/>
                </a:solidFill>
                <a:latin typeface="Courier New" pitchFamily="34" charset="0"/>
                <a:ea typeface="Courier New" pitchFamily="34" charset="-122"/>
                <a:cs typeface="Courier New" pitchFamily="34" charset="-120"/>
              </a:rPr>
              <a:t>  timeout: [retry_simpler, fallback_basic]</a:t>
            </a:r>
            <a:endParaRPr lang="en-US" sz="1000" dirty="0"/>
          </a:p>
          <a:p>
            <a:pPr marL="0" indent="0">
              <a:lnSpc>
                <a:spcPct val="110000"/>
              </a:lnSpc>
              <a:buNone/>
            </a:pPr>
            <a:r>
              <a:rPr lang="en-US" sz="750" dirty="0">
                <a:solidFill>
                  <a:srgbClr val="666666"/>
                </a:solidFill>
                <a:latin typeface="Courier New" pitchFamily="34" charset="0"/>
                <a:ea typeface="Courier New" pitchFamily="34" charset="-122"/>
                <a:cs typeface="Courier New" pitchFamily="34" charset="-120"/>
              </a:rPr>
              <a:t>  context_overflow: [summarize, retry]</a:t>
            </a:r>
            <a:endParaRPr lang="en-US" sz="1000" dirty="0"/>
          </a:p>
          <a:p>
            <a:pPr marL="0" indent="0">
              <a:lnSpc>
                <a:spcPct val="110000"/>
              </a:lnSpc>
              <a:buNone/>
            </a:pPr>
            <a:r>
              <a:rPr lang="en-US" sz="750" dirty="0">
                <a:solidFill>
                  <a:srgbClr val="666666"/>
                </a:solidFill>
                <a:latin typeface="Courier New" pitchFamily="34" charset="0"/>
                <a:ea typeface="Courier New" pitchFamily="34" charset="-122"/>
                <a:cs typeface="Courier New" pitchFamily="34" charset="-120"/>
              </a:rPr>
              <a:t>  tool_error: [retry, ask_user]</a:t>
            </a:r>
            <a:endParaRPr lang="en-US" sz="1000" dirty="0"/>
          </a:p>
        </p:txBody>
      </p:sp>
      <p:sp>
        <p:nvSpPr>
          <p:cNvPr id="7" name="Shape 5"/>
          <p:cNvSpPr/>
          <p:nvPr/>
        </p:nvSpPr>
        <p:spPr>
          <a:xfrm>
            <a:off x="4663440" y="841248"/>
            <a:ext cx="3977640" cy="365760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8" name="Shape 6"/>
          <p:cNvSpPr/>
          <p:nvPr/>
        </p:nvSpPr>
        <p:spPr>
          <a:xfrm>
            <a:off x="4663440" y="841248"/>
            <a:ext cx="3977640" cy="320040"/>
          </a:xfrm>
          <a:prstGeom prst="rect">
            <a:avLst/>
          </a:prstGeom>
          <a:solidFill>
            <a:srgbClr val="00796B"/>
          </a:solidFill>
          <a:ln/>
        </p:spPr>
        <p:txBody>
          <a:bodyPr/>
          <a:lstStyle/>
          <a:p>
            <a:endParaRPr lang="en-US"/>
          </a:p>
        </p:txBody>
      </p:sp>
      <p:sp>
        <p:nvSpPr>
          <p:cNvPr id="9" name="Text 7"/>
          <p:cNvSpPr/>
          <p:nvPr/>
        </p:nvSpPr>
        <p:spPr>
          <a:xfrm>
            <a:off x="4773168" y="868680"/>
            <a:ext cx="37581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Chain-of-Thought Capture</a:t>
            </a:r>
            <a:endParaRPr lang="en-US" sz="1200" dirty="0"/>
          </a:p>
        </p:txBody>
      </p:sp>
      <p:sp>
        <p:nvSpPr>
          <p:cNvPr id="10" name="Text 8"/>
          <p:cNvSpPr/>
          <p:nvPr/>
        </p:nvSpPr>
        <p:spPr>
          <a:xfrm>
            <a:off x="4773168" y="1225296"/>
            <a:ext cx="3758184" cy="3182112"/>
          </a:xfrm>
          <a:prstGeom prst="rect">
            <a:avLst/>
          </a:prstGeom>
          <a:noFill/>
          <a:ln/>
        </p:spPr>
        <p:txBody>
          <a:bodyPr wrap="square" lIns="0" tIns="0" rIns="0" bIns="0" rtlCol="0" anchor="t"/>
          <a:lstStyle/>
          <a:p>
            <a:pPr marL="0" indent="0">
              <a:lnSpc>
                <a:spcPct val="110000"/>
              </a:lnSpc>
              <a:buNone/>
            </a:pPr>
            <a:r>
              <a:rPr lang="en-US" sz="800" b="1" dirty="0">
                <a:solidFill>
                  <a:srgbClr val="00796B"/>
                </a:solidFill>
                <a:latin typeface="Arial" pitchFamily="34" charset="0"/>
                <a:ea typeface="Arial" pitchFamily="34" charset="-122"/>
                <a:cs typeface="Arial" pitchFamily="34" charset="-120"/>
              </a:rPr>
              <a:t>Step 1: Create contracts/reasoning.py
</a:t>
            </a:r>
            <a:r>
              <a:rPr lang="en-US" sz="750" dirty="0">
                <a:solidFill>
                  <a:srgbClr val="333333"/>
                </a:solidFill>
                <a:latin typeface="Arial" pitchFamily="34" charset="0"/>
                <a:ea typeface="Arial" pitchFamily="34" charset="-122"/>
                <a:cs typeface="Arial" pitchFamily="34" charset="-120"/>
              </a:rPr>
              <a:t>Dataclass ReasoningArtifact: step_num, thought, action, observation, latency_ms, token_count.
</a:t>
            </a:r>
            <a:r>
              <a:rPr lang="en-US" sz="800" b="1" dirty="0">
                <a:solidFill>
                  <a:srgbClr val="00796B"/>
                </a:solidFill>
                <a:latin typeface="Arial" pitchFamily="34" charset="0"/>
                <a:ea typeface="Arial" pitchFamily="34" charset="-122"/>
                <a:cs typeface="Arial" pitchFamily="34" charset="-120"/>
              </a:rPr>
              <a:t>Step 2: Create runtime/cot_store.py
</a:t>
            </a:r>
            <a:r>
              <a:rPr lang="en-US" sz="750" dirty="0">
                <a:solidFill>
                  <a:srgbClr val="333333"/>
                </a:solidFill>
                <a:latin typeface="Arial" pitchFamily="34" charset="0"/>
                <a:ea typeface="Arial" pitchFamily="34" charset="-122"/>
                <a:cs typeface="Arial" pitchFamily="34" charset="-120"/>
              </a:rPr>
              <a:t>Session-scoped store: append(artifact), list(session_id), get_chain(session_id). Backed by session state JSON.
</a:t>
            </a:r>
            <a:r>
              <a:rPr lang="en-US" sz="800" b="1" dirty="0">
                <a:solidFill>
                  <a:srgbClr val="00796B"/>
                </a:solidFill>
                <a:latin typeface="Arial" pitchFamily="34" charset="0"/>
                <a:ea typeface="Arial" pitchFamily="34" charset="-122"/>
                <a:cs typeface="Arial" pitchFamily="34" charset="-120"/>
              </a:rPr>
              <a:t>Step 3: Capture in query_loop.py
</a:t>
            </a:r>
            <a:r>
              <a:rPr lang="en-US" sz="750" dirty="0">
                <a:solidFill>
                  <a:srgbClr val="333333"/>
                </a:solidFill>
                <a:latin typeface="Arial" pitchFamily="34" charset="0"/>
                <a:ea typeface="Arial" pitchFamily="34" charset="-122"/>
                <a:cs typeface="Arial" pitchFamily="34" charset="-120"/>
              </a:rPr>
              <a:t>After each LLM response, extract thought from AI message content. After each tool result, record as observation. Build artifact per step.
</a:t>
            </a:r>
            <a:r>
              <a:rPr lang="en-US" sz="800" b="1" dirty="0">
                <a:solidFill>
                  <a:srgbClr val="00796B"/>
                </a:solidFill>
                <a:latin typeface="Arial" pitchFamily="34" charset="0"/>
                <a:ea typeface="Arial" pitchFamily="34" charset="-122"/>
                <a:cs typeface="Arial" pitchFamily="34" charset="-120"/>
              </a:rPr>
              <a:t>Step 4: Expose via /v1/sessions/{id}/reasoning
</a:t>
            </a:r>
            <a:r>
              <a:rPr lang="en-US" sz="750" dirty="0">
                <a:solidFill>
                  <a:srgbClr val="333333"/>
                </a:solidFill>
                <a:latin typeface="Arial" pitchFamily="34" charset="0"/>
                <a:ea typeface="Arial" pitchFamily="34" charset="-122"/>
                <a:cs typeface="Arial" pitchFamily="34" charset="-120"/>
              </a:rPr>
              <a:t>New GET endpoint returns the reasoning chain. Powers debugging UI and verification.
</a:t>
            </a:r>
            <a:r>
              <a:rPr lang="en-US" sz="800" b="1" dirty="0">
                <a:solidFill>
                  <a:srgbClr val="1B2A4A"/>
                </a:solidFill>
                <a:latin typeface="Arial" pitchFamily="34" charset="0"/>
                <a:ea typeface="Arial" pitchFamily="34" charset="-122"/>
                <a:cs typeface="Arial" pitchFamily="34" charset="-120"/>
              </a:rPr>
              <a:t>ReasoningArtifact dataclass:
</a:t>
            </a:r>
            <a:r>
              <a:rPr lang="en-US" sz="700" dirty="0">
                <a:solidFill>
                  <a:srgbClr val="666666"/>
                </a:solidFill>
                <a:latin typeface="Courier New" pitchFamily="34" charset="0"/>
                <a:ea typeface="Courier New" pitchFamily="34" charset="-122"/>
                <a:cs typeface="Courier New" pitchFamily="34" charset="-120"/>
              </a:rPr>
              <a:t>@dataclass</a:t>
            </a:r>
            <a:endParaRPr lang="en-US" sz="1000" dirty="0"/>
          </a:p>
          <a:p>
            <a:pPr marL="0" indent="0">
              <a:lnSpc>
                <a:spcPct val="110000"/>
              </a:lnSpc>
              <a:buNone/>
            </a:pPr>
            <a:r>
              <a:rPr lang="en-US" sz="700" dirty="0">
                <a:solidFill>
                  <a:srgbClr val="666666"/>
                </a:solidFill>
                <a:latin typeface="Courier New" pitchFamily="34" charset="0"/>
                <a:ea typeface="Courier New" pitchFamily="34" charset="-122"/>
                <a:cs typeface="Courier New" pitchFamily="34" charset="-120"/>
              </a:rPr>
              <a:t>class ReasoningArtifact:</a:t>
            </a:r>
            <a:endParaRPr lang="en-US" sz="1000" dirty="0"/>
          </a:p>
          <a:p>
            <a:pPr marL="0" indent="0">
              <a:lnSpc>
                <a:spcPct val="110000"/>
              </a:lnSpc>
              <a:buNone/>
            </a:pPr>
            <a:r>
              <a:rPr lang="en-US" sz="700" dirty="0">
                <a:solidFill>
                  <a:srgbClr val="666666"/>
                </a:solidFill>
                <a:latin typeface="Courier New" pitchFamily="34" charset="0"/>
                <a:ea typeface="Courier New" pitchFamily="34" charset="-122"/>
                <a:cs typeface="Courier New" pitchFamily="34" charset="-120"/>
              </a:rPr>
              <a:t>  step_num: int</a:t>
            </a:r>
            <a:endParaRPr lang="en-US" sz="1000" dirty="0"/>
          </a:p>
          <a:p>
            <a:pPr marL="0" indent="0">
              <a:lnSpc>
                <a:spcPct val="110000"/>
              </a:lnSpc>
              <a:buNone/>
            </a:pPr>
            <a:r>
              <a:rPr lang="en-US" sz="700" dirty="0">
                <a:solidFill>
                  <a:srgbClr val="666666"/>
                </a:solidFill>
                <a:latin typeface="Courier New" pitchFamily="34" charset="0"/>
                <a:ea typeface="Courier New" pitchFamily="34" charset="-122"/>
                <a:cs typeface="Courier New" pitchFamily="34" charset="-120"/>
              </a:rPr>
              <a:t>  thought: str  # LLM reasoning</a:t>
            </a:r>
            <a:endParaRPr lang="en-US" sz="1000" dirty="0"/>
          </a:p>
          <a:p>
            <a:pPr marL="0" indent="0">
              <a:lnSpc>
                <a:spcPct val="110000"/>
              </a:lnSpc>
              <a:buNone/>
            </a:pPr>
            <a:r>
              <a:rPr lang="en-US" sz="700" dirty="0">
                <a:solidFill>
                  <a:srgbClr val="666666"/>
                </a:solidFill>
                <a:latin typeface="Courier New" pitchFamily="34" charset="0"/>
                <a:ea typeface="Courier New" pitchFamily="34" charset="-122"/>
                <a:cs typeface="Courier New" pitchFamily="34" charset="-120"/>
              </a:rPr>
              <a:t>  action: str   # tool name + args</a:t>
            </a:r>
            <a:endParaRPr lang="en-US" sz="1000" dirty="0"/>
          </a:p>
          <a:p>
            <a:pPr marL="0" indent="0">
              <a:lnSpc>
                <a:spcPct val="110000"/>
              </a:lnSpc>
              <a:buNone/>
            </a:pPr>
            <a:r>
              <a:rPr lang="en-US" sz="700" dirty="0">
                <a:solidFill>
                  <a:srgbClr val="666666"/>
                </a:solidFill>
                <a:latin typeface="Courier New" pitchFamily="34" charset="0"/>
                <a:ea typeface="Courier New" pitchFamily="34" charset="-122"/>
                <a:cs typeface="Courier New" pitchFamily="34" charset="-120"/>
              </a:rPr>
              <a:t>  observation: str  # tool result</a:t>
            </a:r>
            <a:endParaRPr lang="en-US" sz="1000" dirty="0"/>
          </a:p>
          <a:p>
            <a:pPr marL="0" indent="0">
              <a:lnSpc>
                <a:spcPct val="110000"/>
              </a:lnSpc>
              <a:buNone/>
            </a:pPr>
            <a:r>
              <a:rPr lang="en-US" sz="700" dirty="0">
                <a:solidFill>
                  <a:srgbClr val="666666"/>
                </a:solidFill>
                <a:latin typeface="Courier New" pitchFamily="34" charset="0"/>
                <a:ea typeface="Courier New" pitchFamily="34" charset="-122"/>
                <a:cs typeface="Courier New" pitchFamily="34" charset="-120"/>
              </a:rPr>
              <a:t>  latency_ms: float</a:t>
            </a:r>
            <a:endParaRPr lang="en-US" sz="1000" dirty="0"/>
          </a:p>
          <a:p>
            <a:pPr marL="0" indent="0">
              <a:lnSpc>
                <a:spcPct val="110000"/>
              </a:lnSpc>
              <a:buNone/>
            </a:pPr>
            <a:r>
              <a:rPr lang="en-US" sz="700" dirty="0">
                <a:solidFill>
                  <a:srgbClr val="666666"/>
                </a:solidFill>
                <a:latin typeface="Courier New" pitchFamily="34" charset="0"/>
                <a:ea typeface="Courier New" pitchFamily="34" charset="-122"/>
                <a:cs typeface="Courier New" pitchFamily="34" charset="-120"/>
              </a:rPr>
              <a:t>  token_count: int</a:t>
            </a:r>
            <a:endParaRPr lang="en-US" sz="1000" dirty="0"/>
          </a:p>
        </p:txBody>
      </p:sp>
      <p:sp>
        <p:nvSpPr>
          <p:cNvPr id="11" name="Text 9"/>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runtime/fallback.py (new ~100 lines) · contracts/reasoning.py (new ~30 lines) · runtime/cot_store.py (new ~60 lines)</a:t>
            </a:r>
            <a:endParaRPr lang="en-US" sz="900"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Impl 6 — Folder Upload + Auto-Organize</a:t>
            </a:r>
            <a:endParaRPr lang="en-US" sz="2600" dirty="0"/>
          </a:p>
        </p:txBody>
      </p:sp>
      <p:sp>
        <p:nvSpPr>
          <p:cNvPr id="3" name="Text 1"/>
          <p:cNvSpPr/>
          <p:nvPr/>
        </p:nvSpPr>
        <p:spPr>
          <a:xfrm>
            <a:off x="502920" y="804672"/>
            <a:ext cx="3840480" cy="201168"/>
          </a:xfrm>
          <a:prstGeom prst="rect">
            <a:avLst/>
          </a:prstGeom>
          <a:noFill/>
          <a:ln/>
        </p:spPr>
        <p:txBody>
          <a:bodyPr wrap="square" lIns="0" tIns="0" rIns="0" bIns="0" rtlCol="0" anchor="ctr"/>
          <a:lstStyle/>
          <a:p>
            <a:pPr marL="0" indent="0">
              <a:buNone/>
            </a:pPr>
            <a:r>
              <a:rPr lang="en-US" sz="1100" b="1" dirty="0">
                <a:solidFill>
                  <a:srgbClr val="1B2A4A"/>
                </a:solidFill>
                <a:latin typeface="Arial" pitchFamily="34" charset="0"/>
                <a:ea typeface="Arial" pitchFamily="34" charset="-122"/>
                <a:cs typeface="Arial" pitchFamily="34" charset="-120"/>
              </a:rPr>
              <a:t>Implementation Steps</a:t>
            </a:r>
            <a:endParaRPr lang="en-US" sz="1100" dirty="0"/>
          </a:p>
        </p:txBody>
      </p:sp>
      <p:sp>
        <p:nvSpPr>
          <p:cNvPr id="4" name="Text 2"/>
          <p:cNvSpPr/>
          <p:nvPr/>
        </p:nvSpPr>
        <p:spPr>
          <a:xfrm>
            <a:off x="502920" y="1051560"/>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1: </a:t>
            </a:r>
            <a:r>
              <a:rPr lang="en-US" sz="850" b="1" dirty="0">
                <a:solidFill>
                  <a:srgbClr val="1B2A4A"/>
                </a:solidFill>
              </a:rPr>
              <a:t>Extend /v1/upload for ZIP files
</a:t>
            </a:r>
            <a:r>
              <a:rPr lang="en-US" sz="750" dirty="0">
                <a:solidFill>
                  <a:srgbClr val="666666"/>
                </a:solidFill>
              </a:rPr>
              <a:t>In api/main.py upload handler: detect .zip MIME type → extract to temp dir → iterate entries → copy each to workspace via workspace.copy_file(). Reject nested ZIPs and files &gt; 50MB.</a:t>
            </a:r>
            <a:endParaRPr lang="en-US" sz="850" dirty="0"/>
          </a:p>
        </p:txBody>
      </p:sp>
      <p:sp>
        <p:nvSpPr>
          <p:cNvPr id="5" name="Text 3"/>
          <p:cNvSpPr/>
          <p:nvPr/>
        </p:nvSpPr>
        <p:spPr>
          <a:xfrm>
            <a:off x="502920" y="1435608"/>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2: </a:t>
            </a:r>
            <a:r>
              <a:rPr lang="en-US" sz="850" b="1" dirty="0">
                <a:solidFill>
                  <a:srgbClr val="1B2A4A"/>
                </a:solidFill>
              </a:rPr>
              <a:t>Add type detection module
</a:t>
            </a:r>
            <a:r>
              <a:rPr lang="en-US" sz="750" dirty="0">
                <a:solidFill>
                  <a:srgbClr val="666666"/>
                </a:solidFill>
              </a:rPr>
              <a:t>New sandbox/file_classifier.py: map extensions to categories using dict. Fallback to python-magic MIME detection. Categories: data/, docs/, code/, images/, other/.</a:t>
            </a:r>
            <a:endParaRPr lang="en-US" sz="850" dirty="0"/>
          </a:p>
        </p:txBody>
      </p:sp>
      <p:sp>
        <p:nvSpPr>
          <p:cNvPr id="6" name="Text 4"/>
          <p:cNvSpPr/>
          <p:nvPr/>
        </p:nvSpPr>
        <p:spPr>
          <a:xfrm>
            <a:off x="502920" y="1819656"/>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3: </a:t>
            </a:r>
            <a:r>
              <a:rPr lang="en-US" sz="850" b="1" dirty="0">
                <a:solidFill>
                  <a:srgbClr val="1B2A4A"/>
                </a:solidFill>
              </a:rPr>
              <a:t>Build auto_organize tool
</a:t>
            </a:r>
            <a:r>
              <a:rPr lang="en-US" sz="750" dirty="0">
                <a:solidFill>
                  <a:srgbClr val="666666"/>
                </a:solidFill>
              </a:rPr>
              <a:t>New tool in tools/groups/workspace.py: scans workspace root, classifies each file, creates subdirectories, moves files. Returns manifest: {category: [files]}.</a:t>
            </a:r>
            <a:endParaRPr lang="en-US" sz="850" dirty="0"/>
          </a:p>
        </p:txBody>
      </p:sp>
      <p:sp>
        <p:nvSpPr>
          <p:cNvPr id="7" name="Text 5"/>
          <p:cNvSpPr/>
          <p:nvPr/>
        </p:nvSpPr>
        <p:spPr>
          <a:xfrm>
            <a:off x="502920" y="2203704"/>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4: </a:t>
            </a:r>
            <a:r>
              <a:rPr lang="en-US" sz="850" b="1" dirty="0">
                <a:solidFill>
                  <a:srgbClr val="1B2A4A"/>
                </a:solidFill>
              </a:rPr>
              <a:t>Register as ToolDefinition
</a:t>
            </a:r>
            <a:r>
              <a:rPr lang="en-US" sz="750" dirty="0">
                <a:solidFill>
                  <a:srgbClr val="666666"/>
                </a:solidFill>
              </a:rPr>
              <a:t>Add to registry.py: name='auto_organize', group='workspace', requires_workspace=True, destructive=True (moves files).</a:t>
            </a:r>
            <a:endParaRPr lang="en-US" sz="850" dirty="0"/>
          </a:p>
        </p:txBody>
      </p:sp>
      <p:sp>
        <p:nvSpPr>
          <p:cNvPr id="8" name="Text 6"/>
          <p:cNvSpPr/>
          <p:nvPr/>
        </p:nvSpPr>
        <p:spPr>
          <a:xfrm>
            <a:off x="502920" y="2587752"/>
            <a:ext cx="3840480" cy="384048"/>
          </a:xfrm>
          <a:prstGeom prst="rect">
            <a:avLst/>
          </a:prstGeom>
          <a:noFill/>
          <a:ln/>
        </p:spPr>
        <p:txBody>
          <a:bodyPr wrap="square" lIns="0" tIns="0" rIns="0" bIns="0" rtlCol="0" anchor="t"/>
          <a:lstStyle/>
          <a:p>
            <a:pPr marL="0" indent="0">
              <a:buNone/>
            </a:pPr>
            <a:r>
              <a:rPr lang="en-US" sz="850" b="1" dirty="0">
                <a:solidFill>
                  <a:srgbClr val="0097A7"/>
                </a:solidFill>
              </a:rPr>
              <a:t>Step 5: </a:t>
            </a:r>
            <a:r>
              <a:rPr lang="en-US" sz="850" b="1" dirty="0">
                <a:solidFill>
                  <a:srgbClr val="1B2A4A"/>
                </a:solidFill>
              </a:rPr>
              <a:t>Add to agent allowlists
</a:t>
            </a:r>
            <a:r>
              <a:rPr lang="en-US" sz="750" dirty="0">
                <a:solidFill>
                  <a:srgbClr val="666666"/>
                </a:solidFill>
              </a:rPr>
              <a:t>Add auto_organize to general.md and data_analyst.md allowed_tools. Coordinator can delegate via spawn_worker.</a:t>
            </a:r>
            <a:endParaRPr lang="en-US" sz="850" dirty="0"/>
          </a:p>
        </p:txBody>
      </p:sp>
      <p:sp>
        <p:nvSpPr>
          <p:cNvPr id="9" name="Text 7"/>
          <p:cNvSpPr/>
          <p:nvPr/>
        </p:nvSpPr>
        <p:spPr>
          <a:xfrm>
            <a:off x="4572000" y="804672"/>
            <a:ext cx="4069080" cy="201168"/>
          </a:xfrm>
          <a:prstGeom prst="rect">
            <a:avLst/>
          </a:prstGeom>
          <a:noFill/>
          <a:ln/>
        </p:spPr>
        <p:txBody>
          <a:bodyPr wrap="square" lIns="0" tIns="0" rIns="0" bIns="0" rtlCol="0" anchor="ctr"/>
          <a:lstStyle/>
          <a:p>
            <a:pPr marL="0" indent="0">
              <a:buNone/>
            </a:pPr>
            <a:r>
              <a:rPr lang="en-US" sz="1000" b="1" dirty="0">
                <a:solidFill>
                  <a:srgbClr val="1B2A4A"/>
                </a:solidFill>
                <a:latin typeface="Arial" pitchFamily="34" charset="0"/>
                <a:ea typeface="Arial" pitchFamily="34" charset="-122"/>
                <a:cs typeface="Arial" pitchFamily="34" charset="-120"/>
              </a:rPr>
              <a:t>sandbox/file_classifier.py</a:t>
            </a:r>
            <a:endParaRPr lang="en-US" sz="1000" dirty="0"/>
          </a:p>
        </p:txBody>
      </p:sp>
      <p:sp>
        <p:nvSpPr>
          <p:cNvPr id="10" name="Shape 8"/>
          <p:cNvSpPr/>
          <p:nvPr/>
        </p:nvSpPr>
        <p:spPr>
          <a:xfrm>
            <a:off x="4572000" y="1051560"/>
            <a:ext cx="4069080" cy="1371600"/>
          </a:xfrm>
          <a:prstGeom prst="rect">
            <a:avLst/>
          </a:prstGeom>
          <a:solidFill>
            <a:srgbClr val="2D2D2D"/>
          </a:solidFill>
          <a:ln/>
        </p:spPr>
        <p:txBody>
          <a:bodyPr/>
          <a:lstStyle/>
          <a:p>
            <a:endParaRPr lang="en-US"/>
          </a:p>
        </p:txBody>
      </p:sp>
      <p:sp>
        <p:nvSpPr>
          <p:cNvPr id="11" name="Text 9"/>
          <p:cNvSpPr/>
          <p:nvPr/>
        </p:nvSpPr>
        <p:spPr>
          <a:xfrm>
            <a:off x="4681728" y="1106424"/>
            <a:ext cx="3849624" cy="1261872"/>
          </a:xfrm>
          <a:prstGeom prst="rect">
            <a:avLst/>
          </a:prstGeom>
          <a:noFill/>
          <a:ln/>
        </p:spPr>
        <p:txBody>
          <a:bodyPr wrap="square" lIns="0" tIns="0" rIns="0" bIns="0" rtlCol="0" anchor="t"/>
          <a:lstStyle/>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CATEGORY_MAP = {</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"data":   {".csv",".xlsx",".xls",".json",</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".parquet",".tsv",".sqlite"},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"docs":   {".pdf",".docx",".txt",".md",</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".html",".rtf"},</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"code":   {".py",".js",".ts",".java",".go",</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".rs",".sql",".sh",".r"},</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"images": {".png",".jpg",".jpeg",".svg",</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".gif",".webp"},</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def classify(filename: str) -&gt; str:</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ext = Path(filename).suffix.lower()</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for cat, exts in CATEGORY_MAP.items():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if ext in exts: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return cat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return "other"</a:t>
            </a:r>
            <a:endParaRPr lang="en-US" sz="900" dirty="0"/>
          </a:p>
        </p:txBody>
      </p:sp>
      <p:sp>
        <p:nvSpPr>
          <p:cNvPr id="12" name="Text 10"/>
          <p:cNvSpPr/>
          <p:nvPr/>
        </p:nvSpPr>
        <p:spPr>
          <a:xfrm>
            <a:off x="4572000" y="2514600"/>
            <a:ext cx="4069080" cy="201168"/>
          </a:xfrm>
          <a:prstGeom prst="rect">
            <a:avLst/>
          </a:prstGeom>
          <a:noFill/>
          <a:ln/>
        </p:spPr>
        <p:txBody>
          <a:bodyPr wrap="square" lIns="0" tIns="0" rIns="0" bIns="0" rtlCol="0" anchor="ctr"/>
          <a:lstStyle/>
          <a:p>
            <a:pPr marL="0" indent="0">
              <a:buNone/>
            </a:pPr>
            <a:r>
              <a:rPr lang="en-US" sz="1000" b="1" dirty="0">
                <a:solidFill>
                  <a:srgbClr val="1B2A4A"/>
                </a:solidFill>
                <a:latin typeface="Arial" pitchFamily="34" charset="0"/>
                <a:ea typeface="Arial" pitchFamily="34" charset="-122"/>
                <a:cs typeface="Arial" pitchFamily="34" charset="-120"/>
              </a:rPr>
              <a:t>tools/groups/workspace.py — auto_organize</a:t>
            </a:r>
            <a:endParaRPr lang="en-US" sz="1000" dirty="0"/>
          </a:p>
        </p:txBody>
      </p:sp>
      <p:sp>
        <p:nvSpPr>
          <p:cNvPr id="13" name="Shape 11"/>
          <p:cNvSpPr/>
          <p:nvPr/>
        </p:nvSpPr>
        <p:spPr>
          <a:xfrm>
            <a:off x="4572000" y="2743200"/>
            <a:ext cx="4069080" cy="1600200"/>
          </a:xfrm>
          <a:prstGeom prst="rect">
            <a:avLst/>
          </a:prstGeom>
          <a:solidFill>
            <a:srgbClr val="2D2D2D"/>
          </a:solidFill>
          <a:ln/>
        </p:spPr>
        <p:txBody>
          <a:bodyPr/>
          <a:lstStyle/>
          <a:p>
            <a:endParaRPr lang="en-US"/>
          </a:p>
        </p:txBody>
      </p:sp>
      <p:sp>
        <p:nvSpPr>
          <p:cNvPr id="14" name="Text 12"/>
          <p:cNvSpPr/>
          <p:nvPr/>
        </p:nvSpPr>
        <p:spPr>
          <a:xfrm>
            <a:off x="4681728" y="2798064"/>
            <a:ext cx="3849624" cy="1490472"/>
          </a:xfrm>
          <a:prstGeom prst="rect">
            <a:avLst/>
          </a:prstGeom>
          <a:noFill/>
          <a:ln/>
        </p:spPr>
        <p:txBody>
          <a:bodyPr wrap="square" lIns="0" tIns="0" rIns="0" bIns="0" rtlCol="0" anchor="t"/>
          <a:lstStyle/>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async def auto_organize(workspace):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manifest = defaultdict(list)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for fname in workspace.list_files():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cat = classify(fname)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target_dir = workspace.root / cat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target_dir.mkdir(exist_ok=True)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src = workspace.root / fname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dest = target_dir / fname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src.rename(dest)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manifest[cat].append(fname)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return json.dumps({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"organized": dict(manifest),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"total": sum(len(v)</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for v in manifest.values()),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"categories": list(manifest.keys()),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a:t>
            </a:r>
            <a:endParaRPr lang="en-US" sz="900" dirty="0"/>
          </a:p>
        </p:txBody>
      </p:sp>
      <p:sp>
        <p:nvSpPr>
          <p:cNvPr id="15" name="Text 13"/>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sandbox/file_classifier.py (new ~40 lines) · tools/groups/workspace.py (new ~60 lines) · api/main.py (modify upload handler)</a:t>
            </a:r>
            <a:endParaRPr lang="en-US" sz="900"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Impl 7 — Workspace Tools + Data Pipeline</a:t>
            </a:r>
            <a:endParaRPr lang="en-US" sz="2600" dirty="0"/>
          </a:p>
        </p:txBody>
      </p:sp>
      <p:sp>
        <p:nvSpPr>
          <p:cNvPr id="3" name="Shape 1"/>
          <p:cNvSpPr/>
          <p:nvPr/>
        </p:nvSpPr>
        <p:spPr>
          <a:xfrm>
            <a:off x="502920" y="841248"/>
            <a:ext cx="3977640" cy="169164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4" name="Shape 2"/>
          <p:cNvSpPr/>
          <p:nvPr/>
        </p:nvSpPr>
        <p:spPr>
          <a:xfrm>
            <a:off x="502920" y="841248"/>
            <a:ext cx="3977640" cy="320040"/>
          </a:xfrm>
          <a:prstGeom prst="rect">
            <a:avLst/>
          </a:prstGeom>
          <a:solidFill>
            <a:srgbClr val="0097A7"/>
          </a:solidFill>
          <a:ln/>
        </p:spPr>
        <p:txBody>
          <a:bodyPr/>
          <a:lstStyle/>
          <a:p>
            <a:endParaRPr lang="en-US"/>
          </a:p>
        </p:txBody>
      </p:sp>
      <p:sp>
        <p:nvSpPr>
          <p:cNvPr id="5" name="Text 3"/>
          <p:cNvSpPr/>
          <p:nvPr/>
        </p:nvSpPr>
        <p:spPr>
          <a:xfrm>
            <a:off x="612648" y="868680"/>
            <a:ext cx="37581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workspace_search + dir_tree + file_metadata</a:t>
            </a:r>
            <a:endParaRPr lang="en-US" sz="1200" dirty="0"/>
          </a:p>
        </p:txBody>
      </p:sp>
      <p:sp>
        <p:nvSpPr>
          <p:cNvPr id="6" name="Text 4"/>
          <p:cNvSpPr/>
          <p:nvPr/>
        </p:nvSpPr>
        <p:spPr>
          <a:xfrm>
            <a:off x="612648" y="1225296"/>
            <a:ext cx="3758184" cy="1216152"/>
          </a:xfrm>
          <a:prstGeom prst="rect">
            <a:avLst/>
          </a:prstGeom>
          <a:noFill/>
          <a:ln/>
        </p:spPr>
        <p:txBody>
          <a:bodyPr wrap="square" lIns="0" tIns="0" rIns="0" bIns="0" rtlCol="0" anchor="t"/>
          <a:lstStyle/>
          <a:p>
            <a:pPr marL="0" indent="0">
              <a:lnSpc>
                <a:spcPct val="110000"/>
              </a:lnSpc>
              <a:buNone/>
            </a:pPr>
            <a:r>
              <a:rPr lang="en-US" sz="800" b="1" dirty="0">
                <a:solidFill>
                  <a:srgbClr val="0097A7"/>
                </a:solidFill>
                <a:latin typeface="Courier New" pitchFamily="34" charset="0"/>
                <a:ea typeface="Courier New" pitchFamily="34" charset="-122"/>
                <a:cs typeface="Courier New" pitchFamily="34" charset="-120"/>
              </a:rPr>
              <a:t>workspace_search(query)
</a:t>
            </a:r>
            <a:r>
              <a:rPr lang="en-US" sz="750" dirty="0">
                <a:solidFill>
                  <a:srgbClr val="333333"/>
                </a:solidFill>
                <a:latin typeface="Arial" pitchFamily="34" charset="0"/>
                <a:ea typeface="Arial" pitchFamily="34" charset="-122"/>
                <a:cs typeface="Arial" pitchFamily="34" charset="-120"/>
              </a:rPr>
              <a:t>Grep workspace files for query string. Use subprocess.run(['grep', '-rn', query, workspace.root]). Return [{path, line_num, match}]. Limit 50 results.
</a:t>
            </a:r>
            <a:r>
              <a:rPr lang="en-US" sz="800" b="1" dirty="0">
                <a:solidFill>
                  <a:srgbClr val="0097A7"/>
                </a:solidFill>
                <a:latin typeface="Courier New" pitchFamily="34" charset="0"/>
                <a:ea typeface="Courier New" pitchFamily="34" charset="-122"/>
                <a:cs typeface="Courier New" pitchFamily="34" charset="-120"/>
              </a:rPr>
              <a:t>dir_tree()
</a:t>
            </a:r>
            <a:r>
              <a:rPr lang="en-US" sz="750" dirty="0">
                <a:solidFill>
                  <a:srgbClr val="333333"/>
                </a:solidFill>
                <a:latin typeface="Arial" pitchFamily="34" charset="0"/>
                <a:ea typeface="Arial" pitchFamily="34" charset="-122"/>
                <a:cs typeface="Arial" pitchFamily="34" charset="-120"/>
              </a:rPr>
              <a:t>Walk workspace.root recursively. Build tree string with indentation. Include file count + total size per dir.
</a:t>
            </a:r>
            <a:r>
              <a:rPr lang="en-US" sz="800" b="1" dirty="0">
                <a:solidFill>
                  <a:srgbClr val="0097A7"/>
                </a:solidFill>
                <a:latin typeface="Courier New" pitchFamily="34" charset="0"/>
                <a:ea typeface="Courier New" pitchFamily="34" charset="-122"/>
                <a:cs typeface="Courier New" pitchFamily="34" charset="-120"/>
              </a:rPr>
              <a:t>file_metadata(filename)
</a:t>
            </a:r>
            <a:r>
              <a:rPr lang="en-US" sz="750" dirty="0">
                <a:solidFill>
                  <a:srgbClr val="333333"/>
                </a:solidFill>
                <a:latin typeface="Arial" pitchFamily="34" charset="0"/>
                <a:ea typeface="Arial" pitchFamily="34" charset="-122"/>
                <a:cs typeface="Arial" pitchFamily="34" charset="-120"/>
              </a:rPr>
              <a:t>Return {size, type, modified, mime, lines}. Uses os.stat() + python-magic.</a:t>
            </a:r>
            <a:endParaRPr lang="en-US" sz="1000" dirty="0"/>
          </a:p>
        </p:txBody>
      </p:sp>
      <p:sp>
        <p:nvSpPr>
          <p:cNvPr id="7" name="Shape 5"/>
          <p:cNvSpPr/>
          <p:nvPr/>
        </p:nvSpPr>
        <p:spPr>
          <a:xfrm>
            <a:off x="4663440" y="841248"/>
            <a:ext cx="3977640" cy="169164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8" name="Shape 6"/>
          <p:cNvSpPr/>
          <p:nvPr/>
        </p:nvSpPr>
        <p:spPr>
          <a:xfrm>
            <a:off x="4663440" y="841248"/>
            <a:ext cx="3977640" cy="320040"/>
          </a:xfrm>
          <a:prstGeom prst="rect">
            <a:avLst/>
          </a:prstGeom>
          <a:solidFill>
            <a:srgbClr val="00796B"/>
          </a:solidFill>
          <a:ln/>
        </p:spPr>
        <p:txBody>
          <a:bodyPr/>
          <a:lstStyle/>
          <a:p>
            <a:endParaRPr lang="en-US"/>
          </a:p>
        </p:txBody>
      </p:sp>
      <p:sp>
        <p:nvSpPr>
          <p:cNvPr id="9" name="Text 7"/>
          <p:cNvSpPr/>
          <p:nvPr/>
        </p:nvSpPr>
        <p:spPr>
          <a:xfrm>
            <a:off x="4773168" y="868680"/>
            <a:ext cx="37581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install_package + git_clone</a:t>
            </a:r>
            <a:endParaRPr lang="en-US" sz="1200" dirty="0"/>
          </a:p>
        </p:txBody>
      </p:sp>
      <p:sp>
        <p:nvSpPr>
          <p:cNvPr id="10" name="Text 8"/>
          <p:cNvSpPr/>
          <p:nvPr/>
        </p:nvSpPr>
        <p:spPr>
          <a:xfrm>
            <a:off x="4773168" y="1225296"/>
            <a:ext cx="3758184" cy="1216152"/>
          </a:xfrm>
          <a:prstGeom prst="rect">
            <a:avLst/>
          </a:prstGeom>
          <a:noFill/>
          <a:ln/>
        </p:spPr>
        <p:txBody>
          <a:bodyPr wrap="square" lIns="0" tIns="0" rIns="0" bIns="0" rtlCol="0" anchor="t"/>
          <a:lstStyle/>
          <a:p>
            <a:pPr marL="0" indent="0">
              <a:lnSpc>
                <a:spcPct val="110000"/>
              </a:lnSpc>
              <a:buNone/>
            </a:pPr>
            <a:r>
              <a:rPr lang="en-US" sz="800" b="1" dirty="0">
                <a:solidFill>
                  <a:srgbClr val="00796B"/>
                </a:solidFill>
                <a:latin typeface="Courier New" pitchFamily="34" charset="0"/>
                <a:ea typeface="Courier New" pitchFamily="34" charset="-122"/>
                <a:cs typeface="Courier New" pitchFamily="34" charset="-120"/>
              </a:rPr>
              <a:t>install_package(name, manager='pip')
</a:t>
            </a:r>
            <a:r>
              <a:rPr lang="en-US" sz="750" dirty="0">
                <a:solidFill>
                  <a:srgbClr val="333333"/>
                </a:solidFill>
                <a:latin typeface="Arial" pitchFamily="34" charset="0"/>
                <a:ea typeface="Arial" pitchFamily="34" charset="-122"/>
                <a:cs typeface="Arial" pitchFamily="34" charset="-120"/>
              </a:rPr>
              <a:t>Run pip/npm install inside sandbox container with --target /workspace/.packages. Add to sys.path in subsequent execute_code calls. Allowlist check first.
</a:t>
            </a:r>
            <a:r>
              <a:rPr lang="en-US" sz="800" b="1" dirty="0">
                <a:solidFill>
                  <a:srgbClr val="00796B"/>
                </a:solidFill>
                <a:latin typeface="Courier New" pitchFamily="34" charset="0"/>
                <a:ea typeface="Courier New" pitchFamily="34" charset="-122"/>
                <a:cs typeface="Courier New" pitchFamily="34" charset="-120"/>
              </a:rPr>
              <a:t>git_clone(url, depth=1)
</a:t>
            </a:r>
            <a:r>
              <a:rPr lang="en-US" sz="750" dirty="0">
                <a:solidFill>
                  <a:srgbClr val="333333"/>
                </a:solidFill>
                <a:latin typeface="Arial" pitchFamily="34" charset="0"/>
                <a:ea typeface="Arial" pitchFamily="34" charset="-122"/>
                <a:cs typeface="Arial" pitchFamily="34" charset="-120"/>
              </a:rPr>
              <a:t>Clone into workspace/repos/{name}. Shallow (--depth). Network must be temporarily enabled on container. Read-only after clone (chmod -R a-w). 100MB repo size limit.</a:t>
            </a:r>
            <a:endParaRPr lang="en-US" sz="1000" dirty="0"/>
          </a:p>
        </p:txBody>
      </p:sp>
      <p:sp>
        <p:nvSpPr>
          <p:cNvPr id="11" name="Shape 9"/>
          <p:cNvSpPr/>
          <p:nvPr/>
        </p:nvSpPr>
        <p:spPr>
          <a:xfrm>
            <a:off x="502920" y="2633472"/>
            <a:ext cx="3977640" cy="169164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2" name="Shape 10"/>
          <p:cNvSpPr/>
          <p:nvPr/>
        </p:nvSpPr>
        <p:spPr>
          <a:xfrm>
            <a:off x="502920" y="2633472"/>
            <a:ext cx="3977640" cy="320040"/>
          </a:xfrm>
          <a:prstGeom prst="rect">
            <a:avLst/>
          </a:prstGeom>
          <a:solidFill>
            <a:srgbClr val="1B2A4A"/>
          </a:solidFill>
          <a:ln/>
        </p:spPr>
        <p:txBody>
          <a:bodyPr/>
          <a:lstStyle/>
          <a:p>
            <a:endParaRPr lang="en-US"/>
          </a:p>
        </p:txBody>
      </p:sp>
      <p:sp>
        <p:nvSpPr>
          <p:cNvPr id="13" name="Text 11"/>
          <p:cNvSpPr/>
          <p:nvPr/>
        </p:nvSpPr>
        <p:spPr>
          <a:xfrm>
            <a:off x="612648" y="2660904"/>
            <a:ext cx="37581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data_profile + data_clean</a:t>
            </a:r>
            <a:endParaRPr lang="en-US" sz="1200" dirty="0"/>
          </a:p>
        </p:txBody>
      </p:sp>
      <p:sp>
        <p:nvSpPr>
          <p:cNvPr id="14" name="Text 12"/>
          <p:cNvSpPr/>
          <p:nvPr/>
        </p:nvSpPr>
        <p:spPr>
          <a:xfrm>
            <a:off x="612648" y="3017520"/>
            <a:ext cx="3758184" cy="1216152"/>
          </a:xfrm>
          <a:prstGeom prst="rect">
            <a:avLst/>
          </a:prstGeom>
          <a:noFill/>
          <a:ln/>
        </p:spPr>
        <p:txBody>
          <a:bodyPr wrap="square" lIns="0" tIns="0" rIns="0" bIns="0" rtlCol="0" anchor="t"/>
          <a:lstStyle/>
          <a:p>
            <a:pPr marL="0" indent="0">
              <a:lnSpc>
                <a:spcPct val="110000"/>
              </a:lnSpc>
              <a:buNone/>
            </a:pPr>
            <a:r>
              <a:rPr lang="en-US" sz="800" b="1" dirty="0">
                <a:solidFill>
                  <a:srgbClr val="1B2A4A"/>
                </a:solidFill>
                <a:latin typeface="Courier New" pitchFamily="34" charset="0"/>
                <a:ea typeface="Courier New" pitchFamily="34" charset="-122"/>
                <a:cs typeface="Courier New" pitchFamily="34" charset="-120"/>
              </a:rPr>
              <a:t>data_profile(filename)
</a:t>
            </a:r>
            <a:r>
              <a:rPr lang="en-US" sz="750" dirty="0">
                <a:solidFill>
                  <a:srgbClr val="333333"/>
                </a:solidFill>
                <a:latin typeface="Arial" pitchFamily="34" charset="0"/>
                <a:ea typeface="Arial" pitchFamily="34" charset="-122"/>
                <a:cs typeface="Arial" pitchFamily="34" charset="-120"/>
              </a:rPr>
              <a:t>Load CSV/Excel via pandas. Return: row_count, col_count, dtypes, null_pct, unique_counts, numeric_stats (mean/std/min/max), sample_rows(5). One-call EDA.
</a:t>
            </a:r>
            <a:r>
              <a:rPr lang="en-US" sz="800" b="1" dirty="0">
                <a:solidFill>
                  <a:srgbClr val="1B2A4A"/>
                </a:solidFill>
                <a:latin typeface="Courier New" pitchFamily="34" charset="0"/>
                <a:ea typeface="Courier New" pitchFamily="34" charset="-122"/>
                <a:cs typeface="Courier New" pitchFamily="34" charset="-120"/>
              </a:rPr>
              <a:t>data_clean(filename, ops=[])
</a:t>
            </a:r>
            <a:r>
              <a:rPr lang="en-US" sz="750" dirty="0">
                <a:solidFill>
                  <a:srgbClr val="333333"/>
                </a:solidFill>
                <a:latin typeface="Arial" pitchFamily="34" charset="0"/>
                <a:ea typeface="Arial" pitchFamily="34" charset="-122"/>
                <a:cs typeface="Arial" pitchFamily="34" charset="-120"/>
              </a:rPr>
              <a:t>Pipeline of operations: drop_duplicates, fill_nulls(strategy), normalize_dates(col, fmt), fix_encoding, drop_columns(list). Writes cleaned file to workspace. Returns diff summary.</a:t>
            </a:r>
            <a:endParaRPr lang="en-US" sz="1000" dirty="0"/>
          </a:p>
        </p:txBody>
      </p:sp>
      <p:sp>
        <p:nvSpPr>
          <p:cNvPr id="15" name="Shape 13"/>
          <p:cNvSpPr/>
          <p:nvPr/>
        </p:nvSpPr>
        <p:spPr>
          <a:xfrm>
            <a:off x="4663440" y="2633472"/>
            <a:ext cx="3977640" cy="169164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6" name="Shape 14"/>
          <p:cNvSpPr/>
          <p:nvPr/>
        </p:nvSpPr>
        <p:spPr>
          <a:xfrm>
            <a:off x="4663440" y="2633472"/>
            <a:ext cx="3977640" cy="320040"/>
          </a:xfrm>
          <a:prstGeom prst="rect">
            <a:avLst/>
          </a:prstGeom>
          <a:solidFill>
            <a:srgbClr val="1B2A4A"/>
          </a:solidFill>
          <a:ln/>
        </p:spPr>
        <p:txBody>
          <a:bodyPr/>
          <a:lstStyle/>
          <a:p>
            <a:endParaRPr lang="en-US"/>
          </a:p>
        </p:txBody>
      </p:sp>
      <p:sp>
        <p:nvSpPr>
          <p:cNvPr id="17" name="Text 15"/>
          <p:cNvSpPr/>
          <p:nvPr/>
        </p:nvSpPr>
        <p:spPr>
          <a:xfrm>
            <a:off x="4773168" y="2660904"/>
            <a:ext cx="37581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batch_transform + export_report</a:t>
            </a:r>
            <a:endParaRPr lang="en-US" sz="1200" dirty="0"/>
          </a:p>
        </p:txBody>
      </p:sp>
      <p:sp>
        <p:nvSpPr>
          <p:cNvPr id="18" name="Text 16"/>
          <p:cNvSpPr/>
          <p:nvPr/>
        </p:nvSpPr>
        <p:spPr>
          <a:xfrm>
            <a:off x="4773168" y="3017520"/>
            <a:ext cx="3758184" cy="1216152"/>
          </a:xfrm>
          <a:prstGeom prst="rect">
            <a:avLst/>
          </a:prstGeom>
          <a:noFill/>
          <a:ln/>
        </p:spPr>
        <p:txBody>
          <a:bodyPr wrap="square" lIns="0" tIns="0" rIns="0" bIns="0" rtlCol="0" anchor="t"/>
          <a:lstStyle/>
          <a:p>
            <a:pPr marL="0" indent="0">
              <a:lnSpc>
                <a:spcPct val="110000"/>
              </a:lnSpc>
              <a:buNone/>
            </a:pPr>
            <a:r>
              <a:rPr lang="en-US" sz="800" b="1" dirty="0">
                <a:solidFill>
                  <a:srgbClr val="1B2A4A"/>
                </a:solidFill>
                <a:latin typeface="Courier New" pitchFamily="34" charset="0"/>
                <a:ea typeface="Courier New" pitchFamily="34" charset="-122"/>
                <a:cs typeface="Courier New" pitchFamily="34" charset="-120"/>
              </a:rPr>
              <a:t>batch_transform(glob, transform_code)
</a:t>
            </a:r>
            <a:r>
              <a:rPr lang="en-US" sz="750" dirty="0">
                <a:solidFill>
                  <a:srgbClr val="333333"/>
                </a:solidFill>
                <a:latin typeface="Arial" pitchFamily="34" charset="0"/>
                <a:ea typeface="Arial" pitchFamily="34" charset="-122"/>
                <a:cs typeface="Arial" pitchFamily="34" charset="-120"/>
              </a:rPr>
              <a:t>Match files by glob pattern in workspace. Execute transform_code (Python) on each via sandbox. Collect results into output/ dir. Return summary per file.
</a:t>
            </a:r>
            <a:r>
              <a:rPr lang="en-US" sz="800" b="1" dirty="0">
                <a:solidFill>
                  <a:srgbClr val="1B2A4A"/>
                </a:solidFill>
                <a:latin typeface="Courier New" pitchFamily="34" charset="0"/>
                <a:ea typeface="Courier New" pitchFamily="34" charset="-122"/>
                <a:cs typeface="Courier New" pitchFamily="34" charset="-120"/>
              </a:rPr>
              <a:t>export_report(title, sections=[])
</a:t>
            </a:r>
            <a:r>
              <a:rPr lang="en-US" sz="750" dirty="0">
                <a:solidFill>
                  <a:srgbClr val="333333"/>
                </a:solidFill>
                <a:latin typeface="Arial" pitchFamily="34" charset="0"/>
                <a:ea typeface="Arial" pitchFamily="34" charset="-122"/>
                <a:cs typeface="Arial" pitchFamily="34" charset="-120"/>
              </a:rPr>
              <a:t>Assemble HTML report from workspace artifacts. Each section: {heading, text, chart_file?, table_file?}. Convert to PDF via WeasyPrint in sandbox. Save to workspace.</a:t>
            </a:r>
            <a:endParaRPr lang="en-US" sz="1000" dirty="0"/>
          </a:p>
        </p:txBody>
      </p:sp>
      <p:sp>
        <p:nvSpPr>
          <p:cNvPr id="19" name="Shape 17"/>
          <p:cNvSpPr/>
          <p:nvPr/>
        </p:nvSpPr>
        <p:spPr>
          <a:xfrm>
            <a:off x="502920" y="4407408"/>
            <a:ext cx="8138160" cy="201168"/>
          </a:xfrm>
          <a:prstGeom prst="rect">
            <a:avLst/>
          </a:prstGeom>
          <a:solidFill>
            <a:srgbClr val="E0F7FA"/>
          </a:solidFill>
          <a:ln w="12700">
            <a:solidFill>
              <a:srgbClr val="0097A7"/>
            </a:solidFill>
            <a:prstDash val="solid"/>
          </a:ln>
        </p:spPr>
        <p:txBody>
          <a:bodyPr/>
          <a:lstStyle/>
          <a:p>
            <a:endParaRPr lang="en-US"/>
          </a:p>
        </p:txBody>
      </p:sp>
      <p:sp>
        <p:nvSpPr>
          <p:cNvPr id="20" name="Text 18"/>
          <p:cNvSpPr/>
          <p:nvPr/>
        </p:nvSpPr>
        <p:spPr>
          <a:xfrm>
            <a:off x="594360" y="4407408"/>
            <a:ext cx="7955280" cy="201168"/>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All 8 tools register via ToolDefinition in registry.py. Group: 'workspace'. Add to general.md + data_analyst.md allowed_tools.</a:t>
            </a:r>
            <a:endParaRPr lang="en-US" sz="1000" dirty="0"/>
          </a:p>
        </p:txBody>
      </p:sp>
      <p:sp>
        <p:nvSpPr>
          <p:cNvPr id="21" name="Text 19"/>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tools/groups/workspace.py (new ~250 lines) · tools/registry.py (add 8 entries) · data/agents/general.md + data_analyst.md (allowlists)</a:t>
            </a:r>
            <a:endParaRPr lang="en-US" sz="900"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Impl 8 — Step Observability + Guardrails</a:t>
            </a:r>
            <a:endParaRPr lang="en-US" sz="2600" dirty="0"/>
          </a:p>
        </p:txBody>
      </p:sp>
      <p:sp>
        <p:nvSpPr>
          <p:cNvPr id="3" name="Shape 1"/>
          <p:cNvSpPr/>
          <p:nvPr/>
        </p:nvSpPr>
        <p:spPr>
          <a:xfrm>
            <a:off x="502920" y="841248"/>
            <a:ext cx="3977640" cy="196596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4" name="Shape 2"/>
          <p:cNvSpPr/>
          <p:nvPr/>
        </p:nvSpPr>
        <p:spPr>
          <a:xfrm>
            <a:off x="502920" y="841248"/>
            <a:ext cx="3977640" cy="320040"/>
          </a:xfrm>
          <a:prstGeom prst="rect">
            <a:avLst/>
          </a:prstGeom>
          <a:solidFill>
            <a:srgbClr val="0097A7"/>
          </a:solidFill>
          <a:ln/>
        </p:spPr>
        <p:txBody>
          <a:bodyPr/>
          <a:lstStyle/>
          <a:p>
            <a:endParaRPr lang="en-US"/>
          </a:p>
        </p:txBody>
      </p:sp>
      <p:sp>
        <p:nvSpPr>
          <p:cNvPr id="5" name="Text 3"/>
          <p:cNvSpPr/>
          <p:nvPr/>
        </p:nvSpPr>
        <p:spPr>
          <a:xfrm>
            <a:off x="612648" y="868680"/>
            <a:ext cx="37581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Per-Step Observability</a:t>
            </a:r>
            <a:endParaRPr lang="en-US" sz="1200" dirty="0"/>
          </a:p>
        </p:txBody>
      </p:sp>
      <p:sp>
        <p:nvSpPr>
          <p:cNvPr id="6" name="Text 4"/>
          <p:cNvSpPr/>
          <p:nvPr/>
        </p:nvSpPr>
        <p:spPr>
          <a:xfrm>
            <a:off x="612648" y="1225296"/>
            <a:ext cx="3758184" cy="1490472"/>
          </a:xfrm>
          <a:prstGeom prst="rect">
            <a:avLst/>
          </a:prstGeom>
          <a:noFill/>
          <a:ln/>
        </p:spPr>
        <p:txBody>
          <a:bodyPr wrap="square" lIns="0" tIns="0" rIns="0" bIns="0" rtlCol="0" anchor="t"/>
          <a:lstStyle/>
          <a:p>
            <a:pPr marL="0" indent="0">
              <a:lnSpc>
                <a:spcPct val="110000"/>
              </a:lnSpc>
              <a:buNone/>
            </a:pPr>
            <a:r>
              <a:rPr lang="en-US" sz="800" b="1" dirty="0">
                <a:solidFill>
                  <a:srgbClr val="0097A7"/>
                </a:solidFill>
                <a:latin typeface="Arial" pitchFamily="34" charset="0"/>
                <a:ea typeface="Arial" pitchFamily="34" charset="-122"/>
                <a:cs typeface="Arial" pitchFamily="34" charset="-120"/>
              </a:rPr>
              <a:t>Step 1: </a:t>
            </a:r>
            <a:r>
              <a:rPr lang="en-US" sz="750" dirty="0">
                <a:solidFill>
                  <a:srgbClr val="333333"/>
                </a:solidFill>
                <a:latin typeface="Arial" pitchFamily="34" charset="0"/>
                <a:ea typeface="Arial" pitchFamily="34" charset="-122"/>
                <a:cs typeface="Arial" pitchFamily="34" charset="-120"/>
              </a:rPr>
              <a:t>Create observability/step_event.py — dataclass StepEvent(step_num, tool_name, latency_ms, input_tokens, output_tokens, status, error_type, timestamp).
</a:t>
            </a:r>
            <a:r>
              <a:rPr lang="en-US" sz="800" b="1" dirty="0">
                <a:solidFill>
                  <a:srgbClr val="0097A7"/>
                </a:solidFill>
                <a:latin typeface="Arial" pitchFamily="34" charset="0"/>
                <a:ea typeface="Arial" pitchFamily="34" charset="-122"/>
                <a:cs typeface="Arial" pitchFamily="34" charset="-120"/>
              </a:rPr>
              <a:t>Step 2: </a:t>
            </a:r>
            <a:r>
              <a:rPr lang="en-US" sz="750" dirty="0">
                <a:solidFill>
                  <a:srgbClr val="333333"/>
                </a:solidFill>
                <a:latin typeface="Arial" pitchFamily="34" charset="0"/>
                <a:ea typeface="Arial" pitchFamily="34" charset="-122"/>
                <a:cs typeface="Arial" pitchFamily="34" charset="-120"/>
              </a:rPr>
              <a:t>Emit StepEvent after each tool call in query_loop.py. Capture timing with time.perf_counter() around tool invocation.
</a:t>
            </a:r>
            <a:r>
              <a:rPr lang="en-US" sz="800" b="1" dirty="0">
                <a:solidFill>
                  <a:srgbClr val="0097A7"/>
                </a:solidFill>
                <a:latin typeface="Arial" pitchFamily="34" charset="0"/>
                <a:ea typeface="Arial" pitchFamily="34" charset="-122"/>
                <a:cs typeface="Arial" pitchFamily="34" charset="-120"/>
              </a:rPr>
              <a:t>Step 3: </a:t>
            </a:r>
            <a:r>
              <a:rPr lang="en-US" sz="750" dirty="0">
                <a:solidFill>
                  <a:srgbClr val="333333"/>
                </a:solidFill>
                <a:latin typeface="Arial" pitchFamily="34" charset="0"/>
                <a:ea typeface="Arial" pitchFamily="34" charset="-122"/>
                <a:cs typeface="Arial" pitchFamily="34" charset="-120"/>
              </a:rPr>
              <a:t>Feed to existing TurnStatusTracker via new method tracker.record_step(event). Extends live SSE stream with tool-level granularity.
</a:t>
            </a:r>
            <a:r>
              <a:rPr lang="en-US" sz="800" b="1" dirty="0">
                <a:solidFill>
                  <a:srgbClr val="0097A7"/>
                </a:solidFill>
                <a:latin typeface="Arial" pitchFamily="34" charset="0"/>
                <a:ea typeface="Arial" pitchFamily="34" charset="-122"/>
                <a:cs typeface="Arial" pitchFamily="34" charset="-120"/>
              </a:rPr>
              <a:t>Step 4: </a:t>
            </a:r>
            <a:r>
              <a:rPr lang="en-US" sz="750" dirty="0">
                <a:solidFill>
                  <a:srgbClr val="333333"/>
                </a:solidFill>
                <a:latin typeface="Arial" pitchFamily="34" charset="0"/>
                <a:ea typeface="Arial" pitchFamily="34" charset="-122"/>
                <a:cs typeface="Arial" pitchFamily="34" charset="-120"/>
              </a:rPr>
              <a:t>Expose via /v1/sessions/{id}/steps — GET returns all StepEvents for debugging and cost analysis.</a:t>
            </a:r>
            <a:endParaRPr lang="en-US" sz="1000" dirty="0"/>
          </a:p>
        </p:txBody>
      </p:sp>
      <p:sp>
        <p:nvSpPr>
          <p:cNvPr id="7" name="Shape 5"/>
          <p:cNvSpPr/>
          <p:nvPr/>
        </p:nvSpPr>
        <p:spPr>
          <a:xfrm>
            <a:off x="4663440" y="841248"/>
            <a:ext cx="3977640" cy="196596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8" name="Shape 6"/>
          <p:cNvSpPr/>
          <p:nvPr/>
        </p:nvSpPr>
        <p:spPr>
          <a:xfrm>
            <a:off x="4663440" y="841248"/>
            <a:ext cx="3977640" cy="320040"/>
          </a:xfrm>
          <a:prstGeom prst="rect">
            <a:avLst/>
          </a:prstGeom>
          <a:solidFill>
            <a:srgbClr val="00796B"/>
          </a:solidFill>
          <a:ln/>
        </p:spPr>
        <p:txBody>
          <a:bodyPr/>
          <a:lstStyle/>
          <a:p>
            <a:endParaRPr lang="en-US"/>
          </a:p>
        </p:txBody>
      </p:sp>
      <p:sp>
        <p:nvSpPr>
          <p:cNvPr id="9" name="Text 7"/>
          <p:cNvSpPr/>
          <p:nvPr/>
        </p:nvSpPr>
        <p:spPr>
          <a:xfrm>
            <a:off x="4773168" y="868680"/>
            <a:ext cx="375818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Output Guardrails</a:t>
            </a:r>
            <a:endParaRPr lang="en-US" sz="1200" dirty="0"/>
          </a:p>
        </p:txBody>
      </p:sp>
      <p:sp>
        <p:nvSpPr>
          <p:cNvPr id="10" name="Text 8"/>
          <p:cNvSpPr/>
          <p:nvPr/>
        </p:nvSpPr>
        <p:spPr>
          <a:xfrm>
            <a:off x="4773168" y="1225296"/>
            <a:ext cx="3758184" cy="1490472"/>
          </a:xfrm>
          <a:prstGeom prst="rect">
            <a:avLst/>
          </a:prstGeom>
          <a:noFill/>
          <a:ln/>
        </p:spPr>
        <p:txBody>
          <a:bodyPr wrap="square" lIns="0" tIns="0" rIns="0" bIns="0" rtlCol="0" anchor="t"/>
          <a:lstStyle/>
          <a:p>
            <a:pPr marL="0" indent="0">
              <a:lnSpc>
                <a:spcPct val="110000"/>
              </a:lnSpc>
              <a:buNone/>
            </a:pPr>
            <a:r>
              <a:rPr lang="en-US" sz="800" b="1" dirty="0">
                <a:solidFill>
                  <a:srgbClr val="00796B"/>
                </a:solidFill>
                <a:latin typeface="Arial" pitchFamily="34" charset="0"/>
                <a:ea typeface="Arial" pitchFamily="34" charset="-122"/>
                <a:cs typeface="Arial" pitchFamily="34" charset="-120"/>
              </a:rPr>
              <a:t>Step 1: </a:t>
            </a:r>
            <a:r>
              <a:rPr lang="en-US" sz="750" dirty="0">
                <a:solidFill>
                  <a:srgbClr val="333333"/>
                </a:solidFill>
                <a:latin typeface="Arial" pitchFamily="34" charset="0"/>
                <a:ea typeface="Arial" pitchFamily="34" charset="-122"/>
                <a:cs typeface="Arial" pitchFamily="34" charset="-120"/>
              </a:rPr>
              <a:t>Create runtime/guardrails.py — GuardrailChain class with ordered list of Guardrail objects. Each has check(output) → Pass | Fail(reason).
</a:t>
            </a:r>
            <a:r>
              <a:rPr lang="en-US" sz="800" b="1" dirty="0">
                <a:solidFill>
                  <a:srgbClr val="00796B"/>
                </a:solidFill>
                <a:latin typeface="Arial" pitchFamily="34" charset="0"/>
                <a:ea typeface="Arial" pitchFamily="34" charset="-122"/>
                <a:cs typeface="Arial" pitchFamily="34" charset="-120"/>
              </a:rPr>
              <a:t>Step 2: </a:t>
            </a:r>
            <a:r>
              <a:rPr lang="en-US" sz="750" dirty="0">
                <a:solidFill>
                  <a:srgbClr val="333333"/>
                </a:solidFill>
                <a:latin typeface="Arial" pitchFamily="34" charset="0"/>
                <a:ea typeface="Arial" pitchFamily="34" charset="-122"/>
                <a:cs typeface="Arial" pitchFamily="34" charset="-120"/>
              </a:rPr>
              <a:t>Built-in guardrails: PII_detector (regex + spaCy NER), format_validator (JSON schema check), length_limiter, hallucination_flag (low-confidence claim detector).
</a:t>
            </a:r>
            <a:r>
              <a:rPr lang="en-US" sz="800" b="1" dirty="0">
                <a:solidFill>
                  <a:srgbClr val="00796B"/>
                </a:solidFill>
                <a:latin typeface="Arial" pitchFamily="34" charset="0"/>
                <a:ea typeface="Arial" pitchFamily="34" charset="-122"/>
                <a:cs typeface="Arial" pitchFamily="34" charset="-120"/>
              </a:rPr>
              <a:t>Step 3: </a:t>
            </a:r>
            <a:r>
              <a:rPr lang="en-US" sz="750" dirty="0">
                <a:solidFill>
                  <a:srgbClr val="333333"/>
                </a:solidFill>
                <a:latin typeface="Arial" pitchFamily="34" charset="0"/>
                <a:ea typeface="Arial" pitchFamily="34" charset="-122"/>
                <a:cs typeface="Arial" pitchFamily="34" charset="-120"/>
              </a:rPr>
              <a:t>Add guardrails field to AgentDefinition. Each agent declares which guardrails apply. General agent gets all 4; basic agent gets PII + length only.
</a:t>
            </a:r>
            <a:r>
              <a:rPr lang="en-US" sz="800" b="1" dirty="0">
                <a:solidFill>
                  <a:srgbClr val="00796B"/>
                </a:solidFill>
                <a:latin typeface="Arial" pitchFamily="34" charset="0"/>
                <a:ea typeface="Arial" pitchFamily="34" charset="-122"/>
                <a:cs typeface="Arial" pitchFamily="34" charset="-120"/>
              </a:rPr>
              <a:t>Step 4: </a:t>
            </a:r>
            <a:r>
              <a:rPr lang="en-US" sz="750" dirty="0">
                <a:solidFill>
                  <a:srgbClr val="333333"/>
                </a:solidFill>
                <a:latin typeface="Arial" pitchFamily="34" charset="0"/>
                <a:ea typeface="Arial" pitchFamily="34" charset="-122"/>
                <a:cs typeface="Arial" pitchFamily="34" charset="-120"/>
              </a:rPr>
              <a:t>Run chain in kernel.py before returning final response. On Fail: retry with guardrail feedback injected into prompt, or redact and warn.</a:t>
            </a:r>
            <a:endParaRPr lang="en-US" sz="1000" dirty="0"/>
          </a:p>
        </p:txBody>
      </p:sp>
      <p:sp>
        <p:nvSpPr>
          <p:cNvPr id="11" name="Text 9"/>
          <p:cNvSpPr/>
          <p:nvPr/>
        </p:nvSpPr>
        <p:spPr>
          <a:xfrm>
            <a:off x="502920" y="2926080"/>
            <a:ext cx="3977640" cy="164592"/>
          </a:xfrm>
          <a:prstGeom prst="rect">
            <a:avLst/>
          </a:prstGeom>
          <a:noFill/>
          <a:ln/>
        </p:spPr>
        <p:txBody>
          <a:bodyPr wrap="square" lIns="0" tIns="0" rIns="0" bIns="0" rtlCol="0" anchor="ctr"/>
          <a:lstStyle/>
          <a:p>
            <a:pPr marL="0" indent="0">
              <a:buNone/>
            </a:pPr>
            <a:r>
              <a:rPr lang="en-US" sz="900" b="1" dirty="0">
                <a:solidFill>
                  <a:srgbClr val="1B2A4A"/>
                </a:solidFill>
                <a:latin typeface="Arial" pitchFamily="34" charset="0"/>
                <a:ea typeface="Arial" pitchFamily="34" charset="-122"/>
                <a:cs typeface="Arial" pitchFamily="34" charset="-120"/>
              </a:rPr>
              <a:t>observability/step_event.py</a:t>
            </a:r>
            <a:endParaRPr lang="en-US" sz="900" dirty="0"/>
          </a:p>
        </p:txBody>
      </p:sp>
      <p:sp>
        <p:nvSpPr>
          <p:cNvPr id="12" name="Shape 10"/>
          <p:cNvSpPr/>
          <p:nvPr/>
        </p:nvSpPr>
        <p:spPr>
          <a:xfrm>
            <a:off x="502920" y="3127248"/>
            <a:ext cx="3977640" cy="1051560"/>
          </a:xfrm>
          <a:prstGeom prst="rect">
            <a:avLst/>
          </a:prstGeom>
          <a:solidFill>
            <a:srgbClr val="2D2D2D"/>
          </a:solidFill>
          <a:ln/>
        </p:spPr>
        <p:txBody>
          <a:bodyPr/>
          <a:lstStyle/>
          <a:p>
            <a:endParaRPr lang="en-US"/>
          </a:p>
        </p:txBody>
      </p:sp>
      <p:sp>
        <p:nvSpPr>
          <p:cNvPr id="13" name="Text 11"/>
          <p:cNvSpPr/>
          <p:nvPr/>
        </p:nvSpPr>
        <p:spPr>
          <a:xfrm>
            <a:off x="612648" y="3182112"/>
            <a:ext cx="3758184" cy="941832"/>
          </a:xfrm>
          <a:prstGeom prst="rect">
            <a:avLst/>
          </a:prstGeom>
          <a:noFill/>
          <a:ln/>
        </p:spPr>
        <p:txBody>
          <a:bodyPr wrap="square" lIns="0" tIns="0" rIns="0" bIns="0" rtlCol="0" anchor="t"/>
          <a:lstStyle/>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@dataclass</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class StepEvent: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step_num: int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tool_name: str</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latency_ms: float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input_tokens: int = 0</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output_tokens: int = 0</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status: str = "success"  # success|error|timeout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error_type: str = ""</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timestamp: str = field(</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default_factory=lambda: utcnow_iso())</a:t>
            </a:r>
            <a:endParaRPr lang="en-US" sz="900" dirty="0"/>
          </a:p>
        </p:txBody>
      </p:sp>
      <p:sp>
        <p:nvSpPr>
          <p:cNvPr id="14" name="Text 12"/>
          <p:cNvSpPr/>
          <p:nvPr/>
        </p:nvSpPr>
        <p:spPr>
          <a:xfrm>
            <a:off x="4663440" y="2926080"/>
            <a:ext cx="3977640" cy="164592"/>
          </a:xfrm>
          <a:prstGeom prst="rect">
            <a:avLst/>
          </a:prstGeom>
          <a:noFill/>
          <a:ln/>
        </p:spPr>
        <p:txBody>
          <a:bodyPr wrap="square" lIns="0" tIns="0" rIns="0" bIns="0" rtlCol="0" anchor="ctr"/>
          <a:lstStyle/>
          <a:p>
            <a:pPr marL="0" indent="0">
              <a:buNone/>
            </a:pPr>
            <a:r>
              <a:rPr lang="en-US" sz="900" b="1" dirty="0">
                <a:solidFill>
                  <a:srgbClr val="1B2A4A"/>
                </a:solidFill>
                <a:latin typeface="Arial" pitchFamily="34" charset="0"/>
                <a:ea typeface="Arial" pitchFamily="34" charset="-122"/>
                <a:cs typeface="Arial" pitchFamily="34" charset="-120"/>
              </a:rPr>
              <a:t>runtime/guardrails.py</a:t>
            </a:r>
            <a:endParaRPr lang="en-US" sz="900" dirty="0"/>
          </a:p>
        </p:txBody>
      </p:sp>
      <p:sp>
        <p:nvSpPr>
          <p:cNvPr id="15" name="Shape 13"/>
          <p:cNvSpPr/>
          <p:nvPr/>
        </p:nvSpPr>
        <p:spPr>
          <a:xfrm>
            <a:off x="4663440" y="3127248"/>
            <a:ext cx="3977640" cy="1051560"/>
          </a:xfrm>
          <a:prstGeom prst="rect">
            <a:avLst/>
          </a:prstGeom>
          <a:solidFill>
            <a:srgbClr val="2D2D2D"/>
          </a:solidFill>
          <a:ln/>
        </p:spPr>
        <p:txBody>
          <a:bodyPr/>
          <a:lstStyle/>
          <a:p>
            <a:endParaRPr lang="en-US"/>
          </a:p>
        </p:txBody>
      </p:sp>
      <p:sp>
        <p:nvSpPr>
          <p:cNvPr id="16" name="Text 14"/>
          <p:cNvSpPr/>
          <p:nvPr/>
        </p:nvSpPr>
        <p:spPr>
          <a:xfrm>
            <a:off x="4773168" y="3182112"/>
            <a:ext cx="3758184" cy="941832"/>
          </a:xfrm>
          <a:prstGeom prst="rect">
            <a:avLst/>
          </a:prstGeom>
          <a:noFill/>
          <a:ln/>
        </p:spPr>
        <p:txBody>
          <a:bodyPr wrap="square" lIns="0" tIns="0" rIns="0" bIns="0" rtlCol="0" anchor="t"/>
          <a:lstStyle/>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class GuardrailChain:</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def __init__(self, guardrails: list):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self._chain = guardrails</a:t>
            </a:r>
            <a:endParaRPr lang="en-US" sz="900" dirty="0"/>
          </a:p>
          <a:p>
            <a:pPr marL="0" indent="0">
              <a:lnSpc>
                <a:spcPct val="115000"/>
              </a:lnSpc>
              <a:buNone/>
            </a:pP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async def check(self, output: str):</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for g in self._chain:</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result = await g.check(output)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if result.failed:</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return GuardrailResult(</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passed=False,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guardrail=g.name,</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reason=result.reason)</a:t>
            </a:r>
            <a:endParaRPr lang="en-US" sz="900" dirty="0"/>
          </a:p>
          <a:p>
            <a:pPr marL="0" indent="0">
              <a:lnSpc>
                <a:spcPct val="115000"/>
              </a:lnSpc>
              <a:buNone/>
            </a:pPr>
            <a:r>
              <a:rPr lang="en-US" sz="900" dirty="0">
                <a:solidFill>
                  <a:srgbClr val="FFFFFF"/>
                </a:solidFill>
                <a:latin typeface="Courier New" pitchFamily="34" charset="0"/>
                <a:ea typeface="Courier New" pitchFamily="34" charset="-122"/>
                <a:cs typeface="Courier New" pitchFamily="34" charset="-120"/>
              </a:rPr>
              <a:t>    return GuardrailResult(passed=True)</a:t>
            </a:r>
            <a:endParaRPr lang="en-US" sz="900" dirty="0"/>
          </a:p>
        </p:txBody>
      </p:sp>
      <p:sp>
        <p:nvSpPr>
          <p:cNvPr id="17" name="Text 15"/>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observability/step_event.py (new ~40 lines) · runtime/guardrails.py (new ~150 lines) · api/status_tracker.py (modify)</a:t>
            </a:r>
            <a:endParaRPr lang="en-US" sz="900"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Implementation Priority Matrix</a:t>
            </a:r>
            <a:endParaRPr lang="en-US" sz="2600" dirty="0"/>
          </a:p>
        </p:txBody>
      </p:sp>
      <p:sp>
        <p:nvSpPr>
          <p:cNvPr id="3" name="Text 1"/>
          <p:cNvSpPr/>
          <p:nvPr/>
        </p:nvSpPr>
        <p:spPr>
          <a:xfrm>
            <a:off x="502920" y="804672"/>
            <a:ext cx="8138160" cy="228600"/>
          </a:xfrm>
          <a:prstGeom prst="rect">
            <a:avLst/>
          </a:prstGeom>
          <a:noFill/>
          <a:ln/>
        </p:spPr>
        <p:txBody>
          <a:bodyPr wrap="square" lIns="0" tIns="0" rIns="0" bIns="0" rtlCol="0" anchor="ctr"/>
          <a:lstStyle/>
          <a:p>
            <a:pPr marL="0" indent="0">
              <a:buNone/>
            </a:pPr>
            <a:r>
              <a:rPr lang="en-US" sz="1050" dirty="0">
                <a:solidFill>
                  <a:srgbClr val="666666"/>
                </a:solidFill>
                <a:latin typeface="Arial" pitchFamily="34" charset="0"/>
                <a:ea typeface="Arial" pitchFamily="34" charset="-122"/>
                <a:cs typeface="Arial" pitchFamily="34" charset="-120"/>
              </a:rPr>
              <a:t>Ordered by impact × feasibility. Effort accounts for partial progress (▲). All changes are additive — no existing code is deleted.</a:t>
            </a:r>
            <a:endParaRPr lang="en-US" sz="1050" dirty="0"/>
          </a:p>
        </p:txBody>
      </p:sp>
      <p:sp>
        <p:nvSpPr>
          <p:cNvPr id="4" name="Text 2"/>
          <p:cNvSpPr/>
          <p:nvPr/>
        </p:nvSpPr>
        <p:spPr>
          <a:xfrm>
            <a:off x="502920" y="1115568"/>
            <a:ext cx="365760" cy="292608"/>
          </a:xfrm>
          <a:prstGeom prst="rect">
            <a:avLst/>
          </a:prstGeom>
          <a:solidFill>
            <a:srgbClr val="1B2A4A"/>
          </a:solidFill>
          <a:ln/>
        </p:spPr>
        <p:txBody>
          <a:bodyPr wrap="square" lIns="25400" tIns="38100" rIns="38100" bIns="2540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a:t>
            </a:r>
            <a:endParaRPr lang="en-US" sz="850" dirty="0"/>
          </a:p>
        </p:txBody>
      </p:sp>
      <p:sp>
        <p:nvSpPr>
          <p:cNvPr id="5" name="Text 3"/>
          <p:cNvSpPr/>
          <p:nvPr/>
        </p:nvSpPr>
        <p:spPr>
          <a:xfrm>
            <a:off x="868680" y="1115568"/>
            <a:ext cx="2194560" cy="292608"/>
          </a:xfrm>
          <a:prstGeom prst="rect">
            <a:avLst/>
          </a:prstGeom>
          <a:solidFill>
            <a:srgbClr val="1B2A4A"/>
          </a:solidFill>
          <a:ln/>
        </p:spPr>
        <p:txBody>
          <a:bodyPr wrap="square" lIns="25400" tIns="38100" rIns="38100" bIns="2540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Implementation</a:t>
            </a:r>
            <a:endParaRPr lang="en-US" sz="850" dirty="0"/>
          </a:p>
        </p:txBody>
      </p:sp>
      <p:sp>
        <p:nvSpPr>
          <p:cNvPr id="6" name="Text 4"/>
          <p:cNvSpPr/>
          <p:nvPr/>
        </p:nvSpPr>
        <p:spPr>
          <a:xfrm>
            <a:off x="3063240" y="1115568"/>
            <a:ext cx="2103120" cy="292608"/>
          </a:xfrm>
          <a:prstGeom prst="rect">
            <a:avLst/>
          </a:prstGeom>
          <a:solidFill>
            <a:srgbClr val="1B2A4A"/>
          </a:solidFill>
          <a:ln/>
        </p:spPr>
        <p:txBody>
          <a:bodyPr wrap="square" lIns="25400" tIns="38100" rIns="38100" bIns="2540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Key New Files</a:t>
            </a:r>
            <a:endParaRPr lang="en-US" sz="850" dirty="0"/>
          </a:p>
        </p:txBody>
      </p:sp>
      <p:sp>
        <p:nvSpPr>
          <p:cNvPr id="7" name="Text 5"/>
          <p:cNvSpPr/>
          <p:nvPr/>
        </p:nvSpPr>
        <p:spPr>
          <a:xfrm>
            <a:off x="5166360" y="1115568"/>
            <a:ext cx="1188720" cy="292608"/>
          </a:xfrm>
          <a:prstGeom prst="rect">
            <a:avLst/>
          </a:prstGeom>
          <a:solidFill>
            <a:srgbClr val="1B2A4A"/>
          </a:solidFill>
          <a:ln/>
        </p:spPr>
        <p:txBody>
          <a:bodyPr wrap="square" lIns="25400" tIns="38100" rIns="38100" bIns="2540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Effort</a:t>
            </a:r>
            <a:endParaRPr lang="en-US" sz="850" dirty="0"/>
          </a:p>
        </p:txBody>
      </p:sp>
      <p:sp>
        <p:nvSpPr>
          <p:cNvPr id="8" name="Text 6"/>
          <p:cNvSpPr/>
          <p:nvPr/>
        </p:nvSpPr>
        <p:spPr>
          <a:xfrm>
            <a:off x="6355080" y="1115568"/>
            <a:ext cx="914400" cy="292608"/>
          </a:xfrm>
          <a:prstGeom prst="rect">
            <a:avLst/>
          </a:prstGeom>
          <a:solidFill>
            <a:srgbClr val="1B2A4A"/>
          </a:solidFill>
          <a:ln/>
        </p:spPr>
        <p:txBody>
          <a:bodyPr wrap="square" lIns="25400" tIns="38100" rIns="38100" bIns="2540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Impact</a:t>
            </a:r>
            <a:endParaRPr lang="en-US" sz="850" dirty="0"/>
          </a:p>
        </p:txBody>
      </p:sp>
      <p:sp>
        <p:nvSpPr>
          <p:cNvPr id="9" name="Text 7"/>
          <p:cNvSpPr/>
          <p:nvPr/>
        </p:nvSpPr>
        <p:spPr>
          <a:xfrm>
            <a:off x="7269480" y="1115568"/>
            <a:ext cx="1371600" cy="292608"/>
          </a:xfrm>
          <a:prstGeom prst="rect">
            <a:avLst/>
          </a:prstGeom>
          <a:solidFill>
            <a:srgbClr val="1B2A4A"/>
          </a:solidFill>
          <a:ln/>
        </p:spPr>
        <p:txBody>
          <a:bodyPr wrap="square" lIns="25400" tIns="38100" rIns="38100" bIns="2540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Dependencies</a:t>
            </a:r>
            <a:endParaRPr lang="en-US" sz="850" dirty="0"/>
          </a:p>
        </p:txBody>
      </p:sp>
      <p:sp>
        <p:nvSpPr>
          <p:cNvPr id="10" name="Text 8"/>
          <p:cNvSpPr/>
          <p:nvPr/>
        </p:nvSpPr>
        <p:spPr>
          <a:xfrm>
            <a:off x="502920" y="1408176"/>
            <a:ext cx="365760" cy="292608"/>
          </a:xfrm>
          <a:prstGeom prst="rect">
            <a:avLst/>
          </a:prstGeom>
          <a:solidFill>
            <a:srgbClr val="F5F5F5"/>
          </a:solidFill>
          <a:ln/>
        </p:spPr>
        <p:txBody>
          <a:bodyPr wrap="square" lIns="25400" tIns="38100" rIns="38100" bIns="25400" rtlCol="0" anchor="t"/>
          <a:lstStyle/>
          <a:p>
            <a:pPr marL="0" indent="0" algn="ctr">
              <a:buNone/>
            </a:pPr>
            <a:r>
              <a:rPr lang="en-US" sz="750" b="1" dirty="0">
                <a:solidFill>
                  <a:srgbClr val="333333"/>
                </a:solidFill>
                <a:latin typeface="Arial" pitchFamily="34" charset="0"/>
                <a:ea typeface="Arial" pitchFamily="34" charset="-122"/>
                <a:cs typeface="Arial" pitchFamily="34" charset="-120"/>
              </a:rPr>
              <a:t>1</a:t>
            </a:r>
            <a:endParaRPr lang="en-US" sz="750" dirty="0"/>
          </a:p>
        </p:txBody>
      </p:sp>
      <p:sp>
        <p:nvSpPr>
          <p:cNvPr id="11" name="Text 9"/>
          <p:cNvSpPr/>
          <p:nvPr/>
        </p:nvSpPr>
        <p:spPr>
          <a:xfrm>
            <a:off x="868680" y="1408176"/>
            <a:ext cx="2194560" cy="292608"/>
          </a:xfrm>
          <a:prstGeom prst="rect">
            <a:avLst/>
          </a:prstGeom>
          <a:solidFill>
            <a:srgbClr val="F5F5F5"/>
          </a:solidFill>
          <a:ln/>
        </p:spPr>
        <p:txBody>
          <a:bodyPr wrap="square" lIns="25400" tIns="38100" rIns="38100" bIns="25400" rtlCol="0" anchor="t"/>
          <a:lstStyle/>
          <a:p>
            <a:pPr marL="0" indent="0" algn="l">
              <a:buNone/>
            </a:pPr>
            <a:r>
              <a:rPr lang="en-US" sz="750" b="1" dirty="0">
                <a:solidFill>
                  <a:srgbClr val="333333"/>
                </a:solidFill>
                <a:latin typeface="Arial" pitchFamily="34" charset="0"/>
                <a:ea typeface="Arial" pitchFamily="34" charset="-122"/>
                <a:cs typeface="Arial" pitchFamily="34" charset="-120"/>
              </a:rPr>
              <a:t>Memory Facade + TTL</a:t>
            </a:r>
            <a:endParaRPr lang="en-US" sz="750" dirty="0"/>
          </a:p>
        </p:txBody>
      </p:sp>
      <p:sp>
        <p:nvSpPr>
          <p:cNvPr id="12" name="Text 10"/>
          <p:cNvSpPr/>
          <p:nvPr/>
        </p:nvSpPr>
        <p:spPr>
          <a:xfrm>
            <a:off x="3063240" y="1408176"/>
            <a:ext cx="2103120" cy="292608"/>
          </a:xfrm>
          <a:prstGeom prst="rect">
            <a:avLst/>
          </a:prstGeom>
          <a:solidFill>
            <a:srgbClr val="F5F5F5"/>
          </a:solidFill>
          <a:ln/>
        </p:spPr>
        <p:txBody>
          <a:bodyPr wrap="square" lIns="25400" tIns="38100" rIns="38100" bIns="25400" rtlCol="0" anchor="t"/>
          <a:lstStyle/>
          <a:p>
            <a:pPr marL="0" indent="0" algn="l">
              <a:buNone/>
            </a:pPr>
            <a:r>
              <a:rPr lang="en-US" sz="750" dirty="0">
                <a:solidFill>
                  <a:srgbClr val="333333"/>
                </a:solidFill>
                <a:latin typeface="Courier New" pitchFamily="34" charset="0"/>
                <a:ea typeface="Courier New" pitchFamily="34" charset="-122"/>
                <a:cs typeface="Courier New" pitchFamily="34" charset="-120"/>
              </a:rPr>
              <a:t>memory/facade.py</a:t>
            </a:r>
            <a:endParaRPr lang="en-US" sz="750" dirty="0"/>
          </a:p>
        </p:txBody>
      </p:sp>
      <p:sp>
        <p:nvSpPr>
          <p:cNvPr id="13" name="Text 11"/>
          <p:cNvSpPr/>
          <p:nvPr/>
        </p:nvSpPr>
        <p:spPr>
          <a:xfrm>
            <a:off x="5166360" y="1408176"/>
            <a:ext cx="1188720" cy="292608"/>
          </a:xfrm>
          <a:prstGeom prst="rect">
            <a:avLst/>
          </a:prstGeom>
          <a:solidFill>
            <a:srgbClr val="F5F5F5"/>
          </a:solidFill>
          <a:ln/>
        </p:spPr>
        <p:txBody>
          <a:bodyPr wrap="square" lIns="25400" tIns="38100" rIns="38100" bIns="25400" rtlCol="0" anchor="t"/>
          <a:lstStyle/>
          <a:p>
            <a:pPr marL="0" indent="0" algn="ctr">
              <a:buNone/>
            </a:pPr>
            <a:r>
              <a:rPr lang="en-US" sz="750" b="1" dirty="0">
                <a:solidFill>
                  <a:srgbClr val="2E7D32"/>
                </a:solidFill>
                <a:latin typeface="Arial" pitchFamily="34" charset="0"/>
                <a:ea typeface="Arial" pitchFamily="34" charset="-122"/>
                <a:cs typeface="Arial" pitchFamily="34" charset="-120"/>
              </a:rPr>
              <a:t>~3d</a:t>
            </a:r>
            <a:endParaRPr lang="en-US" sz="750" dirty="0"/>
          </a:p>
        </p:txBody>
      </p:sp>
      <p:sp>
        <p:nvSpPr>
          <p:cNvPr id="14" name="Text 12"/>
          <p:cNvSpPr/>
          <p:nvPr/>
        </p:nvSpPr>
        <p:spPr>
          <a:xfrm>
            <a:off x="6355080" y="1408176"/>
            <a:ext cx="914400" cy="292608"/>
          </a:xfrm>
          <a:prstGeom prst="rect">
            <a:avLst/>
          </a:prstGeom>
          <a:solidFill>
            <a:srgbClr val="F5F5F5"/>
          </a:solidFill>
          <a:ln/>
        </p:spPr>
        <p:txBody>
          <a:bodyPr wrap="square" lIns="25400" tIns="38100" rIns="38100" bIns="25400" rtlCol="0" anchor="t"/>
          <a:lstStyle/>
          <a:p>
            <a:pPr marL="0" indent="0" algn="ctr">
              <a:buNone/>
            </a:pPr>
            <a:r>
              <a:rPr lang="en-US" sz="750" b="1" dirty="0">
                <a:solidFill>
                  <a:srgbClr val="C62828"/>
                </a:solidFill>
                <a:latin typeface="Arial" pitchFamily="34" charset="0"/>
                <a:ea typeface="Arial" pitchFamily="34" charset="-122"/>
                <a:cs typeface="Arial" pitchFamily="34" charset="-120"/>
              </a:rPr>
              <a:t>Critical</a:t>
            </a:r>
            <a:endParaRPr lang="en-US" sz="750" dirty="0"/>
          </a:p>
        </p:txBody>
      </p:sp>
      <p:sp>
        <p:nvSpPr>
          <p:cNvPr id="15" name="Text 13"/>
          <p:cNvSpPr/>
          <p:nvPr/>
        </p:nvSpPr>
        <p:spPr>
          <a:xfrm>
            <a:off x="7269480" y="1408176"/>
            <a:ext cx="1371600" cy="292608"/>
          </a:xfrm>
          <a:prstGeom prst="rect">
            <a:avLst/>
          </a:prstGeom>
          <a:solidFill>
            <a:srgbClr val="F5F5F5"/>
          </a:solidFill>
          <a:ln/>
        </p:spPr>
        <p:txBody>
          <a:bodyPr wrap="square" lIns="25400" tIns="38100" rIns="38100" bIns="25400" rtlCol="0" anchor="t"/>
          <a:lstStyle/>
          <a:p>
            <a:pPr marL="0" indent="0" algn="l">
              <a:buNone/>
            </a:pPr>
            <a:r>
              <a:rPr lang="en-US" sz="750" dirty="0">
                <a:solidFill>
                  <a:srgbClr val="333333"/>
                </a:solidFill>
                <a:latin typeface="Arial" pitchFamily="34" charset="0"/>
                <a:ea typeface="Arial" pitchFamily="34" charset="-122"/>
                <a:cs typeface="Arial" pitchFamily="34" charset="-120"/>
              </a:rPr>
              <a:t>None</a:t>
            </a:r>
            <a:endParaRPr lang="en-US" sz="750" dirty="0"/>
          </a:p>
        </p:txBody>
      </p:sp>
      <p:sp>
        <p:nvSpPr>
          <p:cNvPr id="16" name="Text 14"/>
          <p:cNvSpPr/>
          <p:nvPr/>
        </p:nvSpPr>
        <p:spPr>
          <a:xfrm>
            <a:off x="502920" y="1700784"/>
            <a:ext cx="365760" cy="292608"/>
          </a:xfrm>
          <a:prstGeom prst="rect">
            <a:avLst/>
          </a:prstGeom>
          <a:solidFill>
            <a:srgbClr val="FFFFFF"/>
          </a:solidFill>
          <a:ln/>
        </p:spPr>
        <p:txBody>
          <a:bodyPr wrap="square" lIns="25400" tIns="38100" rIns="38100" bIns="25400" rtlCol="0" anchor="t"/>
          <a:lstStyle/>
          <a:p>
            <a:pPr marL="0" indent="0" algn="ctr">
              <a:buNone/>
            </a:pPr>
            <a:r>
              <a:rPr lang="en-US" sz="750" b="1" dirty="0">
                <a:solidFill>
                  <a:srgbClr val="333333"/>
                </a:solidFill>
                <a:latin typeface="Arial" pitchFamily="34" charset="0"/>
                <a:ea typeface="Arial" pitchFamily="34" charset="-122"/>
                <a:cs typeface="Arial" pitchFamily="34" charset="-120"/>
              </a:rPr>
              <a:t>2</a:t>
            </a:r>
            <a:endParaRPr lang="en-US" sz="750" dirty="0"/>
          </a:p>
        </p:txBody>
      </p:sp>
      <p:sp>
        <p:nvSpPr>
          <p:cNvPr id="17" name="Text 15"/>
          <p:cNvSpPr/>
          <p:nvPr/>
        </p:nvSpPr>
        <p:spPr>
          <a:xfrm>
            <a:off x="868680" y="1700784"/>
            <a:ext cx="2194560" cy="292608"/>
          </a:xfrm>
          <a:prstGeom prst="rect">
            <a:avLst/>
          </a:prstGeom>
          <a:solidFill>
            <a:srgbClr val="FFFFFF"/>
          </a:solidFill>
          <a:ln/>
        </p:spPr>
        <p:txBody>
          <a:bodyPr wrap="square" lIns="25400" tIns="38100" rIns="38100" bIns="25400" rtlCol="0" anchor="t"/>
          <a:lstStyle/>
          <a:p>
            <a:pPr marL="0" indent="0" algn="l">
              <a:buNone/>
            </a:pPr>
            <a:r>
              <a:rPr lang="en-US" sz="750" b="1" dirty="0">
                <a:solidFill>
                  <a:srgbClr val="333333"/>
                </a:solidFill>
                <a:latin typeface="Arial" pitchFamily="34" charset="0"/>
                <a:ea typeface="Arial" pitchFamily="34" charset="-122"/>
                <a:cs typeface="Arial" pitchFamily="34" charset="-120"/>
              </a:rPr>
              <a:t>Importance Decay +</a:t>
            </a:r>
            <a:endParaRPr lang="en-US" sz="750" dirty="0"/>
          </a:p>
          <a:p>
            <a:pPr marL="0" indent="0" algn="l">
              <a:buNone/>
            </a:pPr>
            <a:r>
              <a:rPr lang="en-US" sz="750" b="1" dirty="0">
                <a:solidFill>
                  <a:srgbClr val="333333"/>
                </a:solidFill>
                <a:latin typeface="Arial" pitchFamily="34" charset="0"/>
                <a:ea typeface="Arial" pitchFamily="34" charset="-122"/>
                <a:cs typeface="Arial" pitchFamily="34" charset="-120"/>
              </a:rPr>
              <a:t>Confidence Filter</a:t>
            </a:r>
            <a:endParaRPr lang="en-US" sz="750" dirty="0"/>
          </a:p>
        </p:txBody>
      </p:sp>
      <p:sp>
        <p:nvSpPr>
          <p:cNvPr id="18" name="Text 16"/>
          <p:cNvSpPr/>
          <p:nvPr/>
        </p:nvSpPr>
        <p:spPr>
          <a:xfrm>
            <a:off x="3063240" y="1700784"/>
            <a:ext cx="2103120" cy="292608"/>
          </a:xfrm>
          <a:prstGeom prst="rect">
            <a:avLst/>
          </a:prstGeom>
          <a:solidFill>
            <a:srgbClr val="FFFFFF"/>
          </a:solidFill>
          <a:ln/>
        </p:spPr>
        <p:txBody>
          <a:bodyPr wrap="square" lIns="25400" tIns="38100" rIns="38100" bIns="25400" rtlCol="0" anchor="t"/>
          <a:lstStyle/>
          <a:p>
            <a:pPr marL="0" indent="0" algn="l">
              <a:buNone/>
            </a:pPr>
            <a:r>
              <a:rPr lang="en-US" sz="750" dirty="0">
                <a:solidFill>
                  <a:srgbClr val="333333"/>
                </a:solidFill>
                <a:latin typeface="Courier New" pitchFamily="34" charset="0"/>
                <a:ea typeface="Courier New" pitchFamily="34" charset="-122"/>
                <a:cs typeface="Courier New" pitchFamily="34" charset="-120"/>
              </a:rPr>
              <a:t>store.py, manager.py</a:t>
            </a:r>
            <a:endParaRPr lang="en-US" sz="750" dirty="0"/>
          </a:p>
          <a:p>
            <a:pPr marL="0" indent="0" algn="l">
              <a:buNone/>
            </a:pPr>
            <a:r>
              <a:rPr lang="en-US" sz="750" dirty="0">
                <a:solidFill>
                  <a:srgbClr val="333333"/>
                </a:solidFill>
                <a:latin typeface="Courier New" pitchFamily="34" charset="0"/>
                <a:ea typeface="Courier New" pitchFamily="34" charset="-122"/>
                <a:cs typeface="Courier New" pitchFamily="34" charset="-120"/>
              </a:rPr>
              <a:t>(modify)</a:t>
            </a:r>
            <a:endParaRPr lang="en-US" sz="750" dirty="0"/>
          </a:p>
        </p:txBody>
      </p:sp>
      <p:sp>
        <p:nvSpPr>
          <p:cNvPr id="19" name="Text 17"/>
          <p:cNvSpPr/>
          <p:nvPr/>
        </p:nvSpPr>
        <p:spPr>
          <a:xfrm>
            <a:off x="5166360" y="1700784"/>
            <a:ext cx="1188720" cy="292608"/>
          </a:xfrm>
          <a:prstGeom prst="rect">
            <a:avLst/>
          </a:prstGeom>
          <a:solidFill>
            <a:srgbClr val="FFFFFF"/>
          </a:solidFill>
          <a:ln/>
        </p:spPr>
        <p:txBody>
          <a:bodyPr wrap="square" lIns="25400" tIns="38100" rIns="38100" bIns="25400" rtlCol="0" anchor="t"/>
          <a:lstStyle/>
          <a:p>
            <a:pPr marL="0" indent="0" algn="ctr">
              <a:buNone/>
            </a:pPr>
            <a:r>
              <a:rPr lang="en-US" sz="750" b="1" dirty="0">
                <a:solidFill>
                  <a:srgbClr val="2E7D32"/>
                </a:solidFill>
                <a:latin typeface="Arial" pitchFamily="34" charset="0"/>
                <a:ea typeface="Arial" pitchFamily="34" charset="-122"/>
                <a:cs typeface="Arial" pitchFamily="34" charset="-120"/>
              </a:rPr>
              <a:t>~2d</a:t>
            </a:r>
            <a:endParaRPr lang="en-US" sz="750" dirty="0"/>
          </a:p>
        </p:txBody>
      </p:sp>
      <p:sp>
        <p:nvSpPr>
          <p:cNvPr id="20" name="Text 18"/>
          <p:cNvSpPr/>
          <p:nvPr/>
        </p:nvSpPr>
        <p:spPr>
          <a:xfrm>
            <a:off x="6355080" y="1700784"/>
            <a:ext cx="914400" cy="292608"/>
          </a:xfrm>
          <a:prstGeom prst="rect">
            <a:avLst/>
          </a:prstGeom>
          <a:solidFill>
            <a:srgbClr val="FFFFFF"/>
          </a:solidFill>
          <a:ln/>
        </p:spPr>
        <p:txBody>
          <a:bodyPr wrap="square" lIns="25400" tIns="38100" rIns="38100" bIns="25400" rtlCol="0" anchor="t"/>
          <a:lstStyle/>
          <a:p>
            <a:pPr marL="0" indent="0" algn="ctr">
              <a:buNone/>
            </a:pPr>
            <a:r>
              <a:rPr lang="en-US" sz="750" b="1" dirty="0">
                <a:solidFill>
                  <a:srgbClr val="F9A825"/>
                </a:solidFill>
                <a:latin typeface="Arial" pitchFamily="34" charset="0"/>
                <a:ea typeface="Arial" pitchFamily="34" charset="-122"/>
                <a:cs typeface="Arial" pitchFamily="34" charset="-120"/>
              </a:rPr>
              <a:t>High</a:t>
            </a:r>
            <a:endParaRPr lang="en-US" sz="750" dirty="0"/>
          </a:p>
        </p:txBody>
      </p:sp>
      <p:sp>
        <p:nvSpPr>
          <p:cNvPr id="21" name="Text 19"/>
          <p:cNvSpPr/>
          <p:nvPr/>
        </p:nvSpPr>
        <p:spPr>
          <a:xfrm>
            <a:off x="7269480" y="1700784"/>
            <a:ext cx="1371600" cy="292608"/>
          </a:xfrm>
          <a:prstGeom prst="rect">
            <a:avLst/>
          </a:prstGeom>
          <a:solidFill>
            <a:srgbClr val="FFFFFF"/>
          </a:solidFill>
          <a:ln/>
        </p:spPr>
        <p:txBody>
          <a:bodyPr wrap="square" lIns="25400" tIns="38100" rIns="38100" bIns="25400" rtlCol="0" anchor="t"/>
          <a:lstStyle/>
          <a:p>
            <a:pPr marL="0" indent="0" algn="l">
              <a:buNone/>
            </a:pPr>
            <a:r>
              <a:rPr lang="en-US" sz="750" dirty="0">
                <a:solidFill>
                  <a:srgbClr val="333333"/>
                </a:solidFill>
                <a:latin typeface="Arial" pitchFamily="34" charset="0"/>
                <a:ea typeface="Arial" pitchFamily="34" charset="-122"/>
                <a:cs typeface="Arial" pitchFamily="34" charset="-120"/>
              </a:rPr>
              <a:t>Impl 1</a:t>
            </a:r>
            <a:endParaRPr lang="en-US" sz="750" dirty="0"/>
          </a:p>
        </p:txBody>
      </p:sp>
      <p:sp>
        <p:nvSpPr>
          <p:cNvPr id="22" name="Text 20"/>
          <p:cNvSpPr/>
          <p:nvPr/>
        </p:nvSpPr>
        <p:spPr>
          <a:xfrm>
            <a:off x="502920" y="1993392"/>
            <a:ext cx="365760" cy="292608"/>
          </a:xfrm>
          <a:prstGeom prst="rect">
            <a:avLst/>
          </a:prstGeom>
          <a:solidFill>
            <a:srgbClr val="F5F5F5"/>
          </a:solidFill>
          <a:ln/>
        </p:spPr>
        <p:txBody>
          <a:bodyPr wrap="square" lIns="25400" tIns="38100" rIns="38100" bIns="25400" rtlCol="0" anchor="t"/>
          <a:lstStyle/>
          <a:p>
            <a:pPr marL="0" indent="0" algn="ctr">
              <a:buNone/>
            </a:pPr>
            <a:r>
              <a:rPr lang="en-US" sz="750" b="1" dirty="0">
                <a:solidFill>
                  <a:srgbClr val="333333"/>
                </a:solidFill>
                <a:latin typeface="Arial" pitchFamily="34" charset="0"/>
                <a:ea typeface="Arial" pitchFamily="34" charset="-122"/>
                <a:cs typeface="Arial" pitchFamily="34" charset="-120"/>
              </a:rPr>
              <a:t>3</a:t>
            </a:r>
            <a:endParaRPr lang="en-US" sz="750" dirty="0"/>
          </a:p>
        </p:txBody>
      </p:sp>
      <p:sp>
        <p:nvSpPr>
          <p:cNvPr id="23" name="Text 21"/>
          <p:cNvSpPr/>
          <p:nvPr/>
        </p:nvSpPr>
        <p:spPr>
          <a:xfrm>
            <a:off x="868680" y="1993392"/>
            <a:ext cx="2194560" cy="292608"/>
          </a:xfrm>
          <a:prstGeom prst="rect">
            <a:avLst/>
          </a:prstGeom>
          <a:solidFill>
            <a:srgbClr val="F5F5F5"/>
          </a:solidFill>
          <a:ln/>
        </p:spPr>
        <p:txBody>
          <a:bodyPr wrap="square" lIns="25400" tIns="38100" rIns="38100" bIns="25400" rtlCol="0" anchor="t"/>
          <a:lstStyle/>
          <a:p>
            <a:pPr marL="0" indent="0" algn="l">
              <a:buNone/>
            </a:pPr>
            <a:r>
              <a:rPr lang="en-US" sz="750" b="1" dirty="0">
                <a:solidFill>
                  <a:srgbClr val="333333"/>
                </a:solidFill>
                <a:latin typeface="Arial" pitchFamily="34" charset="0"/>
                <a:ea typeface="Arial" pitchFamily="34" charset="-122"/>
                <a:cs typeface="Arial" pitchFamily="34" charset="-120"/>
              </a:rPr>
              <a:t>Step-Level Retry Policy</a:t>
            </a:r>
            <a:endParaRPr lang="en-US" sz="750" dirty="0"/>
          </a:p>
        </p:txBody>
      </p:sp>
      <p:sp>
        <p:nvSpPr>
          <p:cNvPr id="24" name="Text 22"/>
          <p:cNvSpPr/>
          <p:nvPr/>
        </p:nvSpPr>
        <p:spPr>
          <a:xfrm>
            <a:off x="3063240" y="1993392"/>
            <a:ext cx="2103120" cy="292608"/>
          </a:xfrm>
          <a:prstGeom prst="rect">
            <a:avLst/>
          </a:prstGeom>
          <a:solidFill>
            <a:srgbClr val="F5F5F5"/>
          </a:solidFill>
          <a:ln/>
        </p:spPr>
        <p:txBody>
          <a:bodyPr wrap="square" lIns="25400" tIns="38100" rIns="38100" bIns="25400" rtlCol="0" anchor="t"/>
          <a:lstStyle/>
          <a:p>
            <a:pPr marL="0" indent="0" algn="l">
              <a:buNone/>
            </a:pPr>
            <a:r>
              <a:rPr lang="en-US" sz="750" dirty="0">
                <a:solidFill>
                  <a:srgbClr val="333333"/>
                </a:solidFill>
                <a:latin typeface="Courier New" pitchFamily="34" charset="0"/>
                <a:ea typeface="Courier New" pitchFamily="34" charset="-122"/>
                <a:cs typeface="Courier New" pitchFamily="34" charset="-120"/>
              </a:rPr>
              <a:t>contracts/retry.py</a:t>
            </a:r>
            <a:endParaRPr lang="en-US" sz="750" dirty="0"/>
          </a:p>
          <a:p>
            <a:pPr marL="0" indent="0" algn="l">
              <a:buNone/>
            </a:pPr>
            <a:r>
              <a:rPr lang="en-US" sz="750" dirty="0">
                <a:solidFill>
                  <a:srgbClr val="333333"/>
                </a:solidFill>
                <a:latin typeface="Courier New" pitchFamily="34" charset="0"/>
                <a:ea typeface="Courier New" pitchFamily="34" charset="-122"/>
                <a:cs typeface="Courier New" pitchFamily="34" charset="-120"/>
              </a:rPr>
              <a:t>runtime/retry.py</a:t>
            </a:r>
            <a:endParaRPr lang="en-US" sz="750" dirty="0"/>
          </a:p>
        </p:txBody>
      </p:sp>
      <p:sp>
        <p:nvSpPr>
          <p:cNvPr id="25" name="Text 23"/>
          <p:cNvSpPr/>
          <p:nvPr/>
        </p:nvSpPr>
        <p:spPr>
          <a:xfrm>
            <a:off x="5166360" y="1993392"/>
            <a:ext cx="1188720" cy="292608"/>
          </a:xfrm>
          <a:prstGeom prst="rect">
            <a:avLst/>
          </a:prstGeom>
          <a:solidFill>
            <a:srgbClr val="F5F5F5"/>
          </a:solidFill>
          <a:ln/>
        </p:spPr>
        <p:txBody>
          <a:bodyPr wrap="square" lIns="25400" tIns="38100" rIns="38100" bIns="25400" rtlCol="0" anchor="t"/>
          <a:lstStyle/>
          <a:p>
            <a:pPr marL="0" indent="0" algn="ctr">
              <a:buNone/>
            </a:pPr>
            <a:r>
              <a:rPr lang="en-US" sz="750" b="1" dirty="0">
                <a:solidFill>
                  <a:srgbClr val="2E7D32"/>
                </a:solidFill>
                <a:latin typeface="Arial" pitchFamily="34" charset="0"/>
                <a:ea typeface="Arial" pitchFamily="34" charset="-122"/>
                <a:cs typeface="Arial" pitchFamily="34" charset="-120"/>
              </a:rPr>
              <a:t>~2d</a:t>
            </a:r>
            <a:endParaRPr lang="en-US" sz="750" dirty="0"/>
          </a:p>
        </p:txBody>
      </p:sp>
      <p:sp>
        <p:nvSpPr>
          <p:cNvPr id="26" name="Text 24"/>
          <p:cNvSpPr/>
          <p:nvPr/>
        </p:nvSpPr>
        <p:spPr>
          <a:xfrm>
            <a:off x="6355080" y="1993392"/>
            <a:ext cx="914400" cy="292608"/>
          </a:xfrm>
          <a:prstGeom prst="rect">
            <a:avLst/>
          </a:prstGeom>
          <a:solidFill>
            <a:srgbClr val="F5F5F5"/>
          </a:solidFill>
          <a:ln/>
        </p:spPr>
        <p:txBody>
          <a:bodyPr wrap="square" lIns="25400" tIns="38100" rIns="38100" bIns="25400" rtlCol="0" anchor="t"/>
          <a:lstStyle/>
          <a:p>
            <a:pPr marL="0" indent="0" algn="ctr">
              <a:buNone/>
            </a:pPr>
            <a:r>
              <a:rPr lang="en-US" sz="750" b="1" dirty="0">
                <a:solidFill>
                  <a:srgbClr val="C62828"/>
                </a:solidFill>
                <a:latin typeface="Arial" pitchFamily="34" charset="0"/>
                <a:ea typeface="Arial" pitchFamily="34" charset="-122"/>
                <a:cs typeface="Arial" pitchFamily="34" charset="-120"/>
              </a:rPr>
              <a:t>Critical</a:t>
            </a:r>
            <a:endParaRPr lang="en-US" sz="750" dirty="0"/>
          </a:p>
        </p:txBody>
      </p:sp>
      <p:sp>
        <p:nvSpPr>
          <p:cNvPr id="27" name="Text 25"/>
          <p:cNvSpPr/>
          <p:nvPr/>
        </p:nvSpPr>
        <p:spPr>
          <a:xfrm>
            <a:off x="7269480" y="1993392"/>
            <a:ext cx="1371600" cy="292608"/>
          </a:xfrm>
          <a:prstGeom prst="rect">
            <a:avLst/>
          </a:prstGeom>
          <a:solidFill>
            <a:srgbClr val="F5F5F5"/>
          </a:solidFill>
          <a:ln/>
        </p:spPr>
        <p:txBody>
          <a:bodyPr wrap="square" lIns="25400" tIns="38100" rIns="38100" bIns="25400" rtlCol="0" anchor="t"/>
          <a:lstStyle/>
          <a:p>
            <a:pPr marL="0" indent="0" algn="l">
              <a:buNone/>
            </a:pPr>
            <a:r>
              <a:rPr lang="en-US" sz="750" dirty="0">
                <a:solidFill>
                  <a:srgbClr val="333333"/>
                </a:solidFill>
                <a:latin typeface="Arial" pitchFamily="34" charset="0"/>
                <a:ea typeface="Arial" pitchFamily="34" charset="-122"/>
                <a:cs typeface="Arial" pitchFamily="34" charset="-120"/>
              </a:rPr>
              <a:t>None</a:t>
            </a:r>
            <a:endParaRPr lang="en-US" sz="750" dirty="0"/>
          </a:p>
        </p:txBody>
      </p:sp>
      <p:sp>
        <p:nvSpPr>
          <p:cNvPr id="28" name="Text 26"/>
          <p:cNvSpPr/>
          <p:nvPr/>
        </p:nvSpPr>
        <p:spPr>
          <a:xfrm>
            <a:off x="502920" y="2286000"/>
            <a:ext cx="365760" cy="292608"/>
          </a:xfrm>
          <a:prstGeom prst="rect">
            <a:avLst/>
          </a:prstGeom>
          <a:solidFill>
            <a:srgbClr val="FFFFFF"/>
          </a:solidFill>
          <a:ln/>
        </p:spPr>
        <p:txBody>
          <a:bodyPr wrap="square" lIns="25400" tIns="38100" rIns="38100" bIns="25400" rtlCol="0" anchor="t"/>
          <a:lstStyle/>
          <a:p>
            <a:pPr marL="0" indent="0" algn="ctr">
              <a:buNone/>
            </a:pPr>
            <a:r>
              <a:rPr lang="en-US" sz="750" b="1" dirty="0">
                <a:solidFill>
                  <a:srgbClr val="333333"/>
                </a:solidFill>
                <a:latin typeface="Arial" pitchFamily="34" charset="0"/>
                <a:ea typeface="Arial" pitchFamily="34" charset="-122"/>
                <a:cs typeface="Arial" pitchFamily="34" charset="-120"/>
              </a:rPr>
              <a:t>4</a:t>
            </a:r>
            <a:endParaRPr lang="en-US" sz="750" dirty="0"/>
          </a:p>
        </p:txBody>
      </p:sp>
      <p:sp>
        <p:nvSpPr>
          <p:cNvPr id="29" name="Text 27"/>
          <p:cNvSpPr/>
          <p:nvPr/>
        </p:nvSpPr>
        <p:spPr>
          <a:xfrm>
            <a:off x="868680" y="2286000"/>
            <a:ext cx="2194560" cy="292608"/>
          </a:xfrm>
          <a:prstGeom prst="rect">
            <a:avLst/>
          </a:prstGeom>
          <a:solidFill>
            <a:srgbClr val="FFFFFF"/>
          </a:solidFill>
          <a:ln/>
        </p:spPr>
        <p:txBody>
          <a:bodyPr wrap="square" lIns="25400" tIns="38100" rIns="38100" bIns="25400" rtlCol="0" anchor="t"/>
          <a:lstStyle/>
          <a:p>
            <a:pPr marL="0" indent="0" algn="l">
              <a:buNone/>
            </a:pPr>
            <a:r>
              <a:rPr lang="en-US" sz="750" b="1" dirty="0">
                <a:solidFill>
                  <a:srgbClr val="333333"/>
                </a:solidFill>
                <a:latin typeface="Arial" pitchFamily="34" charset="0"/>
                <a:ea typeface="Arial" pitchFamily="34" charset="-122"/>
                <a:cs typeface="Arial" pitchFamily="34" charset="-120"/>
              </a:rPr>
              <a:t>Parallel Tool Execution</a:t>
            </a:r>
            <a:endParaRPr lang="en-US" sz="750" dirty="0"/>
          </a:p>
          <a:p>
            <a:pPr marL="0" indent="0" algn="l">
              <a:buNone/>
            </a:pPr>
            <a:r>
              <a:rPr lang="en-US" sz="750" b="1" dirty="0">
                <a:solidFill>
                  <a:srgbClr val="333333"/>
                </a:solidFill>
                <a:latin typeface="Arial" pitchFamily="34" charset="0"/>
                <a:ea typeface="Arial" pitchFamily="34" charset="-122"/>
                <a:cs typeface="Arial" pitchFamily="34" charset="-120"/>
              </a:rPr>
              <a:t>✓ BUILT</a:t>
            </a:r>
            <a:endParaRPr lang="en-US" sz="750" dirty="0"/>
          </a:p>
        </p:txBody>
      </p:sp>
      <p:sp>
        <p:nvSpPr>
          <p:cNvPr id="30" name="Text 28"/>
          <p:cNvSpPr/>
          <p:nvPr/>
        </p:nvSpPr>
        <p:spPr>
          <a:xfrm>
            <a:off x="3063240" y="2286000"/>
            <a:ext cx="2103120" cy="292608"/>
          </a:xfrm>
          <a:prstGeom prst="rect">
            <a:avLst/>
          </a:prstGeom>
          <a:solidFill>
            <a:srgbClr val="FFFFFF"/>
          </a:solidFill>
          <a:ln/>
        </p:spPr>
        <p:txBody>
          <a:bodyPr wrap="square" lIns="25400" tIns="38100" rIns="38100" bIns="25400" rtlCol="0" anchor="t"/>
          <a:lstStyle/>
          <a:p>
            <a:pPr marL="0" indent="0" algn="l">
              <a:buNone/>
            </a:pPr>
            <a:r>
              <a:rPr lang="en-US" sz="750" dirty="0">
                <a:solidFill>
                  <a:srgbClr val="333333"/>
                </a:solidFill>
                <a:latin typeface="Courier New" pitchFamily="34" charset="0"/>
                <a:ea typeface="Courier New" pitchFamily="34" charset="-122"/>
                <a:cs typeface="Courier New" pitchFamily="34" charset="-120"/>
              </a:rPr>
              <a:t>tool_parallelism.py</a:t>
            </a:r>
            <a:endParaRPr lang="en-US" sz="750" dirty="0"/>
          </a:p>
          <a:p>
            <a:pPr marL="0" indent="0" algn="l">
              <a:buNone/>
            </a:pPr>
            <a:r>
              <a:rPr lang="en-US" sz="750" dirty="0">
                <a:solidFill>
                  <a:srgbClr val="333333"/>
                </a:solidFill>
                <a:latin typeface="Courier New" pitchFamily="34" charset="0"/>
                <a:ea typeface="Courier New" pitchFamily="34" charset="-122"/>
                <a:cs typeface="Courier New" pitchFamily="34" charset="-120"/>
              </a:rPr>
              <a:t>(181 lines)</a:t>
            </a:r>
            <a:endParaRPr lang="en-US" sz="750" dirty="0"/>
          </a:p>
        </p:txBody>
      </p:sp>
      <p:sp>
        <p:nvSpPr>
          <p:cNvPr id="31" name="Text 29"/>
          <p:cNvSpPr/>
          <p:nvPr/>
        </p:nvSpPr>
        <p:spPr>
          <a:xfrm>
            <a:off x="5166360" y="2286000"/>
            <a:ext cx="1188720" cy="292608"/>
          </a:xfrm>
          <a:prstGeom prst="rect">
            <a:avLst/>
          </a:prstGeom>
          <a:solidFill>
            <a:srgbClr val="FFFFFF"/>
          </a:solidFill>
          <a:ln/>
        </p:spPr>
        <p:txBody>
          <a:bodyPr wrap="square" lIns="25400" tIns="38100" rIns="38100" bIns="25400" rtlCol="0" anchor="t"/>
          <a:lstStyle/>
          <a:p>
            <a:pPr marL="0" indent="0" algn="ctr">
              <a:buNone/>
            </a:pPr>
            <a:r>
              <a:rPr lang="en-US" sz="750" b="1" dirty="0">
                <a:solidFill>
                  <a:srgbClr val="2E7D32"/>
                </a:solidFill>
                <a:latin typeface="Arial" pitchFamily="34" charset="0"/>
                <a:ea typeface="Arial" pitchFamily="34" charset="-122"/>
                <a:cs typeface="Arial" pitchFamily="34" charset="-120"/>
              </a:rPr>
              <a:t>Done</a:t>
            </a:r>
            <a:endParaRPr lang="en-US" sz="750" dirty="0"/>
          </a:p>
        </p:txBody>
      </p:sp>
      <p:sp>
        <p:nvSpPr>
          <p:cNvPr id="32" name="Text 30"/>
          <p:cNvSpPr/>
          <p:nvPr/>
        </p:nvSpPr>
        <p:spPr>
          <a:xfrm>
            <a:off x="6355080" y="2286000"/>
            <a:ext cx="914400" cy="292608"/>
          </a:xfrm>
          <a:prstGeom prst="rect">
            <a:avLst/>
          </a:prstGeom>
          <a:solidFill>
            <a:srgbClr val="FFFFFF"/>
          </a:solidFill>
          <a:ln/>
        </p:spPr>
        <p:txBody>
          <a:bodyPr wrap="square" lIns="25400" tIns="38100" rIns="38100" bIns="25400" rtlCol="0" anchor="t"/>
          <a:lstStyle/>
          <a:p>
            <a:pPr marL="0" indent="0" algn="ctr">
              <a:buNone/>
            </a:pPr>
            <a:r>
              <a:rPr lang="en-US" sz="750" b="1" dirty="0">
                <a:solidFill>
                  <a:srgbClr val="F9A825"/>
                </a:solidFill>
                <a:latin typeface="Arial" pitchFamily="34" charset="0"/>
                <a:ea typeface="Arial" pitchFamily="34" charset="-122"/>
                <a:cs typeface="Arial" pitchFamily="34" charset="-120"/>
              </a:rPr>
              <a:t>High</a:t>
            </a:r>
            <a:endParaRPr lang="en-US" sz="750" dirty="0"/>
          </a:p>
        </p:txBody>
      </p:sp>
      <p:sp>
        <p:nvSpPr>
          <p:cNvPr id="33" name="Text 31"/>
          <p:cNvSpPr/>
          <p:nvPr/>
        </p:nvSpPr>
        <p:spPr>
          <a:xfrm>
            <a:off x="7269480" y="2286000"/>
            <a:ext cx="1371600" cy="292608"/>
          </a:xfrm>
          <a:prstGeom prst="rect">
            <a:avLst/>
          </a:prstGeom>
          <a:solidFill>
            <a:srgbClr val="FFFFFF"/>
          </a:solidFill>
          <a:ln/>
        </p:spPr>
        <p:txBody>
          <a:bodyPr wrap="square" lIns="25400" tIns="38100" rIns="38100" bIns="25400" rtlCol="0" anchor="t"/>
          <a:lstStyle/>
          <a:p>
            <a:pPr marL="0" indent="0" algn="l">
              <a:buNone/>
            </a:pPr>
            <a:r>
              <a:rPr lang="en-US" sz="750" dirty="0">
                <a:solidFill>
                  <a:srgbClr val="333333"/>
                </a:solidFill>
                <a:latin typeface="Arial" pitchFamily="34" charset="0"/>
                <a:ea typeface="Arial" pitchFamily="34" charset="-122"/>
                <a:cs typeface="Arial" pitchFamily="34" charset="-120"/>
              </a:rPr>
              <a:t>—</a:t>
            </a:r>
            <a:endParaRPr lang="en-US" sz="750" dirty="0"/>
          </a:p>
        </p:txBody>
      </p:sp>
      <p:sp>
        <p:nvSpPr>
          <p:cNvPr id="34" name="Text 32"/>
          <p:cNvSpPr/>
          <p:nvPr/>
        </p:nvSpPr>
        <p:spPr>
          <a:xfrm>
            <a:off x="502920" y="2578608"/>
            <a:ext cx="365760" cy="292608"/>
          </a:xfrm>
          <a:prstGeom prst="rect">
            <a:avLst/>
          </a:prstGeom>
          <a:solidFill>
            <a:srgbClr val="F5F5F5"/>
          </a:solidFill>
          <a:ln/>
        </p:spPr>
        <p:txBody>
          <a:bodyPr wrap="square" lIns="25400" tIns="38100" rIns="38100" bIns="25400" rtlCol="0" anchor="t"/>
          <a:lstStyle/>
          <a:p>
            <a:pPr marL="0" indent="0" algn="ctr">
              <a:buNone/>
            </a:pPr>
            <a:r>
              <a:rPr lang="en-US" sz="750" b="1" dirty="0">
                <a:solidFill>
                  <a:srgbClr val="333333"/>
                </a:solidFill>
                <a:latin typeface="Arial" pitchFamily="34" charset="0"/>
                <a:ea typeface="Arial" pitchFamily="34" charset="-122"/>
                <a:cs typeface="Arial" pitchFamily="34" charset="-120"/>
              </a:rPr>
              <a:t>5</a:t>
            </a:r>
            <a:endParaRPr lang="en-US" sz="750" dirty="0"/>
          </a:p>
        </p:txBody>
      </p:sp>
      <p:sp>
        <p:nvSpPr>
          <p:cNvPr id="35" name="Text 33"/>
          <p:cNvSpPr/>
          <p:nvPr/>
        </p:nvSpPr>
        <p:spPr>
          <a:xfrm>
            <a:off x="868680" y="2578608"/>
            <a:ext cx="2194560" cy="292608"/>
          </a:xfrm>
          <a:prstGeom prst="rect">
            <a:avLst/>
          </a:prstGeom>
          <a:solidFill>
            <a:srgbClr val="F5F5F5"/>
          </a:solidFill>
          <a:ln/>
        </p:spPr>
        <p:txBody>
          <a:bodyPr wrap="square" lIns="25400" tIns="38100" rIns="38100" bIns="25400" rtlCol="0" anchor="t"/>
          <a:lstStyle/>
          <a:p>
            <a:pPr marL="0" indent="0" algn="l">
              <a:buNone/>
            </a:pPr>
            <a:r>
              <a:rPr lang="en-US" sz="750" b="1" dirty="0">
                <a:solidFill>
                  <a:srgbClr val="333333"/>
                </a:solidFill>
                <a:latin typeface="Arial" pitchFamily="34" charset="0"/>
                <a:ea typeface="Arial" pitchFamily="34" charset="-122"/>
                <a:cs typeface="Arial" pitchFamily="34" charset="-120"/>
              </a:rPr>
              <a:t>Folder Upload +</a:t>
            </a:r>
            <a:endParaRPr lang="en-US" sz="750" dirty="0"/>
          </a:p>
          <a:p>
            <a:pPr marL="0" indent="0" algn="l">
              <a:buNone/>
            </a:pPr>
            <a:r>
              <a:rPr lang="en-US" sz="750" b="1" dirty="0">
                <a:solidFill>
                  <a:srgbClr val="333333"/>
                </a:solidFill>
                <a:latin typeface="Arial" pitchFamily="34" charset="0"/>
                <a:ea typeface="Arial" pitchFamily="34" charset="-122"/>
                <a:cs typeface="Arial" pitchFamily="34" charset="-120"/>
              </a:rPr>
              <a:t>Auto-Organize</a:t>
            </a:r>
            <a:endParaRPr lang="en-US" sz="750" dirty="0"/>
          </a:p>
        </p:txBody>
      </p:sp>
      <p:sp>
        <p:nvSpPr>
          <p:cNvPr id="36" name="Text 34"/>
          <p:cNvSpPr/>
          <p:nvPr/>
        </p:nvSpPr>
        <p:spPr>
          <a:xfrm>
            <a:off x="3063240" y="2578608"/>
            <a:ext cx="2103120" cy="292608"/>
          </a:xfrm>
          <a:prstGeom prst="rect">
            <a:avLst/>
          </a:prstGeom>
          <a:solidFill>
            <a:srgbClr val="F5F5F5"/>
          </a:solidFill>
          <a:ln/>
        </p:spPr>
        <p:txBody>
          <a:bodyPr wrap="square" lIns="25400" tIns="38100" rIns="38100" bIns="25400" rtlCol="0" anchor="t"/>
          <a:lstStyle/>
          <a:p>
            <a:pPr marL="0" indent="0" algn="l">
              <a:buNone/>
            </a:pPr>
            <a:r>
              <a:rPr lang="en-US" sz="750" dirty="0">
                <a:solidFill>
                  <a:srgbClr val="333333"/>
                </a:solidFill>
                <a:latin typeface="Courier New" pitchFamily="34" charset="0"/>
                <a:ea typeface="Courier New" pitchFamily="34" charset="-122"/>
                <a:cs typeface="Courier New" pitchFamily="34" charset="-120"/>
              </a:rPr>
              <a:t>sandbox/file_classifier.py</a:t>
            </a:r>
            <a:endParaRPr lang="en-US" sz="750" dirty="0"/>
          </a:p>
          <a:p>
            <a:pPr marL="0" indent="0" algn="l">
              <a:buNone/>
            </a:pPr>
            <a:r>
              <a:rPr lang="en-US" sz="750" dirty="0">
                <a:solidFill>
                  <a:srgbClr val="333333"/>
                </a:solidFill>
                <a:latin typeface="Courier New" pitchFamily="34" charset="0"/>
                <a:ea typeface="Courier New" pitchFamily="34" charset="-122"/>
                <a:cs typeface="Courier New" pitchFamily="34" charset="-120"/>
              </a:rPr>
              <a:t>tools/groups/workspace.py</a:t>
            </a:r>
            <a:endParaRPr lang="en-US" sz="750" dirty="0"/>
          </a:p>
        </p:txBody>
      </p:sp>
      <p:sp>
        <p:nvSpPr>
          <p:cNvPr id="37" name="Text 35"/>
          <p:cNvSpPr/>
          <p:nvPr/>
        </p:nvSpPr>
        <p:spPr>
          <a:xfrm>
            <a:off x="5166360" y="2578608"/>
            <a:ext cx="1188720" cy="292608"/>
          </a:xfrm>
          <a:prstGeom prst="rect">
            <a:avLst/>
          </a:prstGeom>
          <a:solidFill>
            <a:srgbClr val="F5F5F5"/>
          </a:solidFill>
          <a:ln/>
        </p:spPr>
        <p:txBody>
          <a:bodyPr wrap="square" lIns="25400" tIns="38100" rIns="38100" bIns="25400" rtlCol="0" anchor="t"/>
          <a:lstStyle/>
          <a:p>
            <a:pPr marL="0" indent="0" algn="ctr">
              <a:buNone/>
            </a:pPr>
            <a:r>
              <a:rPr lang="en-US" sz="750" b="1" dirty="0">
                <a:solidFill>
                  <a:srgbClr val="2E7D32"/>
                </a:solidFill>
                <a:latin typeface="Arial" pitchFamily="34" charset="0"/>
                <a:ea typeface="Arial" pitchFamily="34" charset="-122"/>
                <a:cs typeface="Arial" pitchFamily="34" charset="-120"/>
              </a:rPr>
              <a:t>~3d</a:t>
            </a:r>
            <a:endParaRPr lang="en-US" sz="750" dirty="0"/>
          </a:p>
        </p:txBody>
      </p:sp>
      <p:sp>
        <p:nvSpPr>
          <p:cNvPr id="38" name="Text 36"/>
          <p:cNvSpPr/>
          <p:nvPr/>
        </p:nvSpPr>
        <p:spPr>
          <a:xfrm>
            <a:off x="6355080" y="2578608"/>
            <a:ext cx="914400" cy="292608"/>
          </a:xfrm>
          <a:prstGeom prst="rect">
            <a:avLst/>
          </a:prstGeom>
          <a:solidFill>
            <a:srgbClr val="F5F5F5"/>
          </a:solidFill>
          <a:ln/>
        </p:spPr>
        <p:txBody>
          <a:bodyPr wrap="square" lIns="25400" tIns="38100" rIns="38100" bIns="25400" rtlCol="0" anchor="t"/>
          <a:lstStyle/>
          <a:p>
            <a:pPr marL="0" indent="0" algn="ctr">
              <a:buNone/>
            </a:pPr>
            <a:r>
              <a:rPr lang="en-US" sz="750" b="1" dirty="0">
                <a:solidFill>
                  <a:srgbClr val="F9A825"/>
                </a:solidFill>
                <a:latin typeface="Arial" pitchFamily="34" charset="0"/>
                <a:ea typeface="Arial" pitchFamily="34" charset="-122"/>
                <a:cs typeface="Arial" pitchFamily="34" charset="-120"/>
              </a:rPr>
              <a:t>High</a:t>
            </a:r>
            <a:endParaRPr lang="en-US" sz="750" dirty="0"/>
          </a:p>
        </p:txBody>
      </p:sp>
      <p:sp>
        <p:nvSpPr>
          <p:cNvPr id="39" name="Text 37"/>
          <p:cNvSpPr/>
          <p:nvPr/>
        </p:nvSpPr>
        <p:spPr>
          <a:xfrm>
            <a:off x="7269480" y="2578608"/>
            <a:ext cx="1371600" cy="292608"/>
          </a:xfrm>
          <a:prstGeom prst="rect">
            <a:avLst/>
          </a:prstGeom>
          <a:solidFill>
            <a:srgbClr val="F5F5F5"/>
          </a:solidFill>
          <a:ln/>
        </p:spPr>
        <p:txBody>
          <a:bodyPr wrap="square" lIns="25400" tIns="38100" rIns="38100" bIns="25400" rtlCol="0" anchor="t"/>
          <a:lstStyle/>
          <a:p>
            <a:pPr marL="0" indent="0" algn="l">
              <a:buNone/>
            </a:pPr>
            <a:r>
              <a:rPr lang="en-US" sz="750" dirty="0">
                <a:solidFill>
                  <a:srgbClr val="333333"/>
                </a:solidFill>
                <a:latin typeface="Arial" pitchFamily="34" charset="0"/>
                <a:ea typeface="Arial" pitchFamily="34" charset="-122"/>
                <a:cs typeface="Arial" pitchFamily="34" charset="-120"/>
              </a:rPr>
              <a:t>None</a:t>
            </a:r>
            <a:endParaRPr lang="en-US" sz="750" dirty="0"/>
          </a:p>
        </p:txBody>
      </p:sp>
      <p:sp>
        <p:nvSpPr>
          <p:cNvPr id="40" name="Text 38"/>
          <p:cNvSpPr/>
          <p:nvPr/>
        </p:nvSpPr>
        <p:spPr>
          <a:xfrm>
            <a:off x="502920" y="2871216"/>
            <a:ext cx="365760" cy="292608"/>
          </a:xfrm>
          <a:prstGeom prst="rect">
            <a:avLst/>
          </a:prstGeom>
          <a:solidFill>
            <a:srgbClr val="FFFFFF"/>
          </a:solidFill>
          <a:ln/>
        </p:spPr>
        <p:txBody>
          <a:bodyPr wrap="square" lIns="25400" tIns="38100" rIns="38100" bIns="25400" rtlCol="0" anchor="t"/>
          <a:lstStyle/>
          <a:p>
            <a:pPr marL="0" indent="0" algn="ctr">
              <a:buNone/>
            </a:pPr>
            <a:r>
              <a:rPr lang="en-US" sz="750" b="1" dirty="0">
                <a:solidFill>
                  <a:srgbClr val="333333"/>
                </a:solidFill>
                <a:latin typeface="Arial" pitchFamily="34" charset="0"/>
                <a:ea typeface="Arial" pitchFamily="34" charset="-122"/>
                <a:cs typeface="Arial" pitchFamily="34" charset="-120"/>
              </a:rPr>
              <a:t>6</a:t>
            </a:r>
            <a:endParaRPr lang="en-US" sz="750" dirty="0"/>
          </a:p>
        </p:txBody>
      </p:sp>
      <p:sp>
        <p:nvSpPr>
          <p:cNvPr id="41" name="Text 39"/>
          <p:cNvSpPr/>
          <p:nvPr/>
        </p:nvSpPr>
        <p:spPr>
          <a:xfrm>
            <a:off x="868680" y="2871216"/>
            <a:ext cx="2194560" cy="292608"/>
          </a:xfrm>
          <a:prstGeom prst="rect">
            <a:avLst/>
          </a:prstGeom>
          <a:solidFill>
            <a:srgbClr val="FFFFFF"/>
          </a:solidFill>
          <a:ln/>
        </p:spPr>
        <p:txBody>
          <a:bodyPr wrap="square" lIns="25400" tIns="38100" rIns="38100" bIns="25400" rtlCol="0" anchor="t"/>
          <a:lstStyle/>
          <a:p>
            <a:pPr marL="0" indent="0" algn="l">
              <a:buNone/>
            </a:pPr>
            <a:r>
              <a:rPr lang="en-US" sz="750" b="1" dirty="0">
                <a:solidFill>
                  <a:srgbClr val="333333"/>
                </a:solidFill>
                <a:latin typeface="Arial" pitchFamily="34" charset="0"/>
                <a:ea typeface="Arial" pitchFamily="34" charset="-122"/>
                <a:cs typeface="Arial" pitchFamily="34" charset="-120"/>
              </a:rPr>
              <a:t>Workspace Tools (8)</a:t>
            </a:r>
            <a:endParaRPr lang="en-US" sz="750" dirty="0"/>
          </a:p>
        </p:txBody>
      </p:sp>
      <p:sp>
        <p:nvSpPr>
          <p:cNvPr id="42" name="Text 40"/>
          <p:cNvSpPr/>
          <p:nvPr/>
        </p:nvSpPr>
        <p:spPr>
          <a:xfrm>
            <a:off x="3063240" y="2871216"/>
            <a:ext cx="2103120" cy="292608"/>
          </a:xfrm>
          <a:prstGeom prst="rect">
            <a:avLst/>
          </a:prstGeom>
          <a:solidFill>
            <a:srgbClr val="FFFFFF"/>
          </a:solidFill>
          <a:ln/>
        </p:spPr>
        <p:txBody>
          <a:bodyPr wrap="square" lIns="25400" tIns="38100" rIns="38100" bIns="25400" rtlCol="0" anchor="t"/>
          <a:lstStyle/>
          <a:p>
            <a:pPr marL="0" indent="0" algn="l">
              <a:buNone/>
            </a:pPr>
            <a:r>
              <a:rPr lang="en-US" sz="750" dirty="0">
                <a:solidFill>
                  <a:srgbClr val="333333"/>
                </a:solidFill>
                <a:latin typeface="Courier New" pitchFamily="34" charset="0"/>
                <a:ea typeface="Courier New" pitchFamily="34" charset="-122"/>
                <a:cs typeface="Courier New" pitchFamily="34" charset="-120"/>
              </a:rPr>
              <a:t>tools/groups/workspace.py</a:t>
            </a:r>
            <a:endParaRPr lang="en-US" sz="750" dirty="0"/>
          </a:p>
          <a:p>
            <a:pPr marL="0" indent="0" algn="l">
              <a:buNone/>
            </a:pPr>
            <a:r>
              <a:rPr lang="en-US" sz="750" dirty="0">
                <a:solidFill>
                  <a:srgbClr val="333333"/>
                </a:solidFill>
                <a:latin typeface="Courier New" pitchFamily="34" charset="0"/>
                <a:ea typeface="Courier New" pitchFamily="34" charset="-122"/>
                <a:cs typeface="Courier New" pitchFamily="34" charset="-120"/>
              </a:rPr>
              <a:t>(extend)</a:t>
            </a:r>
            <a:endParaRPr lang="en-US" sz="750" dirty="0"/>
          </a:p>
        </p:txBody>
      </p:sp>
      <p:sp>
        <p:nvSpPr>
          <p:cNvPr id="43" name="Text 41"/>
          <p:cNvSpPr/>
          <p:nvPr/>
        </p:nvSpPr>
        <p:spPr>
          <a:xfrm>
            <a:off x="5166360" y="2871216"/>
            <a:ext cx="1188720" cy="292608"/>
          </a:xfrm>
          <a:prstGeom prst="rect">
            <a:avLst/>
          </a:prstGeom>
          <a:solidFill>
            <a:srgbClr val="FFFFFF"/>
          </a:solidFill>
          <a:ln/>
        </p:spPr>
        <p:txBody>
          <a:bodyPr wrap="square" lIns="25400" tIns="38100" rIns="38100" bIns="25400" rtlCol="0" anchor="t"/>
          <a:lstStyle/>
          <a:p>
            <a:pPr marL="0" indent="0" algn="ctr">
              <a:buNone/>
            </a:pPr>
            <a:r>
              <a:rPr lang="en-US" sz="750" b="1" dirty="0">
                <a:solidFill>
                  <a:srgbClr val="F9A825"/>
                </a:solidFill>
                <a:latin typeface="Arial" pitchFamily="34" charset="0"/>
                <a:ea typeface="Arial" pitchFamily="34" charset="-122"/>
                <a:cs typeface="Arial" pitchFamily="34" charset="-120"/>
              </a:rPr>
              <a:t>~5d</a:t>
            </a:r>
            <a:endParaRPr lang="en-US" sz="750" dirty="0"/>
          </a:p>
        </p:txBody>
      </p:sp>
      <p:sp>
        <p:nvSpPr>
          <p:cNvPr id="44" name="Text 42"/>
          <p:cNvSpPr/>
          <p:nvPr/>
        </p:nvSpPr>
        <p:spPr>
          <a:xfrm>
            <a:off x="6355080" y="2871216"/>
            <a:ext cx="914400" cy="292608"/>
          </a:xfrm>
          <a:prstGeom prst="rect">
            <a:avLst/>
          </a:prstGeom>
          <a:solidFill>
            <a:srgbClr val="FFFFFF"/>
          </a:solidFill>
          <a:ln/>
        </p:spPr>
        <p:txBody>
          <a:bodyPr wrap="square" lIns="25400" tIns="38100" rIns="38100" bIns="25400" rtlCol="0" anchor="t"/>
          <a:lstStyle/>
          <a:p>
            <a:pPr marL="0" indent="0" algn="ctr">
              <a:buNone/>
            </a:pPr>
            <a:r>
              <a:rPr lang="en-US" sz="750" b="1" dirty="0">
                <a:solidFill>
                  <a:srgbClr val="F9A825"/>
                </a:solidFill>
                <a:latin typeface="Arial" pitchFamily="34" charset="0"/>
                <a:ea typeface="Arial" pitchFamily="34" charset="-122"/>
                <a:cs typeface="Arial" pitchFamily="34" charset="-120"/>
              </a:rPr>
              <a:t>High</a:t>
            </a:r>
            <a:endParaRPr lang="en-US" sz="750" dirty="0"/>
          </a:p>
        </p:txBody>
      </p:sp>
      <p:sp>
        <p:nvSpPr>
          <p:cNvPr id="45" name="Text 43"/>
          <p:cNvSpPr/>
          <p:nvPr/>
        </p:nvSpPr>
        <p:spPr>
          <a:xfrm>
            <a:off x="7269480" y="2871216"/>
            <a:ext cx="1371600" cy="292608"/>
          </a:xfrm>
          <a:prstGeom prst="rect">
            <a:avLst/>
          </a:prstGeom>
          <a:solidFill>
            <a:srgbClr val="FFFFFF"/>
          </a:solidFill>
          <a:ln/>
        </p:spPr>
        <p:txBody>
          <a:bodyPr wrap="square" lIns="25400" tIns="38100" rIns="38100" bIns="25400" rtlCol="0" anchor="t"/>
          <a:lstStyle/>
          <a:p>
            <a:pPr marL="0" indent="0" algn="l">
              <a:buNone/>
            </a:pPr>
            <a:r>
              <a:rPr lang="en-US" sz="750" dirty="0">
                <a:solidFill>
                  <a:srgbClr val="333333"/>
                </a:solidFill>
                <a:latin typeface="Arial" pitchFamily="34" charset="0"/>
                <a:ea typeface="Arial" pitchFamily="34" charset="-122"/>
                <a:cs typeface="Arial" pitchFamily="34" charset="-120"/>
              </a:rPr>
              <a:t>Impl 5</a:t>
            </a:r>
            <a:endParaRPr lang="en-US" sz="750" dirty="0"/>
          </a:p>
        </p:txBody>
      </p:sp>
      <p:sp>
        <p:nvSpPr>
          <p:cNvPr id="46" name="Text 44"/>
          <p:cNvSpPr/>
          <p:nvPr/>
        </p:nvSpPr>
        <p:spPr>
          <a:xfrm>
            <a:off x="502920" y="3163824"/>
            <a:ext cx="365760" cy="292608"/>
          </a:xfrm>
          <a:prstGeom prst="rect">
            <a:avLst/>
          </a:prstGeom>
          <a:solidFill>
            <a:srgbClr val="F5F5F5"/>
          </a:solidFill>
          <a:ln/>
        </p:spPr>
        <p:txBody>
          <a:bodyPr wrap="square" lIns="25400" tIns="38100" rIns="38100" bIns="25400" rtlCol="0" anchor="t"/>
          <a:lstStyle/>
          <a:p>
            <a:pPr marL="0" indent="0" algn="ctr">
              <a:buNone/>
            </a:pPr>
            <a:r>
              <a:rPr lang="en-US" sz="750" b="1" dirty="0">
                <a:solidFill>
                  <a:srgbClr val="333333"/>
                </a:solidFill>
                <a:latin typeface="Arial" pitchFamily="34" charset="0"/>
                <a:ea typeface="Arial" pitchFamily="34" charset="-122"/>
                <a:cs typeface="Arial" pitchFamily="34" charset="-120"/>
              </a:rPr>
              <a:t>7</a:t>
            </a:r>
            <a:endParaRPr lang="en-US" sz="750" dirty="0"/>
          </a:p>
        </p:txBody>
      </p:sp>
      <p:sp>
        <p:nvSpPr>
          <p:cNvPr id="47" name="Text 45"/>
          <p:cNvSpPr/>
          <p:nvPr/>
        </p:nvSpPr>
        <p:spPr>
          <a:xfrm>
            <a:off x="868680" y="3163824"/>
            <a:ext cx="2194560" cy="292608"/>
          </a:xfrm>
          <a:prstGeom prst="rect">
            <a:avLst/>
          </a:prstGeom>
          <a:solidFill>
            <a:srgbClr val="F5F5F5"/>
          </a:solidFill>
          <a:ln/>
        </p:spPr>
        <p:txBody>
          <a:bodyPr wrap="square" lIns="25400" tIns="38100" rIns="38100" bIns="25400" rtlCol="0" anchor="t"/>
          <a:lstStyle/>
          <a:p>
            <a:pPr marL="0" indent="0" algn="l">
              <a:buNone/>
            </a:pPr>
            <a:r>
              <a:rPr lang="en-US" sz="750" b="1" dirty="0">
                <a:solidFill>
                  <a:srgbClr val="333333"/>
                </a:solidFill>
                <a:latin typeface="Arial" pitchFamily="34" charset="0"/>
                <a:ea typeface="Arial" pitchFamily="34" charset="-122"/>
                <a:cs typeface="Arial" pitchFamily="34" charset="-120"/>
              </a:rPr>
              <a:t>Fallback Prompts ✓ +</a:t>
            </a:r>
            <a:endParaRPr lang="en-US" sz="750" dirty="0"/>
          </a:p>
          <a:p>
            <a:pPr marL="0" indent="0" algn="l">
              <a:buNone/>
            </a:pPr>
            <a:r>
              <a:rPr lang="en-US" sz="750" b="1" dirty="0">
                <a:solidFill>
                  <a:srgbClr val="333333"/>
                </a:solidFill>
                <a:latin typeface="Arial" pitchFamily="34" charset="0"/>
                <a:ea typeface="Arial" pitchFamily="34" charset="-122"/>
                <a:cs typeface="Arial" pitchFamily="34" charset="-120"/>
              </a:rPr>
              <a:t>CoT Capture</a:t>
            </a:r>
            <a:endParaRPr lang="en-US" sz="750" dirty="0"/>
          </a:p>
        </p:txBody>
      </p:sp>
      <p:sp>
        <p:nvSpPr>
          <p:cNvPr id="48" name="Text 46"/>
          <p:cNvSpPr/>
          <p:nvPr/>
        </p:nvSpPr>
        <p:spPr>
          <a:xfrm>
            <a:off x="3063240" y="3163824"/>
            <a:ext cx="2103120" cy="292608"/>
          </a:xfrm>
          <a:prstGeom prst="rect">
            <a:avLst/>
          </a:prstGeom>
          <a:solidFill>
            <a:srgbClr val="F5F5F5"/>
          </a:solidFill>
          <a:ln/>
        </p:spPr>
        <p:txBody>
          <a:bodyPr wrap="square" lIns="25400" tIns="38100" rIns="38100" bIns="25400" rtlCol="0" anchor="t"/>
          <a:lstStyle/>
          <a:p>
            <a:pPr marL="0" indent="0" algn="l">
              <a:buNone/>
            </a:pPr>
            <a:r>
              <a:rPr lang="en-US" sz="750" dirty="0">
                <a:solidFill>
                  <a:srgbClr val="333333"/>
                </a:solidFill>
                <a:latin typeface="Courier New" pitchFamily="34" charset="0"/>
                <a:ea typeface="Courier New" pitchFamily="34" charset="-122"/>
                <a:cs typeface="Courier New" pitchFamily="34" charset="-120"/>
              </a:rPr>
              <a:t>prompt_fallbacks.py (181L)</a:t>
            </a:r>
            <a:endParaRPr lang="en-US" sz="750" dirty="0"/>
          </a:p>
          <a:p>
            <a:pPr marL="0" indent="0" algn="l">
              <a:buNone/>
            </a:pPr>
            <a:r>
              <a:rPr lang="en-US" sz="750" dirty="0">
                <a:solidFill>
                  <a:srgbClr val="333333"/>
                </a:solidFill>
                <a:latin typeface="Courier New" pitchFamily="34" charset="0"/>
                <a:ea typeface="Courier New" pitchFamily="34" charset="-122"/>
                <a:cs typeface="Courier New" pitchFamily="34" charset="-120"/>
              </a:rPr>
              <a:t>runtime/cot_store.py</a:t>
            </a:r>
            <a:endParaRPr lang="en-US" sz="750" dirty="0"/>
          </a:p>
        </p:txBody>
      </p:sp>
      <p:sp>
        <p:nvSpPr>
          <p:cNvPr id="49" name="Text 47"/>
          <p:cNvSpPr/>
          <p:nvPr/>
        </p:nvSpPr>
        <p:spPr>
          <a:xfrm>
            <a:off x="5166360" y="3163824"/>
            <a:ext cx="1188720" cy="292608"/>
          </a:xfrm>
          <a:prstGeom prst="rect">
            <a:avLst/>
          </a:prstGeom>
          <a:solidFill>
            <a:srgbClr val="F5F5F5"/>
          </a:solidFill>
          <a:ln/>
        </p:spPr>
        <p:txBody>
          <a:bodyPr wrap="square" lIns="25400" tIns="38100" rIns="38100" bIns="25400" rtlCol="0" anchor="t"/>
          <a:lstStyle/>
          <a:p>
            <a:pPr marL="0" indent="0" algn="ctr">
              <a:buNone/>
            </a:pPr>
            <a:r>
              <a:rPr lang="en-US" sz="750" b="1" dirty="0">
                <a:solidFill>
                  <a:srgbClr val="2E7D32"/>
                </a:solidFill>
                <a:latin typeface="Arial" pitchFamily="34" charset="0"/>
                <a:ea typeface="Arial" pitchFamily="34" charset="-122"/>
                <a:cs typeface="Arial" pitchFamily="34" charset="-120"/>
              </a:rPr>
              <a:t>~2d</a:t>
            </a:r>
            <a:endParaRPr lang="en-US" sz="750" dirty="0"/>
          </a:p>
        </p:txBody>
      </p:sp>
      <p:sp>
        <p:nvSpPr>
          <p:cNvPr id="50" name="Text 48"/>
          <p:cNvSpPr/>
          <p:nvPr/>
        </p:nvSpPr>
        <p:spPr>
          <a:xfrm>
            <a:off x="6355080" y="3163824"/>
            <a:ext cx="914400" cy="292608"/>
          </a:xfrm>
          <a:prstGeom prst="rect">
            <a:avLst/>
          </a:prstGeom>
          <a:solidFill>
            <a:srgbClr val="F5F5F5"/>
          </a:solidFill>
          <a:ln/>
        </p:spPr>
        <p:txBody>
          <a:bodyPr wrap="square" lIns="25400" tIns="38100" rIns="38100" bIns="25400" rtlCol="0" anchor="t"/>
          <a:lstStyle/>
          <a:p>
            <a:pPr marL="0" indent="0" algn="ctr">
              <a:buNone/>
            </a:pPr>
            <a:r>
              <a:rPr lang="en-US" sz="750" b="1" dirty="0">
                <a:solidFill>
                  <a:srgbClr val="0097A7"/>
                </a:solidFill>
                <a:latin typeface="Arial" pitchFamily="34" charset="0"/>
                <a:ea typeface="Arial" pitchFamily="34" charset="-122"/>
                <a:cs typeface="Arial" pitchFamily="34" charset="-120"/>
              </a:rPr>
              <a:t>Medium</a:t>
            </a:r>
            <a:endParaRPr lang="en-US" sz="750" dirty="0"/>
          </a:p>
        </p:txBody>
      </p:sp>
      <p:sp>
        <p:nvSpPr>
          <p:cNvPr id="51" name="Text 49"/>
          <p:cNvSpPr/>
          <p:nvPr/>
        </p:nvSpPr>
        <p:spPr>
          <a:xfrm>
            <a:off x="7269480" y="3163824"/>
            <a:ext cx="1371600" cy="292608"/>
          </a:xfrm>
          <a:prstGeom prst="rect">
            <a:avLst/>
          </a:prstGeom>
          <a:solidFill>
            <a:srgbClr val="F5F5F5"/>
          </a:solidFill>
          <a:ln/>
        </p:spPr>
        <p:txBody>
          <a:bodyPr wrap="square" lIns="25400" tIns="38100" rIns="38100" bIns="25400" rtlCol="0" anchor="t"/>
          <a:lstStyle/>
          <a:p>
            <a:pPr marL="0" indent="0" algn="l">
              <a:buNone/>
            </a:pPr>
            <a:r>
              <a:rPr lang="en-US" sz="750" dirty="0">
                <a:solidFill>
                  <a:srgbClr val="333333"/>
                </a:solidFill>
                <a:latin typeface="Arial" pitchFamily="34" charset="0"/>
                <a:ea typeface="Arial" pitchFamily="34" charset="-122"/>
                <a:cs typeface="Arial" pitchFamily="34" charset="-120"/>
              </a:rPr>
              <a:t>None</a:t>
            </a:r>
            <a:endParaRPr lang="en-US" sz="750" dirty="0"/>
          </a:p>
        </p:txBody>
      </p:sp>
      <p:sp>
        <p:nvSpPr>
          <p:cNvPr id="52" name="Text 50"/>
          <p:cNvSpPr/>
          <p:nvPr/>
        </p:nvSpPr>
        <p:spPr>
          <a:xfrm>
            <a:off x="502920" y="3456432"/>
            <a:ext cx="365760" cy="292608"/>
          </a:xfrm>
          <a:prstGeom prst="rect">
            <a:avLst/>
          </a:prstGeom>
          <a:solidFill>
            <a:srgbClr val="FFFFFF"/>
          </a:solidFill>
          <a:ln/>
        </p:spPr>
        <p:txBody>
          <a:bodyPr wrap="square" lIns="25400" tIns="38100" rIns="38100" bIns="25400" rtlCol="0" anchor="t"/>
          <a:lstStyle/>
          <a:p>
            <a:pPr marL="0" indent="0" algn="ctr">
              <a:buNone/>
            </a:pPr>
            <a:r>
              <a:rPr lang="en-US" sz="750" b="1" dirty="0">
                <a:solidFill>
                  <a:srgbClr val="333333"/>
                </a:solidFill>
                <a:latin typeface="Arial" pitchFamily="34" charset="0"/>
                <a:ea typeface="Arial" pitchFamily="34" charset="-122"/>
                <a:cs typeface="Arial" pitchFamily="34" charset="-120"/>
              </a:rPr>
              <a:t>8</a:t>
            </a:r>
            <a:endParaRPr lang="en-US" sz="750" dirty="0"/>
          </a:p>
        </p:txBody>
      </p:sp>
      <p:sp>
        <p:nvSpPr>
          <p:cNvPr id="53" name="Text 51"/>
          <p:cNvSpPr/>
          <p:nvPr/>
        </p:nvSpPr>
        <p:spPr>
          <a:xfrm>
            <a:off x="868680" y="3456432"/>
            <a:ext cx="2194560" cy="292608"/>
          </a:xfrm>
          <a:prstGeom prst="rect">
            <a:avLst/>
          </a:prstGeom>
          <a:solidFill>
            <a:srgbClr val="FFFFFF"/>
          </a:solidFill>
          <a:ln/>
        </p:spPr>
        <p:txBody>
          <a:bodyPr wrap="square" lIns="25400" tIns="38100" rIns="38100" bIns="25400" rtlCol="0" anchor="t"/>
          <a:lstStyle/>
          <a:p>
            <a:pPr marL="0" indent="0" algn="l">
              <a:buNone/>
            </a:pPr>
            <a:r>
              <a:rPr lang="en-US" sz="750" b="1" dirty="0">
                <a:solidFill>
                  <a:srgbClr val="333333"/>
                </a:solidFill>
                <a:latin typeface="Arial" pitchFamily="34" charset="0"/>
                <a:ea typeface="Arial" pitchFamily="34" charset="-122"/>
                <a:cs typeface="Arial" pitchFamily="34" charset="-120"/>
              </a:rPr>
              <a:t>Per-Step Observability +</a:t>
            </a:r>
            <a:endParaRPr lang="en-US" sz="750" dirty="0"/>
          </a:p>
          <a:p>
            <a:pPr marL="0" indent="0" algn="l">
              <a:buNone/>
            </a:pPr>
            <a:r>
              <a:rPr lang="en-US" sz="750" b="1" dirty="0">
                <a:solidFill>
                  <a:srgbClr val="333333"/>
                </a:solidFill>
                <a:latin typeface="Arial" pitchFamily="34" charset="0"/>
                <a:ea typeface="Arial" pitchFamily="34" charset="-122"/>
                <a:cs typeface="Arial" pitchFamily="34" charset="-120"/>
              </a:rPr>
              <a:t>Output Guardrails</a:t>
            </a:r>
            <a:endParaRPr lang="en-US" sz="750" dirty="0"/>
          </a:p>
        </p:txBody>
      </p:sp>
      <p:sp>
        <p:nvSpPr>
          <p:cNvPr id="54" name="Text 52"/>
          <p:cNvSpPr/>
          <p:nvPr/>
        </p:nvSpPr>
        <p:spPr>
          <a:xfrm>
            <a:off x="3063240" y="3456432"/>
            <a:ext cx="2103120" cy="292608"/>
          </a:xfrm>
          <a:prstGeom prst="rect">
            <a:avLst/>
          </a:prstGeom>
          <a:solidFill>
            <a:srgbClr val="FFFFFF"/>
          </a:solidFill>
          <a:ln/>
        </p:spPr>
        <p:txBody>
          <a:bodyPr wrap="square" lIns="25400" tIns="38100" rIns="38100" bIns="25400" rtlCol="0" anchor="t"/>
          <a:lstStyle/>
          <a:p>
            <a:pPr marL="0" indent="0" algn="l">
              <a:buNone/>
            </a:pPr>
            <a:r>
              <a:rPr lang="en-US" sz="750" dirty="0">
                <a:solidFill>
                  <a:srgbClr val="333333"/>
                </a:solidFill>
                <a:latin typeface="Courier New" pitchFamily="34" charset="0"/>
                <a:ea typeface="Courier New" pitchFamily="34" charset="-122"/>
                <a:cs typeface="Courier New" pitchFamily="34" charset="-120"/>
              </a:rPr>
              <a:t>observability/step_event.py</a:t>
            </a:r>
            <a:endParaRPr lang="en-US" sz="750" dirty="0"/>
          </a:p>
          <a:p>
            <a:pPr marL="0" indent="0" algn="l">
              <a:buNone/>
            </a:pPr>
            <a:r>
              <a:rPr lang="en-US" sz="750" dirty="0">
                <a:solidFill>
                  <a:srgbClr val="333333"/>
                </a:solidFill>
                <a:latin typeface="Courier New" pitchFamily="34" charset="0"/>
                <a:ea typeface="Courier New" pitchFamily="34" charset="-122"/>
                <a:cs typeface="Courier New" pitchFamily="34" charset="-120"/>
              </a:rPr>
              <a:t>runtime/guardrails.py</a:t>
            </a:r>
            <a:endParaRPr lang="en-US" sz="750" dirty="0"/>
          </a:p>
        </p:txBody>
      </p:sp>
      <p:sp>
        <p:nvSpPr>
          <p:cNvPr id="55" name="Text 53"/>
          <p:cNvSpPr/>
          <p:nvPr/>
        </p:nvSpPr>
        <p:spPr>
          <a:xfrm>
            <a:off x="5166360" y="3456432"/>
            <a:ext cx="1188720" cy="292608"/>
          </a:xfrm>
          <a:prstGeom prst="rect">
            <a:avLst/>
          </a:prstGeom>
          <a:solidFill>
            <a:srgbClr val="FFFFFF"/>
          </a:solidFill>
          <a:ln/>
        </p:spPr>
        <p:txBody>
          <a:bodyPr wrap="square" lIns="25400" tIns="38100" rIns="38100" bIns="25400" rtlCol="0" anchor="t"/>
          <a:lstStyle/>
          <a:p>
            <a:pPr marL="0" indent="0" algn="ctr">
              <a:buNone/>
            </a:pPr>
            <a:r>
              <a:rPr lang="en-US" sz="750" b="1" dirty="0">
                <a:solidFill>
                  <a:srgbClr val="F9A825"/>
                </a:solidFill>
                <a:latin typeface="Arial" pitchFamily="34" charset="0"/>
                <a:ea typeface="Arial" pitchFamily="34" charset="-122"/>
                <a:cs typeface="Arial" pitchFamily="34" charset="-120"/>
              </a:rPr>
              <a:t>~5d</a:t>
            </a:r>
            <a:endParaRPr lang="en-US" sz="750" dirty="0"/>
          </a:p>
        </p:txBody>
      </p:sp>
      <p:sp>
        <p:nvSpPr>
          <p:cNvPr id="56" name="Text 54"/>
          <p:cNvSpPr/>
          <p:nvPr/>
        </p:nvSpPr>
        <p:spPr>
          <a:xfrm>
            <a:off x="6355080" y="3456432"/>
            <a:ext cx="914400" cy="292608"/>
          </a:xfrm>
          <a:prstGeom prst="rect">
            <a:avLst/>
          </a:prstGeom>
          <a:solidFill>
            <a:srgbClr val="FFFFFF"/>
          </a:solidFill>
          <a:ln/>
        </p:spPr>
        <p:txBody>
          <a:bodyPr wrap="square" lIns="25400" tIns="38100" rIns="38100" bIns="25400" rtlCol="0" anchor="t"/>
          <a:lstStyle/>
          <a:p>
            <a:pPr marL="0" indent="0" algn="ctr">
              <a:buNone/>
            </a:pPr>
            <a:r>
              <a:rPr lang="en-US" sz="750" b="1" dirty="0">
                <a:solidFill>
                  <a:srgbClr val="C62828"/>
                </a:solidFill>
                <a:latin typeface="Arial" pitchFamily="34" charset="0"/>
                <a:ea typeface="Arial" pitchFamily="34" charset="-122"/>
                <a:cs typeface="Arial" pitchFamily="34" charset="-120"/>
              </a:rPr>
              <a:t>Critical</a:t>
            </a:r>
            <a:endParaRPr lang="en-US" sz="750" dirty="0"/>
          </a:p>
        </p:txBody>
      </p:sp>
      <p:sp>
        <p:nvSpPr>
          <p:cNvPr id="57" name="Text 55"/>
          <p:cNvSpPr/>
          <p:nvPr/>
        </p:nvSpPr>
        <p:spPr>
          <a:xfrm>
            <a:off x="7269480" y="3456432"/>
            <a:ext cx="1371600" cy="292608"/>
          </a:xfrm>
          <a:prstGeom prst="rect">
            <a:avLst/>
          </a:prstGeom>
          <a:solidFill>
            <a:srgbClr val="FFFFFF"/>
          </a:solidFill>
          <a:ln/>
        </p:spPr>
        <p:txBody>
          <a:bodyPr wrap="square" lIns="25400" tIns="38100" rIns="38100" bIns="25400" rtlCol="0" anchor="t"/>
          <a:lstStyle/>
          <a:p>
            <a:pPr marL="0" indent="0" algn="l">
              <a:buNone/>
            </a:pPr>
            <a:r>
              <a:rPr lang="en-US" sz="750" dirty="0">
                <a:solidFill>
                  <a:srgbClr val="333333"/>
                </a:solidFill>
                <a:latin typeface="Arial" pitchFamily="34" charset="0"/>
                <a:ea typeface="Arial" pitchFamily="34" charset="-122"/>
                <a:cs typeface="Arial" pitchFamily="34" charset="-120"/>
              </a:rPr>
              <a:t>Impl 3</a:t>
            </a:r>
            <a:endParaRPr lang="en-US" sz="750" dirty="0"/>
          </a:p>
        </p:txBody>
      </p:sp>
      <p:sp>
        <p:nvSpPr>
          <p:cNvPr id="58" name="Text 56"/>
          <p:cNvSpPr/>
          <p:nvPr/>
        </p:nvSpPr>
        <p:spPr>
          <a:xfrm>
            <a:off x="502920" y="3840480"/>
            <a:ext cx="8138160" cy="274320"/>
          </a:xfrm>
          <a:prstGeom prst="rect">
            <a:avLst/>
          </a:prstGeom>
          <a:noFill/>
          <a:ln/>
        </p:spPr>
        <p:txBody>
          <a:bodyPr wrap="square" lIns="0" tIns="0" rIns="0" bIns="0" rtlCol="0" anchor="ctr"/>
          <a:lstStyle/>
          <a:p>
            <a:pPr marL="0" indent="0">
              <a:buNone/>
            </a:pPr>
            <a:r>
              <a:rPr lang="en-US" sz="900" b="1" dirty="0">
                <a:solidFill>
                  <a:srgbClr val="1B2A4A"/>
                </a:solidFill>
              </a:rPr>
              <a:t>Total new code: ~850 lines across 12 new files</a:t>
            </a:r>
            <a:r>
              <a:rPr lang="en-US" sz="850" dirty="0">
                <a:solidFill>
                  <a:srgbClr val="666666"/>
                </a:solidFill>
              </a:rPr>
              <a:t>  ·  Modified files: 6 (kernel.py, query_loop.py, executor.py, registry.py, store.py, manager.py)  ·  Estimated calendar time: 4-5 weeks (1 developer)</a:t>
            </a:r>
            <a:endParaRPr lang="en-US" sz="900" dirty="0"/>
          </a:p>
        </p:txBody>
      </p:sp>
      <p:sp>
        <p:nvSpPr>
          <p:cNvPr id="59" name="Shape 57"/>
          <p:cNvSpPr/>
          <p:nvPr/>
        </p:nvSpPr>
        <p:spPr>
          <a:xfrm>
            <a:off x="502920" y="4187952"/>
            <a:ext cx="8138160" cy="228600"/>
          </a:xfrm>
          <a:prstGeom prst="rect">
            <a:avLst/>
          </a:prstGeom>
          <a:solidFill>
            <a:srgbClr val="E0F7FA"/>
          </a:solidFill>
          <a:ln w="12700">
            <a:solidFill>
              <a:srgbClr val="0097A7"/>
            </a:solidFill>
            <a:prstDash val="solid"/>
          </a:ln>
        </p:spPr>
        <p:txBody>
          <a:bodyPr/>
          <a:lstStyle/>
          <a:p>
            <a:endParaRPr lang="en-US"/>
          </a:p>
        </p:txBody>
      </p:sp>
      <p:sp>
        <p:nvSpPr>
          <p:cNvPr id="60" name="Text 58"/>
          <p:cNvSpPr/>
          <p:nvPr/>
        </p:nvSpPr>
        <p:spPr>
          <a:xfrm>
            <a:off x="594360" y="4187952"/>
            <a:ext cx="7955280" cy="22860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Implementation order matters: Memory Facade (1) and Retry Policy (3) have zero dependencies and unlock the most value. Parallel Execution (4) builds on Retry. Observability (8) builds on Retry for step timing.</a:t>
            </a:r>
            <a:endParaRPr lang="en-US" sz="1000" dirty="0"/>
          </a:p>
        </p:txBody>
      </p:sp>
      <p:sp>
        <p:nvSpPr>
          <p:cNvPr id="61" name="Text 59"/>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~850 new lines · 12 new files · 6 modified files · 4-5 weeks · all additive, no deletions</a:t>
            </a:r>
            <a:endParaRPr lang="en-US" sz="900"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bg>
      <p:bgPr>
        <a:solidFill>
          <a:srgbClr val="1B2A4A"/>
        </a:solidFill>
        <a:effectLst/>
      </p:bgPr>
    </p:bg>
    <p:spTree>
      <p:nvGrpSpPr>
        <p:cNvPr id="1" name=""/>
        <p:cNvGrpSpPr/>
        <p:nvPr/>
      </p:nvGrpSpPr>
      <p:grpSpPr>
        <a:xfrm>
          <a:off x="0" y="0"/>
          <a:ext cx="0" cy="0"/>
          <a:chOff x="0" y="0"/>
          <a:chExt cx="0" cy="0"/>
        </a:xfrm>
      </p:grpSpPr>
      <p:sp>
        <p:nvSpPr>
          <p:cNvPr id="2" name="Text 0"/>
          <p:cNvSpPr/>
          <p:nvPr/>
        </p:nvSpPr>
        <p:spPr>
          <a:xfrm>
            <a:off x="502920" y="1463040"/>
            <a:ext cx="8138160" cy="731520"/>
          </a:xfrm>
          <a:prstGeom prst="rect">
            <a:avLst/>
          </a:prstGeom>
          <a:noFill/>
          <a:ln/>
        </p:spPr>
        <p:txBody>
          <a:bodyPr wrap="square" lIns="0" tIns="0" rIns="0" bIns="0" rtlCol="0" anchor="ctr"/>
          <a:lstStyle/>
          <a:p>
            <a:pPr marL="0" indent="0">
              <a:buNone/>
            </a:pPr>
            <a:r>
              <a:rPr lang="en-US" sz="3200" b="1" dirty="0">
                <a:solidFill>
                  <a:srgbClr val="FFFFFF"/>
                </a:solidFill>
                <a:latin typeface="Arial" pitchFamily="34" charset="0"/>
                <a:ea typeface="Arial" pitchFamily="34" charset="-122"/>
                <a:cs typeface="Arial" pitchFamily="34" charset="-120"/>
              </a:rPr>
              <a:t>Enterprise-Grade Roadmap</a:t>
            </a:r>
            <a:endParaRPr lang="en-US" sz="3200" dirty="0"/>
          </a:p>
        </p:txBody>
      </p:sp>
      <p:sp>
        <p:nvSpPr>
          <p:cNvPr id="3" name="Text 1"/>
          <p:cNvSpPr/>
          <p:nvPr/>
        </p:nvSpPr>
        <p:spPr>
          <a:xfrm>
            <a:off x="502920" y="2286000"/>
            <a:ext cx="8138160" cy="457200"/>
          </a:xfrm>
          <a:prstGeom prst="rect">
            <a:avLst/>
          </a:prstGeom>
          <a:noFill/>
          <a:ln/>
        </p:spPr>
        <p:txBody>
          <a:bodyPr wrap="square" lIns="0" tIns="0" rIns="0" bIns="0" rtlCol="0" anchor="ctr"/>
          <a:lstStyle/>
          <a:p>
            <a:pPr marL="0" indent="0">
              <a:buNone/>
            </a:pPr>
            <a:r>
              <a:rPr lang="en-US" sz="1600" dirty="0">
                <a:solidFill>
                  <a:srgbClr val="0097A7"/>
                </a:solidFill>
                <a:latin typeface="Arial" pitchFamily="34" charset="0"/>
                <a:ea typeface="Arial" pitchFamily="34" charset="-122"/>
                <a:cs typeface="Arial" pitchFamily="34" charset="-120"/>
              </a:rPr>
              <a:t>17 capability gaps — 4 show partial progress (▲). Aligned with agentic system best practices.</a:t>
            </a:r>
            <a:endParaRPr lang="en-US" sz="1600"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Memory — 3 Enterprise Gaps</a:t>
            </a:r>
            <a:endParaRPr lang="en-US" sz="2600" dirty="0"/>
          </a:p>
        </p:txBody>
      </p:sp>
      <p:sp>
        <p:nvSpPr>
          <p:cNvPr id="3" name="Text 1"/>
          <p:cNvSpPr/>
          <p:nvPr/>
        </p:nvSpPr>
        <p:spPr>
          <a:xfrm>
            <a:off x="502920" y="804672"/>
            <a:ext cx="8138160" cy="292608"/>
          </a:xfrm>
          <a:prstGeom prst="rect">
            <a:avLst/>
          </a:prstGeom>
          <a:noFill/>
          <a:ln/>
        </p:spPr>
        <p:txBody>
          <a:bodyPr wrap="square" lIns="0" tIns="0" rIns="0" bIns="0" rtlCol="0" anchor="ctr"/>
          <a:lstStyle/>
          <a:p>
            <a:pPr marL="0" indent="0">
              <a:buNone/>
            </a:pPr>
            <a:r>
              <a:rPr lang="en-US" sz="1100" dirty="0">
                <a:solidFill>
                  <a:srgbClr val="666666"/>
                </a:solidFill>
                <a:latin typeface="Arial" pitchFamily="34" charset="0"/>
                <a:ea typeface="Arial" pitchFamily="34" charset="-122"/>
                <a:cs typeface="Arial" pitchFamily="34" charset="-120"/>
              </a:rPr>
              <a:t>memory_v2.py adds episodes + importance scoring + TTL hints. Remaining: conflict resolution, cross-session synthesis, compliance enforcement.</a:t>
            </a:r>
            <a:endParaRPr lang="en-US" sz="1100" dirty="0"/>
          </a:p>
        </p:txBody>
      </p:sp>
      <p:sp>
        <p:nvSpPr>
          <p:cNvPr id="4" name="Shape 2"/>
          <p:cNvSpPr/>
          <p:nvPr/>
        </p:nvSpPr>
        <p:spPr>
          <a:xfrm>
            <a:off x="502920" y="1188720"/>
            <a:ext cx="2590800" cy="30175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188720"/>
            <a:ext cx="2590800" cy="320040"/>
          </a:xfrm>
          <a:prstGeom prst="rect">
            <a:avLst/>
          </a:prstGeom>
          <a:solidFill>
            <a:srgbClr val="0097A7"/>
          </a:solidFill>
          <a:ln/>
        </p:spPr>
        <p:txBody>
          <a:bodyPr/>
          <a:lstStyle/>
          <a:p>
            <a:endParaRPr lang="en-US"/>
          </a:p>
        </p:txBody>
      </p:sp>
      <p:sp>
        <p:nvSpPr>
          <p:cNvPr id="6" name="Text 4"/>
          <p:cNvSpPr/>
          <p:nvPr/>
        </p:nvSpPr>
        <p:spPr>
          <a:xfrm>
            <a:off x="612648" y="1216152"/>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Memory Conflict Resolution</a:t>
            </a:r>
            <a:endParaRPr lang="en-US" sz="1200" dirty="0"/>
          </a:p>
        </p:txBody>
      </p:sp>
      <p:sp>
        <p:nvSpPr>
          <p:cNvPr id="7" name="Text 5"/>
          <p:cNvSpPr/>
          <p:nvPr/>
        </p:nvSpPr>
        <p:spPr>
          <a:xfrm>
            <a:off x="612648" y="1572768"/>
            <a:ext cx="2371344" cy="2542032"/>
          </a:xfrm>
          <a:prstGeom prst="rect">
            <a:avLst/>
          </a:prstGeom>
          <a:noFill/>
          <a:ln/>
        </p:spPr>
        <p:txBody>
          <a:bodyPr wrap="square" lIns="0" tIns="0" rIns="0" bIns="0" rtlCol="0" anchor="t"/>
          <a:lstStyle/>
          <a:p>
            <a:pPr marL="0" indent="0">
              <a:lnSpc>
                <a:spcPct val="110000"/>
              </a:lnSpc>
              <a:buNone/>
            </a:pPr>
            <a:r>
              <a:rPr lang="en-US" sz="950" b="1" dirty="0">
                <a:solidFill>
                  <a:srgbClr val="C62828"/>
                </a:solidFill>
                <a:latin typeface="Arial" pitchFamily="34" charset="0"/>
                <a:ea typeface="Arial" pitchFamily="34" charset="-122"/>
                <a:cs typeface="Arial" pitchFamily="34" charset="-120"/>
              </a:rPr>
              <a:t>Gap: </a:t>
            </a:r>
            <a:r>
              <a:rPr lang="en-US" sz="950" dirty="0">
                <a:solidFill>
                  <a:srgbClr val="333333"/>
                </a:solidFill>
                <a:latin typeface="Arial" pitchFamily="34" charset="0"/>
                <a:ea typeface="Arial" pitchFamily="34" charset="-122"/>
                <a:cs typeface="Arial" pitchFamily="34" charset="-120"/>
              </a:rPr>
              <a:t>Entity extractor writes new facts but never reconciles contradictions with existing entries.
</a:t>
            </a:r>
            <a:r>
              <a:rPr lang="en-US" sz="950" b="1" dirty="0">
                <a:solidFill>
                  <a:srgbClr val="1B2A4A"/>
                </a:solidFill>
                <a:latin typeface="Arial" pitchFamily="34" charset="0"/>
                <a:ea typeface="Arial" pitchFamily="34" charset="-122"/>
                <a:cs typeface="Arial" pitchFamily="34" charset="-120"/>
              </a:rPr>
              <a:t>Evidence: </a:t>
            </a:r>
            <a:r>
              <a:rPr lang="en-US" sz="950" dirty="0">
                <a:solidFill>
                  <a:srgbClr val="333333"/>
                </a:solidFill>
                <a:latin typeface="Courier New" pitchFamily="34" charset="0"/>
                <a:ea typeface="Courier New" pitchFamily="34" charset="-122"/>
                <a:cs typeface="Courier New" pitchFamily="34" charset="-120"/>
              </a:rPr>
              <a:t>memory/extractor.py writes; context_builder.py reads — no merge/conflict layer
</a:t>
            </a:r>
            <a:endParaRPr lang="en-US" sz="1000" dirty="0"/>
          </a:p>
          <a:p>
            <a:pPr marL="0" indent="0">
              <a:lnSpc>
                <a:spcPct val="110000"/>
              </a:lnSpc>
              <a:buNone/>
            </a:pPr>
            <a:r>
              <a:rPr lang="en-US" sz="950" b="1" dirty="0">
                <a:solidFill>
                  <a:srgbClr val="C62828"/>
                </a:solidFill>
                <a:latin typeface="Arial" pitchFamily="34" charset="0"/>
                <a:ea typeface="Arial" pitchFamily="34" charset="-122"/>
                <a:cs typeface="Arial" pitchFamily="34" charset="-120"/>
              </a:rPr>
              <a:t>Blocker: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Stale facts persist alongside corrected facts — agent gets conflicting context.
</a:t>
            </a:r>
            <a:endParaRPr lang="en-US" sz="1000" dirty="0"/>
          </a:p>
          <a:p>
            <a:pPr marL="0" indent="0">
              <a:lnSpc>
                <a:spcPct val="110000"/>
              </a:lnSpc>
              <a:buNone/>
            </a:pPr>
            <a:r>
              <a:rPr lang="en-US" sz="950" b="1" dirty="0">
                <a:solidFill>
                  <a:srgbClr val="2E7D32"/>
                </a:solidFill>
                <a:latin typeface="Arial" pitchFamily="34" charset="0"/>
                <a:ea typeface="Arial" pitchFamily="34" charset="-122"/>
                <a:cs typeface="Arial" pitchFamily="34" charset="-120"/>
              </a:rPr>
              <a:t>Build: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memory/conflict_resolver.py — timestamp-aware merge that supersedes old facts, emits MemoryConflictEvent for audit.</a:t>
            </a:r>
            <a:endParaRPr lang="en-US" sz="1000" dirty="0"/>
          </a:p>
        </p:txBody>
      </p:sp>
      <p:sp>
        <p:nvSpPr>
          <p:cNvPr id="8" name="Shape 6"/>
          <p:cNvSpPr/>
          <p:nvPr/>
        </p:nvSpPr>
        <p:spPr>
          <a:xfrm>
            <a:off x="3276600" y="1188720"/>
            <a:ext cx="2590800" cy="30175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3276600" y="1188720"/>
            <a:ext cx="2590800" cy="320040"/>
          </a:xfrm>
          <a:prstGeom prst="rect">
            <a:avLst/>
          </a:prstGeom>
          <a:solidFill>
            <a:srgbClr val="00796B"/>
          </a:solidFill>
          <a:ln/>
        </p:spPr>
        <p:txBody>
          <a:bodyPr/>
          <a:lstStyle/>
          <a:p>
            <a:endParaRPr lang="en-US"/>
          </a:p>
        </p:txBody>
      </p:sp>
      <p:sp>
        <p:nvSpPr>
          <p:cNvPr id="10" name="Text 8"/>
          <p:cNvSpPr/>
          <p:nvPr/>
        </p:nvSpPr>
        <p:spPr>
          <a:xfrm>
            <a:off x="3386328" y="1216152"/>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Cross-Session Synthesis</a:t>
            </a:r>
            <a:endParaRPr lang="en-US" sz="1200" dirty="0"/>
          </a:p>
        </p:txBody>
      </p:sp>
      <p:sp>
        <p:nvSpPr>
          <p:cNvPr id="11" name="Text 9"/>
          <p:cNvSpPr/>
          <p:nvPr/>
        </p:nvSpPr>
        <p:spPr>
          <a:xfrm>
            <a:off x="3386328" y="1572768"/>
            <a:ext cx="2371344" cy="2542032"/>
          </a:xfrm>
          <a:prstGeom prst="rect">
            <a:avLst/>
          </a:prstGeom>
          <a:noFill/>
          <a:ln/>
        </p:spPr>
        <p:txBody>
          <a:bodyPr wrap="square" lIns="0" tIns="0" rIns="0" bIns="0" rtlCol="0" anchor="t"/>
          <a:lstStyle/>
          <a:p>
            <a:pPr marL="0" indent="0">
              <a:lnSpc>
                <a:spcPct val="110000"/>
              </a:lnSpc>
              <a:buNone/>
            </a:pPr>
            <a:r>
              <a:rPr lang="en-US" sz="950" b="1" dirty="0">
                <a:solidFill>
                  <a:srgbClr val="C62828"/>
                </a:solidFill>
                <a:latin typeface="Arial" pitchFamily="34" charset="0"/>
                <a:ea typeface="Arial" pitchFamily="34" charset="-122"/>
                <a:cs typeface="Arial" pitchFamily="34" charset="-120"/>
              </a:rPr>
              <a:t>Gap: </a:t>
            </a:r>
            <a:r>
              <a:rPr lang="en-US" sz="950" dirty="0">
                <a:solidFill>
                  <a:srgbClr val="333333"/>
                </a:solidFill>
                <a:latin typeface="Arial" pitchFamily="34" charset="0"/>
                <a:ea typeface="Arial" pitchFamily="34" charset="-122"/>
                <a:cs typeface="Arial" pitchFamily="34" charset="-120"/>
              </a:rPr>
              <a:t>User &amp; conversation scopes are hard walls — no pattern synthesis across threads.
</a:t>
            </a:r>
            <a:r>
              <a:rPr lang="en-US" sz="950" b="1" dirty="0">
                <a:solidFill>
                  <a:srgbClr val="1B2A4A"/>
                </a:solidFill>
                <a:latin typeface="Arial" pitchFamily="34" charset="0"/>
                <a:ea typeface="Arial" pitchFamily="34" charset="-122"/>
                <a:cs typeface="Arial" pitchFamily="34" charset="-120"/>
              </a:rPr>
              <a:t>Evidence: </a:t>
            </a:r>
            <a:r>
              <a:rPr lang="en-US" sz="950" dirty="0">
                <a:solidFill>
                  <a:srgbClr val="333333"/>
                </a:solidFill>
                <a:latin typeface="Courier New" pitchFamily="34" charset="0"/>
                <a:ea typeface="Courier New" pitchFamily="34" charset="-122"/>
                <a:cs typeface="Courier New" pitchFamily="34" charset="-120"/>
              </a:rPr>
              <a:t>context_builder.py loads only current scope
</a:t>
            </a:r>
            <a:endParaRPr lang="en-US" sz="1000" dirty="0"/>
          </a:p>
          <a:p>
            <a:pPr marL="0" indent="0">
              <a:lnSpc>
                <a:spcPct val="110000"/>
              </a:lnSpc>
              <a:buNone/>
            </a:pPr>
            <a:r>
              <a:rPr lang="en-US" sz="950" b="1" dirty="0">
                <a:solidFill>
                  <a:srgbClr val="C62828"/>
                </a:solidFill>
                <a:latin typeface="Arial" pitchFamily="34" charset="0"/>
                <a:ea typeface="Arial" pitchFamily="34" charset="-122"/>
                <a:cs typeface="Arial" pitchFamily="34" charset="-120"/>
              </a:rPr>
              <a:t>Blocker: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Can't track user behavior, escalation history, or preferences over time.
</a:t>
            </a:r>
            <a:endParaRPr lang="en-US" sz="1000" dirty="0"/>
          </a:p>
          <a:p>
            <a:pPr marL="0" indent="0">
              <a:lnSpc>
                <a:spcPct val="110000"/>
              </a:lnSpc>
              <a:buNone/>
            </a:pPr>
            <a:r>
              <a:rPr lang="en-US" sz="950" b="1" dirty="0">
                <a:solidFill>
                  <a:srgbClr val="2E7D32"/>
                </a:solidFill>
                <a:latin typeface="Arial" pitchFamily="34" charset="0"/>
                <a:ea typeface="Arial" pitchFamily="34" charset="-122"/>
                <a:cs typeface="Arial" pitchFamily="34" charset="-120"/>
              </a:rPr>
              <a:t>Build: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cross_session_synthesizer.py runs periodic jobs that promote high-confidence user facts (role, domain, preferences) with confidence scores.</a:t>
            </a:r>
            <a:endParaRPr lang="en-US" sz="1000" dirty="0"/>
          </a:p>
        </p:txBody>
      </p:sp>
      <p:sp>
        <p:nvSpPr>
          <p:cNvPr id="12" name="Shape 10"/>
          <p:cNvSpPr/>
          <p:nvPr/>
        </p:nvSpPr>
        <p:spPr>
          <a:xfrm>
            <a:off x="6050280" y="1188720"/>
            <a:ext cx="2590800" cy="30175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3" name="Shape 11"/>
          <p:cNvSpPr/>
          <p:nvPr/>
        </p:nvSpPr>
        <p:spPr>
          <a:xfrm>
            <a:off x="6050280" y="1188720"/>
            <a:ext cx="2590800" cy="320040"/>
          </a:xfrm>
          <a:prstGeom prst="rect">
            <a:avLst/>
          </a:prstGeom>
          <a:solidFill>
            <a:srgbClr val="1B2A4A"/>
          </a:solidFill>
          <a:ln/>
        </p:spPr>
        <p:txBody>
          <a:bodyPr/>
          <a:lstStyle/>
          <a:p>
            <a:endParaRPr lang="en-US"/>
          </a:p>
        </p:txBody>
      </p:sp>
      <p:sp>
        <p:nvSpPr>
          <p:cNvPr id="14" name="Text 12"/>
          <p:cNvSpPr/>
          <p:nvPr/>
        </p:nvSpPr>
        <p:spPr>
          <a:xfrm>
            <a:off x="6160008" y="1216152"/>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Retention &amp; Compliance Decay</a:t>
            </a:r>
            <a:endParaRPr lang="en-US" sz="1200" dirty="0"/>
          </a:p>
        </p:txBody>
      </p:sp>
      <p:sp>
        <p:nvSpPr>
          <p:cNvPr id="15" name="Text 13"/>
          <p:cNvSpPr/>
          <p:nvPr/>
        </p:nvSpPr>
        <p:spPr>
          <a:xfrm>
            <a:off x="6160008" y="1572768"/>
            <a:ext cx="2371344" cy="2542032"/>
          </a:xfrm>
          <a:prstGeom prst="rect">
            <a:avLst/>
          </a:prstGeom>
          <a:noFill/>
          <a:ln/>
        </p:spPr>
        <p:txBody>
          <a:bodyPr wrap="square" lIns="0" tIns="0" rIns="0" bIns="0" rtlCol="0" anchor="t"/>
          <a:lstStyle/>
          <a:p>
            <a:pPr marL="0" indent="0">
              <a:lnSpc>
                <a:spcPct val="110000"/>
              </a:lnSpc>
              <a:buNone/>
            </a:pPr>
            <a:r>
              <a:rPr lang="en-US" sz="950" b="1" dirty="0">
                <a:solidFill>
                  <a:srgbClr val="C62828"/>
                </a:solidFill>
                <a:latin typeface="Arial" pitchFamily="34" charset="0"/>
                <a:ea typeface="Arial" pitchFamily="34" charset="-122"/>
                <a:cs typeface="Arial" pitchFamily="34" charset="-120"/>
              </a:rPr>
              <a:t>Gap: </a:t>
            </a:r>
            <a:r>
              <a:rPr lang="en-US" sz="950" dirty="0">
                <a:solidFill>
                  <a:srgbClr val="333333"/>
                </a:solidFill>
                <a:latin typeface="Arial" pitchFamily="34" charset="0"/>
                <a:ea typeface="Arial" pitchFamily="34" charset="-122"/>
                <a:cs typeface="Arial" pitchFamily="34" charset="-120"/>
              </a:rPr>
              <a:t>Memory is write-once — no TTL, no PII redaction, no right-to-forget.
</a:t>
            </a:r>
            <a:r>
              <a:rPr lang="en-US" sz="950" b="1" dirty="0">
                <a:solidFill>
                  <a:srgbClr val="1B2A4A"/>
                </a:solidFill>
                <a:latin typeface="Arial" pitchFamily="34" charset="0"/>
                <a:ea typeface="Arial" pitchFamily="34" charset="-122"/>
                <a:cs typeface="Arial" pitchFamily="34" charset="-120"/>
              </a:rPr>
              <a:t>Evidence: </a:t>
            </a:r>
            <a:r>
              <a:rPr lang="en-US" sz="950" dirty="0">
                <a:solidFill>
                  <a:srgbClr val="333333"/>
                </a:solidFill>
                <a:latin typeface="Courier New" pitchFamily="34" charset="0"/>
                <a:ea typeface="Courier New" pitchFamily="34" charset="-122"/>
                <a:cs typeface="Courier New" pitchFamily="34" charset="-120"/>
              </a:rPr>
              <a:t>file_store.py has no deletion or masking logic
</a:t>
            </a:r>
            <a:endParaRPr lang="en-US" sz="1000" dirty="0"/>
          </a:p>
          <a:p>
            <a:pPr marL="0" indent="0">
              <a:lnSpc>
                <a:spcPct val="110000"/>
              </a:lnSpc>
              <a:buNone/>
            </a:pPr>
            <a:r>
              <a:rPr lang="en-US" sz="950" b="1" dirty="0">
                <a:solidFill>
                  <a:srgbClr val="C62828"/>
                </a:solidFill>
                <a:latin typeface="Arial" pitchFamily="34" charset="0"/>
                <a:ea typeface="Arial" pitchFamily="34" charset="-122"/>
                <a:cs typeface="Arial" pitchFamily="34" charset="-120"/>
              </a:rPr>
              <a:t>Blocker: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GDPR / CCPA violations; no audit trail of what was erased or when.
</a:t>
            </a:r>
            <a:endParaRPr lang="en-US" sz="1000" dirty="0"/>
          </a:p>
          <a:p>
            <a:pPr marL="0" indent="0">
              <a:lnSpc>
                <a:spcPct val="110000"/>
              </a:lnSpc>
              <a:buNone/>
            </a:pPr>
            <a:r>
              <a:rPr lang="en-US" sz="950" b="1" dirty="0">
                <a:solidFill>
                  <a:srgbClr val="2E7D32"/>
                </a:solidFill>
                <a:latin typeface="Arial" pitchFamily="34" charset="0"/>
                <a:ea typeface="Arial" pitchFamily="34" charset="-122"/>
                <a:cs typeface="Arial" pitchFamily="34" charset="-120"/>
              </a:rPr>
              <a:t>Build: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retention_policy.py with per-scope TTLs, Presidio-style PII classifier, and compliant deletion records written to audit log before erasure.</a:t>
            </a:r>
            <a:endParaRPr lang="en-US" sz="1000" dirty="0"/>
          </a:p>
        </p:txBody>
      </p:sp>
      <p:sp>
        <p:nvSpPr>
          <p:cNvPr id="16" name="Shape 14"/>
          <p:cNvSpPr/>
          <p:nvPr/>
        </p:nvSpPr>
        <p:spPr>
          <a:xfrm>
            <a:off x="502920" y="4343400"/>
            <a:ext cx="8138160" cy="402336"/>
          </a:xfrm>
          <a:prstGeom prst="rect">
            <a:avLst/>
          </a:prstGeom>
          <a:solidFill>
            <a:srgbClr val="E0F7FA"/>
          </a:solidFill>
          <a:ln w="12700">
            <a:solidFill>
              <a:srgbClr val="0097A7"/>
            </a:solidFill>
            <a:prstDash val="solid"/>
          </a:ln>
        </p:spPr>
        <p:txBody>
          <a:bodyPr/>
          <a:lstStyle/>
          <a:p>
            <a:endParaRPr lang="en-US"/>
          </a:p>
        </p:txBody>
      </p:sp>
      <p:sp>
        <p:nvSpPr>
          <p:cNvPr id="17" name="Text 15"/>
          <p:cNvSpPr/>
          <p:nvPr/>
        </p:nvSpPr>
        <p:spPr>
          <a:xfrm>
            <a:off x="594360" y="4343400"/>
            <a:ext cx="7955280" cy="402336"/>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Conflict resolution + cross-session synthesis + compliant retention turn a chatbot's memory into an auditable, self-correcting knowledge graph.</a:t>
            </a:r>
            <a:endParaRPr lang="en-US" sz="1000" dirty="0"/>
          </a:p>
        </p:txBody>
      </p:sp>
      <p:sp>
        <p:nvSpPr>
          <p:cNvPr id="18" name="Text 16"/>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memory/extractor.py (built), memory/file_store.py, memory/context_builder.py  —  no conflict merge, no TTL, no PII redaction</a:t>
            </a:r>
            <a:endParaRPr lang="en-US" sz="900"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Agent Routing — 3 Enterprise Gaps</a:t>
            </a:r>
            <a:endParaRPr lang="en-US" sz="2600" dirty="0"/>
          </a:p>
        </p:txBody>
      </p:sp>
      <p:sp>
        <p:nvSpPr>
          <p:cNvPr id="3" name="Text 1"/>
          <p:cNvSpPr/>
          <p:nvPr/>
        </p:nvSpPr>
        <p:spPr>
          <a:xfrm>
            <a:off x="502920" y="804672"/>
            <a:ext cx="8138160" cy="292608"/>
          </a:xfrm>
          <a:prstGeom prst="rect">
            <a:avLst/>
          </a:prstGeom>
          <a:noFill/>
          <a:ln/>
        </p:spPr>
        <p:txBody>
          <a:bodyPr wrap="square" lIns="0" tIns="0" rIns="0" bIns="0" rtlCol="0" anchor="ctr"/>
          <a:lstStyle/>
          <a:p>
            <a:pPr marL="0" indent="0">
              <a:buNone/>
            </a:pPr>
            <a:r>
              <a:rPr lang="en-US" sz="1100" dirty="0">
                <a:solidFill>
                  <a:srgbClr val="666666"/>
                </a:solidFill>
                <a:latin typeface="Arial" pitchFamily="34" charset="0"/>
                <a:ea typeface="Arial" pitchFamily="34" charset="-122"/>
                <a:cs typeface="Arial" pitchFamily="34" charset="-120"/>
              </a:rPr>
              <a:t>Feedback loop and scheduler are built. Remaining gaps: cost signals, agent self-reflection, and human-in-the-loop escalation.</a:t>
            </a:r>
            <a:endParaRPr lang="en-US" sz="1100" dirty="0"/>
          </a:p>
        </p:txBody>
      </p:sp>
      <p:sp>
        <p:nvSpPr>
          <p:cNvPr id="4" name="Shape 2"/>
          <p:cNvSpPr/>
          <p:nvPr/>
        </p:nvSpPr>
        <p:spPr>
          <a:xfrm>
            <a:off x="502920" y="1188720"/>
            <a:ext cx="2590800" cy="30175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188720"/>
            <a:ext cx="2590800" cy="320040"/>
          </a:xfrm>
          <a:prstGeom prst="rect">
            <a:avLst/>
          </a:prstGeom>
          <a:solidFill>
            <a:srgbClr val="0097A7"/>
          </a:solidFill>
          <a:ln/>
        </p:spPr>
        <p:txBody>
          <a:bodyPr/>
          <a:lstStyle/>
          <a:p>
            <a:endParaRPr lang="en-US"/>
          </a:p>
        </p:txBody>
      </p:sp>
      <p:sp>
        <p:nvSpPr>
          <p:cNvPr id="6" name="Text 4"/>
          <p:cNvSpPr/>
          <p:nvPr/>
        </p:nvSpPr>
        <p:spPr>
          <a:xfrm>
            <a:off x="612648" y="1216152"/>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Cost-Aware Routing</a:t>
            </a:r>
            <a:endParaRPr lang="en-US" sz="1200" dirty="0"/>
          </a:p>
        </p:txBody>
      </p:sp>
      <p:sp>
        <p:nvSpPr>
          <p:cNvPr id="7" name="Text 5"/>
          <p:cNvSpPr/>
          <p:nvPr/>
        </p:nvSpPr>
        <p:spPr>
          <a:xfrm>
            <a:off x="612648" y="1572768"/>
            <a:ext cx="2371344" cy="2542032"/>
          </a:xfrm>
          <a:prstGeom prst="rect">
            <a:avLst/>
          </a:prstGeom>
          <a:noFill/>
          <a:ln/>
        </p:spPr>
        <p:txBody>
          <a:bodyPr wrap="square" lIns="0" tIns="0" rIns="0" bIns="0" rtlCol="0" anchor="t"/>
          <a:lstStyle/>
          <a:p>
            <a:pPr marL="0" indent="0">
              <a:lnSpc>
                <a:spcPct val="110000"/>
              </a:lnSpc>
              <a:buNone/>
            </a:pPr>
            <a:r>
              <a:rPr lang="en-US" sz="950" b="1" dirty="0">
                <a:solidFill>
                  <a:srgbClr val="C62828"/>
                </a:solidFill>
                <a:latin typeface="Arial" pitchFamily="34" charset="0"/>
                <a:ea typeface="Arial" pitchFamily="34" charset="-122"/>
                <a:cs typeface="Arial" pitchFamily="34" charset="-120"/>
              </a:rPr>
              <a:t>Gap: </a:t>
            </a:r>
            <a:r>
              <a:rPr lang="en-US" sz="950" dirty="0">
                <a:solidFill>
                  <a:srgbClr val="333333"/>
                </a:solidFill>
                <a:latin typeface="Arial" pitchFamily="34" charset="0"/>
                <a:ea typeface="Arial" pitchFamily="34" charset="-122"/>
                <a:cs typeface="Arial" pitchFamily="34" charset="-120"/>
              </a:rPr>
              <a:t>Router picks agents on intent + confidence only. No cost or latency awareness.
</a:t>
            </a:r>
            <a:r>
              <a:rPr lang="en-US" sz="950" b="1" dirty="0">
                <a:solidFill>
                  <a:srgbClr val="1B2A4A"/>
                </a:solidFill>
                <a:latin typeface="Arial" pitchFamily="34" charset="0"/>
                <a:ea typeface="Arial" pitchFamily="34" charset="-122"/>
                <a:cs typeface="Arial" pitchFamily="34" charset="-120"/>
              </a:rPr>
              <a:t>Evidence: </a:t>
            </a:r>
            <a:r>
              <a:rPr lang="en-US" sz="950" dirty="0">
                <a:solidFill>
                  <a:srgbClr val="333333"/>
                </a:solidFill>
                <a:latin typeface="Courier New" pitchFamily="34" charset="0"/>
                <a:ea typeface="Courier New" pitchFamily="34" charset="-122"/>
                <a:cs typeface="Courier New" pitchFamily="34" charset="-120"/>
              </a:rPr>
              <a:t>router/llm_router.py:110 — no cost metadata in RouterDecision
</a:t>
            </a:r>
            <a:endParaRPr lang="en-US" sz="1000" dirty="0"/>
          </a:p>
          <a:p>
            <a:pPr marL="0" indent="0">
              <a:lnSpc>
                <a:spcPct val="110000"/>
              </a:lnSpc>
              <a:buNone/>
            </a:pPr>
            <a:r>
              <a:rPr lang="en-US" sz="950" b="1" dirty="0">
                <a:solidFill>
                  <a:srgbClr val="C62828"/>
                </a:solidFill>
                <a:latin typeface="Arial" pitchFamily="34" charset="0"/>
                <a:ea typeface="Arial" pitchFamily="34" charset="-122"/>
                <a:cs typeface="Arial" pitchFamily="34" charset="-120"/>
              </a:rPr>
              <a:t>Blocker: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Cheap fast-path never escalates; expensive LLM fires on trivial intents.
</a:t>
            </a:r>
            <a:endParaRPr lang="en-US" sz="1000" dirty="0"/>
          </a:p>
          <a:p>
            <a:pPr marL="0" indent="0">
              <a:lnSpc>
                <a:spcPct val="110000"/>
              </a:lnSpc>
              <a:buNone/>
            </a:pPr>
            <a:r>
              <a:rPr lang="en-US" sz="950" b="1" dirty="0">
                <a:solidFill>
                  <a:srgbClr val="2E7D32"/>
                </a:solidFill>
                <a:latin typeface="Arial" pitchFamily="34" charset="0"/>
                <a:ea typeface="Arial" pitchFamily="34" charset="-122"/>
                <a:cs typeface="Arial" pitchFamily="34" charset="-120"/>
              </a:rPr>
              <a:t>Build: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router/cost_model.py with per-provider cost/latency profile; RouterDecision gains estimated_cost_cents, expected_latency_ms; SLA-aware thresholds.</a:t>
            </a:r>
            <a:endParaRPr lang="en-US" sz="1000" dirty="0"/>
          </a:p>
        </p:txBody>
      </p:sp>
      <p:sp>
        <p:nvSpPr>
          <p:cNvPr id="8" name="Shape 6"/>
          <p:cNvSpPr/>
          <p:nvPr/>
        </p:nvSpPr>
        <p:spPr>
          <a:xfrm>
            <a:off x="3276600" y="1188720"/>
            <a:ext cx="2590800" cy="30175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3276600" y="1188720"/>
            <a:ext cx="2590800" cy="320040"/>
          </a:xfrm>
          <a:prstGeom prst="rect">
            <a:avLst/>
          </a:prstGeom>
          <a:solidFill>
            <a:srgbClr val="00796B"/>
          </a:solidFill>
          <a:ln/>
        </p:spPr>
        <p:txBody>
          <a:bodyPr/>
          <a:lstStyle/>
          <a:p>
            <a:endParaRPr lang="en-US"/>
          </a:p>
        </p:txBody>
      </p:sp>
      <p:sp>
        <p:nvSpPr>
          <p:cNvPr id="10" name="Text 8"/>
          <p:cNvSpPr/>
          <p:nvPr/>
        </p:nvSpPr>
        <p:spPr>
          <a:xfrm>
            <a:off x="3386328" y="1216152"/>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Agent Self-Reflection Loop</a:t>
            </a:r>
            <a:endParaRPr lang="en-US" sz="1200" dirty="0"/>
          </a:p>
        </p:txBody>
      </p:sp>
      <p:sp>
        <p:nvSpPr>
          <p:cNvPr id="11" name="Text 9"/>
          <p:cNvSpPr/>
          <p:nvPr/>
        </p:nvSpPr>
        <p:spPr>
          <a:xfrm>
            <a:off x="3386328" y="1572768"/>
            <a:ext cx="2371344" cy="2542032"/>
          </a:xfrm>
          <a:prstGeom prst="rect">
            <a:avLst/>
          </a:prstGeom>
          <a:noFill/>
          <a:ln/>
        </p:spPr>
        <p:txBody>
          <a:bodyPr wrap="square" lIns="0" tIns="0" rIns="0" bIns="0" rtlCol="0" anchor="t"/>
          <a:lstStyle/>
          <a:p>
            <a:pPr marL="0" indent="0">
              <a:lnSpc>
                <a:spcPct val="110000"/>
              </a:lnSpc>
              <a:buNone/>
            </a:pPr>
            <a:r>
              <a:rPr lang="en-US" sz="950" b="1" dirty="0">
                <a:solidFill>
                  <a:srgbClr val="C62828"/>
                </a:solidFill>
                <a:latin typeface="Arial" pitchFamily="34" charset="0"/>
                <a:ea typeface="Arial" pitchFamily="34" charset="-122"/>
                <a:cs typeface="Arial" pitchFamily="34" charset="-120"/>
              </a:rPr>
              <a:t>Gap: </a:t>
            </a:r>
            <a:r>
              <a:rPr lang="en-US" sz="950" dirty="0">
                <a:solidFill>
                  <a:srgbClr val="333333"/>
                </a:solidFill>
                <a:latin typeface="Arial" pitchFamily="34" charset="0"/>
                <a:ea typeface="Arial" pitchFamily="34" charset="-122"/>
                <a:cs typeface="Arial" pitchFamily="34" charset="-120"/>
              </a:rPr>
              <a:t>Agents return first-draft answers. No self-critique before final output.
</a:t>
            </a:r>
            <a:r>
              <a:rPr lang="en-US" sz="950" b="1" dirty="0">
                <a:solidFill>
                  <a:srgbClr val="1B2A4A"/>
                </a:solidFill>
                <a:latin typeface="Arial" pitchFamily="34" charset="0"/>
                <a:ea typeface="Arial" pitchFamily="34" charset="-122"/>
                <a:cs typeface="Arial" pitchFamily="34" charset="-120"/>
              </a:rPr>
              <a:t>Evidence: </a:t>
            </a:r>
            <a:r>
              <a:rPr lang="en-US" sz="950" dirty="0">
                <a:solidFill>
                  <a:srgbClr val="333333"/>
                </a:solidFill>
                <a:latin typeface="Courier New" pitchFamily="34" charset="0"/>
                <a:ea typeface="Courier New" pitchFamily="34" charset="-122"/>
                <a:cs typeface="Courier New" pitchFamily="34" charset="-120"/>
              </a:rPr>
              <a:t>query_loop.py emits answer immediately; verifier only runs under coordinator
</a:t>
            </a:r>
            <a:endParaRPr lang="en-US" sz="1000" dirty="0"/>
          </a:p>
          <a:p>
            <a:pPr marL="0" indent="0">
              <a:lnSpc>
                <a:spcPct val="110000"/>
              </a:lnSpc>
              <a:buNone/>
            </a:pPr>
            <a:r>
              <a:rPr lang="en-US" sz="950" b="1" dirty="0">
                <a:solidFill>
                  <a:srgbClr val="C62828"/>
                </a:solidFill>
                <a:latin typeface="Arial" pitchFamily="34" charset="0"/>
                <a:ea typeface="Arial" pitchFamily="34" charset="-122"/>
                <a:cs typeface="Arial" pitchFamily="34" charset="-120"/>
              </a:rPr>
              <a:t>Blocker: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Hallucinations and incomplete answers reach users without a second pass.
</a:t>
            </a:r>
            <a:endParaRPr lang="en-US" sz="1000" dirty="0"/>
          </a:p>
          <a:p>
            <a:pPr marL="0" indent="0">
              <a:lnSpc>
                <a:spcPct val="110000"/>
              </a:lnSpc>
              <a:buNone/>
            </a:pPr>
            <a:r>
              <a:rPr lang="en-US" sz="950" b="1" dirty="0">
                <a:solidFill>
                  <a:srgbClr val="2E7D32"/>
                </a:solidFill>
                <a:latin typeface="Arial" pitchFamily="34" charset="0"/>
                <a:ea typeface="Arial" pitchFamily="34" charset="-122"/>
                <a:cs typeface="Arial" pitchFamily="34" charset="-120"/>
              </a:rPr>
              <a:t>Build: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runtime/self_reflect.py — post-generation critique step that checks factuality, completeness, and tone before returning. Configurable per agent mode.</a:t>
            </a:r>
            <a:endParaRPr lang="en-US" sz="1000" dirty="0"/>
          </a:p>
        </p:txBody>
      </p:sp>
      <p:sp>
        <p:nvSpPr>
          <p:cNvPr id="12" name="Shape 10"/>
          <p:cNvSpPr/>
          <p:nvPr/>
        </p:nvSpPr>
        <p:spPr>
          <a:xfrm>
            <a:off x="6050280" y="1188720"/>
            <a:ext cx="2590800" cy="30175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3" name="Shape 11"/>
          <p:cNvSpPr/>
          <p:nvPr/>
        </p:nvSpPr>
        <p:spPr>
          <a:xfrm>
            <a:off x="6050280" y="1188720"/>
            <a:ext cx="2590800" cy="320040"/>
          </a:xfrm>
          <a:prstGeom prst="rect">
            <a:avLst/>
          </a:prstGeom>
          <a:solidFill>
            <a:srgbClr val="1B2A4A"/>
          </a:solidFill>
          <a:ln/>
        </p:spPr>
        <p:txBody>
          <a:bodyPr/>
          <a:lstStyle/>
          <a:p>
            <a:endParaRPr lang="en-US"/>
          </a:p>
        </p:txBody>
      </p:sp>
      <p:sp>
        <p:nvSpPr>
          <p:cNvPr id="14" name="Text 12"/>
          <p:cNvSpPr/>
          <p:nvPr/>
        </p:nvSpPr>
        <p:spPr>
          <a:xfrm>
            <a:off x="6160008" y="1216152"/>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Human-in-the-Loop Escalation</a:t>
            </a:r>
            <a:endParaRPr lang="en-US" sz="1200" dirty="0"/>
          </a:p>
        </p:txBody>
      </p:sp>
      <p:sp>
        <p:nvSpPr>
          <p:cNvPr id="15" name="Text 13"/>
          <p:cNvSpPr/>
          <p:nvPr/>
        </p:nvSpPr>
        <p:spPr>
          <a:xfrm>
            <a:off x="6160008" y="1572768"/>
            <a:ext cx="2371344" cy="2542032"/>
          </a:xfrm>
          <a:prstGeom prst="rect">
            <a:avLst/>
          </a:prstGeom>
          <a:noFill/>
          <a:ln/>
        </p:spPr>
        <p:txBody>
          <a:bodyPr wrap="square" lIns="0" tIns="0" rIns="0" bIns="0" rtlCol="0" anchor="t"/>
          <a:lstStyle/>
          <a:p>
            <a:pPr marL="0" indent="0">
              <a:lnSpc>
                <a:spcPct val="110000"/>
              </a:lnSpc>
              <a:buNone/>
            </a:pPr>
            <a:r>
              <a:rPr lang="en-US" sz="950" b="1" dirty="0">
                <a:solidFill>
                  <a:srgbClr val="C62828"/>
                </a:solidFill>
                <a:latin typeface="Arial" pitchFamily="34" charset="0"/>
                <a:ea typeface="Arial" pitchFamily="34" charset="-122"/>
                <a:cs typeface="Arial" pitchFamily="34" charset="-120"/>
              </a:rPr>
              <a:t>Gap: </a:t>
            </a:r>
            <a:r>
              <a:rPr lang="en-US" sz="950" dirty="0">
                <a:solidFill>
                  <a:srgbClr val="333333"/>
                </a:solidFill>
                <a:latin typeface="Arial" pitchFamily="34" charset="0"/>
                <a:ea typeface="Arial" pitchFamily="34" charset="-122"/>
                <a:cs typeface="Arial" pitchFamily="34" charset="-120"/>
              </a:rPr>
              <a:t>No confidence-based handoff to a human when agent is unsure.
</a:t>
            </a:r>
            <a:r>
              <a:rPr lang="en-US" sz="950" b="1" dirty="0">
                <a:solidFill>
                  <a:srgbClr val="1B2A4A"/>
                </a:solidFill>
                <a:latin typeface="Arial" pitchFamily="34" charset="0"/>
                <a:ea typeface="Arial" pitchFamily="34" charset="-122"/>
                <a:cs typeface="Arial" pitchFamily="34" charset="-120"/>
              </a:rPr>
              <a:t>Evidence: </a:t>
            </a:r>
            <a:r>
              <a:rPr lang="en-US" sz="950" dirty="0">
                <a:solidFill>
                  <a:srgbClr val="333333"/>
                </a:solidFill>
                <a:latin typeface="Courier New" pitchFamily="34" charset="0"/>
                <a:ea typeface="Courier New" pitchFamily="34" charset="-122"/>
                <a:cs typeface="Courier New" pitchFamily="34" charset="-120"/>
              </a:rPr>
              <a:t>No escalation_policy or human_handoff in router or kernel
</a:t>
            </a:r>
            <a:endParaRPr lang="en-US" sz="1000" dirty="0"/>
          </a:p>
          <a:p>
            <a:pPr marL="0" indent="0">
              <a:lnSpc>
                <a:spcPct val="110000"/>
              </a:lnSpc>
              <a:buNone/>
            </a:pPr>
            <a:r>
              <a:rPr lang="en-US" sz="950" b="1" dirty="0">
                <a:solidFill>
                  <a:srgbClr val="C62828"/>
                </a:solidFill>
                <a:latin typeface="Arial" pitchFamily="34" charset="0"/>
                <a:ea typeface="Arial" pitchFamily="34" charset="-122"/>
                <a:cs typeface="Arial" pitchFamily="34" charset="-120"/>
              </a:rPr>
              <a:t>Blocker: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High-stakes queries (legal, compliance) get best-effort AI answers with no safety net.
</a:t>
            </a:r>
            <a:endParaRPr lang="en-US" sz="1000" dirty="0"/>
          </a:p>
          <a:p>
            <a:pPr marL="0" indent="0">
              <a:lnSpc>
                <a:spcPct val="110000"/>
              </a:lnSpc>
              <a:buNone/>
            </a:pPr>
            <a:r>
              <a:rPr lang="en-US" sz="950" b="1" dirty="0">
                <a:solidFill>
                  <a:srgbClr val="2E7D32"/>
                </a:solidFill>
                <a:latin typeface="Arial" pitchFamily="34" charset="0"/>
                <a:ea typeface="Arial" pitchFamily="34" charset="-122"/>
                <a:cs typeface="Arial" pitchFamily="34" charset="-120"/>
              </a:rPr>
              <a:t>Build: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runtime/escalation.py — confidence threshold triggers human review queue; webhook notifies support; agent pauses until human approves or overrides.</a:t>
            </a:r>
            <a:endParaRPr lang="en-US" sz="1000" dirty="0"/>
          </a:p>
        </p:txBody>
      </p:sp>
      <p:sp>
        <p:nvSpPr>
          <p:cNvPr id="16" name="Shape 14"/>
          <p:cNvSpPr/>
          <p:nvPr/>
        </p:nvSpPr>
        <p:spPr>
          <a:xfrm>
            <a:off x="502920" y="4343400"/>
            <a:ext cx="8138160" cy="402336"/>
          </a:xfrm>
          <a:prstGeom prst="rect">
            <a:avLst/>
          </a:prstGeom>
          <a:solidFill>
            <a:srgbClr val="E0F7FA"/>
          </a:solidFill>
          <a:ln w="12700">
            <a:solidFill>
              <a:srgbClr val="0097A7"/>
            </a:solidFill>
            <a:prstDash val="solid"/>
          </a:ln>
        </p:spPr>
        <p:txBody>
          <a:bodyPr/>
          <a:lstStyle/>
          <a:p>
            <a:endParaRPr lang="en-US"/>
          </a:p>
        </p:txBody>
      </p:sp>
      <p:sp>
        <p:nvSpPr>
          <p:cNvPr id="17" name="Text 15"/>
          <p:cNvSpPr/>
          <p:nvPr/>
        </p:nvSpPr>
        <p:spPr>
          <a:xfrm>
            <a:off x="594360" y="4343400"/>
            <a:ext cx="7955280" cy="402336"/>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Cost routing controls burn rate. Self-reflection catches errors pre-delivery. Human escalation is a safety net for high-stakes domains.</a:t>
            </a:r>
            <a:endParaRPr lang="en-US" sz="1000" dirty="0"/>
          </a:p>
        </p:txBody>
      </p:sp>
      <p:sp>
        <p:nvSpPr>
          <p:cNvPr id="18" name="Text 16"/>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router/llm_router.py, runtime/query_loop.py, runtime/kernel.py  —  no cost model, no self-critique, no human handoff</a:t>
            </a:r>
            <a:endParaRPr lang="en-US" sz="900"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Tools &amp; Capability Model — 3 Enterprise Gaps</a:t>
            </a:r>
            <a:endParaRPr lang="en-US" sz="2600" dirty="0"/>
          </a:p>
        </p:txBody>
      </p:sp>
      <p:sp>
        <p:nvSpPr>
          <p:cNvPr id="3" name="Text 1"/>
          <p:cNvSpPr/>
          <p:nvPr/>
        </p:nvSpPr>
        <p:spPr>
          <a:xfrm>
            <a:off x="502920" y="804672"/>
            <a:ext cx="8138160" cy="292608"/>
          </a:xfrm>
          <a:prstGeom prst="rect">
            <a:avLst/>
          </a:prstGeom>
          <a:noFill/>
          <a:ln/>
        </p:spPr>
        <p:txBody>
          <a:bodyPr wrap="square" lIns="0" tIns="0" rIns="0" bIns="0" rtlCol="0" anchor="ctr"/>
          <a:lstStyle/>
          <a:p>
            <a:pPr marL="0" indent="0">
              <a:buNone/>
            </a:pPr>
            <a:r>
              <a:rPr lang="en-US" sz="1100" dirty="0">
                <a:solidFill>
                  <a:srgbClr val="666666"/>
                </a:solidFill>
                <a:latin typeface="Arial" pitchFamily="34" charset="0"/>
                <a:ea typeface="Arial" pitchFamily="34" charset="-122"/>
                <a:cs typeface="Arial" pitchFamily="34" charset="-120"/>
              </a:rPr>
              <a:t>Docker sandbox + agent-level policy matrix are good start, but tools lack versioning, fine-grained permissions, and code analysis.</a:t>
            </a:r>
            <a:endParaRPr lang="en-US" sz="1100" dirty="0"/>
          </a:p>
        </p:txBody>
      </p:sp>
      <p:sp>
        <p:nvSpPr>
          <p:cNvPr id="4" name="Shape 2"/>
          <p:cNvSpPr/>
          <p:nvPr/>
        </p:nvSpPr>
        <p:spPr>
          <a:xfrm>
            <a:off x="502920" y="1188720"/>
            <a:ext cx="2590800" cy="30175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188720"/>
            <a:ext cx="2590800" cy="320040"/>
          </a:xfrm>
          <a:prstGeom prst="rect">
            <a:avLst/>
          </a:prstGeom>
          <a:solidFill>
            <a:srgbClr val="0097A7"/>
          </a:solidFill>
          <a:ln/>
        </p:spPr>
        <p:txBody>
          <a:bodyPr/>
          <a:lstStyle/>
          <a:p>
            <a:endParaRPr lang="en-US"/>
          </a:p>
        </p:txBody>
      </p:sp>
      <p:sp>
        <p:nvSpPr>
          <p:cNvPr id="6" name="Text 4"/>
          <p:cNvSpPr/>
          <p:nvPr/>
        </p:nvSpPr>
        <p:spPr>
          <a:xfrm>
            <a:off x="612648" y="1216152"/>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Tool Versioning &amp; Pinning</a:t>
            </a:r>
            <a:endParaRPr lang="en-US" sz="1200" dirty="0"/>
          </a:p>
        </p:txBody>
      </p:sp>
      <p:sp>
        <p:nvSpPr>
          <p:cNvPr id="7" name="Text 5"/>
          <p:cNvSpPr/>
          <p:nvPr/>
        </p:nvSpPr>
        <p:spPr>
          <a:xfrm>
            <a:off x="612648" y="1572768"/>
            <a:ext cx="2371344" cy="2542032"/>
          </a:xfrm>
          <a:prstGeom prst="rect">
            <a:avLst/>
          </a:prstGeom>
          <a:noFill/>
          <a:ln/>
        </p:spPr>
        <p:txBody>
          <a:bodyPr wrap="square" lIns="0" tIns="0" rIns="0" bIns="0" rtlCol="0" anchor="t"/>
          <a:lstStyle/>
          <a:p>
            <a:pPr marL="0" indent="0">
              <a:lnSpc>
                <a:spcPct val="110000"/>
              </a:lnSpc>
              <a:buNone/>
            </a:pPr>
            <a:r>
              <a:rPr lang="en-US" sz="950" b="1" dirty="0">
                <a:solidFill>
                  <a:srgbClr val="C62828"/>
                </a:solidFill>
                <a:latin typeface="Arial" pitchFamily="34" charset="0"/>
                <a:ea typeface="Arial" pitchFamily="34" charset="-122"/>
                <a:cs typeface="Arial" pitchFamily="34" charset="-120"/>
              </a:rPr>
              <a:t>Gap: </a:t>
            </a:r>
            <a:r>
              <a:rPr lang="en-US" sz="950" dirty="0">
                <a:solidFill>
                  <a:srgbClr val="333333"/>
                </a:solidFill>
                <a:latin typeface="Arial" pitchFamily="34" charset="0"/>
                <a:ea typeface="Arial" pitchFamily="34" charset="-122"/>
                <a:cs typeface="Arial" pitchFamily="34" charset="-120"/>
              </a:rPr>
              <a:t>ToolDefinition has no version field. Singleton references.
</a:t>
            </a:r>
            <a:r>
              <a:rPr lang="en-US" sz="950" b="1" dirty="0">
                <a:solidFill>
                  <a:srgbClr val="1B2A4A"/>
                </a:solidFill>
                <a:latin typeface="Arial" pitchFamily="34" charset="0"/>
                <a:ea typeface="Arial" pitchFamily="34" charset="-122"/>
                <a:cs typeface="Arial" pitchFamily="34" charset="-120"/>
              </a:rPr>
              <a:t>Evidence: </a:t>
            </a:r>
            <a:r>
              <a:rPr lang="en-US" sz="950" dirty="0">
                <a:solidFill>
                  <a:srgbClr val="333333"/>
                </a:solidFill>
                <a:latin typeface="Courier New" pitchFamily="34" charset="0"/>
                <a:ea typeface="Courier New" pitchFamily="34" charset="-122"/>
                <a:cs typeface="Courier New" pitchFamily="34" charset="-120"/>
              </a:rPr>
              <a:t>contracts/tools.py:8-43 — no version
</a:t>
            </a:r>
            <a:endParaRPr lang="en-US" sz="1000" dirty="0"/>
          </a:p>
          <a:p>
            <a:pPr marL="0" indent="0">
              <a:lnSpc>
                <a:spcPct val="110000"/>
              </a:lnSpc>
              <a:buNone/>
            </a:pPr>
            <a:r>
              <a:rPr lang="en-US" sz="950" b="1" dirty="0">
                <a:solidFill>
                  <a:srgbClr val="C62828"/>
                </a:solidFill>
                <a:latin typeface="Arial" pitchFamily="34" charset="0"/>
                <a:ea typeface="Arial" pitchFamily="34" charset="-122"/>
                <a:cs typeface="Arial" pitchFamily="34" charset="-120"/>
              </a:rPr>
              <a:t>Blocker: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Shipping a new tool version silently breaks in-flight workflows; no rollback lane.
</a:t>
            </a:r>
            <a:endParaRPr lang="en-US" sz="1000" dirty="0"/>
          </a:p>
          <a:p>
            <a:pPr marL="0" indent="0">
              <a:lnSpc>
                <a:spcPct val="110000"/>
              </a:lnSpc>
              <a:buNone/>
            </a:pPr>
            <a:r>
              <a:rPr lang="en-US" sz="950" b="1" dirty="0">
                <a:solidFill>
                  <a:srgbClr val="2E7D32"/>
                </a:solidFill>
                <a:latin typeface="Arial" pitchFamily="34" charset="0"/>
                <a:ea typeface="Arial" pitchFamily="34" charset="-122"/>
                <a:cs typeface="Arial" pitchFamily="34" charset="-120"/>
              </a:rPr>
              <a:t>Build: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Add version to ToolDefinition + changelog. version_resolver.py pins agent→tool at definition time; graceful degradation on missing versions.</a:t>
            </a:r>
            <a:endParaRPr lang="en-US" sz="1000" dirty="0"/>
          </a:p>
        </p:txBody>
      </p:sp>
      <p:sp>
        <p:nvSpPr>
          <p:cNvPr id="8" name="Shape 6"/>
          <p:cNvSpPr/>
          <p:nvPr/>
        </p:nvSpPr>
        <p:spPr>
          <a:xfrm>
            <a:off x="3276600" y="1188720"/>
            <a:ext cx="2590800" cy="30175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3276600" y="1188720"/>
            <a:ext cx="2590800" cy="320040"/>
          </a:xfrm>
          <a:prstGeom prst="rect">
            <a:avLst/>
          </a:prstGeom>
          <a:solidFill>
            <a:srgbClr val="00796B"/>
          </a:solidFill>
          <a:ln/>
        </p:spPr>
        <p:txBody>
          <a:bodyPr/>
          <a:lstStyle/>
          <a:p>
            <a:endParaRPr lang="en-US"/>
          </a:p>
        </p:txBody>
      </p:sp>
      <p:sp>
        <p:nvSpPr>
          <p:cNvPr id="10" name="Text 8"/>
          <p:cNvSpPr/>
          <p:nvPr/>
        </p:nvSpPr>
        <p:spPr>
          <a:xfrm>
            <a:off x="3386328" y="1216152"/>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RBAC → ABAC Tool Permissions</a:t>
            </a:r>
            <a:endParaRPr lang="en-US" sz="1200" dirty="0"/>
          </a:p>
        </p:txBody>
      </p:sp>
      <p:sp>
        <p:nvSpPr>
          <p:cNvPr id="11" name="Text 9"/>
          <p:cNvSpPr/>
          <p:nvPr/>
        </p:nvSpPr>
        <p:spPr>
          <a:xfrm>
            <a:off x="3386328" y="1572768"/>
            <a:ext cx="2371344" cy="2542032"/>
          </a:xfrm>
          <a:prstGeom prst="rect">
            <a:avLst/>
          </a:prstGeom>
          <a:noFill/>
          <a:ln/>
        </p:spPr>
        <p:txBody>
          <a:bodyPr wrap="square" lIns="0" tIns="0" rIns="0" bIns="0" rtlCol="0" anchor="t"/>
          <a:lstStyle/>
          <a:p>
            <a:pPr marL="0" indent="0">
              <a:lnSpc>
                <a:spcPct val="110000"/>
              </a:lnSpc>
              <a:buNone/>
            </a:pPr>
            <a:r>
              <a:rPr lang="en-US" sz="950" b="1" dirty="0">
                <a:solidFill>
                  <a:srgbClr val="2E7D32"/>
                </a:solidFill>
                <a:latin typeface="Arial" pitchFamily="34" charset="0"/>
                <a:ea typeface="Arial" pitchFamily="34" charset="-122"/>
                <a:cs typeface="Arial" pitchFamily="34" charset="-120"/>
              </a:rPr>
              <a:t>Progress: </a:t>
            </a:r>
            <a:r>
              <a:rPr lang="en-US" sz="950" dirty="0">
                <a:solidFill>
                  <a:srgbClr val="333333"/>
                </a:solidFill>
                <a:latin typeface="Arial" pitchFamily="34" charset="0"/>
                <a:ea typeface="Arial" pitchFamily="34" charset="-122"/>
                <a:cs typeface="Arial" pitchFamily="34" charset="-120"/>
              </a:rPr>
              <a:t>authz/service.py (267 lines) adds RBAC with principal/role membership.
</a:t>
            </a:r>
            <a:r>
              <a:rPr lang="en-US" sz="950" b="1" dirty="0">
                <a:solidFill>
                  <a:srgbClr val="1B2A4A"/>
                </a:solidFill>
                <a:latin typeface="Arial" pitchFamily="34" charset="0"/>
                <a:ea typeface="Arial" pitchFamily="34" charset="-122"/>
                <a:cs typeface="Arial" pitchFamily="34" charset="-120"/>
              </a:rPr>
              <a:t>Evidence: </a:t>
            </a:r>
            <a:r>
              <a:rPr lang="en-US" sz="950" dirty="0">
                <a:solidFill>
                  <a:srgbClr val="333333"/>
                </a:solidFill>
                <a:latin typeface="Courier New" pitchFamily="34" charset="0"/>
                <a:ea typeface="Courier New" pitchFamily="34" charset="-122"/>
                <a:cs typeface="Courier New" pitchFamily="34" charset="-120"/>
              </a:rPr>
              <a:t>authz/service.py provides tenant-scoped resource access; tools/policy.py still agent-level only
</a:t>
            </a:r>
            <a:endParaRPr lang="en-US" sz="1000" dirty="0"/>
          </a:p>
          <a:p>
            <a:pPr marL="0" indent="0">
              <a:lnSpc>
                <a:spcPct val="110000"/>
              </a:lnSpc>
              <a:buNone/>
            </a:pPr>
            <a:r>
              <a:rPr lang="en-US" sz="950" b="1" dirty="0">
                <a:solidFill>
                  <a:srgbClr val="C62828"/>
                </a:solidFill>
                <a:latin typeface="Arial" pitchFamily="34" charset="0"/>
                <a:ea typeface="Arial" pitchFamily="34" charset="-122"/>
                <a:cs typeface="Arial" pitchFamily="34" charset="-120"/>
              </a:rPr>
              <a:t>Remaining gap: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RBAC exists but no ABAC — no dataset/column-level checks; analyst can load any data.
</a:t>
            </a:r>
            <a:endParaRPr lang="en-US" sz="1000" dirty="0"/>
          </a:p>
          <a:p>
            <a:pPr marL="0" indent="0">
              <a:lnSpc>
                <a:spcPct val="110000"/>
              </a:lnSpc>
              <a:buNone/>
            </a:pPr>
            <a:r>
              <a:rPr lang="en-US" sz="950" b="1" dirty="0">
                <a:solidFill>
                  <a:srgbClr val="2E7D32"/>
                </a:solidFill>
                <a:latin typeface="Arial" pitchFamily="34" charset="0"/>
                <a:ea typeface="Arial" pitchFamily="34" charset="-122"/>
                <a:cs typeface="Arial" pitchFamily="34" charset="-120"/>
              </a:rPr>
              <a:t>Build: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Extend authz with attribute-based policies: (tenant, user, dataset, columns, op) tuples. Add data-lineage tracking to analyst tools.</a:t>
            </a:r>
            <a:endParaRPr lang="en-US" sz="1000" dirty="0"/>
          </a:p>
        </p:txBody>
      </p:sp>
      <p:sp>
        <p:nvSpPr>
          <p:cNvPr id="12" name="Shape 10"/>
          <p:cNvSpPr/>
          <p:nvPr/>
        </p:nvSpPr>
        <p:spPr>
          <a:xfrm>
            <a:off x="6050280" y="1188720"/>
            <a:ext cx="2590800" cy="30175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3" name="Shape 11"/>
          <p:cNvSpPr/>
          <p:nvPr/>
        </p:nvSpPr>
        <p:spPr>
          <a:xfrm>
            <a:off x="6050280" y="1188720"/>
            <a:ext cx="2590800" cy="320040"/>
          </a:xfrm>
          <a:prstGeom prst="rect">
            <a:avLst/>
          </a:prstGeom>
          <a:solidFill>
            <a:srgbClr val="1B2A4A"/>
          </a:solidFill>
          <a:ln/>
        </p:spPr>
        <p:txBody>
          <a:bodyPr/>
          <a:lstStyle/>
          <a:p>
            <a:endParaRPr lang="en-US"/>
          </a:p>
        </p:txBody>
      </p:sp>
      <p:sp>
        <p:nvSpPr>
          <p:cNvPr id="14" name="Text 12"/>
          <p:cNvSpPr/>
          <p:nvPr/>
        </p:nvSpPr>
        <p:spPr>
          <a:xfrm>
            <a:off x="6160008" y="1216152"/>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AST-Level Sandbox Analyzer</a:t>
            </a:r>
            <a:endParaRPr lang="en-US" sz="1200" dirty="0"/>
          </a:p>
        </p:txBody>
      </p:sp>
      <p:sp>
        <p:nvSpPr>
          <p:cNvPr id="15" name="Text 13"/>
          <p:cNvSpPr/>
          <p:nvPr/>
        </p:nvSpPr>
        <p:spPr>
          <a:xfrm>
            <a:off x="6160008" y="1572768"/>
            <a:ext cx="2371344" cy="2542032"/>
          </a:xfrm>
          <a:prstGeom prst="rect">
            <a:avLst/>
          </a:prstGeom>
          <a:noFill/>
          <a:ln/>
        </p:spPr>
        <p:txBody>
          <a:bodyPr wrap="square" lIns="0" tIns="0" rIns="0" bIns="0" rtlCol="0" anchor="t"/>
          <a:lstStyle/>
          <a:p>
            <a:pPr marL="0" indent="0">
              <a:lnSpc>
                <a:spcPct val="110000"/>
              </a:lnSpc>
              <a:buNone/>
            </a:pPr>
            <a:r>
              <a:rPr lang="en-US" sz="950" b="1" dirty="0">
                <a:solidFill>
                  <a:srgbClr val="C62828"/>
                </a:solidFill>
                <a:latin typeface="Arial" pitchFamily="34" charset="0"/>
                <a:ea typeface="Arial" pitchFamily="34" charset="-122"/>
                <a:cs typeface="Arial" pitchFamily="34" charset="-120"/>
              </a:rPr>
              <a:t>Gap: </a:t>
            </a:r>
            <a:r>
              <a:rPr lang="en-US" sz="950" dirty="0">
                <a:solidFill>
                  <a:srgbClr val="333333"/>
                </a:solidFill>
                <a:latin typeface="Arial" pitchFamily="34" charset="0"/>
                <a:ea typeface="Arial" pitchFamily="34" charset="-122"/>
                <a:cs typeface="Arial" pitchFamily="34" charset="-120"/>
              </a:rPr>
              <a:t>Docker sandbox is coarse. LLM-generated code runs without static analysis.
</a:t>
            </a:r>
            <a:r>
              <a:rPr lang="en-US" sz="950" b="1" dirty="0">
                <a:solidFill>
                  <a:srgbClr val="1B2A4A"/>
                </a:solidFill>
                <a:latin typeface="Arial" pitchFamily="34" charset="0"/>
                <a:ea typeface="Arial" pitchFamily="34" charset="-122"/>
                <a:cs typeface="Arial" pitchFamily="34" charset="-120"/>
              </a:rPr>
              <a:t>Evidence: </a:t>
            </a:r>
            <a:r>
              <a:rPr lang="en-US" sz="950" dirty="0">
                <a:solidFill>
                  <a:srgbClr val="333333"/>
                </a:solidFill>
                <a:latin typeface="Courier New" pitchFamily="34" charset="0"/>
                <a:ea typeface="Courier New" pitchFamily="34" charset="-122"/>
                <a:cs typeface="Courier New" pitchFamily="34" charset="-120"/>
              </a:rPr>
              <a:t>sandbox/docker_exec.py:48 runs code verbatim
</a:t>
            </a:r>
            <a:endParaRPr lang="en-US" sz="1000" dirty="0"/>
          </a:p>
          <a:p>
            <a:pPr marL="0" indent="0">
              <a:lnSpc>
                <a:spcPct val="110000"/>
              </a:lnSpc>
              <a:buNone/>
            </a:pPr>
            <a:r>
              <a:rPr lang="en-US" sz="950" b="1" dirty="0">
                <a:solidFill>
                  <a:srgbClr val="C62828"/>
                </a:solidFill>
                <a:latin typeface="Arial" pitchFamily="34" charset="0"/>
                <a:ea typeface="Arial" pitchFamily="34" charset="-122"/>
                <a:cs typeface="Arial" pitchFamily="34" charset="-120"/>
              </a:rPr>
              <a:t>Blocker: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Prompt injection → malicious pandas that exfiltrates workspace to external API.
</a:t>
            </a:r>
            <a:endParaRPr lang="en-US" sz="1000" dirty="0"/>
          </a:p>
          <a:p>
            <a:pPr marL="0" indent="0">
              <a:lnSpc>
                <a:spcPct val="110000"/>
              </a:lnSpc>
              <a:buNone/>
            </a:pPr>
            <a:r>
              <a:rPr lang="en-US" sz="950" b="1" dirty="0">
                <a:solidFill>
                  <a:srgbClr val="2E7D32"/>
                </a:solidFill>
                <a:latin typeface="Arial" pitchFamily="34" charset="0"/>
                <a:ea typeface="Arial" pitchFamily="34" charset="-122"/>
                <a:cs typeface="Arial" pitchFamily="34" charset="-120"/>
              </a:rPr>
              <a:t>Build: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sandbox/code_analyzer.py — AST allow-list for imports / syscalls, YARA rules for injection signatures, pre-execution rejection.</a:t>
            </a:r>
            <a:endParaRPr lang="en-US" sz="1000" dirty="0"/>
          </a:p>
        </p:txBody>
      </p:sp>
      <p:sp>
        <p:nvSpPr>
          <p:cNvPr id="16" name="Shape 14"/>
          <p:cNvSpPr/>
          <p:nvPr/>
        </p:nvSpPr>
        <p:spPr>
          <a:xfrm>
            <a:off x="502920" y="4343400"/>
            <a:ext cx="8138160" cy="402336"/>
          </a:xfrm>
          <a:prstGeom prst="rect">
            <a:avLst/>
          </a:prstGeom>
          <a:solidFill>
            <a:srgbClr val="E0F7FA"/>
          </a:solidFill>
          <a:ln w="12700">
            <a:solidFill>
              <a:srgbClr val="0097A7"/>
            </a:solidFill>
            <a:prstDash val="solid"/>
          </a:ln>
        </p:spPr>
        <p:txBody>
          <a:bodyPr/>
          <a:lstStyle/>
          <a:p>
            <a:endParaRPr lang="en-US"/>
          </a:p>
        </p:txBody>
      </p:sp>
      <p:sp>
        <p:nvSpPr>
          <p:cNvPr id="17" name="Text 15"/>
          <p:cNvSpPr/>
          <p:nvPr/>
        </p:nvSpPr>
        <p:spPr>
          <a:xfrm>
            <a:off x="594360" y="4343400"/>
            <a:ext cx="7955280" cy="402336"/>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Versioning unblocks safe rollouts. RBAC is the prerequisite to selling into regulated verticals. AST analysis closes the biggest LLM-code attack surface.</a:t>
            </a:r>
            <a:endParaRPr lang="en-US" sz="1000" dirty="0"/>
          </a:p>
        </p:txBody>
      </p:sp>
      <p:sp>
        <p:nvSpPr>
          <p:cNvPr id="18" name="Text 16"/>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contracts/tools.py, tools/policy.py, sandbox/docker_exec.py  —  no version pinning, agent-level policy, no code analysis</a:t>
            </a:r>
            <a:endParaRPr lang="en-US" sz="900"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8">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Skills &amp; Prompt Governance — 3 Enterprise Gaps</a:t>
            </a:r>
            <a:endParaRPr lang="en-US" sz="2600" dirty="0"/>
          </a:p>
        </p:txBody>
      </p:sp>
      <p:sp>
        <p:nvSpPr>
          <p:cNvPr id="3" name="Text 1"/>
          <p:cNvSpPr/>
          <p:nvPr/>
        </p:nvSpPr>
        <p:spPr>
          <a:xfrm>
            <a:off x="502920" y="804672"/>
            <a:ext cx="8138160" cy="292608"/>
          </a:xfrm>
          <a:prstGeom prst="rect">
            <a:avLst/>
          </a:prstGeom>
          <a:noFill/>
          <a:ln/>
        </p:spPr>
        <p:txBody>
          <a:bodyPr wrap="square" lIns="0" tIns="0" rIns="0" bIns="0" rtlCol="0" anchor="ctr"/>
          <a:lstStyle/>
          <a:p>
            <a:pPr marL="0" indent="0">
              <a:buNone/>
            </a:pPr>
            <a:r>
              <a:rPr lang="en-US" sz="1100" dirty="0">
                <a:solidFill>
                  <a:srgbClr val="666666"/>
                </a:solidFill>
                <a:latin typeface="Arial" pitchFamily="34" charset="0"/>
                <a:ea typeface="Arial" pitchFamily="34" charset="-122"/>
                <a:cs typeface="Arial" pitchFamily="34" charset="-120"/>
              </a:rPr>
              <a:t>Dependency DAG and telemetry are now built. Remaining gaps: cryptographic signing, prompt versioning, and structured output validation.</a:t>
            </a:r>
            <a:endParaRPr lang="en-US" sz="1100" dirty="0"/>
          </a:p>
        </p:txBody>
      </p:sp>
      <p:sp>
        <p:nvSpPr>
          <p:cNvPr id="4" name="Shape 2"/>
          <p:cNvSpPr/>
          <p:nvPr/>
        </p:nvSpPr>
        <p:spPr>
          <a:xfrm>
            <a:off x="502920" y="1188720"/>
            <a:ext cx="2590800" cy="30175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5" name="Shape 3"/>
          <p:cNvSpPr/>
          <p:nvPr/>
        </p:nvSpPr>
        <p:spPr>
          <a:xfrm>
            <a:off x="502920" y="1188720"/>
            <a:ext cx="2590800" cy="320040"/>
          </a:xfrm>
          <a:prstGeom prst="rect">
            <a:avLst/>
          </a:prstGeom>
          <a:solidFill>
            <a:srgbClr val="0097A7"/>
          </a:solidFill>
          <a:ln/>
        </p:spPr>
        <p:txBody>
          <a:bodyPr/>
          <a:lstStyle/>
          <a:p>
            <a:endParaRPr lang="en-US"/>
          </a:p>
        </p:txBody>
      </p:sp>
      <p:sp>
        <p:nvSpPr>
          <p:cNvPr id="6" name="Text 4"/>
          <p:cNvSpPr/>
          <p:nvPr/>
        </p:nvSpPr>
        <p:spPr>
          <a:xfrm>
            <a:off x="612648" y="1216152"/>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Cryptographic Skill Signing</a:t>
            </a:r>
            <a:endParaRPr lang="en-US" sz="1200" dirty="0"/>
          </a:p>
        </p:txBody>
      </p:sp>
      <p:sp>
        <p:nvSpPr>
          <p:cNvPr id="7" name="Text 5"/>
          <p:cNvSpPr/>
          <p:nvPr/>
        </p:nvSpPr>
        <p:spPr>
          <a:xfrm>
            <a:off x="612648" y="1572768"/>
            <a:ext cx="2371344" cy="2542032"/>
          </a:xfrm>
          <a:prstGeom prst="rect">
            <a:avLst/>
          </a:prstGeom>
          <a:noFill/>
          <a:ln/>
        </p:spPr>
        <p:txBody>
          <a:bodyPr wrap="square" lIns="0" tIns="0" rIns="0" bIns="0" rtlCol="0" anchor="t"/>
          <a:lstStyle/>
          <a:p>
            <a:pPr marL="0" indent="0">
              <a:lnSpc>
                <a:spcPct val="110000"/>
              </a:lnSpc>
              <a:buNone/>
            </a:pPr>
            <a:r>
              <a:rPr lang="en-US" sz="950" b="1" dirty="0">
                <a:solidFill>
                  <a:srgbClr val="C62828"/>
                </a:solidFill>
                <a:latin typeface="Arial" pitchFamily="34" charset="0"/>
                <a:ea typeface="Arial" pitchFamily="34" charset="-122"/>
                <a:cs typeface="Arial" pitchFamily="34" charset="-120"/>
              </a:rPr>
              <a:t>Gap: </a:t>
            </a:r>
            <a:r>
              <a:rPr lang="en-US" sz="950" dirty="0">
                <a:solidFill>
                  <a:srgbClr val="333333"/>
                </a:solidFill>
                <a:latin typeface="Arial" pitchFamily="34" charset="0"/>
                <a:ea typeface="Arial" pitchFamily="34" charset="-122"/>
                <a:cs typeface="Arial" pitchFamily="34" charset="-120"/>
              </a:rPr>
              <a:t>Skills stored as JSON with SHA1 checksums — no signature verification.
</a:t>
            </a:r>
            <a:r>
              <a:rPr lang="en-US" sz="950" b="1" dirty="0">
                <a:solidFill>
                  <a:srgbClr val="1B2A4A"/>
                </a:solidFill>
                <a:latin typeface="Arial" pitchFamily="34" charset="0"/>
                <a:ea typeface="Arial" pitchFamily="34" charset="-122"/>
                <a:cs typeface="Arial" pitchFamily="34" charset="-120"/>
              </a:rPr>
              <a:t>Evidence: </a:t>
            </a:r>
            <a:r>
              <a:rPr lang="en-US" sz="950" dirty="0">
                <a:solidFill>
                  <a:srgbClr val="333333"/>
                </a:solidFill>
                <a:latin typeface="Courier New" pitchFamily="34" charset="0"/>
                <a:ea typeface="Courier New" pitchFamily="34" charset="-122"/>
                <a:cs typeface="Courier New" pitchFamily="34" charset="-120"/>
              </a:rPr>
              <a:t>pack_loader.py:112 computes SHA1 only
</a:t>
            </a:r>
            <a:endParaRPr lang="en-US" sz="1000" dirty="0"/>
          </a:p>
          <a:p>
            <a:pPr marL="0" indent="0">
              <a:lnSpc>
                <a:spcPct val="110000"/>
              </a:lnSpc>
              <a:buNone/>
            </a:pPr>
            <a:r>
              <a:rPr lang="en-US" sz="950" b="1" dirty="0">
                <a:solidFill>
                  <a:srgbClr val="C62828"/>
                </a:solidFill>
                <a:latin typeface="Arial" pitchFamily="34" charset="0"/>
                <a:ea typeface="Arial" pitchFamily="34" charset="-122"/>
                <a:cs typeface="Arial" pitchFamily="34" charset="-120"/>
              </a:rPr>
              <a:t>Blocker: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Insider threat: DB compromise injects malicious skill, passes SHA1 check.
</a:t>
            </a:r>
            <a:endParaRPr lang="en-US" sz="1000" dirty="0"/>
          </a:p>
          <a:p>
            <a:pPr marL="0" indent="0">
              <a:lnSpc>
                <a:spcPct val="110000"/>
              </a:lnSpc>
              <a:buNone/>
            </a:pPr>
            <a:r>
              <a:rPr lang="en-US" sz="950" b="1" dirty="0">
                <a:solidFill>
                  <a:srgbClr val="2E7D32"/>
                </a:solidFill>
                <a:latin typeface="Arial" pitchFamily="34" charset="0"/>
                <a:ea typeface="Arial" pitchFamily="34" charset="-122"/>
                <a:cs typeface="Arial" pitchFamily="34" charset="-120"/>
              </a:rPr>
              <a:t>Build: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skills/signing.py — asymmetric keys (org private, agent public), require signature verify on load, chain-of-custody (author, approver, timestamp).</a:t>
            </a:r>
            <a:endParaRPr lang="en-US" sz="1000" dirty="0"/>
          </a:p>
        </p:txBody>
      </p:sp>
      <p:sp>
        <p:nvSpPr>
          <p:cNvPr id="8" name="Shape 6"/>
          <p:cNvSpPr/>
          <p:nvPr/>
        </p:nvSpPr>
        <p:spPr>
          <a:xfrm>
            <a:off x="3276600" y="1188720"/>
            <a:ext cx="2590800" cy="30175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9" name="Shape 7"/>
          <p:cNvSpPr/>
          <p:nvPr/>
        </p:nvSpPr>
        <p:spPr>
          <a:xfrm>
            <a:off x="3276600" y="1188720"/>
            <a:ext cx="2590800" cy="320040"/>
          </a:xfrm>
          <a:prstGeom prst="rect">
            <a:avLst/>
          </a:prstGeom>
          <a:solidFill>
            <a:srgbClr val="00796B"/>
          </a:solidFill>
          <a:ln/>
        </p:spPr>
        <p:txBody>
          <a:bodyPr/>
          <a:lstStyle/>
          <a:p>
            <a:endParaRPr lang="en-US"/>
          </a:p>
        </p:txBody>
      </p:sp>
      <p:sp>
        <p:nvSpPr>
          <p:cNvPr id="10" name="Text 8"/>
          <p:cNvSpPr/>
          <p:nvPr/>
        </p:nvSpPr>
        <p:spPr>
          <a:xfrm>
            <a:off x="3386328" y="1216152"/>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Prompt Versioning &amp; Registry</a:t>
            </a:r>
            <a:endParaRPr lang="en-US" sz="1200" dirty="0"/>
          </a:p>
        </p:txBody>
      </p:sp>
      <p:sp>
        <p:nvSpPr>
          <p:cNvPr id="11" name="Text 9"/>
          <p:cNvSpPr/>
          <p:nvPr/>
        </p:nvSpPr>
        <p:spPr>
          <a:xfrm>
            <a:off x="3386328" y="1572768"/>
            <a:ext cx="2371344" cy="2542032"/>
          </a:xfrm>
          <a:prstGeom prst="rect">
            <a:avLst/>
          </a:prstGeom>
          <a:noFill/>
          <a:ln/>
        </p:spPr>
        <p:txBody>
          <a:bodyPr wrap="square" lIns="0" tIns="0" rIns="0" bIns="0" rtlCol="0" anchor="t"/>
          <a:lstStyle/>
          <a:p>
            <a:pPr marL="0" indent="0">
              <a:lnSpc>
                <a:spcPct val="110000"/>
              </a:lnSpc>
              <a:buNone/>
            </a:pPr>
            <a:r>
              <a:rPr lang="en-US" sz="950" b="1" dirty="0">
                <a:solidFill>
                  <a:srgbClr val="C62828"/>
                </a:solidFill>
                <a:latin typeface="Arial" pitchFamily="34" charset="0"/>
                <a:ea typeface="Arial" pitchFamily="34" charset="-122"/>
                <a:cs typeface="Arial" pitchFamily="34" charset="-120"/>
              </a:rPr>
              <a:t>Gap: </a:t>
            </a:r>
            <a:r>
              <a:rPr lang="en-US" sz="950" dirty="0">
                <a:solidFill>
                  <a:srgbClr val="333333"/>
                </a:solidFill>
                <a:latin typeface="Arial" pitchFamily="34" charset="0"/>
                <a:ea typeface="Arial" pitchFamily="34" charset="-122"/>
                <a:cs typeface="Arial" pitchFamily="34" charset="-120"/>
              </a:rPr>
              <a:t>System prompts are inline strings in agent configs — no version history or rollback.
</a:t>
            </a:r>
            <a:r>
              <a:rPr lang="en-US" sz="950" b="1" dirty="0">
                <a:solidFill>
                  <a:srgbClr val="1B2A4A"/>
                </a:solidFill>
                <a:latin typeface="Arial" pitchFamily="34" charset="0"/>
                <a:ea typeface="Arial" pitchFamily="34" charset="-122"/>
                <a:cs typeface="Arial" pitchFamily="34" charset="-120"/>
              </a:rPr>
              <a:t>Evidence: </a:t>
            </a:r>
            <a:r>
              <a:rPr lang="en-US" sz="950" dirty="0">
                <a:solidFill>
                  <a:srgbClr val="333333"/>
                </a:solidFill>
                <a:latin typeface="Courier New" pitchFamily="34" charset="0"/>
                <a:ea typeface="Courier New" pitchFamily="34" charset="-122"/>
                <a:cs typeface="Courier New" pitchFamily="34" charset="-120"/>
              </a:rPr>
              <a:t>agent_config.py embeds prompts as plain strings; no prompt_id or version
</a:t>
            </a:r>
            <a:endParaRPr lang="en-US" sz="1000" dirty="0"/>
          </a:p>
          <a:p>
            <a:pPr marL="0" indent="0">
              <a:lnSpc>
                <a:spcPct val="110000"/>
              </a:lnSpc>
              <a:buNone/>
            </a:pPr>
            <a:r>
              <a:rPr lang="en-US" sz="950" b="1" dirty="0">
                <a:solidFill>
                  <a:srgbClr val="C62828"/>
                </a:solidFill>
                <a:latin typeface="Arial" pitchFamily="34" charset="0"/>
                <a:ea typeface="Arial" pitchFamily="34" charset="-122"/>
                <a:cs typeface="Arial" pitchFamily="34" charset="-120"/>
              </a:rPr>
              <a:t>Blocker: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Prompt change breaks agent behavior silently — no diff, no rollback, no A/B comparison.
</a:t>
            </a:r>
            <a:endParaRPr lang="en-US" sz="1000" dirty="0"/>
          </a:p>
          <a:p>
            <a:pPr marL="0" indent="0">
              <a:lnSpc>
                <a:spcPct val="110000"/>
              </a:lnSpc>
              <a:buNone/>
            </a:pPr>
            <a:r>
              <a:rPr lang="en-US" sz="950" b="1" dirty="0">
                <a:solidFill>
                  <a:srgbClr val="2E7D32"/>
                </a:solidFill>
                <a:latin typeface="Arial" pitchFamily="34" charset="0"/>
                <a:ea typeface="Arial" pitchFamily="34" charset="-122"/>
                <a:cs typeface="Arial" pitchFamily="34" charset="-120"/>
              </a:rPr>
              <a:t>Build: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prompts/registry.py — versioned prompt store with SHA-based IDs, diff view, canary rollout (10% traffic on new prompt), automatic rollback on quality drop.</a:t>
            </a:r>
            <a:endParaRPr lang="en-US" sz="1000" dirty="0"/>
          </a:p>
        </p:txBody>
      </p:sp>
      <p:sp>
        <p:nvSpPr>
          <p:cNvPr id="12" name="Shape 10"/>
          <p:cNvSpPr/>
          <p:nvPr/>
        </p:nvSpPr>
        <p:spPr>
          <a:xfrm>
            <a:off x="6050280" y="1188720"/>
            <a:ext cx="2590800" cy="3017520"/>
          </a:xfrm>
          <a:prstGeom prst="rect">
            <a:avLst/>
          </a:prstGeom>
          <a:solidFill>
            <a:srgbClr val="FFFFFF"/>
          </a:solidFill>
          <a:ln w="6350">
            <a:solidFill>
              <a:srgbClr val="F0F0F0"/>
            </a:solidFill>
            <a:prstDash val="solid"/>
          </a:ln>
          <a:effectLst>
            <a:outerShdw blurRad="50800" dist="25400" dir="8100000" algn="bl" rotWithShape="0">
              <a:srgbClr val="000000">
                <a:alpha val="12000"/>
              </a:srgbClr>
            </a:outerShdw>
          </a:effectLst>
        </p:spPr>
        <p:txBody>
          <a:bodyPr/>
          <a:lstStyle/>
          <a:p>
            <a:endParaRPr lang="en-US"/>
          </a:p>
        </p:txBody>
      </p:sp>
      <p:sp>
        <p:nvSpPr>
          <p:cNvPr id="13" name="Shape 11"/>
          <p:cNvSpPr/>
          <p:nvPr/>
        </p:nvSpPr>
        <p:spPr>
          <a:xfrm>
            <a:off x="6050280" y="1188720"/>
            <a:ext cx="2590800" cy="320040"/>
          </a:xfrm>
          <a:prstGeom prst="rect">
            <a:avLst/>
          </a:prstGeom>
          <a:solidFill>
            <a:srgbClr val="1B2A4A"/>
          </a:solidFill>
          <a:ln/>
        </p:spPr>
        <p:txBody>
          <a:bodyPr/>
          <a:lstStyle/>
          <a:p>
            <a:endParaRPr lang="en-US"/>
          </a:p>
        </p:txBody>
      </p:sp>
      <p:sp>
        <p:nvSpPr>
          <p:cNvPr id="14" name="Text 12"/>
          <p:cNvSpPr/>
          <p:nvPr/>
        </p:nvSpPr>
        <p:spPr>
          <a:xfrm>
            <a:off x="6160008" y="1216152"/>
            <a:ext cx="2371344" cy="292608"/>
          </a:xfrm>
          <a:prstGeom prst="rect">
            <a:avLst/>
          </a:prstGeom>
          <a:noFill/>
          <a:ln/>
        </p:spPr>
        <p:txBody>
          <a:bodyPr wrap="square" lIns="0" tIns="0" rIns="0" bIns="0" rtlCol="0" anchor="ctr"/>
          <a:lstStyle/>
          <a:p>
            <a:pPr marL="0" indent="0">
              <a:buNone/>
            </a:pPr>
            <a:r>
              <a:rPr lang="en-US" sz="1200" b="1" dirty="0">
                <a:solidFill>
                  <a:srgbClr val="FFFFFF"/>
                </a:solidFill>
                <a:latin typeface="Arial" pitchFamily="34" charset="0"/>
                <a:ea typeface="Arial" pitchFamily="34" charset="-122"/>
                <a:cs typeface="Arial" pitchFamily="34" charset="-120"/>
              </a:rPr>
              <a:t>Structured Output Guardrails</a:t>
            </a:r>
            <a:endParaRPr lang="en-US" sz="1200" dirty="0"/>
          </a:p>
        </p:txBody>
      </p:sp>
      <p:sp>
        <p:nvSpPr>
          <p:cNvPr id="15" name="Text 13"/>
          <p:cNvSpPr/>
          <p:nvPr/>
        </p:nvSpPr>
        <p:spPr>
          <a:xfrm>
            <a:off x="6160008" y="1572768"/>
            <a:ext cx="2371344" cy="2542032"/>
          </a:xfrm>
          <a:prstGeom prst="rect">
            <a:avLst/>
          </a:prstGeom>
          <a:noFill/>
          <a:ln/>
        </p:spPr>
        <p:txBody>
          <a:bodyPr wrap="square" lIns="0" tIns="0" rIns="0" bIns="0" rtlCol="0" anchor="t"/>
          <a:lstStyle/>
          <a:p>
            <a:pPr marL="0" indent="0">
              <a:lnSpc>
                <a:spcPct val="110000"/>
              </a:lnSpc>
              <a:buNone/>
            </a:pPr>
            <a:r>
              <a:rPr lang="en-US" sz="950" b="1" dirty="0">
                <a:solidFill>
                  <a:srgbClr val="C62828"/>
                </a:solidFill>
                <a:latin typeface="Arial" pitchFamily="34" charset="0"/>
                <a:ea typeface="Arial" pitchFamily="34" charset="-122"/>
                <a:cs typeface="Arial" pitchFamily="34" charset="-120"/>
              </a:rPr>
              <a:t>Gap: </a:t>
            </a:r>
            <a:r>
              <a:rPr lang="en-US" sz="950" dirty="0">
                <a:solidFill>
                  <a:srgbClr val="333333"/>
                </a:solidFill>
                <a:latin typeface="Arial" pitchFamily="34" charset="0"/>
                <a:ea typeface="Arial" pitchFamily="34" charset="-122"/>
                <a:cs typeface="Arial" pitchFamily="34" charset="-120"/>
              </a:rPr>
              <a:t>Agent outputs are free-form text — no schema validation or content filtering.
</a:t>
            </a:r>
            <a:r>
              <a:rPr lang="en-US" sz="950" b="1" dirty="0">
                <a:solidFill>
                  <a:srgbClr val="1B2A4A"/>
                </a:solidFill>
                <a:latin typeface="Arial" pitchFamily="34" charset="0"/>
                <a:ea typeface="Arial" pitchFamily="34" charset="-122"/>
                <a:cs typeface="Arial" pitchFamily="34" charset="-120"/>
              </a:rPr>
              <a:t>Evidence: </a:t>
            </a:r>
            <a:r>
              <a:rPr lang="en-US" sz="950" dirty="0">
                <a:solidFill>
                  <a:srgbClr val="333333"/>
                </a:solidFill>
                <a:latin typeface="Courier New" pitchFamily="34" charset="0"/>
                <a:ea typeface="Courier New" pitchFamily="34" charset="-122"/>
                <a:cs typeface="Courier New" pitchFamily="34" charset="-120"/>
              </a:rPr>
              <a:t>query_loop.py returns raw LLM text; no output_schema or guardrail check
</a:t>
            </a:r>
            <a:endParaRPr lang="en-US" sz="1000" dirty="0"/>
          </a:p>
          <a:p>
            <a:pPr marL="0" indent="0">
              <a:lnSpc>
                <a:spcPct val="110000"/>
              </a:lnSpc>
              <a:buNone/>
            </a:pPr>
            <a:r>
              <a:rPr lang="en-US" sz="950" b="1" dirty="0">
                <a:solidFill>
                  <a:srgbClr val="C62828"/>
                </a:solidFill>
                <a:latin typeface="Arial" pitchFamily="34" charset="0"/>
                <a:ea typeface="Arial" pitchFamily="34" charset="-122"/>
                <a:cs typeface="Arial" pitchFamily="34" charset="-120"/>
              </a:rPr>
              <a:t>Blocker: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Agents can return malformed JSON, leak PII, or produce off-brand content.
</a:t>
            </a:r>
            <a:endParaRPr lang="en-US" sz="1000" dirty="0"/>
          </a:p>
          <a:p>
            <a:pPr marL="0" indent="0">
              <a:lnSpc>
                <a:spcPct val="110000"/>
              </a:lnSpc>
              <a:buNone/>
            </a:pPr>
            <a:r>
              <a:rPr lang="en-US" sz="950" b="1" dirty="0">
                <a:solidFill>
                  <a:srgbClr val="2E7D32"/>
                </a:solidFill>
                <a:latin typeface="Arial" pitchFamily="34" charset="0"/>
                <a:ea typeface="Arial" pitchFamily="34" charset="-122"/>
                <a:cs typeface="Arial" pitchFamily="34" charset="-120"/>
              </a:rPr>
              <a:t>Build: </a:t>
            </a:r>
            <a:endParaRPr lang="en-US" sz="1000" dirty="0"/>
          </a:p>
          <a:p>
            <a:pPr marL="0" indent="0">
              <a:lnSpc>
                <a:spcPct val="110000"/>
              </a:lnSpc>
              <a:buNone/>
            </a:pPr>
            <a:r>
              <a:rPr lang="en-US" sz="950" dirty="0">
                <a:solidFill>
                  <a:srgbClr val="333333"/>
                </a:solidFill>
                <a:latin typeface="Arial" pitchFamily="34" charset="0"/>
                <a:ea typeface="Arial" pitchFamily="34" charset="-122"/>
                <a:cs typeface="Arial" pitchFamily="34" charset="-120"/>
              </a:rPr>
              <a:t>runtime/guardrails.py — Pydantic output schemas per agent mode, content policy filter (PII, toxicity, brand compliance), retry on validation failure.</a:t>
            </a:r>
            <a:endParaRPr lang="en-US" sz="1000" dirty="0"/>
          </a:p>
        </p:txBody>
      </p:sp>
      <p:sp>
        <p:nvSpPr>
          <p:cNvPr id="16" name="Shape 14"/>
          <p:cNvSpPr/>
          <p:nvPr/>
        </p:nvSpPr>
        <p:spPr>
          <a:xfrm>
            <a:off x="502920" y="4343400"/>
            <a:ext cx="8138160" cy="402336"/>
          </a:xfrm>
          <a:prstGeom prst="rect">
            <a:avLst/>
          </a:prstGeom>
          <a:solidFill>
            <a:srgbClr val="E0F7FA"/>
          </a:solidFill>
          <a:ln w="12700">
            <a:solidFill>
              <a:srgbClr val="0097A7"/>
            </a:solidFill>
            <a:prstDash val="solid"/>
          </a:ln>
        </p:spPr>
        <p:txBody>
          <a:bodyPr/>
          <a:lstStyle/>
          <a:p>
            <a:endParaRPr lang="en-US"/>
          </a:p>
        </p:txBody>
      </p:sp>
      <p:sp>
        <p:nvSpPr>
          <p:cNvPr id="17" name="Text 15"/>
          <p:cNvSpPr/>
          <p:nvPr/>
        </p:nvSpPr>
        <p:spPr>
          <a:xfrm>
            <a:off x="594360" y="4343400"/>
            <a:ext cx="7955280" cy="402336"/>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Signing secures the supply chain. Prompt versioning enables safe iteration. Output guardrails prevent LLM failures from reaching users.</a:t>
            </a:r>
            <a:endParaRPr lang="en-US" sz="1000" dirty="0"/>
          </a:p>
        </p:txBody>
      </p:sp>
      <p:sp>
        <p:nvSpPr>
          <p:cNvPr id="18" name="Text 16"/>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skills/pack_loader.py, agent_config.py, runtime/query_loop.py  —  no signatures, no prompt versioning, no output validation</a:t>
            </a:r>
            <a:endParaRPr lang="en-US" sz="900" dirty="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9">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Observability, Governance &amp; Compliance — 5 Gaps</a:t>
            </a:r>
            <a:endParaRPr lang="en-US" sz="2600" dirty="0"/>
          </a:p>
        </p:txBody>
      </p:sp>
      <p:sp>
        <p:nvSpPr>
          <p:cNvPr id="3" name="Text 1"/>
          <p:cNvSpPr/>
          <p:nvPr/>
        </p:nvSpPr>
        <p:spPr>
          <a:xfrm>
            <a:off x="502920" y="804672"/>
            <a:ext cx="8138160" cy="365760"/>
          </a:xfrm>
          <a:prstGeom prst="rect">
            <a:avLst/>
          </a:prstGeom>
          <a:noFill/>
          <a:ln/>
        </p:spPr>
        <p:txBody>
          <a:bodyPr wrap="square" lIns="0" tIns="0" rIns="0" bIns="0" rtlCol="0" anchor="ctr"/>
          <a:lstStyle/>
          <a:p>
            <a:pPr marL="0" indent="0">
              <a:buNone/>
            </a:pPr>
            <a:r>
              <a:rPr lang="en-US" sz="1050" dirty="0">
                <a:solidFill>
                  <a:srgbClr val="666666"/>
                </a:solidFill>
                <a:latin typeface="Arial" pitchFamily="34" charset="0"/>
                <a:ea typeface="Arial" pitchFamily="34" charset="-122"/>
                <a:cs typeface="Arial" pitchFamily="34" charset="-120"/>
              </a:rPr>
              <a:t>LangFuse traces + spans are a start, but SOC2 / GDPR / FedRAMP require cost attribution, immutable audit, PII controls, model governance, and red-team infra.</a:t>
            </a:r>
            <a:endParaRPr lang="en-US" sz="1050" dirty="0"/>
          </a:p>
        </p:txBody>
      </p:sp>
      <p:sp>
        <p:nvSpPr>
          <p:cNvPr id="4" name="Shape 2"/>
          <p:cNvSpPr/>
          <p:nvPr/>
        </p:nvSpPr>
        <p:spPr>
          <a:xfrm>
            <a:off x="502920" y="1243584"/>
            <a:ext cx="1920240" cy="256032"/>
          </a:xfrm>
          <a:prstGeom prst="rect">
            <a:avLst/>
          </a:prstGeom>
          <a:solidFill>
            <a:srgbClr val="1B2A4A"/>
          </a:solidFill>
          <a:ln w="3810">
            <a:solidFill>
              <a:srgbClr val="F0F0F0"/>
            </a:solidFill>
            <a:prstDash val="solid"/>
          </a:ln>
        </p:spPr>
        <p:txBody>
          <a:bodyPr/>
          <a:lstStyle/>
          <a:p>
            <a:endParaRPr lang="en-US"/>
          </a:p>
        </p:txBody>
      </p:sp>
      <p:sp>
        <p:nvSpPr>
          <p:cNvPr id="5" name="Text 3"/>
          <p:cNvSpPr/>
          <p:nvPr/>
        </p:nvSpPr>
        <p:spPr>
          <a:xfrm>
            <a:off x="557784" y="1243584"/>
            <a:ext cx="1810512" cy="256032"/>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Gap</a:t>
            </a:r>
            <a:endParaRPr lang="en-US" sz="900" dirty="0"/>
          </a:p>
        </p:txBody>
      </p:sp>
      <p:sp>
        <p:nvSpPr>
          <p:cNvPr id="6" name="Shape 4"/>
          <p:cNvSpPr/>
          <p:nvPr/>
        </p:nvSpPr>
        <p:spPr>
          <a:xfrm>
            <a:off x="2423160" y="1243584"/>
            <a:ext cx="2743200" cy="256032"/>
          </a:xfrm>
          <a:prstGeom prst="rect">
            <a:avLst/>
          </a:prstGeom>
          <a:solidFill>
            <a:srgbClr val="1B2A4A"/>
          </a:solidFill>
          <a:ln w="3810">
            <a:solidFill>
              <a:srgbClr val="F0F0F0"/>
            </a:solidFill>
            <a:prstDash val="solid"/>
          </a:ln>
        </p:spPr>
        <p:txBody>
          <a:bodyPr/>
          <a:lstStyle/>
          <a:p>
            <a:endParaRPr lang="en-US"/>
          </a:p>
        </p:txBody>
      </p:sp>
      <p:sp>
        <p:nvSpPr>
          <p:cNvPr id="7" name="Text 5"/>
          <p:cNvSpPr/>
          <p:nvPr/>
        </p:nvSpPr>
        <p:spPr>
          <a:xfrm>
            <a:off x="2478024" y="1243584"/>
            <a:ext cx="2633472" cy="256032"/>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What's Missing &amp; Why</a:t>
            </a:r>
            <a:endParaRPr lang="en-US" sz="900" dirty="0"/>
          </a:p>
        </p:txBody>
      </p:sp>
      <p:sp>
        <p:nvSpPr>
          <p:cNvPr id="8" name="Shape 6"/>
          <p:cNvSpPr/>
          <p:nvPr/>
        </p:nvSpPr>
        <p:spPr>
          <a:xfrm>
            <a:off x="5166360" y="1243584"/>
            <a:ext cx="2606040" cy="256032"/>
          </a:xfrm>
          <a:prstGeom prst="rect">
            <a:avLst/>
          </a:prstGeom>
          <a:solidFill>
            <a:srgbClr val="1B2A4A"/>
          </a:solidFill>
          <a:ln w="3810">
            <a:solidFill>
              <a:srgbClr val="F0F0F0"/>
            </a:solidFill>
            <a:prstDash val="solid"/>
          </a:ln>
        </p:spPr>
        <p:txBody>
          <a:bodyPr/>
          <a:lstStyle/>
          <a:p>
            <a:endParaRPr lang="en-US"/>
          </a:p>
        </p:txBody>
      </p:sp>
      <p:sp>
        <p:nvSpPr>
          <p:cNvPr id="9" name="Text 7"/>
          <p:cNvSpPr/>
          <p:nvPr/>
        </p:nvSpPr>
        <p:spPr>
          <a:xfrm>
            <a:off x="5221224" y="1243584"/>
            <a:ext cx="2496312" cy="256032"/>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Build</a:t>
            </a:r>
            <a:endParaRPr lang="en-US" sz="900" dirty="0"/>
          </a:p>
        </p:txBody>
      </p:sp>
      <p:sp>
        <p:nvSpPr>
          <p:cNvPr id="10" name="Shape 8"/>
          <p:cNvSpPr/>
          <p:nvPr/>
        </p:nvSpPr>
        <p:spPr>
          <a:xfrm>
            <a:off x="7772400" y="1243584"/>
            <a:ext cx="1143000" cy="256032"/>
          </a:xfrm>
          <a:prstGeom prst="rect">
            <a:avLst/>
          </a:prstGeom>
          <a:solidFill>
            <a:srgbClr val="1B2A4A"/>
          </a:solidFill>
          <a:ln w="3810">
            <a:solidFill>
              <a:srgbClr val="F0F0F0"/>
            </a:solidFill>
            <a:prstDash val="solid"/>
          </a:ln>
        </p:spPr>
        <p:txBody>
          <a:bodyPr/>
          <a:lstStyle/>
          <a:p>
            <a:endParaRPr lang="en-US"/>
          </a:p>
        </p:txBody>
      </p:sp>
      <p:sp>
        <p:nvSpPr>
          <p:cNvPr id="11" name="Text 9"/>
          <p:cNvSpPr/>
          <p:nvPr/>
        </p:nvSpPr>
        <p:spPr>
          <a:xfrm>
            <a:off x="7827264" y="1243584"/>
            <a:ext cx="1033272" cy="256032"/>
          </a:xfrm>
          <a:prstGeom prst="rect">
            <a:avLst/>
          </a:prstGeom>
          <a:noFill/>
          <a:ln/>
        </p:spPr>
        <p:txBody>
          <a:bodyPr wrap="square" lIns="0" tIns="0" rIns="0" bIns="0" rtlCol="0" anchor="ctr"/>
          <a:lstStyle/>
          <a:p>
            <a:pPr marL="0" indent="0">
              <a:buNone/>
            </a:pPr>
            <a:r>
              <a:rPr lang="en-US" sz="900" b="1" dirty="0">
                <a:solidFill>
                  <a:srgbClr val="FFFFFF"/>
                </a:solidFill>
                <a:latin typeface="Arial" pitchFamily="34" charset="0"/>
                <a:ea typeface="Arial" pitchFamily="34" charset="-122"/>
                <a:cs typeface="Arial" pitchFamily="34" charset="-120"/>
              </a:rPr>
              <a:t>Severity</a:t>
            </a:r>
            <a:endParaRPr lang="en-US" sz="900" dirty="0"/>
          </a:p>
        </p:txBody>
      </p:sp>
      <p:sp>
        <p:nvSpPr>
          <p:cNvPr id="12" name="Shape 10"/>
          <p:cNvSpPr/>
          <p:nvPr/>
        </p:nvSpPr>
        <p:spPr>
          <a:xfrm>
            <a:off x="502920" y="1499616"/>
            <a:ext cx="1920240" cy="512064"/>
          </a:xfrm>
          <a:prstGeom prst="rect">
            <a:avLst/>
          </a:prstGeom>
          <a:solidFill>
            <a:srgbClr val="FFFFFF"/>
          </a:solidFill>
          <a:ln w="3810">
            <a:solidFill>
              <a:srgbClr val="F0F0F0"/>
            </a:solidFill>
            <a:prstDash val="solid"/>
          </a:ln>
        </p:spPr>
        <p:txBody>
          <a:bodyPr/>
          <a:lstStyle/>
          <a:p>
            <a:endParaRPr lang="en-US"/>
          </a:p>
        </p:txBody>
      </p:sp>
      <p:sp>
        <p:nvSpPr>
          <p:cNvPr id="13" name="Text 11"/>
          <p:cNvSpPr/>
          <p:nvPr/>
        </p:nvSpPr>
        <p:spPr>
          <a:xfrm>
            <a:off x="557784" y="1499616"/>
            <a:ext cx="1810512" cy="512064"/>
          </a:xfrm>
          <a:prstGeom prst="rect">
            <a:avLst/>
          </a:prstGeom>
          <a:noFill/>
          <a:ln/>
        </p:spPr>
        <p:txBody>
          <a:bodyPr wrap="square" lIns="0" tIns="0" rIns="0" bIns="0" rtlCol="0" anchor="ctr"/>
          <a:lstStyle/>
          <a:p>
            <a:pPr marL="0" indent="0">
              <a:buNone/>
            </a:pPr>
            <a:r>
              <a:rPr lang="en-US" sz="950" b="1" dirty="0">
                <a:solidFill>
                  <a:srgbClr val="1B2A4A"/>
                </a:solidFill>
                <a:latin typeface="Arial" pitchFamily="34" charset="0"/>
                <a:ea typeface="Arial" pitchFamily="34" charset="-122"/>
                <a:cs typeface="Arial" pitchFamily="34" charset="-120"/>
              </a:rPr>
              <a:t>Cost Attribution</a:t>
            </a:r>
            <a:endParaRPr lang="en-US" sz="950" dirty="0"/>
          </a:p>
        </p:txBody>
      </p:sp>
      <p:sp>
        <p:nvSpPr>
          <p:cNvPr id="14" name="Shape 12"/>
          <p:cNvSpPr/>
          <p:nvPr/>
        </p:nvSpPr>
        <p:spPr>
          <a:xfrm>
            <a:off x="2423160" y="1499616"/>
            <a:ext cx="2743200" cy="512064"/>
          </a:xfrm>
          <a:prstGeom prst="rect">
            <a:avLst/>
          </a:prstGeom>
          <a:solidFill>
            <a:srgbClr val="FFFFFF"/>
          </a:solidFill>
          <a:ln w="3810">
            <a:solidFill>
              <a:srgbClr val="F0F0F0"/>
            </a:solidFill>
            <a:prstDash val="solid"/>
          </a:ln>
        </p:spPr>
        <p:txBody>
          <a:bodyPr/>
          <a:lstStyle/>
          <a:p>
            <a:endParaRPr lang="en-US"/>
          </a:p>
        </p:txBody>
      </p:sp>
      <p:sp>
        <p:nvSpPr>
          <p:cNvPr id="15" name="Text 13"/>
          <p:cNvSpPr/>
          <p:nvPr/>
        </p:nvSpPr>
        <p:spPr>
          <a:xfrm>
            <a:off x="2478024" y="1499616"/>
            <a:ext cx="2633472" cy="512064"/>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Traces log elapsed time but not tokens or dollars. Cannot answer 'cost per request / tenant / model.'</a:t>
            </a:r>
            <a:endParaRPr lang="en-US" sz="850" dirty="0"/>
          </a:p>
        </p:txBody>
      </p:sp>
      <p:sp>
        <p:nvSpPr>
          <p:cNvPr id="16" name="Shape 14"/>
          <p:cNvSpPr/>
          <p:nvPr/>
        </p:nvSpPr>
        <p:spPr>
          <a:xfrm>
            <a:off x="5166360" y="1499616"/>
            <a:ext cx="2606040" cy="512064"/>
          </a:xfrm>
          <a:prstGeom prst="rect">
            <a:avLst/>
          </a:prstGeom>
          <a:solidFill>
            <a:srgbClr val="FFFFFF"/>
          </a:solidFill>
          <a:ln w="3810">
            <a:solidFill>
              <a:srgbClr val="F0F0F0"/>
            </a:solidFill>
            <a:prstDash val="solid"/>
          </a:ln>
        </p:spPr>
        <p:txBody>
          <a:bodyPr/>
          <a:lstStyle/>
          <a:p>
            <a:endParaRPr lang="en-US"/>
          </a:p>
        </p:txBody>
      </p:sp>
      <p:sp>
        <p:nvSpPr>
          <p:cNvPr id="17" name="Text 15"/>
          <p:cNvSpPr/>
          <p:nvPr/>
        </p:nvSpPr>
        <p:spPr>
          <a:xfrm>
            <a:off x="5221224" y="1499616"/>
            <a:ext cx="2496312" cy="512064"/>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observability/cost_tracker.py hooks LLM callbacks, emits CostEvent(tenant, user, model, tokens, cents).</a:t>
            </a:r>
            <a:endParaRPr lang="en-US" sz="850" dirty="0"/>
          </a:p>
        </p:txBody>
      </p:sp>
      <p:sp>
        <p:nvSpPr>
          <p:cNvPr id="18" name="Shape 16"/>
          <p:cNvSpPr/>
          <p:nvPr/>
        </p:nvSpPr>
        <p:spPr>
          <a:xfrm>
            <a:off x="7772400" y="1499616"/>
            <a:ext cx="1143000" cy="512064"/>
          </a:xfrm>
          <a:prstGeom prst="rect">
            <a:avLst/>
          </a:prstGeom>
          <a:solidFill>
            <a:srgbClr val="C62828"/>
          </a:solidFill>
          <a:ln/>
        </p:spPr>
        <p:txBody>
          <a:bodyPr/>
          <a:lstStyle/>
          <a:p>
            <a:endParaRPr lang="en-US"/>
          </a:p>
        </p:txBody>
      </p:sp>
      <p:sp>
        <p:nvSpPr>
          <p:cNvPr id="19" name="Text 17"/>
          <p:cNvSpPr/>
          <p:nvPr/>
        </p:nvSpPr>
        <p:spPr>
          <a:xfrm>
            <a:off x="7772400" y="1499616"/>
            <a:ext cx="1143000" cy="512064"/>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Critical</a:t>
            </a:r>
            <a:endParaRPr lang="en-US" sz="1000" dirty="0"/>
          </a:p>
        </p:txBody>
      </p:sp>
      <p:sp>
        <p:nvSpPr>
          <p:cNvPr id="20" name="Shape 18"/>
          <p:cNvSpPr/>
          <p:nvPr/>
        </p:nvSpPr>
        <p:spPr>
          <a:xfrm>
            <a:off x="502920" y="2011680"/>
            <a:ext cx="1920240" cy="512064"/>
          </a:xfrm>
          <a:prstGeom prst="rect">
            <a:avLst/>
          </a:prstGeom>
          <a:solidFill>
            <a:srgbClr val="F5F5F5"/>
          </a:solidFill>
          <a:ln w="3810">
            <a:solidFill>
              <a:srgbClr val="F0F0F0"/>
            </a:solidFill>
            <a:prstDash val="solid"/>
          </a:ln>
        </p:spPr>
        <p:txBody>
          <a:bodyPr/>
          <a:lstStyle/>
          <a:p>
            <a:endParaRPr lang="en-US"/>
          </a:p>
        </p:txBody>
      </p:sp>
      <p:sp>
        <p:nvSpPr>
          <p:cNvPr id="21" name="Text 19"/>
          <p:cNvSpPr/>
          <p:nvPr/>
        </p:nvSpPr>
        <p:spPr>
          <a:xfrm>
            <a:off x="557784" y="2011680"/>
            <a:ext cx="1810512" cy="512064"/>
          </a:xfrm>
          <a:prstGeom prst="rect">
            <a:avLst/>
          </a:prstGeom>
          <a:noFill/>
          <a:ln/>
        </p:spPr>
        <p:txBody>
          <a:bodyPr wrap="square" lIns="0" tIns="0" rIns="0" bIns="0" rtlCol="0" anchor="ctr"/>
          <a:lstStyle/>
          <a:p>
            <a:pPr marL="0" indent="0">
              <a:buNone/>
            </a:pPr>
            <a:r>
              <a:rPr lang="en-US" sz="950" b="1" dirty="0">
                <a:solidFill>
                  <a:srgbClr val="1B2A4A"/>
                </a:solidFill>
                <a:latin typeface="Arial" pitchFamily="34" charset="0"/>
                <a:ea typeface="Arial" pitchFamily="34" charset="-122"/>
                <a:cs typeface="Arial" pitchFamily="34" charset="-120"/>
              </a:rPr>
              <a:t>Immutable Audit Log</a:t>
            </a:r>
            <a:endParaRPr lang="en-US" sz="950" dirty="0"/>
          </a:p>
        </p:txBody>
      </p:sp>
      <p:sp>
        <p:nvSpPr>
          <p:cNvPr id="22" name="Shape 20"/>
          <p:cNvSpPr/>
          <p:nvPr/>
        </p:nvSpPr>
        <p:spPr>
          <a:xfrm>
            <a:off x="2423160" y="2011680"/>
            <a:ext cx="2743200" cy="512064"/>
          </a:xfrm>
          <a:prstGeom prst="rect">
            <a:avLst/>
          </a:prstGeom>
          <a:solidFill>
            <a:srgbClr val="F5F5F5"/>
          </a:solidFill>
          <a:ln w="3810">
            <a:solidFill>
              <a:srgbClr val="F0F0F0"/>
            </a:solidFill>
            <a:prstDash val="solid"/>
          </a:ln>
        </p:spPr>
        <p:txBody>
          <a:bodyPr/>
          <a:lstStyle/>
          <a:p>
            <a:endParaRPr lang="en-US"/>
          </a:p>
        </p:txBody>
      </p:sp>
      <p:sp>
        <p:nvSpPr>
          <p:cNvPr id="23" name="Text 21"/>
          <p:cNvSpPr/>
          <p:nvPr/>
        </p:nvSpPr>
        <p:spPr>
          <a:xfrm>
            <a:off x="2478024" y="2011680"/>
            <a:ext cx="2633472" cy="512064"/>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LangFuse is external. No local append-only log of who did what to which resource with what outcome.</a:t>
            </a:r>
            <a:endParaRPr lang="en-US" sz="850" dirty="0"/>
          </a:p>
        </p:txBody>
      </p:sp>
      <p:sp>
        <p:nvSpPr>
          <p:cNvPr id="24" name="Shape 22"/>
          <p:cNvSpPr/>
          <p:nvPr/>
        </p:nvSpPr>
        <p:spPr>
          <a:xfrm>
            <a:off x="5166360" y="2011680"/>
            <a:ext cx="2606040" cy="512064"/>
          </a:xfrm>
          <a:prstGeom prst="rect">
            <a:avLst/>
          </a:prstGeom>
          <a:solidFill>
            <a:srgbClr val="F5F5F5"/>
          </a:solidFill>
          <a:ln w="3810">
            <a:solidFill>
              <a:srgbClr val="F0F0F0"/>
            </a:solidFill>
            <a:prstDash val="solid"/>
          </a:ln>
        </p:spPr>
        <p:txBody>
          <a:bodyPr/>
          <a:lstStyle/>
          <a:p>
            <a:endParaRPr lang="en-US"/>
          </a:p>
        </p:txBody>
      </p:sp>
      <p:sp>
        <p:nvSpPr>
          <p:cNvPr id="25" name="Text 23"/>
          <p:cNvSpPr/>
          <p:nvPr/>
        </p:nvSpPr>
        <p:spPr>
          <a:xfrm>
            <a:off x="5221224" y="2011680"/>
            <a:ext cx="2496312" cy="512064"/>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audit_log.py — append-only Postgres table, write-once, S3 cold archive for multi-year retention.</a:t>
            </a:r>
            <a:endParaRPr lang="en-US" sz="850" dirty="0"/>
          </a:p>
        </p:txBody>
      </p:sp>
      <p:sp>
        <p:nvSpPr>
          <p:cNvPr id="26" name="Shape 24"/>
          <p:cNvSpPr/>
          <p:nvPr/>
        </p:nvSpPr>
        <p:spPr>
          <a:xfrm>
            <a:off x="7772400" y="2011680"/>
            <a:ext cx="1143000" cy="512064"/>
          </a:xfrm>
          <a:prstGeom prst="rect">
            <a:avLst/>
          </a:prstGeom>
          <a:solidFill>
            <a:srgbClr val="C62828"/>
          </a:solidFill>
          <a:ln/>
        </p:spPr>
        <p:txBody>
          <a:bodyPr/>
          <a:lstStyle/>
          <a:p>
            <a:endParaRPr lang="en-US"/>
          </a:p>
        </p:txBody>
      </p:sp>
      <p:sp>
        <p:nvSpPr>
          <p:cNvPr id="27" name="Text 25"/>
          <p:cNvSpPr/>
          <p:nvPr/>
        </p:nvSpPr>
        <p:spPr>
          <a:xfrm>
            <a:off x="7772400" y="2011680"/>
            <a:ext cx="1143000" cy="512064"/>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Critical</a:t>
            </a:r>
            <a:endParaRPr lang="en-US" sz="1000" dirty="0"/>
          </a:p>
        </p:txBody>
      </p:sp>
      <p:sp>
        <p:nvSpPr>
          <p:cNvPr id="28" name="Shape 26"/>
          <p:cNvSpPr/>
          <p:nvPr/>
        </p:nvSpPr>
        <p:spPr>
          <a:xfrm>
            <a:off x="502920" y="2523744"/>
            <a:ext cx="1920240" cy="512064"/>
          </a:xfrm>
          <a:prstGeom prst="rect">
            <a:avLst/>
          </a:prstGeom>
          <a:solidFill>
            <a:srgbClr val="FFFFFF"/>
          </a:solidFill>
          <a:ln w="3810">
            <a:solidFill>
              <a:srgbClr val="F0F0F0"/>
            </a:solidFill>
            <a:prstDash val="solid"/>
          </a:ln>
        </p:spPr>
        <p:txBody>
          <a:bodyPr/>
          <a:lstStyle/>
          <a:p>
            <a:endParaRPr lang="en-US"/>
          </a:p>
        </p:txBody>
      </p:sp>
      <p:sp>
        <p:nvSpPr>
          <p:cNvPr id="29" name="Text 27"/>
          <p:cNvSpPr/>
          <p:nvPr/>
        </p:nvSpPr>
        <p:spPr>
          <a:xfrm>
            <a:off x="557784" y="2523744"/>
            <a:ext cx="1810512" cy="512064"/>
          </a:xfrm>
          <a:prstGeom prst="rect">
            <a:avLst/>
          </a:prstGeom>
          <a:noFill/>
          <a:ln/>
        </p:spPr>
        <p:txBody>
          <a:bodyPr wrap="square" lIns="0" tIns="0" rIns="0" bIns="0" rtlCol="0" anchor="ctr"/>
          <a:lstStyle/>
          <a:p>
            <a:pPr marL="0" indent="0">
              <a:buNone/>
            </a:pPr>
            <a:r>
              <a:rPr lang="en-US" sz="950" b="1" dirty="0">
                <a:solidFill>
                  <a:srgbClr val="1B2A4A"/>
                </a:solidFill>
                <a:latin typeface="Arial" pitchFamily="34" charset="0"/>
                <a:ea typeface="Arial" pitchFamily="34" charset="-122"/>
                <a:cs typeface="Arial" pitchFamily="34" charset="-120"/>
              </a:rPr>
              <a:t>PII Classifier &amp; Redact</a:t>
            </a:r>
            <a:endParaRPr lang="en-US" sz="950" dirty="0"/>
          </a:p>
        </p:txBody>
      </p:sp>
      <p:sp>
        <p:nvSpPr>
          <p:cNvPr id="30" name="Shape 28"/>
          <p:cNvSpPr/>
          <p:nvPr/>
        </p:nvSpPr>
        <p:spPr>
          <a:xfrm>
            <a:off x="2423160" y="2523744"/>
            <a:ext cx="2743200" cy="512064"/>
          </a:xfrm>
          <a:prstGeom prst="rect">
            <a:avLst/>
          </a:prstGeom>
          <a:solidFill>
            <a:srgbClr val="FFFFFF"/>
          </a:solidFill>
          <a:ln w="3810">
            <a:solidFill>
              <a:srgbClr val="F0F0F0"/>
            </a:solidFill>
            <a:prstDash val="solid"/>
          </a:ln>
        </p:spPr>
        <p:txBody>
          <a:bodyPr/>
          <a:lstStyle/>
          <a:p>
            <a:endParaRPr lang="en-US"/>
          </a:p>
        </p:txBody>
      </p:sp>
      <p:sp>
        <p:nvSpPr>
          <p:cNvPr id="31" name="Text 29"/>
          <p:cNvSpPr/>
          <p:nvPr/>
        </p:nvSpPr>
        <p:spPr>
          <a:xfrm>
            <a:off x="2478024" y="2523744"/>
            <a:ext cx="2633472" cy="512064"/>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Raw user text, files, and memory stored without PII scan. SSNs / PHI can leak into logs &amp; traces.</a:t>
            </a:r>
            <a:endParaRPr lang="en-US" sz="850" dirty="0"/>
          </a:p>
        </p:txBody>
      </p:sp>
      <p:sp>
        <p:nvSpPr>
          <p:cNvPr id="32" name="Shape 30"/>
          <p:cNvSpPr/>
          <p:nvPr/>
        </p:nvSpPr>
        <p:spPr>
          <a:xfrm>
            <a:off x="5166360" y="2523744"/>
            <a:ext cx="2606040" cy="512064"/>
          </a:xfrm>
          <a:prstGeom prst="rect">
            <a:avLst/>
          </a:prstGeom>
          <a:solidFill>
            <a:srgbClr val="FFFFFF"/>
          </a:solidFill>
          <a:ln w="3810">
            <a:solidFill>
              <a:srgbClr val="F0F0F0"/>
            </a:solidFill>
            <a:prstDash val="solid"/>
          </a:ln>
        </p:spPr>
        <p:txBody>
          <a:bodyPr/>
          <a:lstStyle/>
          <a:p>
            <a:endParaRPr lang="en-US"/>
          </a:p>
        </p:txBody>
      </p:sp>
      <p:sp>
        <p:nvSpPr>
          <p:cNvPr id="33" name="Text 31"/>
          <p:cNvSpPr/>
          <p:nvPr/>
        </p:nvSpPr>
        <p:spPr>
          <a:xfrm>
            <a:off x="5221224" y="2523744"/>
            <a:ext cx="2496312" cy="512064"/>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Integrate Presidio (regex + NER); redact before write; require explicit consent for debug retention.</a:t>
            </a:r>
            <a:endParaRPr lang="en-US" sz="850" dirty="0"/>
          </a:p>
        </p:txBody>
      </p:sp>
      <p:sp>
        <p:nvSpPr>
          <p:cNvPr id="34" name="Shape 32"/>
          <p:cNvSpPr/>
          <p:nvPr/>
        </p:nvSpPr>
        <p:spPr>
          <a:xfrm>
            <a:off x="7772400" y="2523744"/>
            <a:ext cx="1143000" cy="512064"/>
          </a:xfrm>
          <a:prstGeom prst="rect">
            <a:avLst/>
          </a:prstGeom>
          <a:solidFill>
            <a:srgbClr val="C62828"/>
          </a:solidFill>
          <a:ln/>
        </p:spPr>
        <p:txBody>
          <a:bodyPr/>
          <a:lstStyle/>
          <a:p>
            <a:endParaRPr lang="en-US"/>
          </a:p>
        </p:txBody>
      </p:sp>
      <p:sp>
        <p:nvSpPr>
          <p:cNvPr id="35" name="Text 33"/>
          <p:cNvSpPr/>
          <p:nvPr/>
        </p:nvSpPr>
        <p:spPr>
          <a:xfrm>
            <a:off x="7772400" y="2523744"/>
            <a:ext cx="1143000" cy="512064"/>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Critical</a:t>
            </a:r>
            <a:endParaRPr lang="en-US" sz="1000" dirty="0"/>
          </a:p>
        </p:txBody>
      </p:sp>
      <p:sp>
        <p:nvSpPr>
          <p:cNvPr id="36" name="Shape 34"/>
          <p:cNvSpPr/>
          <p:nvPr/>
        </p:nvSpPr>
        <p:spPr>
          <a:xfrm>
            <a:off x="502920" y="3035808"/>
            <a:ext cx="1920240" cy="512064"/>
          </a:xfrm>
          <a:prstGeom prst="rect">
            <a:avLst/>
          </a:prstGeom>
          <a:solidFill>
            <a:srgbClr val="F5F5F5"/>
          </a:solidFill>
          <a:ln w="3810">
            <a:solidFill>
              <a:srgbClr val="F0F0F0"/>
            </a:solidFill>
            <a:prstDash val="solid"/>
          </a:ln>
        </p:spPr>
        <p:txBody>
          <a:bodyPr/>
          <a:lstStyle/>
          <a:p>
            <a:endParaRPr lang="en-US"/>
          </a:p>
        </p:txBody>
      </p:sp>
      <p:sp>
        <p:nvSpPr>
          <p:cNvPr id="37" name="Text 35"/>
          <p:cNvSpPr/>
          <p:nvPr/>
        </p:nvSpPr>
        <p:spPr>
          <a:xfrm>
            <a:off x="557784" y="3035808"/>
            <a:ext cx="1810512" cy="512064"/>
          </a:xfrm>
          <a:prstGeom prst="rect">
            <a:avLst/>
          </a:prstGeom>
          <a:noFill/>
          <a:ln/>
        </p:spPr>
        <p:txBody>
          <a:bodyPr wrap="square" lIns="0" tIns="0" rIns="0" bIns="0" rtlCol="0" anchor="ctr"/>
          <a:lstStyle/>
          <a:p>
            <a:pPr marL="0" indent="0">
              <a:buNone/>
            </a:pPr>
            <a:r>
              <a:rPr lang="en-US" sz="950" b="1" dirty="0">
                <a:solidFill>
                  <a:srgbClr val="1B2A4A"/>
                </a:solidFill>
                <a:latin typeface="Arial" pitchFamily="34" charset="0"/>
                <a:ea typeface="Arial" pitchFamily="34" charset="-122"/>
                <a:cs typeface="Arial" pitchFamily="34" charset="-120"/>
              </a:rPr>
              <a:t>Model Allowlist</a:t>
            </a:r>
            <a:endParaRPr lang="en-US" sz="950" dirty="0"/>
          </a:p>
        </p:txBody>
      </p:sp>
      <p:sp>
        <p:nvSpPr>
          <p:cNvPr id="38" name="Shape 36"/>
          <p:cNvSpPr/>
          <p:nvPr/>
        </p:nvSpPr>
        <p:spPr>
          <a:xfrm>
            <a:off x="2423160" y="3035808"/>
            <a:ext cx="2743200" cy="512064"/>
          </a:xfrm>
          <a:prstGeom prst="rect">
            <a:avLst/>
          </a:prstGeom>
          <a:solidFill>
            <a:srgbClr val="F5F5F5"/>
          </a:solidFill>
          <a:ln w="3810">
            <a:solidFill>
              <a:srgbClr val="F0F0F0"/>
            </a:solidFill>
            <a:prstDash val="solid"/>
          </a:ln>
        </p:spPr>
        <p:txBody>
          <a:bodyPr/>
          <a:lstStyle/>
          <a:p>
            <a:endParaRPr lang="en-US"/>
          </a:p>
        </p:txBody>
      </p:sp>
      <p:sp>
        <p:nvSpPr>
          <p:cNvPr id="39" name="Text 37"/>
          <p:cNvSpPr/>
          <p:nvPr/>
        </p:nvSpPr>
        <p:spPr>
          <a:xfrm>
            <a:off x="2478024" y="3035808"/>
            <a:ext cx="2633472" cy="512064"/>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LLM_PROVIDER is env-var; any operator can swap to untested model with no approval workflow.</a:t>
            </a:r>
            <a:endParaRPr lang="en-US" sz="850" dirty="0"/>
          </a:p>
        </p:txBody>
      </p:sp>
      <p:sp>
        <p:nvSpPr>
          <p:cNvPr id="40" name="Shape 38"/>
          <p:cNvSpPr/>
          <p:nvPr/>
        </p:nvSpPr>
        <p:spPr>
          <a:xfrm>
            <a:off x="5166360" y="3035808"/>
            <a:ext cx="2606040" cy="512064"/>
          </a:xfrm>
          <a:prstGeom prst="rect">
            <a:avLst/>
          </a:prstGeom>
          <a:solidFill>
            <a:srgbClr val="F5F5F5"/>
          </a:solidFill>
          <a:ln w="3810">
            <a:solidFill>
              <a:srgbClr val="F0F0F0"/>
            </a:solidFill>
            <a:prstDash val="solid"/>
          </a:ln>
        </p:spPr>
        <p:txBody>
          <a:bodyPr/>
          <a:lstStyle/>
          <a:p>
            <a:endParaRPr lang="en-US"/>
          </a:p>
        </p:txBody>
      </p:sp>
      <p:sp>
        <p:nvSpPr>
          <p:cNvPr id="41" name="Text 39"/>
          <p:cNvSpPr/>
          <p:nvPr/>
        </p:nvSpPr>
        <p:spPr>
          <a:xfrm>
            <a:off x="5221224" y="3035808"/>
            <a:ext cx="2496312" cy="512064"/>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governance/model_policy.py — approved registry with risk_level, max_cost, min_accuracy; enforced at init.</a:t>
            </a:r>
            <a:endParaRPr lang="en-US" sz="850" dirty="0"/>
          </a:p>
        </p:txBody>
      </p:sp>
      <p:sp>
        <p:nvSpPr>
          <p:cNvPr id="42" name="Shape 40"/>
          <p:cNvSpPr/>
          <p:nvPr/>
        </p:nvSpPr>
        <p:spPr>
          <a:xfrm>
            <a:off x="7772400" y="3035808"/>
            <a:ext cx="1143000" cy="512064"/>
          </a:xfrm>
          <a:prstGeom prst="rect">
            <a:avLst/>
          </a:prstGeom>
          <a:solidFill>
            <a:srgbClr val="F9A825"/>
          </a:solidFill>
          <a:ln/>
        </p:spPr>
        <p:txBody>
          <a:bodyPr/>
          <a:lstStyle/>
          <a:p>
            <a:endParaRPr lang="en-US"/>
          </a:p>
        </p:txBody>
      </p:sp>
      <p:sp>
        <p:nvSpPr>
          <p:cNvPr id="43" name="Text 41"/>
          <p:cNvSpPr/>
          <p:nvPr/>
        </p:nvSpPr>
        <p:spPr>
          <a:xfrm>
            <a:off x="7772400" y="3035808"/>
            <a:ext cx="1143000" cy="512064"/>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High</a:t>
            </a:r>
            <a:endParaRPr lang="en-US" sz="1000" dirty="0"/>
          </a:p>
        </p:txBody>
      </p:sp>
      <p:sp>
        <p:nvSpPr>
          <p:cNvPr id="44" name="Shape 42"/>
          <p:cNvSpPr/>
          <p:nvPr/>
        </p:nvSpPr>
        <p:spPr>
          <a:xfrm>
            <a:off x="502920" y="3547872"/>
            <a:ext cx="1920240" cy="512064"/>
          </a:xfrm>
          <a:prstGeom prst="rect">
            <a:avLst/>
          </a:prstGeom>
          <a:solidFill>
            <a:srgbClr val="FFFFFF"/>
          </a:solidFill>
          <a:ln w="3810">
            <a:solidFill>
              <a:srgbClr val="F0F0F0"/>
            </a:solidFill>
            <a:prstDash val="solid"/>
          </a:ln>
        </p:spPr>
        <p:txBody>
          <a:bodyPr/>
          <a:lstStyle/>
          <a:p>
            <a:endParaRPr lang="en-US"/>
          </a:p>
        </p:txBody>
      </p:sp>
      <p:sp>
        <p:nvSpPr>
          <p:cNvPr id="45" name="Text 43"/>
          <p:cNvSpPr/>
          <p:nvPr/>
        </p:nvSpPr>
        <p:spPr>
          <a:xfrm>
            <a:off x="557784" y="3547872"/>
            <a:ext cx="1810512" cy="512064"/>
          </a:xfrm>
          <a:prstGeom prst="rect">
            <a:avLst/>
          </a:prstGeom>
          <a:noFill/>
          <a:ln/>
        </p:spPr>
        <p:txBody>
          <a:bodyPr wrap="square" lIns="0" tIns="0" rIns="0" bIns="0" rtlCol="0" anchor="ctr"/>
          <a:lstStyle/>
          <a:p>
            <a:pPr marL="0" indent="0">
              <a:buNone/>
            </a:pPr>
            <a:r>
              <a:rPr lang="en-US" sz="950" b="1" dirty="0">
                <a:solidFill>
                  <a:srgbClr val="1B2A4A"/>
                </a:solidFill>
                <a:latin typeface="Arial" pitchFamily="34" charset="0"/>
                <a:ea typeface="Arial" pitchFamily="34" charset="-122"/>
                <a:cs typeface="Arial" pitchFamily="34" charset="-120"/>
              </a:rPr>
              <a:t>Red-Team Eval Infra</a:t>
            </a:r>
            <a:endParaRPr lang="en-US" sz="950" dirty="0"/>
          </a:p>
        </p:txBody>
      </p:sp>
      <p:sp>
        <p:nvSpPr>
          <p:cNvPr id="46" name="Shape 44"/>
          <p:cNvSpPr/>
          <p:nvPr/>
        </p:nvSpPr>
        <p:spPr>
          <a:xfrm>
            <a:off x="2423160" y="3547872"/>
            <a:ext cx="2743200" cy="512064"/>
          </a:xfrm>
          <a:prstGeom prst="rect">
            <a:avLst/>
          </a:prstGeom>
          <a:solidFill>
            <a:srgbClr val="FFFFFF"/>
          </a:solidFill>
          <a:ln w="3810">
            <a:solidFill>
              <a:srgbClr val="F0F0F0"/>
            </a:solidFill>
            <a:prstDash val="solid"/>
          </a:ln>
        </p:spPr>
        <p:txBody>
          <a:bodyPr/>
          <a:lstStyle/>
          <a:p>
            <a:endParaRPr lang="en-US"/>
          </a:p>
        </p:txBody>
      </p:sp>
      <p:sp>
        <p:nvSpPr>
          <p:cNvPr id="47" name="Text 45"/>
          <p:cNvSpPr/>
          <p:nvPr/>
        </p:nvSpPr>
        <p:spPr>
          <a:xfrm>
            <a:off x="2478024" y="3547872"/>
            <a:ext cx="2633472" cy="512064"/>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benchmark/defense_corpus.py is skeletal. No continuous jailbreak / injection / exfil tests.</a:t>
            </a:r>
            <a:endParaRPr lang="en-US" sz="850" dirty="0"/>
          </a:p>
        </p:txBody>
      </p:sp>
      <p:sp>
        <p:nvSpPr>
          <p:cNvPr id="48" name="Shape 46"/>
          <p:cNvSpPr/>
          <p:nvPr/>
        </p:nvSpPr>
        <p:spPr>
          <a:xfrm>
            <a:off x="5166360" y="3547872"/>
            <a:ext cx="2606040" cy="512064"/>
          </a:xfrm>
          <a:prstGeom prst="rect">
            <a:avLst/>
          </a:prstGeom>
          <a:solidFill>
            <a:srgbClr val="FFFFFF"/>
          </a:solidFill>
          <a:ln w="3810">
            <a:solidFill>
              <a:srgbClr val="F0F0F0"/>
            </a:solidFill>
            <a:prstDash val="solid"/>
          </a:ln>
        </p:spPr>
        <p:txBody>
          <a:bodyPr/>
          <a:lstStyle/>
          <a:p>
            <a:endParaRPr lang="en-US"/>
          </a:p>
        </p:txBody>
      </p:sp>
      <p:sp>
        <p:nvSpPr>
          <p:cNvPr id="49" name="Text 47"/>
          <p:cNvSpPr/>
          <p:nvPr/>
        </p:nvSpPr>
        <p:spPr>
          <a:xfrm>
            <a:off x="5221224" y="3547872"/>
            <a:ext cx="2496312" cy="512064"/>
          </a:xfrm>
          <a:prstGeom prst="rect">
            <a:avLst/>
          </a:prstGeom>
          <a:noFill/>
          <a:ln/>
        </p:spPr>
        <p:txBody>
          <a:bodyPr wrap="square" lIns="0" tIns="0" rIns="0" bIns="0" rtlCol="0" anchor="ctr"/>
          <a:lstStyle/>
          <a:p>
            <a:pPr marL="0" indent="0">
              <a:buNone/>
            </a:pPr>
            <a:r>
              <a:rPr lang="en-US" sz="850" dirty="0">
                <a:solidFill>
                  <a:srgbClr val="333333"/>
                </a:solidFill>
                <a:latin typeface="Arial" pitchFamily="34" charset="0"/>
                <a:ea typeface="Arial" pitchFamily="34" charset="-122"/>
                <a:cs typeface="Arial" pitchFamily="34" charset="-120"/>
              </a:rPr>
              <a:t>benchmark/red_team.py nightly — OWASP LLM Top 10 templates, regression alerts, canary prompts.</a:t>
            </a:r>
            <a:endParaRPr lang="en-US" sz="850" dirty="0"/>
          </a:p>
        </p:txBody>
      </p:sp>
      <p:sp>
        <p:nvSpPr>
          <p:cNvPr id="50" name="Shape 48"/>
          <p:cNvSpPr/>
          <p:nvPr/>
        </p:nvSpPr>
        <p:spPr>
          <a:xfrm>
            <a:off x="7772400" y="3547872"/>
            <a:ext cx="1143000" cy="512064"/>
          </a:xfrm>
          <a:prstGeom prst="rect">
            <a:avLst/>
          </a:prstGeom>
          <a:solidFill>
            <a:srgbClr val="F9A825"/>
          </a:solidFill>
          <a:ln/>
        </p:spPr>
        <p:txBody>
          <a:bodyPr/>
          <a:lstStyle/>
          <a:p>
            <a:endParaRPr lang="en-US"/>
          </a:p>
        </p:txBody>
      </p:sp>
      <p:sp>
        <p:nvSpPr>
          <p:cNvPr id="51" name="Text 49"/>
          <p:cNvSpPr/>
          <p:nvPr/>
        </p:nvSpPr>
        <p:spPr>
          <a:xfrm>
            <a:off x="7772400" y="3547872"/>
            <a:ext cx="1143000" cy="512064"/>
          </a:xfrm>
          <a:prstGeom prst="rect">
            <a:avLst/>
          </a:prstGeom>
          <a:noFill/>
          <a:ln/>
        </p:spPr>
        <p:txBody>
          <a:bodyPr wrap="square" lIns="0" tIns="0" rIns="0" bIns="0" rtlCol="0" anchor="ctr"/>
          <a:lstStyle/>
          <a:p>
            <a:pPr marL="0" indent="0" algn="ctr">
              <a:buNone/>
            </a:pPr>
            <a:r>
              <a:rPr lang="en-US" sz="1000" b="1" dirty="0">
                <a:solidFill>
                  <a:srgbClr val="FFFFFF"/>
                </a:solidFill>
                <a:latin typeface="Arial" pitchFamily="34" charset="0"/>
                <a:ea typeface="Arial" pitchFamily="34" charset="-122"/>
                <a:cs typeface="Arial" pitchFamily="34" charset="-120"/>
              </a:rPr>
              <a:t>High</a:t>
            </a:r>
            <a:endParaRPr lang="en-US" sz="1000" dirty="0"/>
          </a:p>
        </p:txBody>
      </p:sp>
      <p:sp>
        <p:nvSpPr>
          <p:cNvPr id="52" name="Text 50"/>
          <p:cNvSpPr/>
          <p:nvPr/>
        </p:nvSpPr>
        <p:spPr>
          <a:xfrm>
            <a:off x="502920" y="4777740"/>
            <a:ext cx="8138160" cy="228600"/>
          </a:xfrm>
          <a:prstGeom prst="rect">
            <a:avLst/>
          </a:prstGeom>
          <a:noFill/>
          <a:ln/>
        </p:spPr>
        <p:txBody>
          <a:bodyPr wrap="square" lIns="0" tIns="0" rIns="0" bIns="0" rtlCol="0" anchor="ctr"/>
          <a:lstStyle/>
          <a:p>
            <a:pPr marL="0" indent="0">
              <a:buNone/>
            </a:pPr>
            <a:r>
              <a:rPr lang="en-US" sz="900" dirty="0">
                <a:solidFill>
                  <a:srgbClr val="999999"/>
                </a:solidFill>
                <a:latin typeface="Courier New" pitchFamily="34" charset="0"/>
                <a:ea typeface="Courier New" pitchFamily="34" charset="-122"/>
                <a:cs typeface="Courier New" pitchFamily="34" charset="-120"/>
              </a:rPr>
              <a:t>observability/callbacks.py, benchmark/defense_corpus.py, config.py  —  5 compliance &amp; governance gaps</a:t>
            </a:r>
            <a:endParaRPr lang="en-US" sz="900" dirty="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30">
    <p:spTree>
      <p:nvGrpSpPr>
        <p:cNvPr id="1" name=""/>
        <p:cNvGrpSpPr/>
        <p:nvPr/>
      </p:nvGrpSpPr>
      <p:grpSpPr>
        <a:xfrm>
          <a:off x="0" y="0"/>
          <a:ext cx="0" cy="0"/>
          <a:chOff x="0" y="0"/>
          <a:chExt cx="0" cy="0"/>
        </a:xfrm>
      </p:grpSpPr>
      <p:sp>
        <p:nvSpPr>
          <p:cNvPr id="2" name="Text 0"/>
          <p:cNvSpPr/>
          <p:nvPr/>
        </p:nvSpPr>
        <p:spPr>
          <a:xfrm>
            <a:off x="502920" y="274320"/>
            <a:ext cx="8138160" cy="502920"/>
          </a:xfrm>
          <a:prstGeom prst="rect">
            <a:avLst/>
          </a:prstGeom>
          <a:noFill/>
          <a:ln/>
        </p:spPr>
        <p:txBody>
          <a:bodyPr wrap="square" lIns="0" tIns="0" rIns="0" bIns="0" rtlCol="0" anchor="ctr"/>
          <a:lstStyle/>
          <a:p>
            <a:pPr marL="0" indent="0">
              <a:buNone/>
            </a:pPr>
            <a:r>
              <a:rPr lang="en-US" sz="2600" b="1" dirty="0">
                <a:solidFill>
                  <a:srgbClr val="1B2A4A"/>
                </a:solidFill>
                <a:latin typeface="Arial" pitchFamily="34" charset="0"/>
                <a:ea typeface="Arial" pitchFamily="34" charset="-122"/>
                <a:cs typeface="Arial" pitchFamily="34" charset="-120"/>
              </a:rPr>
              <a:t>Enterprise Readiness Matrix — 17 Gaps</a:t>
            </a:r>
            <a:endParaRPr lang="en-US" sz="2600" dirty="0"/>
          </a:p>
        </p:txBody>
      </p:sp>
      <p:sp>
        <p:nvSpPr>
          <p:cNvPr id="3" name="Text 1"/>
          <p:cNvSpPr/>
          <p:nvPr/>
        </p:nvSpPr>
        <p:spPr>
          <a:xfrm>
            <a:off x="502920" y="822960"/>
            <a:ext cx="3931920" cy="219456"/>
          </a:xfrm>
          <a:prstGeom prst="rect">
            <a:avLst/>
          </a:prstGeom>
          <a:noFill/>
          <a:ln/>
        </p:spPr>
        <p:txBody>
          <a:bodyPr wrap="square" lIns="0" tIns="0" rIns="0" bIns="0" rtlCol="0" anchor="ctr"/>
          <a:lstStyle/>
          <a:p>
            <a:pPr marL="0" indent="0">
              <a:buNone/>
            </a:pPr>
            <a:r>
              <a:rPr lang="en-US" sz="1100" b="1" dirty="0">
                <a:solidFill>
                  <a:srgbClr val="1B2A4A"/>
                </a:solidFill>
                <a:latin typeface="Arial" pitchFamily="34" charset="0"/>
                <a:ea typeface="Arial" pitchFamily="34" charset="-122"/>
                <a:cs typeface="Arial" pitchFamily="34" charset="-120"/>
              </a:rPr>
              <a:t>Memory • Routing • Tools</a:t>
            </a:r>
            <a:endParaRPr lang="en-US" sz="1100" dirty="0"/>
          </a:p>
        </p:txBody>
      </p:sp>
      <p:sp>
        <p:nvSpPr>
          <p:cNvPr id="4" name="Shape 2"/>
          <p:cNvSpPr/>
          <p:nvPr/>
        </p:nvSpPr>
        <p:spPr>
          <a:xfrm>
            <a:off x="502920" y="1078992"/>
            <a:ext cx="1920240" cy="237744"/>
          </a:xfrm>
          <a:prstGeom prst="rect">
            <a:avLst/>
          </a:prstGeom>
          <a:solidFill>
            <a:srgbClr val="1B2A4A"/>
          </a:solidFill>
          <a:ln/>
        </p:spPr>
        <p:txBody>
          <a:bodyPr/>
          <a:lstStyle/>
          <a:p>
            <a:endParaRPr lang="en-US"/>
          </a:p>
        </p:txBody>
      </p:sp>
      <p:sp>
        <p:nvSpPr>
          <p:cNvPr id="5" name="Text 3"/>
          <p:cNvSpPr/>
          <p:nvPr/>
        </p:nvSpPr>
        <p:spPr>
          <a:xfrm>
            <a:off x="557784" y="1078992"/>
            <a:ext cx="1810512" cy="237744"/>
          </a:xfrm>
          <a:prstGeom prst="rect">
            <a:avLst/>
          </a:prstGeom>
          <a:noFill/>
          <a:ln/>
        </p:spPr>
        <p:txBody>
          <a:bodyPr wrap="square" lIns="0" tIns="0" rIns="0" bIns="0" rtlCol="0" anchor="ctr"/>
          <a:lstStyle/>
          <a:p>
            <a:pPr marL="0" indent="0">
              <a:buNone/>
            </a:pPr>
            <a:r>
              <a:rPr lang="en-US" sz="850" b="1" dirty="0">
                <a:solidFill>
                  <a:srgbClr val="FFFFFF"/>
                </a:solidFill>
                <a:latin typeface="Arial" pitchFamily="34" charset="0"/>
                <a:ea typeface="Arial" pitchFamily="34" charset="-122"/>
                <a:cs typeface="Arial" pitchFamily="34" charset="-120"/>
              </a:rPr>
              <a:t>Capability Gap</a:t>
            </a:r>
            <a:endParaRPr lang="en-US" sz="850" dirty="0"/>
          </a:p>
        </p:txBody>
      </p:sp>
      <p:sp>
        <p:nvSpPr>
          <p:cNvPr id="6" name="Shape 4"/>
          <p:cNvSpPr/>
          <p:nvPr/>
        </p:nvSpPr>
        <p:spPr>
          <a:xfrm>
            <a:off x="2423160" y="1078992"/>
            <a:ext cx="1325880" cy="237744"/>
          </a:xfrm>
          <a:prstGeom prst="rect">
            <a:avLst/>
          </a:prstGeom>
          <a:solidFill>
            <a:srgbClr val="1B2A4A"/>
          </a:solidFill>
          <a:ln/>
        </p:spPr>
        <p:txBody>
          <a:bodyPr/>
          <a:lstStyle/>
          <a:p>
            <a:endParaRPr lang="en-US"/>
          </a:p>
        </p:txBody>
      </p:sp>
      <p:sp>
        <p:nvSpPr>
          <p:cNvPr id="7" name="Text 5"/>
          <p:cNvSpPr/>
          <p:nvPr/>
        </p:nvSpPr>
        <p:spPr>
          <a:xfrm>
            <a:off x="2478024" y="1078992"/>
            <a:ext cx="1216152" cy="237744"/>
          </a:xfrm>
          <a:prstGeom prst="rect">
            <a:avLst/>
          </a:prstGeom>
          <a:noFill/>
          <a:ln/>
        </p:spPr>
        <p:txBody>
          <a:bodyPr wrap="square" lIns="0" tIns="0" rIns="0" bIns="0" rtlCol="0" anchor="ctr"/>
          <a:lstStyle/>
          <a:p>
            <a:pPr marL="0" indent="0">
              <a:buNone/>
            </a:pPr>
            <a:r>
              <a:rPr lang="en-US" sz="850" b="1" dirty="0">
                <a:solidFill>
                  <a:srgbClr val="FFFFFF"/>
                </a:solidFill>
                <a:latin typeface="Arial" pitchFamily="34" charset="0"/>
                <a:ea typeface="Arial" pitchFamily="34" charset="-122"/>
                <a:cs typeface="Arial" pitchFamily="34" charset="-120"/>
              </a:rPr>
              <a:t>Build Path</a:t>
            </a:r>
            <a:endParaRPr lang="en-US" sz="850" dirty="0"/>
          </a:p>
        </p:txBody>
      </p:sp>
      <p:sp>
        <p:nvSpPr>
          <p:cNvPr id="8" name="Shape 6"/>
          <p:cNvSpPr/>
          <p:nvPr/>
        </p:nvSpPr>
        <p:spPr>
          <a:xfrm>
            <a:off x="3749040" y="1078992"/>
            <a:ext cx="685800" cy="237744"/>
          </a:xfrm>
          <a:prstGeom prst="rect">
            <a:avLst/>
          </a:prstGeom>
          <a:solidFill>
            <a:srgbClr val="1B2A4A"/>
          </a:solidFill>
          <a:ln/>
        </p:spPr>
        <p:txBody>
          <a:bodyPr/>
          <a:lstStyle/>
          <a:p>
            <a:endParaRPr lang="en-US"/>
          </a:p>
        </p:txBody>
      </p:sp>
      <p:sp>
        <p:nvSpPr>
          <p:cNvPr id="9" name="Text 7"/>
          <p:cNvSpPr/>
          <p:nvPr/>
        </p:nvSpPr>
        <p:spPr>
          <a:xfrm>
            <a:off x="3803904" y="1078992"/>
            <a:ext cx="576072" cy="237744"/>
          </a:xfrm>
          <a:prstGeom prst="rect">
            <a:avLst/>
          </a:prstGeom>
          <a:noFill/>
          <a:ln/>
        </p:spPr>
        <p:txBody>
          <a:bodyPr wrap="square" lIns="0" tIns="0" rIns="0" bIns="0" rtlCol="0" anchor="ctr"/>
          <a:lstStyle/>
          <a:p>
            <a:pPr marL="0" indent="0">
              <a:buNone/>
            </a:pPr>
            <a:r>
              <a:rPr lang="en-US" sz="850" b="1" dirty="0">
                <a:solidFill>
                  <a:srgbClr val="FFFFFF"/>
                </a:solidFill>
                <a:latin typeface="Arial" pitchFamily="34" charset="0"/>
                <a:ea typeface="Arial" pitchFamily="34" charset="-122"/>
                <a:cs typeface="Arial" pitchFamily="34" charset="-120"/>
              </a:rPr>
              <a:t>Sev</a:t>
            </a:r>
            <a:endParaRPr lang="en-US" sz="850" dirty="0"/>
          </a:p>
        </p:txBody>
      </p:sp>
      <p:sp>
        <p:nvSpPr>
          <p:cNvPr id="10" name="Shape 8"/>
          <p:cNvSpPr/>
          <p:nvPr/>
        </p:nvSpPr>
        <p:spPr>
          <a:xfrm>
            <a:off x="502920" y="1316736"/>
            <a:ext cx="1920240" cy="256032"/>
          </a:xfrm>
          <a:prstGeom prst="rect">
            <a:avLst/>
          </a:prstGeom>
          <a:solidFill>
            <a:srgbClr val="F5F5F5"/>
          </a:solidFill>
          <a:ln w="3810">
            <a:solidFill>
              <a:srgbClr val="F0F0F0"/>
            </a:solidFill>
            <a:prstDash val="solid"/>
          </a:ln>
        </p:spPr>
        <p:txBody>
          <a:bodyPr/>
          <a:lstStyle/>
          <a:p>
            <a:endParaRPr lang="en-US"/>
          </a:p>
        </p:txBody>
      </p:sp>
      <p:sp>
        <p:nvSpPr>
          <p:cNvPr id="11" name="Text 9"/>
          <p:cNvSpPr/>
          <p:nvPr/>
        </p:nvSpPr>
        <p:spPr>
          <a:xfrm>
            <a:off x="557784" y="1316736"/>
            <a:ext cx="1810512" cy="256032"/>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Memory Conflict Resolution</a:t>
            </a:r>
            <a:endParaRPr lang="en-US" sz="850" dirty="0"/>
          </a:p>
        </p:txBody>
      </p:sp>
      <p:sp>
        <p:nvSpPr>
          <p:cNvPr id="12" name="Shape 10"/>
          <p:cNvSpPr/>
          <p:nvPr/>
        </p:nvSpPr>
        <p:spPr>
          <a:xfrm>
            <a:off x="2423160" y="1316736"/>
            <a:ext cx="1325880" cy="256032"/>
          </a:xfrm>
          <a:prstGeom prst="rect">
            <a:avLst/>
          </a:prstGeom>
          <a:solidFill>
            <a:srgbClr val="F5F5F5"/>
          </a:solidFill>
          <a:ln w="3810">
            <a:solidFill>
              <a:srgbClr val="F0F0F0"/>
            </a:solidFill>
            <a:prstDash val="solid"/>
          </a:ln>
        </p:spPr>
        <p:txBody>
          <a:bodyPr/>
          <a:lstStyle/>
          <a:p>
            <a:endParaRPr lang="en-US"/>
          </a:p>
        </p:txBody>
      </p:sp>
      <p:sp>
        <p:nvSpPr>
          <p:cNvPr id="13" name="Text 11"/>
          <p:cNvSpPr/>
          <p:nvPr/>
        </p:nvSpPr>
        <p:spPr>
          <a:xfrm>
            <a:off x="2468880" y="1316736"/>
            <a:ext cx="1234440" cy="256032"/>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conflict_resolver + merge</a:t>
            </a:r>
            <a:endParaRPr lang="en-US" sz="750" dirty="0"/>
          </a:p>
        </p:txBody>
      </p:sp>
      <p:sp>
        <p:nvSpPr>
          <p:cNvPr id="14" name="Shape 12"/>
          <p:cNvSpPr/>
          <p:nvPr/>
        </p:nvSpPr>
        <p:spPr>
          <a:xfrm>
            <a:off x="3749040" y="1316736"/>
            <a:ext cx="685800" cy="256032"/>
          </a:xfrm>
          <a:prstGeom prst="rect">
            <a:avLst/>
          </a:prstGeom>
          <a:solidFill>
            <a:srgbClr val="F9A825"/>
          </a:solidFill>
          <a:ln/>
        </p:spPr>
        <p:txBody>
          <a:bodyPr/>
          <a:lstStyle/>
          <a:p>
            <a:endParaRPr lang="en-US"/>
          </a:p>
        </p:txBody>
      </p:sp>
      <p:sp>
        <p:nvSpPr>
          <p:cNvPr id="15" name="Text 13"/>
          <p:cNvSpPr/>
          <p:nvPr/>
        </p:nvSpPr>
        <p:spPr>
          <a:xfrm>
            <a:off x="3749040" y="1316736"/>
            <a:ext cx="685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High</a:t>
            </a:r>
            <a:endParaRPr lang="en-US" sz="800" dirty="0"/>
          </a:p>
        </p:txBody>
      </p:sp>
      <p:sp>
        <p:nvSpPr>
          <p:cNvPr id="16" name="Shape 14"/>
          <p:cNvSpPr/>
          <p:nvPr/>
        </p:nvSpPr>
        <p:spPr>
          <a:xfrm>
            <a:off x="502920" y="1572768"/>
            <a:ext cx="1920240" cy="256032"/>
          </a:xfrm>
          <a:prstGeom prst="rect">
            <a:avLst/>
          </a:prstGeom>
          <a:solidFill>
            <a:srgbClr val="FFFFFF"/>
          </a:solidFill>
          <a:ln w="3810">
            <a:solidFill>
              <a:srgbClr val="F0F0F0"/>
            </a:solidFill>
            <a:prstDash val="solid"/>
          </a:ln>
        </p:spPr>
        <p:txBody>
          <a:bodyPr/>
          <a:lstStyle/>
          <a:p>
            <a:endParaRPr lang="en-US"/>
          </a:p>
        </p:txBody>
      </p:sp>
      <p:sp>
        <p:nvSpPr>
          <p:cNvPr id="17" name="Text 15"/>
          <p:cNvSpPr/>
          <p:nvPr/>
        </p:nvSpPr>
        <p:spPr>
          <a:xfrm>
            <a:off x="557784" y="1572768"/>
            <a:ext cx="1810512" cy="256032"/>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Cross-Session Synthesis</a:t>
            </a:r>
            <a:endParaRPr lang="en-US" sz="850" dirty="0"/>
          </a:p>
        </p:txBody>
      </p:sp>
      <p:sp>
        <p:nvSpPr>
          <p:cNvPr id="18" name="Shape 16"/>
          <p:cNvSpPr/>
          <p:nvPr/>
        </p:nvSpPr>
        <p:spPr>
          <a:xfrm>
            <a:off x="2423160" y="1572768"/>
            <a:ext cx="1325880" cy="256032"/>
          </a:xfrm>
          <a:prstGeom prst="rect">
            <a:avLst/>
          </a:prstGeom>
          <a:solidFill>
            <a:srgbClr val="FFFFFF"/>
          </a:solidFill>
          <a:ln w="3810">
            <a:solidFill>
              <a:srgbClr val="F0F0F0"/>
            </a:solidFill>
            <a:prstDash val="solid"/>
          </a:ln>
        </p:spPr>
        <p:txBody>
          <a:bodyPr/>
          <a:lstStyle/>
          <a:p>
            <a:endParaRPr lang="en-US"/>
          </a:p>
        </p:txBody>
      </p:sp>
      <p:sp>
        <p:nvSpPr>
          <p:cNvPr id="19" name="Text 17"/>
          <p:cNvSpPr/>
          <p:nvPr/>
        </p:nvSpPr>
        <p:spPr>
          <a:xfrm>
            <a:off x="2468880" y="1572768"/>
            <a:ext cx="1234440" cy="256032"/>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synthesizer job + facts tbl</a:t>
            </a:r>
            <a:endParaRPr lang="en-US" sz="750" dirty="0"/>
          </a:p>
        </p:txBody>
      </p:sp>
      <p:sp>
        <p:nvSpPr>
          <p:cNvPr id="20" name="Shape 18"/>
          <p:cNvSpPr/>
          <p:nvPr/>
        </p:nvSpPr>
        <p:spPr>
          <a:xfrm>
            <a:off x="3749040" y="1572768"/>
            <a:ext cx="685800" cy="256032"/>
          </a:xfrm>
          <a:prstGeom prst="rect">
            <a:avLst/>
          </a:prstGeom>
          <a:solidFill>
            <a:srgbClr val="F9A825"/>
          </a:solidFill>
          <a:ln/>
        </p:spPr>
        <p:txBody>
          <a:bodyPr/>
          <a:lstStyle/>
          <a:p>
            <a:endParaRPr lang="en-US"/>
          </a:p>
        </p:txBody>
      </p:sp>
      <p:sp>
        <p:nvSpPr>
          <p:cNvPr id="21" name="Text 19"/>
          <p:cNvSpPr/>
          <p:nvPr/>
        </p:nvSpPr>
        <p:spPr>
          <a:xfrm>
            <a:off x="3749040" y="1572768"/>
            <a:ext cx="685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High</a:t>
            </a:r>
            <a:endParaRPr lang="en-US" sz="800" dirty="0"/>
          </a:p>
        </p:txBody>
      </p:sp>
      <p:sp>
        <p:nvSpPr>
          <p:cNvPr id="22" name="Shape 20"/>
          <p:cNvSpPr/>
          <p:nvPr/>
        </p:nvSpPr>
        <p:spPr>
          <a:xfrm>
            <a:off x="502920" y="1828800"/>
            <a:ext cx="1920240" cy="256032"/>
          </a:xfrm>
          <a:prstGeom prst="rect">
            <a:avLst/>
          </a:prstGeom>
          <a:solidFill>
            <a:srgbClr val="F5F5F5"/>
          </a:solidFill>
          <a:ln w="3810">
            <a:solidFill>
              <a:srgbClr val="F0F0F0"/>
            </a:solidFill>
            <a:prstDash val="solid"/>
          </a:ln>
        </p:spPr>
        <p:txBody>
          <a:bodyPr/>
          <a:lstStyle/>
          <a:p>
            <a:endParaRPr lang="en-US"/>
          </a:p>
        </p:txBody>
      </p:sp>
      <p:sp>
        <p:nvSpPr>
          <p:cNvPr id="23" name="Text 21"/>
          <p:cNvSpPr/>
          <p:nvPr/>
        </p:nvSpPr>
        <p:spPr>
          <a:xfrm>
            <a:off x="557784" y="1828800"/>
            <a:ext cx="1810512" cy="256032"/>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Retention &amp; PII Decay</a:t>
            </a:r>
            <a:endParaRPr lang="en-US" sz="850" dirty="0"/>
          </a:p>
        </p:txBody>
      </p:sp>
      <p:sp>
        <p:nvSpPr>
          <p:cNvPr id="24" name="Shape 22"/>
          <p:cNvSpPr/>
          <p:nvPr/>
        </p:nvSpPr>
        <p:spPr>
          <a:xfrm>
            <a:off x="2423160" y="1828800"/>
            <a:ext cx="1325880" cy="256032"/>
          </a:xfrm>
          <a:prstGeom prst="rect">
            <a:avLst/>
          </a:prstGeom>
          <a:solidFill>
            <a:srgbClr val="F5F5F5"/>
          </a:solidFill>
          <a:ln w="3810">
            <a:solidFill>
              <a:srgbClr val="F0F0F0"/>
            </a:solidFill>
            <a:prstDash val="solid"/>
          </a:ln>
        </p:spPr>
        <p:txBody>
          <a:bodyPr/>
          <a:lstStyle/>
          <a:p>
            <a:endParaRPr lang="en-US"/>
          </a:p>
        </p:txBody>
      </p:sp>
      <p:sp>
        <p:nvSpPr>
          <p:cNvPr id="25" name="Text 23"/>
          <p:cNvSpPr/>
          <p:nvPr/>
        </p:nvSpPr>
        <p:spPr>
          <a:xfrm>
            <a:off x="2468880" y="1828800"/>
            <a:ext cx="1234440" cy="256032"/>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retention_policy + TTL</a:t>
            </a:r>
            <a:endParaRPr lang="en-US" sz="750" dirty="0"/>
          </a:p>
        </p:txBody>
      </p:sp>
      <p:sp>
        <p:nvSpPr>
          <p:cNvPr id="26" name="Shape 24"/>
          <p:cNvSpPr/>
          <p:nvPr/>
        </p:nvSpPr>
        <p:spPr>
          <a:xfrm>
            <a:off x="3749040" y="1828800"/>
            <a:ext cx="685800" cy="256032"/>
          </a:xfrm>
          <a:prstGeom prst="rect">
            <a:avLst/>
          </a:prstGeom>
          <a:solidFill>
            <a:srgbClr val="C62828"/>
          </a:solidFill>
          <a:ln/>
        </p:spPr>
        <p:txBody>
          <a:bodyPr/>
          <a:lstStyle/>
          <a:p>
            <a:endParaRPr lang="en-US"/>
          </a:p>
        </p:txBody>
      </p:sp>
      <p:sp>
        <p:nvSpPr>
          <p:cNvPr id="27" name="Text 25"/>
          <p:cNvSpPr/>
          <p:nvPr/>
        </p:nvSpPr>
        <p:spPr>
          <a:xfrm>
            <a:off x="3749040" y="1828800"/>
            <a:ext cx="685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Critical</a:t>
            </a:r>
            <a:endParaRPr lang="en-US" sz="800" dirty="0"/>
          </a:p>
        </p:txBody>
      </p:sp>
      <p:sp>
        <p:nvSpPr>
          <p:cNvPr id="28" name="Shape 26"/>
          <p:cNvSpPr/>
          <p:nvPr/>
        </p:nvSpPr>
        <p:spPr>
          <a:xfrm>
            <a:off x="502920" y="2084832"/>
            <a:ext cx="1920240" cy="256032"/>
          </a:xfrm>
          <a:prstGeom prst="rect">
            <a:avLst/>
          </a:prstGeom>
          <a:solidFill>
            <a:srgbClr val="FFFFFF"/>
          </a:solidFill>
          <a:ln w="3810">
            <a:solidFill>
              <a:srgbClr val="F0F0F0"/>
            </a:solidFill>
            <a:prstDash val="solid"/>
          </a:ln>
        </p:spPr>
        <p:txBody>
          <a:bodyPr/>
          <a:lstStyle/>
          <a:p>
            <a:endParaRPr lang="en-US"/>
          </a:p>
        </p:txBody>
      </p:sp>
      <p:sp>
        <p:nvSpPr>
          <p:cNvPr id="29" name="Text 27"/>
          <p:cNvSpPr/>
          <p:nvPr/>
        </p:nvSpPr>
        <p:spPr>
          <a:xfrm>
            <a:off x="557784" y="2084832"/>
            <a:ext cx="1810512" cy="256032"/>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Cost-Aware Routing</a:t>
            </a:r>
            <a:endParaRPr lang="en-US" sz="850" dirty="0"/>
          </a:p>
        </p:txBody>
      </p:sp>
      <p:sp>
        <p:nvSpPr>
          <p:cNvPr id="30" name="Shape 28"/>
          <p:cNvSpPr/>
          <p:nvPr/>
        </p:nvSpPr>
        <p:spPr>
          <a:xfrm>
            <a:off x="2423160" y="2084832"/>
            <a:ext cx="1325880" cy="256032"/>
          </a:xfrm>
          <a:prstGeom prst="rect">
            <a:avLst/>
          </a:prstGeom>
          <a:solidFill>
            <a:srgbClr val="FFFFFF"/>
          </a:solidFill>
          <a:ln w="3810">
            <a:solidFill>
              <a:srgbClr val="F0F0F0"/>
            </a:solidFill>
            <a:prstDash val="solid"/>
          </a:ln>
        </p:spPr>
        <p:txBody>
          <a:bodyPr/>
          <a:lstStyle/>
          <a:p>
            <a:endParaRPr lang="en-US"/>
          </a:p>
        </p:txBody>
      </p:sp>
      <p:sp>
        <p:nvSpPr>
          <p:cNvPr id="31" name="Text 29"/>
          <p:cNvSpPr/>
          <p:nvPr/>
        </p:nvSpPr>
        <p:spPr>
          <a:xfrm>
            <a:off x="2468880" y="2084832"/>
            <a:ext cx="1234440" cy="256032"/>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router/cost_model.py</a:t>
            </a:r>
            <a:endParaRPr lang="en-US" sz="750" dirty="0"/>
          </a:p>
        </p:txBody>
      </p:sp>
      <p:sp>
        <p:nvSpPr>
          <p:cNvPr id="32" name="Shape 30"/>
          <p:cNvSpPr/>
          <p:nvPr/>
        </p:nvSpPr>
        <p:spPr>
          <a:xfrm>
            <a:off x="3749040" y="2084832"/>
            <a:ext cx="685800" cy="256032"/>
          </a:xfrm>
          <a:prstGeom prst="rect">
            <a:avLst/>
          </a:prstGeom>
          <a:solidFill>
            <a:srgbClr val="F9A825"/>
          </a:solidFill>
          <a:ln/>
        </p:spPr>
        <p:txBody>
          <a:bodyPr/>
          <a:lstStyle/>
          <a:p>
            <a:endParaRPr lang="en-US"/>
          </a:p>
        </p:txBody>
      </p:sp>
      <p:sp>
        <p:nvSpPr>
          <p:cNvPr id="33" name="Text 31"/>
          <p:cNvSpPr/>
          <p:nvPr/>
        </p:nvSpPr>
        <p:spPr>
          <a:xfrm>
            <a:off x="3749040" y="2084832"/>
            <a:ext cx="685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High</a:t>
            </a:r>
            <a:endParaRPr lang="en-US" sz="800" dirty="0"/>
          </a:p>
        </p:txBody>
      </p:sp>
      <p:sp>
        <p:nvSpPr>
          <p:cNvPr id="34" name="Shape 32"/>
          <p:cNvSpPr/>
          <p:nvPr/>
        </p:nvSpPr>
        <p:spPr>
          <a:xfrm>
            <a:off x="502920" y="2340864"/>
            <a:ext cx="1920240" cy="256032"/>
          </a:xfrm>
          <a:prstGeom prst="rect">
            <a:avLst/>
          </a:prstGeom>
          <a:solidFill>
            <a:srgbClr val="F5F5F5"/>
          </a:solidFill>
          <a:ln w="3810">
            <a:solidFill>
              <a:srgbClr val="F0F0F0"/>
            </a:solidFill>
            <a:prstDash val="solid"/>
          </a:ln>
        </p:spPr>
        <p:txBody>
          <a:bodyPr/>
          <a:lstStyle/>
          <a:p>
            <a:endParaRPr lang="en-US"/>
          </a:p>
        </p:txBody>
      </p:sp>
      <p:sp>
        <p:nvSpPr>
          <p:cNvPr id="35" name="Text 33"/>
          <p:cNvSpPr/>
          <p:nvPr/>
        </p:nvSpPr>
        <p:spPr>
          <a:xfrm>
            <a:off x="557784" y="2340864"/>
            <a:ext cx="1810512" cy="256032"/>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Agent Self-Reflection</a:t>
            </a:r>
            <a:endParaRPr lang="en-US" sz="850" dirty="0"/>
          </a:p>
        </p:txBody>
      </p:sp>
      <p:sp>
        <p:nvSpPr>
          <p:cNvPr id="36" name="Shape 34"/>
          <p:cNvSpPr/>
          <p:nvPr/>
        </p:nvSpPr>
        <p:spPr>
          <a:xfrm>
            <a:off x="2423160" y="2340864"/>
            <a:ext cx="1325880" cy="256032"/>
          </a:xfrm>
          <a:prstGeom prst="rect">
            <a:avLst/>
          </a:prstGeom>
          <a:solidFill>
            <a:srgbClr val="F5F5F5"/>
          </a:solidFill>
          <a:ln w="3810">
            <a:solidFill>
              <a:srgbClr val="F0F0F0"/>
            </a:solidFill>
            <a:prstDash val="solid"/>
          </a:ln>
        </p:spPr>
        <p:txBody>
          <a:bodyPr/>
          <a:lstStyle/>
          <a:p>
            <a:endParaRPr lang="en-US"/>
          </a:p>
        </p:txBody>
      </p:sp>
      <p:sp>
        <p:nvSpPr>
          <p:cNvPr id="37" name="Text 35"/>
          <p:cNvSpPr/>
          <p:nvPr/>
        </p:nvSpPr>
        <p:spPr>
          <a:xfrm>
            <a:off x="2468880" y="2340864"/>
            <a:ext cx="1234440" cy="256032"/>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runtime/self_reflect.py</a:t>
            </a:r>
            <a:endParaRPr lang="en-US" sz="750" dirty="0"/>
          </a:p>
        </p:txBody>
      </p:sp>
      <p:sp>
        <p:nvSpPr>
          <p:cNvPr id="38" name="Shape 36"/>
          <p:cNvSpPr/>
          <p:nvPr/>
        </p:nvSpPr>
        <p:spPr>
          <a:xfrm>
            <a:off x="3749040" y="2340864"/>
            <a:ext cx="685800" cy="256032"/>
          </a:xfrm>
          <a:prstGeom prst="rect">
            <a:avLst/>
          </a:prstGeom>
          <a:solidFill>
            <a:srgbClr val="F9A825"/>
          </a:solidFill>
          <a:ln/>
        </p:spPr>
        <p:txBody>
          <a:bodyPr/>
          <a:lstStyle/>
          <a:p>
            <a:endParaRPr lang="en-US"/>
          </a:p>
        </p:txBody>
      </p:sp>
      <p:sp>
        <p:nvSpPr>
          <p:cNvPr id="39" name="Text 37"/>
          <p:cNvSpPr/>
          <p:nvPr/>
        </p:nvSpPr>
        <p:spPr>
          <a:xfrm>
            <a:off x="3749040" y="2340864"/>
            <a:ext cx="685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High</a:t>
            </a:r>
            <a:endParaRPr lang="en-US" sz="800" dirty="0"/>
          </a:p>
        </p:txBody>
      </p:sp>
      <p:sp>
        <p:nvSpPr>
          <p:cNvPr id="40" name="Shape 38"/>
          <p:cNvSpPr/>
          <p:nvPr/>
        </p:nvSpPr>
        <p:spPr>
          <a:xfrm>
            <a:off x="502920" y="2596896"/>
            <a:ext cx="1920240" cy="256032"/>
          </a:xfrm>
          <a:prstGeom prst="rect">
            <a:avLst/>
          </a:prstGeom>
          <a:solidFill>
            <a:srgbClr val="FFFFFF"/>
          </a:solidFill>
          <a:ln w="3810">
            <a:solidFill>
              <a:srgbClr val="F0F0F0"/>
            </a:solidFill>
            <a:prstDash val="solid"/>
          </a:ln>
        </p:spPr>
        <p:txBody>
          <a:bodyPr/>
          <a:lstStyle/>
          <a:p>
            <a:endParaRPr lang="en-US"/>
          </a:p>
        </p:txBody>
      </p:sp>
      <p:sp>
        <p:nvSpPr>
          <p:cNvPr id="41" name="Text 39"/>
          <p:cNvSpPr/>
          <p:nvPr/>
        </p:nvSpPr>
        <p:spPr>
          <a:xfrm>
            <a:off x="557784" y="2596896"/>
            <a:ext cx="1810512" cy="256032"/>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Human-in-the-Loop Escalat.</a:t>
            </a:r>
            <a:endParaRPr lang="en-US" sz="850" dirty="0"/>
          </a:p>
        </p:txBody>
      </p:sp>
      <p:sp>
        <p:nvSpPr>
          <p:cNvPr id="42" name="Shape 40"/>
          <p:cNvSpPr/>
          <p:nvPr/>
        </p:nvSpPr>
        <p:spPr>
          <a:xfrm>
            <a:off x="2423160" y="2596896"/>
            <a:ext cx="1325880" cy="256032"/>
          </a:xfrm>
          <a:prstGeom prst="rect">
            <a:avLst/>
          </a:prstGeom>
          <a:solidFill>
            <a:srgbClr val="FFFFFF"/>
          </a:solidFill>
          <a:ln w="3810">
            <a:solidFill>
              <a:srgbClr val="F0F0F0"/>
            </a:solidFill>
            <a:prstDash val="solid"/>
          </a:ln>
        </p:spPr>
        <p:txBody>
          <a:bodyPr/>
          <a:lstStyle/>
          <a:p>
            <a:endParaRPr lang="en-US"/>
          </a:p>
        </p:txBody>
      </p:sp>
      <p:sp>
        <p:nvSpPr>
          <p:cNvPr id="43" name="Text 41"/>
          <p:cNvSpPr/>
          <p:nvPr/>
        </p:nvSpPr>
        <p:spPr>
          <a:xfrm>
            <a:off x="2468880" y="2596896"/>
            <a:ext cx="1234440" cy="256032"/>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runtime/escalation.py</a:t>
            </a:r>
            <a:endParaRPr lang="en-US" sz="750" dirty="0"/>
          </a:p>
        </p:txBody>
      </p:sp>
      <p:sp>
        <p:nvSpPr>
          <p:cNvPr id="44" name="Shape 42"/>
          <p:cNvSpPr/>
          <p:nvPr/>
        </p:nvSpPr>
        <p:spPr>
          <a:xfrm>
            <a:off x="3749040" y="2596896"/>
            <a:ext cx="685800" cy="256032"/>
          </a:xfrm>
          <a:prstGeom prst="rect">
            <a:avLst/>
          </a:prstGeom>
          <a:solidFill>
            <a:srgbClr val="C62828"/>
          </a:solidFill>
          <a:ln/>
        </p:spPr>
        <p:txBody>
          <a:bodyPr/>
          <a:lstStyle/>
          <a:p>
            <a:endParaRPr lang="en-US"/>
          </a:p>
        </p:txBody>
      </p:sp>
      <p:sp>
        <p:nvSpPr>
          <p:cNvPr id="45" name="Text 43"/>
          <p:cNvSpPr/>
          <p:nvPr/>
        </p:nvSpPr>
        <p:spPr>
          <a:xfrm>
            <a:off x="3749040" y="2596896"/>
            <a:ext cx="685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Critical</a:t>
            </a:r>
            <a:endParaRPr lang="en-US" sz="800" dirty="0"/>
          </a:p>
        </p:txBody>
      </p:sp>
      <p:sp>
        <p:nvSpPr>
          <p:cNvPr id="46" name="Shape 44"/>
          <p:cNvSpPr/>
          <p:nvPr/>
        </p:nvSpPr>
        <p:spPr>
          <a:xfrm>
            <a:off x="502920" y="2852928"/>
            <a:ext cx="1920240" cy="256032"/>
          </a:xfrm>
          <a:prstGeom prst="rect">
            <a:avLst/>
          </a:prstGeom>
          <a:solidFill>
            <a:srgbClr val="F5F5F5"/>
          </a:solidFill>
          <a:ln w="3810">
            <a:solidFill>
              <a:srgbClr val="F0F0F0"/>
            </a:solidFill>
            <a:prstDash val="solid"/>
          </a:ln>
        </p:spPr>
        <p:txBody>
          <a:bodyPr/>
          <a:lstStyle/>
          <a:p>
            <a:endParaRPr lang="en-US"/>
          </a:p>
        </p:txBody>
      </p:sp>
      <p:sp>
        <p:nvSpPr>
          <p:cNvPr id="47" name="Text 45"/>
          <p:cNvSpPr/>
          <p:nvPr/>
        </p:nvSpPr>
        <p:spPr>
          <a:xfrm>
            <a:off x="557784" y="2852928"/>
            <a:ext cx="1810512" cy="256032"/>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Tool Versioning &amp; Pinning</a:t>
            </a:r>
            <a:endParaRPr lang="en-US" sz="850" dirty="0"/>
          </a:p>
        </p:txBody>
      </p:sp>
      <p:sp>
        <p:nvSpPr>
          <p:cNvPr id="48" name="Shape 46"/>
          <p:cNvSpPr/>
          <p:nvPr/>
        </p:nvSpPr>
        <p:spPr>
          <a:xfrm>
            <a:off x="2423160" y="2852928"/>
            <a:ext cx="1325880" cy="256032"/>
          </a:xfrm>
          <a:prstGeom prst="rect">
            <a:avLst/>
          </a:prstGeom>
          <a:solidFill>
            <a:srgbClr val="F5F5F5"/>
          </a:solidFill>
          <a:ln w="3810">
            <a:solidFill>
              <a:srgbClr val="F0F0F0"/>
            </a:solidFill>
            <a:prstDash val="solid"/>
          </a:ln>
        </p:spPr>
        <p:txBody>
          <a:bodyPr/>
          <a:lstStyle/>
          <a:p>
            <a:endParaRPr lang="en-US"/>
          </a:p>
        </p:txBody>
      </p:sp>
      <p:sp>
        <p:nvSpPr>
          <p:cNvPr id="49" name="Text 47"/>
          <p:cNvSpPr/>
          <p:nvPr/>
        </p:nvSpPr>
        <p:spPr>
          <a:xfrm>
            <a:off x="2468880" y="2852928"/>
            <a:ext cx="1234440" cy="256032"/>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version_resolver.py</a:t>
            </a:r>
            <a:endParaRPr lang="en-US" sz="750" dirty="0"/>
          </a:p>
        </p:txBody>
      </p:sp>
      <p:sp>
        <p:nvSpPr>
          <p:cNvPr id="50" name="Shape 48"/>
          <p:cNvSpPr/>
          <p:nvPr/>
        </p:nvSpPr>
        <p:spPr>
          <a:xfrm>
            <a:off x="3749040" y="2852928"/>
            <a:ext cx="685800" cy="256032"/>
          </a:xfrm>
          <a:prstGeom prst="rect">
            <a:avLst/>
          </a:prstGeom>
          <a:solidFill>
            <a:srgbClr val="F9A825"/>
          </a:solidFill>
          <a:ln/>
        </p:spPr>
        <p:txBody>
          <a:bodyPr/>
          <a:lstStyle/>
          <a:p>
            <a:endParaRPr lang="en-US"/>
          </a:p>
        </p:txBody>
      </p:sp>
      <p:sp>
        <p:nvSpPr>
          <p:cNvPr id="51" name="Text 49"/>
          <p:cNvSpPr/>
          <p:nvPr/>
        </p:nvSpPr>
        <p:spPr>
          <a:xfrm>
            <a:off x="3749040" y="2852928"/>
            <a:ext cx="685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High</a:t>
            </a:r>
            <a:endParaRPr lang="en-US" sz="800" dirty="0"/>
          </a:p>
        </p:txBody>
      </p:sp>
      <p:sp>
        <p:nvSpPr>
          <p:cNvPr id="52" name="Shape 50"/>
          <p:cNvSpPr/>
          <p:nvPr/>
        </p:nvSpPr>
        <p:spPr>
          <a:xfrm>
            <a:off x="502920" y="3108960"/>
            <a:ext cx="1920240" cy="256032"/>
          </a:xfrm>
          <a:prstGeom prst="rect">
            <a:avLst/>
          </a:prstGeom>
          <a:solidFill>
            <a:srgbClr val="FFFFFF"/>
          </a:solidFill>
          <a:ln w="3810">
            <a:solidFill>
              <a:srgbClr val="F0F0F0"/>
            </a:solidFill>
            <a:prstDash val="solid"/>
          </a:ln>
        </p:spPr>
        <p:txBody>
          <a:bodyPr/>
          <a:lstStyle/>
          <a:p>
            <a:endParaRPr lang="en-US"/>
          </a:p>
        </p:txBody>
      </p:sp>
      <p:sp>
        <p:nvSpPr>
          <p:cNvPr id="53" name="Text 51"/>
          <p:cNvSpPr/>
          <p:nvPr/>
        </p:nvSpPr>
        <p:spPr>
          <a:xfrm>
            <a:off x="557784" y="3108960"/>
            <a:ext cx="1810512" cy="256032"/>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RBAC→ABAC (▲ partial)</a:t>
            </a:r>
            <a:endParaRPr lang="en-US" sz="850" dirty="0"/>
          </a:p>
        </p:txBody>
      </p:sp>
      <p:sp>
        <p:nvSpPr>
          <p:cNvPr id="54" name="Shape 52"/>
          <p:cNvSpPr/>
          <p:nvPr/>
        </p:nvSpPr>
        <p:spPr>
          <a:xfrm>
            <a:off x="2423160" y="3108960"/>
            <a:ext cx="1325880" cy="256032"/>
          </a:xfrm>
          <a:prstGeom prst="rect">
            <a:avLst/>
          </a:prstGeom>
          <a:solidFill>
            <a:srgbClr val="FFFFFF"/>
          </a:solidFill>
          <a:ln w="3810">
            <a:solidFill>
              <a:srgbClr val="F0F0F0"/>
            </a:solidFill>
            <a:prstDash val="solid"/>
          </a:ln>
        </p:spPr>
        <p:txBody>
          <a:bodyPr/>
          <a:lstStyle/>
          <a:p>
            <a:endParaRPr lang="en-US"/>
          </a:p>
        </p:txBody>
      </p:sp>
      <p:sp>
        <p:nvSpPr>
          <p:cNvPr id="55" name="Text 53"/>
          <p:cNvSpPr/>
          <p:nvPr/>
        </p:nvSpPr>
        <p:spPr>
          <a:xfrm>
            <a:off x="2468880" y="3108960"/>
            <a:ext cx="1234440" cy="256032"/>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authz/service.py + ABAC</a:t>
            </a:r>
            <a:endParaRPr lang="en-US" sz="750" dirty="0"/>
          </a:p>
        </p:txBody>
      </p:sp>
      <p:sp>
        <p:nvSpPr>
          <p:cNvPr id="56" name="Shape 54"/>
          <p:cNvSpPr/>
          <p:nvPr/>
        </p:nvSpPr>
        <p:spPr>
          <a:xfrm>
            <a:off x="3749040" y="3108960"/>
            <a:ext cx="685800" cy="256032"/>
          </a:xfrm>
          <a:prstGeom prst="rect">
            <a:avLst/>
          </a:prstGeom>
          <a:solidFill>
            <a:srgbClr val="C62828"/>
          </a:solidFill>
          <a:ln/>
        </p:spPr>
        <p:txBody>
          <a:bodyPr/>
          <a:lstStyle/>
          <a:p>
            <a:endParaRPr lang="en-US"/>
          </a:p>
        </p:txBody>
      </p:sp>
      <p:sp>
        <p:nvSpPr>
          <p:cNvPr id="57" name="Text 55"/>
          <p:cNvSpPr/>
          <p:nvPr/>
        </p:nvSpPr>
        <p:spPr>
          <a:xfrm>
            <a:off x="3749040" y="3108960"/>
            <a:ext cx="685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Critical</a:t>
            </a:r>
            <a:endParaRPr lang="en-US" sz="800" dirty="0"/>
          </a:p>
        </p:txBody>
      </p:sp>
      <p:sp>
        <p:nvSpPr>
          <p:cNvPr id="58" name="Shape 56"/>
          <p:cNvSpPr/>
          <p:nvPr/>
        </p:nvSpPr>
        <p:spPr>
          <a:xfrm>
            <a:off x="502920" y="3364992"/>
            <a:ext cx="1920240" cy="256032"/>
          </a:xfrm>
          <a:prstGeom prst="rect">
            <a:avLst/>
          </a:prstGeom>
          <a:solidFill>
            <a:srgbClr val="F5F5F5"/>
          </a:solidFill>
          <a:ln w="3810">
            <a:solidFill>
              <a:srgbClr val="F0F0F0"/>
            </a:solidFill>
            <a:prstDash val="solid"/>
          </a:ln>
        </p:spPr>
        <p:txBody>
          <a:bodyPr/>
          <a:lstStyle/>
          <a:p>
            <a:endParaRPr lang="en-US"/>
          </a:p>
        </p:txBody>
      </p:sp>
      <p:sp>
        <p:nvSpPr>
          <p:cNvPr id="59" name="Text 57"/>
          <p:cNvSpPr/>
          <p:nvPr/>
        </p:nvSpPr>
        <p:spPr>
          <a:xfrm>
            <a:off x="557784" y="3364992"/>
            <a:ext cx="1810512" cy="256032"/>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AST Sandbox Analyzer</a:t>
            </a:r>
            <a:endParaRPr lang="en-US" sz="850" dirty="0"/>
          </a:p>
        </p:txBody>
      </p:sp>
      <p:sp>
        <p:nvSpPr>
          <p:cNvPr id="60" name="Shape 58"/>
          <p:cNvSpPr/>
          <p:nvPr/>
        </p:nvSpPr>
        <p:spPr>
          <a:xfrm>
            <a:off x="2423160" y="3364992"/>
            <a:ext cx="1325880" cy="256032"/>
          </a:xfrm>
          <a:prstGeom prst="rect">
            <a:avLst/>
          </a:prstGeom>
          <a:solidFill>
            <a:srgbClr val="F5F5F5"/>
          </a:solidFill>
          <a:ln w="3810">
            <a:solidFill>
              <a:srgbClr val="F0F0F0"/>
            </a:solidFill>
            <a:prstDash val="solid"/>
          </a:ln>
        </p:spPr>
        <p:txBody>
          <a:bodyPr/>
          <a:lstStyle/>
          <a:p>
            <a:endParaRPr lang="en-US"/>
          </a:p>
        </p:txBody>
      </p:sp>
      <p:sp>
        <p:nvSpPr>
          <p:cNvPr id="61" name="Text 59"/>
          <p:cNvSpPr/>
          <p:nvPr/>
        </p:nvSpPr>
        <p:spPr>
          <a:xfrm>
            <a:off x="2468880" y="3364992"/>
            <a:ext cx="1234440" cy="256032"/>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sandbox/code_analyzer.py</a:t>
            </a:r>
            <a:endParaRPr lang="en-US" sz="750" dirty="0"/>
          </a:p>
        </p:txBody>
      </p:sp>
      <p:sp>
        <p:nvSpPr>
          <p:cNvPr id="62" name="Shape 60"/>
          <p:cNvSpPr/>
          <p:nvPr/>
        </p:nvSpPr>
        <p:spPr>
          <a:xfrm>
            <a:off x="3749040" y="3364992"/>
            <a:ext cx="685800" cy="256032"/>
          </a:xfrm>
          <a:prstGeom prst="rect">
            <a:avLst/>
          </a:prstGeom>
          <a:solidFill>
            <a:srgbClr val="C62828"/>
          </a:solidFill>
          <a:ln/>
        </p:spPr>
        <p:txBody>
          <a:bodyPr/>
          <a:lstStyle/>
          <a:p>
            <a:endParaRPr lang="en-US"/>
          </a:p>
        </p:txBody>
      </p:sp>
      <p:sp>
        <p:nvSpPr>
          <p:cNvPr id="63" name="Text 61"/>
          <p:cNvSpPr/>
          <p:nvPr/>
        </p:nvSpPr>
        <p:spPr>
          <a:xfrm>
            <a:off x="3749040" y="3364992"/>
            <a:ext cx="685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Critical</a:t>
            </a:r>
            <a:endParaRPr lang="en-US" sz="800" dirty="0"/>
          </a:p>
        </p:txBody>
      </p:sp>
      <p:sp>
        <p:nvSpPr>
          <p:cNvPr id="64" name="Text 62"/>
          <p:cNvSpPr/>
          <p:nvPr/>
        </p:nvSpPr>
        <p:spPr>
          <a:xfrm>
            <a:off x="4709160" y="822960"/>
            <a:ext cx="3931920" cy="219456"/>
          </a:xfrm>
          <a:prstGeom prst="rect">
            <a:avLst/>
          </a:prstGeom>
          <a:noFill/>
          <a:ln/>
        </p:spPr>
        <p:txBody>
          <a:bodyPr wrap="square" lIns="0" tIns="0" rIns="0" bIns="0" rtlCol="0" anchor="ctr"/>
          <a:lstStyle/>
          <a:p>
            <a:pPr marL="0" indent="0">
              <a:buNone/>
            </a:pPr>
            <a:r>
              <a:rPr lang="en-US" sz="1100" b="1" dirty="0">
                <a:solidFill>
                  <a:srgbClr val="1B2A4A"/>
                </a:solidFill>
                <a:latin typeface="Arial" pitchFamily="34" charset="0"/>
                <a:ea typeface="Arial" pitchFamily="34" charset="-122"/>
                <a:cs typeface="Arial" pitchFamily="34" charset="-120"/>
              </a:rPr>
              <a:t>Skills • Governance • Compliance</a:t>
            </a:r>
            <a:endParaRPr lang="en-US" sz="1100" dirty="0"/>
          </a:p>
        </p:txBody>
      </p:sp>
      <p:sp>
        <p:nvSpPr>
          <p:cNvPr id="65" name="Shape 63"/>
          <p:cNvSpPr/>
          <p:nvPr/>
        </p:nvSpPr>
        <p:spPr>
          <a:xfrm>
            <a:off x="4709160" y="1078992"/>
            <a:ext cx="1920240" cy="237744"/>
          </a:xfrm>
          <a:prstGeom prst="rect">
            <a:avLst/>
          </a:prstGeom>
          <a:solidFill>
            <a:srgbClr val="1B2A4A"/>
          </a:solidFill>
          <a:ln/>
        </p:spPr>
        <p:txBody>
          <a:bodyPr/>
          <a:lstStyle/>
          <a:p>
            <a:endParaRPr lang="en-US"/>
          </a:p>
        </p:txBody>
      </p:sp>
      <p:sp>
        <p:nvSpPr>
          <p:cNvPr id="66" name="Text 64"/>
          <p:cNvSpPr/>
          <p:nvPr/>
        </p:nvSpPr>
        <p:spPr>
          <a:xfrm>
            <a:off x="4764024" y="1078992"/>
            <a:ext cx="1810512" cy="237744"/>
          </a:xfrm>
          <a:prstGeom prst="rect">
            <a:avLst/>
          </a:prstGeom>
          <a:noFill/>
          <a:ln/>
        </p:spPr>
        <p:txBody>
          <a:bodyPr wrap="square" lIns="0" tIns="0" rIns="0" bIns="0" rtlCol="0" anchor="ctr"/>
          <a:lstStyle/>
          <a:p>
            <a:pPr marL="0" indent="0">
              <a:buNone/>
            </a:pPr>
            <a:r>
              <a:rPr lang="en-US" sz="850" b="1" dirty="0">
                <a:solidFill>
                  <a:srgbClr val="FFFFFF"/>
                </a:solidFill>
                <a:latin typeface="Arial" pitchFamily="34" charset="0"/>
                <a:ea typeface="Arial" pitchFamily="34" charset="-122"/>
                <a:cs typeface="Arial" pitchFamily="34" charset="-120"/>
              </a:rPr>
              <a:t>Capability Gap</a:t>
            </a:r>
            <a:endParaRPr lang="en-US" sz="850" dirty="0"/>
          </a:p>
        </p:txBody>
      </p:sp>
      <p:sp>
        <p:nvSpPr>
          <p:cNvPr id="67" name="Shape 65"/>
          <p:cNvSpPr/>
          <p:nvPr/>
        </p:nvSpPr>
        <p:spPr>
          <a:xfrm>
            <a:off x="6629400" y="1078992"/>
            <a:ext cx="1325880" cy="237744"/>
          </a:xfrm>
          <a:prstGeom prst="rect">
            <a:avLst/>
          </a:prstGeom>
          <a:solidFill>
            <a:srgbClr val="1B2A4A"/>
          </a:solidFill>
          <a:ln/>
        </p:spPr>
        <p:txBody>
          <a:bodyPr/>
          <a:lstStyle/>
          <a:p>
            <a:endParaRPr lang="en-US"/>
          </a:p>
        </p:txBody>
      </p:sp>
      <p:sp>
        <p:nvSpPr>
          <p:cNvPr id="68" name="Text 66"/>
          <p:cNvSpPr/>
          <p:nvPr/>
        </p:nvSpPr>
        <p:spPr>
          <a:xfrm>
            <a:off x="6684264" y="1078992"/>
            <a:ext cx="1216152" cy="237744"/>
          </a:xfrm>
          <a:prstGeom prst="rect">
            <a:avLst/>
          </a:prstGeom>
          <a:noFill/>
          <a:ln/>
        </p:spPr>
        <p:txBody>
          <a:bodyPr wrap="square" lIns="0" tIns="0" rIns="0" bIns="0" rtlCol="0" anchor="ctr"/>
          <a:lstStyle/>
          <a:p>
            <a:pPr marL="0" indent="0">
              <a:buNone/>
            </a:pPr>
            <a:r>
              <a:rPr lang="en-US" sz="850" b="1" dirty="0">
                <a:solidFill>
                  <a:srgbClr val="FFFFFF"/>
                </a:solidFill>
                <a:latin typeface="Arial" pitchFamily="34" charset="0"/>
                <a:ea typeface="Arial" pitchFamily="34" charset="-122"/>
                <a:cs typeface="Arial" pitchFamily="34" charset="-120"/>
              </a:rPr>
              <a:t>Build Path</a:t>
            </a:r>
            <a:endParaRPr lang="en-US" sz="850" dirty="0"/>
          </a:p>
        </p:txBody>
      </p:sp>
      <p:sp>
        <p:nvSpPr>
          <p:cNvPr id="69" name="Shape 67"/>
          <p:cNvSpPr/>
          <p:nvPr/>
        </p:nvSpPr>
        <p:spPr>
          <a:xfrm>
            <a:off x="7955280" y="1078992"/>
            <a:ext cx="685800" cy="237744"/>
          </a:xfrm>
          <a:prstGeom prst="rect">
            <a:avLst/>
          </a:prstGeom>
          <a:solidFill>
            <a:srgbClr val="1B2A4A"/>
          </a:solidFill>
          <a:ln/>
        </p:spPr>
        <p:txBody>
          <a:bodyPr/>
          <a:lstStyle/>
          <a:p>
            <a:endParaRPr lang="en-US"/>
          </a:p>
        </p:txBody>
      </p:sp>
      <p:sp>
        <p:nvSpPr>
          <p:cNvPr id="70" name="Text 68"/>
          <p:cNvSpPr/>
          <p:nvPr/>
        </p:nvSpPr>
        <p:spPr>
          <a:xfrm>
            <a:off x="8010144" y="1078992"/>
            <a:ext cx="576072" cy="237744"/>
          </a:xfrm>
          <a:prstGeom prst="rect">
            <a:avLst/>
          </a:prstGeom>
          <a:noFill/>
          <a:ln/>
        </p:spPr>
        <p:txBody>
          <a:bodyPr wrap="square" lIns="0" tIns="0" rIns="0" bIns="0" rtlCol="0" anchor="ctr"/>
          <a:lstStyle/>
          <a:p>
            <a:pPr marL="0" indent="0">
              <a:buNone/>
            </a:pPr>
            <a:r>
              <a:rPr lang="en-US" sz="850" b="1" dirty="0">
                <a:solidFill>
                  <a:srgbClr val="FFFFFF"/>
                </a:solidFill>
                <a:latin typeface="Arial" pitchFamily="34" charset="0"/>
                <a:ea typeface="Arial" pitchFamily="34" charset="-122"/>
                <a:cs typeface="Arial" pitchFamily="34" charset="-120"/>
              </a:rPr>
              <a:t>Sev</a:t>
            </a:r>
            <a:endParaRPr lang="en-US" sz="850" dirty="0"/>
          </a:p>
        </p:txBody>
      </p:sp>
      <p:sp>
        <p:nvSpPr>
          <p:cNvPr id="71" name="Shape 69"/>
          <p:cNvSpPr/>
          <p:nvPr/>
        </p:nvSpPr>
        <p:spPr>
          <a:xfrm>
            <a:off x="4709160" y="1316736"/>
            <a:ext cx="1920240" cy="256032"/>
          </a:xfrm>
          <a:prstGeom prst="rect">
            <a:avLst/>
          </a:prstGeom>
          <a:solidFill>
            <a:srgbClr val="F5F5F5"/>
          </a:solidFill>
          <a:ln w="3810">
            <a:solidFill>
              <a:srgbClr val="F0F0F0"/>
            </a:solidFill>
            <a:prstDash val="solid"/>
          </a:ln>
        </p:spPr>
        <p:txBody>
          <a:bodyPr/>
          <a:lstStyle/>
          <a:p>
            <a:endParaRPr lang="en-US"/>
          </a:p>
        </p:txBody>
      </p:sp>
      <p:sp>
        <p:nvSpPr>
          <p:cNvPr id="72" name="Text 70"/>
          <p:cNvSpPr/>
          <p:nvPr/>
        </p:nvSpPr>
        <p:spPr>
          <a:xfrm>
            <a:off x="4764024" y="1316736"/>
            <a:ext cx="1810512" cy="256032"/>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Cryptographic Signing</a:t>
            </a:r>
            <a:endParaRPr lang="en-US" sz="850" dirty="0"/>
          </a:p>
        </p:txBody>
      </p:sp>
      <p:sp>
        <p:nvSpPr>
          <p:cNvPr id="73" name="Shape 71"/>
          <p:cNvSpPr/>
          <p:nvPr/>
        </p:nvSpPr>
        <p:spPr>
          <a:xfrm>
            <a:off x="6629400" y="1316736"/>
            <a:ext cx="1325880" cy="256032"/>
          </a:xfrm>
          <a:prstGeom prst="rect">
            <a:avLst/>
          </a:prstGeom>
          <a:solidFill>
            <a:srgbClr val="F5F5F5"/>
          </a:solidFill>
          <a:ln w="3810">
            <a:solidFill>
              <a:srgbClr val="F0F0F0"/>
            </a:solidFill>
            <a:prstDash val="solid"/>
          </a:ln>
        </p:spPr>
        <p:txBody>
          <a:bodyPr/>
          <a:lstStyle/>
          <a:p>
            <a:endParaRPr lang="en-US"/>
          </a:p>
        </p:txBody>
      </p:sp>
      <p:sp>
        <p:nvSpPr>
          <p:cNvPr id="74" name="Text 72"/>
          <p:cNvSpPr/>
          <p:nvPr/>
        </p:nvSpPr>
        <p:spPr>
          <a:xfrm>
            <a:off x="6675120" y="1316736"/>
            <a:ext cx="1234440" cy="256032"/>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skills/signing.py + keys</a:t>
            </a:r>
            <a:endParaRPr lang="en-US" sz="750" dirty="0"/>
          </a:p>
        </p:txBody>
      </p:sp>
      <p:sp>
        <p:nvSpPr>
          <p:cNvPr id="75" name="Shape 73"/>
          <p:cNvSpPr/>
          <p:nvPr/>
        </p:nvSpPr>
        <p:spPr>
          <a:xfrm>
            <a:off x="7955280" y="1316736"/>
            <a:ext cx="685800" cy="256032"/>
          </a:xfrm>
          <a:prstGeom prst="rect">
            <a:avLst/>
          </a:prstGeom>
          <a:solidFill>
            <a:srgbClr val="C62828"/>
          </a:solidFill>
          <a:ln/>
        </p:spPr>
        <p:txBody>
          <a:bodyPr/>
          <a:lstStyle/>
          <a:p>
            <a:endParaRPr lang="en-US"/>
          </a:p>
        </p:txBody>
      </p:sp>
      <p:sp>
        <p:nvSpPr>
          <p:cNvPr id="76" name="Text 74"/>
          <p:cNvSpPr/>
          <p:nvPr/>
        </p:nvSpPr>
        <p:spPr>
          <a:xfrm>
            <a:off x="7955280" y="1316736"/>
            <a:ext cx="685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Critical</a:t>
            </a:r>
            <a:endParaRPr lang="en-US" sz="800" dirty="0"/>
          </a:p>
        </p:txBody>
      </p:sp>
      <p:sp>
        <p:nvSpPr>
          <p:cNvPr id="77" name="Shape 75"/>
          <p:cNvSpPr/>
          <p:nvPr/>
        </p:nvSpPr>
        <p:spPr>
          <a:xfrm>
            <a:off x="4709160" y="1572768"/>
            <a:ext cx="1920240" cy="256032"/>
          </a:xfrm>
          <a:prstGeom prst="rect">
            <a:avLst/>
          </a:prstGeom>
          <a:solidFill>
            <a:srgbClr val="FFFFFF"/>
          </a:solidFill>
          <a:ln w="3810">
            <a:solidFill>
              <a:srgbClr val="F0F0F0"/>
            </a:solidFill>
            <a:prstDash val="solid"/>
          </a:ln>
        </p:spPr>
        <p:txBody>
          <a:bodyPr/>
          <a:lstStyle/>
          <a:p>
            <a:endParaRPr lang="en-US"/>
          </a:p>
        </p:txBody>
      </p:sp>
      <p:sp>
        <p:nvSpPr>
          <p:cNvPr id="78" name="Text 76"/>
          <p:cNvSpPr/>
          <p:nvPr/>
        </p:nvSpPr>
        <p:spPr>
          <a:xfrm>
            <a:off x="4764024" y="1572768"/>
            <a:ext cx="1810512" cy="256032"/>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Prompt Versioning</a:t>
            </a:r>
            <a:endParaRPr lang="en-US" sz="850" dirty="0"/>
          </a:p>
        </p:txBody>
      </p:sp>
      <p:sp>
        <p:nvSpPr>
          <p:cNvPr id="79" name="Shape 77"/>
          <p:cNvSpPr/>
          <p:nvPr/>
        </p:nvSpPr>
        <p:spPr>
          <a:xfrm>
            <a:off x="6629400" y="1572768"/>
            <a:ext cx="1325880" cy="256032"/>
          </a:xfrm>
          <a:prstGeom prst="rect">
            <a:avLst/>
          </a:prstGeom>
          <a:solidFill>
            <a:srgbClr val="FFFFFF"/>
          </a:solidFill>
          <a:ln w="3810">
            <a:solidFill>
              <a:srgbClr val="F0F0F0"/>
            </a:solidFill>
            <a:prstDash val="solid"/>
          </a:ln>
        </p:spPr>
        <p:txBody>
          <a:bodyPr/>
          <a:lstStyle/>
          <a:p>
            <a:endParaRPr lang="en-US"/>
          </a:p>
        </p:txBody>
      </p:sp>
      <p:sp>
        <p:nvSpPr>
          <p:cNvPr id="80" name="Text 78"/>
          <p:cNvSpPr/>
          <p:nvPr/>
        </p:nvSpPr>
        <p:spPr>
          <a:xfrm>
            <a:off x="6675120" y="1572768"/>
            <a:ext cx="1234440" cy="256032"/>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prompts/registry.py</a:t>
            </a:r>
            <a:endParaRPr lang="en-US" sz="750" dirty="0"/>
          </a:p>
        </p:txBody>
      </p:sp>
      <p:sp>
        <p:nvSpPr>
          <p:cNvPr id="81" name="Shape 79"/>
          <p:cNvSpPr/>
          <p:nvPr/>
        </p:nvSpPr>
        <p:spPr>
          <a:xfrm>
            <a:off x="7955280" y="1572768"/>
            <a:ext cx="685800" cy="256032"/>
          </a:xfrm>
          <a:prstGeom prst="rect">
            <a:avLst/>
          </a:prstGeom>
          <a:solidFill>
            <a:srgbClr val="F9A825"/>
          </a:solidFill>
          <a:ln/>
        </p:spPr>
        <p:txBody>
          <a:bodyPr/>
          <a:lstStyle/>
          <a:p>
            <a:endParaRPr lang="en-US"/>
          </a:p>
        </p:txBody>
      </p:sp>
      <p:sp>
        <p:nvSpPr>
          <p:cNvPr id="82" name="Text 80"/>
          <p:cNvSpPr/>
          <p:nvPr/>
        </p:nvSpPr>
        <p:spPr>
          <a:xfrm>
            <a:off x="7955280" y="1572768"/>
            <a:ext cx="685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High</a:t>
            </a:r>
            <a:endParaRPr lang="en-US" sz="800" dirty="0"/>
          </a:p>
        </p:txBody>
      </p:sp>
      <p:sp>
        <p:nvSpPr>
          <p:cNvPr id="83" name="Shape 81"/>
          <p:cNvSpPr/>
          <p:nvPr/>
        </p:nvSpPr>
        <p:spPr>
          <a:xfrm>
            <a:off x="4709160" y="1828800"/>
            <a:ext cx="1920240" cy="256032"/>
          </a:xfrm>
          <a:prstGeom prst="rect">
            <a:avLst/>
          </a:prstGeom>
          <a:solidFill>
            <a:srgbClr val="F5F5F5"/>
          </a:solidFill>
          <a:ln w="3810">
            <a:solidFill>
              <a:srgbClr val="F0F0F0"/>
            </a:solidFill>
            <a:prstDash val="solid"/>
          </a:ln>
        </p:spPr>
        <p:txBody>
          <a:bodyPr/>
          <a:lstStyle/>
          <a:p>
            <a:endParaRPr lang="en-US"/>
          </a:p>
        </p:txBody>
      </p:sp>
      <p:sp>
        <p:nvSpPr>
          <p:cNvPr id="84" name="Text 82"/>
          <p:cNvSpPr/>
          <p:nvPr/>
        </p:nvSpPr>
        <p:spPr>
          <a:xfrm>
            <a:off x="4764024" y="1828800"/>
            <a:ext cx="1810512" cy="256032"/>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Structured Output Guards</a:t>
            </a:r>
            <a:endParaRPr lang="en-US" sz="850" dirty="0"/>
          </a:p>
        </p:txBody>
      </p:sp>
      <p:sp>
        <p:nvSpPr>
          <p:cNvPr id="85" name="Shape 83"/>
          <p:cNvSpPr/>
          <p:nvPr/>
        </p:nvSpPr>
        <p:spPr>
          <a:xfrm>
            <a:off x="6629400" y="1828800"/>
            <a:ext cx="1325880" cy="256032"/>
          </a:xfrm>
          <a:prstGeom prst="rect">
            <a:avLst/>
          </a:prstGeom>
          <a:solidFill>
            <a:srgbClr val="F5F5F5"/>
          </a:solidFill>
          <a:ln w="3810">
            <a:solidFill>
              <a:srgbClr val="F0F0F0"/>
            </a:solidFill>
            <a:prstDash val="solid"/>
          </a:ln>
        </p:spPr>
        <p:txBody>
          <a:bodyPr/>
          <a:lstStyle/>
          <a:p>
            <a:endParaRPr lang="en-US"/>
          </a:p>
        </p:txBody>
      </p:sp>
      <p:sp>
        <p:nvSpPr>
          <p:cNvPr id="86" name="Text 84"/>
          <p:cNvSpPr/>
          <p:nvPr/>
        </p:nvSpPr>
        <p:spPr>
          <a:xfrm>
            <a:off x="6675120" y="1828800"/>
            <a:ext cx="1234440" cy="256032"/>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runtime/guardrails.py</a:t>
            </a:r>
            <a:endParaRPr lang="en-US" sz="750" dirty="0"/>
          </a:p>
        </p:txBody>
      </p:sp>
      <p:sp>
        <p:nvSpPr>
          <p:cNvPr id="87" name="Shape 85"/>
          <p:cNvSpPr/>
          <p:nvPr/>
        </p:nvSpPr>
        <p:spPr>
          <a:xfrm>
            <a:off x="7955280" y="1828800"/>
            <a:ext cx="685800" cy="256032"/>
          </a:xfrm>
          <a:prstGeom prst="rect">
            <a:avLst/>
          </a:prstGeom>
          <a:solidFill>
            <a:srgbClr val="F9A825"/>
          </a:solidFill>
          <a:ln/>
        </p:spPr>
        <p:txBody>
          <a:bodyPr/>
          <a:lstStyle/>
          <a:p>
            <a:endParaRPr lang="en-US"/>
          </a:p>
        </p:txBody>
      </p:sp>
      <p:sp>
        <p:nvSpPr>
          <p:cNvPr id="88" name="Text 86"/>
          <p:cNvSpPr/>
          <p:nvPr/>
        </p:nvSpPr>
        <p:spPr>
          <a:xfrm>
            <a:off x="7955280" y="1828800"/>
            <a:ext cx="685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High</a:t>
            </a:r>
            <a:endParaRPr lang="en-US" sz="800" dirty="0"/>
          </a:p>
        </p:txBody>
      </p:sp>
      <p:sp>
        <p:nvSpPr>
          <p:cNvPr id="89" name="Shape 87"/>
          <p:cNvSpPr/>
          <p:nvPr/>
        </p:nvSpPr>
        <p:spPr>
          <a:xfrm>
            <a:off x="4709160" y="2084832"/>
            <a:ext cx="1920240" cy="256032"/>
          </a:xfrm>
          <a:prstGeom prst="rect">
            <a:avLst/>
          </a:prstGeom>
          <a:solidFill>
            <a:srgbClr val="FFFFFF"/>
          </a:solidFill>
          <a:ln w="3810">
            <a:solidFill>
              <a:srgbClr val="F0F0F0"/>
            </a:solidFill>
            <a:prstDash val="solid"/>
          </a:ln>
        </p:spPr>
        <p:txBody>
          <a:bodyPr/>
          <a:lstStyle/>
          <a:p>
            <a:endParaRPr lang="en-US"/>
          </a:p>
        </p:txBody>
      </p:sp>
      <p:sp>
        <p:nvSpPr>
          <p:cNvPr id="90" name="Text 88"/>
          <p:cNvSpPr/>
          <p:nvPr/>
        </p:nvSpPr>
        <p:spPr>
          <a:xfrm>
            <a:off x="4764024" y="2084832"/>
            <a:ext cx="1810512" cy="256032"/>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Cost Attribution</a:t>
            </a:r>
            <a:endParaRPr lang="en-US" sz="850" dirty="0"/>
          </a:p>
        </p:txBody>
      </p:sp>
      <p:sp>
        <p:nvSpPr>
          <p:cNvPr id="91" name="Shape 89"/>
          <p:cNvSpPr/>
          <p:nvPr/>
        </p:nvSpPr>
        <p:spPr>
          <a:xfrm>
            <a:off x="6629400" y="2084832"/>
            <a:ext cx="1325880" cy="256032"/>
          </a:xfrm>
          <a:prstGeom prst="rect">
            <a:avLst/>
          </a:prstGeom>
          <a:solidFill>
            <a:srgbClr val="FFFFFF"/>
          </a:solidFill>
          <a:ln w="3810">
            <a:solidFill>
              <a:srgbClr val="F0F0F0"/>
            </a:solidFill>
            <a:prstDash val="solid"/>
          </a:ln>
        </p:spPr>
        <p:txBody>
          <a:bodyPr/>
          <a:lstStyle/>
          <a:p>
            <a:endParaRPr lang="en-US"/>
          </a:p>
        </p:txBody>
      </p:sp>
      <p:sp>
        <p:nvSpPr>
          <p:cNvPr id="92" name="Text 90"/>
          <p:cNvSpPr/>
          <p:nvPr/>
        </p:nvSpPr>
        <p:spPr>
          <a:xfrm>
            <a:off x="6675120" y="2084832"/>
            <a:ext cx="1234440" cy="256032"/>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observability/cost_tracker</a:t>
            </a:r>
            <a:endParaRPr lang="en-US" sz="750" dirty="0"/>
          </a:p>
        </p:txBody>
      </p:sp>
      <p:sp>
        <p:nvSpPr>
          <p:cNvPr id="93" name="Shape 91"/>
          <p:cNvSpPr/>
          <p:nvPr/>
        </p:nvSpPr>
        <p:spPr>
          <a:xfrm>
            <a:off x="7955280" y="2084832"/>
            <a:ext cx="685800" cy="256032"/>
          </a:xfrm>
          <a:prstGeom prst="rect">
            <a:avLst/>
          </a:prstGeom>
          <a:solidFill>
            <a:srgbClr val="C62828"/>
          </a:solidFill>
          <a:ln/>
        </p:spPr>
        <p:txBody>
          <a:bodyPr/>
          <a:lstStyle/>
          <a:p>
            <a:endParaRPr lang="en-US"/>
          </a:p>
        </p:txBody>
      </p:sp>
      <p:sp>
        <p:nvSpPr>
          <p:cNvPr id="94" name="Text 92"/>
          <p:cNvSpPr/>
          <p:nvPr/>
        </p:nvSpPr>
        <p:spPr>
          <a:xfrm>
            <a:off x="7955280" y="2084832"/>
            <a:ext cx="685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Critical</a:t>
            </a:r>
            <a:endParaRPr lang="en-US" sz="800" dirty="0"/>
          </a:p>
        </p:txBody>
      </p:sp>
      <p:sp>
        <p:nvSpPr>
          <p:cNvPr id="95" name="Shape 93"/>
          <p:cNvSpPr/>
          <p:nvPr/>
        </p:nvSpPr>
        <p:spPr>
          <a:xfrm>
            <a:off x="4709160" y="2340864"/>
            <a:ext cx="1920240" cy="256032"/>
          </a:xfrm>
          <a:prstGeom prst="rect">
            <a:avLst/>
          </a:prstGeom>
          <a:solidFill>
            <a:srgbClr val="F5F5F5"/>
          </a:solidFill>
          <a:ln w="3810">
            <a:solidFill>
              <a:srgbClr val="F0F0F0"/>
            </a:solidFill>
            <a:prstDash val="solid"/>
          </a:ln>
        </p:spPr>
        <p:txBody>
          <a:bodyPr/>
          <a:lstStyle/>
          <a:p>
            <a:endParaRPr lang="en-US"/>
          </a:p>
        </p:txBody>
      </p:sp>
      <p:sp>
        <p:nvSpPr>
          <p:cNvPr id="96" name="Text 94"/>
          <p:cNvSpPr/>
          <p:nvPr/>
        </p:nvSpPr>
        <p:spPr>
          <a:xfrm>
            <a:off x="4764024" y="2340864"/>
            <a:ext cx="1810512" cy="256032"/>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Immutable Audit Log</a:t>
            </a:r>
            <a:endParaRPr lang="en-US" sz="850" dirty="0"/>
          </a:p>
        </p:txBody>
      </p:sp>
      <p:sp>
        <p:nvSpPr>
          <p:cNvPr id="97" name="Shape 95"/>
          <p:cNvSpPr/>
          <p:nvPr/>
        </p:nvSpPr>
        <p:spPr>
          <a:xfrm>
            <a:off x="6629400" y="2340864"/>
            <a:ext cx="1325880" cy="256032"/>
          </a:xfrm>
          <a:prstGeom prst="rect">
            <a:avLst/>
          </a:prstGeom>
          <a:solidFill>
            <a:srgbClr val="F5F5F5"/>
          </a:solidFill>
          <a:ln w="3810">
            <a:solidFill>
              <a:srgbClr val="F0F0F0"/>
            </a:solidFill>
            <a:prstDash val="solid"/>
          </a:ln>
        </p:spPr>
        <p:txBody>
          <a:bodyPr/>
          <a:lstStyle/>
          <a:p>
            <a:endParaRPr lang="en-US"/>
          </a:p>
        </p:txBody>
      </p:sp>
      <p:sp>
        <p:nvSpPr>
          <p:cNvPr id="98" name="Text 96"/>
          <p:cNvSpPr/>
          <p:nvPr/>
        </p:nvSpPr>
        <p:spPr>
          <a:xfrm>
            <a:off x="6675120" y="2340864"/>
            <a:ext cx="1234440" cy="256032"/>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audit_log.py + S3 archive</a:t>
            </a:r>
            <a:endParaRPr lang="en-US" sz="750" dirty="0"/>
          </a:p>
        </p:txBody>
      </p:sp>
      <p:sp>
        <p:nvSpPr>
          <p:cNvPr id="99" name="Shape 97"/>
          <p:cNvSpPr/>
          <p:nvPr/>
        </p:nvSpPr>
        <p:spPr>
          <a:xfrm>
            <a:off x="7955280" y="2340864"/>
            <a:ext cx="685800" cy="256032"/>
          </a:xfrm>
          <a:prstGeom prst="rect">
            <a:avLst/>
          </a:prstGeom>
          <a:solidFill>
            <a:srgbClr val="C62828"/>
          </a:solidFill>
          <a:ln/>
        </p:spPr>
        <p:txBody>
          <a:bodyPr/>
          <a:lstStyle/>
          <a:p>
            <a:endParaRPr lang="en-US"/>
          </a:p>
        </p:txBody>
      </p:sp>
      <p:sp>
        <p:nvSpPr>
          <p:cNvPr id="100" name="Text 98"/>
          <p:cNvSpPr/>
          <p:nvPr/>
        </p:nvSpPr>
        <p:spPr>
          <a:xfrm>
            <a:off x="7955280" y="2340864"/>
            <a:ext cx="685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Critical</a:t>
            </a:r>
            <a:endParaRPr lang="en-US" sz="800" dirty="0"/>
          </a:p>
        </p:txBody>
      </p:sp>
      <p:sp>
        <p:nvSpPr>
          <p:cNvPr id="101" name="Shape 99"/>
          <p:cNvSpPr/>
          <p:nvPr/>
        </p:nvSpPr>
        <p:spPr>
          <a:xfrm>
            <a:off x="4709160" y="2596896"/>
            <a:ext cx="1920240" cy="256032"/>
          </a:xfrm>
          <a:prstGeom prst="rect">
            <a:avLst/>
          </a:prstGeom>
          <a:solidFill>
            <a:srgbClr val="FFFFFF"/>
          </a:solidFill>
          <a:ln w="3810">
            <a:solidFill>
              <a:srgbClr val="F0F0F0"/>
            </a:solidFill>
            <a:prstDash val="solid"/>
          </a:ln>
        </p:spPr>
        <p:txBody>
          <a:bodyPr/>
          <a:lstStyle/>
          <a:p>
            <a:endParaRPr lang="en-US"/>
          </a:p>
        </p:txBody>
      </p:sp>
      <p:sp>
        <p:nvSpPr>
          <p:cNvPr id="102" name="Text 100"/>
          <p:cNvSpPr/>
          <p:nvPr/>
        </p:nvSpPr>
        <p:spPr>
          <a:xfrm>
            <a:off x="4764024" y="2596896"/>
            <a:ext cx="1810512" cy="256032"/>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PII Classifier &amp; Redact</a:t>
            </a:r>
            <a:endParaRPr lang="en-US" sz="850" dirty="0"/>
          </a:p>
        </p:txBody>
      </p:sp>
      <p:sp>
        <p:nvSpPr>
          <p:cNvPr id="103" name="Shape 101"/>
          <p:cNvSpPr/>
          <p:nvPr/>
        </p:nvSpPr>
        <p:spPr>
          <a:xfrm>
            <a:off x="6629400" y="2596896"/>
            <a:ext cx="1325880" cy="256032"/>
          </a:xfrm>
          <a:prstGeom prst="rect">
            <a:avLst/>
          </a:prstGeom>
          <a:solidFill>
            <a:srgbClr val="FFFFFF"/>
          </a:solidFill>
          <a:ln w="3810">
            <a:solidFill>
              <a:srgbClr val="F0F0F0"/>
            </a:solidFill>
            <a:prstDash val="solid"/>
          </a:ln>
        </p:spPr>
        <p:txBody>
          <a:bodyPr/>
          <a:lstStyle/>
          <a:p>
            <a:endParaRPr lang="en-US"/>
          </a:p>
        </p:txBody>
      </p:sp>
      <p:sp>
        <p:nvSpPr>
          <p:cNvPr id="104" name="Text 102"/>
          <p:cNvSpPr/>
          <p:nvPr/>
        </p:nvSpPr>
        <p:spPr>
          <a:xfrm>
            <a:off x="6675120" y="2596896"/>
            <a:ext cx="1234440" cy="256032"/>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Presidio integration</a:t>
            </a:r>
            <a:endParaRPr lang="en-US" sz="750" dirty="0"/>
          </a:p>
        </p:txBody>
      </p:sp>
      <p:sp>
        <p:nvSpPr>
          <p:cNvPr id="105" name="Shape 103"/>
          <p:cNvSpPr/>
          <p:nvPr/>
        </p:nvSpPr>
        <p:spPr>
          <a:xfrm>
            <a:off x="7955280" y="2596896"/>
            <a:ext cx="685800" cy="256032"/>
          </a:xfrm>
          <a:prstGeom prst="rect">
            <a:avLst/>
          </a:prstGeom>
          <a:solidFill>
            <a:srgbClr val="C62828"/>
          </a:solidFill>
          <a:ln/>
        </p:spPr>
        <p:txBody>
          <a:bodyPr/>
          <a:lstStyle/>
          <a:p>
            <a:endParaRPr lang="en-US"/>
          </a:p>
        </p:txBody>
      </p:sp>
      <p:sp>
        <p:nvSpPr>
          <p:cNvPr id="106" name="Text 104"/>
          <p:cNvSpPr/>
          <p:nvPr/>
        </p:nvSpPr>
        <p:spPr>
          <a:xfrm>
            <a:off x="7955280" y="2596896"/>
            <a:ext cx="685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Critical</a:t>
            </a:r>
            <a:endParaRPr lang="en-US" sz="800" dirty="0"/>
          </a:p>
        </p:txBody>
      </p:sp>
      <p:sp>
        <p:nvSpPr>
          <p:cNvPr id="107" name="Shape 105"/>
          <p:cNvSpPr/>
          <p:nvPr/>
        </p:nvSpPr>
        <p:spPr>
          <a:xfrm>
            <a:off x="4709160" y="2852928"/>
            <a:ext cx="1920240" cy="256032"/>
          </a:xfrm>
          <a:prstGeom prst="rect">
            <a:avLst/>
          </a:prstGeom>
          <a:solidFill>
            <a:srgbClr val="F5F5F5"/>
          </a:solidFill>
          <a:ln w="3810">
            <a:solidFill>
              <a:srgbClr val="F0F0F0"/>
            </a:solidFill>
            <a:prstDash val="solid"/>
          </a:ln>
        </p:spPr>
        <p:txBody>
          <a:bodyPr/>
          <a:lstStyle/>
          <a:p>
            <a:endParaRPr lang="en-US"/>
          </a:p>
        </p:txBody>
      </p:sp>
      <p:sp>
        <p:nvSpPr>
          <p:cNvPr id="108" name="Text 106"/>
          <p:cNvSpPr/>
          <p:nvPr/>
        </p:nvSpPr>
        <p:spPr>
          <a:xfrm>
            <a:off x="4764024" y="2852928"/>
            <a:ext cx="1810512" cy="256032"/>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Model Allowlist Governance</a:t>
            </a:r>
            <a:endParaRPr lang="en-US" sz="850" dirty="0"/>
          </a:p>
        </p:txBody>
      </p:sp>
      <p:sp>
        <p:nvSpPr>
          <p:cNvPr id="109" name="Shape 107"/>
          <p:cNvSpPr/>
          <p:nvPr/>
        </p:nvSpPr>
        <p:spPr>
          <a:xfrm>
            <a:off x="6629400" y="2852928"/>
            <a:ext cx="1325880" cy="256032"/>
          </a:xfrm>
          <a:prstGeom prst="rect">
            <a:avLst/>
          </a:prstGeom>
          <a:solidFill>
            <a:srgbClr val="F5F5F5"/>
          </a:solidFill>
          <a:ln w="3810">
            <a:solidFill>
              <a:srgbClr val="F0F0F0"/>
            </a:solidFill>
            <a:prstDash val="solid"/>
          </a:ln>
        </p:spPr>
        <p:txBody>
          <a:bodyPr/>
          <a:lstStyle/>
          <a:p>
            <a:endParaRPr lang="en-US"/>
          </a:p>
        </p:txBody>
      </p:sp>
      <p:sp>
        <p:nvSpPr>
          <p:cNvPr id="110" name="Text 108"/>
          <p:cNvSpPr/>
          <p:nvPr/>
        </p:nvSpPr>
        <p:spPr>
          <a:xfrm>
            <a:off x="6675120" y="2852928"/>
            <a:ext cx="1234440" cy="256032"/>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governance/model_policy.py</a:t>
            </a:r>
            <a:endParaRPr lang="en-US" sz="750" dirty="0"/>
          </a:p>
        </p:txBody>
      </p:sp>
      <p:sp>
        <p:nvSpPr>
          <p:cNvPr id="111" name="Shape 109"/>
          <p:cNvSpPr/>
          <p:nvPr/>
        </p:nvSpPr>
        <p:spPr>
          <a:xfrm>
            <a:off x="7955280" y="2852928"/>
            <a:ext cx="685800" cy="256032"/>
          </a:xfrm>
          <a:prstGeom prst="rect">
            <a:avLst/>
          </a:prstGeom>
          <a:solidFill>
            <a:srgbClr val="F9A825"/>
          </a:solidFill>
          <a:ln/>
        </p:spPr>
        <p:txBody>
          <a:bodyPr/>
          <a:lstStyle/>
          <a:p>
            <a:endParaRPr lang="en-US"/>
          </a:p>
        </p:txBody>
      </p:sp>
      <p:sp>
        <p:nvSpPr>
          <p:cNvPr id="112" name="Text 110"/>
          <p:cNvSpPr/>
          <p:nvPr/>
        </p:nvSpPr>
        <p:spPr>
          <a:xfrm>
            <a:off x="7955280" y="2852928"/>
            <a:ext cx="685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High</a:t>
            </a:r>
            <a:endParaRPr lang="en-US" sz="800" dirty="0"/>
          </a:p>
        </p:txBody>
      </p:sp>
      <p:sp>
        <p:nvSpPr>
          <p:cNvPr id="113" name="Shape 111"/>
          <p:cNvSpPr/>
          <p:nvPr/>
        </p:nvSpPr>
        <p:spPr>
          <a:xfrm>
            <a:off x="4709160" y="3108960"/>
            <a:ext cx="1920240" cy="256032"/>
          </a:xfrm>
          <a:prstGeom prst="rect">
            <a:avLst/>
          </a:prstGeom>
          <a:solidFill>
            <a:srgbClr val="FFFFFF"/>
          </a:solidFill>
          <a:ln w="3810">
            <a:solidFill>
              <a:srgbClr val="F0F0F0"/>
            </a:solidFill>
            <a:prstDash val="solid"/>
          </a:ln>
        </p:spPr>
        <p:txBody>
          <a:bodyPr/>
          <a:lstStyle/>
          <a:p>
            <a:endParaRPr lang="en-US"/>
          </a:p>
        </p:txBody>
      </p:sp>
      <p:sp>
        <p:nvSpPr>
          <p:cNvPr id="114" name="Text 112"/>
          <p:cNvSpPr/>
          <p:nvPr/>
        </p:nvSpPr>
        <p:spPr>
          <a:xfrm>
            <a:off x="4764024" y="3108960"/>
            <a:ext cx="1810512" cy="256032"/>
          </a:xfrm>
          <a:prstGeom prst="rect">
            <a:avLst/>
          </a:prstGeom>
          <a:noFill/>
          <a:ln/>
        </p:spPr>
        <p:txBody>
          <a:bodyPr wrap="square" lIns="0" tIns="0" rIns="0" bIns="0" rtlCol="0" anchor="ctr"/>
          <a:lstStyle/>
          <a:p>
            <a:pPr marL="0" indent="0">
              <a:buNone/>
            </a:pPr>
            <a:r>
              <a:rPr lang="en-US" sz="850" b="1" dirty="0">
                <a:solidFill>
                  <a:srgbClr val="1B2A4A"/>
                </a:solidFill>
                <a:latin typeface="Arial" pitchFamily="34" charset="0"/>
                <a:ea typeface="Arial" pitchFamily="34" charset="-122"/>
                <a:cs typeface="Arial" pitchFamily="34" charset="-120"/>
              </a:rPr>
              <a:t>Red-Team Eval Infra</a:t>
            </a:r>
            <a:endParaRPr lang="en-US" sz="850" dirty="0"/>
          </a:p>
        </p:txBody>
      </p:sp>
      <p:sp>
        <p:nvSpPr>
          <p:cNvPr id="115" name="Shape 113"/>
          <p:cNvSpPr/>
          <p:nvPr/>
        </p:nvSpPr>
        <p:spPr>
          <a:xfrm>
            <a:off x="6629400" y="3108960"/>
            <a:ext cx="1325880" cy="256032"/>
          </a:xfrm>
          <a:prstGeom prst="rect">
            <a:avLst/>
          </a:prstGeom>
          <a:solidFill>
            <a:srgbClr val="FFFFFF"/>
          </a:solidFill>
          <a:ln w="3810">
            <a:solidFill>
              <a:srgbClr val="F0F0F0"/>
            </a:solidFill>
            <a:prstDash val="solid"/>
          </a:ln>
        </p:spPr>
        <p:txBody>
          <a:bodyPr/>
          <a:lstStyle/>
          <a:p>
            <a:endParaRPr lang="en-US"/>
          </a:p>
        </p:txBody>
      </p:sp>
      <p:sp>
        <p:nvSpPr>
          <p:cNvPr id="116" name="Text 114"/>
          <p:cNvSpPr/>
          <p:nvPr/>
        </p:nvSpPr>
        <p:spPr>
          <a:xfrm>
            <a:off x="6675120" y="3108960"/>
            <a:ext cx="1234440" cy="256032"/>
          </a:xfrm>
          <a:prstGeom prst="rect">
            <a:avLst/>
          </a:prstGeom>
          <a:noFill/>
          <a:ln/>
        </p:spPr>
        <p:txBody>
          <a:bodyPr wrap="square" lIns="0" tIns="0" rIns="0" bIns="0" rtlCol="0" anchor="ctr"/>
          <a:lstStyle/>
          <a:p>
            <a:pPr marL="0" indent="0">
              <a:buNone/>
            </a:pPr>
            <a:r>
              <a:rPr lang="en-US" sz="750" dirty="0">
                <a:solidFill>
                  <a:srgbClr val="333333"/>
                </a:solidFill>
                <a:latin typeface="Courier New" pitchFamily="34" charset="0"/>
                <a:ea typeface="Courier New" pitchFamily="34" charset="-122"/>
                <a:cs typeface="Courier New" pitchFamily="34" charset="-120"/>
              </a:rPr>
              <a:t>benchmark/red_team.py</a:t>
            </a:r>
            <a:endParaRPr lang="en-US" sz="750" dirty="0"/>
          </a:p>
        </p:txBody>
      </p:sp>
      <p:sp>
        <p:nvSpPr>
          <p:cNvPr id="117" name="Shape 115"/>
          <p:cNvSpPr/>
          <p:nvPr/>
        </p:nvSpPr>
        <p:spPr>
          <a:xfrm>
            <a:off x="7955280" y="3108960"/>
            <a:ext cx="685800" cy="256032"/>
          </a:xfrm>
          <a:prstGeom prst="rect">
            <a:avLst/>
          </a:prstGeom>
          <a:solidFill>
            <a:srgbClr val="F9A825"/>
          </a:solidFill>
          <a:ln/>
        </p:spPr>
        <p:txBody>
          <a:bodyPr/>
          <a:lstStyle/>
          <a:p>
            <a:endParaRPr lang="en-US"/>
          </a:p>
        </p:txBody>
      </p:sp>
      <p:sp>
        <p:nvSpPr>
          <p:cNvPr id="118" name="Text 116"/>
          <p:cNvSpPr/>
          <p:nvPr/>
        </p:nvSpPr>
        <p:spPr>
          <a:xfrm>
            <a:off x="7955280" y="3108960"/>
            <a:ext cx="685800" cy="256032"/>
          </a:xfrm>
          <a:prstGeom prst="rect">
            <a:avLst/>
          </a:prstGeom>
          <a:noFill/>
          <a:ln/>
        </p:spPr>
        <p:txBody>
          <a:bodyPr wrap="square" lIns="0" tIns="0" rIns="0" bIns="0"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High</a:t>
            </a:r>
            <a:endParaRPr lang="en-US" sz="800" dirty="0"/>
          </a:p>
        </p:txBody>
      </p:sp>
      <p:sp>
        <p:nvSpPr>
          <p:cNvPr id="119" name="Text 117"/>
          <p:cNvSpPr/>
          <p:nvPr/>
        </p:nvSpPr>
        <p:spPr>
          <a:xfrm>
            <a:off x="502920" y="4370832"/>
            <a:ext cx="685800" cy="201168"/>
          </a:xfrm>
          <a:prstGeom prst="rect">
            <a:avLst/>
          </a:prstGeom>
          <a:noFill/>
          <a:ln/>
        </p:spPr>
        <p:txBody>
          <a:bodyPr wrap="square" lIns="0" tIns="0" rIns="0" bIns="0" rtlCol="0" anchor="ctr"/>
          <a:lstStyle/>
          <a:p>
            <a:pPr marL="0" indent="0">
              <a:buNone/>
            </a:pPr>
            <a:r>
              <a:rPr lang="en-US" sz="900" dirty="0">
                <a:solidFill>
                  <a:srgbClr val="999999"/>
                </a:solidFill>
                <a:latin typeface="Arial" pitchFamily="34" charset="0"/>
                <a:ea typeface="Arial" pitchFamily="34" charset="-122"/>
                <a:cs typeface="Arial" pitchFamily="34" charset="-120"/>
              </a:rPr>
              <a:t>Severity:</a:t>
            </a:r>
            <a:endParaRPr lang="en-US" sz="900" dirty="0"/>
          </a:p>
        </p:txBody>
      </p:sp>
      <p:sp>
        <p:nvSpPr>
          <p:cNvPr id="120" name="Shape 118"/>
          <p:cNvSpPr/>
          <p:nvPr/>
        </p:nvSpPr>
        <p:spPr>
          <a:xfrm>
            <a:off x="1216152" y="4398264"/>
            <a:ext cx="502920" cy="146304"/>
          </a:xfrm>
          <a:prstGeom prst="rect">
            <a:avLst/>
          </a:prstGeom>
          <a:solidFill>
            <a:srgbClr val="C62828"/>
          </a:solidFill>
          <a:ln/>
        </p:spPr>
        <p:txBody>
          <a:bodyPr/>
          <a:lstStyle/>
          <a:p>
            <a:endParaRPr lang="en-US"/>
          </a:p>
        </p:txBody>
      </p:sp>
      <p:sp>
        <p:nvSpPr>
          <p:cNvPr id="121" name="Text 119"/>
          <p:cNvSpPr/>
          <p:nvPr/>
        </p:nvSpPr>
        <p:spPr>
          <a:xfrm>
            <a:off x="1764792" y="4370832"/>
            <a:ext cx="777240" cy="201168"/>
          </a:xfrm>
          <a:prstGeom prst="rect">
            <a:avLst/>
          </a:prstGeom>
          <a:noFill/>
          <a:ln/>
        </p:spPr>
        <p:txBody>
          <a:bodyPr wrap="square" lIns="0" tIns="0" rIns="0" bIns="0" rtlCol="0" anchor="ctr"/>
          <a:lstStyle/>
          <a:p>
            <a:pPr marL="0" indent="0">
              <a:buNone/>
            </a:pPr>
            <a:r>
              <a:rPr lang="en-US" sz="900" dirty="0">
                <a:solidFill>
                  <a:srgbClr val="666666"/>
                </a:solidFill>
                <a:latin typeface="Arial" pitchFamily="34" charset="0"/>
                <a:ea typeface="Arial" pitchFamily="34" charset="-122"/>
                <a:cs typeface="Arial" pitchFamily="34" charset="-120"/>
              </a:rPr>
              <a:t>Critical</a:t>
            </a:r>
            <a:endParaRPr lang="en-US" sz="900" dirty="0"/>
          </a:p>
        </p:txBody>
      </p:sp>
      <p:sp>
        <p:nvSpPr>
          <p:cNvPr id="122" name="Shape 120"/>
          <p:cNvSpPr/>
          <p:nvPr/>
        </p:nvSpPr>
        <p:spPr>
          <a:xfrm>
            <a:off x="2542032" y="4398264"/>
            <a:ext cx="502920" cy="146304"/>
          </a:xfrm>
          <a:prstGeom prst="rect">
            <a:avLst/>
          </a:prstGeom>
          <a:solidFill>
            <a:srgbClr val="F9A825"/>
          </a:solidFill>
          <a:ln/>
        </p:spPr>
        <p:txBody>
          <a:bodyPr/>
          <a:lstStyle/>
          <a:p>
            <a:endParaRPr lang="en-US"/>
          </a:p>
        </p:txBody>
      </p:sp>
      <p:sp>
        <p:nvSpPr>
          <p:cNvPr id="123" name="Text 121"/>
          <p:cNvSpPr/>
          <p:nvPr/>
        </p:nvSpPr>
        <p:spPr>
          <a:xfrm>
            <a:off x="3090672" y="4370832"/>
            <a:ext cx="777240" cy="201168"/>
          </a:xfrm>
          <a:prstGeom prst="rect">
            <a:avLst/>
          </a:prstGeom>
          <a:noFill/>
          <a:ln/>
        </p:spPr>
        <p:txBody>
          <a:bodyPr wrap="square" lIns="0" tIns="0" rIns="0" bIns="0" rtlCol="0" anchor="ctr"/>
          <a:lstStyle/>
          <a:p>
            <a:pPr marL="0" indent="0">
              <a:buNone/>
            </a:pPr>
            <a:r>
              <a:rPr lang="en-US" sz="900" dirty="0">
                <a:solidFill>
                  <a:srgbClr val="666666"/>
                </a:solidFill>
                <a:latin typeface="Arial" pitchFamily="34" charset="0"/>
                <a:ea typeface="Arial" pitchFamily="34" charset="-122"/>
                <a:cs typeface="Arial" pitchFamily="34" charset="-120"/>
              </a:rPr>
              <a:t>High</a:t>
            </a:r>
            <a:endParaRPr lang="en-US" sz="900" dirty="0"/>
          </a:p>
        </p:txBody>
      </p:sp>
      <p:sp>
        <p:nvSpPr>
          <p:cNvPr id="124" name="Shape 122"/>
          <p:cNvSpPr/>
          <p:nvPr/>
        </p:nvSpPr>
        <p:spPr>
          <a:xfrm>
            <a:off x="3867912" y="4398264"/>
            <a:ext cx="502920" cy="146304"/>
          </a:xfrm>
          <a:prstGeom prst="rect">
            <a:avLst/>
          </a:prstGeom>
          <a:solidFill>
            <a:srgbClr val="0097A7"/>
          </a:solidFill>
          <a:ln/>
        </p:spPr>
        <p:txBody>
          <a:bodyPr/>
          <a:lstStyle/>
          <a:p>
            <a:endParaRPr lang="en-US"/>
          </a:p>
        </p:txBody>
      </p:sp>
      <p:sp>
        <p:nvSpPr>
          <p:cNvPr id="125" name="Text 123"/>
          <p:cNvSpPr/>
          <p:nvPr/>
        </p:nvSpPr>
        <p:spPr>
          <a:xfrm>
            <a:off x="4416552" y="4370832"/>
            <a:ext cx="777240" cy="201168"/>
          </a:xfrm>
          <a:prstGeom prst="rect">
            <a:avLst/>
          </a:prstGeom>
          <a:noFill/>
          <a:ln/>
        </p:spPr>
        <p:txBody>
          <a:bodyPr wrap="square" lIns="0" tIns="0" rIns="0" bIns="0" rtlCol="0" anchor="ctr"/>
          <a:lstStyle/>
          <a:p>
            <a:pPr marL="0" indent="0">
              <a:buNone/>
            </a:pPr>
            <a:r>
              <a:rPr lang="en-US" sz="900" dirty="0">
                <a:solidFill>
                  <a:srgbClr val="666666"/>
                </a:solidFill>
                <a:latin typeface="Arial" pitchFamily="34" charset="0"/>
                <a:ea typeface="Arial" pitchFamily="34" charset="-122"/>
                <a:cs typeface="Arial" pitchFamily="34" charset="-120"/>
              </a:rPr>
              <a:t>Medium</a:t>
            </a:r>
            <a:endParaRPr lang="en-US" sz="900" dirty="0"/>
          </a:p>
        </p:txBody>
      </p:sp>
      <p:sp>
        <p:nvSpPr>
          <p:cNvPr id="126" name="Shape 124"/>
          <p:cNvSpPr/>
          <p:nvPr/>
        </p:nvSpPr>
        <p:spPr>
          <a:xfrm>
            <a:off x="502920" y="4617720"/>
            <a:ext cx="8138160" cy="182880"/>
          </a:xfrm>
          <a:prstGeom prst="rect">
            <a:avLst/>
          </a:prstGeom>
          <a:solidFill>
            <a:srgbClr val="E0F7FA"/>
          </a:solidFill>
          <a:ln w="12700">
            <a:solidFill>
              <a:srgbClr val="0097A7"/>
            </a:solidFill>
            <a:prstDash val="solid"/>
          </a:ln>
        </p:spPr>
        <p:txBody>
          <a:bodyPr/>
          <a:lstStyle/>
          <a:p>
            <a:endParaRPr lang="en-US"/>
          </a:p>
        </p:txBody>
      </p:sp>
      <p:sp>
        <p:nvSpPr>
          <p:cNvPr id="127" name="Text 125"/>
          <p:cNvSpPr/>
          <p:nvPr/>
        </p:nvSpPr>
        <p:spPr>
          <a:xfrm>
            <a:off x="594360" y="4617720"/>
            <a:ext cx="7955280" cy="182880"/>
          </a:xfrm>
          <a:prstGeom prst="rect">
            <a:avLst/>
          </a:prstGeom>
          <a:noFill/>
          <a:ln/>
        </p:spPr>
        <p:txBody>
          <a:bodyPr wrap="square" lIns="0" tIns="0" rIns="0" bIns="0" rtlCol="0" anchor="ctr"/>
          <a:lstStyle/>
          <a:p>
            <a:pPr marL="0" indent="0">
              <a:buNone/>
            </a:pPr>
            <a:r>
              <a:rPr lang="en-US" sz="1000" dirty="0">
                <a:solidFill>
                  <a:srgbClr val="1B2A4A"/>
                </a:solidFill>
                <a:latin typeface="Arial" pitchFamily="34" charset="0"/>
                <a:ea typeface="Arial" pitchFamily="34" charset="-122"/>
                <a:cs typeface="Arial" pitchFamily="34" charset="-120"/>
              </a:rPr>
              <a:t>Sprint order: Critical-first (compliance &amp; security), then High (scale &amp; reliability), then Medium (governance polish).</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39222</Words>
  <Application>Microsoft Macintosh PowerPoint</Application>
  <PresentationFormat>On-screen Show (16:9)</PresentationFormat>
  <Paragraphs>2754</Paragraphs>
  <Slides>130</Slides>
  <Notes>130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130</vt:i4>
      </vt:variant>
    </vt:vector>
  </HeadingPairs>
  <TitlesOfParts>
    <vt:vector size="133" baseType="lpstr">
      <vt:lpstr>Arial</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Agentic Chatbot v2 — Complete System Deep-Dive</dc:title>
  <dc:subject>PptxGenJS Presentation</dc:subject>
  <dc:creator>Shiv</dc:creator>
  <cp:lastModifiedBy>Balodi, Shiv A</cp:lastModifiedBy>
  <cp:revision>1</cp:revision>
  <dcterms:created xsi:type="dcterms:W3CDTF">2026-04-22T02:21:53Z</dcterms:created>
  <dcterms:modified xsi:type="dcterms:W3CDTF">2026-04-24T01:28:06Z</dcterms:modified>
</cp:coreProperties>
</file>