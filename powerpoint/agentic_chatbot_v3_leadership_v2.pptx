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Types>
</file>

<file path=_rels/.rels><?xml version="1.0" encoding="utf-8"?>
<Relationships xmlns="http://schemas.openxmlformats.org/package/2006/relationships">
  <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86" r:id="rId3"/>
    <p:sldId id="387" r:id="rId4"/>
    <p:sldId id="388" r:id="rId5"/>
    <p:sldId id="389" r:id="rId6"/>
    <p:sldId id="390" r:id="rId7"/>
    <p:sldId id="257" r:id="rId8"/>
    <p:sldId id="258" r:id="rId9"/>
    <p:sldId id="392" r:id="rId10"/>
    <p:sldId id="394" r:id="rId12"/>
    <p:sldId id="270" r:id="rId14"/>
    <p:sldId id="271" r:id="rId15"/>
    <p:sldId id="399" r:id="rId31"/>
    <p:sldId id="404" r:id="rId36"/>
    <p:sldId id="279" r:id="rId16"/>
    <p:sldId id="294" r:id="rId26"/>
    <p:sldId id="358" r:id="rId45"/>
    <p:sldId id="285" r:id="rId17"/>
    <p:sldId id="286" r:id="rId18"/>
    <p:sldId id="311" r:id="rId19"/>
    <p:sldId id="393" r:id="rId13"/>
    <p:sldId id="391" r:id="rId11"/>
    <p:sldId id="400" r:id="rId32"/>
    <p:sldId id="401" r:id="rId33"/>
    <p:sldId id="313" r:id="rId27"/>
    <p:sldId id="357" r:id="rId44"/>
    <p:sldId id="405" r:id="rId37"/>
    <p:sldId id="356" r:id="rId43"/>
    <p:sldId id="403" r:id="rId35"/>
    <p:sldId id="288" r:id="rId20"/>
    <p:sldId id="289" r:id="rId21"/>
    <p:sldId id="290" r:id="rId22"/>
    <p:sldId id="291" r:id="rId23"/>
    <p:sldId id="292" r:id="rId24"/>
    <p:sldId id="408" r:id="rId60"/>
    <p:sldId id="409" r:id="rId61"/>
    <p:sldId id="410" r:id="rId62"/>
    <p:sldId id="293" r:id="rId25"/>
    <p:sldId id="396" r:id="rId28"/>
    <p:sldId id="397" r:id="rId29"/>
    <p:sldId id="398" r:id="rId30"/>
    <p:sldId id="402" r:id="rId34"/>
    <p:sldId id="406" r:id="rId38"/>
    <p:sldId id="359" r:id="rId46"/>
    <p:sldId id="260" r:id="rId39"/>
    <p:sldId id="261" r:id="rId40"/>
    <p:sldId id="262" r:id="rId41"/>
    <p:sldId id="264" r:id="rId42"/>
    <p:sldId id="360" r:id="rId47"/>
    <p:sldId id="354" r:id="rId48"/>
    <p:sldId id="380" r:id="rId49"/>
    <p:sldId id="381" r:id="rId50"/>
    <p:sldId id="382" r:id="rId51"/>
    <p:sldId id="383" r:id="rId52"/>
    <p:sldId id="384" r:id="rId53"/>
    <p:sldId id="385"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9"/>
    <p:restoredTop sz="77613"/>
  </p:normalViewPr>
  <p:slideViewPr>
    <p:cSldViewPr snapToGrid="0" snapToObjects="1">
      <p:cViewPr varScale="1">
        <p:scale>
          <a:sx n="164" d="100"/>
          <a:sy n="164" d="100"/>
        </p:scale>
        <p:origin x="1232" y="160"/>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notesMaster" Target="notesMasters/notesMaster1.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theme" Target="theme/theme1.xml"/>
  <Relationship Id="rId5" Type="http://schemas.openxmlformats.org/officeDocument/2006/relationships/slide" Target="slides/slide4.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presProps" Target="presProp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tableStyles" Target="tableStyle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viewProps" Target="viewProps.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s>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
<Relationships xmlns="http://schemas.openxmlformats.org/package/2006/relationships">
  <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
<Relationships xmlns="http://schemas.openxmlformats.org/package/2006/relationships">
  <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
<Relationships xmlns="http://schemas.openxmlformats.org/package/2006/relationships">
  <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
<Relationships xmlns="http://schemas.openxmlformats.org/package/2006/relationships">
  <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
<Relationships xmlns="http://schemas.openxmlformats.org/package/2006/relationships">
  <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
<Relationships xmlns="http://schemas.openxmlformats.org/package/2006/relationships">
  <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
<Relationships xmlns="http://schemas.openxmlformats.org/package/2006/relationships">
  <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
<Relationships xmlns="http://schemas.openxmlformats.org/package/2006/relationships">
  <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
<Relationships xmlns="http://schemas.openxmlformats.org/package/2006/relationships">
  <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
<Relationships xmlns="http://schemas.openxmlformats.org/package/2006/relationships">
  <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
<Relationships xmlns="http://schemas.openxmlformats.org/package/2006/relationships">
  <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
<Relationships xmlns="http://schemas.openxmlformats.org/package/2006/relationships">
  <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
<Relationships xmlns="http://schemas.openxmlformats.org/package/2006/relationships">
  <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
<Relationships xmlns="http://schemas.openxmlformats.org/package/2006/relationships">
  <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
<Relationships xmlns="http://schemas.openxmlformats.org/package/2006/relationships">
  <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
<Relationships xmlns="http://schemas.openxmlformats.org/package/2006/relationships">
  <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
<Relationships xmlns="http://schemas.openxmlformats.org/package/2006/relationships">
  <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8.xml.rels><?xml version="1.0" encoding="utf-8"?>
<Relationships xmlns="http://schemas.openxmlformats.org/package/2006/relationships">
  <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9.xml.rels><?xml version="1.0" encoding="utf-8"?>
<Relationships xmlns="http://schemas.openxmlformats.org/package/2006/relationships">
  <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
<Relationships xmlns="http://schemas.openxmlformats.org/package/2006/relationships">
  <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1.xml.rels><?xml version="1.0" encoding="utf-8"?>
<Relationships xmlns="http://schemas.openxmlformats.org/package/2006/relationships">
  <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2.xml.rels><?xml version="1.0" encoding="utf-8"?>
<Relationships xmlns="http://schemas.openxmlformats.org/package/2006/relationships">
  <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3.xml.rels><?xml version="1.0" encoding="utf-8"?>
<Relationships xmlns="http://schemas.openxmlformats.org/package/2006/relationships">
  <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4.xml.rels><?xml version="1.0" encoding="utf-8"?>
<Relationships xmlns="http://schemas.openxmlformats.org/package/2006/relationships">
  <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5.xml.rels><?xml version="1.0" encoding="utf-8"?>
<Relationships xmlns="http://schemas.openxmlformats.org/package/2006/relationships">
  <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6.xml.rels><?xml version="1.0" encoding="utf-8"?>
<Relationships xmlns="http://schemas.openxmlformats.org/package/2006/relationships">
  <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
<Relationships xmlns="http://schemas.openxmlformats.org/package/2006/relationships">
  <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
<Relationships xmlns="http://schemas.openxmlformats.org/package/2006/relationships">
  <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
<Relationships xmlns="http://schemas.openxmlformats.org/package/2006/relationships">
  <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0.xml.rels><?xml version="1.0" encoding="utf-8"?>
<Relationships xmlns="http://schemas.openxmlformats.org/package/2006/relationships">
  <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1.xml.rels><?xml version="1.0" encoding="utf-8"?>
<Relationships xmlns="http://schemas.openxmlformats.org/package/2006/relationships">
  <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2.xml.rels><?xml version="1.0" encoding="utf-8"?>
<Relationships xmlns="http://schemas.openxmlformats.org/package/2006/relationships">
  <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3.xml.rels><?xml version="1.0" encoding="utf-8"?>
<Relationships xmlns="http://schemas.openxmlformats.org/package/2006/relationships">
  <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4.xml.rels><?xml version="1.0" encoding="utf-8"?>
<Relationships xmlns="http://schemas.openxmlformats.org/package/2006/relationships">
  <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5.xml.rels><?xml version="1.0" encoding="utf-8"?>
<Relationships xmlns="http://schemas.openxmlformats.org/package/2006/relationships">
  <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6.xml.rels><?xml version="1.0" encoding="utf-8"?>
<Relationships xmlns="http://schemas.openxmlformats.org/package/2006/relationships">
  <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7.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48.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9.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0.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1.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2.xml.rels><?xml version="1.0" encoding="utf-8"?>
<Relationships xmlns="http://schemas.openxmlformats.org/package/2006/relationships">
  <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3.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54.xml.rels><?xml version="1.0" encoding="utf-8"?>
<Relationships xmlns="http://schemas.openxmlformats.org/package/2006/relationships">
  <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5.xml.rels><?xml version="1.0" encoding="utf-8"?>
<Relationships xmlns="http://schemas.openxmlformats.org/package/2006/relationships">
  <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6.xml.rels><?xml version="1.0" encoding="utf-8"?>
<Relationships xmlns="http://schemas.openxmlformats.org/package/2006/relationships">
  <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The file path at the bottom of the slide traces the call chain: api/main.py receives the HTTP request, app/service.py's process_turn() at line 819 handles session hydration and routing, router/router.py classifies intent, and then runtime/kernel.py sets up agent context before runtime/query_loop.py executes the actual agent logic. See that fork in the road in the middle? That is the router -- the single most important decision point in the system. It asks: is this BASIC, meaning just chat with no tools needed? Or is it AGENT, meaning this needs real processing, tools, maybe multiple steps? The reason this split matters architecturally is cost and latency. A basic request makes one LLM call and returns in roughly 200 milliseconds with zero tool overhead. An agent request enters the full ReAct loop, which might make 3 to 10 LLM calls with tool executions in between. By having the router make this decision upfront, the system avoids paying agent-mode costs for simple questions -- which in production tend to be about 40 percent of all traffic. The five files in the call chain map to the three runtime layers: service.py is RuntimeService (session and routing), kernel.py is RuntimeKernel (context setup and agent orchestration), and query_loop.py is QueryLoop (execution engine). Each layer can be tested, scaled, and modified independently. If you need to change how routing works, you touch router.py and service.py without affecting query_loop.py. If you need to add a new execution mode, you modify query_loop.py without touching routing. This separation of concerns is what makes the system maintainable at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system at a glance — four numbers that capture the scale. We have 13 specialized agents, each defined as a markdown file with YAML frontmatter rather than hard-coded classes. This "agents as data" approach means you can change an agent's behavior, tools, or mode by editing a markdown file and hitting the reload endpoint — no code deployment needed. 57 registered tools are organized into 9 functional groups: orchestration, RAG gateway, RAG workbench, analyst, graph gateway, memory, utility, discovery, and skills. Each agent gets a curated subset via its allowed_tools whitelist. 8 execution modes determine how each agent processes requests: basic, react, rag, planner, finalizer, verifier, memory_maintainer, and coordinator. The three-layer runtime separates concerns cleanly: RuntimeService handles orchestration and routing, RuntimeKernel manages session state and persistence, and QueryLoop runs the actual LLM calls. GraphRAG integration adds knowledge graph querying alongside traditional vector search. MCP enables dynamic tool discovery from external servers. And the worker orchestration system with 14 tools supports multi-agent coordination where a coordinator can decompose complex tasks across parallel workers. The 127-endpoint admin and control-panel API lets operators inspect and modify all of this at runtime.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surface tells you the scope of what this system exposes. On the public side, 48 endpoints follow the OpenAI-compatible protocol, meaning any client that speaks the OpenAI API can connect without modification. The chat endpoints include /v1/chat/completions for standard chat and /v1/connector/chat for MCP-integrated conversations. Document endpoints handle upload, ingestion, and source downloads. Graph endpoints let you list, get, index, import, and query knowledge graphs. Skills endpoints provide full CRUD plus activate, deactivate, preview, and rollback. MCP connection endpoints handle CRUD, tool listing, testing, and refresh. Jobs and tasks endpoints manage background work, and the team mailbox endpoints let agents communicate through channels. On the admin side, roughly 78 endpoints power the control panel. Agent management has 5 endpoints for listing, getting, updating, deleting, and hot-reloading agents. Collection management has 13 endpoints for CRUD, document listing, upload, sync, repair, and health checks. The access control section has 15 endpoints covering principals, roles, bindings, memberships, and permissions — this is the RBAC system we will detail later. Graph admin has 15 endpoints for full graph lifecycle management including build, refresh, validate, prompt tuning, and skill assignment. Config admin provides 4 endpoints for schema inspection, effective config view, validation, and runtime apply. All admin endpoints require X-Admin-Token authentication.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three-layer runtime and it is worth pausing on why the system is architected this way rather than as a single monolith. The three layers are RuntimeService, RuntimeKernel, and QueryLoop, and each exists for a specific architectural reason. RuntimeService is the outermost layer. It owns session lifecycle, routing, authorization, and post-turn memory maintenance. It does not know HOW to run an agent -- only WHICH agent to run. This separation means you can change routing logic, add new auth policies, or modify session management without touching agent execution code at all. It also means the routing layer can be tested independently with mock agents. RuntimeKernel is the middle layer. It handles agent context setup: resolving effective capabilities, building the ToolContext with all runtime dependencies, instantiating tools based on the agent definition, and preparing LLM providers. Critically, the Kernel is where the coordinator-vs-direct-execution decision happens. If agent.mode is "coordinator," the Kernel delegates to KernelCoordinatorController rather than QueryLoop. The Kernel also manages session scoping for parallel workers -- each worker gets an isolated copy of the parent SessionState via _build_scoped_worker_state(). This is essential for safe parallelism: without session isolation, two workers writing to the same session would create race conditions and corrupt state. QueryLoop is the innermost layer -- the actual execution engine. It implements the ReAct loop, handles all 8 execution modes (basic, react, rag, planner, finalizer, verifier, memory_maintainer, coordinator), manages context budgeting to fit within token limits, and handles tool execution within the reasoning loop. By keeping QueryLoop focused purely on execution, you gain three benefits. First, testability: you can test the ReAct loop with mock tools and providers, without needing real sessions or routers. Second, reusability: every worker spawned by the coordinator gets its own QueryLoop instance, running in its own thread with its own step limits. The same execution code serves both top-level requests and coordinator subtasks. Third, independent evolution: you can add a new execution mode -- say a "reviewer" mode -- by modifying only QueryLoop, without touching the Kernel or Service. The try/finally pattern around progress cleanup prevents resource leaks. The circuit breaker chain means if an agent's provider is down, the system falls back to basic mode with a different provider. If even that fails, it returns a graceful degraded message. API callers can pass requested_agent_override to force a specific agent, bypassing the router entirely.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has 13 agents. Key tool count updates from the latest audit: general has 34 tools (including MCP wildcard for dynamic tool discovery), coordinator has 11 tools (spawn_worker, message_worker, team mailbox tools, etc.), data_analyst has 20 tools (analyst + team mailbox + invoke_agent), graph_manager has 12 tools, utility has 13 tools, verifier has 13 tools (RAG + graph), research_coordinator and rag_researcher are specialized agents for multi-step retrieval research. basic, rag_worker, planner, and finalizer have 0 tools. memory_maintainer has 3. Coordinator now has 9 allowed workers including graph_manager.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 Note that this matrix shows 10 of the 13 agents. The three not shown: research_coordinator orchestrates multi-step retrieval research by delegating to rag_researcher, rag_worker, and graph_manager. rag_researcher is a ReAct-mode specialist with 17 tools including the RAG workbench tools (search_corpus_chunks, grep_corpus_chunks, fetch_chunk_window) for fine-grained corpus exploration. graph_manager appears on slide 16 and has 12 tools for knowledge graph operations.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covered the architecture, agents, tools, RAG pipeline, and GraphRAG individually, let us see how they all work together in practice. The next six slides trace five different request types end-to-end through the system, from the moment the HTTP request arrives to the final response being streamed back. We will cover: a simple general knowledge question that takes the fast basic path, a data analysis request with CSV upload that exercises the Docker sandbox, a document-specific question that runs the full RAG pipeline with citations, a complex multi-part request that triggers the coordinator's planner-workers-finalizer pipeline, and a memory extraction scenario showing how the system learns user preferences over time. Pay attention to how the router makes different decisions for each scenario and how the execution path changes accordingly. These flows are the best way to build intuition for how the system behaves in production.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powerful flow in the system and it showcases why the three-layer architecture matters. The user asks "Compare Q1/Q2 sales, research trends, write report" -- a multi-part task that no single agent can handle well. The router detects multi-step intent and routes to the coordinator agent. Here is what happens at each layer. RuntimeService receives the request, hydrates the session, and calls process_turn(). The router classifies this as a coordinator campaign because it involves multiple distinct subtasks spanning different capabilities (data analysis plus document research plus synthesis). RuntimeKernel sees that coordinator.mode is "coordinator" and delegates to KernelCoordinatorController.run() instead of QueryLoop. This is the key branching point -- the Kernel decides WHERE execution happens. The coordinator controller then runs a four-stage pipeline. Stage 1: the planner agent receives the user request plus a manifest of available worker agents and their capabilities. It outputs a JSON task plan with dependencies -- in this case, three parallel tasks: data_analyst for Q1/Q2 comparison, rag_worker for trend research, and utility for skill guidance. Stage 2: the controller batches tasks by dependency order. Tasks 1, 2, and 3 have no dependencies on each other, so they run in parallel. Each worker gets its own scoped SessionState copy -- this is critical because without session isolation, parallel workers writing to the same session would corrupt each other's state. Each worker also gets its own QueryLoop instance running in its own thread. The data_analyst worker runs in ReAct mode with Python sandbox tools. The rag_worker runs in RAG mode with document retrieval. They execute simultaneously. Stage 3: the finalizer agent receives all worker results as handoff artifacts and synthesizes a coherent report. The handoff artifact system uses typed containers -- doc_digest, research_notebook, clause_redline_inventory -- with whitelists controlling which downstream agents can consume each type. Stage 4: the verifier agent fact-checks the final output. It has access to both RAG and graph tools so it can independently verify citations. If the verifier flags issues -- missing coverage, incorrect citations, gaps in analysis -- it triggers a revision loop back to the planner. The planner receives the verifier feedback and creates targeted follow-up tasks. This loop can run up to 4 rounds, configurable via max_revision_rounds. The architectural benefit of this design is composability: you can change the planner's decomposition strategy, add new worker agent types, or modify verification logic -- all independently, without touching the other components.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authorization subsystem implements Role-Based Access Control, or RBAC, which is the industry standard for managing who can do what in an enterprise system. Let me walk through the model. Principals are the identities - users and service accounts, each with a unique ID. Roles are named permission bundles like admin, editor, and viewer. Bindings map a principal to a role on a specific resource - so you might bind user Alice to the editor role on collection "hr-docs". Memberships handle group-level role inheritance so you do not have to assign roles individually to every user. And Permissions are the granular resource-action pairs like "collection:read" or "agent:invoke". The system exposes 15 admin endpoints for managing all of this - CRUD operations for principals, roles, bindings, memberships, plus a permissions query and an effective-access endpoint that resolves the full permission set for a given principal. The authz service in authz/service.py is about 269 lines and provides tenant-scoped resource access. It integrates with the API gateway via gateway_security.py, with connector endpoints via connector_security.py, and with the skill runtime for per-skill access filtering. Tool policy enforcement happens in tools/policy.py. This is the foundation - the next evolution is ABAC, attribute-based access control, which would add dataset-level and column-level checks.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documents subsystem is the backbone of how the system ingests, compares, and reasons about uploaded files. It spans 16 Python files across extractors, comparison logic, consolidation campaigns, similarity analysis, evidence compilation, templates, and serializers. On the extraction side, it supports 9 file formats: PDF, DOCX, PPTX, XLSX, XLS, TXT, Markdown, CSV, and TSV. PDF extraction uses the Docling parser for high-fidelity parsing with a cap of 200 elements per extraction to keep context manageable. Document comparison in compare.py uses key-based matching plus fuzzy matching with a 0.72 similarity threshold. It identifies 12 obligation modality patterns - these are regulatory language patterns like "shall", "must", "required_to", "prohibited", "permitted", and "may" - each with a binding strength ranking. When obligations change between document versions, the system escalates severity automatically. Consolidation campaigns handle multi-document corpus analysis using IDF weighting, union-find clustering, and weighted Jaccard scoring across 6 focus modes. The evidence binder compiles graded evidence into formatted reference packets with inline citations - this is what the RAG pipeline uses to build its final answers. Similarity analysis uses TF-IDF fingerprinting with 28 process keyword patterns and n-gram comparison. This entire subsystem feeds directly into the RAG pipeline and the document-related tools.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system's way of injecting domain-specific guidance into agent behavior at runtime without changing code. Think of a skill as a markdown document with YAML frontmatter that gets loaded into an agent's context when it is relevant to the current task. There are 3 skill kinds: retrievable skills are guidance documents indexed for semantic search, executable skills contain runnable instructions, and hybrid skills combine both. The system has 49 skill packs organized across 7 subdirectories - one per agent type - covering everything from data analysis patterns to RAG strategies. The lifecycle works in four stages. First, SkillPackFile validates the YAML frontmatter and computes a SHA256 checksum for integrity tracking. Second, SkillIndexSync discovers markdown files, chunks them for RAG indexing, and builds an inverted index - incremental sync by checksum means only changed skills get re-indexed. Third, SkillResolver does semantic retrieval using BM25 and embedding search, filtering by agent_scope and tags, with pinned skills getting priority. Fourth, SkillRuntime merges the query, matched skills, and session context within a 4000-character budget with access control filtering. Skills run in two execution contexts: inline runs in the agent's process, fork runs in isolation. Five effort levels - empty string meaning default, low, medium, high, and xhigh - control how much compute a skill execution is allowed. The telemetry module tracks an 80 percent success SLO with a 20-use review window, and the dependency graph module uses DFS cycle detection to validate skill dependencies.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system abstracts away the underlying LLM services so agents do not care whether they are talking to OpenAI, Anthropic, Ollama, or any other provider. The providers directory has 6 files: factory, llm_factory, circuit_breaker, output_limits, and dependency_checks. At the core, AgentProviderResolver caches bundles by a 6-tuple of provider, model, and capabilities. Each agent can override its LLM via the AGENT_NAME_CHAT_MODEL environment variable. Token caps follow a chain: request-level overrides agent-level, which overrides global, which overrides Ollama defaults. A ProviderBundle packages three models together: the chat model for conversation, the judge model for grading relevance, and the embeddings model for vector search. Embedding dimensions are 768 for Nomic and 1536 for Ada-002. The circuit breaker is the reliability story. It uses a 20-sample sliding window and requires at least 6 samples before it can trip. If the error rate exceeds 50 percent or 3 consecutive failures occur, the circuit opens for a 30-second cooldown period. During this time, no requests go to that provider. The fallback chain is important: if an agent's provider trips the circuit breaker, RuntimeService automatically degrades to basic mode with a different provider. If even that fails, the system returns a graceful degraded message rather than an error. This multi-layer resilience is critical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stands for Model Context Protocol - it is an open standard that lets LLM agents discover and call tools from external servers dynamically. Our implementation wraps the official MCP Streamable HTTP client with both sync and async support. Security is the primary design concern. Secret encryption uses Fernet symmetric encryption with SHA256 key derivation. The prefix "fernet:v1:" identifies encrypted values, and secrets are never stored in plaintext - they are decrypted only at call time. URL validation enforces HTTPS by default, which is configurable but on by default. Private network blocking prevents SSRF attacks where a malicious MCP server might try to probe your internal network. Connection names are slugified to max 80 characters using only lowercase alphanumeric and underscores. The tool deferral system is a critical safety feature. All MCP tools are registered with defer equals true, destructive equals true, and defer_priority of 50. This means MCP tools only execute after explicit user or agent approval - they never fire automatically. Schema sanitization enforces consistent type definitions on all tool parameters. Connection lifecycle management handles timeouts of 15 seconds for listing tools and 60 seconds for execution. Each tool can be individually enabled or disabled, and status flags gate execution. The McpCatalogService manages the full connection CRUD pipeline plus tool discovery and execution.</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coordinator agent decomposes a complex task, it creates a structured task plan that specifies exactly what each worker should do and how they should pass results back. Each task specification includes an executor - the worker agent type like rag_worker, data_analyst, utility, general, graph_manager, or verifier. Tasks can run in sequential or parallel execution modes. Terminal states are completed, failed, stopped, or waiting_message (when a worker needs clarification from the coordinator). The 8 artifact handoff types define the structured data that workers pass back to the coordinator and finalizer. These include title_candidates for document identification, doc_focus for narrowing to specific documents, research_facets for breaking research into angles, facet_matches for results mapped to research angles, doc_digest for document summaries, subsystem_inventory for architecture inventories, policy_guidance_matches for compliance findings, and buyer_recommendation_table for comparative analysis. Document ranking uses 6 keys to prioritize which documents matter most: is_meta_document flags high-level overview docs, reviewed_relevance scores human-verified importance, matched_facets counts how many research angles a doc covers, strong_evidence_count tallies high-confidence citations, title_path_score measures filename relevance, and seed_hits counts initial search matches. This structured approach ensures worker outputs are machine-parseable and the finalizer can synthesize coherently.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subsystem provides a unified abstraction over three different blob storage backends: Amazon S3, Azure Blob Storage, and local filesystem. This means the application code never cares where files physically live - it just works with BlobRef objects. A BlobRef is a dataclass with 8 fields: backend identifies which storage provider (S3, Azure, or local), uri is the full resource URI, bucket and key specify the bucket name and object key, etag and sha1 provide content integrity hashes for deduplication and verification, size is the byte count, and content_type is the MIME type. The system uses key sanitization and SHA1 hashing to ensure safe, deduplicated storage - if you upload the same file twice, it detects the duplicate by hash. BlobRefs are used across the API for three main purposes: storing uploaded documents from the ingestion pipeline, storing agent artifacts like charts and analysis results from the data_analyst, and generating signed download URLs via the /v1/files/download_id endpoint so clients can securely download files without direct storage access. For development and testing, the local filesystem backend means you do not need cloud storage configured. In production, S3 or Azure provides durability, versioning, and access control.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module supports 4 query methods, each optimized for different types of questions. Local queries traverse entity relationships within document clusters - great for "what entities connect contract risk to vendor performance?" type questions. This requires 5 graph artifacts to be built. Global queries generate corpus-wide summaries and cross-document themes - useful for "what are the main risk categories across all our contracts?" This requires 3 artifacts. Drift queries track temporal changes and evolution across graph rebuilds - so you can see how entity relationships changed between two versions of a document corpus. This also requires 5 artifacts. SQL queries go through the StructuredSearchAdapter for exact matches, metadata filtering, and structured queries that do not need semantic search. The build pipeline runs in three phases. Phase 1 is Entity and Relationship Extraction via LLM - the system reads documents and uses the LLM to identify named entities (people, organizations, concepts) and the relationships between them. Phase 2 is Community Detection - the system groups related entities into communities and generates summary reports. This uses native graph algorithms with a text-based fallback. Phase 3 is Embedding and Indexing - entity descriptions and community reports get vectorized for semantic search. Two backends are available: MicrosoftGraphRagBackend provides the full local/global/drift query pipeline, and Neo4jGraphImportBackend enables importing existing Neo4j graph databases.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Config.py is the central nervous system for tuning the entire platform, with over 300 configuration variables. Every number on this slide is a default that can be overridden via environment variables. Context budget management controls how much of the LLM's context window gets used: context_window_tokens is 32,768 by default, context_target_ratio of 0.72 means we aim to use 72 percent of the window leaving headroom for the response, and autocompact_threshold of 0.85 triggers automatic context compaction when usage exceeds 85 percent. Tool result limits cap individual tool outputs at 2,000 tokens and total tool results per turn at 8,000 tokens, preventing any single tool from consuming the entire context. The worker scheduler uses weighted fair queuing with three priority lanes: urgent tasks get weight 8, interactive tasks get weight 3, and background tasks get weight 1. Per-tenant token budgets prevent one heavy user from starving others - 24,000 tokens per minute with burst allowance of 48,000, and a token cost factor of 1.35x accounts for overhead. RAG defaults include top_k of 15 for both vector and keyword retrieval, chunk size 900 with 150 overlap, Reciprocal Rank Fusion k of 60 for merging results, 2 retries on insufficient evidence, minimum 2 evidence chunks, and 4 parallel collection probes. Memory retrieves up to 16 candidate memories within a 1,600-character budget. These defaults represent production-tuned values - change them carefully.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sits above the base RAG pipeline and adds two critical capabilities: multi-pass parallel retrieval and automated verification. On the left, Deep RAG mode controls search depth with three modes. Off uses the standard single-pass pipeline. Auto lets an LLM policy planner decide based on query complexity - broad research questions automatically escalate to deep mode. Force always uses the full deep pipeline. Within deep mode, three concurrent retrieval lanes run in parallel, each pursuing different search strategies. If a collection returns 24 or more chunks, full-read mode activates to ensure comprehensive coverage. One synchronous reflection round per pass lets the system self-correct before moving on. When 4 or more background tasks are queued, the system switches to background mode to avoid blocking interactive queries. Coverage goals specify how exhaustive the search should be: corpus_wide, exhaustive, targeted, or cross_document. Result modes control output format: answer, comparison, or inventory. On the right, the verification pipeline catches four types of problems. Missed document detection identifies documents that should have been retrieved but were not. Unsupported hop detection flags claims requiring evidence hops the system cannot make. Citation mismatch checks that citation text actually aligns with source material. And stale graph detection compares graph index age against document ingest timestamps. The 4-level relevance grading system scores chunks from 0 (not relevant) to 3 (highly relevant), using LLM grading for up to 12 chunks with a heuristic fallback that assigns score 3 when term overlap reaches 3 or more tokens.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subsystems handle data persistence, monitoring, and quality assurance. Persistence is built on PostgreSQL with the pgvector extension for storing and searching vector embeddings. Session transcripts, job records and results, and all tenant and user data are stored in Postgres with proper data isolation between tenants. The system supports database migrations for schema evolution. Observability integrates with LangFuse, an open-source LLM observability platform, for distributed tracing. Every tool call emits events that are captured as spans in a trace. Router decisions are logged for analysis. Turn-level status tracking provides real-time visibility into what the system is doing. SSE progress streaming pushes live updates to the frontend so users see agent progress in real time. An events.jsonl audit trail captures admin actions for compliance. The benchmark suite provides automated quality assurance. It includes a defense RAG test corpus with 245 lines of benchmark infrastructure for testing retrieval accuracy. Adversarial prompt testing validates the system against injection attacks. Regression detection catches silent quality degradation -- the kind of bug where the system still works but answers get subtly worse. Latency profiling measures performance per tool, and token cost analysis tracks LLM spending. The Docker sandbox for code execution uses 180-second timeouts in isolated containers. The control panel frontend is a separate React and TypeScript application built with Vite.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the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addresses a fundamental retrieval challenge: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feedback loop and worker scheduler are two operational subsystems that keep the system healthy at scale. The feedback loop in router/feedback_loop.py tracks whether routing decisions actually work. After each turn, it classifies the outcome as positive, neutral, or negative. Dissatisfaction detection uses regex to match phrases like 'try again', 'you missed', 'wrong', or 'rephrase' in follow-up messages. To avoid noise, it samples only 10 percent of neutral outcomes and caps at 25 reviews per tenant per day. All labeled data goes to JSONL review files — structured training data for quarterly router pattern retraining. The worker scheduler in runtime/worker_scheduler.py implements weighted-fair-queuing with three priority lanes. Urgent tasks like escalations and SLA-critical work get weight 8. Interactive tasks for normal chat get weight 3. Background batch work gets weight 1. Per-tenant token budgets prevent any single heavy user from starving everyone else — 24,000 tokens per minute with burst allowance up to 48,000. The token cost factor of 1.35x accounts for overhead in estimation. Preemption lets urgent jobs jump ahead of background work. Together, these subsystems ensure the router keeps improving and resources stay fairly distributed.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infrastructure modules provide the foundation for enterprise reliability. The RBAC service in authz/service.py at 269 lines implements principal and role membership tracking with tenant-scoped resource access control. It provides the foundation for extending to ABAC — attribute-based access control — for dataset and column-level checks. The memory v2 layer in persistence/postgres/memory_v2.py at 831 lines introduces MemoryEpisode and ManagedMemoryRecord types with importance and confidence scoring per entry, TTL hints for expiration, supersession tracking so corrected facts replace old ones, and provenance tracking back to source turns. Multi-scope support covers both conversation and user-level memories. Live progress and status tracking in the api directory provide real-time SSE status events and job progress updates. The status tracker grew to 827 lines to support per-tool-call granularity. Tool parallelism in tool_parallelism.py at 500 lines enables wave-based parallel tool execution with concurrency key conflict detection and a budget of 12 calls per turn — meaning multiple independent tool calls run simultaneously rather than sequentially. Prompt fallbacks at the package root provides resilient fallback prompts for all agent roles with a shared charter and per-role mission statements, so agents keep working even when skill files go missing. Task decomposition in task_decomposition.py at 341 lines handles mixed-intent request detection and routes them appropriately — if someone asks for arithmetic plus data analysis plus document search in one message, it splits that across the right specialists.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system handles extraction and storage well, but three enterprise gaps remain. First, conflict resolution -- when a user corrects a fact, both old and corrected versions persist and the agent sees contradictions. The system needs intelligent merging with timestamp-aware supersession. Second, scope isolation is too rigid -- user scope and conversation scope are hard walls with no pattern synthesis across sessions. User behavior, escalation history, and preferences cannot be tracked longitudinally. The planned cross_session_synthesizer would run periodic jobs to promote high-confidence user facts with confidence scores. Third, and most critical for regulated industries: compliance. Memory is currently write-once with no TTL enforcement, no PII redaction, and no right-to-forget capability. GDPR and CCPA require delete-on-request with auditable proof of erasure. The planned retention_policy.py would add per-scope TTLs, a Presidio-style PII classifier, and compliant deletion records written to the audit log before erasure. Memory v2 in persistence/postgres/memory_v2.py has laid the groundwork with MemoryEpisode types, importance scoring, TTL hints, and supersession tracking -- but enforcement of these policies is not yet active.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system handles intent classification and fair scheduling, but three enterprise gaps remain.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skills subsystem has dependency graph validation via dependency_graph.py and quality telemetry via telemetry.py, but three governance gaps remain. First, cryptographic signing -- skill packs use SHA256 checksums for integrity, but not asymmetric signatures for authenticity. A compromised database could inject a malicious skill that passes the checksum. The fix is asymmetric key signing with chain-of-custody tracking: author, approver, and timestamp on every skill pack. Second, prompt versioning -- system prompts are the single most important control surface for agent behavior, yet they are stored as inline strings with no version history, no diff view, and no rollback capability. A prompt change that degrades quality is invisible until users complain. The planned prompts/registry.py would add versioned prompt storage with SHA-based IDs, diff comparison, canary rollout at 10 percent traffic, and automatic rollback on quality regression. Third, structured output guardrails -- agent outputs are free-form text with no schema validation or content filtering. Agents can return malformed JSON, leak PII, or produce off-brand content. The planned runtime/guardrails.py would enforce Pydantic output schemas per agent mode and add content policy filters for PII, toxicity, and brand compliance with automatic retry on validation failure.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specifics of our system, let's establish what we mean by an "agent harness." In the AI world, an LLM by itself is just a text prediction engine -- it takes text in, produces text out, and that's it. An agent harness is the orchestration framework that wraps around the LLM to give it actual capabilities: tool access, memory, multi-step reasoning, and task management. Think of it like the difference between a brain in a jar and a brain connected to hands, eyes, and a nervous system. The harness handles the reasoning loop (observe, think, act, repeat), manages state between turns, routes requests to specialized agents, and enforces security policies on what tools each agent can use. Every major production AI system -- from coding assistants to enterprise chatbots -- uses some form of agent harness. Ours is built on LangChain/LangGraph with custom extensions for multi-agent coordination, knowledge graph integration, and enterprise access control. The next few slides break down why this architecture matters and how the core patterns work.</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463209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case for why we need the harness at all. On the left side, you see the four fundamental limitations of raw LLMs. "Single-Turn Only" means the model answers one question at a time with no ability to take actions or loop back if the answer is incomplete. "No Tool Access" means it cannot search databases, execute code, or call APIs -- it only generates text. "No Memory" means every request starts from scratch with no knowledge of previous conversations. And "No Planning" means it cannot decompose complex multi-step tasks. On the right side, each limitation maps to a specific harness capability. The multi-turn loop implements the ReAct pattern where the agent can observe, think, act, and repeat until the task is done. Tool integration provides a registry of callable functions -- in our case, 57 tools across 9 groups. Session and memory gives the agent persistence across turns plus long-term memory extraction. And task orchestration enables the coordinator agent to decompose work into parallel subtasks dispatched to specialized workers. Each of these capabilities is a distinct subsystem in our codebase that we will walk through in detail.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516199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architecture that every slide after this will reference. The core loop at the top -- Observe, Think, Act, Repeat -- is called the ReAct pattern, which stands for Reasoning plus Acting. It was introduced in a 2022 research paper and has become the standard approach for building autonomous agents. User input comes in, gets classified by the routing layer, enters the agent's ReAct loop where the LLM reasons about what to do, calls tools as needed, evaluates results, and either loops again or returns a response. Below the loop, the five key layers of any harness are listed. The Routing Layer classifies intent and selects the right agent -- in our system this is a two-phase deterministic-then-LLM approach. The Agent Registry holds declarative agent definitions as markdown files with YAML frontmatter, not hard-coded classes. The Execution Engine runs the actual LLM calls in the correct mode -- basic, ReAct, RAG, coordinator, and others. The Tool System is a registry of callable functions with per-agent whitelists and policy enforcement. And Memory and State handles session persistence, long-term memory extraction, and context budget management. Our system implements all five of these layers, and we will deep-dive into each one.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3510350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ReAct pattern with a concrete example. The user asks "What does the policy say about remote work?" On the left, you see the four-step loop: Observe (receive the query and conversation context), Think (the LLM reasons about what to do next using chain-of-thought), Act (call a tool like search, code execution, or an API), and Evaluate (check if the result is complete -- if not, loop back to Observe). On the right, the example traces through the actual steps. The router detects RAG intent with 0.92 confidence and selects the rag_worker agent. Step 1 parses the query for search terms. Step 2 runs hybrid search combining vector similarity and keyword matching, finding 12 chunks from the HR Policy PDF. Step 3 uses a judge LLM -- a separate, fast, cheap model -- to grade each chunk's relevance on a 0-3 scale. Five chunks score 2 or higher and pass the filter. Step 4 synthesizes a grounded answer with inline citations. The key insight is that this loop is self-correcting: if the first retrieval does not find enough evidence, the agent can reformulate the query and search again, up to a configurable number of retries. This is fundamentally different from a single LLM call.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106295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tasks need different execution strategies, and this slide shows the four main categories. Basic mode is a single LLM call with no tools -- used for greetings, simple Q and A, and general knowledge questions. It is fast, cheap, and the router defaults to it when confidence is low. ReAct mode is the full reasoning loop with tool calling -- the agent can call any of its allowed tools, evaluate results, and loop up to its max_steps limit. This is used by the general agent, data_analyst, utility, and graph_manager. RAG mode is a specialized pipeline specifically designed for document search: it retrieves evidence from indexed documents, grades relevance with a judge LLM, synthesizes a grounded answer, and produces structured citations. The rag_worker agent uses this mode exclusively. Coordinator mode is the most powerful -- it does not do work itself but instead decomposes tasks using a planner agent, dispatches subtasks to parallel workers (like data_analyst, rag_worker, utility), collects their results through a team mailbox system, synthesizes with a finalizer, and optionally fact-checks with a verifier. The coordinator can manage up to 4 concurrent workers and will loop through revision rounds if the verifier flags issues. Each agent in our system declares exactly one mode in its definition file.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356237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the complete tool inventory and RAG pipeline overview in one view. On the left, the 57 tools are organized into 9 functional groups. Orchestration has 14 tools for multi-agent coordination -- spawning workers, messaging between agents, team mailbox channels, and job control. RAG Gateway has 12 tools for document operations -- search, read, compare, extract requirements, consolidate evidence. RAG Workbench has 3 tools for low-level corpus access -- search_corpus_chunks for direct vector and keyword retrieval, grep_corpus_chunks for regex pattern matching across chunk text, and fetch_chunk_window for retrieving surrounding context around a known chunk. Analyst has 11 tools for data work -- loading datasets, inspecting columns, executing code in a Docker sandbox, scratchpad operations, and workspace file management. Graph Gateway has 8 tools for knowledge graph queries -- listing indexes, searching graphs, explaining source plans, and importing graph data. Memory has 3 tools for saving, loading, and listing memories. Utility has 3 tools -- calculator, listing indexed docs, and searching skills. Discovery has 2 tools for dynamic tool discovery via MCP. And Skills has 1 tool for executing loaded skills at runtime. On the right, the RAG pipeline shows the five-stage process: query analysis, hybrid retrieval combining vector and keyword search, judge grading where a small fast LLM scores each chunk 0-3, evidence assembly with deduplication and ranking, and synthesis where the main LLM generates a grounded answer with inline citations. Each agent gets a curated subset of tools via its allowed_tools whitelist in its definition file -- no agent has access to everything.</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9922857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major subsystems define what makes this harness enterprise-grade rather than a simple chatbot. GraphRAG adds knowledge graph integration -- instead of just searching by text similarity, we can follow entity relationships across documents. The graph module has 10 files, a dedicated graph_manager agent with 12 tools, and supports both Microsoft GraphRAG and Neo4j backends. It uses a phased build pipeline: Phase 1 extracts entities and relationships via LLM, Phase 2 detects communities and generates reports, Phase 3 builds embeddings and indexes. Four query methods are available: local (entity-level), global (corpus-wide themes), drift (temporal change tracking), and SQL via a StructuredSearchAdapter. MCP -- Model Context Protocol -- enables dynamic tool discovery from external servers. It uses Fernet symmetric encryption for secrets, HTTPS enforcement to prevent SSRF attacks, and a tool deferral system where all MCP tools require explicit approval before execution. The Worker System provides multi-agent coordination with 14 orchestration tools. Workers run on separate threads with their own QueryLoop instances, communicate through a team mailbox pattern, and support durable jobs that survive server restarts. The coordinator agent manages up to 9 different worker agent types.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9266617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shows what happens when a user asks a broad, corpus-scale question like "Which systems have supply chain vulnerabilities across all programs?" The router detects broad research intent -- keywords like "across all," "which systems," and the sheer query length push the complexity score above 3, which triggers deep RAG mode. The system in deep_rag.py computes a complexity score from multiple factors: word count over 24 adds points, "across" and "entire" add a broad-research bonus of 2, and citation-related keywords add another point. When the score crosses the threshold, the policy engine sets search_mode to "deep" and enables up to 4 reflection rounds with 3 to 5 parallel retrieval lanes. The research_coordinator takes over because it has rag_researcher in its worker pool -- something the regular coordinator lacks. The rag_researcher agent is a ReAct-mode specialist with 17 tools including the RAG Workbench trio: search_corpus_chunks for direct vector and keyword retrieval at the chunk level, grep_corpus_chunks for regex pattern matching across raw chunk text, and fetch_chunk_window for pulling surrounding context around a specific chunk ID. Meanwhile, graph_manager queries the Neo4j-backed knowledge graph using one of three GraphRAG methods -- local, global, or drift search -- to find entity relationships like "System A depends on System B which has vulnerability CVE-2024-1234." The graph evidence and RAG evidence are assembled together through handoff artifacts. The verifier then checks whether every claimed vulnerability has a source citation and whether all systems from the graph were covered. If coverage gaps exist, a revision round sends the planner back with specific instructions like "System C appeared in the entity graph but was not analyzed." This can loop up to 4 times. The result is a comprehensive vulnerability map that combines document evidence with structural knowledge graph relationships -- something neither RAG nor GraphRAG could produce alone.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demonstrates the research_coordinator, which is distinct from the regular coordinator. The user uploads two contracts and asks to compare liability clauses and flag risks. The router detects attachments plus a coordinator campaign intent pattern and routes to research_coordinator. The key difference from the regular coordinator is the worker pool: research_coordinator includes rag_researcher in its allowed_worker_agents list alongside planner, rag_worker, general, graph_manager, finalizer, and verifier. This means it can dispatch the specialized rag_researcher agent for fine-grained corpus exploration. The research planner decomposes the task into parallel document extraction jobs. Two rag_worker instances run simultaneously -- one extracting liability clauses from Contract A, the other from Contract B. Each worker gets a scoped copy of the parent SessionState via _build_scoped_worker_state(), which means workers cannot pollute each other's session data. This is critical for parallel execution -- without session scoping, two workers writing to the same session would create race conditions. The handoff artifact system passes typed intermediate results between pipeline stages. When the rag_workers finish, they produce doc_digest and clause_redline_inventory artifacts. These artifacts have a whitelist controlling which downstream agents can consume them -- the finalizer and general agent can read clause inventories, but a utility agent cannot. The general agent then cross-references the extracted clauses, comparing indemnification limits, force majeure definitions, termination rights, and liability caps between the two contracts. The finalizer synthesizes a structured comparison report. The verifier then performs coverage checking: did we find all liability-related sections? Are the cited clause numbers actually in the source documents? If the verifier finds gaps -- say a limitation of liability section was mentioned in Contract B's table of contents but never extracted -- it triggers a revision loop. The planner receives the verifier's feedback and creates a targeted follow-up task. This loop can run up to 4 rounds, configurable via max_revision_rounds. The result is a comprehensive comparison with clause-level citations and a risk assessment, all verified against the source documents.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illustrates two important patterns that work together: MCP tool discovery and cross-agent escalation. When the system has more tools than can fit in a single LLM context window, it defers some tools to keep the initial prompt lean. The agent's system prompt includes a "Deferred Tools" section listing available tool groups and example names, with instructions to call discover_tools() before using any deferred capability. Here is a concrete example: a user asks the general agent to "check our compliance score in the external audit system." The general agent does not have audit system tools in its initial tool set. But it sees the deferred tools hint mentioning "api_integrations" and "compliance_tools." It calls discover_tools(query="compliance audit score checking"), which searches the deferred tool catalog using semantic matching. The matching tools are returned and added to the agent's available tool set for this turn. The agent then calls call_deferred_tool(tool_name="audit_compliance_check", arguments=...) to execute the resolved tool. This is powered by MCP -- the Model Context Protocol -- which handles external tool server connections with Fernet symmetric encryption for credential security. The second pattern shown here is cross-agent escalation via invoke_agent(). Mid-task, any agent can call invoke_agent(agent_name="data_analyst", message="Analyze this compliance data") to hand off a subtask to a specialist. Unlike the coordinator pattern where work is planned upfront, invoke_agent() is reactive -- the agent discovers mid-execution that it needs capabilities it does not have. The key architectural benefit is that invoke_agent() preserves the current session context. The invoked agent gets a scoped copy of the session, runs its own QueryLoop with its own tools and mode, and returns its result to the calling agent. This means you can compose agent capabilities dynamically without pre-planning every possible workflow. The general agent might discover it needs data analysis, invoke data_analyst, get results back, and continue its own reasoning loop with those results incorporated. This is fundamentally different from the coordinator's top-down decomposition -- it is bottom-up, emergent composition of agent capabilities.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7.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8.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9.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0.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1.xml"/>
</Relationships>

</file>

<file path=ppt/slides/_rels/slide7.xml.rels><?xml version="1.0" encoding="utf-8"?>
<Relationships xmlns="http://schemas.openxmlformats.org/package/2006/relationships">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2.xml"/>
</Relationships>

</file>

<file path=ppt/slides/_rels/slide11.xml.rels><?xml version="1.0" encoding="utf-8"?>
<Relationships xmlns="http://schemas.openxmlformats.org/package/2006/relationships">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3.xml"/>
</Relationships>

</file>

<file path=ppt/slides/_rels/slide13.xml.rels><?xml version="1.0" encoding="utf-8"?>
<Relationships xmlns="http://schemas.openxmlformats.org/package/2006/relationships">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
  <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
  <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
  <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
  <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
  <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
  <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
  <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
  <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
  <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
  <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
  <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
  <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
  <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
  <Relationship Id="rId2" Type="http://schemas.openxmlformats.org/officeDocument/2006/relationships/notesSlide" Target="../notesSlides/notesSlide30.xml"/>
  <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
  <Relationship Id="rId2" Type="http://schemas.openxmlformats.org/officeDocument/2006/relationships/notesSlide" Target="../notesSlides/notesSlide31.xml"/>
  <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
  <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
  <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
  <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
  <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
  <Relationship Id="rId2" Type="http://schemas.openxmlformats.org/officeDocument/2006/relationships/notesSlide" Target="../notesSlides/notesSlide36.xml"/>
  <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
  <Relationship Id="rId2" Type="http://schemas.openxmlformats.org/officeDocument/2006/relationships/notesSlide" Target="../notesSlides/notesSlide37.xml"/>
  <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
  <Relationship Id="rId2" Type="http://schemas.openxmlformats.org/officeDocument/2006/relationships/notesSlide" Target="../notesSlides/notesSlide38.xml"/>
  <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
  <Relationship Id="rId2" Type="http://schemas.openxmlformats.org/officeDocument/2006/relationships/notesSlide" Target="../notesSlides/notesSlide39.xml"/>
  <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
  <Relationship Id="rId2" Type="http://schemas.openxmlformats.org/officeDocument/2006/relationships/notesSlide" Target="../notesSlides/notesSlide40.xml"/>
  <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
  <Relationship Id="rId2" Type="http://schemas.openxmlformats.org/officeDocument/2006/relationships/notesSlide" Target="../notesSlides/notesSlide41.xml"/>
  <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
  <Relationship Id="rId2" Type="http://schemas.openxmlformats.org/officeDocument/2006/relationships/notesSlide" Target="../notesSlides/notesSlide42.xml"/>
  <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
  <Relationship Id="rId2" Type="http://schemas.openxmlformats.org/officeDocument/2006/relationships/notesSlide" Target="../notesSlides/notesSlide43.xml"/>
  <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
  <Relationship Id="rId2" Type="http://schemas.openxmlformats.org/officeDocument/2006/relationships/notesSlide" Target="../notesSlides/notesSlide44.xml"/>
  <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
  <Relationship Id="rId2" Type="http://schemas.openxmlformats.org/officeDocument/2006/relationships/notesSlide" Target="../notesSlides/notesSlide45.xml"/>
  <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
  <Relationship Id="rId2" Type="http://schemas.openxmlformats.org/officeDocument/2006/relationships/notesSlide" Target="../notesSlides/notesSlide46.xml"/>
  <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6.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endParaR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pPr>
            <a:r>
              <a:t>Planners decompose complex work into subtasks dispatched in parallel.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xml:space="preserve">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xml:space="preserve">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xml:space="preserve">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xml:space="preserve">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xml:space="preserve">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xml:space="preserve">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xml:space="preserve">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xml:space="preserve">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xml:space="preserve">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xml:space="preserve"> Streamed via SSE with citations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13</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57</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8</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9</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57 tools in 9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(11)</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127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51 public endpoints + 76 admin endpoints = 127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(51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(76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Key Subsystems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~819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 xml:space="preserve">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34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11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20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12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top_level_or_worker</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specialized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34</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13</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20</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20</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28</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Eight real scenarios traced end-to-end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rag_grounding_intent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5999"/>
            <a:ext cx="8138160" cy="1888757"/>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4154675"/>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612648" y="4119353"/>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(context-dependent concurrency)</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 xml:space="preserve">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 xml:space="preserve">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Authorization Subsystem (authz/)</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457200"/>
          </a:xfrm>
          <a:prstGeom prst="rect">
            <a:avLst/>
          </a:prstGeom>
          <a:noFill/>
        </p:spPr>
        <p:txBody>
          <a:bodyPr wrap="square" anchor="t"/>
          <a:lstStyle/>
          <a:p>
            <a:pPr algn="l">
              <a:defRPr sz="1300" b="0">
                <a:solidFill>
                  <a:srgbClr val="666666"/>
                </a:solidFill>
                <a:latin typeface="Arial"/>
              </a:defRPr>
            </a:pPr>
            <a:r>
              <a:t>Fine-grained access control with principals, roles, bindings, and permissions</a:t>
            </a:r>
          </a:p>
        </p:txBody>
      </p:sp>
      <p:sp>
        <p:nvSpPr>
          <p:cNvPr id="6" name="TextBox 5"/>
          <p:cNvSpPr txBox="1"/>
          <p:nvPr/>
        </p:nvSpPr>
        <p:spPr>
          <a:xfrm>
            <a:off x="502920" y="1371600"/>
            <a:ext cx="3840480" cy="320040"/>
          </a:xfrm>
          <a:prstGeom prst="rect">
            <a:avLst/>
          </a:prstGeom>
          <a:noFill/>
        </p:spPr>
        <p:txBody>
          <a:bodyPr wrap="square" anchor="t"/>
          <a:lstStyle/>
          <a:p>
            <a:pPr algn="l">
              <a:defRPr sz="1300" b="1">
                <a:solidFill>
                  <a:srgbClr val="0097A7"/>
                </a:solidFill>
                <a:latin typeface="Arial"/>
              </a:defRPr>
            </a:pPr>
            <a:r>
              <a:t>RBAC MODEL</a:t>
            </a:r>
          </a:p>
        </p:txBody>
      </p:sp>
      <p:sp>
        <p:nvSpPr>
          <p:cNvPr id="7" name="Oval 6"/>
          <p:cNvSpPr/>
          <p:nvPr/>
        </p:nvSpPr>
        <p:spPr>
          <a:xfrm>
            <a:off x="502920" y="178308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37360"/>
            <a:ext cx="1280160" cy="256032"/>
          </a:xfrm>
          <a:prstGeom prst="rect">
            <a:avLst/>
          </a:prstGeom>
          <a:noFill/>
        </p:spPr>
        <p:txBody>
          <a:bodyPr wrap="square" anchor="t"/>
          <a:lstStyle/>
          <a:p>
            <a:pPr algn="l">
              <a:defRPr sz="1100" b="1">
                <a:solidFill>
                  <a:srgbClr val="333333"/>
                </a:solidFill>
                <a:latin typeface="Arial"/>
              </a:defRPr>
            </a:pPr>
            <a:r>
              <a:t>Principals</a:t>
            </a:r>
          </a:p>
        </p:txBody>
      </p:sp>
      <p:sp>
        <p:nvSpPr>
          <p:cNvPr id="9" name="TextBox 8"/>
          <p:cNvSpPr txBox="1"/>
          <p:nvPr/>
        </p:nvSpPr>
        <p:spPr>
          <a:xfrm>
            <a:off x="2011680" y="1737360"/>
            <a:ext cx="2286000" cy="256032"/>
          </a:xfrm>
          <a:prstGeom prst="rect">
            <a:avLst/>
          </a:prstGeom>
          <a:noFill/>
        </p:spPr>
        <p:txBody>
          <a:bodyPr wrap="square" anchor="t"/>
          <a:lstStyle/>
          <a:p>
            <a:pPr algn="l">
              <a:defRPr sz="1000" b="0">
                <a:solidFill>
                  <a:srgbClr val="666666"/>
                </a:solidFill>
                <a:latin typeface="Arial"/>
              </a:defRPr>
            </a:pPr>
            <a:r>
              <a:t>Users and service accounts with unique IDs</a:t>
            </a:r>
          </a:p>
        </p:txBody>
      </p:sp>
      <p:sp>
        <p:nvSpPr>
          <p:cNvPr id="10" name="Oval 9"/>
          <p:cNvSpPr/>
          <p:nvPr/>
        </p:nvSpPr>
        <p:spPr>
          <a:xfrm>
            <a:off x="502920" y="2130552"/>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084832"/>
            <a:ext cx="1280160" cy="256032"/>
          </a:xfrm>
          <a:prstGeom prst="rect">
            <a:avLst/>
          </a:prstGeom>
          <a:noFill/>
        </p:spPr>
        <p:txBody>
          <a:bodyPr wrap="square" anchor="t"/>
          <a:lstStyle/>
          <a:p>
            <a:pPr algn="l">
              <a:defRPr sz="1100" b="1">
                <a:solidFill>
                  <a:srgbClr val="333333"/>
                </a:solidFill>
                <a:latin typeface="Arial"/>
              </a:defRPr>
            </a:pPr>
            <a:r>
              <a:t>Roles</a:t>
            </a:r>
          </a:p>
        </p:txBody>
      </p:sp>
      <p:sp>
        <p:nvSpPr>
          <p:cNvPr id="12" name="TextBox 11"/>
          <p:cNvSpPr txBox="1"/>
          <p:nvPr/>
        </p:nvSpPr>
        <p:spPr>
          <a:xfrm>
            <a:off x="2011680" y="2084832"/>
            <a:ext cx="2286000" cy="256032"/>
          </a:xfrm>
          <a:prstGeom prst="rect">
            <a:avLst/>
          </a:prstGeom>
          <a:noFill/>
        </p:spPr>
        <p:txBody>
          <a:bodyPr wrap="square" anchor="t"/>
          <a:lstStyle/>
          <a:p>
            <a:pPr algn="l">
              <a:defRPr sz="1000" b="0">
                <a:solidFill>
                  <a:srgbClr val="666666"/>
                </a:solidFill>
                <a:latin typeface="Arial"/>
              </a:defRPr>
            </a:pPr>
            <a:r>
              <a:t>Named permission bundles (admin, editor, viewer)</a:t>
            </a:r>
          </a:p>
        </p:txBody>
      </p:sp>
      <p:sp>
        <p:nvSpPr>
          <p:cNvPr id="13" name="Oval 12"/>
          <p:cNvSpPr/>
          <p:nvPr/>
        </p:nvSpPr>
        <p:spPr>
          <a:xfrm>
            <a:off x="502920" y="2478024"/>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2432304"/>
            <a:ext cx="1280160" cy="256032"/>
          </a:xfrm>
          <a:prstGeom prst="rect">
            <a:avLst/>
          </a:prstGeom>
          <a:noFill/>
        </p:spPr>
        <p:txBody>
          <a:bodyPr wrap="square" anchor="t"/>
          <a:lstStyle/>
          <a:p>
            <a:pPr algn="l">
              <a:defRPr sz="1100" b="1">
                <a:solidFill>
                  <a:srgbClr val="333333"/>
                </a:solidFill>
                <a:latin typeface="Arial"/>
              </a:defRPr>
            </a:pPr>
            <a:r>
              <a:t>Bindings</a:t>
            </a:r>
          </a:p>
        </p:txBody>
      </p:sp>
      <p:sp>
        <p:nvSpPr>
          <p:cNvPr id="15" name="TextBox 14"/>
          <p:cNvSpPr txBox="1"/>
          <p:nvPr/>
        </p:nvSpPr>
        <p:spPr>
          <a:xfrm>
            <a:off x="2011680" y="2432304"/>
            <a:ext cx="2286000" cy="256032"/>
          </a:xfrm>
          <a:prstGeom prst="rect">
            <a:avLst/>
          </a:prstGeom>
          <a:noFill/>
        </p:spPr>
        <p:txBody>
          <a:bodyPr wrap="square" anchor="t"/>
          <a:lstStyle/>
          <a:p>
            <a:pPr algn="l">
              <a:defRPr sz="1000" b="0">
                <a:solidFill>
                  <a:srgbClr val="666666"/>
                </a:solidFill>
                <a:latin typeface="Arial"/>
              </a:defRPr>
            </a:pPr>
            <a:r>
              <a:t>Map principals to roles on specific resources</a:t>
            </a:r>
          </a:p>
        </p:txBody>
      </p:sp>
      <p:sp>
        <p:nvSpPr>
          <p:cNvPr id="16" name="Oval 15"/>
          <p:cNvSpPr/>
          <p:nvPr/>
        </p:nvSpPr>
        <p:spPr>
          <a:xfrm>
            <a:off x="502920" y="2825496"/>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2779776"/>
            <a:ext cx="1280160" cy="256032"/>
          </a:xfrm>
          <a:prstGeom prst="rect">
            <a:avLst/>
          </a:prstGeom>
          <a:noFill/>
        </p:spPr>
        <p:txBody>
          <a:bodyPr wrap="square" anchor="t"/>
          <a:lstStyle/>
          <a:p>
            <a:pPr algn="l">
              <a:defRPr sz="1100" b="1">
                <a:solidFill>
                  <a:srgbClr val="333333"/>
                </a:solidFill>
                <a:latin typeface="Arial"/>
              </a:defRPr>
            </a:pPr>
            <a:r>
              <a:t>Memberships</a:t>
            </a:r>
          </a:p>
        </p:txBody>
      </p:sp>
      <p:sp>
        <p:nvSpPr>
          <p:cNvPr id="18" name="TextBox 17"/>
          <p:cNvSpPr txBox="1"/>
          <p:nvPr/>
        </p:nvSpPr>
        <p:spPr>
          <a:xfrm>
            <a:off x="2011680" y="2779776"/>
            <a:ext cx="2286000" cy="256032"/>
          </a:xfrm>
          <a:prstGeom prst="rect">
            <a:avLst/>
          </a:prstGeom>
          <a:noFill/>
        </p:spPr>
        <p:txBody>
          <a:bodyPr wrap="square" anchor="t"/>
          <a:lstStyle/>
          <a:p>
            <a:pPr algn="l">
              <a:defRPr sz="1000" b="0">
                <a:solidFill>
                  <a:srgbClr val="666666"/>
                </a:solidFill>
                <a:latin typeface="Arial"/>
              </a:defRPr>
            </a:pPr>
            <a:r>
              <a:t>Group-level role inheritance</a:t>
            </a:r>
          </a:p>
        </p:txBody>
      </p:sp>
      <p:sp>
        <p:nvSpPr>
          <p:cNvPr id="19" name="Oval 18"/>
          <p:cNvSpPr/>
          <p:nvPr/>
        </p:nvSpPr>
        <p:spPr>
          <a:xfrm>
            <a:off x="502920" y="3172968"/>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127248"/>
            <a:ext cx="1280160" cy="256032"/>
          </a:xfrm>
          <a:prstGeom prst="rect">
            <a:avLst/>
          </a:prstGeom>
          <a:noFill/>
        </p:spPr>
        <p:txBody>
          <a:bodyPr wrap="square" anchor="t"/>
          <a:lstStyle/>
          <a:p>
            <a:pPr algn="l">
              <a:defRPr sz="1100" b="1">
                <a:solidFill>
                  <a:srgbClr val="333333"/>
                </a:solidFill>
                <a:latin typeface="Arial"/>
              </a:defRPr>
            </a:pPr>
            <a:r>
              <a:t>Permissions</a:t>
            </a:r>
          </a:p>
        </p:txBody>
      </p:sp>
      <p:sp>
        <p:nvSpPr>
          <p:cNvPr id="21" name="TextBox 20"/>
          <p:cNvSpPr txBox="1"/>
          <p:nvPr/>
        </p:nvSpPr>
        <p:spPr>
          <a:xfrm>
            <a:off x="2011680" y="3127248"/>
            <a:ext cx="2286000" cy="256032"/>
          </a:xfrm>
          <a:prstGeom prst="rect">
            <a:avLst/>
          </a:prstGeom>
          <a:noFill/>
        </p:spPr>
        <p:txBody>
          <a:bodyPr wrap="square" anchor="t"/>
          <a:lstStyle/>
          <a:p>
            <a:pPr algn="l">
              <a:defRPr sz="1000" b="0">
                <a:solidFill>
                  <a:srgbClr val="666666"/>
                </a:solidFill>
                <a:latin typeface="Arial"/>
              </a:defRPr>
            </a:pPr>
            <a:r>
              <a:t>Granular resource:action pairs</a:t>
            </a:r>
          </a:p>
        </p:txBody>
      </p:sp>
      <p:sp>
        <p:nvSpPr>
          <p:cNvPr id="22" name="TextBox 21"/>
          <p:cNvSpPr txBox="1"/>
          <p:nvPr/>
        </p:nvSpPr>
        <p:spPr>
          <a:xfrm>
            <a:off x="4846320" y="1371600"/>
            <a:ext cx="3840480" cy="320040"/>
          </a:xfrm>
          <a:prstGeom prst="rect">
            <a:avLst/>
          </a:prstGeom>
          <a:noFill/>
        </p:spPr>
        <p:txBody>
          <a:bodyPr wrap="square" anchor="t"/>
          <a:lstStyle/>
          <a:p>
            <a:pPr algn="l">
              <a:defRPr sz="1300" b="1">
                <a:solidFill>
                  <a:srgbClr val="FF9800"/>
                </a:solidFill>
                <a:latin typeface="Arial"/>
              </a:defRPr>
            </a:pPr>
            <a:r>
              <a:t>10 ADMIN ENDPOINTS</a:t>
            </a:r>
          </a:p>
        </p:txBody>
      </p:sp>
      <p:sp>
        <p:nvSpPr>
          <p:cNvPr id="23" name="TextBox 22"/>
          <p:cNvSpPr txBox="1"/>
          <p:nvPr/>
        </p:nvSpPr>
        <p:spPr>
          <a:xfrm>
            <a:off x="4846320" y="1783080"/>
            <a:ext cx="3840480" cy="228600"/>
          </a:xfrm>
          <a:prstGeom prst="rect">
            <a:avLst/>
          </a:prstGeom>
          <a:noFill/>
        </p:spPr>
        <p:txBody>
          <a:bodyPr wrap="square" anchor="t"/>
          <a:lstStyle/>
          <a:p>
            <a:pPr algn="l">
              <a:defRPr sz="1000" b="0">
                <a:solidFill>
                  <a:srgbClr val="444444"/>
                </a:solidFill>
                <a:latin typeface="Consolas"/>
              </a:defRPr>
            </a:pPr>
            <a:r>
              <a:t>GET/POST  /admin/access/principals</a:t>
            </a:r>
          </a:p>
        </p:txBody>
      </p:sp>
      <p:sp>
        <p:nvSpPr>
          <p:cNvPr id="24" name="TextBox 23"/>
          <p:cNvSpPr txBox="1"/>
          <p:nvPr/>
        </p:nvSpPr>
        <p:spPr>
          <a:xfrm>
            <a:off x="4846320" y="2057400"/>
            <a:ext cx="3840480" cy="228600"/>
          </a:xfrm>
          <a:prstGeom prst="rect">
            <a:avLst/>
          </a:prstGeom>
          <a:noFill/>
        </p:spPr>
        <p:txBody>
          <a:bodyPr wrap="square" anchor="t"/>
          <a:lstStyle/>
          <a:p>
            <a:pPr algn="l">
              <a:defRPr sz="1000" b="0">
                <a:solidFill>
                  <a:srgbClr val="444444"/>
                </a:solidFill>
                <a:latin typeface="Consolas"/>
              </a:defRPr>
            </a:pPr>
            <a:r>
              <a:t>GET/POST  /admin/access/roles</a:t>
            </a:r>
          </a:p>
        </p:txBody>
      </p:sp>
      <p:sp>
        <p:nvSpPr>
          <p:cNvPr id="25" name="TextBox 24"/>
          <p:cNvSpPr txBox="1"/>
          <p:nvPr/>
        </p:nvSpPr>
        <p:spPr>
          <a:xfrm>
            <a:off x="4846320" y="2331720"/>
            <a:ext cx="3840480" cy="228600"/>
          </a:xfrm>
          <a:prstGeom prst="rect">
            <a:avLst/>
          </a:prstGeom>
          <a:noFill/>
        </p:spPr>
        <p:txBody>
          <a:bodyPr wrap="square" anchor="t"/>
          <a:lstStyle/>
          <a:p>
            <a:pPr algn="l">
              <a:defRPr sz="1000" b="0">
                <a:solidFill>
                  <a:srgbClr val="444444"/>
                </a:solidFill>
                <a:latin typeface="Consolas"/>
              </a:defRPr>
            </a:pPr>
            <a:r>
              <a:t>GET/POST  /admin/access/bindings</a:t>
            </a:r>
          </a:p>
        </p:txBody>
      </p:sp>
      <p:sp>
        <p:nvSpPr>
          <p:cNvPr id="26" name="TextBox 25"/>
          <p:cNvSpPr txBox="1"/>
          <p:nvPr/>
        </p:nvSpPr>
        <p:spPr>
          <a:xfrm>
            <a:off x="4846320" y="2606040"/>
            <a:ext cx="3840480" cy="228600"/>
          </a:xfrm>
          <a:prstGeom prst="rect">
            <a:avLst/>
          </a:prstGeom>
          <a:noFill/>
        </p:spPr>
        <p:txBody>
          <a:bodyPr wrap="square" anchor="t"/>
          <a:lstStyle/>
          <a:p>
            <a:pPr algn="l">
              <a:defRPr sz="1000" b="0">
                <a:solidFill>
                  <a:srgbClr val="444444"/>
                </a:solidFill>
                <a:latin typeface="Consolas"/>
              </a:defRPr>
            </a:pPr>
            <a:r>
              <a:t>GET/POST  /admin/access/memberships</a:t>
            </a:r>
          </a:p>
        </p:txBody>
      </p:sp>
      <p:sp>
        <p:nvSpPr>
          <p:cNvPr id="27" name="TextBox 26"/>
          <p:cNvSpPr txBox="1"/>
          <p:nvPr/>
        </p:nvSpPr>
        <p:spPr>
          <a:xfrm>
            <a:off x="4846320" y="2880360"/>
            <a:ext cx="3840480" cy="228600"/>
          </a:xfrm>
          <a:prstGeom prst="rect">
            <a:avLst/>
          </a:prstGeom>
          <a:noFill/>
        </p:spPr>
        <p:txBody>
          <a:bodyPr wrap="square" anchor="t"/>
          <a:lstStyle/>
          <a:p>
            <a:pPr algn="l">
              <a:defRPr sz="1000" b="0">
                <a:solidFill>
                  <a:srgbClr val="444444"/>
                </a:solidFill>
                <a:latin typeface="Consolas"/>
              </a:defRPr>
            </a:pPr>
            <a:r>
              <a:t>GET       /admin/access/permissions</a:t>
            </a:r>
          </a:p>
        </p:txBody>
      </p:sp>
      <p:sp>
        <p:nvSpPr>
          <p:cNvPr id="28" name="TextBox 27"/>
          <p:cNvSpPr txBox="1"/>
          <p:nvPr/>
        </p:nvSpPr>
        <p:spPr>
          <a:xfrm>
            <a:off x="4846320" y="3154680"/>
            <a:ext cx="3840480" cy="228600"/>
          </a:xfrm>
          <a:prstGeom prst="rect">
            <a:avLst/>
          </a:prstGeom>
          <a:noFill/>
        </p:spPr>
        <p:txBody>
          <a:bodyPr wrap="square" anchor="t"/>
          <a:lstStyle/>
          <a:p>
            <a:pPr algn="l">
              <a:defRPr sz="1000" b="0">
                <a:solidFill>
                  <a:srgbClr val="444444"/>
                </a:solidFill>
                <a:latin typeface="Consolas"/>
              </a:defRPr>
            </a:pPr>
            <a:r>
              <a:t>GET       /admin/access/effective-access</a:t>
            </a:r>
          </a:p>
        </p:txBody>
      </p:sp>
      <p:sp>
        <p:nvSpPr>
          <p:cNvPr id="29" name="Rectangle 28"/>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3977639"/>
            <a:ext cx="7680960" cy="731520"/>
          </a:xfrm>
          <a:prstGeom prst="rect">
            <a:avLst/>
          </a:prstGeom>
          <a:noFill/>
        </p:spPr>
        <p:txBody>
          <a:bodyPr wrap="square" anchor="t"/>
          <a:lstStyle/>
          <a:p>
            <a:pPr algn="l">
              <a:defRPr sz="1100" b="0">
                <a:solidFill>
                  <a:srgbClr val="CCCCCC"/>
                </a:solidFill>
                <a:latin typeface="Arial"/>
              </a:defRPr>
            </a:pPr>
            <a:r>
              <a:t>authz/service.py provides tenant-scoped resource access. Integrated with API gateway (gateway_security.py) and connector endpoints (connector_security.py). Per-skill access filtering in SkillRuntime. Tool policy enforcement in tools/policy.py.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Documents Subsystem Deep Dive (documents/)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16 files across extractors, compare, consolidation, similarity, evidence, templates, and serializers</a:t>
            </a:r>
          </a:p>
        </p:txBody>
      </p:sp>
      <p:sp>
        <p:nvSpPr>
          <p:cNvPr id="6" name="Rectangle 5"/>
          <p:cNvSpPr/>
          <p:nvPr/>
        </p:nvSpPr>
        <p:spPr>
          <a:xfrm>
            <a:off x="50292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5544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2286000" cy="365760"/>
          </a:xfrm>
          <a:prstGeom prst="rect">
            <a:avLst/>
          </a:prstGeom>
          <a:noFill/>
        </p:spPr>
        <p:txBody>
          <a:bodyPr wrap="square" anchor="t"/>
          <a:lstStyle/>
          <a:p>
            <a:pPr algn="l">
              <a:defRPr sz="1300" b="1">
                <a:solidFill>
                  <a:srgbClr val="FFFFFF"/>
                </a:solidFill>
                <a:latin typeface="Arial"/>
              </a:defRPr>
            </a:pPr>
            <a:r>
              <a:t>Document Extraction</a:t>
            </a:r>
          </a:p>
        </p:txBody>
      </p:sp>
      <p:sp>
        <p:nvSpPr>
          <p:cNvPr id="9" name="TextBox 8"/>
          <p:cNvSpPr txBox="1"/>
          <p:nvPr/>
        </p:nvSpPr>
        <p:spPr>
          <a:xfrm>
            <a:off x="685800" y="1828800"/>
            <a:ext cx="2286000" cy="1005840"/>
          </a:xfrm>
          <a:prstGeom prst="rect">
            <a:avLst/>
          </a:prstGeom>
          <a:noFill/>
        </p:spPr>
        <p:txBody>
          <a:bodyPr wrap="square" anchor="t"/>
          <a:lstStyle/>
          <a:p>
            <a:pPr algn="l">
              <a:defRPr sz="1000" b="0">
                <a:solidFill>
                  <a:srgbClr val="CCCCCC"/>
                </a:solidFill>
                <a:latin typeface="Arial"/>
              </a:defRPr>
            </a:pPr>
            <a:r>
              <a:t>9 formats: PDF, DOCX, PPTX, XLSX, XLS, TXT, MD, CSV, TSV. Docling parser for PDFs. Max 200 elements per extraction.</a:t>
            </a:r>
          </a:p>
        </p:txBody>
      </p:sp>
      <p:sp>
        <p:nvSpPr>
          <p:cNvPr id="10" name="Rectangle 9"/>
          <p:cNvSpPr/>
          <p:nvPr/>
        </p:nvSpPr>
        <p:spPr>
          <a:xfrm>
            <a:off x="320040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0" y="1371600"/>
            <a:ext cx="54864" cy="1554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463040"/>
            <a:ext cx="2286000" cy="365760"/>
          </a:xfrm>
          <a:prstGeom prst="rect">
            <a:avLst/>
          </a:prstGeom>
          <a:noFill/>
        </p:spPr>
        <p:txBody>
          <a:bodyPr wrap="square" anchor="t"/>
          <a:lstStyle/>
          <a:p>
            <a:pPr algn="l">
              <a:defRPr sz="1300" b="1">
                <a:solidFill>
                  <a:srgbClr val="FFFFFF"/>
                </a:solidFill>
                <a:latin typeface="Arial"/>
              </a:defRPr>
            </a:pPr>
            <a:r>
              <a:t>Document Comparison</a:t>
            </a:r>
          </a:p>
        </p:txBody>
      </p:sp>
      <p:sp>
        <p:nvSpPr>
          <p:cNvPr id="13" name="TextBox 12"/>
          <p:cNvSpPr txBox="1"/>
          <p:nvPr/>
        </p:nvSpPr>
        <p:spPr>
          <a:xfrm>
            <a:off x="3383280" y="1828800"/>
            <a:ext cx="2286000" cy="1005840"/>
          </a:xfrm>
          <a:prstGeom prst="rect">
            <a:avLst/>
          </a:prstGeom>
          <a:noFill/>
        </p:spPr>
        <p:txBody>
          <a:bodyPr wrap="square" anchor="t"/>
          <a:lstStyle/>
          <a:p>
            <a:pPr algn="l">
              <a:defRPr sz="1000" b="0">
                <a:solidFill>
                  <a:srgbClr val="CCCCCC"/>
                </a:solidFill>
                <a:latin typeface="Arial"/>
              </a:defRPr>
            </a:pPr>
            <a:r>
              <a:t>Key-based + fuzzy matching (0.72 threshold). 12 obligation modalities. Binding strength ranking. Severity escalation for changed obligations.</a:t>
            </a:r>
          </a:p>
        </p:txBody>
      </p:sp>
      <p:sp>
        <p:nvSpPr>
          <p:cNvPr id="14" name="Rectangle 13"/>
          <p:cNvSpPr/>
          <p:nvPr/>
        </p:nvSpPr>
        <p:spPr>
          <a:xfrm>
            <a:off x="589788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97880" y="1371600"/>
            <a:ext cx="54864" cy="155448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80760" y="1463040"/>
            <a:ext cx="2286000" cy="365760"/>
          </a:xfrm>
          <a:prstGeom prst="rect">
            <a:avLst/>
          </a:prstGeom>
          <a:noFill/>
        </p:spPr>
        <p:txBody>
          <a:bodyPr wrap="square" anchor="t"/>
          <a:lstStyle/>
          <a:p>
            <a:pPr algn="l">
              <a:defRPr sz="1300" b="1">
                <a:solidFill>
                  <a:srgbClr val="FFFFFF"/>
                </a:solidFill>
                <a:latin typeface="Arial"/>
              </a:defRPr>
            </a:pPr>
            <a:r>
              <a:t>Consolidation Campaigns</a:t>
            </a:r>
          </a:p>
        </p:txBody>
      </p:sp>
      <p:sp>
        <p:nvSpPr>
          <p:cNvPr id="17" name="TextBox 16"/>
          <p:cNvSpPr txBox="1"/>
          <p:nvPr/>
        </p:nvSpPr>
        <p:spPr>
          <a:xfrm>
            <a:off x="6080760" y="1828800"/>
            <a:ext cx="2286000" cy="1005840"/>
          </a:xfrm>
          <a:prstGeom prst="rect">
            <a:avLst/>
          </a:prstGeom>
          <a:noFill/>
        </p:spPr>
        <p:txBody>
          <a:bodyPr wrap="square" anchor="t"/>
          <a:lstStyle/>
          <a:p>
            <a:pPr algn="l">
              <a:defRPr sz="1000" b="0">
                <a:solidFill>
                  <a:srgbClr val="CCCCCC"/>
                </a:solidFill>
                <a:latin typeface="Arial"/>
              </a:defRPr>
            </a:pPr>
            <a:r>
              <a:t>Multi-doc corpus analysis with IDF weighting. 6 focus modes. Union-find clustering. Weighted Jaccard scoring.</a:t>
            </a:r>
          </a:p>
        </p:txBody>
      </p:sp>
      <p:sp>
        <p:nvSpPr>
          <p:cNvPr id="18" name="Rectangle 17"/>
          <p:cNvSpPr/>
          <p:nvPr/>
        </p:nvSpPr>
        <p:spPr>
          <a:xfrm>
            <a:off x="50292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108960"/>
            <a:ext cx="54864"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3200400"/>
            <a:ext cx="3703319" cy="365760"/>
          </a:xfrm>
          <a:prstGeom prst="rect">
            <a:avLst/>
          </a:prstGeom>
          <a:noFill/>
        </p:spPr>
        <p:txBody>
          <a:bodyPr wrap="square" anchor="t"/>
          <a:lstStyle/>
          <a:p>
            <a:pPr algn="l">
              <a:defRPr sz="1300" b="1">
                <a:solidFill>
                  <a:srgbClr val="FFFFFF"/>
                </a:solidFill>
                <a:latin typeface="Arial"/>
              </a:defRPr>
            </a:pPr>
            <a:r>
              <a:t>Evidence Binder</a:t>
            </a:r>
          </a:p>
        </p:txBody>
      </p:sp>
      <p:sp>
        <p:nvSpPr>
          <p:cNvPr id="21" name="TextBox 20"/>
          <p:cNvSpPr txBox="1"/>
          <p:nvPr/>
        </p:nvSpPr>
        <p:spPr>
          <a:xfrm>
            <a:off x="685800" y="3566160"/>
            <a:ext cx="3703319" cy="548640"/>
          </a:xfrm>
          <a:prstGeom prst="rect">
            <a:avLst/>
          </a:prstGeom>
          <a:noFill/>
        </p:spPr>
        <p:txBody>
          <a:bodyPr wrap="square" anchor="t"/>
          <a:lstStyle/>
          <a:p>
            <a:pPr algn="l">
              <a:defRPr sz="1000" b="0">
                <a:solidFill>
                  <a:srgbClr val="CCCCCC"/>
                </a:solidFill>
                <a:latin typeface="Arial"/>
              </a:defRPr>
            </a:pPr>
            <a:r>
              <a:t>Compile graded evidence into formatted reference packets with inline citations.</a:t>
            </a:r>
          </a:p>
        </p:txBody>
      </p:sp>
      <p:sp>
        <p:nvSpPr>
          <p:cNvPr id="22" name="Rectangle 21"/>
          <p:cNvSpPr/>
          <p:nvPr/>
        </p:nvSpPr>
        <p:spPr>
          <a:xfrm>
            <a:off x="470916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09160" y="3108960"/>
            <a:ext cx="54864" cy="10972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3200400"/>
            <a:ext cx="3703319" cy="365760"/>
          </a:xfrm>
          <a:prstGeom prst="rect">
            <a:avLst/>
          </a:prstGeom>
          <a:noFill/>
        </p:spPr>
        <p:txBody>
          <a:bodyPr wrap="square" anchor="t"/>
          <a:lstStyle/>
          <a:p>
            <a:pPr algn="l">
              <a:defRPr sz="1300" b="1">
                <a:solidFill>
                  <a:srgbClr val="FFFFFF"/>
                </a:solidFill>
                <a:latin typeface="Arial"/>
              </a:defRPr>
            </a:pPr>
            <a:r>
              <a:t>Similarity Analysis</a:t>
            </a:r>
          </a:p>
        </p:txBody>
      </p:sp>
      <p:sp>
        <p:nvSpPr>
          <p:cNvPr id="25" name="TextBox 24"/>
          <p:cNvSpPr txBox="1"/>
          <p:nvPr/>
        </p:nvSpPr>
        <p:spPr>
          <a:xfrm>
            <a:off x="4892040" y="3566160"/>
            <a:ext cx="3703319" cy="548640"/>
          </a:xfrm>
          <a:prstGeom prst="rect">
            <a:avLst/>
          </a:prstGeom>
          <a:noFill/>
        </p:spPr>
        <p:txBody>
          <a:bodyPr wrap="square" anchor="t"/>
          <a:lstStyle/>
          <a:p>
            <a:pPr algn="l">
              <a:defRPr sz="1000" b="0">
                <a:solidFill>
                  <a:srgbClr val="CCCCCC"/>
                </a:solidFill>
                <a:latin typeface="Arial"/>
              </a:defRPr>
            </a:pPr>
            <a:r>
              <a:t>TF-IDF fingerprinting. Process keyword matching (28 patterns). N-gram comparison.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Skills Architecture Deep Dive (skills/)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10 files: pack_loader, resolver, runtime, indexer, telemetry, dependency_graph, execution, query_builder</a:t>
            </a:r>
          </a:p>
        </p:txBody>
      </p:sp>
      <p:sp>
        <p:nvSpPr>
          <p:cNvPr id="6" name="Rectangle 5"/>
          <p:cNvSpPr/>
          <p:nvPr/>
        </p:nvSpPr>
        <p:spPr>
          <a:xfrm>
            <a:off x="502920" y="1280160"/>
            <a:ext cx="2560320" cy="10058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53312"/>
            <a:ext cx="2286000" cy="274320"/>
          </a:xfrm>
          <a:prstGeom prst="rect">
            <a:avLst/>
          </a:prstGeom>
          <a:noFill/>
        </p:spPr>
        <p:txBody>
          <a:bodyPr wrap="square" anchor="t"/>
          <a:lstStyle/>
          <a:p>
            <a:pPr algn="l">
              <a:defRPr sz="1400" b="1">
                <a:solidFill>
                  <a:srgbClr val="FFFFFF"/>
                </a:solidFill>
                <a:latin typeface="Arial"/>
              </a:defRPr>
            </a:pPr>
            <a:r>
              <a:t>3 Skill Kinds</a:t>
            </a:r>
          </a:p>
        </p:txBody>
      </p:sp>
      <p:sp>
        <p:nvSpPr>
          <p:cNvPr id="8" name="TextBox 7"/>
          <p:cNvSpPr txBox="1"/>
          <p:nvPr/>
        </p:nvSpPr>
        <p:spPr>
          <a:xfrm>
            <a:off x="640080" y="1645920"/>
            <a:ext cx="2286000" cy="548640"/>
          </a:xfrm>
          <a:prstGeom prst="rect">
            <a:avLst/>
          </a:prstGeom>
          <a:noFill/>
        </p:spPr>
        <p:txBody>
          <a:bodyPr wrap="square" anchor="t"/>
          <a:lstStyle/>
          <a:p>
            <a:pPr algn="l">
              <a:defRPr sz="1100" b="0">
                <a:solidFill>
                  <a:srgbClr val="EEEEEE"/>
                </a:solidFill>
                <a:latin typeface="Arial"/>
              </a:defRPr>
            </a:pPr>
            <a:r>
              <a:t>retrievable</a:t>
            </a:r>
            <a:br/>
            <a:r>
              <a:t>executable</a:t>
            </a:r>
            <a:br/>
            <a:r>
              <a:t>hybrid</a:t>
            </a:r>
          </a:p>
        </p:txBody>
      </p:sp>
      <p:sp>
        <p:nvSpPr>
          <p:cNvPr id="9" name="Rectangle 8"/>
          <p:cNvSpPr/>
          <p:nvPr/>
        </p:nvSpPr>
        <p:spPr>
          <a:xfrm>
            <a:off x="3291840" y="1280160"/>
            <a:ext cx="2560320" cy="10058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353312"/>
            <a:ext cx="2286000" cy="274320"/>
          </a:xfrm>
          <a:prstGeom prst="rect">
            <a:avLst/>
          </a:prstGeom>
          <a:noFill/>
        </p:spPr>
        <p:txBody>
          <a:bodyPr wrap="square" anchor="t"/>
          <a:lstStyle/>
          <a:p>
            <a:pPr algn="l">
              <a:defRPr sz="1400" b="1">
                <a:solidFill>
                  <a:srgbClr val="FFFFFF"/>
                </a:solidFill>
                <a:latin typeface="Arial"/>
              </a:defRPr>
            </a:pPr>
            <a:r>
              <a:t>2 Exec Contexts</a:t>
            </a:r>
          </a:p>
        </p:txBody>
      </p:sp>
      <p:sp>
        <p:nvSpPr>
          <p:cNvPr id="11" name="TextBox 10"/>
          <p:cNvSpPr txBox="1"/>
          <p:nvPr/>
        </p:nvSpPr>
        <p:spPr>
          <a:xfrm>
            <a:off x="3429000" y="1645920"/>
            <a:ext cx="2286000" cy="548640"/>
          </a:xfrm>
          <a:prstGeom prst="rect">
            <a:avLst/>
          </a:prstGeom>
          <a:noFill/>
        </p:spPr>
        <p:txBody>
          <a:bodyPr wrap="square" anchor="t"/>
          <a:lstStyle/>
          <a:p>
            <a:pPr algn="l">
              <a:defRPr sz="1100" b="0">
                <a:solidFill>
                  <a:srgbClr val="EEEEEE"/>
                </a:solidFill>
                <a:latin typeface="Arial"/>
              </a:defRPr>
            </a:pPr>
            <a:r>
              <a:t>inline (default)</a:t>
            </a:r>
            <a:br/>
            <a:r>
              <a:t>fork (isolated)</a:t>
            </a:r>
          </a:p>
        </p:txBody>
      </p:sp>
      <p:sp>
        <p:nvSpPr>
          <p:cNvPr id="12" name="Rectangle 11"/>
          <p:cNvSpPr/>
          <p:nvPr/>
        </p:nvSpPr>
        <p:spPr>
          <a:xfrm>
            <a:off x="6080760" y="1280160"/>
            <a:ext cx="2560320" cy="10058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353312"/>
            <a:ext cx="2286000" cy="274320"/>
          </a:xfrm>
          <a:prstGeom prst="rect">
            <a:avLst/>
          </a:prstGeom>
          <a:noFill/>
        </p:spPr>
        <p:txBody>
          <a:bodyPr wrap="square" anchor="t"/>
          <a:lstStyle/>
          <a:p>
            <a:pPr algn="l">
              <a:defRPr sz="1400" b="1">
                <a:solidFill>
                  <a:srgbClr val="FFFFFF"/>
                </a:solidFill>
                <a:latin typeface="Arial"/>
              </a:defRPr>
            </a:pPr>
            <a:r>
              <a:t>5 Effort Levels</a:t>
            </a:r>
          </a:p>
        </p:txBody>
      </p:sp>
      <p:sp>
        <p:nvSpPr>
          <p:cNvPr id="14" name="TextBox 13"/>
          <p:cNvSpPr txBox="1"/>
          <p:nvPr/>
        </p:nvSpPr>
        <p:spPr>
          <a:xfrm>
            <a:off x="6217920" y="1645920"/>
            <a:ext cx="2286000" cy="548640"/>
          </a:xfrm>
          <a:prstGeom prst="rect">
            <a:avLst/>
          </a:prstGeom>
          <a:noFill/>
        </p:spPr>
        <p:txBody>
          <a:bodyPr wrap="square" anchor="t"/>
          <a:lstStyle/>
          <a:p>
            <a:pPr algn="l">
              <a:defRPr sz="1100" b="0">
                <a:solidFill>
                  <a:srgbClr val="EEEEEE"/>
                </a:solidFill>
                <a:latin typeface="Arial"/>
              </a:defRPr>
            </a:pPr>
            <a:r>
              <a:t>(empty), low</a:t>
            </a:r>
            <a:br/>
            <a:r>
              <a:t>medium, high, xhigh</a:t>
            </a:r>
          </a:p>
        </p:txBody>
      </p:sp>
      <p:sp>
        <p:nvSpPr>
          <p:cNvPr id="15" name="TextBox 14"/>
          <p:cNvSpPr txBox="1"/>
          <p:nvPr/>
        </p:nvSpPr>
        <p:spPr>
          <a:xfrm>
            <a:off x="502920" y="2468880"/>
            <a:ext cx="3657600" cy="320040"/>
          </a:xfrm>
          <a:prstGeom prst="rect">
            <a:avLst/>
          </a:prstGeom>
          <a:noFill/>
        </p:spPr>
        <p:txBody>
          <a:bodyPr wrap="square" anchor="t"/>
          <a:lstStyle/>
          <a:p>
            <a:pPr algn="l">
              <a:defRPr sz="1300" b="1">
                <a:solidFill>
                  <a:srgbClr val="1B2A4A"/>
                </a:solidFill>
                <a:latin typeface="Arial"/>
              </a:defRPr>
            </a:pPr>
            <a:r>
              <a:t>SKILL LIFECYCLE</a:t>
            </a:r>
          </a:p>
        </p:txBody>
      </p:sp>
      <p:sp>
        <p:nvSpPr>
          <p:cNvPr id="16" name="Oval 15"/>
          <p:cNvSpPr/>
          <p:nvPr/>
        </p:nvSpPr>
        <p:spPr>
          <a:xfrm>
            <a:off x="502920" y="286207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 y="2862072"/>
            <a:ext cx="201168" cy="201168"/>
          </a:xfrm>
          <a:prstGeom prst="rect">
            <a:avLst/>
          </a:prstGeom>
          <a:noFill/>
        </p:spPr>
        <p:txBody>
          <a:bodyPr wrap="square" anchor="t"/>
          <a:lstStyle/>
          <a:p>
            <a:pPr algn="ctr">
              <a:defRPr sz="1000" b="1">
                <a:solidFill>
                  <a:srgbClr val="FFFFFF"/>
                </a:solidFill>
                <a:latin typeface="Arial"/>
              </a:defRPr>
            </a:pPr>
            <a:r>
              <a:t>1</a:t>
            </a:r>
          </a:p>
        </p:txBody>
      </p:sp>
      <p:sp>
        <p:nvSpPr>
          <p:cNvPr id="18" name="TextBox 17"/>
          <p:cNvSpPr txBox="1"/>
          <p:nvPr/>
        </p:nvSpPr>
        <p:spPr>
          <a:xfrm>
            <a:off x="777240" y="2834640"/>
            <a:ext cx="1463040" cy="228600"/>
          </a:xfrm>
          <a:prstGeom prst="rect">
            <a:avLst/>
          </a:prstGeom>
          <a:noFill/>
        </p:spPr>
        <p:txBody>
          <a:bodyPr wrap="square" anchor="t"/>
          <a:lstStyle/>
          <a:p>
            <a:pPr algn="l">
              <a:defRPr sz="1100" b="1">
                <a:solidFill>
                  <a:srgbClr val="333333"/>
                </a:solidFill>
                <a:latin typeface="Arial"/>
              </a:defRPr>
            </a:pPr>
            <a:r>
              <a:t>SkillPackFile</a:t>
            </a:r>
          </a:p>
        </p:txBody>
      </p:sp>
      <p:sp>
        <p:nvSpPr>
          <p:cNvPr id="19" name="TextBox 18"/>
          <p:cNvSpPr txBox="1"/>
          <p:nvPr/>
        </p:nvSpPr>
        <p:spPr>
          <a:xfrm>
            <a:off x="2286000" y="2834640"/>
            <a:ext cx="6400800" cy="228600"/>
          </a:xfrm>
          <a:prstGeom prst="rect">
            <a:avLst/>
          </a:prstGeom>
          <a:noFill/>
        </p:spPr>
        <p:txBody>
          <a:bodyPr wrap="square" anchor="t"/>
          <a:lstStyle/>
          <a:p>
            <a:pPr algn="l">
              <a:defRPr sz="1000" b="0">
                <a:solidFill>
                  <a:srgbClr val="555555"/>
                </a:solidFill>
                <a:latin typeface="Arial"/>
              </a:defRPr>
            </a:pPr>
            <a:r>
              <a:t>YAML frontmatter + markdown body. SHA256 checksum. Tags: tool_tags, task_tags.</a:t>
            </a:r>
          </a:p>
        </p:txBody>
      </p:sp>
      <p:sp>
        <p:nvSpPr>
          <p:cNvPr id="20" name="Oval 19"/>
          <p:cNvSpPr/>
          <p:nvPr/>
        </p:nvSpPr>
        <p:spPr>
          <a:xfrm>
            <a:off x="502920" y="318211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3182112"/>
            <a:ext cx="201168" cy="201168"/>
          </a:xfrm>
          <a:prstGeom prst="rect">
            <a:avLst/>
          </a:prstGeom>
          <a:noFill/>
        </p:spPr>
        <p:txBody>
          <a:bodyPr wrap="square" anchor="t"/>
          <a:lstStyle/>
          <a:p>
            <a:pPr algn="ctr">
              <a:defRPr sz="1000" b="1">
                <a:solidFill>
                  <a:srgbClr val="FFFFFF"/>
                </a:solidFill>
                <a:latin typeface="Arial"/>
              </a:defRPr>
            </a:pPr>
            <a:r>
              <a:t>2</a:t>
            </a:r>
          </a:p>
        </p:txBody>
      </p:sp>
      <p:sp>
        <p:nvSpPr>
          <p:cNvPr id="22" name="TextBox 21"/>
          <p:cNvSpPr txBox="1"/>
          <p:nvPr/>
        </p:nvSpPr>
        <p:spPr>
          <a:xfrm>
            <a:off x="777240" y="3154680"/>
            <a:ext cx="1463040" cy="228600"/>
          </a:xfrm>
          <a:prstGeom prst="rect">
            <a:avLst/>
          </a:prstGeom>
          <a:noFill/>
        </p:spPr>
        <p:txBody>
          <a:bodyPr wrap="square" anchor="t"/>
          <a:lstStyle/>
          <a:p>
            <a:pPr algn="l">
              <a:defRPr sz="1100" b="1">
                <a:solidFill>
                  <a:srgbClr val="333333"/>
                </a:solidFill>
                <a:latin typeface="Arial"/>
              </a:defRPr>
            </a:pPr>
            <a:r>
              <a:t>SkillIndexSync</a:t>
            </a:r>
          </a:p>
        </p:txBody>
      </p:sp>
      <p:sp>
        <p:nvSpPr>
          <p:cNvPr id="23" name="TextBox 22"/>
          <p:cNvSpPr txBox="1"/>
          <p:nvPr/>
        </p:nvSpPr>
        <p:spPr>
          <a:xfrm>
            <a:off x="2286000" y="3154680"/>
            <a:ext cx="6400800" cy="228600"/>
          </a:xfrm>
          <a:prstGeom prst="rect">
            <a:avLst/>
          </a:prstGeom>
          <a:noFill/>
        </p:spPr>
        <p:txBody>
          <a:bodyPr wrap="square" anchor="t"/>
          <a:lstStyle/>
          <a:p>
            <a:pPr algn="l">
              <a:defRPr sz="1000" b="0">
                <a:solidFill>
                  <a:srgbClr val="555555"/>
                </a:solidFill>
                <a:latin typeface="Arial"/>
              </a:defRPr>
            </a:pPr>
            <a:r>
              <a:t>Discovers .md files, chunks for RAG, builds inverted index. Incremental sync by checksum.</a:t>
            </a:r>
          </a:p>
        </p:txBody>
      </p:sp>
      <p:sp>
        <p:nvSpPr>
          <p:cNvPr id="24" name="Oval 23"/>
          <p:cNvSpPr/>
          <p:nvPr/>
        </p:nvSpPr>
        <p:spPr>
          <a:xfrm>
            <a:off x="502920" y="350215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1208" y="3502152"/>
            <a:ext cx="201168" cy="201168"/>
          </a:xfrm>
          <a:prstGeom prst="rect">
            <a:avLst/>
          </a:prstGeom>
          <a:noFill/>
        </p:spPr>
        <p:txBody>
          <a:bodyPr wrap="square" anchor="t"/>
          <a:lstStyle/>
          <a:p>
            <a:pPr algn="ctr">
              <a:defRPr sz="1000" b="1">
                <a:solidFill>
                  <a:srgbClr val="FFFFFF"/>
                </a:solidFill>
                <a:latin typeface="Arial"/>
              </a:defRPr>
            </a:pPr>
            <a:r>
              <a:t>3</a:t>
            </a:r>
          </a:p>
        </p:txBody>
      </p:sp>
      <p:sp>
        <p:nvSpPr>
          <p:cNvPr id="26" name="TextBox 25"/>
          <p:cNvSpPr txBox="1"/>
          <p:nvPr/>
        </p:nvSpPr>
        <p:spPr>
          <a:xfrm>
            <a:off x="777240" y="3474720"/>
            <a:ext cx="1463040" cy="228600"/>
          </a:xfrm>
          <a:prstGeom prst="rect">
            <a:avLst/>
          </a:prstGeom>
          <a:noFill/>
        </p:spPr>
        <p:txBody>
          <a:bodyPr wrap="square" anchor="t"/>
          <a:lstStyle/>
          <a:p>
            <a:pPr algn="l">
              <a:defRPr sz="1100" b="1">
                <a:solidFill>
                  <a:srgbClr val="333333"/>
                </a:solidFill>
                <a:latin typeface="Arial"/>
              </a:defRPr>
            </a:pPr>
            <a:r>
              <a:t>SkillResolver</a:t>
            </a:r>
          </a:p>
        </p:txBody>
      </p:sp>
      <p:sp>
        <p:nvSpPr>
          <p:cNvPr id="27" name="TextBox 26"/>
          <p:cNvSpPr txBox="1"/>
          <p:nvPr/>
        </p:nvSpPr>
        <p:spPr>
          <a:xfrm>
            <a:off x="2286000" y="3474720"/>
            <a:ext cx="6400800" cy="228600"/>
          </a:xfrm>
          <a:prstGeom prst="rect">
            <a:avLst/>
          </a:prstGeom>
          <a:noFill/>
        </p:spPr>
        <p:txBody>
          <a:bodyPr wrap="square" anchor="t"/>
          <a:lstStyle/>
          <a:p>
            <a:pPr algn="l">
              <a:defRPr sz="1000" b="0">
                <a:solidFill>
                  <a:srgbClr val="555555"/>
                </a:solidFill>
                <a:latin typeface="Arial"/>
              </a:defRPr>
            </a:pPr>
            <a:r>
              <a:t>Semantic retrieval with BM25/embedding. Filters by agent_scope, tags. Pinned skill priority.</a:t>
            </a:r>
          </a:p>
        </p:txBody>
      </p:sp>
      <p:sp>
        <p:nvSpPr>
          <p:cNvPr id="28" name="Oval 27"/>
          <p:cNvSpPr/>
          <p:nvPr/>
        </p:nvSpPr>
        <p:spPr>
          <a:xfrm>
            <a:off x="502920" y="382219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208" y="3822192"/>
            <a:ext cx="201168" cy="201168"/>
          </a:xfrm>
          <a:prstGeom prst="rect">
            <a:avLst/>
          </a:prstGeom>
          <a:noFill/>
        </p:spPr>
        <p:txBody>
          <a:bodyPr wrap="square" anchor="t"/>
          <a:lstStyle/>
          <a:p>
            <a:pPr algn="ctr">
              <a:defRPr sz="1000" b="1">
                <a:solidFill>
                  <a:srgbClr val="FFFFFF"/>
                </a:solidFill>
                <a:latin typeface="Arial"/>
              </a:defRPr>
            </a:pPr>
            <a:r>
              <a:t>4</a:t>
            </a:r>
          </a:p>
        </p:txBody>
      </p:sp>
      <p:sp>
        <p:nvSpPr>
          <p:cNvPr id="30" name="TextBox 29"/>
          <p:cNvSpPr txBox="1"/>
          <p:nvPr/>
        </p:nvSpPr>
        <p:spPr>
          <a:xfrm>
            <a:off x="777240" y="3794760"/>
            <a:ext cx="1463040" cy="228600"/>
          </a:xfrm>
          <a:prstGeom prst="rect">
            <a:avLst/>
          </a:prstGeom>
          <a:noFill/>
        </p:spPr>
        <p:txBody>
          <a:bodyPr wrap="square" anchor="t"/>
          <a:lstStyle/>
          <a:p>
            <a:pPr algn="l">
              <a:defRPr sz="1100" b="1">
                <a:solidFill>
                  <a:srgbClr val="333333"/>
                </a:solidFill>
                <a:latin typeface="Arial"/>
              </a:defRPr>
            </a:pPr>
            <a:r>
              <a:t>SkillRuntime</a:t>
            </a:r>
          </a:p>
        </p:txBody>
      </p:sp>
      <p:sp>
        <p:nvSpPr>
          <p:cNvPr id="31" name="TextBox 30"/>
          <p:cNvSpPr txBox="1"/>
          <p:nvPr/>
        </p:nvSpPr>
        <p:spPr>
          <a:xfrm>
            <a:off x="2286000" y="3794760"/>
            <a:ext cx="6400800" cy="228600"/>
          </a:xfrm>
          <a:prstGeom prst="rect">
            <a:avLst/>
          </a:prstGeom>
          <a:noFill/>
        </p:spPr>
        <p:txBody>
          <a:bodyPr wrap="square" anchor="t"/>
          <a:lstStyle/>
          <a:p>
            <a:pPr algn="l">
              <a:defRPr sz="1000" b="0">
                <a:solidFill>
                  <a:srgbClr val="555555"/>
                </a:solidFill>
                <a:latin typeface="Arial"/>
              </a:defRPr>
            </a:pPr>
            <a:r>
              <a:t>Merges query + skills + session context. Access control filtering. Max 4000 chars budget.</a:t>
            </a:r>
          </a:p>
        </p:txBody>
      </p:sp>
      <p:sp>
        <p:nvSpPr>
          <p:cNvPr id="32" name="Rectangle 31"/>
          <p:cNvSpPr/>
          <p:nvPr/>
        </p:nvSpPr>
        <p:spPr>
          <a:xfrm>
            <a:off x="4846320" y="4160520"/>
            <a:ext cx="384048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846320" y="416052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0" y="4251960"/>
            <a:ext cx="3566160" cy="365760"/>
          </a:xfrm>
          <a:prstGeom prst="rect">
            <a:avLst/>
          </a:prstGeom>
          <a:noFill/>
        </p:spPr>
        <p:txBody>
          <a:bodyPr wrap="square" anchor="t"/>
          <a:lstStyle/>
          <a:p>
            <a:pPr algn="l">
              <a:defRPr sz="1200" b="1">
                <a:solidFill>
                  <a:srgbClr val="FFFFFF"/>
                </a:solidFill>
                <a:latin typeface="Arial"/>
              </a:defRPr>
            </a:pPr>
            <a:r>
              <a:t>Telemetry + Dependencies</a:t>
            </a:r>
          </a:p>
        </p:txBody>
      </p:sp>
      <p:sp>
        <p:nvSpPr>
          <p:cNvPr id="35" name="TextBox 34"/>
          <p:cNvSpPr txBox="1"/>
          <p:nvPr/>
        </p:nvSpPr>
        <p:spPr>
          <a:xfrm>
            <a:off x="5029200" y="4617720"/>
            <a:ext cx="3566160" cy="228600"/>
          </a:xfrm>
          <a:prstGeom prst="rect">
            <a:avLst/>
          </a:prstGeom>
          <a:noFill/>
        </p:spPr>
        <p:txBody>
          <a:bodyPr wrap="square" anchor="t"/>
          <a:lstStyle/>
          <a:p>
            <a:pPr algn="l">
              <a:defRPr sz="1000" b="0">
                <a:solidFill>
                  <a:srgbClr val="CCCCCC"/>
                </a:solidFill>
                <a:latin typeface="Arial"/>
              </a:defRPr>
            </a:pPr>
            <a:r>
              <a:t>80% success SLO, 20-use review window. DFS cycle detection. States: healthy/unstable/broken.</a:t>
            </a:r>
          </a:p>
        </p:txBody>
      </p:sp>
      <p:sp>
        <p:nvSpPr>
          <p:cNvPr id="36" name="Rectangle 35"/>
          <p:cNvSpPr/>
          <p:nvPr/>
        </p:nvSpPr>
        <p:spPr>
          <a:xfrm>
            <a:off x="502920" y="4160520"/>
            <a:ext cx="411480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02920" y="4160520"/>
            <a:ext cx="54864" cy="7772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4251960"/>
            <a:ext cx="3840480" cy="365760"/>
          </a:xfrm>
          <a:prstGeom prst="rect">
            <a:avLst/>
          </a:prstGeom>
          <a:noFill/>
        </p:spPr>
        <p:txBody>
          <a:bodyPr wrap="square" anchor="t"/>
          <a:lstStyle/>
          <a:p>
            <a:pPr algn="l">
              <a:defRPr sz="1200" b="1">
                <a:solidFill>
                  <a:srgbClr val="FFFFFF"/>
                </a:solidFill>
                <a:latin typeface="Arial"/>
              </a:defRPr>
            </a:pPr>
            <a:r>
              <a:t>Legacy Aliases + Visibility</a:t>
            </a:r>
          </a:p>
        </p:txBody>
      </p:sp>
      <p:sp>
        <p:nvSpPr>
          <p:cNvPr id="39" name="TextBox 38"/>
          <p:cNvSpPr txBox="1"/>
          <p:nvPr/>
        </p:nvSpPr>
        <p:spPr>
          <a:xfrm>
            <a:off x="685800" y="4617720"/>
            <a:ext cx="3840480" cy="228600"/>
          </a:xfrm>
          <a:prstGeom prst="rect">
            <a:avLst/>
          </a:prstGeom>
          <a:noFill/>
        </p:spPr>
        <p:txBody>
          <a:bodyPr wrap="square" anchor="t"/>
          <a:lstStyle/>
          <a:p>
            <a:pPr algn="l">
              <a:defRPr sz="1000" b="0">
                <a:solidFill>
                  <a:srgbClr val="CCCCCC"/>
                </a:solidFill>
                <a:latin typeface="Arial"/>
              </a:defRPr>
            </a:pPr>
            <a:r>
              <a:t>9 tool tag aliases mapped. Visibility: global / private / tenant scoped.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Provider System &amp; Circuit Breaker (providers/)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6 files: factory, llm_factory, circuit_breaker, output_limits, dependency_checks</a:t>
            </a:r>
          </a:p>
        </p:txBody>
      </p:sp>
      <p:sp>
        <p:nvSpPr>
          <p:cNvPr id="6" name="TextBox 5"/>
          <p:cNvSpPr txBox="1"/>
          <p:nvPr/>
        </p:nvSpPr>
        <p:spPr>
          <a:xfrm>
            <a:off x="502920" y="1371600"/>
            <a:ext cx="3931920" cy="320040"/>
          </a:xfrm>
          <a:prstGeom prst="rect">
            <a:avLst/>
          </a:prstGeom>
          <a:noFill/>
        </p:spPr>
        <p:txBody>
          <a:bodyPr wrap="square" anchor="t"/>
          <a:lstStyle/>
          <a:p>
            <a:pPr algn="l">
              <a:defRPr sz="1300" b="1">
                <a:solidFill>
                  <a:srgbClr val="0097A7"/>
                </a:solidFill>
                <a:latin typeface="Arial"/>
              </a:defRPr>
            </a:pPr>
            <a:r>
              <a:t>PROVIDER RESOLUTION</a:t>
            </a:r>
          </a:p>
        </p:txBody>
      </p:sp>
      <p:sp>
        <p:nvSpPr>
          <p:cNvPr id="7" name="Rectangle 6"/>
          <p:cNvSpPr/>
          <p:nvPr/>
        </p:nvSpPr>
        <p:spPr>
          <a:xfrm>
            <a:off x="502920" y="1737360"/>
            <a:ext cx="3931920" cy="12801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37360"/>
            <a:ext cx="54864" cy="12801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828800"/>
            <a:ext cx="3657600" cy="365760"/>
          </a:xfrm>
          <a:prstGeom prst="rect">
            <a:avLst/>
          </a:prstGeom>
          <a:noFill/>
        </p:spPr>
        <p:txBody>
          <a:bodyPr wrap="square" anchor="t"/>
          <a:lstStyle/>
          <a:p>
            <a:pPr algn="l">
              <a:defRPr sz="1200" b="1">
                <a:solidFill>
                  <a:srgbClr val="FFFFFF"/>
                </a:solidFill>
                <a:latin typeface="Arial"/>
              </a:defRPr>
            </a:pPr>
            <a:r>
              <a:t>AgentProviderResolver</a:t>
            </a:r>
          </a:p>
        </p:txBody>
      </p:sp>
      <p:sp>
        <p:nvSpPr>
          <p:cNvPr id="10" name="TextBox 9"/>
          <p:cNvSpPr txBox="1"/>
          <p:nvPr/>
        </p:nvSpPr>
        <p:spPr>
          <a:xfrm>
            <a:off x="685800" y="2194560"/>
            <a:ext cx="3657600" cy="731520"/>
          </a:xfrm>
          <a:prstGeom prst="rect">
            <a:avLst/>
          </a:prstGeom>
          <a:noFill/>
        </p:spPr>
        <p:txBody>
          <a:bodyPr wrap="square" anchor="t"/>
          <a:lstStyle/>
          <a:p>
            <a:pPr algn="l">
              <a:defRPr sz="1000" b="0">
                <a:solidFill>
                  <a:srgbClr val="CCCCCC"/>
                </a:solidFill>
                <a:latin typeface="Arial"/>
              </a:defRPr>
            </a:pPr>
            <a:r>
              <a:t>Caches bundles by 6-tuple (provider, model, cap). Per-agent overrides: AGENT_{NAME}_CHAT_MODEL. Token cap chain: request &gt; agent &gt; global &gt; ollama.</a:t>
            </a:r>
          </a:p>
        </p:txBody>
      </p:sp>
      <p:sp>
        <p:nvSpPr>
          <p:cNvPr id="11" name="Rectangle 10"/>
          <p:cNvSpPr/>
          <p:nvPr/>
        </p:nvSpPr>
        <p:spPr>
          <a:xfrm>
            <a:off x="502920" y="3154680"/>
            <a:ext cx="3931920" cy="8686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3154680"/>
            <a:ext cx="54864" cy="8686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246120"/>
            <a:ext cx="3657600" cy="365760"/>
          </a:xfrm>
          <a:prstGeom prst="rect">
            <a:avLst/>
          </a:prstGeom>
          <a:noFill/>
        </p:spPr>
        <p:txBody>
          <a:bodyPr wrap="square" anchor="t"/>
          <a:lstStyle/>
          <a:p>
            <a:pPr algn="l">
              <a:defRPr sz="1200" b="1">
                <a:solidFill>
                  <a:srgbClr val="FFFFFF"/>
                </a:solidFill>
                <a:latin typeface="Arial"/>
              </a:defRPr>
            </a:pPr>
            <a:r>
              <a:t>ProviderBundle</a:t>
            </a:r>
          </a:p>
        </p:txBody>
      </p:sp>
      <p:sp>
        <p:nvSpPr>
          <p:cNvPr id="14" name="TextBox 13"/>
          <p:cNvSpPr txBox="1"/>
          <p:nvPr/>
        </p:nvSpPr>
        <p:spPr>
          <a:xfrm>
            <a:off x="685800" y="3611880"/>
            <a:ext cx="3657600" cy="320040"/>
          </a:xfrm>
          <a:prstGeom prst="rect">
            <a:avLst/>
          </a:prstGeom>
          <a:noFill/>
        </p:spPr>
        <p:txBody>
          <a:bodyPr wrap="square" anchor="t"/>
          <a:lstStyle/>
          <a:p>
            <a:pPr algn="l">
              <a:defRPr sz="1000" b="0">
                <a:solidFill>
                  <a:srgbClr val="CCCCCC"/>
                </a:solidFill>
                <a:latin typeface="Arial"/>
              </a:defRPr>
            </a:pPr>
            <a:r>
              <a:t>Chat + judge + embeddings. Dims: 768 (Nomic) / 1536 (Ada-002). Timeouts: 120s HTTP, 20s connect.</a:t>
            </a:r>
          </a:p>
        </p:txBody>
      </p:sp>
      <p:sp>
        <p:nvSpPr>
          <p:cNvPr id="15" name="TextBox 14"/>
          <p:cNvSpPr txBox="1"/>
          <p:nvPr/>
        </p:nvSpPr>
        <p:spPr>
          <a:xfrm>
            <a:off x="4846320" y="1371600"/>
            <a:ext cx="3840480" cy="320040"/>
          </a:xfrm>
          <a:prstGeom prst="rect">
            <a:avLst/>
          </a:prstGeom>
          <a:noFill/>
        </p:spPr>
        <p:txBody>
          <a:bodyPr wrap="square" anchor="t"/>
          <a:lstStyle/>
          <a:p>
            <a:pPr algn="l">
              <a:defRPr sz="1300" b="1">
                <a:solidFill>
                  <a:srgbClr val="EF5350"/>
                </a:solidFill>
                <a:latin typeface="Arial"/>
              </a:defRPr>
            </a:pPr>
            <a:r>
              <a:t>CIRCUIT BREAKER</a:t>
            </a:r>
          </a:p>
        </p:txBody>
      </p:sp>
      <p:sp>
        <p:nvSpPr>
          <p:cNvPr id="16" name="Rectangle 15"/>
          <p:cNvSpPr/>
          <p:nvPr/>
        </p:nvSpPr>
        <p:spPr>
          <a:xfrm>
            <a:off x="4846320" y="1737360"/>
            <a:ext cx="3840480" cy="2240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46320" y="1737360"/>
            <a:ext cx="54864" cy="224028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74920" y="1874519"/>
            <a:ext cx="1645920" cy="228600"/>
          </a:xfrm>
          <a:prstGeom prst="rect">
            <a:avLst/>
          </a:prstGeom>
          <a:noFill/>
        </p:spPr>
        <p:txBody>
          <a:bodyPr wrap="square" anchor="t"/>
          <a:lstStyle/>
          <a:p>
            <a:pPr algn="l">
              <a:defRPr sz="1100" b="1">
                <a:solidFill>
                  <a:srgbClr val="FFFFFF"/>
                </a:solidFill>
                <a:latin typeface="Arial"/>
              </a:defRPr>
            </a:pPr>
            <a:r>
              <a:t>Window Size:</a:t>
            </a:r>
          </a:p>
        </p:txBody>
      </p:sp>
      <p:sp>
        <p:nvSpPr>
          <p:cNvPr id="19" name="TextBox 18"/>
          <p:cNvSpPr txBox="1"/>
          <p:nvPr/>
        </p:nvSpPr>
        <p:spPr>
          <a:xfrm>
            <a:off x="6766560" y="1874519"/>
            <a:ext cx="1828800" cy="228600"/>
          </a:xfrm>
          <a:prstGeom prst="rect">
            <a:avLst/>
          </a:prstGeom>
          <a:noFill/>
        </p:spPr>
        <p:txBody>
          <a:bodyPr wrap="square" anchor="t"/>
          <a:lstStyle/>
          <a:p>
            <a:pPr algn="l">
              <a:defRPr sz="1100" b="0">
                <a:solidFill>
                  <a:srgbClr val="CCCCCC"/>
                </a:solidFill>
                <a:latin typeface="Arial"/>
              </a:defRPr>
            </a:pPr>
            <a:r>
              <a:t>20 samples</a:t>
            </a:r>
          </a:p>
        </p:txBody>
      </p:sp>
      <p:sp>
        <p:nvSpPr>
          <p:cNvPr id="20" name="TextBox 19"/>
          <p:cNvSpPr txBox="1"/>
          <p:nvPr/>
        </p:nvSpPr>
        <p:spPr>
          <a:xfrm>
            <a:off x="5074920" y="2194559"/>
            <a:ext cx="1645920" cy="228600"/>
          </a:xfrm>
          <a:prstGeom prst="rect">
            <a:avLst/>
          </a:prstGeom>
          <a:noFill/>
        </p:spPr>
        <p:txBody>
          <a:bodyPr wrap="square" anchor="t"/>
          <a:lstStyle/>
          <a:p>
            <a:pPr algn="l">
              <a:defRPr sz="1100" b="1">
                <a:solidFill>
                  <a:srgbClr val="FFFFFF"/>
                </a:solidFill>
                <a:latin typeface="Arial"/>
              </a:defRPr>
            </a:pPr>
            <a:r>
              <a:t>Min Samples:</a:t>
            </a:r>
          </a:p>
        </p:txBody>
      </p:sp>
      <p:sp>
        <p:nvSpPr>
          <p:cNvPr id="21" name="TextBox 20"/>
          <p:cNvSpPr txBox="1"/>
          <p:nvPr/>
        </p:nvSpPr>
        <p:spPr>
          <a:xfrm>
            <a:off x="6766560" y="2194559"/>
            <a:ext cx="1828800" cy="228600"/>
          </a:xfrm>
          <a:prstGeom prst="rect">
            <a:avLst/>
          </a:prstGeom>
          <a:noFill/>
        </p:spPr>
        <p:txBody>
          <a:bodyPr wrap="square" anchor="t"/>
          <a:lstStyle/>
          <a:p>
            <a:pPr algn="l">
              <a:defRPr sz="1100" b="0">
                <a:solidFill>
                  <a:srgbClr val="CCCCCC"/>
                </a:solidFill>
                <a:latin typeface="Arial"/>
              </a:defRPr>
            </a:pPr>
            <a:r>
              <a:t>6 before tripping</a:t>
            </a:r>
          </a:p>
        </p:txBody>
      </p:sp>
      <p:sp>
        <p:nvSpPr>
          <p:cNvPr id="22" name="TextBox 21"/>
          <p:cNvSpPr txBox="1"/>
          <p:nvPr/>
        </p:nvSpPr>
        <p:spPr>
          <a:xfrm>
            <a:off x="5074920" y="2514599"/>
            <a:ext cx="1645920" cy="228600"/>
          </a:xfrm>
          <a:prstGeom prst="rect">
            <a:avLst/>
          </a:prstGeom>
          <a:noFill/>
        </p:spPr>
        <p:txBody>
          <a:bodyPr wrap="square" anchor="t"/>
          <a:lstStyle/>
          <a:p>
            <a:pPr algn="l">
              <a:defRPr sz="1100" b="1">
                <a:solidFill>
                  <a:srgbClr val="FFFFFF"/>
                </a:solidFill>
                <a:latin typeface="Arial"/>
              </a:defRPr>
            </a:pPr>
            <a:r>
              <a:t>Error Threshold:</a:t>
            </a:r>
          </a:p>
        </p:txBody>
      </p:sp>
      <p:sp>
        <p:nvSpPr>
          <p:cNvPr id="23" name="TextBox 22"/>
          <p:cNvSpPr txBox="1"/>
          <p:nvPr/>
        </p:nvSpPr>
        <p:spPr>
          <a:xfrm>
            <a:off x="6766560" y="2514599"/>
            <a:ext cx="1828800" cy="228600"/>
          </a:xfrm>
          <a:prstGeom prst="rect">
            <a:avLst/>
          </a:prstGeom>
          <a:noFill/>
        </p:spPr>
        <p:txBody>
          <a:bodyPr wrap="square" anchor="t"/>
          <a:lstStyle/>
          <a:p>
            <a:pPr algn="l">
              <a:defRPr sz="1100" b="0">
                <a:solidFill>
                  <a:srgbClr val="CCCCCC"/>
                </a:solidFill>
                <a:latin typeface="Arial"/>
              </a:defRPr>
            </a:pPr>
            <a:r>
              <a:t>50% error rate</a:t>
            </a:r>
          </a:p>
        </p:txBody>
      </p:sp>
      <p:sp>
        <p:nvSpPr>
          <p:cNvPr id="24" name="TextBox 23"/>
          <p:cNvSpPr txBox="1"/>
          <p:nvPr/>
        </p:nvSpPr>
        <p:spPr>
          <a:xfrm>
            <a:off x="5074920" y="2834639"/>
            <a:ext cx="1645920" cy="228600"/>
          </a:xfrm>
          <a:prstGeom prst="rect">
            <a:avLst/>
          </a:prstGeom>
          <a:noFill/>
        </p:spPr>
        <p:txBody>
          <a:bodyPr wrap="square" anchor="t"/>
          <a:lstStyle/>
          <a:p>
            <a:pPr algn="l">
              <a:defRPr sz="1100" b="1">
                <a:solidFill>
                  <a:srgbClr val="FFFFFF"/>
                </a:solidFill>
                <a:latin typeface="Arial"/>
              </a:defRPr>
            </a:pPr>
            <a:r>
              <a:t>Consecutive Fails:</a:t>
            </a:r>
          </a:p>
        </p:txBody>
      </p:sp>
      <p:sp>
        <p:nvSpPr>
          <p:cNvPr id="25" name="TextBox 24"/>
          <p:cNvSpPr txBox="1"/>
          <p:nvPr/>
        </p:nvSpPr>
        <p:spPr>
          <a:xfrm>
            <a:off x="6766560" y="2834639"/>
            <a:ext cx="1828800" cy="228600"/>
          </a:xfrm>
          <a:prstGeom prst="rect">
            <a:avLst/>
          </a:prstGeom>
          <a:noFill/>
        </p:spPr>
        <p:txBody>
          <a:bodyPr wrap="square" anchor="t"/>
          <a:lstStyle/>
          <a:p>
            <a:pPr algn="l">
              <a:defRPr sz="1100" b="0">
                <a:solidFill>
                  <a:srgbClr val="CCCCCC"/>
                </a:solidFill>
                <a:latin typeface="Arial"/>
              </a:defRPr>
            </a:pPr>
            <a:r>
              <a:t>3 triggers open</a:t>
            </a:r>
          </a:p>
        </p:txBody>
      </p:sp>
      <p:sp>
        <p:nvSpPr>
          <p:cNvPr id="26" name="TextBox 25"/>
          <p:cNvSpPr txBox="1"/>
          <p:nvPr/>
        </p:nvSpPr>
        <p:spPr>
          <a:xfrm>
            <a:off x="5074920" y="3154679"/>
            <a:ext cx="1645920" cy="228600"/>
          </a:xfrm>
          <a:prstGeom prst="rect">
            <a:avLst/>
          </a:prstGeom>
          <a:noFill/>
        </p:spPr>
        <p:txBody>
          <a:bodyPr wrap="square" anchor="t"/>
          <a:lstStyle/>
          <a:p>
            <a:pPr algn="l">
              <a:defRPr sz="1100" b="1">
                <a:solidFill>
                  <a:srgbClr val="FFFFFF"/>
                </a:solidFill>
                <a:latin typeface="Arial"/>
              </a:defRPr>
            </a:pPr>
            <a:r>
              <a:t>Open Duration:</a:t>
            </a:r>
          </a:p>
        </p:txBody>
      </p:sp>
      <p:sp>
        <p:nvSpPr>
          <p:cNvPr id="27" name="TextBox 26"/>
          <p:cNvSpPr txBox="1"/>
          <p:nvPr/>
        </p:nvSpPr>
        <p:spPr>
          <a:xfrm>
            <a:off x="6766560" y="3154679"/>
            <a:ext cx="1828800" cy="228600"/>
          </a:xfrm>
          <a:prstGeom prst="rect">
            <a:avLst/>
          </a:prstGeom>
          <a:noFill/>
        </p:spPr>
        <p:txBody>
          <a:bodyPr wrap="square" anchor="t"/>
          <a:lstStyle/>
          <a:p>
            <a:pPr algn="l">
              <a:defRPr sz="1100" b="0">
                <a:solidFill>
                  <a:srgbClr val="CCCCCC"/>
                </a:solidFill>
                <a:latin typeface="Arial"/>
              </a:defRPr>
            </a:pPr>
            <a:r>
              <a:t>30 seconds cooldown</a:t>
            </a:r>
          </a:p>
        </p:txBody>
      </p:sp>
      <p:sp>
        <p:nvSpPr>
          <p:cNvPr id="28" name="TextBox 27"/>
          <p:cNvSpPr txBox="1"/>
          <p:nvPr/>
        </p:nvSpPr>
        <p:spPr>
          <a:xfrm>
            <a:off x="5074920" y="3474719"/>
            <a:ext cx="1645920" cy="228600"/>
          </a:xfrm>
          <a:prstGeom prst="rect">
            <a:avLst/>
          </a:prstGeom>
          <a:noFill/>
        </p:spPr>
        <p:txBody>
          <a:bodyPr wrap="square" anchor="t"/>
          <a:lstStyle/>
          <a:p>
            <a:pPr algn="l">
              <a:defRPr sz="1100" b="1">
                <a:solidFill>
                  <a:srgbClr val="FFFFFF"/>
                </a:solidFill>
                <a:latin typeface="Arial"/>
              </a:defRPr>
            </a:pPr>
            <a:r>
              <a:t>Fallback:</a:t>
            </a:r>
          </a:p>
        </p:txBody>
      </p:sp>
      <p:sp>
        <p:nvSpPr>
          <p:cNvPr id="29" name="TextBox 28"/>
          <p:cNvSpPr txBox="1"/>
          <p:nvPr/>
        </p:nvSpPr>
        <p:spPr>
          <a:xfrm>
            <a:off x="6766560" y="3474719"/>
            <a:ext cx="1828800" cy="228600"/>
          </a:xfrm>
          <a:prstGeom prst="rect">
            <a:avLst/>
          </a:prstGeom>
          <a:noFill/>
        </p:spPr>
        <p:txBody>
          <a:bodyPr wrap="square" anchor="t"/>
          <a:lstStyle/>
          <a:p>
            <a:pPr algn="l">
              <a:defRPr sz="1100" b="0">
                <a:solidFill>
                  <a:srgbClr val="CCCCCC"/>
                </a:solidFill>
                <a:latin typeface="Arial"/>
              </a:defRPr>
            </a:pPr>
            <a:r>
              <a:t>Degrades to basic mode</a:t>
            </a:r>
          </a:p>
        </p:txBody>
      </p:sp>
      <p:sp>
        <p:nvSpPr>
          <p:cNvPr id="30" name="Rectangle 29"/>
          <p:cNvSpPr/>
          <p:nvPr/>
        </p:nvSpPr>
        <p:spPr>
          <a:xfrm>
            <a:off x="502920" y="4206240"/>
            <a:ext cx="8138160" cy="7315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4297680"/>
            <a:ext cx="7680960" cy="548640"/>
          </a:xfrm>
          <a:prstGeom prst="rect">
            <a:avLst/>
          </a:prstGeom>
          <a:noFill/>
        </p:spPr>
        <p:txBody>
          <a:bodyPr wrap="square" anchor="t"/>
          <a:lstStyle/>
          <a:p>
            <a:pPr algn="l">
              <a:defRPr sz="1100" b="0">
                <a:solidFill>
                  <a:srgbClr val="CCCCCC"/>
                </a:solidFill>
                <a:latin typeface="Arial"/>
              </a:defRPr>
            </a:pPr>
            <a:r>
              <a:t>If an agent's LLM provider trips the circuit breaker, RuntimeService degrades to basic mode with a different provider. If even that fails, returns a graceful degraded message to the user.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MCP Security Model (mcp/)</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Cryptographic isolation, URL validation, tool deferral, and connection lifecycle management</a:t>
            </a:r>
          </a:p>
        </p:txBody>
      </p:sp>
      <p:sp>
        <p:nvSpPr>
          <p:cNvPr id="6" name="Rectangle 5"/>
          <p:cNvSpPr/>
          <p:nvPr/>
        </p:nvSpPr>
        <p:spPr>
          <a:xfrm>
            <a:off x="50292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3716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Secret Encryption</a:t>
            </a:r>
          </a:p>
        </p:txBody>
      </p:sp>
      <p:sp>
        <p:nvSpPr>
          <p:cNvPr id="9" name="TextBox 8"/>
          <p:cNvSpPr txBox="1"/>
          <p:nvPr/>
        </p:nvSpPr>
        <p:spPr>
          <a:xfrm>
            <a:off x="685800" y="1828800"/>
            <a:ext cx="3703319" cy="822960"/>
          </a:xfrm>
          <a:prstGeom prst="rect">
            <a:avLst/>
          </a:prstGeom>
          <a:noFill/>
        </p:spPr>
        <p:txBody>
          <a:bodyPr wrap="square" anchor="t"/>
          <a:lstStyle/>
          <a:p>
            <a:pPr algn="l">
              <a:defRPr sz="1000" b="0">
                <a:solidFill>
                  <a:srgbClr val="CCCCCC"/>
                </a:solidFill>
                <a:latin typeface="Arial"/>
              </a:defRPr>
            </a:pPr>
            <a:r>
              <a:t>Fernet symmetric encryption with SHA256 key derivation. Prefix: 'fernet:v1:' identifies encrypted values. Secrets never stored in plaintext. Decrypted only at call time.</a:t>
            </a:r>
          </a:p>
        </p:txBody>
      </p:sp>
      <p:sp>
        <p:nvSpPr>
          <p:cNvPr id="10" name="Rectangle 9"/>
          <p:cNvSpPr/>
          <p:nvPr/>
        </p:nvSpPr>
        <p:spPr>
          <a:xfrm>
            <a:off x="470916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371600"/>
            <a:ext cx="54864" cy="13716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URL Validation</a:t>
            </a:r>
          </a:p>
        </p:txBody>
      </p:sp>
      <p:sp>
        <p:nvSpPr>
          <p:cNvPr id="13" name="TextBox 12"/>
          <p:cNvSpPr txBox="1"/>
          <p:nvPr/>
        </p:nvSpPr>
        <p:spPr>
          <a:xfrm>
            <a:off x="4892040" y="1828800"/>
            <a:ext cx="3703319" cy="822960"/>
          </a:xfrm>
          <a:prstGeom prst="rect">
            <a:avLst/>
          </a:prstGeom>
          <a:noFill/>
        </p:spPr>
        <p:txBody>
          <a:bodyPr wrap="square" anchor="t"/>
          <a:lstStyle/>
          <a:p>
            <a:pPr algn="l">
              <a:defRPr sz="1000" b="0">
                <a:solidFill>
                  <a:srgbClr val="CCCCCC"/>
                </a:solidFill>
                <a:latin typeface="Arial"/>
              </a:defRPr>
            </a:pPr>
            <a:r>
              <a:t>HTTPS enforced by default (configurable). Private network blocking prevents SSRF attacks. Connection names slugified: max 80 chars, [a-z0-9_] only.</a:t>
            </a:r>
          </a:p>
        </p:txBody>
      </p:sp>
      <p:sp>
        <p:nvSpPr>
          <p:cNvPr id="14" name="Rectangle 13"/>
          <p:cNvSpPr/>
          <p:nvPr/>
        </p:nvSpPr>
        <p:spPr>
          <a:xfrm>
            <a:off x="50292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926080"/>
            <a:ext cx="54864" cy="13716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17520"/>
            <a:ext cx="3703319" cy="365760"/>
          </a:xfrm>
          <a:prstGeom prst="rect">
            <a:avLst/>
          </a:prstGeom>
          <a:noFill/>
        </p:spPr>
        <p:txBody>
          <a:bodyPr wrap="square" anchor="t"/>
          <a:lstStyle/>
          <a:p>
            <a:pPr algn="l">
              <a:defRPr sz="1300" b="1">
                <a:solidFill>
                  <a:srgbClr val="FFFFFF"/>
                </a:solidFill>
                <a:latin typeface="Arial"/>
              </a:defRPr>
            </a:pPr>
            <a:r>
              <a:t>Tool Deferral System</a:t>
            </a:r>
          </a:p>
        </p:txBody>
      </p:sp>
      <p:sp>
        <p:nvSpPr>
          <p:cNvPr id="17" name="TextBox 16"/>
          <p:cNvSpPr txBox="1"/>
          <p:nvPr/>
        </p:nvSpPr>
        <p:spPr>
          <a:xfrm>
            <a:off x="685800" y="3383280"/>
            <a:ext cx="3703319" cy="822960"/>
          </a:xfrm>
          <a:prstGeom prst="rect">
            <a:avLst/>
          </a:prstGeom>
          <a:noFill/>
        </p:spPr>
        <p:txBody>
          <a:bodyPr wrap="square" anchor="t"/>
          <a:lstStyle/>
          <a:p>
            <a:pPr algn="l">
              <a:defRPr sz="1000" b="0">
                <a:solidFill>
                  <a:srgbClr val="CCCCCC"/>
                </a:solidFill>
                <a:latin typeface="Arial"/>
              </a:defRPr>
            </a:pPr>
            <a:r>
              <a:t>All MCP tools: defer=True, destructive=True, defer_priority=50. Tools only execute after explicit user/agent approval. Schema sanitization: enforces type='object', additionalProperties=True.</a:t>
            </a:r>
          </a:p>
        </p:txBody>
      </p:sp>
      <p:sp>
        <p:nvSpPr>
          <p:cNvPr id="18" name="Rectangle 17"/>
          <p:cNvSpPr/>
          <p:nvPr/>
        </p:nvSpPr>
        <p:spPr>
          <a:xfrm>
            <a:off x="470916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09160" y="2926080"/>
            <a:ext cx="54864" cy="13716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017520"/>
            <a:ext cx="3703319" cy="365760"/>
          </a:xfrm>
          <a:prstGeom prst="rect">
            <a:avLst/>
          </a:prstGeom>
          <a:noFill/>
        </p:spPr>
        <p:txBody>
          <a:bodyPr wrap="square" anchor="t"/>
          <a:lstStyle/>
          <a:p>
            <a:pPr algn="l">
              <a:defRPr sz="1300" b="1">
                <a:solidFill>
                  <a:srgbClr val="FFFFFF"/>
                </a:solidFill>
                <a:latin typeface="Arial"/>
              </a:defRPr>
            </a:pPr>
            <a:r>
              <a:t>Connection Lifecycle</a:t>
            </a:r>
          </a:p>
        </p:txBody>
      </p:sp>
      <p:sp>
        <p:nvSpPr>
          <p:cNvPr id="21" name="TextBox 20"/>
          <p:cNvSpPr txBox="1"/>
          <p:nvPr/>
        </p:nvSpPr>
        <p:spPr>
          <a:xfrm>
            <a:off x="4892040" y="3383280"/>
            <a:ext cx="3703319" cy="822960"/>
          </a:xfrm>
          <a:prstGeom prst="rect">
            <a:avLst/>
          </a:prstGeom>
          <a:noFill/>
        </p:spPr>
        <p:txBody>
          <a:bodyPr wrap="square" anchor="t"/>
          <a:lstStyle/>
          <a:p>
            <a:pPr algn="l">
              <a:defRPr sz="1000" b="0">
                <a:solidFill>
                  <a:srgbClr val="CCCCCC"/>
                </a:solidFill>
                <a:latin typeface="Arial"/>
              </a:defRPr>
            </a:pPr>
            <a:r>
              <a:t>Timeouts: 15s for listing tools, 60s for execution. Tool name pattern: mcp__{connection}__{tool}. Per-tool enable/disable. Status/enabled flags gate execution.</a:t>
            </a:r>
          </a:p>
        </p:txBody>
      </p:sp>
      <p:sp>
        <p:nvSpPr>
          <p:cNvPr id="22" name="TextBox 21"/>
          <p:cNvSpPr txBox="1"/>
          <p:nvPr/>
        </p:nvSpPr>
        <p:spPr>
          <a:xfrm>
            <a:off x="502920" y="4480560"/>
            <a:ext cx="8138160" cy="457200"/>
          </a:xfrm>
          <a:prstGeom prst="rect">
            <a:avLst/>
          </a:prstGeom>
          <a:noFill/>
        </p:spPr>
        <p:txBody>
          <a:bodyPr wrap="square" anchor="t"/>
          <a:lstStyle/>
          <a:p>
            <a:pPr algn="l">
              <a:defRPr sz="1000" b="0">
                <a:solidFill>
                  <a:srgbClr val="888888"/>
                </a:solidFill>
                <a:latin typeface="Arial"/>
              </a:defRPr>
            </a:pPr>
            <a:r>
              <a:t>McpStreamableHttpClient wraps the official MCP Streamable HTTP client with sync/async support. McpCatalogService manages the full connection CRUD + tool discovery + execution pipeline.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Task Plan &amp; Artifact Handoff System</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Structured task decomposition with typed artifact handoffs between worker agents</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TASK SPECIFICATION</a:t>
            </a:r>
          </a:p>
        </p:txBody>
      </p:sp>
      <p:sp>
        <p:nvSpPr>
          <p:cNvPr id="7" name="TextBox 6"/>
          <p:cNvSpPr txBox="1"/>
          <p:nvPr/>
        </p:nvSpPr>
        <p:spPr>
          <a:xfrm>
            <a:off x="502920" y="1691640"/>
            <a:ext cx="1371600" cy="228600"/>
          </a:xfrm>
          <a:prstGeom prst="rect">
            <a:avLst/>
          </a:prstGeom>
          <a:noFill/>
        </p:spPr>
        <p:txBody>
          <a:bodyPr wrap="square" anchor="t"/>
          <a:lstStyle/>
          <a:p>
            <a:pPr algn="l">
              <a:defRPr sz="1100" b="1">
                <a:solidFill>
                  <a:srgbClr val="333333"/>
                </a:solidFill>
                <a:latin typeface="Arial"/>
              </a:defRPr>
            </a:pPr>
            <a:r>
              <a:t>Executors:</a:t>
            </a:r>
          </a:p>
        </p:txBody>
      </p:sp>
      <p:sp>
        <p:nvSpPr>
          <p:cNvPr id="8" name="TextBox 7"/>
          <p:cNvSpPr txBox="1"/>
          <p:nvPr/>
        </p:nvSpPr>
        <p:spPr>
          <a:xfrm>
            <a:off x="1828800" y="1691640"/>
            <a:ext cx="2560320" cy="228600"/>
          </a:xfrm>
          <a:prstGeom prst="rect">
            <a:avLst/>
          </a:prstGeom>
          <a:noFill/>
        </p:spPr>
        <p:txBody>
          <a:bodyPr wrap="square" anchor="t"/>
          <a:lstStyle/>
          <a:p>
            <a:pPr algn="l">
              <a:defRPr sz="1000" b="0">
                <a:solidFill>
                  <a:srgbClr val="555555"/>
                </a:solidFill>
                <a:latin typeface="Arial"/>
              </a:defRPr>
            </a:pPr>
            <a:r>
              <a:t>rag_worker, utility, data_analyst, general, graph_manager, verifier</a:t>
            </a:r>
          </a:p>
        </p:txBody>
      </p:sp>
      <p:sp>
        <p:nvSpPr>
          <p:cNvPr id="9" name="TextBox 8"/>
          <p:cNvSpPr txBox="1"/>
          <p:nvPr/>
        </p:nvSpPr>
        <p:spPr>
          <a:xfrm>
            <a:off x="502920" y="2011680"/>
            <a:ext cx="1371600" cy="228600"/>
          </a:xfrm>
          <a:prstGeom prst="rect">
            <a:avLst/>
          </a:prstGeom>
          <a:noFill/>
        </p:spPr>
        <p:txBody>
          <a:bodyPr wrap="square" anchor="t"/>
          <a:lstStyle/>
          <a:p>
            <a:pPr algn="l">
              <a:defRPr sz="1100" b="1">
                <a:solidFill>
                  <a:srgbClr val="333333"/>
                </a:solidFill>
                <a:latin typeface="Arial"/>
              </a:defRPr>
            </a:pPr>
            <a:r>
              <a:t>Modes:</a:t>
            </a:r>
          </a:p>
        </p:txBody>
      </p:sp>
      <p:sp>
        <p:nvSpPr>
          <p:cNvPr id="10" name="TextBox 9"/>
          <p:cNvSpPr txBox="1"/>
          <p:nvPr/>
        </p:nvSpPr>
        <p:spPr>
          <a:xfrm>
            <a:off x="1828800" y="2011680"/>
            <a:ext cx="2560320" cy="228600"/>
          </a:xfrm>
          <a:prstGeom prst="rect">
            <a:avLst/>
          </a:prstGeom>
          <a:noFill/>
        </p:spPr>
        <p:txBody>
          <a:bodyPr wrap="square" anchor="t"/>
          <a:lstStyle/>
          <a:p>
            <a:pPr algn="l">
              <a:defRPr sz="1000" b="0">
                <a:solidFill>
                  <a:srgbClr val="555555"/>
                </a:solidFill>
                <a:latin typeface="Arial"/>
              </a:defRPr>
            </a:pPr>
            <a:r>
              <a:t>sequential or parallel execution</a:t>
            </a:r>
          </a:p>
        </p:txBody>
      </p:sp>
      <p:sp>
        <p:nvSpPr>
          <p:cNvPr id="11" name="TextBox 10"/>
          <p:cNvSpPr txBox="1"/>
          <p:nvPr/>
        </p:nvSpPr>
        <p:spPr>
          <a:xfrm>
            <a:off x="502920" y="2331720"/>
            <a:ext cx="1371600" cy="228600"/>
          </a:xfrm>
          <a:prstGeom prst="rect">
            <a:avLst/>
          </a:prstGeom>
          <a:noFill/>
        </p:spPr>
        <p:txBody>
          <a:bodyPr wrap="square" anchor="t"/>
          <a:lstStyle/>
          <a:p>
            <a:pPr algn="l">
              <a:defRPr sz="1100" b="1">
                <a:solidFill>
                  <a:srgbClr val="333333"/>
                </a:solidFill>
                <a:latin typeface="Arial"/>
              </a:defRPr>
            </a:pPr>
            <a:r>
              <a:t>Terminal States:</a:t>
            </a:r>
          </a:p>
        </p:txBody>
      </p:sp>
      <p:sp>
        <p:nvSpPr>
          <p:cNvPr id="12" name="TextBox 11"/>
          <p:cNvSpPr txBox="1"/>
          <p:nvPr/>
        </p:nvSpPr>
        <p:spPr>
          <a:xfrm>
            <a:off x="1828800" y="2331720"/>
            <a:ext cx="2560320" cy="228600"/>
          </a:xfrm>
          <a:prstGeom prst="rect">
            <a:avLst/>
          </a:prstGeom>
          <a:noFill/>
        </p:spPr>
        <p:txBody>
          <a:bodyPr wrap="square" anchor="t"/>
          <a:lstStyle/>
          <a:p>
            <a:pPr algn="l">
              <a:defRPr sz="1000" b="0">
                <a:solidFill>
                  <a:srgbClr val="555555"/>
                </a:solidFill>
                <a:latin typeface="Arial"/>
              </a:defRPr>
            </a:pPr>
            <a:r>
              <a:t>completed, failed, stopped, waiting_message</a:t>
            </a:r>
          </a:p>
        </p:txBody>
      </p:sp>
      <p:sp>
        <p:nvSpPr>
          <p:cNvPr id="13" name="TextBox 12"/>
          <p:cNvSpPr txBox="1"/>
          <p:nvPr/>
        </p:nvSpPr>
        <p:spPr>
          <a:xfrm>
            <a:off x="502920" y="2651760"/>
            <a:ext cx="1371600" cy="228600"/>
          </a:xfrm>
          <a:prstGeom prst="rect">
            <a:avLst/>
          </a:prstGeom>
          <a:noFill/>
        </p:spPr>
        <p:txBody>
          <a:bodyPr wrap="square" anchor="t"/>
          <a:lstStyle/>
          <a:p>
            <a:pPr algn="l">
              <a:defRPr sz="1100" b="1">
                <a:solidFill>
                  <a:srgbClr val="333333"/>
                </a:solidFill>
                <a:latin typeface="Arial"/>
              </a:defRPr>
            </a:pPr>
            <a:r>
              <a:t>Hints:</a:t>
            </a:r>
          </a:p>
        </p:txBody>
      </p:sp>
      <p:sp>
        <p:nvSpPr>
          <p:cNvPr id="14" name="TextBox 13"/>
          <p:cNvSpPr txBox="1"/>
          <p:nvPr/>
        </p:nvSpPr>
        <p:spPr>
          <a:xfrm>
            <a:off x="1828800" y="2651760"/>
            <a:ext cx="2560320" cy="228600"/>
          </a:xfrm>
          <a:prstGeom prst="rect">
            <a:avLst/>
          </a:prstGeom>
          <a:noFill/>
        </p:spPr>
        <p:txBody>
          <a:bodyPr wrap="square" anchor="t"/>
          <a:lstStyle/>
          <a:p>
            <a:pPr algn="l">
              <a:defRPr sz="1000" b="0">
                <a:solidFill>
                  <a:srgbClr val="555555"/>
                </a:solidFill>
                <a:latin typeface="Arial"/>
              </a:defRPr>
            </a:pPr>
            <a:r>
              <a:t>research_profile, coverage_goal, result_mode, answer_mode</a:t>
            </a:r>
          </a:p>
        </p:txBody>
      </p:sp>
      <p:sp>
        <p:nvSpPr>
          <p:cNvPr id="15" name="TextBox 14"/>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8 ARTIFACT HANDOFF TYPES</a:t>
            </a:r>
          </a:p>
        </p:txBody>
      </p:sp>
      <p:sp>
        <p:nvSpPr>
          <p:cNvPr id="16" name="Rectangle 15"/>
          <p:cNvSpPr/>
          <p:nvPr/>
        </p:nvSpPr>
        <p:spPr>
          <a:xfrm>
            <a:off x="4846320" y="169164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74920" y="1691640"/>
            <a:ext cx="3566160" cy="201168"/>
          </a:xfrm>
          <a:prstGeom prst="rect">
            <a:avLst/>
          </a:prstGeom>
          <a:noFill/>
        </p:spPr>
        <p:txBody>
          <a:bodyPr wrap="square" anchor="t"/>
          <a:lstStyle/>
          <a:p>
            <a:pPr algn="l">
              <a:defRPr sz="1100" b="0">
                <a:solidFill>
                  <a:srgbClr val="333333"/>
                </a:solidFill>
                <a:latin typeface="Consolas"/>
              </a:defRPr>
            </a:pPr>
            <a:r>
              <a:t>title_candidates</a:t>
            </a:r>
          </a:p>
        </p:txBody>
      </p:sp>
      <p:sp>
        <p:nvSpPr>
          <p:cNvPr id="18" name="Rectangle 17"/>
          <p:cNvSpPr/>
          <p:nvPr/>
        </p:nvSpPr>
        <p:spPr>
          <a:xfrm>
            <a:off x="4846320" y="194767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74920" y="1947672"/>
            <a:ext cx="3566160" cy="201168"/>
          </a:xfrm>
          <a:prstGeom prst="rect">
            <a:avLst/>
          </a:prstGeom>
          <a:noFill/>
        </p:spPr>
        <p:txBody>
          <a:bodyPr wrap="square" anchor="t"/>
          <a:lstStyle/>
          <a:p>
            <a:pPr algn="l">
              <a:defRPr sz="1100" b="0">
                <a:solidFill>
                  <a:srgbClr val="333333"/>
                </a:solidFill>
                <a:latin typeface="Consolas"/>
              </a:defRPr>
            </a:pPr>
            <a:r>
              <a:t>doc_focus</a:t>
            </a:r>
          </a:p>
        </p:txBody>
      </p:sp>
      <p:sp>
        <p:nvSpPr>
          <p:cNvPr id="20" name="Rectangle 19"/>
          <p:cNvSpPr/>
          <p:nvPr/>
        </p:nvSpPr>
        <p:spPr>
          <a:xfrm>
            <a:off x="4846320" y="220370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2203704"/>
            <a:ext cx="3566160" cy="201168"/>
          </a:xfrm>
          <a:prstGeom prst="rect">
            <a:avLst/>
          </a:prstGeom>
          <a:noFill/>
        </p:spPr>
        <p:txBody>
          <a:bodyPr wrap="square" anchor="t"/>
          <a:lstStyle/>
          <a:p>
            <a:pPr algn="l">
              <a:defRPr sz="1100" b="0">
                <a:solidFill>
                  <a:srgbClr val="333333"/>
                </a:solidFill>
                <a:latin typeface="Consolas"/>
              </a:defRPr>
            </a:pPr>
            <a:r>
              <a:t>research_facets</a:t>
            </a:r>
          </a:p>
        </p:txBody>
      </p:sp>
      <p:sp>
        <p:nvSpPr>
          <p:cNvPr id="22" name="Rectangle 21"/>
          <p:cNvSpPr/>
          <p:nvPr/>
        </p:nvSpPr>
        <p:spPr>
          <a:xfrm>
            <a:off x="4846320" y="2459736"/>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74920" y="2459736"/>
            <a:ext cx="3566160" cy="201168"/>
          </a:xfrm>
          <a:prstGeom prst="rect">
            <a:avLst/>
          </a:prstGeom>
          <a:noFill/>
        </p:spPr>
        <p:txBody>
          <a:bodyPr wrap="square" anchor="t"/>
          <a:lstStyle/>
          <a:p>
            <a:pPr algn="l">
              <a:defRPr sz="1100" b="0">
                <a:solidFill>
                  <a:srgbClr val="333333"/>
                </a:solidFill>
                <a:latin typeface="Consolas"/>
              </a:defRPr>
            </a:pPr>
            <a:r>
              <a:t>facet_matches</a:t>
            </a:r>
          </a:p>
        </p:txBody>
      </p:sp>
      <p:sp>
        <p:nvSpPr>
          <p:cNvPr id="24" name="Rectangle 23"/>
          <p:cNvSpPr/>
          <p:nvPr/>
        </p:nvSpPr>
        <p:spPr>
          <a:xfrm>
            <a:off x="4846320" y="2715768"/>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74920" y="2715768"/>
            <a:ext cx="3566160" cy="201168"/>
          </a:xfrm>
          <a:prstGeom prst="rect">
            <a:avLst/>
          </a:prstGeom>
          <a:noFill/>
        </p:spPr>
        <p:txBody>
          <a:bodyPr wrap="square" anchor="t"/>
          <a:lstStyle/>
          <a:p>
            <a:pPr algn="l">
              <a:defRPr sz="1100" b="0">
                <a:solidFill>
                  <a:srgbClr val="333333"/>
                </a:solidFill>
                <a:latin typeface="Consolas"/>
              </a:defRPr>
            </a:pPr>
            <a:r>
              <a:t>doc_digest</a:t>
            </a:r>
          </a:p>
        </p:txBody>
      </p:sp>
      <p:sp>
        <p:nvSpPr>
          <p:cNvPr id="26" name="Rectangle 25"/>
          <p:cNvSpPr/>
          <p:nvPr/>
        </p:nvSpPr>
        <p:spPr>
          <a:xfrm>
            <a:off x="4846320" y="297180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74920" y="2971800"/>
            <a:ext cx="3566160" cy="201168"/>
          </a:xfrm>
          <a:prstGeom prst="rect">
            <a:avLst/>
          </a:prstGeom>
          <a:noFill/>
        </p:spPr>
        <p:txBody>
          <a:bodyPr wrap="square" anchor="t"/>
          <a:lstStyle/>
          <a:p>
            <a:pPr algn="l">
              <a:defRPr sz="1100" b="0">
                <a:solidFill>
                  <a:srgbClr val="333333"/>
                </a:solidFill>
                <a:latin typeface="Consolas"/>
              </a:defRPr>
            </a:pPr>
            <a:r>
              <a:t>subsystem_inventory</a:t>
            </a:r>
          </a:p>
        </p:txBody>
      </p:sp>
      <p:sp>
        <p:nvSpPr>
          <p:cNvPr id="28" name="Rectangle 27"/>
          <p:cNvSpPr/>
          <p:nvPr/>
        </p:nvSpPr>
        <p:spPr>
          <a:xfrm>
            <a:off x="4846320" y="322783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74920" y="3227832"/>
            <a:ext cx="3566160" cy="201168"/>
          </a:xfrm>
          <a:prstGeom prst="rect">
            <a:avLst/>
          </a:prstGeom>
          <a:noFill/>
        </p:spPr>
        <p:txBody>
          <a:bodyPr wrap="square" anchor="t"/>
          <a:lstStyle/>
          <a:p>
            <a:pPr algn="l">
              <a:defRPr sz="1100" b="0">
                <a:solidFill>
                  <a:srgbClr val="333333"/>
                </a:solidFill>
                <a:latin typeface="Consolas"/>
              </a:defRPr>
            </a:pPr>
            <a:r>
              <a:t>policy_guidance_matches</a:t>
            </a:r>
          </a:p>
        </p:txBody>
      </p:sp>
      <p:sp>
        <p:nvSpPr>
          <p:cNvPr id="30" name="Rectangle 29"/>
          <p:cNvSpPr/>
          <p:nvPr/>
        </p:nvSpPr>
        <p:spPr>
          <a:xfrm>
            <a:off x="4846320" y="348386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74920" y="3483864"/>
            <a:ext cx="3566160" cy="201168"/>
          </a:xfrm>
          <a:prstGeom prst="rect">
            <a:avLst/>
          </a:prstGeom>
          <a:noFill/>
        </p:spPr>
        <p:txBody>
          <a:bodyPr wrap="square" anchor="t"/>
          <a:lstStyle/>
          <a:p>
            <a:pPr algn="l">
              <a:defRPr sz="1100" b="0">
                <a:solidFill>
                  <a:srgbClr val="333333"/>
                </a:solidFill>
                <a:latin typeface="Consolas"/>
              </a:defRPr>
            </a:pPr>
            <a:r>
              <a:t>buyer_recommendation_table</a:t>
            </a:r>
          </a:p>
        </p:txBody>
      </p:sp>
      <p:sp>
        <p:nvSpPr>
          <p:cNvPr id="32" name="Rectangle 31"/>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3931920"/>
            <a:ext cx="7680960" cy="320040"/>
          </a:xfrm>
          <a:prstGeom prst="rect">
            <a:avLst/>
          </a:prstGeom>
          <a:noFill/>
        </p:spPr>
        <p:txBody>
          <a:bodyPr wrap="square" anchor="t"/>
          <a:lstStyle/>
          <a:p>
            <a:pPr algn="l">
              <a:defRPr sz="1200" b="1">
                <a:solidFill>
                  <a:srgbClr val="0097A7"/>
                </a:solidFill>
                <a:latin typeface="Arial"/>
              </a:defRPr>
            </a:pPr>
            <a:r>
              <a:t>DOCUMENT RANKING KEYS</a:t>
            </a:r>
          </a:p>
        </p:txBody>
      </p:sp>
      <p:sp>
        <p:nvSpPr>
          <p:cNvPr id="34" name="TextBox 33"/>
          <p:cNvSpPr txBox="1"/>
          <p:nvPr/>
        </p:nvSpPr>
        <p:spPr>
          <a:xfrm>
            <a:off x="731520" y="4251960"/>
            <a:ext cx="7680960" cy="457200"/>
          </a:xfrm>
          <a:prstGeom prst="rect">
            <a:avLst/>
          </a:prstGeom>
          <a:noFill/>
        </p:spPr>
        <p:txBody>
          <a:bodyPr wrap="square" anchor="t"/>
          <a:lstStyle/>
          <a:p>
            <a:pPr algn="l">
              <a:defRPr sz="1100" b="0">
                <a:solidFill>
                  <a:srgbClr val="CCCCCC"/>
                </a:solidFill>
                <a:latin typeface="Consolas"/>
              </a:defRPr>
            </a:pPr>
            <a:r>
              <a:t>is_meta_document  |  reviewed_relevance  |  matched_facets  |  strong_evidence_count  |  title_path_score  |  seed_hits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Storage &amp; Blob Store (storage/)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Multi-backend blob storage abstraction for documents, artifacts, and signed downloads</a:t>
            </a:r>
          </a:p>
        </p:txBody>
      </p:sp>
      <p:sp>
        <p:nvSpPr>
          <p:cNvPr id="6" name="Rectangle 5"/>
          <p:cNvSpPr/>
          <p:nvPr/>
        </p:nvSpPr>
        <p:spPr>
          <a:xfrm>
            <a:off x="1371600" y="1371600"/>
            <a:ext cx="6400800" cy="18288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0" y="1371600"/>
            <a:ext cx="54864" cy="1828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463040"/>
            <a:ext cx="5943600" cy="320040"/>
          </a:xfrm>
          <a:prstGeom prst="rect">
            <a:avLst/>
          </a:prstGeom>
          <a:noFill/>
        </p:spPr>
        <p:txBody>
          <a:bodyPr wrap="square" anchor="t"/>
          <a:lstStyle/>
          <a:p>
            <a:pPr algn="l">
              <a:defRPr sz="1600" b="1">
                <a:solidFill>
                  <a:srgbClr val="FFFFFF"/>
                </a:solidFill>
                <a:latin typeface="Arial"/>
              </a:defRPr>
            </a:pPr>
            <a:r>
              <a:t>BlobRef Dataclass</a:t>
            </a:r>
          </a:p>
        </p:txBody>
      </p:sp>
      <p:sp>
        <p:nvSpPr>
          <p:cNvPr id="9" name="TextBox 8"/>
          <p:cNvSpPr txBox="1"/>
          <p:nvPr/>
        </p:nvSpPr>
        <p:spPr>
          <a:xfrm>
            <a:off x="1737360" y="1874519"/>
            <a:ext cx="2011680" cy="228600"/>
          </a:xfrm>
          <a:prstGeom prst="rect">
            <a:avLst/>
          </a:prstGeom>
          <a:noFill/>
        </p:spPr>
        <p:txBody>
          <a:bodyPr wrap="square" anchor="t"/>
          <a:lstStyle/>
          <a:p>
            <a:pPr algn="l">
              <a:defRPr sz="1200" b="1">
                <a:solidFill>
                  <a:srgbClr val="0097A7"/>
                </a:solidFill>
                <a:latin typeface="Consolas"/>
              </a:defRPr>
            </a:pPr>
            <a:r>
              <a:t>backend</a:t>
            </a:r>
          </a:p>
        </p:txBody>
      </p:sp>
      <p:sp>
        <p:nvSpPr>
          <p:cNvPr id="10" name="TextBox 9"/>
          <p:cNvSpPr txBox="1"/>
          <p:nvPr/>
        </p:nvSpPr>
        <p:spPr>
          <a:xfrm>
            <a:off x="3840480" y="1874519"/>
            <a:ext cx="3657600" cy="228600"/>
          </a:xfrm>
          <a:prstGeom prst="rect">
            <a:avLst/>
          </a:prstGeom>
          <a:noFill/>
        </p:spPr>
        <p:txBody>
          <a:bodyPr wrap="square" anchor="t"/>
          <a:lstStyle/>
          <a:p>
            <a:pPr algn="l">
              <a:defRPr sz="1100" b="0">
                <a:solidFill>
                  <a:srgbClr val="CCCCCC"/>
                </a:solidFill>
                <a:latin typeface="Arial"/>
              </a:defRPr>
            </a:pPr>
            <a:r>
              <a:t>Storage provider (S3, Azure, local)</a:t>
            </a:r>
          </a:p>
        </p:txBody>
      </p:sp>
      <p:sp>
        <p:nvSpPr>
          <p:cNvPr id="11" name="TextBox 10"/>
          <p:cNvSpPr txBox="1"/>
          <p:nvPr/>
        </p:nvSpPr>
        <p:spPr>
          <a:xfrm>
            <a:off x="1737360" y="2148839"/>
            <a:ext cx="2011680" cy="228600"/>
          </a:xfrm>
          <a:prstGeom prst="rect">
            <a:avLst/>
          </a:prstGeom>
          <a:noFill/>
        </p:spPr>
        <p:txBody>
          <a:bodyPr wrap="square" anchor="t"/>
          <a:lstStyle/>
          <a:p>
            <a:pPr algn="l">
              <a:defRPr sz="1200" b="1">
                <a:solidFill>
                  <a:srgbClr val="0097A7"/>
                </a:solidFill>
                <a:latin typeface="Consolas"/>
              </a:defRPr>
            </a:pPr>
            <a:r>
              <a:t>uri</a:t>
            </a:r>
          </a:p>
        </p:txBody>
      </p:sp>
      <p:sp>
        <p:nvSpPr>
          <p:cNvPr id="12" name="TextBox 11"/>
          <p:cNvSpPr txBox="1"/>
          <p:nvPr/>
        </p:nvSpPr>
        <p:spPr>
          <a:xfrm>
            <a:off x="3840480" y="2148839"/>
            <a:ext cx="3657600" cy="228600"/>
          </a:xfrm>
          <a:prstGeom prst="rect">
            <a:avLst/>
          </a:prstGeom>
          <a:noFill/>
        </p:spPr>
        <p:txBody>
          <a:bodyPr wrap="square" anchor="t"/>
          <a:lstStyle/>
          <a:p>
            <a:pPr algn="l">
              <a:defRPr sz="1100" b="0">
                <a:solidFill>
                  <a:srgbClr val="CCCCCC"/>
                </a:solidFill>
                <a:latin typeface="Arial"/>
              </a:defRPr>
            </a:pPr>
            <a:r>
              <a:t>Full resource URI</a:t>
            </a:r>
          </a:p>
        </p:txBody>
      </p:sp>
      <p:sp>
        <p:nvSpPr>
          <p:cNvPr id="13" name="TextBox 12"/>
          <p:cNvSpPr txBox="1"/>
          <p:nvPr/>
        </p:nvSpPr>
        <p:spPr>
          <a:xfrm>
            <a:off x="1737360" y="2423159"/>
            <a:ext cx="2011680" cy="228600"/>
          </a:xfrm>
          <a:prstGeom prst="rect">
            <a:avLst/>
          </a:prstGeom>
          <a:noFill/>
        </p:spPr>
        <p:txBody>
          <a:bodyPr wrap="square" anchor="t"/>
          <a:lstStyle/>
          <a:p>
            <a:pPr algn="l">
              <a:defRPr sz="1200" b="1">
                <a:solidFill>
                  <a:srgbClr val="0097A7"/>
                </a:solidFill>
                <a:latin typeface="Consolas"/>
              </a:defRPr>
            </a:pPr>
            <a:r>
              <a:t>bucket / key</a:t>
            </a:r>
          </a:p>
        </p:txBody>
      </p:sp>
      <p:sp>
        <p:nvSpPr>
          <p:cNvPr id="14" name="TextBox 13"/>
          <p:cNvSpPr txBox="1"/>
          <p:nvPr/>
        </p:nvSpPr>
        <p:spPr>
          <a:xfrm>
            <a:off x="3840480" y="2423159"/>
            <a:ext cx="3657600" cy="228600"/>
          </a:xfrm>
          <a:prstGeom prst="rect">
            <a:avLst/>
          </a:prstGeom>
          <a:noFill/>
        </p:spPr>
        <p:txBody>
          <a:bodyPr wrap="square" anchor="t"/>
          <a:lstStyle/>
          <a:p>
            <a:pPr algn="l">
              <a:defRPr sz="1100" b="0">
                <a:solidFill>
                  <a:srgbClr val="CCCCCC"/>
                </a:solidFill>
                <a:latin typeface="Arial"/>
              </a:defRPr>
            </a:pPr>
            <a:r>
              <a:t>Bucket name + object key</a:t>
            </a:r>
          </a:p>
        </p:txBody>
      </p:sp>
      <p:sp>
        <p:nvSpPr>
          <p:cNvPr id="15" name="TextBox 14"/>
          <p:cNvSpPr txBox="1"/>
          <p:nvPr/>
        </p:nvSpPr>
        <p:spPr>
          <a:xfrm>
            <a:off x="1737360" y="2697479"/>
            <a:ext cx="2011680" cy="228600"/>
          </a:xfrm>
          <a:prstGeom prst="rect">
            <a:avLst/>
          </a:prstGeom>
          <a:noFill/>
        </p:spPr>
        <p:txBody>
          <a:bodyPr wrap="square" anchor="t"/>
          <a:lstStyle/>
          <a:p>
            <a:pPr algn="l">
              <a:defRPr sz="1200" b="1">
                <a:solidFill>
                  <a:srgbClr val="0097A7"/>
                </a:solidFill>
                <a:latin typeface="Consolas"/>
              </a:defRPr>
            </a:pPr>
            <a:r>
              <a:t>etag / sha1</a:t>
            </a:r>
          </a:p>
        </p:txBody>
      </p:sp>
      <p:sp>
        <p:nvSpPr>
          <p:cNvPr id="16" name="TextBox 15"/>
          <p:cNvSpPr txBox="1"/>
          <p:nvPr/>
        </p:nvSpPr>
        <p:spPr>
          <a:xfrm>
            <a:off x="3840480" y="2697479"/>
            <a:ext cx="3657600" cy="228600"/>
          </a:xfrm>
          <a:prstGeom prst="rect">
            <a:avLst/>
          </a:prstGeom>
          <a:noFill/>
        </p:spPr>
        <p:txBody>
          <a:bodyPr wrap="square" anchor="t"/>
          <a:lstStyle/>
          <a:p>
            <a:pPr algn="l">
              <a:defRPr sz="1100" b="0">
                <a:solidFill>
                  <a:srgbClr val="CCCCCC"/>
                </a:solidFill>
                <a:latin typeface="Arial"/>
              </a:defRPr>
            </a:pPr>
            <a:r>
              <a:t>Content integrity hashes</a:t>
            </a:r>
          </a:p>
        </p:txBody>
      </p:sp>
      <p:sp>
        <p:nvSpPr>
          <p:cNvPr id="17" name="TextBox 16"/>
          <p:cNvSpPr txBox="1"/>
          <p:nvPr/>
        </p:nvSpPr>
        <p:spPr>
          <a:xfrm>
            <a:off x="1737360" y="2971799"/>
            <a:ext cx="2011680" cy="228600"/>
          </a:xfrm>
          <a:prstGeom prst="rect">
            <a:avLst/>
          </a:prstGeom>
          <a:noFill/>
        </p:spPr>
        <p:txBody>
          <a:bodyPr wrap="square" anchor="t"/>
          <a:lstStyle/>
          <a:p>
            <a:pPr algn="l">
              <a:defRPr sz="1200" b="1">
                <a:solidFill>
                  <a:srgbClr val="0097A7"/>
                </a:solidFill>
                <a:latin typeface="Consolas"/>
              </a:defRPr>
            </a:pPr>
            <a:r>
              <a:t>size / content_type</a:t>
            </a:r>
          </a:p>
        </p:txBody>
      </p:sp>
      <p:sp>
        <p:nvSpPr>
          <p:cNvPr id="18" name="TextBox 17"/>
          <p:cNvSpPr txBox="1"/>
          <p:nvPr/>
        </p:nvSpPr>
        <p:spPr>
          <a:xfrm>
            <a:off x="3840480" y="2971799"/>
            <a:ext cx="3657600" cy="228600"/>
          </a:xfrm>
          <a:prstGeom prst="rect">
            <a:avLst/>
          </a:prstGeom>
          <a:noFill/>
        </p:spPr>
        <p:txBody>
          <a:bodyPr wrap="square" anchor="t"/>
          <a:lstStyle/>
          <a:p>
            <a:pPr algn="l">
              <a:defRPr sz="1100" b="0">
                <a:solidFill>
                  <a:srgbClr val="CCCCCC"/>
                </a:solidFill>
                <a:latin typeface="Arial"/>
              </a:defRPr>
            </a:pPr>
            <a:r>
              <a:t>Byte size + MIME type</a:t>
            </a:r>
          </a:p>
        </p:txBody>
      </p:sp>
      <p:sp>
        <p:nvSpPr>
          <p:cNvPr id="19" name="Rectangle 18"/>
          <p:cNvSpPr/>
          <p:nvPr/>
        </p:nvSpPr>
        <p:spPr>
          <a:xfrm>
            <a:off x="1371600" y="3520440"/>
            <a:ext cx="2011680" cy="6400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08760" y="3566160"/>
            <a:ext cx="1737360" cy="228600"/>
          </a:xfrm>
          <a:prstGeom prst="rect">
            <a:avLst/>
          </a:prstGeom>
          <a:noFill/>
        </p:spPr>
        <p:txBody>
          <a:bodyPr wrap="square" anchor="t"/>
          <a:lstStyle/>
          <a:p>
            <a:pPr algn="ctr">
              <a:defRPr sz="1300" b="1">
                <a:solidFill>
                  <a:srgbClr val="FFFFFF"/>
                </a:solidFill>
                <a:latin typeface="Arial"/>
              </a:defRPr>
            </a:pPr>
            <a:r>
              <a:t>S3</a:t>
            </a:r>
          </a:p>
        </p:txBody>
      </p:sp>
      <p:sp>
        <p:nvSpPr>
          <p:cNvPr id="21" name="TextBox 20"/>
          <p:cNvSpPr txBox="1"/>
          <p:nvPr/>
        </p:nvSpPr>
        <p:spPr>
          <a:xfrm>
            <a:off x="1508760" y="3822191"/>
            <a:ext cx="1737360" cy="228600"/>
          </a:xfrm>
          <a:prstGeom prst="rect">
            <a:avLst/>
          </a:prstGeom>
          <a:noFill/>
        </p:spPr>
        <p:txBody>
          <a:bodyPr wrap="square" anchor="t"/>
          <a:lstStyle/>
          <a:p>
            <a:pPr algn="ctr">
              <a:defRPr sz="1000" b="0">
                <a:solidFill>
                  <a:srgbClr val="EEEEEE"/>
                </a:solidFill>
                <a:latin typeface="Arial"/>
              </a:defRPr>
            </a:pPr>
            <a:r>
              <a:t>Amazon S3 compatible</a:t>
            </a:r>
          </a:p>
        </p:txBody>
      </p:sp>
      <p:sp>
        <p:nvSpPr>
          <p:cNvPr id="22" name="Rectangle 21"/>
          <p:cNvSpPr/>
          <p:nvPr/>
        </p:nvSpPr>
        <p:spPr>
          <a:xfrm>
            <a:off x="3566160" y="3520440"/>
            <a:ext cx="2011680" cy="64008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03320" y="3566160"/>
            <a:ext cx="1737360" cy="228600"/>
          </a:xfrm>
          <a:prstGeom prst="rect">
            <a:avLst/>
          </a:prstGeom>
          <a:noFill/>
        </p:spPr>
        <p:txBody>
          <a:bodyPr wrap="square" anchor="t"/>
          <a:lstStyle/>
          <a:p>
            <a:pPr algn="ctr">
              <a:defRPr sz="1300" b="1">
                <a:solidFill>
                  <a:srgbClr val="FFFFFF"/>
                </a:solidFill>
                <a:latin typeface="Arial"/>
              </a:defRPr>
            </a:pPr>
            <a:r>
              <a:t>Azure Blob</a:t>
            </a:r>
          </a:p>
        </p:txBody>
      </p:sp>
      <p:sp>
        <p:nvSpPr>
          <p:cNvPr id="24" name="TextBox 23"/>
          <p:cNvSpPr txBox="1"/>
          <p:nvPr/>
        </p:nvSpPr>
        <p:spPr>
          <a:xfrm>
            <a:off x="3703320" y="3822191"/>
            <a:ext cx="1737360" cy="228600"/>
          </a:xfrm>
          <a:prstGeom prst="rect">
            <a:avLst/>
          </a:prstGeom>
          <a:noFill/>
        </p:spPr>
        <p:txBody>
          <a:bodyPr wrap="square" anchor="t"/>
          <a:lstStyle/>
          <a:p>
            <a:pPr algn="ctr">
              <a:defRPr sz="1000" b="0">
                <a:solidFill>
                  <a:srgbClr val="EEEEEE"/>
                </a:solidFill>
                <a:latin typeface="Arial"/>
              </a:defRPr>
            </a:pPr>
            <a:r>
              <a:t>Azure storage accounts</a:t>
            </a:r>
          </a:p>
        </p:txBody>
      </p:sp>
      <p:sp>
        <p:nvSpPr>
          <p:cNvPr id="25" name="Rectangle 24"/>
          <p:cNvSpPr/>
          <p:nvPr/>
        </p:nvSpPr>
        <p:spPr>
          <a:xfrm>
            <a:off x="5760720" y="3520440"/>
            <a:ext cx="201168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97880" y="3566160"/>
            <a:ext cx="1737360" cy="228600"/>
          </a:xfrm>
          <a:prstGeom prst="rect">
            <a:avLst/>
          </a:prstGeom>
          <a:noFill/>
        </p:spPr>
        <p:txBody>
          <a:bodyPr wrap="square" anchor="t"/>
          <a:lstStyle/>
          <a:p>
            <a:pPr algn="ctr">
              <a:defRPr sz="1300" b="1">
                <a:solidFill>
                  <a:srgbClr val="FFFFFF"/>
                </a:solidFill>
                <a:latin typeface="Arial"/>
              </a:defRPr>
            </a:pPr>
            <a:r>
              <a:t>Local FS</a:t>
            </a:r>
          </a:p>
        </p:txBody>
      </p:sp>
      <p:sp>
        <p:nvSpPr>
          <p:cNvPr id="27" name="TextBox 26"/>
          <p:cNvSpPr txBox="1"/>
          <p:nvPr/>
        </p:nvSpPr>
        <p:spPr>
          <a:xfrm>
            <a:off x="5897880" y="3822191"/>
            <a:ext cx="1737360" cy="228600"/>
          </a:xfrm>
          <a:prstGeom prst="rect">
            <a:avLst/>
          </a:prstGeom>
          <a:noFill/>
        </p:spPr>
        <p:txBody>
          <a:bodyPr wrap="square" anchor="t"/>
          <a:lstStyle/>
          <a:p>
            <a:pPr algn="ctr">
              <a:defRPr sz="1000" b="0">
                <a:solidFill>
                  <a:srgbClr val="EEEEEE"/>
                </a:solidFill>
                <a:latin typeface="Arial"/>
              </a:defRPr>
            </a:pPr>
            <a:r>
              <a:t>File-based development</a:t>
            </a:r>
          </a:p>
        </p:txBody>
      </p:sp>
      <p:sp>
        <p:nvSpPr>
          <p:cNvPr id="28" name="TextBox 27"/>
          <p:cNvSpPr txBox="1"/>
          <p:nvPr/>
        </p:nvSpPr>
        <p:spPr>
          <a:xfrm>
            <a:off x="502920" y="4389120"/>
            <a:ext cx="8138160" cy="457200"/>
          </a:xfrm>
          <a:prstGeom prst="rect">
            <a:avLst/>
          </a:prstGeom>
          <a:noFill/>
        </p:spPr>
        <p:txBody>
          <a:bodyPr wrap="square" anchor="t"/>
          <a:lstStyle/>
          <a:p>
            <a:pPr algn="l">
              <a:defRPr sz="1000" b="0">
                <a:solidFill>
                  <a:srgbClr val="888888"/>
                </a:solidFill>
                <a:latin typeface="Arial"/>
              </a:defRPr>
            </a:pPr>
            <a:r>
              <a:t>Used across API for uploaded documents, agent artifacts, and signed downloads (/v1/files/{download_id}). Key sanitization + SHA1 hashing ensure safe, deduplicated storage.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Graph Query Methods &amp; Build Pipeline (graph/)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4 query methods, phased build pipeline, and 2 backend options</a:t>
            </a:r>
          </a:p>
        </p:txBody>
      </p:sp>
      <p:sp>
        <p:nvSpPr>
          <p:cNvPr id="6" name="Rectangle 5"/>
          <p:cNvSpPr/>
          <p:nvPr/>
        </p:nvSpPr>
        <p:spPr>
          <a:xfrm>
            <a:off x="50292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0515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LOCAL</a:t>
            </a:r>
          </a:p>
        </p:txBody>
      </p:sp>
      <p:sp>
        <p:nvSpPr>
          <p:cNvPr id="9" name="TextBox 8"/>
          <p:cNvSpPr txBox="1"/>
          <p:nvPr/>
        </p:nvSpPr>
        <p:spPr>
          <a:xfrm>
            <a:off x="685800" y="1828800"/>
            <a:ext cx="3703319" cy="502920"/>
          </a:xfrm>
          <a:prstGeom prst="rect">
            <a:avLst/>
          </a:prstGeom>
          <a:noFill/>
        </p:spPr>
        <p:txBody>
          <a:bodyPr wrap="square" anchor="t"/>
          <a:lstStyle/>
          <a:p>
            <a:pPr algn="l">
              <a:defRPr sz="1000" b="0">
                <a:solidFill>
                  <a:srgbClr val="CCCCCC"/>
                </a:solidFill>
                <a:latin typeface="Arial"/>
              </a:defRPr>
            </a:pPr>
            <a:r>
              <a:t>Entity &amp; relationship queries. Multihop within document clusters. Requires 5 artifacts.</a:t>
            </a:r>
          </a:p>
        </p:txBody>
      </p:sp>
      <p:sp>
        <p:nvSpPr>
          <p:cNvPr id="10" name="Rectangle 9"/>
          <p:cNvSpPr/>
          <p:nvPr/>
        </p:nvSpPr>
        <p:spPr>
          <a:xfrm>
            <a:off x="470916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371600"/>
            <a:ext cx="54864" cy="10515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GLOBAL</a:t>
            </a:r>
          </a:p>
        </p:txBody>
      </p:sp>
      <p:sp>
        <p:nvSpPr>
          <p:cNvPr id="13" name="TextBox 12"/>
          <p:cNvSpPr txBox="1"/>
          <p:nvPr/>
        </p:nvSpPr>
        <p:spPr>
          <a:xfrm>
            <a:off x="4892040" y="1828800"/>
            <a:ext cx="3703319" cy="502920"/>
          </a:xfrm>
          <a:prstGeom prst="rect">
            <a:avLst/>
          </a:prstGeom>
          <a:noFill/>
        </p:spPr>
        <p:txBody>
          <a:bodyPr wrap="square" anchor="t"/>
          <a:lstStyle/>
          <a:p>
            <a:pPr algn="l">
              <a:defRPr sz="1000" b="0">
                <a:solidFill>
                  <a:srgbClr val="CCCCCC"/>
                </a:solidFill>
                <a:latin typeface="Arial"/>
              </a:defRPr>
            </a:pPr>
            <a:r>
              <a:t>Corpus-wide summaries and cross-document themes. Requires 3 artifacts.</a:t>
            </a:r>
          </a:p>
        </p:txBody>
      </p:sp>
      <p:sp>
        <p:nvSpPr>
          <p:cNvPr id="14" name="Rectangle 13"/>
          <p:cNvSpPr/>
          <p:nvPr/>
        </p:nvSpPr>
        <p:spPr>
          <a:xfrm>
            <a:off x="50292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606040"/>
            <a:ext cx="54864" cy="105156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2697480"/>
            <a:ext cx="3703319" cy="365760"/>
          </a:xfrm>
          <a:prstGeom prst="rect">
            <a:avLst/>
          </a:prstGeom>
          <a:noFill/>
        </p:spPr>
        <p:txBody>
          <a:bodyPr wrap="square" anchor="t"/>
          <a:lstStyle/>
          <a:p>
            <a:pPr algn="l">
              <a:defRPr sz="1300" b="1">
                <a:solidFill>
                  <a:srgbClr val="FFFFFF"/>
                </a:solidFill>
                <a:latin typeface="Arial"/>
              </a:defRPr>
            </a:pPr>
            <a:r>
              <a:t>DRIFT</a:t>
            </a:r>
          </a:p>
        </p:txBody>
      </p:sp>
      <p:sp>
        <p:nvSpPr>
          <p:cNvPr id="17" name="TextBox 16"/>
          <p:cNvSpPr txBox="1"/>
          <p:nvPr/>
        </p:nvSpPr>
        <p:spPr>
          <a:xfrm>
            <a:off x="685800" y="3063240"/>
            <a:ext cx="3703319" cy="502920"/>
          </a:xfrm>
          <a:prstGeom prst="rect">
            <a:avLst/>
          </a:prstGeom>
          <a:noFill/>
        </p:spPr>
        <p:txBody>
          <a:bodyPr wrap="square" anchor="t"/>
          <a:lstStyle/>
          <a:p>
            <a:pPr algn="l">
              <a:defRPr sz="1000" b="0">
                <a:solidFill>
                  <a:srgbClr val="CCCCCC"/>
                </a:solidFill>
                <a:latin typeface="Arial"/>
              </a:defRPr>
            </a:pPr>
            <a:r>
              <a:t>Temporal change detection and evolution tracking across rebuilds. 5 artifacts.</a:t>
            </a:r>
          </a:p>
        </p:txBody>
      </p:sp>
      <p:sp>
        <p:nvSpPr>
          <p:cNvPr id="18" name="Rectangle 17"/>
          <p:cNvSpPr/>
          <p:nvPr/>
        </p:nvSpPr>
        <p:spPr>
          <a:xfrm>
            <a:off x="470916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09160" y="2606040"/>
            <a:ext cx="54864" cy="105156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2697480"/>
            <a:ext cx="3703319" cy="365760"/>
          </a:xfrm>
          <a:prstGeom prst="rect">
            <a:avLst/>
          </a:prstGeom>
          <a:noFill/>
        </p:spPr>
        <p:txBody>
          <a:bodyPr wrap="square" anchor="t"/>
          <a:lstStyle/>
          <a:p>
            <a:pPr algn="l">
              <a:defRPr sz="1300" b="1">
                <a:solidFill>
                  <a:srgbClr val="FFFFFF"/>
                </a:solidFill>
                <a:latin typeface="Arial"/>
              </a:defRPr>
            </a:pPr>
            <a:r>
              <a:t>SQL</a:t>
            </a:r>
          </a:p>
        </p:txBody>
      </p:sp>
      <p:sp>
        <p:nvSpPr>
          <p:cNvPr id="21" name="TextBox 20"/>
          <p:cNvSpPr txBox="1"/>
          <p:nvPr/>
        </p:nvSpPr>
        <p:spPr>
          <a:xfrm>
            <a:off x="4892040" y="3063240"/>
            <a:ext cx="3703319" cy="502920"/>
          </a:xfrm>
          <a:prstGeom prst="rect">
            <a:avLst/>
          </a:prstGeom>
          <a:noFill/>
        </p:spPr>
        <p:txBody>
          <a:bodyPr wrap="square" anchor="t"/>
          <a:lstStyle/>
          <a:p>
            <a:pPr algn="l">
              <a:defRPr sz="1000" b="0">
                <a:solidFill>
                  <a:srgbClr val="CCCCCC"/>
                </a:solidFill>
                <a:latin typeface="Arial"/>
              </a:defRPr>
            </a:pPr>
            <a:r>
              <a:t>Structured queries, exact matches, metadata filtering via StructuredSearchAdapter.</a:t>
            </a:r>
          </a:p>
        </p:txBody>
      </p:sp>
      <p:sp>
        <p:nvSpPr>
          <p:cNvPr id="22" name="TextBox 21"/>
          <p:cNvSpPr txBox="1"/>
          <p:nvPr/>
        </p:nvSpPr>
        <p:spPr>
          <a:xfrm>
            <a:off x="502920" y="3931920"/>
            <a:ext cx="8229600" cy="320040"/>
          </a:xfrm>
          <a:prstGeom prst="rect">
            <a:avLst/>
          </a:prstGeom>
          <a:noFill/>
        </p:spPr>
        <p:txBody>
          <a:bodyPr wrap="square" anchor="t"/>
          <a:lstStyle/>
          <a:p>
            <a:pPr algn="l">
              <a:defRPr sz="1200" b="1">
                <a:solidFill>
                  <a:srgbClr val="1B2A4A"/>
                </a:solidFill>
                <a:latin typeface="Arial"/>
              </a:defRPr>
            </a:pPr>
            <a:r>
              <a:t>PHASED BUILD PIPELINE</a:t>
            </a:r>
          </a:p>
        </p:txBody>
      </p:sp>
      <p:sp>
        <p:nvSpPr>
          <p:cNvPr id="23" name="Rectangle 22"/>
          <p:cNvSpPr/>
          <p:nvPr/>
        </p:nvSpPr>
        <p:spPr>
          <a:xfrm>
            <a:off x="50292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343400"/>
            <a:ext cx="2286000" cy="201168"/>
          </a:xfrm>
          <a:prstGeom prst="rect">
            <a:avLst/>
          </a:prstGeom>
          <a:noFill/>
        </p:spPr>
        <p:txBody>
          <a:bodyPr wrap="square" anchor="t"/>
          <a:lstStyle/>
          <a:p>
            <a:pPr algn="l">
              <a:defRPr sz="1100" b="1">
                <a:solidFill>
                  <a:srgbClr val="0097A7"/>
                </a:solidFill>
                <a:latin typeface="Arial"/>
              </a:defRPr>
            </a:pPr>
            <a:r>
              <a:t>Phase 1</a:t>
            </a:r>
          </a:p>
        </p:txBody>
      </p:sp>
      <p:sp>
        <p:nvSpPr>
          <p:cNvPr id="25" name="TextBox 24"/>
          <p:cNvSpPr txBox="1"/>
          <p:nvPr/>
        </p:nvSpPr>
        <p:spPr>
          <a:xfrm>
            <a:off x="640080" y="4572000"/>
            <a:ext cx="2286000" cy="274320"/>
          </a:xfrm>
          <a:prstGeom prst="rect">
            <a:avLst/>
          </a:prstGeom>
          <a:noFill/>
        </p:spPr>
        <p:txBody>
          <a:bodyPr wrap="square" anchor="t"/>
          <a:lstStyle/>
          <a:p>
            <a:pPr algn="l">
              <a:defRPr sz="1000" b="0">
                <a:solidFill>
                  <a:srgbClr val="CCCCCC"/>
                </a:solidFill>
                <a:latin typeface="Arial"/>
              </a:defRPr>
            </a:pPr>
            <a:r>
              <a:t>Entity/Relationship Extraction via LLM</a:t>
            </a:r>
          </a:p>
        </p:txBody>
      </p:sp>
      <p:sp>
        <p:nvSpPr>
          <p:cNvPr id="26" name="Rectangle 25"/>
          <p:cNvSpPr/>
          <p:nvPr/>
        </p:nvSpPr>
        <p:spPr>
          <a:xfrm>
            <a:off x="329184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29000" y="4343400"/>
            <a:ext cx="2286000" cy="201168"/>
          </a:xfrm>
          <a:prstGeom prst="rect">
            <a:avLst/>
          </a:prstGeom>
          <a:noFill/>
        </p:spPr>
        <p:txBody>
          <a:bodyPr wrap="square" anchor="t"/>
          <a:lstStyle/>
          <a:p>
            <a:pPr algn="l">
              <a:defRPr sz="1100" b="1">
                <a:solidFill>
                  <a:srgbClr val="0097A7"/>
                </a:solidFill>
                <a:latin typeface="Arial"/>
              </a:defRPr>
            </a:pPr>
            <a:r>
              <a:t>Phase 2</a:t>
            </a:r>
          </a:p>
        </p:txBody>
      </p:sp>
      <p:sp>
        <p:nvSpPr>
          <p:cNvPr id="28" name="TextBox 27"/>
          <p:cNvSpPr txBox="1"/>
          <p:nvPr/>
        </p:nvSpPr>
        <p:spPr>
          <a:xfrm>
            <a:off x="3429000" y="4572000"/>
            <a:ext cx="2286000" cy="274320"/>
          </a:xfrm>
          <a:prstGeom prst="rect">
            <a:avLst/>
          </a:prstGeom>
          <a:noFill/>
        </p:spPr>
        <p:txBody>
          <a:bodyPr wrap="square" anchor="t"/>
          <a:lstStyle/>
          <a:p>
            <a:pPr algn="l">
              <a:defRPr sz="1000" b="0">
                <a:solidFill>
                  <a:srgbClr val="CCCCCC"/>
                </a:solidFill>
                <a:latin typeface="Arial"/>
              </a:defRPr>
            </a:pPr>
            <a:r>
              <a:t>Community Detection (native or text-based fallback)</a:t>
            </a:r>
          </a:p>
        </p:txBody>
      </p:sp>
      <p:sp>
        <p:nvSpPr>
          <p:cNvPr id="29" name="Rectangle 28"/>
          <p:cNvSpPr/>
          <p:nvPr/>
        </p:nvSpPr>
        <p:spPr>
          <a:xfrm>
            <a:off x="608076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0" y="4343400"/>
            <a:ext cx="2286000" cy="201168"/>
          </a:xfrm>
          <a:prstGeom prst="rect">
            <a:avLst/>
          </a:prstGeom>
          <a:noFill/>
        </p:spPr>
        <p:txBody>
          <a:bodyPr wrap="square" anchor="t"/>
          <a:lstStyle/>
          <a:p>
            <a:pPr algn="l">
              <a:defRPr sz="1100" b="1">
                <a:solidFill>
                  <a:srgbClr val="0097A7"/>
                </a:solidFill>
                <a:latin typeface="Arial"/>
              </a:defRPr>
            </a:pPr>
            <a:r>
              <a:t>Phase 3</a:t>
            </a:r>
          </a:p>
        </p:txBody>
      </p:sp>
      <p:sp>
        <p:nvSpPr>
          <p:cNvPr id="31" name="TextBox 30"/>
          <p:cNvSpPr txBox="1"/>
          <p:nvPr/>
        </p:nvSpPr>
        <p:spPr>
          <a:xfrm>
            <a:off x="6217920" y="4572000"/>
            <a:ext cx="2286000" cy="274320"/>
          </a:xfrm>
          <a:prstGeom prst="rect">
            <a:avLst/>
          </a:prstGeom>
          <a:noFill/>
        </p:spPr>
        <p:txBody>
          <a:bodyPr wrap="square" anchor="t"/>
          <a:lstStyle/>
          <a:p>
            <a:pPr algn="l">
              <a:defRPr sz="1000" b="0">
                <a:solidFill>
                  <a:srgbClr val="CCCCCC"/>
                </a:solidFill>
                <a:latin typeface="Arial"/>
              </a:defRPr>
            </a:pPr>
            <a:r>
              <a:t>Embedding &amp; Indexing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Configuration &amp; Tuning Defaults (config.py)</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300+ configuration variables in config.py with fine-grained subsystem tuning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CONTEXT BUDGET</a:t>
            </a:r>
          </a:p>
        </p:txBody>
      </p:sp>
      <p:sp>
        <p:nvSpPr>
          <p:cNvPr id="7" name="TextBox 6"/>
          <p:cNvSpPr txBox="1"/>
          <p:nvPr/>
        </p:nvSpPr>
        <p:spPr>
          <a:xfrm>
            <a:off x="502920" y="1691640"/>
            <a:ext cx="2377440" cy="201168"/>
          </a:xfrm>
          <a:prstGeom prst="rect">
            <a:avLst/>
          </a:prstGeom>
          <a:noFill/>
        </p:spPr>
        <p:txBody>
          <a:bodyPr wrap="square" anchor="t"/>
          <a:lstStyle/>
          <a:p>
            <a:pPr algn="l">
              <a:defRPr sz="1000" b="0">
                <a:solidFill>
                  <a:srgbClr val="444444"/>
                </a:solidFill>
                <a:latin typeface="Consolas"/>
              </a:defRPr>
            </a:pPr>
            <a:r>
              <a:t>context_window_tokens</a:t>
            </a:r>
          </a:p>
        </p:txBody>
      </p:sp>
      <p:sp>
        <p:nvSpPr>
          <p:cNvPr id="8" name="TextBox 7"/>
          <p:cNvSpPr txBox="1"/>
          <p:nvPr/>
        </p:nvSpPr>
        <p:spPr>
          <a:xfrm>
            <a:off x="2926080" y="1691640"/>
            <a:ext cx="1188720" cy="201168"/>
          </a:xfrm>
          <a:prstGeom prst="rect">
            <a:avLst/>
          </a:prstGeom>
          <a:noFill/>
        </p:spPr>
        <p:txBody>
          <a:bodyPr wrap="square" anchor="t"/>
          <a:lstStyle/>
          <a:p>
            <a:pPr algn="l">
              <a:defRPr sz="1000" b="1">
                <a:solidFill>
                  <a:srgbClr val="0097A7"/>
                </a:solidFill>
                <a:latin typeface="Consolas"/>
              </a:defRPr>
            </a:pPr>
            <a:r>
              <a:t>32,768</a:t>
            </a:r>
          </a:p>
        </p:txBody>
      </p:sp>
      <p:sp>
        <p:nvSpPr>
          <p:cNvPr id="9" name="TextBox 8"/>
          <p:cNvSpPr txBox="1"/>
          <p:nvPr/>
        </p:nvSpPr>
        <p:spPr>
          <a:xfrm>
            <a:off x="502920" y="1947672"/>
            <a:ext cx="2377440" cy="201168"/>
          </a:xfrm>
          <a:prstGeom prst="rect">
            <a:avLst/>
          </a:prstGeom>
          <a:noFill/>
        </p:spPr>
        <p:txBody>
          <a:bodyPr wrap="square" anchor="t"/>
          <a:lstStyle/>
          <a:p>
            <a:pPr algn="l">
              <a:defRPr sz="1000" b="0">
                <a:solidFill>
                  <a:srgbClr val="444444"/>
                </a:solidFill>
                <a:latin typeface="Consolas"/>
              </a:defRPr>
            </a:pPr>
            <a:r>
              <a:t>context_target_ratio</a:t>
            </a:r>
          </a:p>
        </p:txBody>
      </p:sp>
      <p:sp>
        <p:nvSpPr>
          <p:cNvPr id="10" name="TextBox 9"/>
          <p:cNvSpPr txBox="1"/>
          <p:nvPr/>
        </p:nvSpPr>
        <p:spPr>
          <a:xfrm>
            <a:off x="2926080" y="1947672"/>
            <a:ext cx="1188720" cy="201168"/>
          </a:xfrm>
          <a:prstGeom prst="rect">
            <a:avLst/>
          </a:prstGeom>
          <a:noFill/>
        </p:spPr>
        <p:txBody>
          <a:bodyPr wrap="square" anchor="t"/>
          <a:lstStyle/>
          <a:p>
            <a:pPr algn="l">
              <a:defRPr sz="1000" b="1">
                <a:solidFill>
                  <a:srgbClr val="0097A7"/>
                </a:solidFill>
                <a:latin typeface="Consolas"/>
              </a:defRPr>
            </a:pPr>
            <a:r>
              <a:t>0.72</a:t>
            </a:r>
          </a:p>
        </p:txBody>
      </p:sp>
      <p:sp>
        <p:nvSpPr>
          <p:cNvPr id="11" name="TextBox 10"/>
          <p:cNvSpPr txBox="1"/>
          <p:nvPr/>
        </p:nvSpPr>
        <p:spPr>
          <a:xfrm>
            <a:off x="502920" y="2203704"/>
            <a:ext cx="2377440" cy="201168"/>
          </a:xfrm>
          <a:prstGeom prst="rect">
            <a:avLst/>
          </a:prstGeom>
          <a:noFill/>
        </p:spPr>
        <p:txBody>
          <a:bodyPr wrap="square" anchor="t"/>
          <a:lstStyle/>
          <a:p>
            <a:pPr algn="l">
              <a:defRPr sz="1000" b="0">
                <a:solidFill>
                  <a:srgbClr val="444444"/>
                </a:solidFill>
                <a:latin typeface="Consolas"/>
              </a:defRPr>
            </a:pPr>
            <a:r>
              <a:t>autocompact_threshold</a:t>
            </a:r>
          </a:p>
        </p:txBody>
      </p:sp>
      <p:sp>
        <p:nvSpPr>
          <p:cNvPr id="12" name="TextBox 11"/>
          <p:cNvSpPr txBox="1"/>
          <p:nvPr/>
        </p:nvSpPr>
        <p:spPr>
          <a:xfrm>
            <a:off x="2926080" y="2203704"/>
            <a:ext cx="1188720" cy="201168"/>
          </a:xfrm>
          <a:prstGeom prst="rect">
            <a:avLst/>
          </a:prstGeom>
          <a:noFill/>
        </p:spPr>
        <p:txBody>
          <a:bodyPr wrap="square" anchor="t"/>
          <a:lstStyle/>
          <a:p>
            <a:pPr algn="l">
              <a:defRPr sz="1000" b="1">
                <a:solidFill>
                  <a:srgbClr val="0097A7"/>
                </a:solidFill>
                <a:latin typeface="Consolas"/>
              </a:defRPr>
            </a:pPr>
            <a:r>
              <a:t>0.85</a:t>
            </a:r>
          </a:p>
        </p:txBody>
      </p:sp>
      <p:sp>
        <p:nvSpPr>
          <p:cNvPr id="13" name="TextBox 12"/>
          <p:cNvSpPr txBox="1"/>
          <p:nvPr/>
        </p:nvSpPr>
        <p:spPr>
          <a:xfrm>
            <a:off x="502920" y="2459736"/>
            <a:ext cx="2377440" cy="201168"/>
          </a:xfrm>
          <a:prstGeom prst="rect">
            <a:avLst/>
          </a:prstGeom>
          <a:noFill/>
        </p:spPr>
        <p:txBody>
          <a:bodyPr wrap="square" anchor="t"/>
          <a:lstStyle/>
          <a:p>
            <a:pPr algn="l">
              <a:defRPr sz="1000" b="0">
                <a:solidFill>
                  <a:srgbClr val="444444"/>
                </a:solidFill>
                <a:latin typeface="Consolas"/>
              </a:defRPr>
            </a:pPr>
            <a:r>
              <a:t>tool_result_max_tokens</a:t>
            </a:r>
          </a:p>
        </p:txBody>
      </p:sp>
      <p:sp>
        <p:nvSpPr>
          <p:cNvPr id="14" name="TextBox 13"/>
          <p:cNvSpPr txBox="1"/>
          <p:nvPr/>
        </p:nvSpPr>
        <p:spPr>
          <a:xfrm>
            <a:off x="2926080" y="2459736"/>
            <a:ext cx="1188720" cy="201168"/>
          </a:xfrm>
          <a:prstGeom prst="rect">
            <a:avLst/>
          </a:prstGeom>
          <a:noFill/>
        </p:spPr>
        <p:txBody>
          <a:bodyPr wrap="square" anchor="t"/>
          <a:lstStyle/>
          <a:p>
            <a:pPr algn="l">
              <a:defRPr sz="1000" b="1">
                <a:solidFill>
                  <a:srgbClr val="0097A7"/>
                </a:solidFill>
                <a:latin typeface="Consolas"/>
              </a:defRPr>
            </a:pPr>
            <a:r>
              <a:t>2,000</a:t>
            </a:r>
          </a:p>
        </p:txBody>
      </p:sp>
      <p:sp>
        <p:nvSpPr>
          <p:cNvPr id="15" name="TextBox 14"/>
          <p:cNvSpPr txBox="1"/>
          <p:nvPr/>
        </p:nvSpPr>
        <p:spPr>
          <a:xfrm>
            <a:off x="502920" y="2715768"/>
            <a:ext cx="2377440" cy="201168"/>
          </a:xfrm>
          <a:prstGeom prst="rect">
            <a:avLst/>
          </a:prstGeom>
          <a:noFill/>
        </p:spPr>
        <p:txBody>
          <a:bodyPr wrap="square" anchor="t"/>
          <a:lstStyle/>
          <a:p>
            <a:pPr algn="l">
              <a:defRPr sz="1000" b="0">
                <a:solidFill>
                  <a:srgbClr val="444444"/>
                </a:solidFill>
                <a:latin typeface="Consolas"/>
              </a:defRPr>
            </a:pPr>
            <a:r>
              <a:t>tool_results_total</a:t>
            </a:r>
          </a:p>
        </p:txBody>
      </p:sp>
      <p:sp>
        <p:nvSpPr>
          <p:cNvPr id="16" name="TextBox 15"/>
          <p:cNvSpPr txBox="1"/>
          <p:nvPr/>
        </p:nvSpPr>
        <p:spPr>
          <a:xfrm>
            <a:off x="2926080" y="2715768"/>
            <a:ext cx="1188720" cy="201168"/>
          </a:xfrm>
          <a:prstGeom prst="rect">
            <a:avLst/>
          </a:prstGeom>
          <a:noFill/>
        </p:spPr>
        <p:txBody>
          <a:bodyPr wrap="square" anchor="t"/>
          <a:lstStyle/>
          <a:p>
            <a:pPr algn="l">
              <a:defRPr sz="1000" b="1">
                <a:solidFill>
                  <a:srgbClr val="0097A7"/>
                </a:solidFill>
                <a:latin typeface="Consolas"/>
              </a:defRPr>
            </a:pPr>
            <a:r>
              <a:t>8,000</a:t>
            </a:r>
          </a:p>
        </p:txBody>
      </p:sp>
      <p:sp>
        <p:nvSpPr>
          <p:cNvPr id="17" name="TextBox 16"/>
          <p:cNvSpPr txBox="1"/>
          <p:nvPr/>
        </p:nvSpPr>
        <p:spPr>
          <a:xfrm>
            <a:off x="502920" y="2971800"/>
            <a:ext cx="2377440" cy="201168"/>
          </a:xfrm>
          <a:prstGeom prst="rect">
            <a:avLst/>
          </a:prstGeom>
          <a:noFill/>
        </p:spPr>
        <p:txBody>
          <a:bodyPr wrap="square" anchor="t"/>
          <a:lstStyle/>
          <a:p>
            <a:pPr algn="l">
              <a:defRPr sz="1000" b="0">
                <a:solidFill>
                  <a:srgbClr val="444444"/>
                </a:solidFill>
                <a:latin typeface="Consolas"/>
              </a:defRPr>
            </a:pPr>
            <a:r>
              <a:t>microcompact_target</a:t>
            </a:r>
          </a:p>
        </p:txBody>
      </p:sp>
      <p:sp>
        <p:nvSpPr>
          <p:cNvPr id="18" name="TextBox 17"/>
          <p:cNvSpPr txBox="1"/>
          <p:nvPr/>
        </p:nvSpPr>
        <p:spPr>
          <a:xfrm>
            <a:off x="2926080" y="2971800"/>
            <a:ext cx="1188720" cy="201168"/>
          </a:xfrm>
          <a:prstGeom prst="rect">
            <a:avLst/>
          </a:prstGeom>
          <a:noFill/>
        </p:spPr>
        <p:txBody>
          <a:bodyPr wrap="square" anchor="t"/>
          <a:lstStyle/>
          <a:p>
            <a:pPr algn="l">
              <a:defRPr sz="1000" b="1">
                <a:solidFill>
                  <a:srgbClr val="0097A7"/>
                </a:solidFill>
                <a:latin typeface="Consolas"/>
              </a:defRPr>
            </a:pPr>
            <a:r>
              <a:t>2,400</a:t>
            </a:r>
          </a:p>
        </p:txBody>
      </p:sp>
      <p:sp>
        <p:nvSpPr>
          <p:cNvPr id="19" name="TextBox 18"/>
          <p:cNvSpPr txBox="1"/>
          <p:nvPr/>
        </p:nvSpPr>
        <p:spPr>
          <a:xfrm>
            <a:off x="502920" y="3227832"/>
            <a:ext cx="2377440" cy="201168"/>
          </a:xfrm>
          <a:prstGeom prst="rect">
            <a:avLst/>
          </a:prstGeom>
          <a:noFill/>
        </p:spPr>
        <p:txBody>
          <a:bodyPr wrap="square" anchor="t"/>
          <a:lstStyle/>
          <a:p>
            <a:pPr algn="l">
              <a:defRPr sz="1000" b="0">
                <a:solidFill>
                  <a:srgbClr val="444444"/>
                </a:solidFill>
                <a:latin typeface="Consolas"/>
              </a:defRPr>
            </a:pPr>
            <a:r>
              <a:t>compact_recent_msgs</a:t>
            </a:r>
          </a:p>
        </p:txBody>
      </p:sp>
      <p:sp>
        <p:nvSpPr>
          <p:cNvPr id="20" name="TextBox 19"/>
          <p:cNvSpPr txBox="1"/>
          <p:nvPr/>
        </p:nvSpPr>
        <p:spPr>
          <a:xfrm>
            <a:off x="2926080" y="3227832"/>
            <a:ext cx="1188720" cy="201168"/>
          </a:xfrm>
          <a:prstGeom prst="rect">
            <a:avLst/>
          </a:prstGeom>
          <a:noFill/>
        </p:spPr>
        <p:txBody>
          <a:bodyPr wrap="square" anchor="t"/>
          <a:lstStyle/>
          <a:p>
            <a:pPr algn="l">
              <a:defRPr sz="1000" b="1">
                <a:solidFill>
                  <a:srgbClr val="0097A7"/>
                </a:solidFill>
                <a:latin typeface="Consolas"/>
              </a:defRPr>
            </a:pPr>
            <a:r>
              <a:t>12</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WORKER SCHEDULER</a:t>
            </a:r>
          </a:p>
        </p:txBody>
      </p:sp>
      <p:sp>
        <p:nvSpPr>
          <p:cNvPr id="22" name="TextBox 21"/>
          <p:cNvSpPr txBox="1"/>
          <p:nvPr/>
        </p:nvSpPr>
        <p:spPr>
          <a:xfrm>
            <a:off x="4846320" y="1691640"/>
            <a:ext cx="2377440" cy="201168"/>
          </a:xfrm>
          <a:prstGeom prst="rect">
            <a:avLst/>
          </a:prstGeom>
          <a:noFill/>
        </p:spPr>
        <p:txBody>
          <a:bodyPr wrap="square" anchor="t"/>
          <a:lstStyle/>
          <a:p>
            <a:pPr algn="l">
              <a:defRPr sz="1000" b="0">
                <a:solidFill>
                  <a:srgbClr val="444444"/>
                </a:solidFill>
                <a:latin typeface="Consolas"/>
              </a:defRPr>
            </a:pPr>
            <a:r>
              <a:t>max_concurrency</a:t>
            </a:r>
          </a:p>
        </p:txBody>
      </p:sp>
      <p:sp>
        <p:nvSpPr>
          <p:cNvPr id="23" name="TextBox 22"/>
          <p:cNvSpPr txBox="1"/>
          <p:nvPr/>
        </p:nvSpPr>
        <p:spPr>
          <a:xfrm>
            <a:off x="7315200" y="1691640"/>
            <a:ext cx="1188720" cy="201168"/>
          </a:xfrm>
          <a:prstGeom prst="rect">
            <a:avLst/>
          </a:prstGeom>
          <a:noFill/>
        </p:spPr>
        <p:txBody>
          <a:bodyPr wrap="square" anchor="t"/>
          <a:lstStyle/>
          <a:p>
            <a:pPr algn="l">
              <a:defRPr sz="1000" b="1">
                <a:solidFill>
                  <a:srgbClr val="FF9800"/>
                </a:solidFill>
                <a:latin typeface="Consolas"/>
              </a:defRPr>
            </a:pPr>
            <a:r>
              <a:t>6</a:t>
            </a:r>
          </a:p>
        </p:txBody>
      </p:sp>
      <p:sp>
        <p:nvSpPr>
          <p:cNvPr id="24" name="TextBox 23"/>
          <p:cNvSpPr txBox="1"/>
          <p:nvPr/>
        </p:nvSpPr>
        <p:spPr>
          <a:xfrm>
            <a:off x="4846320" y="1947672"/>
            <a:ext cx="2377440" cy="201168"/>
          </a:xfrm>
          <a:prstGeom prst="rect">
            <a:avLst/>
          </a:prstGeom>
          <a:noFill/>
        </p:spPr>
        <p:txBody>
          <a:bodyPr wrap="square" anchor="t"/>
          <a:lstStyle/>
          <a:p>
            <a:pPr algn="l">
              <a:defRPr sz="1000" b="0">
                <a:solidFill>
                  <a:srgbClr val="444444"/>
                </a:solidFill>
                <a:latin typeface="Consolas"/>
              </a:defRPr>
            </a:pPr>
            <a:r>
              <a:t>urgent weight</a:t>
            </a:r>
          </a:p>
        </p:txBody>
      </p:sp>
      <p:sp>
        <p:nvSpPr>
          <p:cNvPr id="25" name="TextBox 24"/>
          <p:cNvSpPr txBox="1"/>
          <p:nvPr/>
        </p:nvSpPr>
        <p:spPr>
          <a:xfrm>
            <a:off x="7315200" y="1947672"/>
            <a:ext cx="1188720" cy="201168"/>
          </a:xfrm>
          <a:prstGeom prst="rect">
            <a:avLst/>
          </a:prstGeom>
          <a:noFill/>
        </p:spPr>
        <p:txBody>
          <a:bodyPr wrap="square" anchor="t"/>
          <a:lstStyle/>
          <a:p>
            <a:pPr algn="l">
              <a:defRPr sz="1000" b="1">
                <a:solidFill>
                  <a:srgbClr val="FF9800"/>
                </a:solidFill>
                <a:latin typeface="Consolas"/>
              </a:defRPr>
            </a:pPr>
            <a:r>
              <a:t>8</a:t>
            </a:r>
          </a:p>
        </p:txBody>
      </p:sp>
      <p:sp>
        <p:nvSpPr>
          <p:cNvPr id="26" name="TextBox 25"/>
          <p:cNvSpPr txBox="1"/>
          <p:nvPr/>
        </p:nvSpPr>
        <p:spPr>
          <a:xfrm>
            <a:off x="4846320" y="2203704"/>
            <a:ext cx="2377440" cy="201168"/>
          </a:xfrm>
          <a:prstGeom prst="rect">
            <a:avLst/>
          </a:prstGeom>
          <a:noFill/>
        </p:spPr>
        <p:txBody>
          <a:bodyPr wrap="square" anchor="t"/>
          <a:lstStyle/>
          <a:p>
            <a:pPr algn="l">
              <a:defRPr sz="1000" b="0">
                <a:solidFill>
                  <a:srgbClr val="444444"/>
                </a:solidFill>
                <a:latin typeface="Consolas"/>
              </a:defRPr>
            </a:pPr>
            <a:r>
              <a:t>interactive weight</a:t>
            </a:r>
          </a:p>
        </p:txBody>
      </p:sp>
      <p:sp>
        <p:nvSpPr>
          <p:cNvPr id="27" name="TextBox 26"/>
          <p:cNvSpPr txBox="1"/>
          <p:nvPr/>
        </p:nvSpPr>
        <p:spPr>
          <a:xfrm>
            <a:off x="7315200" y="2203704"/>
            <a:ext cx="1188720" cy="201168"/>
          </a:xfrm>
          <a:prstGeom prst="rect">
            <a:avLst/>
          </a:prstGeom>
          <a:noFill/>
        </p:spPr>
        <p:txBody>
          <a:bodyPr wrap="square" anchor="t"/>
          <a:lstStyle/>
          <a:p>
            <a:pPr algn="l">
              <a:defRPr sz="1000" b="1">
                <a:solidFill>
                  <a:srgbClr val="FF9800"/>
                </a:solidFill>
                <a:latin typeface="Consolas"/>
              </a:defRPr>
            </a:pPr>
            <a:r>
              <a:t>3</a:t>
            </a:r>
          </a:p>
        </p:txBody>
      </p:sp>
      <p:sp>
        <p:nvSpPr>
          <p:cNvPr id="28" name="TextBox 27"/>
          <p:cNvSpPr txBox="1"/>
          <p:nvPr/>
        </p:nvSpPr>
        <p:spPr>
          <a:xfrm>
            <a:off x="4846320" y="2459736"/>
            <a:ext cx="2377440" cy="201168"/>
          </a:xfrm>
          <a:prstGeom prst="rect">
            <a:avLst/>
          </a:prstGeom>
          <a:noFill/>
        </p:spPr>
        <p:txBody>
          <a:bodyPr wrap="square" anchor="t"/>
          <a:lstStyle/>
          <a:p>
            <a:pPr algn="l">
              <a:defRPr sz="1000" b="0">
                <a:solidFill>
                  <a:srgbClr val="444444"/>
                </a:solidFill>
                <a:latin typeface="Consolas"/>
              </a:defRPr>
            </a:pPr>
            <a:r>
              <a:t>background weight</a:t>
            </a:r>
          </a:p>
        </p:txBody>
      </p:sp>
      <p:sp>
        <p:nvSpPr>
          <p:cNvPr id="29" name="TextBox 28"/>
          <p:cNvSpPr txBox="1"/>
          <p:nvPr/>
        </p:nvSpPr>
        <p:spPr>
          <a:xfrm>
            <a:off x="7315200" y="2459736"/>
            <a:ext cx="1188720" cy="201168"/>
          </a:xfrm>
          <a:prstGeom prst="rect">
            <a:avLst/>
          </a:prstGeom>
          <a:noFill/>
        </p:spPr>
        <p:txBody>
          <a:bodyPr wrap="square" anchor="t"/>
          <a:lstStyle/>
          <a:p>
            <a:pPr algn="l">
              <a:defRPr sz="1000" b="1">
                <a:solidFill>
                  <a:srgbClr val="FF9800"/>
                </a:solidFill>
                <a:latin typeface="Consolas"/>
              </a:defRPr>
            </a:pPr>
            <a:r>
              <a:t>1</a:t>
            </a:r>
          </a:p>
        </p:txBody>
      </p:sp>
      <p:sp>
        <p:nvSpPr>
          <p:cNvPr id="30" name="TextBox 29"/>
          <p:cNvSpPr txBox="1"/>
          <p:nvPr/>
        </p:nvSpPr>
        <p:spPr>
          <a:xfrm>
            <a:off x="4846320" y="2715768"/>
            <a:ext cx="2377440" cy="201168"/>
          </a:xfrm>
          <a:prstGeom prst="rect">
            <a:avLst/>
          </a:prstGeom>
          <a:noFill/>
        </p:spPr>
        <p:txBody>
          <a:bodyPr wrap="square" anchor="t"/>
          <a:lstStyle/>
          <a:p>
            <a:pPr algn="l">
              <a:defRPr sz="1000" b="0">
                <a:solidFill>
                  <a:srgbClr val="444444"/>
                </a:solidFill>
                <a:latin typeface="Consolas"/>
              </a:defRPr>
            </a:pPr>
            <a:r>
              <a:t>budget_tokens/min</a:t>
            </a:r>
          </a:p>
        </p:txBody>
      </p:sp>
      <p:sp>
        <p:nvSpPr>
          <p:cNvPr id="31" name="TextBox 30"/>
          <p:cNvSpPr txBox="1"/>
          <p:nvPr/>
        </p:nvSpPr>
        <p:spPr>
          <a:xfrm>
            <a:off x="7315200" y="2715768"/>
            <a:ext cx="1188720" cy="201168"/>
          </a:xfrm>
          <a:prstGeom prst="rect">
            <a:avLst/>
          </a:prstGeom>
          <a:noFill/>
        </p:spPr>
        <p:txBody>
          <a:bodyPr wrap="square" anchor="t"/>
          <a:lstStyle/>
          <a:p>
            <a:pPr algn="l">
              <a:defRPr sz="1000" b="1">
                <a:solidFill>
                  <a:srgbClr val="FF9800"/>
                </a:solidFill>
                <a:latin typeface="Consolas"/>
              </a:defRPr>
            </a:pPr>
            <a:r>
              <a:t>24,000</a:t>
            </a:r>
          </a:p>
        </p:txBody>
      </p:sp>
      <p:sp>
        <p:nvSpPr>
          <p:cNvPr id="32" name="TextBox 31"/>
          <p:cNvSpPr txBox="1"/>
          <p:nvPr/>
        </p:nvSpPr>
        <p:spPr>
          <a:xfrm>
            <a:off x="4846320" y="2971800"/>
            <a:ext cx="2377440" cy="201168"/>
          </a:xfrm>
          <a:prstGeom prst="rect">
            <a:avLst/>
          </a:prstGeom>
          <a:noFill/>
        </p:spPr>
        <p:txBody>
          <a:bodyPr wrap="square" anchor="t"/>
          <a:lstStyle/>
          <a:p>
            <a:pPr algn="l">
              <a:defRPr sz="1000" b="0">
                <a:solidFill>
                  <a:srgbClr val="444444"/>
                </a:solidFill>
                <a:latin typeface="Consolas"/>
              </a:defRPr>
            </a:pPr>
            <a:r>
              <a:t>burst_tokens</a:t>
            </a:r>
          </a:p>
        </p:txBody>
      </p:sp>
      <p:sp>
        <p:nvSpPr>
          <p:cNvPr id="33" name="TextBox 32"/>
          <p:cNvSpPr txBox="1"/>
          <p:nvPr/>
        </p:nvSpPr>
        <p:spPr>
          <a:xfrm>
            <a:off x="7315200" y="2971800"/>
            <a:ext cx="1188720" cy="201168"/>
          </a:xfrm>
          <a:prstGeom prst="rect">
            <a:avLst/>
          </a:prstGeom>
          <a:noFill/>
        </p:spPr>
        <p:txBody>
          <a:bodyPr wrap="square" anchor="t"/>
          <a:lstStyle/>
          <a:p>
            <a:pPr algn="l">
              <a:defRPr sz="1000" b="1">
                <a:solidFill>
                  <a:srgbClr val="FF9800"/>
                </a:solidFill>
                <a:latin typeface="Consolas"/>
              </a:defRPr>
            </a:pPr>
            <a:r>
              <a:t>48,000</a:t>
            </a:r>
          </a:p>
        </p:txBody>
      </p:sp>
      <p:sp>
        <p:nvSpPr>
          <p:cNvPr id="34" name="TextBox 33"/>
          <p:cNvSpPr txBox="1"/>
          <p:nvPr/>
        </p:nvSpPr>
        <p:spPr>
          <a:xfrm>
            <a:off x="4846320" y="3227832"/>
            <a:ext cx="2377440" cy="201168"/>
          </a:xfrm>
          <a:prstGeom prst="rect">
            <a:avLst/>
          </a:prstGeom>
          <a:noFill/>
        </p:spPr>
        <p:txBody>
          <a:bodyPr wrap="square" anchor="t"/>
          <a:lstStyle/>
          <a:p>
            <a:pPr algn="l">
              <a:defRPr sz="1000" b="0">
                <a:solidFill>
                  <a:srgbClr val="444444"/>
                </a:solidFill>
                <a:latin typeface="Consolas"/>
              </a:defRPr>
            </a:pPr>
            <a:r>
              <a:t>token_cost_factor</a:t>
            </a:r>
          </a:p>
        </p:txBody>
      </p:sp>
      <p:sp>
        <p:nvSpPr>
          <p:cNvPr id="35" name="TextBox 34"/>
          <p:cNvSpPr txBox="1"/>
          <p:nvPr/>
        </p:nvSpPr>
        <p:spPr>
          <a:xfrm>
            <a:off x="7315200" y="3227832"/>
            <a:ext cx="1188720" cy="201168"/>
          </a:xfrm>
          <a:prstGeom prst="rect">
            <a:avLst/>
          </a:prstGeom>
          <a:noFill/>
        </p:spPr>
        <p:txBody>
          <a:bodyPr wrap="square" anchor="t"/>
          <a:lstStyle/>
          <a:p>
            <a:pPr algn="l">
              <a:defRPr sz="1000" b="1">
                <a:solidFill>
                  <a:srgbClr val="FF9800"/>
                </a:solidFill>
                <a:latin typeface="Consolas"/>
              </a:defRPr>
            </a:pPr>
            <a:r>
              <a:t>1.35x</a:t>
            </a:r>
          </a:p>
        </p:txBody>
      </p:sp>
      <p:sp>
        <p:nvSpPr>
          <p:cNvPr id="36" name="Rectangle 35"/>
          <p:cNvSpPr/>
          <p:nvPr/>
        </p:nvSpPr>
        <p:spPr>
          <a:xfrm>
            <a:off x="502920" y="3657600"/>
            <a:ext cx="3931920"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02920" y="3657600"/>
            <a:ext cx="54864" cy="12344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749040"/>
            <a:ext cx="3657600" cy="365760"/>
          </a:xfrm>
          <a:prstGeom prst="rect">
            <a:avLst/>
          </a:prstGeom>
          <a:noFill/>
        </p:spPr>
        <p:txBody>
          <a:bodyPr wrap="square" anchor="t"/>
          <a:lstStyle/>
          <a:p>
            <a:pPr algn="l">
              <a:defRPr sz="1200" b="1">
                <a:solidFill>
                  <a:srgbClr val="FFFFFF"/>
                </a:solidFill>
                <a:latin typeface="Arial"/>
              </a:defRPr>
            </a:pPr>
            <a:r>
              <a:t>RAG Defaults</a:t>
            </a:r>
          </a:p>
        </p:txBody>
      </p:sp>
      <p:sp>
        <p:nvSpPr>
          <p:cNvPr id="39" name="TextBox 38"/>
          <p:cNvSpPr txBox="1"/>
          <p:nvPr/>
        </p:nvSpPr>
        <p:spPr>
          <a:xfrm>
            <a:off x="685800" y="4114800"/>
            <a:ext cx="3657600" cy="685800"/>
          </a:xfrm>
          <a:prstGeom prst="rect">
            <a:avLst/>
          </a:prstGeom>
          <a:noFill/>
        </p:spPr>
        <p:txBody>
          <a:bodyPr wrap="square" anchor="t"/>
          <a:lstStyle/>
          <a:p>
            <a:pPr algn="l">
              <a:defRPr sz="1000" b="0">
                <a:solidFill>
                  <a:srgbClr val="CCCCCC"/>
                </a:solidFill>
                <a:latin typeface="Arial"/>
              </a:defRPr>
            </a:pPr>
            <a:r>
              <a:t>top_k: 15 (vector + keyword)  |  chunk: 900/150</a:t>
            </a:r>
            <a:br/>
            <a:r>
              <a:t>RRF k=60  |  retries: 2  |  min_evidence: 2</a:t>
            </a:r>
            <a:br/>
            <a:r>
              <a:t>parallel_collection_probes: 4</a:t>
            </a:r>
          </a:p>
        </p:txBody>
      </p:sp>
      <p:sp>
        <p:nvSpPr>
          <p:cNvPr id="40" name="Rectangle 39"/>
          <p:cNvSpPr/>
          <p:nvPr/>
        </p:nvSpPr>
        <p:spPr>
          <a:xfrm>
            <a:off x="4709160" y="3657600"/>
            <a:ext cx="3977639"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709160" y="3657600"/>
            <a:ext cx="54864" cy="12344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92040" y="3749040"/>
            <a:ext cx="3703319" cy="365760"/>
          </a:xfrm>
          <a:prstGeom prst="rect">
            <a:avLst/>
          </a:prstGeom>
          <a:noFill/>
        </p:spPr>
        <p:txBody>
          <a:bodyPr wrap="square" anchor="t"/>
          <a:lstStyle/>
          <a:p>
            <a:pPr algn="l">
              <a:defRPr sz="1200" b="1">
                <a:solidFill>
                  <a:srgbClr val="FFFFFF"/>
                </a:solidFill>
                <a:latin typeface="Arial"/>
              </a:defRPr>
            </a:pPr>
            <a:r>
              <a:t>Memory Defaults</a:t>
            </a:r>
          </a:p>
        </p:txBody>
      </p:sp>
      <p:sp>
        <p:nvSpPr>
          <p:cNvPr id="43" name="TextBox 42"/>
          <p:cNvSpPr txBox="1"/>
          <p:nvPr/>
        </p:nvSpPr>
        <p:spPr>
          <a:xfrm>
            <a:off x="4892040" y="4114800"/>
            <a:ext cx="3703319" cy="685800"/>
          </a:xfrm>
          <a:prstGeom prst="rect">
            <a:avLst/>
          </a:prstGeom>
          <a:noFill/>
        </p:spPr>
        <p:txBody>
          <a:bodyPr wrap="square" anchor="t"/>
          <a:lstStyle/>
          <a:p>
            <a:pPr algn="l">
              <a:defRPr sz="1000" b="0">
                <a:solidFill>
                  <a:srgbClr val="CCCCCC"/>
                </a:solidFill>
                <a:latin typeface="Arial"/>
              </a:defRPr>
            </a:pPr>
            <a:r>
              <a:t>top_k: 16  |  budget: 1,600 chars</a:t>
            </a:r>
            <a:br/>
            <a:r>
              <a:t>Modes: shadow / selector / live</a:t>
            </a:r>
            <a:br/>
            <a:r>
              <a:t>5 types: profile, task, decision, constraint, open_loop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Deep RAG &amp; Verification Pipeline (rag/)</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Multi-pass parallel retrieval with automated verification and citation checking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DEEP RAG MODE</a:t>
            </a:r>
          </a:p>
        </p:txBody>
      </p:sp>
      <p:sp>
        <p:nvSpPr>
          <p:cNvPr id="7" name="TextBox 6"/>
          <p:cNvSpPr txBox="1"/>
          <p:nvPr/>
        </p:nvSpPr>
        <p:spPr>
          <a:xfrm>
            <a:off x="502920" y="1691640"/>
            <a:ext cx="1737360" cy="201168"/>
          </a:xfrm>
          <a:prstGeom prst="rect">
            <a:avLst/>
          </a:prstGeom>
          <a:noFill/>
        </p:spPr>
        <p:txBody>
          <a:bodyPr wrap="square" anchor="t"/>
          <a:lstStyle/>
          <a:p>
            <a:pPr algn="l">
              <a:defRPr sz="1000" b="1">
                <a:solidFill>
                  <a:srgbClr val="333333"/>
                </a:solidFill>
                <a:latin typeface="Arial"/>
              </a:defRPr>
            </a:pPr>
            <a:r>
              <a:t>Parallel Lanes:</a:t>
            </a:r>
          </a:p>
        </p:txBody>
      </p:sp>
      <p:sp>
        <p:nvSpPr>
          <p:cNvPr id="8" name="TextBox 7"/>
          <p:cNvSpPr txBox="1"/>
          <p:nvPr/>
        </p:nvSpPr>
        <p:spPr>
          <a:xfrm>
            <a:off x="2286000" y="1691640"/>
            <a:ext cx="2103120" cy="201168"/>
          </a:xfrm>
          <a:prstGeom prst="rect">
            <a:avLst/>
          </a:prstGeom>
          <a:noFill/>
        </p:spPr>
        <p:txBody>
          <a:bodyPr wrap="square" anchor="t"/>
          <a:lstStyle/>
          <a:p>
            <a:pPr algn="l">
              <a:defRPr sz="1000" b="0">
                <a:solidFill>
                  <a:srgbClr val="555555"/>
                </a:solidFill>
                <a:latin typeface="Arial"/>
              </a:defRPr>
            </a:pPr>
            <a:r>
              <a:t>3 concurrent retrieval lanes</a:t>
            </a:r>
          </a:p>
        </p:txBody>
      </p:sp>
      <p:sp>
        <p:nvSpPr>
          <p:cNvPr id="9" name="TextBox 8"/>
          <p:cNvSpPr txBox="1"/>
          <p:nvPr/>
        </p:nvSpPr>
        <p:spPr>
          <a:xfrm>
            <a:off x="502920" y="1965960"/>
            <a:ext cx="1737360" cy="201168"/>
          </a:xfrm>
          <a:prstGeom prst="rect">
            <a:avLst/>
          </a:prstGeom>
          <a:noFill/>
        </p:spPr>
        <p:txBody>
          <a:bodyPr wrap="square" anchor="t"/>
          <a:lstStyle/>
          <a:p>
            <a:pPr algn="l">
              <a:defRPr sz="1000" b="1">
                <a:solidFill>
                  <a:srgbClr val="333333"/>
                </a:solidFill>
                <a:latin typeface="Arial"/>
              </a:defRPr>
            </a:pPr>
            <a:r>
              <a:t>Chunk Threshold:</a:t>
            </a:r>
          </a:p>
        </p:txBody>
      </p:sp>
      <p:sp>
        <p:nvSpPr>
          <p:cNvPr id="10" name="TextBox 9"/>
          <p:cNvSpPr txBox="1"/>
          <p:nvPr/>
        </p:nvSpPr>
        <p:spPr>
          <a:xfrm>
            <a:off x="2286000" y="1965960"/>
            <a:ext cx="2103120" cy="201168"/>
          </a:xfrm>
          <a:prstGeom prst="rect">
            <a:avLst/>
          </a:prstGeom>
          <a:noFill/>
        </p:spPr>
        <p:txBody>
          <a:bodyPr wrap="square" anchor="t"/>
          <a:lstStyle/>
          <a:p>
            <a:pPr algn="l">
              <a:defRPr sz="1000" b="0">
                <a:solidFill>
                  <a:srgbClr val="555555"/>
                </a:solidFill>
                <a:latin typeface="Arial"/>
              </a:defRPr>
            </a:pPr>
            <a:r>
              <a:t>24 chunks trigger full-read mode</a:t>
            </a:r>
          </a:p>
        </p:txBody>
      </p:sp>
      <p:sp>
        <p:nvSpPr>
          <p:cNvPr id="11" name="TextBox 10"/>
          <p:cNvSpPr txBox="1"/>
          <p:nvPr/>
        </p:nvSpPr>
        <p:spPr>
          <a:xfrm>
            <a:off x="502920" y="2240280"/>
            <a:ext cx="1737360" cy="201168"/>
          </a:xfrm>
          <a:prstGeom prst="rect">
            <a:avLst/>
          </a:prstGeom>
          <a:noFill/>
        </p:spPr>
        <p:txBody>
          <a:bodyPr wrap="square" anchor="t"/>
          <a:lstStyle/>
          <a:p>
            <a:pPr algn="l">
              <a:defRPr sz="1000" b="1">
                <a:solidFill>
                  <a:srgbClr val="333333"/>
                </a:solidFill>
                <a:latin typeface="Arial"/>
              </a:defRPr>
            </a:pPr>
            <a:r>
              <a:t>Reflection Rounds:</a:t>
            </a:r>
          </a:p>
        </p:txBody>
      </p:sp>
      <p:sp>
        <p:nvSpPr>
          <p:cNvPr id="12" name="TextBox 11"/>
          <p:cNvSpPr txBox="1"/>
          <p:nvPr/>
        </p:nvSpPr>
        <p:spPr>
          <a:xfrm>
            <a:off x="2286000" y="2240280"/>
            <a:ext cx="2103120" cy="201168"/>
          </a:xfrm>
          <a:prstGeom prst="rect">
            <a:avLst/>
          </a:prstGeom>
          <a:noFill/>
        </p:spPr>
        <p:txBody>
          <a:bodyPr wrap="square" anchor="t"/>
          <a:lstStyle/>
          <a:p>
            <a:pPr algn="l">
              <a:defRPr sz="1000" b="0">
                <a:solidFill>
                  <a:srgbClr val="555555"/>
                </a:solidFill>
                <a:latin typeface="Arial"/>
              </a:defRPr>
            </a:pPr>
            <a:r>
              <a:t>1 sync reflection per pass</a:t>
            </a:r>
          </a:p>
        </p:txBody>
      </p:sp>
      <p:sp>
        <p:nvSpPr>
          <p:cNvPr id="13" name="TextBox 12"/>
          <p:cNvSpPr txBox="1"/>
          <p:nvPr/>
        </p:nvSpPr>
        <p:spPr>
          <a:xfrm>
            <a:off x="502920" y="2514600"/>
            <a:ext cx="1737360" cy="201168"/>
          </a:xfrm>
          <a:prstGeom prst="rect">
            <a:avLst/>
          </a:prstGeom>
          <a:noFill/>
        </p:spPr>
        <p:txBody>
          <a:bodyPr wrap="square" anchor="t"/>
          <a:lstStyle/>
          <a:p>
            <a:pPr algn="l">
              <a:defRPr sz="1000" b="1">
                <a:solidFill>
                  <a:srgbClr val="333333"/>
                </a:solidFill>
                <a:latin typeface="Arial"/>
              </a:defRPr>
            </a:pPr>
            <a:r>
              <a:t>Background Threshold:</a:t>
            </a:r>
          </a:p>
        </p:txBody>
      </p:sp>
      <p:sp>
        <p:nvSpPr>
          <p:cNvPr id="14" name="TextBox 13"/>
          <p:cNvSpPr txBox="1"/>
          <p:nvPr/>
        </p:nvSpPr>
        <p:spPr>
          <a:xfrm>
            <a:off x="2286000" y="2514600"/>
            <a:ext cx="2103120" cy="201168"/>
          </a:xfrm>
          <a:prstGeom prst="rect">
            <a:avLst/>
          </a:prstGeom>
          <a:noFill/>
        </p:spPr>
        <p:txBody>
          <a:bodyPr wrap="square" anchor="t"/>
          <a:lstStyle/>
          <a:p>
            <a:pPr algn="l">
              <a:defRPr sz="1000" b="0">
                <a:solidFill>
                  <a:srgbClr val="555555"/>
                </a:solidFill>
                <a:latin typeface="Arial"/>
              </a:defRPr>
            </a:pPr>
            <a:r>
              <a:t>4+ tasks trigger background mode</a:t>
            </a:r>
          </a:p>
        </p:txBody>
      </p:sp>
      <p:sp>
        <p:nvSpPr>
          <p:cNvPr id="15" name="TextBox 14"/>
          <p:cNvSpPr txBox="1"/>
          <p:nvPr/>
        </p:nvSpPr>
        <p:spPr>
          <a:xfrm>
            <a:off x="502920" y="2788920"/>
            <a:ext cx="1737360" cy="201168"/>
          </a:xfrm>
          <a:prstGeom prst="rect">
            <a:avLst/>
          </a:prstGeom>
          <a:noFill/>
        </p:spPr>
        <p:txBody>
          <a:bodyPr wrap="square" anchor="t"/>
          <a:lstStyle/>
          <a:p>
            <a:pPr algn="l">
              <a:defRPr sz="1000" b="1">
                <a:solidFill>
                  <a:srgbClr val="333333"/>
                </a:solidFill>
                <a:latin typeface="Arial"/>
              </a:defRPr>
            </a:pPr>
            <a:r>
              <a:t>Coverage Goals:</a:t>
            </a:r>
          </a:p>
        </p:txBody>
      </p:sp>
      <p:sp>
        <p:nvSpPr>
          <p:cNvPr id="16" name="TextBox 15"/>
          <p:cNvSpPr txBox="1"/>
          <p:nvPr/>
        </p:nvSpPr>
        <p:spPr>
          <a:xfrm>
            <a:off x="2286000" y="2788920"/>
            <a:ext cx="2103120" cy="201168"/>
          </a:xfrm>
          <a:prstGeom prst="rect">
            <a:avLst/>
          </a:prstGeom>
          <a:noFill/>
        </p:spPr>
        <p:txBody>
          <a:bodyPr wrap="square" anchor="t"/>
          <a:lstStyle/>
          <a:p>
            <a:pPr algn="l">
              <a:defRPr sz="1000" b="0">
                <a:solidFill>
                  <a:srgbClr val="555555"/>
                </a:solidFill>
                <a:latin typeface="Arial"/>
              </a:defRPr>
            </a:pPr>
            <a:r>
              <a:t>corpus_wide, exhaustive, specific</a:t>
            </a:r>
          </a:p>
        </p:txBody>
      </p:sp>
      <p:sp>
        <p:nvSpPr>
          <p:cNvPr id="17" name="TextBox 16"/>
          <p:cNvSpPr txBox="1"/>
          <p:nvPr/>
        </p:nvSpPr>
        <p:spPr>
          <a:xfrm>
            <a:off x="502920" y="3063240"/>
            <a:ext cx="1737360" cy="201168"/>
          </a:xfrm>
          <a:prstGeom prst="rect">
            <a:avLst/>
          </a:prstGeom>
          <a:noFill/>
        </p:spPr>
        <p:txBody>
          <a:bodyPr wrap="square" anchor="t"/>
          <a:lstStyle/>
          <a:p>
            <a:pPr algn="l">
              <a:defRPr sz="1000" b="1">
                <a:solidFill>
                  <a:srgbClr val="333333"/>
                </a:solidFill>
                <a:latin typeface="Arial"/>
              </a:defRPr>
            </a:pPr>
            <a:r>
              <a:t>Result Modes:</a:t>
            </a:r>
          </a:p>
        </p:txBody>
      </p:sp>
      <p:sp>
        <p:nvSpPr>
          <p:cNvPr id="18" name="TextBox 17"/>
          <p:cNvSpPr txBox="1"/>
          <p:nvPr/>
        </p:nvSpPr>
        <p:spPr>
          <a:xfrm>
            <a:off x="2286000" y="3063240"/>
            <a:ext cx="2103120" cy="201168"/>
          </a:xfrm>
          <a:prstGeom prst="rect">
            <a:avLst/>
          </a:prstGeom>
          <a:noFill/>
        </p:spPr>
        <p:txBody>
          <a:bodyPr wrap="square" anchor="t"/>
          <a:lstStyle/>
          <a:p>
            <a:pPr algn="l">
              <a:defRPr sz="1000" b="0">
                <a:solidFill>
                  <a:srgbClr val="555555"/>
                </a:solidFill>
                <a:latin typeface="Arial"/>
              </a:defRPr>
            </a:pPr>
            <a:r>
              <a:t>answer, comparison, inventory</a:t>
            </a:r>
          </a:p>
        </p:txBody>
      </p:sp>
      <p:sp>
        <p:nvSpPr>
          <p:cNvPr id="19" name="TextBox 18"/>
          <p:cNvSpPr txBox="1"/>
          <p:nvPr/>
        </p:nvSpPr>
        <p:spPr>
          <a:xfrm>
            <a:off x="502920" y="3337560"/>
            <a:ext cx="1737360" cy="201168"/>
          </a:xfrm>
          <a:prstGeom prst="rect">
            <a:avLst/>
          </a:prstGeom>
          <a:noFill/>
        </p:spPr>
        <p:txBody>
          <a:bodyPr wrap="square" anchor="t"/>
          <a:lstStyle/>
          <a:p>
            <a:pPr algn="l">
              <a:defRPr sz="1000" b="1">
                <a:solidFill>
                  <a:srgbClr val="333333"/>
                </a:solidFill>
                <a:latin typeface="Arial"/>
              </a:defRPr>
            </a:pPr>
            <a:r>
              <a:t>Search Modes:</a:t>
            </a:r>
          </a:p>
        </p:txBody>
      </p:sp>
      <p:sp>
        <p:nvSpPr>
          <p:cNvPr id="20" name="TextBox 19"/>
          <p:cNvSpPr txBox="1"/>
          <p:nvPr/>
        </p:nvSpPr>
        <p:spPr>
          <a:xfrm>
            <a:off x="2286000" y="3337560"/>
            <a:ext cx="2103120" cy="201168"/>
          </a:xfrm>
          <a:prstGeom prst="rect">
            <a:avLst/>
          </a:prstGeom>
          <a:noFill/>
        </p:spPr>
        <p:txBody>
          <a:bodyPr wrap="square" anchor="t"/>
          <a:lstStyle/>
          <a:p>
            <a:pPr algn="l">
              <a:defRPr sz="1000" b="0">
                <a:solidFill>
                  <a:srgbClr val="555555"/>
                </a:solidFill>
                <a:latin typeface="Arial"/>
              </a:defRPr>
            </a:pPr>
            <a:r>
              <a:t>auto, vector_only, keyword_only, hybrid, none</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EF5350"/>
                </a:solidFill>
                <a:latin typeface="Arial"/>
              </a:defRPr>
            </a:pPr>
            <a:r>
              <a:t>VERIFICATION PIPELINE</a:t>
            </a:r>
          </a:p>
        </p:txBody>
      </p:sp>
      <p:sp>
        <p:nvSpPr>
          <p:cNvPr id="22" name="Oval 21"/>
          <p:cNvSpPr/>
          <p:nvPr/>
        </p:nvSpPr>
        <p:spPr>
          <a:xfrm>
            <a:off x="4846320" y="172821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74920" y="1691640"/>
            <a:ext cx="3566160" cy="201168"/>
          </a:xfrm>
          <a:prstGeom prst="rect">
            <a:avLst/>
          </a:prstGeom>
          <a:noFill/>
        </p:spPr>
        <p:txBody>
          <a:bodyPr wrap="square" anchor="t"/>
          <a:lstStyle/>
          <a:p>
            <a:pPr algn="l">
              <a:defRPr sz="1100" b="1">
                <a:solidFill>
                  <a:srgbClr val="333333"/>
                </a:solidFill>
                <a:latin typeface="Arial"/>
              </a:defRPr>
            </a:pPr>
            <a:r>
              <a:t>Missed Doc Detection</a:t>
            </a:r>
          </a:p>
        </p:txBody>
      </p:sp>
      <p:sp>
        <p:nvSpPr>
          <p:cNvPr id="24" name="TextBox 23"/>
          <p:cNvSpPr txBox="1"/>
          <p:nvPr/>
        </p:nvSpPr>
        <p:spPr>
          <a:xfrm>
            <a:off x="5074920" y="1892808"/>
            <a:ext cx="3566160" cy="274320"/>
          </a:xfrm>
          <a:prstGeom prst="rect">
            <a:avLst/>
          </a:prstGeom>
          <a:noFill/>
        </p:spPr>
        <p:txBody>
          <a:bodyPr wrap="square" anchor="t"/>
          <a:lstStyle/>
          <a:p>
            <a:pPr algn="l">
              <a:defRPr sz="900" b="0">
                <a:solidFill>
                  <a:srgbClr val="666666"/>
                </a:solidFill>
                <a:latin typeface="Arial"/>
              </a:defRPr>
            </a:pPr>
            <a:r>
              <a:t>Identifies documents that should have been retrieved but weren't</a:t>
            </a:r>
          </a:p>
        </p:txBody>
      </p:sp>
      <p:sp>
        <p:nvSpPr>
          <p:cNvPr id="25" name="Oval 24"/>
          <p:cNvSpPr/>
          <p:nvPr/>
        </p:nvSpPr>
        <p:spPr>
          <a:xfrm>
            <a:off x="4846320" y="223113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74920" y="2194560"/>
            <a:ext cx="3566160" cy="201168"/>
          </a:xfrm>
          <a:prstGeom prst="rect">
            <a:avLst/>
          </a:prstGeom>
          <a:noFill/>
        </p:spPr>
        <p:txBody>
          <a:bodyPr wrap="square" anchor="t"/>
          <a:lstStyle/>
          <a:p>
            <a:pPr algn="l">
              <a:defRPr sz="1100" b="1">
                <a:solidFill>
                  <a:srgbClr val="333333"/>
                </a:solidFill>
                <a:latin typeface="Arial"/>
              </a:defRPr>
            </a:pPr>
            <a:r>
              <a:t>Unsupported Hop Detection</a:t>
            </a:r>
          </a:p>
        </p:txBody>
      </p:sp>
      <p:sp>
        <p:nvSpPr>
          <p:cNvPr id="27" name="TextBox 26"/>
          <p:cNvSpPr txBox="1"/>
          <p:nvPr/>
        </p:nvSpPr>
        <p:spPr>
          <a:xfrm>
            <a:off x="5074920" y="2395728"/>
            <a:ext cx="3566160" cy="274320"/>
          </a:xfrm>
          <a:prstGeom prst="rect">
            <a:avLst/>
          </a:prstGeom>
          <a:noFill/>
        </p:spPr>
        <p:txBody>
          <a:bodyPr wrap="square" anchor="t"/>
          <a:lstStyle/>
          <a:p>
            <a:pPr algn="l">
              <a:defRPr sz="900" b="0">
                <a:solidFill>
                  <a:srgbClr val="666666"/>
                </a:solidFill>
                <a:latin typeface="Arial"/>
              </a:defRPr>
            </a:pPr>
            <a:r>
              <a:t>Flags claims requiring evidence hops the system can't make</a:t>
            </a:r>
          </a:p>
        </p:txBody>
      </p:sp>
      <p:sp>
        <p:nvSpPr>
          <p:cNvPr id="28" name="Oval 27"/>
          <p:cNvSpPr/>
          <p:nvPr/>
        </p:nvSpPr>
        <p:spPr>
          <a:xfrm>
            <a:off x="4846320" y="273405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74920" y="2697480"/>
            <a:ext cx="3566160" cy="201168"/>
          </a:xfrm>
          <a:prstGeom prst="rect">
            <a:avLst/>
          </a:prstGeom>
          <a:noFill/>
        </p:spPr>
        <p:txBody>
          <a:bodyPr wrap="square" anchor="t"/>
          <a:lstStyle/>
          <a:p>
            <a:pPr algn="l">
              <a:defRPr sz="1100" b="1">
                <a:solidFill>
                  <a:srgbClr val="333333"/>
                </a:solidFill>
                <a:latin typeface="Arial"/>
              </a:defRPr>
            </a:pPr>
            <a:r>
              <a:t>Citation Mismatch</a:t>
            </a:r>
          </a:p>
        </p:txBody>
      </p:sp>
      <p:sp>
        <p:nvSpPr>
          <p:cNvPr id="30" name="TextBox 29"/>
          <p:cNvSpPr txBox="1"/>
          <p:nvPr/>
        </p:nvSpPr>
        <p:spPr>
          <a:xfrm>
            <a:off x="5074920" y="2898648"/>
            <a:ext cx="3566160" cy="274320"/>
          </a:xfrm>
          <a:prstGeom prst="rect">
            <a:avLst/>
          </a:prstGeom>
          <a:noFill/>
        </p:spPr>
        <p:txBody>
          <a:bodyPr wrap="square" anchor="t"/>
          <a:lstStyle/>
          <a:p>
            <a:pPr algn="l">
              <a:defRPr sz="900" b="0">
                <a:solidFill>
                  <a:srgbClr val="666666"/>
                </a:solidFill>
                <a:latin typeface="Arial"/>
              </a:defRPr>
            </a:pPr>
            <a:r>
              <a:t>Checks citation topic/text alignment against source material</a:t>
            </a:r>
          </a:p>
        </p:txBody>
      </p:sp>
      <p:sp>
        <p:nvSpPr>
          <p:cNvPr id="31" name="Oval 30"/>
          <p:cNvSpPr/>
          <p:nvPr/>
        </p:nvSpPr>
        <p:spPr>
          <a:xfrm>
            <a:off x="4846320" y="323697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74920" y="3200400"/>
            <a:ext cx="3566160" cy="201168"/>
          </a:xfrm>
          <a:prstGeom prst="rect">
            <a:avLst/>
          </a:prstGeom>
          <a:noFill/>
        </p:spPr>
        <p:txBody>
          <a:bodyPr wrap="square" anchor="t"/>
          <a:lstStyle/>
          <a:p>
            <a:pPr algn="l">
              <a:defRPr sz="1100" b="1">
                <a:solidFill>
                  <a:srgbClr val="333333"/>
                </a:solidFill>
                <a:latin typeface="Arial"/>
              </a:defRPr>
            </a:pPr>
            <a:r>
              <a:t>Stale Graph Detection</a:t>
            </a:r>
          </a:p>
        </p:txBody>
      </p:sp>
      <p:sp>
        <p:nvSpPr>
          <p:cNvPr id="33" name="TextBox 32"/>
          <p:cNvSpPr txBox="1"/>
          <p:nvPr/>
        </p:nvSpPr>
        <p:spPr>
          <a:xfrm>
            <a:off x="5074920" y="3401568"/>
            <a:ext cx="3566160" cy="274320"/>
          </a:xfrm>
          <a:prstGeom prst="rect">
            <a:avLst/>
          </a:prstGeom>
          <a:noFill/>
        </p:spPr>
        <p:txBody>
          <a:bodyPr wrap="square" anchor="t"/>
          <a:lstStyle/>
          <a:p>
            <a:pPr algn="l">
              <a:defRPr sz="900" b="0">
                <a:solidFill>
                  <a:srgbClr val="666666"/>
                </a:solidFill>
                <a:latin typeface="Arial"/>
              </a:defRPr>
            </a:pPr>
            <a:r>
              <a:t>Compares graph index age vs. document ingest timestamps</a:t>
            </a:r>
          </a:p>
        </p:txBody>
      </p:sp>
      <p:sp>
        <p:nvSpPr>
          <p:cNvPr id="34" name="Rectangle 33"/>
          <p:cNvSpPr/>
          <p:nvPr/>
        </p:nvSpPr>
        <p:spPr>
          <a:xfrm>
            <a:off x="502920" y="3931920"/>
            <a:ext cx="813816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4005072"/>
            <a:ext cx="7680960" cy="274320"/>
          </a:xfrm>
          <a:prstGeom prst="rect">
            <a:avLst/>
          </a:prstGeom>
          <a:noFill/>
        </p:spPr>
        <p:txBody>
          <a:bodyPr wrap="square" anchor="t"/>
          <a:lstStyle/>
          <a:p>
            <a:pPr algn="l">
              <a:defRPr sz="1200" b="1">
                <a:solidFill>
                  <a:srgbClr val="0097A7"/>
                </a:solidFill>
                <a:latin typeface="Arial"/>
              </a:defRPr>
            </a:pPr>
            <a:r>
              <a:t>4-LEVEL RELEVANCE GRADING</a:t>
            </a:r>
          </a:p>
        </p:txBody>
      </p:sp>
      <p:sp>
        <p:nvSpPr>
          <p:cNvPr id="36" name="TextBox 35"/>
          <p:cNvSpPr txBox="1"/>
          <p:nvPr/>
        </p:nvSpPr>
        <p:spPr>
          <a:xfrm>
            <a:off x="731520" y="4297680"/>
            <a:ext cx="7680960" cy="228600"/>
          </a:xfrm>
          <a:prstGeom prst="rect">
            <a:avLst/>
          </a:prstGeom>
          <a:noFill/>
        </p:spPr>
        <p:txBody>
          <a:bodyPr wrap="square" anchor="t"/>
          <a:lstStyle/>
          <a:p>
            <a:pPr algn="ctr">
              <a:defRPr sz="1200" b="0">
                <a:solidFill>
                  <a:srgbClr val="FFFFFF"/>
                </a:solidFill>
                <a:latin typeface="Arial"/>
              </a:defRPr>
            </a:pPr>
            <a:r>
              <a:t>0 = Not Relevant    |    1 = Somewhat    |    2 = Relevant    |    3 = Highly Relevant</a:t>
            </a:r>
          </a:p>
        </p:txBody>
      </p:sp>
      <p:sp>
        <p:nvSpPr>
          <p:cNvPr id="37" name="TextBox 36"/>
          <p:cNvSpPr txBox="1"/>
          <p:nvPr/>
        </p:nvSpPr>
        <p:spPr>
          <a:xfrm>
            <a:off x="731520" y="4572000"/>
            <a:ext cx="7680960" cy="201168"/>
          </a:xfrm>
          <a:prstGeom prst="rect">
            <a:avLst/>
          </a:prstGeom>
          <a:noFill/>
        </p:spPr>
        <p:txBody>
          <a:bodyPr wrap="square" anchor="t"/>
          <a:lstStyle/>
          <a:p>
            <a:pPr algn="ctr">
              <a:defRPr sz="1000" b="0">
                <a:solidFill>
                  <a:srgbClr val="CCCCCC"/>
                </a:solidFill>
                <a:latin typeface="Arial"/>
              </a:defRPr>
            </a:pPr>
            <a:r>
              <a:t>LLM grading (max 12 chunks) with heuristic fallback (term overlap &gt;= 3 tokens = score 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Persistence, Observability &amp; Benchmarks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PostgreSQL persistence layer, dedicated observability directory, and benchmark suite</a:t>
            </a:r>
          </a:p>
        </p:txBody>
      </p:sp>
      <p:sp>
        <p:nvSpPr>
          <p:cNvPr id="6" name="Rectangle 5"/>
          <p:cNvSpPr/>
          <p:nvPr/>
        </p:nvSpPr>
        <p:spPr>
          <a:xfrm>
            <a:off x="50292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301752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2286000" cy="274320"/>
          </a:xfrm>
          <a:prstGeom prst="rect">
            <a:avLst/>
          </a:prstGeom>
          <a:noFill/>
        </p:spPr>
        <p:txBody>
          <a:bodyPr wrap="square" anchor="t"/>
          <a:lstStyle/>
          <a:p>
            <a:pPr algn="l">
              <a:defRPr sz="1400" b="1">
                <a:solidFill>
                  <a:srgbClr val="FFFFFF"/>
                </a:solidFill>
                <a:latin typeface="Arial"/>
              </a:defRPr>
            </a:pPr>
            <a:r>
              <a:t>Persistence (persistence/)</a:t>
            </a:r>
          </a:p>
        </p:txBody>
      </p:sp>
      <p:sp>
        <p:nvSpPr>
          <p:cNvPr id="9" name="TextBox 8"/>
          <p:cNvSpPr txBox="1"/>
          <p:nvPr/>
        </p:nvSpPr>
        <p:spPr>
          <a:xfrm>
            <a:off x="731520" y="1828800"/>
            <a:ext cx="2194560" cy="228600"/>
          </a:xfrm>
          <a:prstGeom prst="rect">
            <a:avLst/>
          </a:prstGeom>
          <a:noFill/>
        </p:spPr>
        <p:txBody>
          <a:bodyPr wrap="square" anchor="t"/>
          <a:lstStyle/>
          <a:p>
            <a:pPr algn="l">
              <a:defRPr sz="1000" b="0">
                <a:solidFill>
                  <a:srgbClr val="CCCCCC"/>
                </a:solidFill>
                <a:latin typeface="Arial"/>
              </a:defRPr>
            </a:pPr>
            <a:r>
              <a:t>- PostgreSQL-backed data layer</a:t>
            </a:r>
          </a:p>
        </p:txBody>
      </p:sp>
      <p:sp>
        <p:nvSpPr>
          <p:cNvPr id="10" name="TextBox 9"/>
          <p:cNvSpPr txBox="1"/>
          <p:nvPr/>
        </p:nvSpPr>
        <p:spPr>
          <a:xfrm>
            <a:off x="731520" y="2103120"/>
            <a:ext cx="2194560" cy="228600"/>
          </a:xfrm>
          <a:prstGeom prst="rect">
            <a:avLst/>
          </a:prstGeom>
          <a:noFill/>
        </p:spPr>
        <p:txBody>
          <a:bodyPr wrap="square" anchor="t"/>
          <a:lstStyle/>
          <a:p>
            <a:pPr algn="l">
              <a:defRPr sz="1000" b="0">
                <a:solidFill>
                  <a:srgbClr val="CCCCCC"/>
                </a:solidFill>
                <a:latin typeface="Arial"/>
              </a:defRPr>
            </a:pPr>
            <a:r>
              <a:t>- pgvector for embeddings</a:t>
            </a:r>
          </a:p>
        </p:txBody>
      </p:sp>
      <p:sp>
        <p:nvSpPr>
          <p:cNvPr id="11" name="TextBox 10"/>
          <p:cNvSpPr txBox="1"/>
          <p:nvPr/>
        </p:nvSpPr>
        <p:spPr>
          <a:xfrm>
            <a:off x="731520" y="2377440"/>
            <a:ext cx="2194560" cy="228600"/>
          </a:xfrm>
          <a:prstGeom prst="rect">
            <a:avLst/>
          </a:prstGeom>
          <a:noFill/>
        </p:spPr>
        <p:txBody>
          <a:bodyPr wrap="square" anchor="t"/>
          <a:lstStyle/>
          <a:p>
            <a:pPr algn="l">
              <a:defRPr sz="1000" b="0">
                <a:solidFill>
                  <a:srgbClr val="CCCCCC"/>
                </a:solidFill>
                <a:latin typeface="Arial"/>
              </a:defRPr>
            </a:pPr>
            <a:r>
              <a:t>- Session transcript storage</a:t>
            </a:r>
          </a:p>
        </p:txBody>
      </p:sp>
      <p:sp>
        <p:nvSpPr>
          <p:cNvPr id="12" name="TextBox 11"/>
          <p:cNvSpPr txBox="1"/>
          <p:nvPr/>
        </p:nvSpPr>
        <p:spPr>
          <a:xfrm>
            <a:off x="731520" y="2651760"/>
            <a:ext cx="2194560" cy="228600"/>
          </a:xfrm>
          <a:prstGeom prst="rect">
            <a:avLst/>
          </a:prstGeom>
          <a:noFill/>
        </p:spPr>
        <p:txBody>
          <a:bodyPr wrap="square" anchor="t"/>
          <a:lstStyle/>
          <a:p>
            <a:pPr algn="l">
              <a:defRPr sz="1000" b="0">
                <a:solidFill>
                  <a:srgbClr val="CCCCCC"/>
                </a:solidFill>
                <a:latin typeface="Arial"/>
              </a:defRPr>
            </a:pPr>
            <a:r>
              <a:t>- Job records &amp; results</a:t>
            </a:r>
          </a:p>
        </p:txBody>
      </p:sp>
      <p:sp>
        <p:nvSpPr>
          <p:cNvPr id="13" name="TextBox 12"/>
          <p:cNvSpPr txBox="1"/>
          <p:nvPr/>
        </p:nvSpPr>
        <p:spPr>
          <a:xfrm>
            <a:off x="731520" y="2926080"/>
            <a:ext cx="2194560" cy="228600"/>
          </a:xfrm>
          <a:prstGeom prst="rect">
            <a:avLst/>
          </a:prstGeom>
          <a:noFill/>
        </p:spPr>
        <p:txBody>
          <a:bodyPr wrap="square" anchor="t"/>
          <a:lstStyle/>
          <a:p>
            <a:pPr algn="l">
              <a:defRPr sz="1000" b="0">
                <a:solidFill>
                  <a:srgbClr val="CCCCCC"/>
                </a:solidFill>
                <a:latin typeface="Arial"/>
              </a:defRPr>
            </a:pPr>
            <a:r>
              <a:t>- Tenant/user data isolation</a:t>
            </a:r>
          </a:p>
        </p:txBody>
      </p:sp>
      <p:sp>
        <p:nvSpPr>
          <p:cNvPr id="14" name="TextBox 13"/>
          <p:cNvSpPr txBox="1"/>
          <p:nvPr/>
        </p:nvSpPr>
        <p:spPr>
          <a:xfrm>
            <a:off x="731520" y="3200400"/>
            <a:ext cx="2194560" cy="228600"/>
          </a:xfrm>
          <a:prstGeom prst="rect">
            <a:avLst/>
          </a:prstGeom>
          <a:noFill/>
        </p:spPr>
        <p:txBody>
          <a:bodyPr wrap="square" anchor="t"/>
          <a:lstStyle/>
          <a:p>
            <a:pPr algn="l">
              <a:defRPr sz="1000" b="0">
                <a:solidFill>
                  <a:srgbClr val="CCCCCC"/>
                </a:solidFill>
                <a:latin typeface="Arial"/>
              </a:defRPr>
            </a:pPr>
            <a:r>
              <a:t>- Migration support</a:t>
            </a:r>
          </a:p>
        </p:txBody>
      </p:sp>
      <p:sp>
        <p:nvSpPr>
          <p:cNvPr id="15" name="Rectangle 14"/>
          <p:cNvSpPr/>
          <p:nvPr/>
        </p:nvSpPr>
        <p:spPr>
          <a:xfrm>
            <a:off x="320040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0" y="1371600"/>
            <a:ext cx="54864" cy="3017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1463040"/>
            <a:ext cx="2286000" cy="274320"/>
          </a:xfrm>
          <a:prstGeom prst="rect">
            <a:avLst/>
          </a:prstGeom>
          <a:noFill/>
        </p:spPr>
        <p:txBody>
          <a:bodyPr wrap="square" anchor="t"/>
          <a:lstStyle/>
          <a:p>
            <a:pPr algn="l">
              <a:defRPr sz="1400" b="1">
                <a:solidFill>
                  <a:srgbClr val="FFFFFF"/>
                </a:solidFill>
                <a:latin typeface="Arial"/>
              </a:defRPr>
            </a:pPr>
            <a:r>
              <a:t>Observability (observability/)</a:t>
            </a:r>
          </a:p>
        </p:txBody>
      </p:sp>
      <p:sp>
        <p:nvSpPr>
          <p:cNvPr id="18" name="TextBox 17"/>
          <p:cNvSpPr txBox="1"/>
          <p:nvPr/>
        </p:nvSpPr>
        <p:spPr>
          <a:xfrm>
            <a:off x="3429000" y="1828800"/>
            <a:ext cx="2194560" cy="228600"/>
          </a:xfrm>
          <a:prstGeom prst="rect">
            <a:avLst/>
          </a:prstGeom>
          <a:noFill/>
        </p:spPr>
        <p:txBody>
          <a:bodyPr wrap="square" anchor="t"/>
          <a:lstStyle/>
          <a:p>
            <a:pPr algn="l">
              <a:defRPr sz="1000" b="0">
                <a:solidFill>
                  <a:srgbClr val="CCCCCC"/>
                </a:solidFill>
                <a:latin typeface="Arial"/>
              </a:defRPr>
            </a:pPr>
            <a:r>
              <a:t>- LangFuse integration for traces</a:t>
            </a:r>
          </a:p>
        </p:txBody>
      </p:sp>
      <p:sp>
        <p:nvSpPr>
          <p:cNvPr id="19" name="TextBox 18"/>
          <p:cNvSpPr txBox="1"/>
          <p:nvPr/>
        </p:nvSpPr>
        <p:spPr>
          <a:xfrm>
            <a:off x="3429000" y="2103120"/>
            <a:ext cx="2194560" cy="228600"/>
          </a:xfrm>
          <a:prstGeom prst="rect">
            <a:avLst/>
          </a:prstGeom>
          <a:noFill/>
        </p:spPr>
        <p:txBody>
          <a:bodyPr wrap="square" anchor="t"/>
          <a:lstStyle/>
          <a:p>
            <a:pPr algn="l">
              <a:defRPr sz="1000" b="0">
                <a:solidFill>
                  <a:srgbClr val="CCCCCC"/>
                </a:solidFill>
                <a:latin typeface="Arial"/>
              </a:defRPr>
            </a:pPr>
            <a:r>
              <a:t>- Event emission per tool call</a:t>
            </a:r>
          </a:p>
        </p:txBody>
      </p:sp>
      <p:sp>
        <p:nvSpPr>
          <p:cNvPr id="20" name="TextBox 19"/>
          <p:cNvSpPr txBox="1"/>
          <p:nvPr/>
        </p:nvSpPr>
        <p:spPr>
          <a:xfrm>
            <a:off x="3429000" y="2377440"/>
            <a:ext cx="2194560" cy="228600"/>
          </a:xfrm>
          <a:prstGeom prst="rect">
            <a:avLst/>
          </a:prstGeom>
          <a:noFill/>
        </p:spPr>
        <p:txBody>
          <a:bodyPr wrap="square" anchor="t"/>
          <a:lstStyle/>
          <a:p>
            <a:pPr algn="l">
              <a:defRPr sz="1000" b="0">
                <a:solidFill>
                  <a:srgbClr val="CCCCCC"/>
                </a:solidFill>
                <a:latin typeface="Arial"/>
              </a:defRPr>
            </a:pPr>
            <a:r>
              <a:t>- Router decision logging</a:t>
            </a:r>
          </a:p>
        </p:txBody>
      </p:sp>
      <p:sp>
        <p:nvSpPr>
          <p:cNvPr id="21" name="TextBox 20"/>
          <p:cNvSpPr txBox="1"/>
          <p:nvPr/>
        </p:nvSpPr>
        <p:spPr>
          <a:xfrm>
            <a:off x="3429000" y="2651760"/>
            <a:ext cx="2194560" cy="228600"/>
          </a:xfrm>
          <a:prstGeom prst="rect">
            <a:avLst/>
          </a:prstGeom>
          <a:noFill/>
        </p:spPr>
        <p:txBody>
          <a:bodyPr wrap="square" anchor="t"/>
          <a:lstStyle/>
          <a:p>
            <a:pPr algn="l">
              <a:defRPr sz="1000" b="0">
                <a:solidFill>
                  <a:srgbClr val="CCCCCC"/>
                </a:solidFill>
                <a:latin typeface="Arial"/>
              </a:defRPr>
            </a:pPr>
            <a:r>
              <a:t>- Turn-level status tracking</a:t>
            </a:r>
          </a:p>
        </p:txBody>
      </p:sp>
      <p:sp>
        <p:nvSpPr>
          <p:cNvPr id="22" name="TextBox 21"/>
          <p:cNvSpPr txBox="1"/>
          <p:nvPr/>
        </p:nvSpPr>
        <p:spPr>
          <a:xfrm>
            <a:off x="3429000" y="2926080"/>
            <a:ext cx="2194560" cy="228600"/>
          </a:xfrm>
          <a:prstGeom prst="rect">
            <a:avLst/>
          </a:prstGeom>
          <a:noFill/>
        </p:spPr>
        <p:txBody>
          <a:bodyPr wrap="square" anchor="t"/>
          <a:lstStyle/>
          <a:p>
            <a:pPr algn="l">
              <a:defRPr sz="1000" b="0">
                <a:solidFill>
                  <a:srgbClr val="CCCCCC"/>
                </a:solidFill>
                <a:latin typeface="Arial"/>
              </a:defRPr>
            </a:pPr>
            <a:r>
              <a:t>- SSE progress streaming</a:t>
            </a:r>
          </a:p>
        </p:txBody>
      </p:sp>
      <p:sp>
        <p:nvSpPr>
          <p:cNvPr id="23" name="TextBox 22"/>
          <p:cNvSpPr txBox="1"/>
          <p:nvPr/>
        </p:nvSpPr>
        <p:spPr>
          <a:xfrm>
            <a:off x="3429000" y="3200400"/>
            <a:ext cx="2194560" cy="228600"/>
          </a:xfrm>
          <a:prstGeom prst="rect">
            <a:avLst/>
          </a:prstGeom>
          <a:noFill/>
        </p:spPr>
        <p:txBody>
          <a:bodyPr wrap="square" anchor="t"/>
          <a:lstStyle/>
          <a:p>
            <a:pPr algn="l">
              <a:defRPr sz="1000" b="0">
                <a:solidFill>
                  <a:srgbClr val="CCCCCC"/>
                </a:solidFill>
                <a:latin typeface="Arial"/>
              </a:defRPr>
            </a:pPr>
            <a:r>
              <a:t>- events.jsonl audit trail</a:t>
            </a:r>
          </a:p>
        </p:txBody>
      </p:sp>
      <p:sp>
        <p:nvSpPr>
          <p:cNvPr id="24" name="Rectangle 23"/>
          <p:cNvSpPr/>
          <p:nvPr/>
        </p:nvSpPr>
        <p:spPr>
          <a:xfrm>
            <a:off x="589788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97880" y="1371600"/>
            <a:ext cx="54864" cy="301752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80760" y="1463040"/>
            <a:ext cx="2286000" cy="274320"/>
          </a:xfrm>
          <a:prstGeom prst="rect">
            <a:avLst/>
          </a:prstGeom>
          <a:noFill/>
        </p:spPr>
        <p:txBody>
          <a:bodyPr wrap="square" anchor="t"/>
          <a:lstStyle/>
          <a:p>
            <a:pPr algn="l">
              <a:defRPr sz="1400" b="1">
                <a:solidFill>
                  <a:srgbClr val="FFFFFF"/>
                </a:solidFill>
                <a:latin typeface="Arial"/>
              </a:defRPr>
            </a:pPr>
            <a:r>
              <a:t>Benchmark (benchmark/)</a:t>
            </a:r>
          </a:p>
        </p:txBody>
      </p:sp>
      <p:sp>
        <p:nvSpPr>
          <p:cNvPr id="27" name="TextBox 26"/>
          <p:cNvSpPr txBox="1"/>
          <p:nvPr/>
        </p:nvSpPr>
        <p:spPr>
          <a:xfrm>
            <a:off x="6126480" y="1828800"/>
            <a:ext cx="2194560" cy="228600"/>
          </a:xfrm>
          <a:prstGeom prst="rect">
            <a:avLst/>
          </a:prstGeom>
          <a:noFill/>
        </p:spPr>
        <p:txBody>
          <a:bodyPr wrap="square" anchor="t"/>
          <a:lstStyle/>
          <a:p>
            <a:pPr algn="l">
              <a:defRPr sz="1000" b="0">
                <a:solidFill>
                  <a:srgbClr val="CCCCCC"/>
                </a:solidFill>
                <a:latin typeface="Arial"/>
              </a:defRPr>
            </a:pPr>
            <a:r>
              <a:t>- Performance benchmarking suite</a:t>
            </a:r>
          </a:p>
        </p:txBody>
      </p:sp>
      <p:sp>
        <p:nvSpPr>
          <p:cNvPr id="28" name="TextBox 27"/>
          <p:cNvSpPr txBox="1"/>
          <p:nvPr/>
        </p:nvSpPr>
        <p:spPr>
          <a:xfrm>
            <a:off x="6126480" y="2103120"/>
            <a:ext cx="2194560" cy="228600"/>
          </a:xfrm>
          <a:prstGeom prst="rect">
            <a:avLst/>
          </a:prstGeom>
          <a:noFill/>
        </p:spPr>
        <p:txBody>
          <a:bodyPr wrap="square" anchor="t"/>
          <a:lstStyle/>
          <a:p>
            <a:pPr algn="l">
              <a:defRPr sz="1000" b="0">
                <a:solidFill>
                  <a:srgbClr val="CCCCCC"/>
                </a:solidFill>
                <a:latin typeface="Arial"/>
              </a:defRPr>
            </a:pPr>
            <a:r>
              <a:t>- Defense RAG test corpus</a:t>
            </a:r>
          </a:p>
        </p:txBody>
      </p:sp>
      <p:sp>
        <p:nvSpPr>
          <p:cNvPr id="29" name="TextBox 28"/>
          <p:cNvSpPr txBox="1"/>
          <p:nvPr/>
        </p:nvSpPr>
        <p:spPr>
          <a:xfrm>
            <a:off x="6126480" y="2377440"/>
            <a:ext cx="2194560" cy="228600"/>
          </a:xfrm>
          <a:prstGeom prst="rect">
            <a:avLst/>
          </a:prstGeom>
          <a:noFill/>
        </p:spPr>
        <p:txBody>
          <a:bodyPr wrap="square" anchor="t"/>
          <a:lstStyle/>
          <a:p>
            <a:pPr algn="l">
              <a:defRPr sz="1000" b="0">
                <a:solidFill>
                  <a:srgbClr val="CCCCCC"/>
                </a:solidFill>
                <a:latin typeface="Arial"/>
              </a:defRPr>
            </a:pPr>
            <a:r>
              <a:t>- Adversarial prompt testing</a:t>
            </a:r>
          </a:p>
        </p:txBody>
      </p:sp>
      <p:sp>
        <p:nvSpPr>
          <p:cNvPr id="30" name="TextBox 29"/>
          <p:cNvSpPr txBox="1"/>
          <p:nvPr/>
        </p:nvSpPr>
        <p:spPr>
          <a:xfrm>
            <a:off x="6126480" y="2651760"/>
            <a:ext cx="2194560" cy="228600"/>
          </a:xfrm>
          <a:prstGeom prst="rect">
            <a:avLst/>
          </a:prstGeom>
          <a:noFill/>
        </p:spPr>
        <p:txBody>
          <a:bodyPr wrap="square" anchor="t"/>
          <a:lstStyle/>
          <a:p>
            <a:pPr algn="l">
              <a:defRPr sz="1000" b="0">
                <a:solidFill>
                  <a:srgbClr val="CCCCCC"/>
                </a:solidFill>
                <a:latin typeface="Arial"/>
              </a:defRPr>
            </a:pPr>
            <a:r>
              <a:t>- Regression detection</a:t>
            </a:r>
          </a:p>
        </p:txBody>
      </p:sp>
      <p:sp>
        <p:nvSpPr>
          <p:cNvPr id="31" name="TextBox 30"/>
          <p:cNvSpPr txBox="1"/>
          <p:nvPr/>
        </p:nvSpPr>
        <p:spPr>
          <a:xfrm>
            <a:off x="6126480" y="2926080"/>
            <a:ext cx="2194560" cy="228600"/>
          </a:xfrm>
          <a:prstGeom prst="rect">
            <a:avLst/>
          </a:prstGeom>
          <a:noFill/>
        </p:spPr>
        <p:txBody>
          <a:bodyPr wrap="square" anchor="t"/>
          <a:lstStyle/>
          <a:p>
            <a:pPr algn="l">
              <a:defRPr sz="1000" b="0">
                <a:solidFill>
                  <a:srgbClr val="CCCCCC"/>
                </a:solidFill>
                <a:latin typeface="Arial"/>
              </a:defRPr>
            </a:pPr>
            <a:r>
              <a:t>- Latency profiling per tool</a:t>
            </a:r>
          </a:p>
        </p:txBody>
      </p:sp>
      <p:sp>
        <p:nvSpPr>
          <p:cNvPr id="32" name="TextBox 31"/>
          <p:cNvSpPr txBox="1"/>
          <p:nvPr/>
        </p:nvSpPr>
        <p:spPr>
          <a:xfrm>
            <a:off x="6126480" y="3200400"/>
            <a:ext cx="2194560" cy="228600"/>
          </a:xfrm>
          <a:prstGeom prst="rect">
            <a:avLst/>
          </a:prstGeom>
          <a:noFill/>
        </p:spPr>
        <p:txBody>
          <a:bodyPr wrap="square" anchor="t"/>
          <a:lstStyle/>
          <a:p>
            <a:pPr algn="l">
              <a:defRPr sz="1000" b="0">
                <a:solidFill>
                  <a:srgbClr val="CCCCCC"/>
                </a:solidFill>
                <a:latin typeface="Arial"/>
              </a:defRPr>
            </a:pPr>
            <a:r>
              <a:t>- Token cost analysis</a:t>
            </a:r>
          </a:p>
        </p:txBody>
      </p:sp>
      <p:sp>
        <p:nvSpPr>
          <p:cNvPr id="33" name="TextBox 32"/>
          <p:cNvSpPr txBox="1"/>
          <p:nvPr/>
        </p:nvSpPr>
        <p:spPr>
          <a:xfrm>
            <a:off x="502920" y="4572000"/>
            <a:ext cx="8138160" cy="365760"/>
          </a:xfrm>
          <a:prstGeom prst="rect">
            <a:avLst/>
          </a:prstGeom>
          <a:noFill/>
        </p:spPr>
        <p:txBody>
          <a:bodyPr wrap="square" anchor="t"/>
          <a:lstStyle/>
          <a:p>
            <a:pPr algn="l">
              <a:defRPr sz="1000" b="0">
                <a:solidFill>
                  <a:srgbClr val="888888"/>
                </a:solidFill>
                <a:latin typeface="Arial"/>
              </a:defRPr>
            </a:pPr>
            <a:r>
              <a:t>Sandbox: 180s timeout, isolated Docker containers. Control Panel Frontend: React/TypeScript (Vite) at /control_panel/.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(49 packs), prompts/, kb/ (18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18 knowledge base collections.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graph/ module provides Microsoft GraphRAG and Neo4j backends. A dedicated graph_manager agent uses 5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xml:space="preserve">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xml:space="preserve">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xml:space="preserve">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 xml:space="preserve">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 xml:space="preserve">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 xml:space="preserve">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 xml:space="preserve">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 xml:space="preserve">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 xml:space="preserve">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 xml:space="preserve">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 xml:space="preserve">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 xml:space="preserve">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 xml:space="preserve">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 xml:space="preserve">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 xml:space="preserve">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and Worker Scheduler</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Operational subsystems for routing quality and fair resource scheduling.</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 xml:space="preserve">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 xml:space="preserve">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 xml:space="preserve">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 xml:space="preserve">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 xml:space="preserve">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 xml:space="preserve">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Infrastructure and Resilience Modules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infrastructure modules provide auth, memory, observability, parallelism, prompt resilience, and task routing.</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6: "Which systems have supply chain vulnerabilities across all programs?"</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Router Escalation</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Deep RAG + Graph Search (parallel lanes)</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Deep corpus search</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graph_manager: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Entity graph query</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rag_researcher: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Multi-hop follow-up</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Evidence Assembly</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Citation Verification</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{"deep_rag_policy":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"complexity_score":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"search_mode": "deep",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"parallel_lanes": ["corpus","graph"],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"reflection_rounds":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"coverage_goal": "exhaustive",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"result_mode": "inventory"}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 xml:space="preserve">Key Design: </a:t>
            </a:r>
            <a:r>
              <a:rPr lang="en-US" sz="1000" dirty="0">
                <a:solidFill>
                  <a:srgbClr val="333333"/>
                </a:solidFill>
                <a:latin typeface="Arial" pitchFamily="34" charset="0"/>
                <a:ea typeface="Arial" pitchFamily="34" charset="-122"/>
                <a:cs typeface="Arial" pitchFamily="34" charset="-120"/>
              </a:rPr>
              <a:t>Deep RAG activates when complexity score hits 3+. Triggers: broad scope keywords, word count over 24, citation requests. rag_researcher uses RAG Workbench tools for fine-grained corpus access. Graph augmentation adds entity relationships from Neo4j.</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Reflection rounds (up to 4) refine queries adaptively. Graph entities seed follow-up retrieval. Evidence assembled with deduplication and cross-source linking.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graph/backend.py, data/agents/rag_researcher.md</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7: "Compare liability clauses in Contract A vs B and flag risks"</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Research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Document Workers</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 (A):</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 Contract A clauses</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 (B):</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 Contract B clauses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general: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Cross-reference risks</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 Synthesis</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 + Revision Loop</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{"campaign":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{"id":1,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"instruction":"Extract Contract A clauses"},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"instruction":"Extract Contract B clauses"},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{"id":3, "worker":"general",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"instruction":"Cross-reference risk flags"}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 xml:space="preserve">Key Design: </a:t>
            </a:r>
            <a:r>
              <a:rPr lang="en-US" sz="1000" dirty="0">
                <a:solidFill>
                  <a:srgbClr val="333333"/>
                </a:solidFill>
                <a:latin typeface="Arial" pitchFamily="34" charset="0"/>
                <a:ea typeface="Arial" pitchFamily="34" charset="-122"/>
                <a:cs typeface="Arial" pitchFamily="34" charset="-120"/>
              </a:rPr>
              <a:t>research_coordinator differs from coordinator: it adds rag_researcher to its worker pool and enables deep research facet expansion. Handoff artifacts pass clause_redline_inventory between workers so each builds on prior evidence.</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Verifier checks: Did we cover all liability sections? Are citations accurate? Missing coverage triggers revision loop back to planner (max 4 rounds). Artifacts: doc_digest, research_notebook.</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data/agents/research_coordinator.md, data/agents/rag_researcher.md</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8: MCP Tool Discovery and Cross-Agent Escalation</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Initial Agent</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Deferred Tool Discovery</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discover_tools():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Search deferred catalog</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call_deferred_tool():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Execute resolved tool</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invoke_agent():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Escalate to specialist</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Tool Execution</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Response Assembly</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{"deferred_tools":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"discover_tools":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"query":"compliance audit",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"matched":["audit_log","policy_check"]},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"call_deferred_tool":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"tool":"audit_log","tenant":"acme"},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"invoke_agent":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 xml:space="preserve">Key Design: </a:t>
            </a:r>
            <a:r>
              <a:rPr lang="en-US" sz="1000" dirty="0">
                <a:solidFill>
                  <a:srgbClr val="333333"/>
                </a:solidFill>
                <a:latin typeface="Arial" pitchFamily="34" charset="0"/>
                <a:ea typeface="Arial" pitchFamily="34" charset="-122"/>
                <a:cs typeface="Arial" pitchFamily="34" charset="-120"/>
              </a:rPr>
              <a:t>MCP uses Fernet encryption for tool credentials. When tool count exceeds context budget, tools are deferred. Agent calls discover_tools() with natural language, gets matching tools back. invoke_agent() enables mid-task escalation to a specialist agent (e.g., general escalates to data_analyst).</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 deferral keeps initial prompt lean. Discovery is lazy — only tools the agent actually needs get loaded. Cross-agent escalation via invoke_agent() preserves session context while switching capabilities.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mcp/client.py, mcp/service.py, tools/groups/orchestration.py, tools/groups/discovery.py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2802</TotalTime>
  <Words>12520</Words>
  <Application>Microsoft Macintosh PowerPoint</Application>
  <PresentationFormat>On-screen Show (16:9)</PresentationFormat>
  <Paragraphs>1306</Paragraphs>
  <Slides>53</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2</cp:revision>
  <dcterms:created xsi:type="dcterms:W3CDTF">2026-04-22T02:21:53Z</dcterms:created>
  <dcterms:modified xsi:type="dcterms:W3CDTF">2026-04-29T23:12:51Z</dcterms:modified>
</cp:coreProperties>
</file>