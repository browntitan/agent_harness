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2"/>
  </p:notesMasterIdLst>
  <p:sldIdLst>
    <p:sldId id="256" r:id="rId2"/>
    <p:sldId id="386" r:id="rId137"/>
    <p:sldId id="387" r:id="rId138"/>
    <p:sldId id="388" r:id="rId139"/>
    <p:sldId id="389" r:id="rId140"/>
    <p:sldId id="390" r:id="rId141"/>
    <p:sldId id="257" r:id="rId3"/>
    <p:sldId id="258" r:id="rId4"/>
    <p:sldId id="392" r:id="rId143"/>
    <p:sldId id="391" r:id="rId142"/>
    <p:sldId id="394" r:id="rId145"/>
    <p:sldId id="393" r:id="rId144"/>
    <p:sldId id="270" r:id="rId16"/>
    <p:sldId id="271" r:id="rId17"/>
    <p:sldId id="279" r:id="rId25"/>
    <p:sldId id="285" r:id="rId31"/>
    <p:sldId id="286" r:id="rId32"/>
    <p:sldId id="311" r:id="rId57"/>
    <p:sldId id="288" r:id="rId34"/>
    <p:sldId id="289" r:id="rId35"/>
    <p:sldId id="290" r:id="rId36"/>
    <p:sldId id="291" r:id="rId37"/>
    <p:sldId id="292" r:id="rId38"/>
    <p:sldId id="293" r:id="rId39"/>
    <p:sldId id="294" r:id="rId40"/>
    <p:sldId id="313" r:id="rId59"/>
    <p:sldId id="396" r:id="rId147"/>
    <p:sldId id="397" r:id="rId148"/>
    <p:sldId id="398" r:id="rId149"/>
    <p:sldId id="399" r:id="rId150"/>
    <p:sldId id="400" r:id="rId151"/>
    <p:sldId id="401" r:id="rId152"/>
    <p:sldId id="402" r:id="rId153"/>
    <p:sldId id="403" r:id="rId154"/>
    <p:sldId id="404" r:id="rId155"/>
    <p:sldId id="405" r:id="rId156"/>
    <p:sldId id="406" r:id="rId157"/>
    <p:sldId id="260" r:id="rId6"/>
    <p:sldId id="261" r:id="rId7"/>
    <p:sldId id="262" r:id="rId8"/>
    <p:sldId id="264" r:id="rId10"/>
    <p:sldId id="356" r:id="rId102"/>
    <p:sldId id="357" r:id="rId103"/>
    <p:sldId id="358" r:id="rId104"/>
    <p:sldId id="359" r:id="rId105"/>
    <p:sldId id="360" r:id="rId106"/>
    <p:sldId id="354" r:id="rId100"/>
    <p:sldId id="380" r:id="rId126"/>
    <p:sldId id="381" r:id="rId127"/>
    <p:sldId id="382" r:id="rId128"/>
    <p:sldId id="383" r:id="rId129"/>
    <p:sldId id="384" r:id="rId130"/>
    <p:sldId id="385" r:id="rId1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4"/>
    <p:restoredTop sz="94610"/>
  </p:normalViewPr>
  <p:slideViewPr>
    <p:cSldViewPr snapToGrid="0" snapToObjects="1">
      <p:cViewPr varScale="1">
        <p:scale>
          <a:sx n="170" d="100"/>
          <a:sy n="170"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3.xml"/><Relationship Id="rId4" Type="http://schemas.openxmlformats.org/officeDocument/2006/relationships/slide" Target="slides/slide24.xml"/><Relationship Id="rId5" Type="http://schemas.openxmlformats.org/officeDocument/2006/relationships/slide" Target="slides/slide25.xml"/><Relationship Id="rId6" Type="http://schemas.openxmlformats.org/officeDocument/2006/relationships/slide" Target="slides/slide26.xml"/><Relationship Id="rId7" Type="http://schemas.openxmlformats.org/officeDocument/2006/relationships/slide" Target="slides/slide27.xml"/><Relationship Id="rId8" Type="http://schemas.openxmlformats.org/officeDocument/2006/relationships/slide" Target="slides/slide28.xml"/><Relationship Id="rId9" Type="http://schemas.openxmlformats.org/officeDocument/2006/relationships/slide" Target="slides/slide29.xml"/><Relationship Id="rId10" Type="http://schemas.openxmlformats.org/officeDocument/2006/relationships/slide" Target="slides/slide30.xml"/><Relationship Id="rId11" Type="http://schemas.openxmlformats.org/officeDocument/2006/relationships/slide" Target="slides/slide31.xml"/><Relationship Id="rId12" Type="http://schemas.openxmlformats.org/officeDocument/2006/relationships/slide" Target="slides/slide32.xml"/><Relationship Id="rId13" Type="http://schemas.openxmlformats.org/officeDocument/2006/relationships/slide" Target="slides/slide33.xml"/><Relationship Id="rId14" Type="http://schemas.openxmlformats.org/officeDocument/2006/relationships/slide" Target="slides/slide34.xml"/><Relationship Id="rId15" Type="http://schemas.openxmlformats.org/officeDocument/2006/relationships/slide" Target="slides/slide35.xml"/><Relationship Id="rId16" Type="http://schemas.openxmlformats.org/officeDocument/2006/relationships/slide" Target="slides/slide36.xml"/><Relationship Id="rId17" Type="http://schemas.openxmlformats.org/officeDocument/2006/relationships/slide" Target="slides/slide37.xml"/><Relationship Id="rId18" Type="http://schemas.openxmlformats.org/officeDocument/2006/relationships/slide" Target="slides/slide38.xml"/><Relationship Id="rId19" Type="http://schemas.openxmlformats.org/officeDocument/2006/relationships/slide" Target="slides/slide39.xml"/><Relationship Id="rId20" Type="http://schemas.openxmlformats.org/officeDocument/2006/relationships/slide" Target="slides/slide40.xml"/><Relationship Id="rId21" Type="http://schemas.openxmlformats.org/officeDocument/2006/relationships/slide" Target="slides/slide41.xml"/><Relationship Id="rId22" Type="http://schemas.openxmlformats.org/officeDocument/2006/relationships/slide" Target="slides/slide42.xml"/><Relationship Id="rId23" Type="http://schemas.openxmlformats.org/officeDocument/2006/relationships/slide" Target="slides/slide43.xml"/><Relationship Id="rId24" Type="http://schemas.openxmlformats.org/officeDocument/2006/relationships/slide" Target="slides/slide44.xml"/><Relationship Id="rId25" Type="http://schemas.openxmlformats.org/officeDocument/2006/relationships/slide" Target="slides/slide45.xml"/><Relationship Id="rId26" Type="http://schemas.openxmlformats.org/officeDocument/2006/relationships/slide" Target="slides/slide46.xml"/><Relationship Id="rId27" Type="http://schemas.openxmlformats.org/officeDocument/2006/relationships/slide" Target="slides/slide47.xml"/><Relationship Id="rId28" Type="http://schemas.openxmlformats.org/officeDocument/2006/relationships/slide" Target="slides/slide48.xml"/><Relationship Id="rId29" Type="http://schemas.openxmlformats.org/officeDocument/2006/relationships/slide" Target="slides/slide49.xml"/><Relationship Id="rId30" Type="http://schemas.openxmlformats.org/officeDocument/2006/relationships/slide" Target="slides/slide50.xml"/><Relationship Id="rId31" Type="http://schemas.openxmlformats.org/officeDocument/2006/relationships/slide" Target="slides/slide51.xml"/><Relationship Id="rId32" Type="http://schemas.openxmlformats.org/officeDocument/2006/relationships/slide" Target="slides/slide52.xml"/><Relationship Id="rId33" Type="http://schemas.openxmlformats.org/officeDocument/2006/relationships/slide" Target="slides/slide53.xml"/><Relationship Id="rId34" Type="http://schemas.openxmlformats.org/officeDocument/2006/relationships/slide" Target="slides/slide54.xml"/><Relationship Id="rId35" Type="http://schemas.openxmlformats.org/officeDocument/2006/relationships/slide" Target="slides/slide55.xml"/><Relationship Id="rId36" Type="http://schemas.openxmlformats.org/officeDocument/2006/relationships/slide" Target="slides/slide56.xml"/><Relationship Id="rId37" Type="http://schemas.openxmlformats.org/officeDocument/2006/relationships/slide" Target="slides/slide57.xml"/><Relationship Id="rId38" Type="http://schemas.openxmlformats.org/officeDocument/2006/relationships/slide" Target="slides/slide58.xml"/><Relationship Id="rId39" Type="http://schemas.openxmlformats.org/officeDocument/2006/relationships/slide" Target="slides/slide59.xml"/><Relationship Id="rId40" Type="http://schemas.openxmlformats.org/officeDocument/2006/relationships/slide" Target="slides/slide60.xml"/><Relationship Id="rId41" Type="http://schemas.openxmlformats.org/officeDocument/2006/relationships/slide" Target="slides/slide61.xml"/><Relationship Id="rId42" Type="http://schemas.openxmlformats.org/officeDocument/2006/relationships/slide" Target="slides/slide62.xml"/><Relationship Id="rId43" Type="http://schemas.openxmlformats.org/officeDocument/2006/relationships/slide" Target="slides/slide63.xml"/><Relationship Id="rId44" Type="http://schemas.openxmlformats.org/officeDocument/2006/relationships/slide" Target="slides/slide64.xml"/><Relationship Id="rId45" Type="http://schemas.openxmlformats.org/officeDocument/2006/relationships/slide" Target="slides/slide65.xml"/><Relationship Id="rId46" Type="http://schemas.openxmlformats.org/officeDocument/2006/relationships/slide" Target="slides/slide66.xml"/><Relationship Id="rId47" Type="http://schemas.openxmlformats.org/officeDocument/2006/relationships/slide" Target="slides/slide67.xml"/><Relationship Id="rId48" Type="http://schemas.openxmlformats.org/officeDocument/2006/relationships/slide" Target="slides/slide68.xml"/><Relationship Id="rId49" Type="http://schemas.openxmlformats.org/officeDocument/2006/relationships/slide" Target="slides/slide69.xml"/><Relationship Id="rId50" Type="http://schemas.openxmlformats.org/officeDocument/2006/relationships/slide" Target="slides/slide70.xml"/><Relationship Id="rId51" Type="http://schemas.openxmlformats.org/officeDocument/2006/relationships/slide" Target="slides/slide71.xml"/><Relationship Id="rId52" Type="http://schemas.openxmlformats.org/officeDocument/2006/relationships/slide" Target="slides/slide72.xml"/><Relationship Id="rId53" Type="http://schemas.openxmlformats.org/officeDocument/2006/relationships/slide" Target="slides/slide73.xml"/><Relationship Id="rId54" Type="http://schemas.openxmlformats.org/officeDocument/2006/relationships/slide" Target="slides/slide74.xml"/><Relationship Id="rId55" Type="http://schemas.openxmlformats.org/officeDocument/2006/relationships/slide" Target="slides/slide75.xml"/><Relationship Id="rId56" Type="http://schemas.openxmlformats.org/officeDocument/2006/relationships/slide" Target="slides/slide76.xml"/><Relationship Id="rId57" Type="http://schemas.openxmlformats.org/officeDocument/2006/relationships/slide" Target="slides/slide77.xml"/><Relationship Id="rId58" Type="http://schemas.openxmlformats.org/officeDocument/2006/relationships/slide" Target="slides/slide78.xml"/><Relationship Id="rId59" Type="http://schemas.openxmlformats.org/officeDocument/2006/relationships/slide" Target="slides/slide79.xml"/><Relationship Id="rId60" Type="http://schemas.openxmlformats.org/officeDocument/2006/relationships/slide" Target="slides/slide80.xml"/><Relationship Id="rId61" Type="http://schemas.openxmlformats.org/officeDocument/2006/relationships/slide" Target="slides/slide81.xml"/><Relationship Id="rId62" Type="http://schemas.openxmlformats.org/officeDocument/2006/relationships/slide" Target="slides/slide82.xml"/><Relationship Id="rId63" Type="http://schemas.openxmlformats.org/officeDocument/2006/relationships/slide" Target="slides/slide83.xml"/><Relationship Id="rId64" Type="http://schemas.openxmlformats.org/officeDocument/2006/relationships/slide" Target="slides/slide84.xml"/><Relationship Id="rId65" Type="http://schemas.openxmlformats.org/officeDocument/2006/relationships/slide" Target="slides/slide85.xml"/><Relationship Id="rId66" Type="http://schemas.openxmlformats.org/officeDocument/2006/relationships/slide" Target="slides/slide86.xml"/><Relationship Id="rId67" Type="http://schemas.openxmlformats.org/officeDocument/2006/relationships/slide" Target="slides/slide87.xml"/><Relationship Id="rId68" Type="http://schemas.openxmlformats.org/officeDocument/2006/relationships/slide" Target="slides/slide88.xml"/><Relationship Id="rId69" Type="http://schemas.openxmlformats.org/officeDocument/2006/relationships/slide" Target="slides/slide89.xml"/><Relationship Id="rId70" Type="http://schemas.openxmlformats.org/officeDocument/2006/relationships/slide" Target="slides/slide90.xml"/><Relationship Id="rId71" Type="http://schemas.openxmlformats.org/officeDocument/2006/relationships/slide" Target="slides/slide91.xml"/><Relationship Id="rId72" Type="http://schemas.openxmlformats.org/officeDocument/2006/relationships/slide" Target="slides/slide92.xml"/><Relationship Id="rId73" Type="http://schemas.openxmlformats.org/officeDocument/2006/relationships/slide" Target="slides/slide93.xml"/><Relationship Id="rId74" Type="http://schemas.openxmlformats.org/officeDocument/2006/relationships/slide" Target="slides/slide94.xml"/><Relationship Id="rId75" Type="http://schemas.openxmlformats.org/officeDocument/2006/relationships/slide" Target="slides/slide95.xml"/><Relationship Id="rId76" Type="http://schemas.openxmlformats.org/officeDocument/2006/relationships/slide" Target="slides/slide96.xml"/><Relationship Id="rId77" Type="http://schemas.openxmlformats.org/officeDocument/2006/relationships/slide" Target="slides/slide97.xml"/><Relationship Id="rId78" Type="http://schemas.openxmlformats.org/officeDocument/2006/relationships/slide" Target="slides/slide98.xml"/><Relationship Id="rId79" Type="http://schemas.openxmlformats.org/officeDocument/2006/relationships/slide" Target="slides/slide99.xml"/><Relationship Id="rId80" Type="http://schemas.openxmlformats.org/officeDocument/2006/relationships/slide" Target="slides/slide100.xml"/><Relationship Id="rId81" Type="http://schemas.openxmlformats.org/officeDocument/2006/relationships/slide" Target="slides/slide101.xml"/><Relationship Id="rId82" Type="http://schemas.openxmlformats.org/officeDocument/2006/relationships/slide" Target="slides/slide102.xml"/><Relationship Id="rId83" Type="http://schemas.openxmlformats.org/officeDocument/2006/relationships/slide" Target="slides/slide103.xml"/><Relationship Id="rId84" Type="http://schemas.openxmlformats.org/officeDocument/2006/relationships/slide" Target="slides/slide104.xml"/><Relationship Id="rId85" Type="http://schemas.openxmlformats.org/officeDocument/2006/relationships/slide" Target="slides/slide105.xml"/><Relationship Id="rId86" Type="http://schemas.openxmlformats.org/officeDocument/2006/relationships/slide" Target="slides/slide106.xml"/><Relationship Id="rId87" Type="http://schemas.openxmlformats.org/officeDocument/2006/relationships/slide" Target="slides/slide107.xml"/><Relationship Id="rId88" Type="http://schemas.openxmlformats.org/officeDocument/2006/relationships/slide" Target="slides/slide108.xml"/><Relationship Id="rId89" Type="http://schemas.openxmlformats.org/officeDocument/2006/relationships/slide" Target="slides/slide109.xml"/><Relationship Id="rId90" Type="http://schemas.openxmlformats.org/officeDocument/2006/relationships/slide" Target="slides/slide110.xml"/><Relationship Id="rId91" Type="http://schemas.openxmlformats.org/officeDocument/2006/relationships/slide" Target="slides/slide111.xml"/><Relationship Id="rId92" Type="http://schemas.openxmlformats.org/officeDocument/2006/relationships/slide" Target="slides/slide112.xml"/><Relationship Id="rId93" Type="http://schemas.openxmlformats.org/officeDocument/2006/relationships/slide" Target="slides/slide113.xml"/><Relationship Id="rId94" Type="http://schemas.openxmlformats.org/officeDocument/2006/relationships/slide" Target="slides/slide114.xml"/><Relationship Id="rId95" Type="http://schemas.openxmlformats.org/officeDocument/2006/relationships/slide" Target="slides/slide115.xml"/><Relationship Id="rId96" Type="http://schemas.openxmlformats.org/officeDocument/2006/relationships/slide" Target="slides/slide116.xml"/><Relationship Id="rId97" Type="http://schemas.openxmlformats.org/officeDocument/2006/relationships/slide" Target="slides/slide117.xml"/><Relationship Id="rId98" Type="http://schemas.openxmlformats.org/officeDocument/2006/relationships/slide" Target="slides/slide118.xml"/><Relationship Id="rId99" Type="http://schemas.openxmlformats.org/officeDocument/2006/relationships/slide" Target="slides/slide119.xml"/><Relationship Id="rId100" Type="http://schemas.openxmlformats.org/officeDocument/2006/relationships/slide" Target="slides/slide120.xml"/><Relationship Id="rId101" Type="http://schemas.openxmlformats.org/officeDocument/2006/relationships/slide" Target="slides/slide121.xml"/><Relationship Id="rId102" Type="http://schemas.openxmlformats.org/officeDocument/2006/relationships/slide" Target="slides/slide122.xml"/><Relationship Id="rId103" Type="http://schemas.openxmlformats.org/officeDocument/2006/relationships/slide" Target="slides/slide123.xml"/><Relationship Id="rId104" Type="http://schemas.openxmlformats.org/officeDocument/2006/relationships/slide" Target="slides/slide124.xml"/><Relationship Id="rId105" Type="http://schemas.openxmlformats.org/officeDocument/2006/relationships/slide" Target="slides/slide125.xml"/><Relationship Id="rId106" Type="http://schemas.openxmlformats.org/officeDocument/2006/relationships/slide" Target="slides/slide126.xml"/><Relationship Id="rId107" Type="http://schemas.openxmlformats.org/officeDocument/2006/relationships/slide" Target="slides/slide127.xml"/><Relationship Id="rId108" Type="http://schemas.openxmlformats.org/officeDocument/2006/relationships/slide" Target="slides/slide128.xml"/><Relationship Id="rId109" Type="http://schemas.openxmlformats.org/officeDocument/2006/relationships/slide" Target="slides/slide129.xml"/><Relationship Id="rId110" Type="http://schemas.openxmlformats.org/officeDocument/2006/relationships/slide" Target="slides/slide130.xml"/><Relationship Id="rId111" Type="http://schemas.openxmlformats.org/officeDocument/2006/relationships/slide" Target="slides/slide131.xml"/><Relationship Id="rId112" Type="http://schemas.openxmlformats.org/officeDocument/2006/relationships/slide" Target="slides/slide132.xml"/><Relationship Id="rId113" Type="http://schemas.openxmlformats.org/officeDocument/2006/relationships/slide" Target="slides/slide133.xml"/><Relationship Id="rId114" Type="http://schemas.openxmlformats.org/officeDocument/2006/relationships/slide" Target="slides/slide134.xml"/><Relationship Id="rId115" Type="http://schemas.openxmlformats.org/officeDocument/2006/relationships/slide" Target="slides/slide135.xml"/><Relationship Id="rId116" Type="http://schemas.openxmlformats.org/officeDocument/2006/relationships/slide" Target="slides/slide136.xml"/><Relationship Id="rId117" Type="http://schemas.openxmlformats.org/officeDocument/2006/relationships/slide" Target="slides/slide137.xml"/><Relationship Id="rId118" Type="http://schemas.openxmlformats.org/officeDocument/2006/relationships/slide" Target="slides/slide138.xml"/><Relationship Id="rId119" Type="http://schemas.openxmlformats.org/officeDocument/2006/relationships/slide" Target="slides/slide139.xml"/><Relationship Id="rId120" Type="http://schemas.openxmlformats.org/officeDocument/2006/relationships/slide" Target="slides/slide140.xml"/><Relationship Id="rId121" Type="http://schemas.openxmlformats.org/officeDocument/2006/relationships/slide" Target="slides/slide141.xml"/><Relationship Id="rId122" Type="http://schemas.openxmlformats.org/officeDocument/2006/relationships/slide" Target="slides/slide142.xml"/><Relationship Id="rId123" Type="http://schemas.openxmlformats.org/officeDocument/2006/relationships/slide" Target="slides/slide143.xml"/><Relationship Id="rId124" Type="http://schemas.openxmlformats.org/officeDocument/2006/relationships/slide" Target="slides/slide144.xml"/><Relationship Id="rId125" Type="http://schemas.openxmlformats.org/officeDocument/2006/relationships/slide" Target="slides/slide145.xml"/><Relationship Id="rId126" Type="http://schemas.openxmlformats.org/officeDocument/2006/relationships/slide" Target="slides/slide146.xml"/><Relationship Id="rId127" Type="http://schemas.openxmlformats.org/officeDocument/2006/relationships/slide" Target="slides/slide147.xml"/><Relationship Id="rId128" Type="http://schemas.openxmlformats.org/officeDocument/2006/relationships/slide" Target="slides/slide148.xml"/><Relationship Id="rId129" Type="http://schemas.openxmlformats.org/officeDocument/2006/relationships/slide" Target="slides/slide149.xml"/><Relationship Id="rId130" Type="http://schemas.openxmlformats.org/officeDocument/2006/relationships/slide" Target="slides/slide150.xml"/><Relationship Id="rId131" Type="http://schemas.openxmlformats.org/officeDocument/2006/relationships/slide" Target="slides/slide151.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 Id="rId137" Type="http://schemas.openxmlformats.org/officeDocument/2006/relationships/slide" Target="slides/slide2.xml"/><Relationship Id="rId138" Type="http://schemas.openxmlformats.org/officeDocument/2006/relationships/slide" Target="slides/slide3.xml"/><Relationship Id="rId139" Type="http://schemas.openxmlformats.org/officeDocument/2006/relationships/slide" Target="slides/slide4.xml"/><Relationship Id="rId140" Type="http://schemas.openxmlformats.org/officeDocument/2006/relationships/slide" Target="slides/slide5.xml"/><Relationship Id="rId141" Type="http://schemas.openxmlformats.org/officeDocument/2006/relationships/slide" Target="slides/slide6.xml"/><Relationship Id="rId142" Type="http://schemas.openxmlformats.org/officeDocument/2006/relationships/slide" Target="slides/slide7.xml"/><Relationship Id="rId143" Type="http://schemas.openxmlformats.org/officeDocument/2006/relationships/slide" Target="slides/slide8.xml"/><Relationship Id="rId144" Type="http://schemas.openxmlformats.org/officeDocument/2006/relationships/slide" Target="slides/slide9.xml"/><Relationship Id="rId145" Type="http://schemas.openxmlformats.org/officeDocument/2006/relationships/slide" Target="slides/slide10.xml"/><Relationship Id="rId146" Type="http://schemas.openxmlformats.org/officeDocument/2006/relationships/slide" Target="slides/slide11.xml"/><Relationship Id="rId147" Type="http://schemas.openxmlformats.org/officeDocument/2006/relationships/slide" Target="slides/slide12.xml"/><Relationship Id="rId148" Type="http://schemas.openxmlformats.org/officeDocument/2006/relationships/slide" Target="slides/slide13.xml"/><Relationship Id="rId149" Type="http://schemas.openxmlformats.org/officeDocument/2006/relationships/slide" Target="slides/slide14.xml"/><Relationship Id="rId150" Type="http://schemas.openxmlformats.org/officeDocument/2006/relationships/slide" Target="slides/slide15.xml"/><Relationship Id="rId151" Type="http://schemas.openxmlformats.org/officeDocument/2006/relationships/slide" Target="slides/slide16.xml"/><Relationship Id="rId152" Type="http://schemas.openxmlformats.org/officeDocument/2006/relationships/slide" Target="slides/slide17.xml"/><Relationship Id="rId153" Type="http://schemas.openxmlformats.org/officeDocument/2006/relationships/slide" Target="slides/slide18.xml"/><Relationship Id="rId154" Type="http://schemas.openxmlformats.org/officeDocument/2006/relationships/slide" Target="slides/slide19.xml"/><Relationship Id="rId155" Type="http://schemas.openxmlformats.org/officeDocument/2006/relationships/slide" Target="slides/slide20.xml"/><Relationship Id="rId156" Type="http://schemas.openxmlformats.org/officeDocument/2006/relationships/slide" Target="slides/slide21.xml"/><Relationship Id="rId157"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See that fork in the road in the middle? That's the router — the most important decision point. It asks: 'Is this BASIC — just chat, no tools needed?' Or is it AGENT — meaning 'This needs some real processing, tools, maybe multiple steps.' We're gonna spend the next 40 slides unpacking every box in this 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before we get into the gnarly implementation details, let's just orient ourselves. Where does everything live in this codebase? That matters because if you ever want to change something, you need to know where to find it. This section is basically a map — frontend, backend, data files, Docker setup, the whole layout.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 the demo notebook is the first thing to run when you clone the repo. Interactive walkthrough using only the public API — doubles as an integration test. BackendServerManager starts FastAPI, polls health, auto-kills on shutdown. Watch SSE events stream in real-time, see workers dispatched, jobs complete.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multi-stage Dockerfile is elegant: both React admin and Python backend in one image. Stage 1 builds React, stage 2 copies files and installs Python. entrypoint.sh handles migrations and uvicorn startup. docker-compose brings everything up: postgres with pgvector, ollama, app, openwebui. Langfuse is ready to go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API gateway section now. This is where HTTP requests arrive. FastAPI validates, hands off to RuntimeService. The gateway is intentionally minimal — just enough to be safe, keeps concerns separated.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48 public endpoints across 12 categories. Notable additions since v2: /v1/connector/chat for third-party integrations, /v1/agents returns agent configs, five graph endpoints (list, get, index, import, query), eight MCP connection endpoints, five jobs/tasks endpoints, four team mailbox endpoints, health probes at /health/live and /health/ready, and capabilities/users endpoints. Admin endpoints (70 of them) are in control_panel/routes.py behind X-Admin-Token auth.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boxes left to right — the exact sequence. Client POSTs, FastAPI finds or creates session, calls RuntimeService.process_turn(). Response comes back as SSE so client sees progress: 'Routing...', 'Retrieving...', 'Generating...' progress_sink hooks into event system for live updates.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three-layer architecture. This is THE concept you need to understand. Every request goes through these three layers.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RuntimeService doesn't know HOW to run an agent, just WHICH agent to run. try/finally around progress cleanup prevents resource leaks. Circuit breaker chain: if agent's provider is down, falls back to basic mode with different provider. If even that fails, returns graceful degraded message. API callers can pass requested_agent_override to force specific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is the operations manager. Splits into three controllers: KernelCoordinatorController for pipeline, KernelProviderController for LLM selection, KernelEventController for observability. Core kernel.py is 1780 lines now — much cleaner because complex logic is broken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sophisticated: planner makes plan, workers run in parallel (max 4), finalizer synthesizes, verifier fact-checks. Handoff artifact system: workers produce typed artifacts (analysis_summary, entity_candidates), next worker consumes them. Each artifact has allowlist. Verification loops back, but caps at 4 rounds.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QueryLoop is the execution engine. Takes agent name, looks up agent's definition, checks mode field, dispatches to right method. Simple and data-driven.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'knows' what it can do — it's a sandwich assembled fresh. Base layer is skill file (personality, rules). Task context adds query, history. Skill injections are matched guidance docs — evolve without code. Memory layer surfaces stored facts. Tool descriptions auto-generated. Evidence layer (RAG only) has retrieved chunks. Key: all computed fresh each 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PromptBuilder looks simple — 30 lines — but linchpin of customization. Two-directory pattern: check overlay first, fall back to defaults. Ship defaults, let operators customize. Admin edits prompt, gets written to overlays/, next request PromptBuilder finds it. To roll back, delete overlay. No restart. FileNotFoundError is intentional.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LLMs have output limits, get truncated. LongOutputComposer breaks into sections. Asks for plan first, generates each section independently. If truncated, retries shorter. Big requests run in background. Three modes: chat, file, hybrid. Pretty flexible.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system is the critical decision point. Quality of routing determines if user gets fast answer or deep analysis. Two-phase: fast regex, optional LLM judge.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carefully tuned, load once, cached. One match = 0.75 confidence, two = 0.90. Attachments route AGENT (1.0 confidence). Long inputs route AGENT. Short unmatched routes BASIC (0.85). Dynamic discovery from registry.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 is a safety net for ambiguous cases. Uses Pydantic for structured output. Falls back to text parsing. Sees agent descriptions from registry dynamically. Both modes have circuit breaker — if judge is down, graceful fallback to regex.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safety net between router and execution. choose_agent_name() validates router's suggestion. If doesn't exist, fall back to default. Also coordinator override and requested_agent_override. Clean separation: router suggests, policy validates, kernel executes.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Elegant design choice: agents are data in markdown files, not Python classes. Runtime reads files, validates, configures generic modes. Adding agent = creating .md file. Control panel can modify at runtime via overlays.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code block is a complete agent definition. Name is unique identifier. Mode determines QueryLoop method. allowed_tools is enforced allowlist. system_prompt_file points to skill. role_kind controls standalone vs worker. Registry loads .md files, validates, makes available.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has 11 agents. Key tool count updates from the latest audit: general has 33 tools (including MCP wildcard for dynamic tool discovery), coordinator has 11 tools (spawn_worker, message_worker, team mailbox tools, etc.), data_analyst has 20 tools (analyst + team mailbox + invoke_agent), graph_manager has 12 tools, utility has 13 tools, verifier has 13 tools (RAG + graph). basic, rag_worker, planner, and finalizer have 0 tools. memory_maintainer has 3. Coordinator now has 9 allowed workers including graph_manager.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data_analyst definition — most tool-rich agent. execution_strategy 'plan_execute' is variant of ReAct: plan first, execute step by step. allowed_tools enforced at executor — LLM can't call outside. role_kind 'top_level_or_worker' means routable and usable as worker.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five different request types. Architecture comes alive — real scenarios traced end-to-end.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powerful flow. User asks multi-part task. Router detects 'multi-step', routes to coordinator. Planner breaks into subtasks. Workers run parallel. Finalizer synthesizes. Verifier fact-checks. Loop back if issues. Cap at 4 rounds.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the hands. 20+ tools: document access, code execution, memory, calculator, graph queries. Tool executor validates against agent's allowed_tools before executing. Prevents agents from accessing tools they shouldn't.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separation across layers. ToolDefinition, ToolInvoker handle registration and execution. ToolExecutor validates against allowlist. Strategies handle loops like ReAct. Each knows termination: ReAct loops until answer complete or max steps.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two tiers of RAG tools. Main tools like list_indexed_docs let agents directly access KB. rag_agent_tool is high-level interface — agents describe in natural language, RAG system handles retrieval and synthesis.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tools/groups/ is factory pattern. Each directory exposes one factory. Call it at startup, dynamically loaded tools. Easy to add without modifying core.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definitions — name, description, parameters. ToolInvoker is executor. agent's allowed_tools references names. Tool executor validates name in list before calling.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make system smarter without code. Markdown docs injected when relevant. SkillRuntime retrieves via semantic search. Add skill, index it, next relevant query uses it. Learned guidance, not hard-coded.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is core execution mode for agents with tools. Think what to do (reason), call tool (act), observe, repeat. LangGraph implementation. Max steps prevent loops. Tool executor catches failures, lets agent retry.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examine each agent. Not all top-level — some only as coordinator workers. But all special in what they 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agent is simplest path. Zero tools, single LLM call. Routed for questions needing no special processing. Fast, cheap, good for simple chat.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is workhorse — Swiss army knife. 17 tools, ReAct mode. Do almost anything: calculate, access docs, memory, search skills, spawn workers. Top-level agent.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senior project manager — plans and delegates, doesn't do work. In coordinator mode, kernel handles execution. Spawns workers, collects results, finalizer synthesizes, verifier fact-checks. Special handling.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data analyst is our powerhouse — 20 tools, 4 dedicated skill packs, and the only agent that can actually run code. It uses plan_execute strategy, meaning it writes a full analysis plan before touching any data. That's a big deal — it produces way more reliable results than ad-hoc tool calling. The sandbox runs Python 3.12 in Docker with no network, 512MB RAM, 60-second timeout. Workspace is bind-mounted so it reads uploaded files directly. It also has invoke_agent now, so it can hand off non-analyst work to other agents mid-turn.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why we can let an LLM write and run arbitrary Python without losing sleep. Docker sandbox: fresh container each time, no network at all, 512MB RAM cap, 60-second timeout. If the LLM writes an infinite loop, Docker kills it. If it tries to call home, network is off. Workspace bind-mount lets agents read uploaded files and write results back. Output capped at 50KB so a rogue print statement can't blow up memory. Package whitelist catches bad imports before the container even starts. It's a really clean isolation model.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rag_worker is totally different from every other agent — zero tools, no ReAct loop. It has its own dedicated pipeline: hybrid retrieval, judge grading, synthesis, citations. Returns a structured contract, not free text. The cool part is evidence_only mode — when the coordinator dispatches it, it can skip synthesis and just return graded chunks. That way the finalizer controls the final format and can combine evidence from multiple rag_workers. Execution hints let skills automatically configure retrieval strategy — corpus discovery, comparison campaign, targeted search — all without the user specifying anything.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never talk to users directly — they only run inside the coordinator pipeline. Think of it as an assembly line. The planner breaks down the request into a structured JSON plan with tasks, executors, and dependencies. The finalizer takes all the worker outputs and weaves them into one coherent answer. And the verifier is the quality check — it's the only coordinator-only agent with tools, because it needs independent KB access to fact-check the finalizer. If verification fails, the coordinator loops back with feedback. That loop is what gives us real quality guarantees.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agents with very different jobs. Utility is the coordinator's lightweight helper — calculator, doc listing, skill lookups, max 8 steps. When the coordinator just needs a quick computation, it doesn't spin up the full data analyst. Memory maintainer runs quietly after every turn, looking for patterns like 'remember that...' or 'I prefer...' and persisting them. Two scopes: conversation memory that lives for the chat session, and user memory that persists across sessions. Only explicit requests like 'remember this' trigger persistent writes — we don't silently memorize everything.</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all the agents. Now let's go deeper into the infrastructure that makes everything actually work in production — RAG pipeline internals, persistence, observability, and security.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we've got evidence in hand. Now synthesis.py does the heavy lifting: it deduplicates chunks by fingerprint so you never cite the same thing twice, ranks them by title relevance and length, then limits to 6 so the LLM prompt stays tight. The LLM generates a grounded answer with citations. But here's where it gets clever — if the LLM response breaks or JSON extraction fails, we have a fallback: scan the docs for domain theme markers and assemble a plain-language answer from snippet summaries without making anything up. The fallback always works, even when everything else fails.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critical infrastructure change. The knowledge base used to support file-based storage as a fallback. Not anymore. We're fully on PostgreSQL with pgvector — no file-based fallback. This gives us production-grade vector search, full-text indexing, and structured clause retrieval. Session state uses the typed SessionState dataclass which serializes to/from dict for persistence, and we've added pending task notifications so users see when background jobs complete. Uploads and workspace files are still filesystem-based per-session.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observability is layered, which is a design choice we made intentionally. Every significant action emits a typed RuntimeEvent — think of it like a structured log entry with event_type, session_id, job_id, and an open dict for custom data. These events fan out through RuntimeEventSink implementations. In tests and basic mode, they get dropped. In production, we fan out to multiple sinks simultaneously: base sinks get every event, per-session sinks only get their session's events. Langfuse integration hooks in automatically — when you set LANGFUSE_PUBLIC_KEY and SECRET, LLM traces flow there with zero code changes. And we have timed_span(), a context manager to measure latency on any code block without changing the structure.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Defense-in-depth isn't a slogan here — it's how we actually built security. Docker sandbox, allowlists per agent, filename validation, size limits. No single layer is sufficient alone, and that's the point. The idea is that if one layer breaks, the others catch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reliability systems we added to keep the system up when things go wrong. First: the circuit breaker, which stops us from hammering a provider that's having a bad day. Second: the LiveProgressSink that translates internal events into real-time SSE messages for the client UI. Third: provider validation at startup so misconfiguration errors surface immediately instead of mid-request.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circuit breaker is a proven resilience pattern we adapted for LLM providers. Each provider/model combo gets its own breaker. When it's CLOSED, calls go through and we track success/fail in a rolling window. If error rate hits 50% or we see three consecutive failures, the breaker trips OPEN and starts rejecting calls immediately — prevents hammering a failing provider. After 30 seconds, we transition to HALF-OPEN: one probe call is allowed. If it succeeds, we reset to CLOSED. If it fails, back to OPEN. The whole thing emits observability events so you can alert on it. And when a breaker trips, the runtime degradesgracefully by trying a different provider or falling back to basic mode.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the UI magic happens. LiveProgressSink implements RuntimeEventSink and sits in the session's composite sink. It receives every RuntimeEvent for that request and translates them into SSE JSON. A router_decision event becomes a route_decision SSE message with label, why, and confidence. A worker_agent_started becomes a worker_start with task title and doc scope. Internally it uses a thread-safe queue — when the request finishes, we push None as a terminator. The SSE generator reads off the queue and formats as 'data: {json}' until it sees None. So the client sees real-time updates like 'Planning tasks' → 'Dispatching workers' → 'Worker 1: analyzing contracts' → 'Final synthesis complete' without any polling. Events not in our phase labels are either handled specifically or dropped to avoid noise.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elegant part of the provider design. AgentProviderResolver.for_agent() answers one question: 'which model does this agent use?' First, we check agent-specific overrides — data_analyst can be gpt-4o while rag_worker is gpt-4o-mini. Fallback is the global setting. Judge and embeddings follow the same pattern. The LRU cache is performance magic: if two agents use the same model and token cap, they share the same provider instance instead of creating redundant connections. ProviderBundle bundles chat, judge, and embeddings together so agents always have access to all three. This means you can tune models at any granularity without touching code.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caps and validation work as a pair. Output caps prevent runaway generation — the 5-level priority chain means you can tune at any granularity. Request params override agent-specific settings, which override demo settings, which override global. Demo environments get their own cap so testing doesn't run up costs. Provider validation runs at startup before any requests hit. If Azure isn't HTTPS, you get a specific error with the exact env var to fix. If langchain_openai isn't installed but you configured it, the error tells you the exact pip command to run. This fast-fail approach means misconfiguration surfaces immediately instead of as cryptic runtime errors mid-request.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work together here. The AgentRegistry is the runtime index of all agent definitions, and the Control Panel is the admin interface for hot-reloading them. We load agents from markdown files and validate them strictly so typos become errors, not silent bugs. And admins can modify agents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AgentRegistry scans two directories: the main agents_dir and an optional overlay_dir managed by the Control Panel. When both have the same agent, overlay wins. This means admins can modify definitions without touching source files. reload() happens once at startup and again whenever Control Panel triggers a hot-reload. The registry exposes discovery helpers: is_routable() filters by role_kind or entry_path to find agents the router can send users to. get_default_agent_name() finds the default agent. Pydantic validation is strict — extra='forbid' means unknown fields cause an error, mode must be one of 8 known values, prompt_file must end in .md. This catches typos like 'react ' with a space or unknown modes that would silently break.</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Panel is a separate FastAPI router at /control-panel with auth on every request via X-Admin-Token header. When an admin calls POST /config/apply, the flow is: validate each key against ConfigCatalog, write to OverlayStore, then call RuntimeManager.reload() which rebuilds RuntimeService thread-safely with RLock. All changes go to audit_log.jsonl with actor, timestamp, changed keys, and previous values. Overlays are separate .md files for prompts and agents, so we keep source code clean and admin customizations separate. If anything fails during reload, we restore the original os.environ — no half-applied state corruption.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biggest architectural improvements: the contracts/ module. Before, data flowed between modules as raw dicts or loosely-typed LangChain objects. Now every major data type has a typed dataclass with to_dict() and from_dict(). This makes debugging dramatically easier and evolution safer. Let me walk through what those contracts are.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contracts/ is the skeleton of the whole system. AgentDefinition is now a proper dataclass — when you read an agent YAML, it's parsed into AgentDefinition and typos become validation errors, not silent bugs. RuntimeMessage bridges LangChain's HumanMessage/AIMessage/ToolMessage to our format with extra fields like message_id, created_at, and artifact_refs. SessionState replaces ChatSession and is fully serializable to dict for persistence, plus it includes pending_notifications for background job completions. RagContract defines what every RAG pipeline returns — any code calling RAG gets a guaranteed shape. ToolDefinition captures rich metadata: whether a tool is read_only, destructive, or background_safe so the executor can make smarter decisions.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critical infrastructure decision. The system now requires PostgreSQL with pgvector for all chunk, document, and skill storage. This is a hard requirement, not an option. No file-based fallback. This gives us production-grade ANN vector search, full-text indexing, and structured clause retrieval in one database.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is mandatory. load_stores() in rag/stores.py throws NotImplementedError for any other backend — that's intentional. The psycopg2 ThreadedConnectionPool initializes at startup via init_pool(), and apply_schema() runs the schema SQL so it's safe to call repeatedly. pgvector provides the vector column type and HNSW indexing for approximate nearest neighbor search, with cosine distance via the &lt;=&gt; operator. Embedding dimension is configurable and we provide utilities to dynamically ALTER the column dimension if you swap embedding models — drops the HNSW index, alters the column, lets you rebuild. Full-text search uses PostgreSQL's built-in tsvector for BM25-style keyword matching alongside vector search.</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KnowledgeStores is a simple dataclass that bundles all storage backends together — think of it as the database connection object for the whole system. ChunkStore is the workhorse: it does vector search via pgvector HNSW with cosine distance, and keyword search via tsvector. But here's the interesting part — it also has structured retrieval: get_chunks_by_clause() fetches exact clause numbers, get_structure_outline() returns the clause hierarchy, get_requirement_chunks() finds all 'shall' and 'must' requirements. DocumentStore handles document-level operations including fuzzy title matching via trigram similarity. The graph_store is optional — early-stage knowledge graph for multi-hop reasoning. Memory store is currently None — placeholder for future database-backed memory.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exploded beyond simple vector retrieval. We're now doing three major things: detecting document structure and splitting at clause boundaries instead of character boundaries, providing 19 specialist RAG tools for fine-grained knowledge base access, and running parallel RAG search tasks across multiple workers.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uploading a contract with 'Clause 3.2: Indemnification' and 'Clause 10: Termination'. Old approach? Split at character boundaries and lose structure. New approach: detect the clause headers via regex, split only at those boundaries. Each chunk gets tagged with chunk_type (clause, requirement, section, etc.) and clause_number. These tags live in PostgreSQL. This unlocks qualitatively different retrieval: instead of 'find chunks semantically similar to indemnification', you can call extract_clauses('clause 3.2') and get the exact text. The requirement detector catches 'shall', 'must', and 'REQ-001' style requirements, enabling get_requirement_chunks() for compliance checking and contract analysis. That's critical for the domain.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specialist RAG tools are created by make_all_rag_tools() and backed directly by PostgreSQL — they bypass the high-level RAG agent tool pipeline. This gives agents much finer control. For example: resolve_document uses fuzzy matching to find actual doc_id from 'the safety policy'. fetch_chunk_window gets a chunk plus its neighbors, perfect for expanding context. compare_clauses extracts matching clause numbers from two docs side by side — great for version comparisons. diff_documents gives structural diffs based on which clauses exist in each. The graph search tools are optional — if the graph store isn't configured, they return a helpful message. Tools also include scratchpad_write/read/list for agents to maintain session state. Full LangChain tool system, so composable with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parallel retrieval happens. The adaptive RAG engine breaks a complex query into multiple RagSearchTask objects — each with task_id, query, doc_scope, strategies, and answer_mode. It calls RagRuntimeBridge.run_search_tasks(). The bridge creates a RuntimeJobManager job for each task. If parallel is possible — multiple tasks, not Ollama, provider supports it — all jobs start as background jobs and we wait for completion. Otherwise they run inline. Results are extracted from each job's result_metadata and aggregated into RagSearchBatchResult with a parallel_workers_used flag. So you can search doc A and doc B simultaneously, or run semantic plus keyword search in parallel.</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RagExecutionHints is the control plane for adaptive RAG. research_profile drives which strategy to use: corpus_discovery switches to broad semantic sweeps, comparison_campaign triggers side-by-side clause extraction, process_flow_identification prefers process_flow or clause chunks. coverage_goal controls breadth: corpus_wide means everywhere, targeted means the most relevant doc. result_mode controls output format: inventory returns a structured list, comparison_table structures side-by-side. controller_hints is the escape valve: force_keyword_only disables vectors, disable_judge_grading skips the slow LLM step, max_rounds overrides the limit. Three sources merge: explicit hints win, then skill-driven hints, then heuristic inference. merge_rag_execution_hints() fills blanks from lower-priority sources.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rag/adaptive.py is the largest file in the codebase and the most sophisticated. It's the adapter layer between the RAG engine contract and PostgreSQL. EvidenceLedger deduplicates and grades — every chunk enters with its strategy tag. If the same chunk appears in vector and keyword results, it scores higher but only counts once. apply_grades() attaches LLM judge scores 0-1. materialize_documents() selects the best max_chunks using vector similarity, keyword score, and judge grade. CorpusRetrievalAdapter.search_corpus() runs hybrid retrieval with vector and keyword, then merges and deduplicates. _rerank_with_query_heuristics() gives a bonus to docs whose titles match query terms. _rewrite_query() calls the judge to rephrase ambiguous queries. The multi-round loop is adaptive: it monitors coverage after each round and decides whether another round with different strategies is needed.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WorkbookLoader solves a problem naive CSV ingestion ignores: tabular data has structure. Plain CSV chunks produce 'APAC,1200000,0.15,7,controller_A' — data analysts then decode this. WorkbookLoader produces 'Region: APAC | Annual_Spend_USD: 1200000 | Reserve_Target_Pct: 0.15 | Risk_Score: 7 | Control_Owner: controller_A'. Now queries like 'regions with risk score above 5' have something to match. Header detection scores the first 8 rows — points for multiple non-empty cells, unique values, alphabetic content, and cell length. Highest score becomes the header. This handles real-world patterns like title rows, date rows, blank rows before actual headers. _normalize_headers() deduplicates and fills blanks with Excel-column notation.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extended RAG tools address specific gaps. query_rewriter handles ambiguous queries. If the user asks 'termination provisions' and the doc uses 'cessation clauses', vector search might miss it. query_rewriter calls the judge with a specialized prompt to rewrite — considers conversation context and outputs original plus rewritten query with a changed flag. No cost if changed is False. chunk_expander solves context truncation. Chunk-level search returns individual chunks, but context is often in the preceding or following chunk. chunk_expander takes a chunk_id and window size, then fetches neighbors using the chunk_index in PostgreSQL. Window=2 gives 5 chunks total with full clause context preserved. Both use the standard @tool decorator and return JSON, fully composable with the rest of LangChain.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here's the engine that actually runs agent turns. When the kernel routes to an agent with tools, it doesn't just call the LLM once. It orchestrates a full tool-calling loop with plan execution, error recovery, and multi-strategy fallback.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 the system prompt by assembling base prompt, skill injections from SkillRuntime, memory context from MemoryContextBuilder (max 2000 chars), and tool descriptions. Step 2: run the tool loop. We use LangGraph's create_react_agent() when providers support tool binding (OpenAI, Anthropic, etc.). For others, we fall back to plan_execute: ask the LLM to generate a numbered plan, then execute each step explicitly. Step 3: detect truncation. If finish_reason='length' or 'max_tokens', the output was cut off — we enter recovery mode. Step 4: finalize. _finalize_messages() is the recovery engine with a cascade of strategies to ensure we never return an empty answer.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about reliability: we never crash or return empty. We have a cascade of recovery strategies. Strategy 1: the LLM produced a complete answer, return it. Strategy 2: if finish_reason was 'length', the LLM was cut off — we still return the partial output with a truncation notice. Strategy 3 (RAG Tool Fallback): if a rag_agent_tool returned valid JSON with 'answer' and 'citations' keys, we extract that directly. Strategy 4 (Tool Result Synthesis): we collect ALL tool call outputs from the message history and make a SECOND LLM call with a synthesis prompt. Strategy 5 is absolute last resort: a user-friendly error message. Each path is logged with reason codes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analyst fallback is a deterministic path when the ReAct loop fails. _build_data_analyst_code() is a heuristic code generator that knows the system's domain: looks for column patterns like 'region', 'annual_spend_usd', 'current_reserve_usd', 'reserve_target_pct', 'risk_score'. If it finds them, it generates pandas code to compute reserve gaps and rank regions by risk. If not, it falls back to generic 'print the first few rows' script. The scratchpad_write step writes the plan so the LLM can see what was attempted. The fallback respects max_tool_calls. After execute_code, stdout becomes the final answer — no synthesis needed. It's pragmatic: specific domain knowledge hardcoded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the coordinator gets smart. Instead of hardcoding what it does, the planner agent generates a task plan as JSON. This module parses, validates, and executes that plan as a dependency-aware DAG with smart fallback plans when the LLM-generated plan breaks or is missing.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TaskSpec is the atomic unit of the coordinator's work plan. Each task specifies WHO does it, HOW it relates to others via depends_on, and WHAT artifacts it produces/consumes. The DAG execution engine is beautifully simple: look at what's completed, find tasks whose dependencies are satisfied, run either sequential or parallel batch. Real pattern: task_1 (data analyst) runs first and produces analysis_summary. task_2 (rag_worker) depends on task_1 and consumes those artifacts — data-to-document handoff. tasks 3 and 4 have no dependencies, so they run together. normalise_task_plan() validates executor names and modes, falls back to build_fallback_plan() if the plan was malformed. TaskSpec.from_dict() auto-applies RAG execution hints to rag_worker tasks using infer_rag_execution_hints().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build_fallback_plan() is clever: when the LLM planner fails or returns nothing, this function generates a complete, well-structured task plan from pure regex and keyword matching — no LLM call needed. Patterns it detects: Data-to-document handoff — if the query mentions both structured data AND knowledge base topics, auto-generate a two-task pipeline. Document comparison — if you see 'compare' plus quoted doc names, generate parallel analysis tasks. Research campaigns — 'identify all documents', 'across the corpus', 'inventory' trigger multi-worker parallel search. Workbook research — if the campaign also mentions budget/KPI/procurement terms, add a data_analyst task to inspect with doc_focus artifacts. Everything else: _infer_executor() checks for CSV/Excel keywords (data_analyst), math/memory keywords (utility), document/policy keywords (rag_worker), or defaults to general. The coordinator is resilient — even with a broken LLM plan, it produces useful work.</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module tests the hardest RAG failure modes. The defense corpus is a set of curated questions with known answers, source documents, and difficulty levels. DefenseBenchmarkQuestion stores the right answer, which docs it comes from, and specific supporting references. Evaluation checks four things: Was the answer factually correct? Did the system include a citation? Did the citation match a source document? Did it use the correct (latest/approved) version? Entity confusion tests are important: in enterprise contexts, you have similar-sounding entities that RAG systems confuse. The benchmark also tests _AUTHORITY_HINTS — queries with 'current', 'latest', 'approved' should trigger version-aware retrieval. Run this after any retrieval pipeline changes to catch regressions.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artifacts are the data pipeline between coordinator workers. When a data_analyst finishes its analysis, it doesn't just write text to the transcript — it registers a typed handoff artifact with a structured payload. The next worker can consume that artifact, getting structured data instead of parsing free text.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handoff artifacts, workers communicate only through text — the next worker has to parse prose. With them, a data_analyst produces an analysis_summary artifact with structured highlights and keywords, and a subsequent rag_worker consumes it via list_handoff_artifacts(session, allowed_consumers=['rag_worker']). Allowed_consumers enforces access control: doc_focus is visible to data analysts but entity_candidates isn't. register_handoff_artifact() stores the artifact in session.metadata as a list of dicts. Each gets a unique artifact_id, type, producer task_id, summary string, and data payload. KernelCoordinatorController._prepare_handoff_artifacts() is called after each TaskResult. It calls _handoff_payload() to extract fields: for analysis_summary it takes the first 4000 chars plus highlights; for entity_candidates it regex-scans for capitalized multi-word tokens; for doc_focus it uses the task's doc_scope. It validates each payload against _HANDOFF_SCHEMA_KEYS — invalid ones are logged and skipped.</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13 feature gaps — concrete improvements identified by reading the codebase and applying agentic system best practices. Each item references a specific file and includes an implementation path. Four tiers: quick wins, UX improvements, operational hardening, and advanced capabilities.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quick wins. Each is isolated to a single file or endpoint, needs no new infrastructure, builds on existing patterns. Conversation export reuses artifact registration. History pagination reuses the existing transcript store. Skill diff extends the versioned skill store. Graph query caching wires an existing config value to the code. Document confidence scoring extends _prepare_synthesis_docs().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made progress. SSE streaming now has live_progress.py and status_tracker.py, streaming job-level status events. Gap: per-tool-call granularity. Memory v2 has MemoryEpisode, importance/confidence scoring, TTL hints, supersession tracking, and provenance. Gap: TTL enforcement and LLM summarizer to condense episodes.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limiting: Settings has the config key but nothing reads it at the API layer. slowapi is a FastAPI-native rate limiter — wrap endpoints with a decorator, store counters in memory or Redis. Structured audit trail: the current event system is fire-and-forget. We need a queryable per-turn log with request_id, user_id, tenant_id, timestamp, route_decision, tool_calls (name/input/output/latency), final_answer_length, and error. Cross-tenant validation: isolation is implemented correctly in stores, but the API layer trusts the tenant_id from the request without validating it against the authenticated user's allowed tenants.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Webhooks: polling works for demos but breaks production integrations. Trigger Slack notifications, Zapier zaps, or custom integrations the moment a job completes. HMAC signature prevents spoofing. Automated eval harness: this is agentic best practice — every production agent system needs continuous evaluation. The benchmark is skeletal. A proper harness runs golden-set test cases per agent mode nightly, measuring routing accuracy, retrieval recall, and answer quality with LLM-as-judge scoring. Regression alerts catch silent quality degradation. A/B testing: without comparison, model upgrades are guesses. Infrastructure already supports running any query against any model. Missing piece: parallel execution, response storage, and user preference capture.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major architectural additions since the original deep-dive. These aren't roadmap — they're built and in the codebase today.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this new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came about because we kept running into this problem: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update on operational stuff we spotted earlier: we've built both of these. The feedback loop now tracks whether routing decisions work or not, and it intelligently samples neutral cases so we're not drowning in review data. That feeds into model retraining quarterly. The scheduler is more sophisticated than before — it's got weighted-fair-queuing with three priority lanes: urgent for escalations, interactive for normal chat, background for batch work. Per-tenant token budgets mean one heavy analytical user can't starve everyone else out. Both are live right now.</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added seven new modules since the deep dive started. Authorization got a solid RBAC implementation — principals, roles, tenant-scoped access. Memory got the second version treatment: episodes, importance/confidence scoring, TTL hints, all built. For observability, we've got real-time job progress via SSE now. Tools can run in parallel waves when they don't conflict. Agents all have fallback prompts now so they keep working even if skill files go missing. And we added task decomposition — when someone asks for arithmetic plus data analysis plus synthesis all at once, the coordinator can split that up across specialists. It's all additive, no breaking changes.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picked twelve tools that unlock the most new capabilities. Web tools are first priority — right now agents are stuck in the indexed knowledge base, but web_search and fetch_url let them access the whole internet. Document generation is next — analyze data is great, but agents need to create actual deliverables like PDFs and spreadsheets. Notifications are critical for background jobs — if a report takes three minutes to generate, the user should get a Slack ping when it's done. Cloud storage means artifacts persist beyond one conversation. All of these follow the same contracts and policies we already have, so they integrate cleanly with agent allowlists and the policy framework.</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honestly the path of least resistance for making agents smarter without touching code. Each skill pack is just markdown with frontmatter — the system vector-searches and BM25-searches the query to find which ones are relevant, then injects them into the prompt. Domain skills teach legal patterns or financial templates. Workflow skills walk through multi-step processes like "first research, then summarize, then use generate_pdf." Integration skills show how to call external APIs. And error_recovery.md teaches agents to handle failures gracefully instead of just giving up — that's a foundational agentic pattern.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persistent workspace is probably the single biggest quality-of-life improvement for data analysts. Today every code execution spins up a fresh container — the agent can't build on what it just did. The workspace system already exists and is persistent, we just need to mount it automatically. Step one is literally mounting the workspace directory into Docker. Step two is a tool that shows what files are available so agents know what they have to work with. Step three is routing uploads into the workspace automatically. Step four is tracking lineage — which tools created which files from which inputs. And step five is the magic: index workspace files into the session's knowledge base so agents can search and cite their own work. You end up with what feels like a shared drive that accumulates work across the entire conversation.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weirdly split in the codebase. The original file-based store writes JSON and markdown. Then we added Postgres with semantic search, scoring, and confidence tracking. But they don't talk to each other — if Postgres goes down, the file store diverges and nobody notices. The Unified Facade is the fix: both get written to, both get read from, and on startup we sync them up. TTL enforcement matters because the field exists but doesn't actually do anything — memories just accumulate forever. Importance decay is elegant: a decision from three months ago shouldn't rank the same as one from this morning. We use exponential decay with different rates per memory type. Confidence filtering just means: don't use memories you're not sure about. Near-duplicate consolidation with vector clustering cleans up accumulated noise. Cross-session linking lets memories chain across conversations. Hard delete and archiving are required for GDPR compliance. Multi-language search fixes the English-only limitation.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sandbox is currently just "run this Python code in a container." The vision is a full workbench for data work. Folder upload is literally your request — accept a ZIP, extract it, figure out what kinds of files are in there, automatically organize into data/, docs/, code/, images/. The auto_organize tool is the smart layer that does the classification and creates the folder structure. For development work, install_package lets agents add new libraries and they stick around across subsequent code runs. git_clone pulls in code repos for analysis. Then data pipeline tools: data_profile gives instant exploratory data analysis, data_clean handles routine cleaning without requiring pandas code, batch_transform applies operations across multiple files, and export_report turns workspace artifacts into a polished final deliverable. There's also hardening work needed — size limits, concurrent access locks, swap limits, that kind of thing — but the core tools are all doable.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prompts are built is pretty clean: eight blocks get assembled in order — base mission, clarification policy, pending questions, resolved intent, active document focus, task context, skill context, and memory. Empty blocks get filtered out so the prompt doesn't bloat. Base prompts from agent markdown files define the mission and tool policy. Skills and memory get injected dynamically based on relevance. Fallback prompts make sure the system keeps working if skill files disappear. The big gap though is that none of these blocks tell the agent HOW to think. They say "here are your tools" but not "decompose complex problems into steps" or "double-check contradictory facts" or "measure your own confidence." We need a reasoning protocol layer to fill that in.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changes are about teaching agents to think, not just act. Reasoning Protocol is the highest-impact — it makes agents list out the steps before jumping to tool calls, which cuts the "tool spam" problem by a huge amount. Confidence Scoring extends what the RAG agent already does to all agents — score your certainty and flag when you're guessing. Self-Reflection Checkpoints mirror what expert humans do: after three tool calls, pause and reassess. Tool Selection Justification adds explicit reasoning about why you picked that specific tool over alternatives. Error Recovery Playbook unifies failure handling across all agents instead of eleven different approaches. Memory Trust Framework adds freshness awareness — old memories get flagged. Output Format Contract ensures responses match the task type. Delegation Context makes worker agents understand they're part of a delegated workflow. You can add these as new sections in each agent's markdown file, or inject them as a new reasoning block in the prompt-building function.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how the reasoning improvements map to specific agents. The general agent needs the full reasoning protocol because it handles everything. The basic agent needs output format and confidence scoring but not the full workbench. Data analyst needs sandbox error recovery since execute_code failures are the biggest failure mode. Coordinator needs delegation context so worker agents understand what's being asked. We also propose five new skill packs for reasoning — step planning, self-verification, uncertainty handling, error recovery, and output formatting. The clever part is that SkillResolver injects them dynamically based on query complexity. Simple questions don't trigger the full scaffold. Complex multi-step tasks do. All just markdown files using existing infrastructure — no code changes.</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getting into the actual build plans. Each slide shows exactly what files to create, what classes to add, and how they wire into kernel.py, registry.py, and the existing contracts. We're organizing by impact: memory first because every turn uses it, then harness improvements for reliability, then sandbox tools for new capabilities, then observability for production readiness. Every implementation reuses existing patterns — no rearchitecting, just filling in the missing pieces.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Facade is the single-most-important memory fix. Right now kernel.py picks EITHER Postgres OR file store based on availability. If Postgres is down, writes vanish from the file store. The Facade wraps both and guarantees every write hits both. It implements the same interface so downstream code doesn't even know it exists. On startup it reconciles any divergence. TTL sweep is simple SQL: find records where the TTL has expired and mark them inactive. ttl_defaults in settings ensures every memory type gets an appropriate default — profile preferences live 90 days, task state 7 days, decisions 30 days. All fast, all indexed properly.</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decay elegantly solves the "old facts rank same as new facts" problem. The formula is dead simple: effective_importance = importance times (decay_rate to the power of days). Profile stuff decays slowly — 0.998 per day, so it's still relevant after three months. Task state decays faster — 0.95 per day, so it fades in two weeks. Postgres does the math inline with POWER() so you're not looping through code. Confidence filtering is already there in the schema, we just need to use it during selection. Drop anything below 0.4 confidence, tag 0.4-0.6 with [uncertain] so agents know to verify. Pretty straightforward safety improvement.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 timeout shouldn't kill the entire agent turn. RetryPolicy is intentionally minimal: max retries, exponential backoff with jitter, a list of retryable error types, optional fallback tool. The wrapper catches only the declared errors and backs off. If retries are exhausted AND there's a fallback, try that. Otherwise raise. Web tools get 3 retries since networks are flaky, sandbox gets 2, memory gets 1, destructive tools get zero. The wrapper is transparent to LangChain since the signature doesn't change. Just put it around each tool's invoke function.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LLM says "call the calculator AND search for documents" in one response, we currently run them one after the other. But they're independent, so running them together cuts latency in half. The concurrency_key field on ToolDefinition tags tools that share resources — all memory tools share 'memory', all workspace tools share 'workspace'. ParallelExecutor batches sequential only when there are conflicts. Independent tools run via asyncio.gather() with a semaphore capping concurrency at 4 to avoid Docker exhaustion. Results come back in the original order so message threading is preserved.</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Fallback chains are way smarter than the current hardcoded recovery. The config lives in each agent's markdown file next to everything else. Different error types can have different strategies — timeout tries a simpler prompt, context overflow summarizes, tool error asks the user. CoT capture is about preserving intermediate reasoning. Right now everything evaporates after the turn. We persist (thought, action, observation) triples per step in session state. There's a /v1/sessions/{id}/reasoning endpoint so debugging UIs can show the full chain. Both features slot into existing code — fallback chains hook _finalize_messages(), CoT captures hook the tool execution loop.</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specific ask: upload a folder and have it organized. We extend the /v1/upload endpoint to handle ZIPs — extract to temp, validate each file, copy into workspace. file_classifier is straightforward: extension → category. Covers the usual suspects for data work: CSV, Excel, JSON for data/, PDF and DOCX for docs/, Python and JS for code/, images for images/. The auto_organize tool scans, classifies, creates subdirs, moves files. Returns a manifest so the agent knows what ended up where. Marked destructive=True so policy system requires confirmation. You'll need workspace.py to support mkdir() and recursive list_files().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tools turn the sandbox from a code runner into an actual workbench. workspace_search uses grep — fast and doesn't load files. dir_tree walks the workspace recursively and shows structure with file counts. install_package is game-changing for data work — agents can now use libraries beyond the six pre-installed packages, and packages stick around across calls within a session. git_clone pulls repos read-only for analysis. data_profile is the most-requested feature — one call gives complete exploratory stats. data_clean provides standard cleaning operations without pandas boilerplate. batch_transform handles "apply this to every matching file" patterns. export_report assembles artifacts into polished deliverables. All follow standard ToolDefinition contracts, all register through the same executor pipeline.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Per-step observability is a critical gap right now — TurnStatusTracker gives you "searching" or "synthesizing" but not what actually happened with each tool. StepEvent captures tool name, latency, tokens, success/failure, error type. You emit one after every tool call. This data is gold for cost analysis (which tools are expensive?), performance debugging (what's the bottleneck?), and reliability (which fail most?). The integration is clean: emit in query_loop, feed to TurnStatusTracker for live streaming. Output guardrails are the safety layer. GuardrailChain runs ordered checks: PII detection first using regex and NER, then format validation, length limits, hallucination detection. Each agent declares its guardrails in markdown. On failure, retry with feedback or redact and warn the user.</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order that makes sense: Memory Facade and Step-Level Retry first — both hit everything and have zero dependencies. Importance Decay comes next since it modifies the same code path. Parallel Execution builds on Retry. Folder Upload is independent and high-value for you. Workspace Tools extend it. Fallback Chains and CoT Capture are medium-priority developer experience stuff. Observability and Guardrails are critical but need Retry in place for step timing. About 850 new lines across 12 files — deliberately small because we reuse existing contracts and infrastructure. No deletions, everything is additive. Four to five weeks for one developer, probably parallelize some of the tool work.</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got 17 gaps remaining for enterprise readiness. Four show partial progress already: RBAC has authz/service.py providing tenant-scoped access, just needs ABAC for dataset-level granularity. Memory v2 adds episodes and scoring, just needs enforcement. Rate limiting covers connectors, needs global middleware. SSE streams job-level events, needs per-tool granularity. The other 13 are fully open: retention policies, PII redaction, audit logs, model governance, cost attribution, signing, prompt versioning, output validation, self-reflection, escalation workflows, tool versioning, AST analysis, and red-teaming.</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extractor is built but three memory gaps remain. First, conflict resolution — when a user corrects a fact, both old and new stick around and the agent sees contradictions. We need intelligent merging. Second, scope is too simple — user scope and conversation scope are hard walls. We need to synthesize patterns across sessions. Third and scariest: compliance. Memory is write-once, no TTL, no PII redaction. GDPR requires delete-on-request with proof. You can't sell into Europe without this.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fixed two routing gaps already: feedback loop tracks routing outcomes, scheduler does weighted-fair-queuing. Three new gaps opened up though.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handled two skills gaps: dependency_graph.py validates the DAG, telemetry.py logs quality. Three gaps remain. Signing is still SHA1 only — integrity but not authenticity. Prompt versioning is huge because prompts are the control surface for agent behavior and we have zero version history. Structured output validation prevents malformed JSON, PII leaks, and off-brand responses.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v3</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229600" cy="914400"/>
          </a:xfrm>
          <a:prstGeom prst="rect">
            <a:avLst/>
          </a:prstGeom>
          <a:noFill/>
        </p:spPr>
        <p:txBody>
          <a:bodyPr wrap="square" anchor="t"/>
          <a:lstStyle/>
          <a:p>
            <a:pPr algn="l">
              <a:defRPr sz="3600" b="1">
                <a:solidFill>
                  <a:srgbClr val="FFFFFF"/>
                </a:solidFill>
                <a:latin typeface="Arial"/>
              </a:defRPr>
            </a:pPr>
            <a:r>
              <a:t>What Is an Agent Harness?</a:t>
            </a:r>
          </a:p>
        </p:txBody>
      </p:sp>
      <p:sp>
        <p:nvSpPr>
          <p:cNvPr id="4" name="TextBox 3"/>
          <p:cNvSpPr txBox="1"/>
          <p:nvPr/>
        </p:nvSpPr>
        <p:spPr>
          <a:xfrm>
            <a:off x="502920" y="2560320"/>
            <a:ext cx="7315200" cy="731520"/>
          </a:xfrm>
          <a:prstGeom prst="rect">
            <a:avLst/>
          </a:prstGeom>
          <a:noFill/>
        </p:spPr>
        <p:txBody>
          <a:bodyPr wrap="square" anchor="t"/>
          <a:lstStyle/>
          <a:p>
            <a:pPr algn="l">
              <a:defRPr sz="1600" b="0">
                <a:solidFill>
                  <a:srgbClr val="0097A7"/>
                </a:solidFill>
                <a:latin typeface="Arial"/>
              </a:defRPr>
            </a:pPr>
            <a:r>
              <a:t>Understanding the orchestration layer that turns LLMs into autonomous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Why LLMs Alone Aren't Enough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3840480" cy="365760"/>
          </a:xfrm>
          <a:prstGeom prst="rect">
            <a:avLst/>
          </a:prstGeom>
          <a:noFill/>
        </p:spPr>
        <p:txBody>
          <a:bodyPr wrap="square" anchor="t"/>
          <a:lstStyle/>
          <a:p>
            <a:pPr algn="l">
              <a:defRPr sz="1400" b="1">
                <a:solidFill>
                  <a:srgbClr val="0097A7"/>
                </a:solidFill>
                <a:latin typeface="Arial"/>
              </a:defRPr>
            </a:pPr>
            <a:r>
              <a:t>THE PROBLEM</a:t>
            </a:r>
          </a:p>
        </p:txBody>
      </p:sp>
      <p:sp>
        <p:nvSpPr>
          <p:cNvPr id="6" name="Rectangle 5"/>
          <p:cNvSpPr/>
          <p:nvPr/>
        </p:nvSpPr>
        <p:spPr>
          <a:xfrm>
            <a:off x="502920" y="1325880"/>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3566160" cy="365760"/>
          </a:xfrm>
          <a:prstGeom prst="rect">
            <a:avLst/>
          </a:prstGeom>
          <a:noFill/>
        </p:spPr>
        <p:txBody>
          <a:bodyPr wrap="square" anchor="t"/>
          <a:lstStyle/>
          <a:p>
            <a:pPr algn="l">
              <a:defRPr sz="1300" b="1">
                <a:solidFill>
                  <a:srgbClr val="FFFFFF"/>
                </a:solidFill>
                <a:latin typeface="Arial"/>
              </a:defRPr>
            </a:pPr>
            <a:r>
              <a:t>Single-Turn Only</a:t>
            </a:r>
          </a:p>
        </p:txBody>
      </p:sp>
      <p:sp>
        <p:nvSpPr>
          <p:cNvPr id="9" name="TextBox 8"/>
          <p:cNvSpPr txBox="1"/>
          <p:nvPr/>
        </p:nvSpPr>
        <p:spPr>
          <a:xfrm>
            <a:off x="685800" y="1783080"/>
            <a:ext cx="3566160" cy="228600"/>
          </a:xfrm>
          <a:prstGeom prst="rect">
            <a:avLst/>
          </a:prstGeom>
          <a:noFill/>
        </p:spPr>
        <p:txBody>
          <a:bodyPr wrap="square" anchor="t"/>
          <a:lstStyle/>
          <a:p>
            <a:pPr algn="l">
              <a:defRPr sz="1000" b="0">
                <a:solidFill>
                  <a:srgbClr val="CCCCCC"/>
                </a:solidFill>
                <a:latin typeface="Arial"/>
              </a:defRPr>
              <a:lnSpc>
                <a:spcPts val="1800"/>
              </a:lnSpc>
            </a:pPr>
            <a:r>
              <a:t>Raw LLMs answer one question at a time — no actions, retrieval, or state.</a:t>
            </a:r>
          </a:p>
        </p:txBody>
      </p:sp>
      <p:sp>
        <p:nvSpPr>
          <p:cNvPr id="10" name="Rectangle 9"/>
          <p:cNvSpPr/>
          <p:nvPr/>
        </p:nvSpPr>
        <p:spPr>
          <a:xfrm>
            <a:off x="502920" y="2167128"/>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67128"/>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58568"/>
            <a:ext cx="3566160" cy="365760"/>
          </a:xfrm>
          <a:prstGeom prst="rect">
            <a:avLst/>
          </a:prstGeom>
          <a:noFill/>
        </p:spPr>
        <p:txBody>
          <a:bodyPr wrap="square" anchor="t"/>
          <a:lstStyle/>
          <a:p>
            <a:pPr algn="l">
              <a:defRPr sz="1300" b="1">
                <a:solidFill>
                  <a:srgbClr val="FFFFFF"/>
                </a:solidFill>
                <a:latin typeface="Arial"/>
              </a:defRPr>
            </a:pPr>
            <a:r>
              <a:t>No Tool Access</a:t>
            </a:r>
          </a:p>
        </p:txBody>
      </p:sp>
      <p:sp>
        <p:nvSpPr>
          <p:cNvPr id="13" name="TextBox 12"/>
          <p:cNvSpPr txBox="1"/>
          <p:nvPr/>
        </p:nvSpPr>
        <p:spPr>
          <a:xfrm>
            <a:off x="685800" y="2624328"/>
            <a:ext cx="3566160" cy="228600"/>
          </a:xfrm>
          <a:prstGeom prst="rect">
            <a:avLst/>
          </a:prstGeom>
          <a:noFill/>
        </p:spPr>
        <p:txBody>
          <a:bodyPr wrap="square" anchor="t"/>
          <a:lstStyle/>
          <a:p>
            <a:pPr algn="l">
              <a:defRPr sz="1000" b="0">
                <a:solidFill>
                  <a:srgbClr val="CCCCCC"/>
                </a:solidFill>
                <a:latin typeface="Arial"/>
              </a:defRPr>
              <a:lnSpc>
                <a:spcPts val="1800"/>
              </a:lnSpc>
            </a:pPr>
            <a:r>
              <a:t>LLMs cannot search databases, execute code, or call APIs on their own.</a:t>
            </a:r>
          </a:p>
        </p:txBody>
      </p:sp>
      <p:sp>
        <p:nvSpPr>
          <p:cNvPr id="14" name="Rectangle 13"/>
          <p:cNvSpPr/>
          <p:nvPr/>
        </p:nvSpPr>
        <p:spPr>
          <a:xfrm>
            <a:off x="502920" y="3008376"/>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08376"/>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99816"/>
            <a:ext cx="3566160" cy="365760"/>
          </a:xfrm>
          <a:prstGeom prst="rect">
            <a:avLst/>
          </a:prstGeom>
          <a:noFill/>
        </p:spPr>
        <p:txBody>
          <a:bodyPr wrap="square" anchor="t"/>
          <a:lstStyle/>
          <a:p>
            <a:pPr algn="l">
              <a:defRPr sz="1300" b="1">
                <a:solidFill>
                  <a:srgbClr val="FFFFFF"/>
                </a:solidFill>
                <a:latin typeface="Arial"/>
              </a:defRPr>
            </a:pPr>
            <a:r>
              <a:t>No Memory</a:t>
            </a:r>
          </a:p>
        </p:txBody>
      </p:sp>
      <p:sp>
        <p:nvSpPr>
          <p:cNvPr id="17" name="TextBox 16"/>
          <p:cNvSpPr txBox="1"/>
          <p:nvPr/>
        </p:nvSpPr>
        <p:spPr>
          <a:xfrm>
            <a:off x="685800" y="3465576"/>
            <a:ext cx="3566160" cy="228600"/>
          </a:xfrm>
          <a:prstGeom prst="rect">
            <a:avLst/>
          </a:prstGeom>
          <a:noFill/>
        </p:spPr>
        <p:txBody>
          <a:bodyPr wrap="square" anchor="t"/>
          <a:lstStyle/>
          <a:p>
            <a:pPr algn="l">
              <a:defRPr sz="1000" b="0">
                <a:solidFill>
                  <a:srgbClr val="CCCCCC"/>
                </a:solidFill>
                <a:latin typeface="Arial"/>
              </a:defRPr>
              <a:lnSpc>
                <a:spcPts val="1800"/>
              </a:lnSpc>
            </a:pPr>
            <a:r>
              <a:t>Each request is stateless — the model forgets everything between calls.</a:t>
            </a:r>
          </a:p>
        </p:txBody>
      </p:sp>
      <p:sp>
        <p:nvSpPr>
          <p:cNvPr id="18" name="Rectangle 17"/>
          <p:cNvSpPr/>
          <p:nvPr/>
        </p:nvSpPr>
        <p:spPr>
          <a:xfrm>
            <a:off x="502920" y="3849624"/>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849624"/>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4"/>
            <a:ext cx="3566160" cy="365760"/>
          </a:xfrm>
          <a:prstGeom prst="rect">
            <a:avLst/>
          </a:prstGeom>
          <a:noFill/>
        </p:spPr>
        <p:txBody>
          <a:bodyPr wrap="square" anchor="t"/>
          <a:lstStyle/>
          <a:p>
            <a:pPr algn="l">
              <a:defRPr sz="1300" b="1">
                <a:solidFill>
                  <a:srgbClr val="FFFFFF"/>
                </a:solidFill>
                <a:latin typeface="Arial"/>
              </a:defRPr>
            </a:pPr>
            <a:r>
              <a:t>No Planning</a:t>
            </a:r>
          </a:p>
        </p:txBody>
      </p:sp>
      <p:sp>
        <p:nvSpPr>
          <p:cNvPr id="21" name="TextBox 20"/>
          <p:cNvSpPr txBox="1"/>
          <p:nvPr/>
        </p:nvSpPr>
        <p:spPr>
          <a:xfrm>
            <a:off x="685800" y="4306824"/>
            <a:ext cx="3566160" cy="228600"/>
          </a:xfrm>
          <a:prstGeom prst="rect">
            <a:avLst/>
          </a:prstGeom>
          <a:noFill/>
        </p:spPr>
        <p:txBody>
          <a:bodyPr wrap="square" anchor="t"/>
          <a:lstStyle/>
          <a:p>
            <a:pPr algn="l">
              <a:defRPr sz="1000" b="0">
                <a:solidFill>
                  <a:srgbClr val="CCCCCC"/>
                </a:solidFill>
                <a:latin typeface="Arial"/>
              </a:defRPr>
              <a:lnSpc>
                <a:spcPts val="1800"/>
              </a:lnSpc>
            </a:pPr>
            <a:r>
              <a:t>Complex multi-step tasks with parallel work or verification are impossible.</a:t>
            </a:r>
          </a:p>
        </p:txBody>
      </p:sp>
      <p:sp>
        <p:nvSpPr>
          <p:cNvPr id="22" name="TextBox 21"/>
          <p:cNvSpPr txBox="1"/>
          <p:nvPr/>
        </p:nvSpPr>
        <p:spPr>
          <a:xfrm>
            <a:off x="4754880" y="914400"/>
            <a:ext cx="3931920" cy="365760"/>
          </a:xfrm>
          <a:prstGeom prst="rect">
            <a:avLst/>
          </a:prstGeom>
          <a:noFill/>
        </p:spPr>
        <p:txBody>
          <a:bodyPr wrap="square" anchor="t"/>
          <a:lstStyle/>
          <a:p>
            <a:pPr algn="l">
              <a:defRPr sz="1400" b="1">
                <a:solidFill>
                  <a:srgbClr val="4CAF50"/>
                </a:solidFill>
                <a:latin typeface="Arial"/>
              </a:defRPr>
            </a:pPr>
            <a:r>
              <a:t>THE SOLUTION: AGENT HARNESS</a:t>
            </a:r>
          </a:p>
        </p:txBody>
      </p:sp>
      <p:sp>
        <p:nvSpPr>
          <p:cNvPr id="23" name="TextBox 22"/>
          <p:cNvSpPr txBox="1"/>
          <p:nvPr/>
        </p:nvSpPr>
        <p:spPr>
          <a:xfrm>
            <a:off x="4754880" y="1371600"/>
            <a:ext cx="3931920" cy="3291840"/>
          </a:xfrm>
          <a:prstGeom prst="rect">
            <a:avLst/>
          </a:prstGeom>
          <a:noFill/>
        </p:spPr>
        <p:txBody>
          <a:bodyPr wrap="square" anchor="t"/>
          <a:lstStyle/>
          <a:p>
            <a:pPr algn="l">
              <a:defRPr sz="1200" b="0">
                <a:solidFill>
                  <a:srgbClr val="CCCCCC"/>
                </a:solidFill>
                <a:latin typeface="Arial"/>
              </a:defRPr>
            </a:pPr>
          </a:p>
        </p:txBody>
      </p:sp>
      <p:sp>
        <p:nvSpPr>
          <p:cNvPr id="24" name="Rectangle 23"/>
          <p:cNvSpPr/>
          <p:nvPr/>
        </p:nvSpPr>
        <p:spPr>
          <a:xfrm>
            <a:off x="4754880" y="1325880"/>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132588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1417320"/>
            <a:ext cx="3657600" cy="365760"/>
          </a:xfrm>
          <a:prstGeom prst="rect">
            <a:avLst/>
          </a:prstGeom>
          <a:noFill/>
        </p:spPr>
        <p:txBody>
          <a:bodyPr wrap="square" anchor="t"/>
          <a:lstStyle/>
          <a:p>
            <a:pPr algn="l">
              <a:defRPr sz="1300" b="1">
                <a:solidFill>
                  <a:srgbClr val="FFFFFF"/>
                </a:solidFill>
                <a:latin typeface="Arial"/>
              </a:defRPr>
            </a:pPr>
            <a:r>
              <a:t>Multi-Turn Loops</a:t>
            </a:r>
          </a:p>
        </p:txBody>
      </p:sp>
      <p:sp>
        <p:nvSpPr>
          <p:cNvPr id="27" name="TextBox 26"/>
          <p:cNvSpPr txBox="1"/>
          <p:nvPr/>
        </p:nvSpPr>
        <p:spPr>
          <a:xfrm>
            <a:off x="4937760" y="1783080"/>
            <a:ext cx="3657600" cy="228600"/>
          </a:xfrm>
          <a:prstGeom prst="rect">
            <a:avLst/>
          </a:prstGeom>
          <a:noFill/>
        </p:spPr>
        <p:txBody>
          <a:bodyPr wrap="square" anchor="t"/>
          <a:lstStyle/>
          <a:p>
            <a:pPr algn="l">
              <a:defRPr sz="1000" b="0">
                <a:solidFill>
                  <a:srgbClr val="CCCCCC"/>
                </a:solidFill>
                <a:latin typeface="Arial"/>
              </a:defRPr>
              <a:lnSpc>
                <a:spcPts val="1800"/>
              </a:lnSpc>
            </a:pPr>
            <a:r>
              <a:t>The harness wraps the LLM in a reasoning loop — observe, think, act, repeat.</a:t>
            </a:r>
          </a:p>
        </p:txBody>
      </p:sp>
      <p:sp>
        <p:nvSpPr>
          <p:cNvPr id="28" name="Rectangle 27"/>
          <p:cNvSpPr/>
          <p:nvPr/>
        </p:nvSpPr>
        <p:spPr>
          <a:xfrm>
            <a:off x="4754880" y="2167128"/>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0" y="2167128"/>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258568"/>
            <a:ext cx="3657600" cy="365760"/>
          </a:xfrm>
          <a:prstGeom prst="rect">
            <a:avLst/>
          </a:prstGeom>
          <a:noFill/>
        </p:spPr>
        <p:txBody>
          <a:bodyPr wrap="square" anchor="t"/>
          <a:lstStyle/>
          <a:p>
            <a:pPr algn="l">
              <a:defRPr sz="1300" b="1">
                <a:solidFill>
                  <a:srgbClr val="FFFFFF"/>
                </a:solidFill>
                <a:latin typeface="Arial"/>
              </a:defRPr>
            </a:pPr>
            <a:r>
              <a:t>Tool Integration</a:t>
            </a:r>
          </a:p>
        </p:txBody>
      </p:sp>
      <p:sp>
        <p:nvSpPr>
          <p:cNvPr id="31" name="TextBox 30"/>
          <p:cNvSpPr txBox="1"/>
          <p:nvPr/>
        </p:nvSpPr>
        <p:spPr>
          <a:xfrm>
            <a:off x="4937760" y="2624328"/>
            <a:ext cx="3657600" cy="228600"/>
          </a:xfrm>
          <a:prstGeom prst="rect">
            <a:avLst/>
          </a:prstGeom>
          <a:noFill/>
        </p:spPr>
        <p:txBody>
          <a:bodyPr wrap="square" anchor="t"/>
          <a:lstStyle/>
          <a:p>
            <a:pPr algn="l">
              <a:defRPr sz="1000" b="0">
                <a:solidFill>
                  <a:srgbClr val="CCCCCC"/>
                </a:solidFill>
                <a:latin typeface="Arial"/>
              </a:defRPr>
              <a:lnSpc>
                <a:spcPts val="1800"/>
              </a:lnSpc>
            </a:pPr>
            <a:r>
              <a:t>A registry of callable tools (search, code exec, APIs) invoked by name.</a:t>
            </a:r>
          </a:p>
        </p:txBody>
      </p:sp>
      <p:sp>
        <p:nvSpPr>
          <p:cNvPr id="32" name="Rectangle 31"/>
          <p:cNvSpPr/>
          <p:nvPr/>
        </p:nvSpPr>
        <p:spPr>
          <a:xfrm>
            <a:off x="4754880" y="3008376"/>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4880" y="3008376"/>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3099816"/>
            <a:ext cx="3657600" cy="365760"/>
          </a:xfrm>
          <a:prstGeom prst="rect">
            <a:avLst/>
          </a:prstGeom>
          <a:noFill/>
        </p:spPr>
        <p:txBody>
          <a:bodyPr wrap="square" anchor="t"/>
          <a:lstStyle/>
          <a:p>
            <a:pPr algn="l">
              <a:defRPr sz="1300" b="1">
                <a:solidFill>
                  <a:srgbClr val="FFFFFF"/>
                </a:solidFill>
                <a:latin typeface="Arial"/>
              </a:defRPr>
            </a:pPr>
            <a:r>
              <a:t>Session &amp; Memory</a:t>
            </a:r>
          </a:p>
        </p:txBody>
      </p:sp>
      <p:sp>
        <p:nvSpPr>
          <p:cNvPr id="35" name="TextBox 34"/>
          <p:cNvSpPr txBox="1"/>
          <p:nvPr/>
        </p:nvSpPr>
        <p:spPr>
          <a:xfrm>
            <a:off x="4937760" y="3465576"/>
            <a:ext cx="3657600" cy="228600"/>
          </a:xfrm>
          <a:prstGeom prst="rect">
            <a:avLst/>
          </a:prstGeom>
          <a:noFill/>
        </p:spPr>
        <p:txBody>
          <a:bodyPr wrap="square" anchor="t"/>
          <a:lstStyle/>
          <a:p>
            <a:pPr algn="l">
              <a:defRPr sz="1000" b="0">
                <a:solidFill>
                  <a:srgbClr val="CCCCCC"/>
                </a:solidFill>
                <a:latin typeface="Arial"/>
              </a:defRPr>
              <a:lnSpc>
                <a:spcPts val="1800"/>
              </a:lnSpc>
            </a:pPr>
            <a:r>
              <a:t>Persistent state across turns with long-term memory extraction and injection.</a:t>
            </a:r>
          </a:p>
        </p:txBody>
      </p:sp>
      <p:sp>
        <p:nvSpPr>
          <p:cNvPr id="36" name="Rectangle 35"/>
          <p:cNvSpPr/>
          <p:nvPr/>
        </p:nvSpPr>
        <p:spPr>
          <a:xfrm>
            <a:off x="4754880" y="3849624"/>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54880" y="3849624"/>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3941064"/>
            <a:ext cx="3657600" cy="365760"/>
          </a:xfrm>
          <a:prstGeom prst="rect">
            <a:avLst/>
          </a:prstGeom>
          <a:noFill/>
        </p:spPr>
        <p:txBody>
          <a:bodyPr wrap="square" anchor="t"/>
          <a:lstStyle/>
          <a:p>
            <a:pPr algn="l">
              <a:defRPr sz="1300" b="1">
                <a:solidFill>
                  <a:srgbClr val="FFFFFF"/>
                </a:solidFill>
                <a:latin typeface="Arial"/>
              </a:defRPr>
            </a:pPr>
            <a:r>
              <a:t>Task Orchestration</a:t>
            </a:r>
          </a:p>
        </p:txBody>
      </p:sp>
      <p:sp>
        <p:nvSpPr>
          <p:cNvPr id="39" name="TextBox 38"/>
          <p:cNvSpPr txBox="1"/>
          <p:nvPr/>
        </p:nvSpPr>
        <p:spPr>
          <a:xfrm>
            <a:off x="4937760" y="4306824"/>
            <a:ext cx="3657600" cy="228600"/>
          </a:xfrm>
          <a:prstGeom prst="rect">
            <a:avLst/>
          </a:prstGeom>
          <a:noFill/>
        </p:spPr>
        <p:txBody>
          <a:bodyPr wrap="square" anchor="t"/>
          <a:lstStyle/>
          <a:p>
            <a:pPr algn="l">
              <a:defRPr sz="1000" b="0">
                <a:solidFill>
                  <a:srgbClr val="CCCCCC"/>
                </a:solidFill>
                <a:latin typeface="Arial"/>
              </a:defRPr>
              <a:lnSpc>
                <a:spcPts val="1800"/>
              </a:lnSpc>
            </a:pPr>
            <a:r>
              <a:t>Planners decompose complex work into subtasks dispatched in parallel.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Anatomy of an Agent Harness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ctr">
              <a:defRPr sz="1600" b="1">
                <a:solidFill>
                  <a:srgbClr val="1B2A4A"/>
                </a:solidFill>
                <a:latin typeface="Arial"/>
              </a:defRPr>
            </a:pPr>
            <a:r>
              <a:t>THE CORE LOOP: Observe → Think → Act → Repeat</a:t>
            </a:r>
          </a:p>
        </p:txBody>
      </p:sp>
      <p:sp>
        <p:nvSpPr>
          <p:cNvPr id="6" name="Rounded Rectangle 5"/>
          <p:cNvSpPr/>
          <p:nvPr/>
        </p:nvSpPr>
        <p:spPr>
          <a:xfrm>
            <a:off x="320040" y="1371600"/>
            <a:ext cx="1417320" cy="64008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User</a:t>
            </a:r>
            <a:br/>
            <a:r>
              <a:t>Input</a:t>
            </a:r>
          </a:p>
        </p:txBody>
      </p:sp>
      <p:sp>
        <p:nvSpPr>
          <p:cNvPr id="7" name="TextBox 6"/>
          <p:cNvSpPr txBox="1"/>
          <p:nvPr/>
        </p:nvSpPr>
        <p:spPr>
          <a:xfrm>
            <a:off x="175564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8" name="Rounded Rectangle 7"/>
          <p:cNvSpPr/>
          <p:nvPr/>
        </p:nvSpPr>
        <p:spPr>
          <a:xfrm>
            <a:off x="201168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Router /</a:t>
            </a:r>
            <a:br/>
            <a:r>
              <a:t>Classifier</a:t>
            </a:r>
          </a:p>
        </p:txBody>
      </p:sp>
      <p:sp>
        <p:nvSpPr>
          <p:cNvPr id="9" name="TextBox 8"/>
          <p:cNvSpPr txBox="1"/>
          <p:nvPr/>
        </p:nvSpPr>
        <p:spPr>
          <a:xfrm>
            <a:off x="344728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0" name="Rounded Rectangle 9"/>
          <p:cNvSpPr/>
          <p:nvPr/>
        </p:nvSpPr>
        <p:spPr>
          <a:xfrm>
            <a:off x="370332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Agent</a:t>
            </a:r>
            <a:br/>
            <a:r>
              <a:t>(ReAct Loop)</a:t>
            </a:r>
          </a:p>
        </p:txBody>
      </p:sp>
      <p:sp>
        <p:nvSpPr>
          <p:cNvPr id="11" name="TextBox 10"/>
          <p:cNvSpPr txBox="1"/>
          <p:nvPr/>
        </p:nvSpPr>
        <p:spPr>
          <a:xfrm>
            <a:off x="513892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2" name="Rounded Rectangle 11"/>
          <p:cNvSpPr/>
          <p:nvPr/>
        </p:nvSpPr>
        <p:spPr>
          <a:xfrm>
            <a:off x="5394960" y="1371600"/>
            <a:ext cx="141732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Tool</a:t>
            </a:r>
            <a:br/>
            <a:r>
              <a:t>Execution</a:t>
            </a:r>
          </a:p>
        </p:txBody>
      </p:sp>
      <p:sp>
        <p:nvSpPr>
          <p:cNvPr id="13" name="TextBox 12"/>
          <p:cNvSpPr txBox="1"/>
          <p:nvPr/>
        </p:nvSpPr>
        <p:spPr>
          <a:xfrm>
            <a:off x="683056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4" name="Rounded Rectangle 13"/>
          <p:cNvSpPr/>
          <p:nvPr/>
        </p:nvSpPr>
        <p:spPr>
          <a:xfrm>
            <a:off x="7086600" y="1371600"/>
            <a:ext cx="141732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Response</a:t>
            </a:r>
            <a:br/>
            <a:r>
              <a:t>Stream</a:t>
            </a:r>
          </a:p>
        </p:txBody>
      </p:sp>
      <p:sp>
        <p:nvSpPr>
          <p:cNvPr id="15" name="TextBox 14"/>
          <p:cNvSpPr txBox="1"/>
          <p:nvPr/>
        </p:nvSpPr>
        <p:spPr>
          <a:xfrm>
            <a:off x="502920" y="2286000"/>
            <a:ext cx="8229600" cy="320040"/>
          </a:xfrm>
          <a:prstGeom prst="rect">
            <a:avLst/>
          </a:prstGeom>
          <a:noFill/>
        </p:spPr>
        <p:txBody>
          <a:bodyPr wrap="square" anchor="t"/>
          <a:lstStyle/>
          <a:p>
            <a:pPr algn="l">
              <a:defRPr sz="1400" b="1">
                <a:solidFill>
                  <a:srgbClr val="1B2A4A"/>
                </a:solidFill>
                <a:latin typeface="Arial"/>
              </a:defRPr>
            </a:pPr>
            <a:r>
              <a:t>KEY LAYERS OF THE HARNESS</a:t>
            </a:r>
          </a:p>
        </p:txBody>
      </p:sp>
      <p:sp>
        <p:nvSpPr>
          <p:cNvPr id="16" name="Oval 15"/>
          <p:cNvSpPr/>
          <p:nvPr/>
        </p:nvSpPr>
        <p:spPr>
          <a:xfrm>
            <a:off x="502920" y="2724912"/>
            <a:ext cx="164592" cy="164592"/>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51760"/>
            <a:ext cx="2011680" cy="320040"/>
          </a:xfrm>
          <a:prstGeom prst="rect">
            <a:avLst/>
          </a:prstGeom>
          <a:noFill/>
        </p:spPr>
        <p:txBody>
          <a:bodyPr wrap="square" anchor="t"/>
          <a:lstStyle/>
          <a:p>
            <a:pPr algn="l">
              <a:defRPr sz="1200" b="1">
                <a:solidFill>
                  <a:srgbClr val="333333"/>
                </a:solidFill>
                <a:latin typeface="Arial"/>
              </a:defRPr>
            </a:pPr>
            <a:r>
              <a:t>1. Routing Layer</a:t>
            </a:r>
          </a:p>
        </p:txBody>
      </p:sp>
      <p:sp>
        <p:nvSpPr>
          <p:cNvPr id="18" name="TextBox 17"/>
          <p:cNvSpPr txBox="1"/>
          <p:nvPr/>
        </p:nvSpPr>
        <p:spPr>
          <a:xfrm>
            <a:off x="2743200" y="2651760"/>
            <a:ext cx="5943600" cy="320040"/>
          </a:xfrm>
          <a:prstGeom prst="rect">
            <a:avLst/>
          </a:prstGeom>
          <a:noFill/>
        </p:spPr>
        <p:txBody>
          <a:bodyPr wrap="square" anchor="t"/>
          <a:lstStyle/>
          <a:p>
            <a:pPr algn="l">
              <a:defRPr sz="1100" b="0">
                <a:solidFill>
                  <a:srgbClr val="666666"/>
                </a:solidFill>
                <a:latin typeface="Arial"/>
              </a:defRPr>
            </a:pPr>
            <a:r>
              <a:t>Classifies intent, selects the right agent</a:t>
            </a:r>
          </a:p>
        </p:txBody>
      </p:sp>
      <p:sp>
        <p:nvSpPr>
          <p:cNvPr id="19" name="Oval 18"/>
          <p:cNvSpPr/>
          <p:nvPr/>
        </p:nvSpPr>
        <p:spPr>
          <a:xfrm>
            <a:off x="502920" y="3108960"/>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035808"/>
            <a:ext cx="2011680" cy="320040"/>
          </a:xfrm>
          <a:prstGeom prst="rect">
            <a:avLst/>
          </a:prstGeom>
          <a:noFill/>
        </p:spPr>
        <p:txBody>
          <a:bodyPr wrap="square" anchor="t"/>
          <a:lstStyle/>
          <a:p>
            <a:pPr algn="l">
              <a:defRPr sz="1200" b="1">
                <a:solidFill>
                  <a:srgbClr val="333333"/>
                </a:solidFill>
                <a:latin typeface="Arial"/>
              </a:defRPr>
            </a:pPr>
            <a:r>
              <a:t>2. Agent Registry</a:t>
            </a:r>
          </a:p>
        </p:txBody>
      </p:sp>
      <p:sp>
        <p:nvSpPr>
          <p:cNvPr id="21" name="TextBox 20"/>
          <p:cNvSpPr txBox="1"/>
          <p:nvPr/>
        </p:nvSpPr>
        <p:spPr>
          <a:xfrm>
            <a:off x="2743200" y="3035808"/>
            <a:ext cx="5943600" cy="320040"/>
          </a:xfrm>
          <a:prstGeom prst="rect">
            <a:avLst/>
          </a:prstGeom>
          <a:noFill/>
        </p:spPr>
        <p:txBody>
          <a:bodyPr wrap="square" anchor="t"/>
          <a:lstStyle/>
          <a:p>
            <a:pPr algn="l">
              <a:defRPr sz="1100" b="0">
                <a:solidFill>
                  <a:srgbClr val="666666"/>
                </a:solidFill>
                <a:latin typeface="Arial"/>
              </a:defRPr>
            </a:pPr>
            <a:r>
              <a:t>Declarative agent definitions (mode, tools, prompt)</a:t>
            </a:r>
          </a:p>
        </p:txBody>
      </p:sp>
      <p:sp>
        <p:nvSpPr>
          <p:cNvPr id="22" name="Oval 21"/>
          <p:cNvSpPr/>
          <p:nvPr/>
        </p:nvSpPr>
        <p:spPr>
          <a:xfrm>
            <a:off x="502920" y="3493008"/>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19856"/>
            <a:ext cx="2011680" cy="320040"/>
          </a:xfrm>
          <a:prstGeom prst="rect">
            <a:avLst/>
          </a:prstGeom>
          <a:noFill/>
        </p:spPr>
        <p:txBody>
          <a:bodyPr wrap="square" anchor="t"/>
          <a:lstStyle/>
          <a:p>
            <a:pPr algn="l">
              <a:defRPr sz="1200" b="1">
                <a:solidFill>
                  <a:srgbClr val="333333"/>
                </a:solidFill>
                <a:latin typeface="Arial"/>
              </a:defRPr>
            </a:pPr>
            <a:r>
              <a:t>3. Execution Engine</a:t>
            </a:r>
          </a:p>
        </p:txBody>
      </p:sp>
      <p:sp>
        <p:nvSpPr>
          <p:cNvPr id="24" name="TextBox 23"/>
          <p:cNvSpPr txBox="1"/>
          <p:nvPr/>
        </p:nvSpPr>
        <p:spPr>
          <a:xfrm>
            <a:off x="2743200" y="3419856"/>
            <a:ext cx="5943600" cy="320040"/>
          </a:xfrm>
          <a:prstGeom prst="rect">
            <a:avLst/>
          </a:prstGeom>
          <a:noFill/>
        </p:spPr>
        <p:txBody>
          <a:bodyPr wrap="square" anchor="t"/>
          <a:lstStyle/>
          <a:p>
            <a:pPr algn="l">
              <a:defRPr sz="1100" b="0">
                <a:solidFill>
                  <a:srgbClr val="666666"/>
                </a:solidFill>
                <a:latin typeface="Arial"/>
              </a:defRPr>
            </a:pPr>
            <a:r>
              <a:t>ReAct loop, RAG pipeline, coordinator pattern</a:t>
            </a:r>
          </a:p>
        </p:txBody>
      </p:sp>
      <p:sp>
        <p:nvSpPr>
          <p:cNvPr id="25" name="Oval 24"/>
          <p:cNvSpPr/>
          <p:nvPr/>
        </p:nvSpPr>
        <p:spPr>
          <a:xfrm>
            <a:off x="502920" y="3877056"/>
            <a:ext cx="164592" cy="164592"/>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03904"/>
            <a:ext cx="2011680" cy="320040"/>
          </a:xfrm>
          <a:prstGeom prst="rect">
            <a:avLst/>
          </a:prstGeom>
          <a:noFill/>
        </p:spPr>
        <p:txBody>
          <a:bodyPr wrap="square" anchor="t"/>
          <a:lstStyle/>
          <a:p>
            <a:pPr algn="l">
              <a:defRPr sz="1200" b="1">
                <a:solidFill>
                  <a:srgbClr val="333333"/>
                </a:solidFill>
                <a:latin typeface="Arial"/>
              </a:defRPr>
            </a:pPr>
            <a:r>
              <a:t>4. Tool System</a:t>
            </a:r>
          </a:p>
        </p:txBody>
      </p:sp>
      <p:sp>
        <p:nvSpPr>
          <p:cNvPr id="27" name="TextBox 26"/>
          <p:cNvSpPr txBox="1"/>
          <p:nvPr/>
        </p:nvSpPr>
        <p:spPr>
          <a:xfrm>
            <a:off x="2743200" y="3803904"/>
            <a:ext cx="5943600" cy="320040"/>
          </a:xfrm>
          <a:prstGeom prst="rect">
            <a:avLst/>
          </a:prstGeom>
          <a:noFill/>
        </p:spPr>
        <p:txBody>
          <a:bodyPr wrap="square" anchor="t"/>
          <a:lstStyle/>
          <a:p>
            <a:pPr algn="l">
              <a:defRPr sz="1100" b="0">
                <a:solidFill>
                  <a:srgbClr val="666666"/>
                </a:solidFill>
                <a:latin typeface="Arial"/>
              </a:defRPr>
            </a:pPr>
            <a:r>
              <a:t>Registry of callable functions with policy enforcement</a:t>
            </a:r>
          </a:p>
        </p:txBody>
      </p:sp>
      <p:sp>
        <p:nvSpPr>
          <p:cNvPr id="28" name="Oval 27"/>
          <p:cNvSpPr/>
          <p:nvPr/>
        </p:nvSpPr>
        <p:spPr>
          <a:xfrm>
            <a:off x="502920" y="4261104"/>
            <a:ext cx="164592" cy="164592"/>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87952"/>
            <a:ext cx="2011680" cy="320040"/>
          </a:xfrm>
          <a:prstGeom prst="rect">
            <a:avLst/>
          </a:prstGeom>
          <a:noFill/>
        </p:spPr>
        <p:txBody>
          <a:bodyPr wrap="square" anchor="t"/>
          <a:lstStyle/>
          <a:p>
            <a:pPr algn="l">
              <a:defRPr sz="1200" b="1">
                <a:solidFill>
                  <a:srgbClr val="333333"/>
                </a:solidFill>
                <a:latin typeface="Arial"/>
              </a:defRPr>
            </a:pPr>
            <a:r>
              <a:t>5. Memory &amp; State</a:t>
            </a:r>
          </a:p>
        </p:txBody>
      </p:sp>
      <p:sp>
        <p:nvSpPr>
          <p:cNvPr id="30" name="TextBox 29"/>
          <p:cNvSpPr txBox="1"/>
          <p:nvPr/>
        </p:nvSpPr>
        <p:spPr>
          <a:xfrm>
            <a:off x="2743200" y="4187952"/>
            <a:ext cx="5943600" cy="320040"/>
          </a:xfrm>
          <a:prstGeom prst="rect">
            <a:avLst/>
          </a:prstGeom>
          <a:noFill/>
        </p:spPr>
        <p:txBody>
          <a:bodyPr wrap="square" anchor="t"/>
          <a:lstStyle/>
          <a:p>
            <a:pPr algn="l">
              <a:defRPr sz="1100" b="0">
                <a:solidFill>
                  <a:srgbClr val="666666"/>
                </a:solidFill>
                <a:latin typeface="Arial"/>
              </a:defRPr>
            </a:pPr>
            <a:r>
              <a:t>Session persistence, long-term memory, context budgets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The ReAct Pattern — How Agents Reason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4114800" cy="320040"/>
          </a:xfrm>
          <a:prstGeom prst="rect">
            <a:avLst/>
          </a:prstGeom>
          <a:noFill/>
        </p:spPr>
        <p:txBody>
          <a:bodyPr wrap="square" anchor="t"/>
          <a:lstStyle/>
          <a:p>
            <a:pPr algn="l">
              <a:defRPr sz="1400" b="1">
                <a:solidFill>
                  <a:srgbClr val="1B2A4A"/>
                </a:solidFill>
                <a:latin typeface="Arial"/>
              </a:defRPr>
            </a:pPr>
            <a:r>
              <a:t>THE REACT LOOP (Reasoning + Acting)</a:t>
            </a:r>
          </a:p>
        </p:txBody>
      </p:sp>
      <p:sp>
        <p:nvSpPr>
          <p:cNvPr id="6" name="Rectangle 5"/>
          <p:cNvSpPr/>
          <p:nvPr/>
        </p:nvSpPr>
        <p:spPr>
          <a:xfrm>
            <a:off x="502920" y="1280160"/>
            <a:ext cx="73152" cy="685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3657600" cy="274320"/>
          </a:xfrm>
          <a:prstGeom prst="rect">
            <a:avLst/>
          </a:prstGeom>
          <a:noFill/>
        </p:spPr>
        <p:txBody>
          <a:bodyPr wrap="square" anchor="t"/>
          <a:lstStyle/>
          <a:p>
            <a:pPr algn="l">
              <a:defRPr sz="1300" b="1">
                <a:solidFill>
                  <a:srgbClr val="0097A7"/>
                </a:solidFill>
                <a:latin typeface="Arial"/>
              </a:defRPr>
            </a:pPr>
            <a:r>
              <a:t>1. OBSERVE</a:t>
            </a:r>
          </a:p>
        </p:txBody>
      </p:sp>
      <p:sp>
        <p:nvSpPr>
          <p:cNvPr id="8" name="TextBox 7"/>
          <p:cNvSpPr txBox="1"/>
          <p:nvPr/>
        </p:nvSpPr>
        <p:spPr>
          <a:xfrm>
            <a:off x="685800" y="1554480"/>
            <a:ext cx="3657600" cy="411480"/>
          </a:xfrm>
          <a:prstGeom prst="rect">
            <a:avLst/>
          </a:prstGeom>
          <a:noFill/>
        </p:spPr>
        <p:txBody>
          <a:bodyPr wrap="square" anchor="t"/>
          <a:lstStyle/>
          <a:p>
            <a:pPr algn="l">
              <a:defRPr sz="1000" b="0">
                <a:solidFill>
                  <a:srgbClr val="555555"/>
                </a:solidFill>
                <a:latin typeface="Arial"/>
              </a:defRPr>
            </a:pPr>
            <a:r>
              <a:t>Receive user query +</a:t>
            </a:r>
            <a:br/>
            <a:r>
              <a:t>conversation context</a:t>
            </a:r>
          </a:p>
        </p:txBody>
      </p:sp>
      <p:sp>
        <p:nvSpPr>
          <p:cNvPr id="9" name="Rectangle 8"/>
          <p:cNvSpPr/>
          <p:nvPr/>
        </p:nvSpPr>
        <p:spPr>
          <a:xfrm>
            <a:off x="502920" y="2057400"/>
            <a:ext cx="73152" cy="685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3657600" cy="274320"/>
          </a:xfrm>
          <a:prstGeom prst="rect">
            <a:avLst/>
          </a:prstGeom>
          <a:noFill/>
        </p:spPr>
        <p:txBody>
          <a:bodyPr wrap="square" anchor="t"/>
          <a:lstStyle/>
          <a:p>
            <a:pPr algn="l">
              <a:defRPr sz="1300" b="1">
                <a:solidFill>
                  <a:srgbClr val="5C6BC0"/>
                </a:solidFill>
                <a:latin typeface="Arial"/>
              </a:defRPr>
            </a:pPr>
            <a:r>
              <a:t>2. THINK</a:t>
            </a:r>
          </a:p>
        </p:txBody>
      </p:sp>
      <p:sp>
        <p:nvSpPr>
          <p:cNvPr id="11" name="TextBox 10"/>
          <p:cNvSpPr txBox="1"/>
          <p:nvPr/>
        </p:nvSpPr>
        <p:spPr>
          <a:xfrm>
            <a:off x="685800" y="2331720"/>
            <a:ext cx="3657600" cy="411480"/>
          </a:xfrm>
          <a:prstGeom prst="rect">
            <a:avLst/>
          </a:prstGeom>
          <a:noFill/>
        </p:spPr>
        <p:txBody>
          <a:bodyPr wrap="square" anchor="t"/>
          <a:lstStyle/>
          <a:p>
            <a:pPr algn="l">
              <a:defRPr sz="1000" b="0">
                <a:solidFill>
                  <a:srgbClr val="555555"/>
                </a:solidFill>
                <a:latin typeface="Arial"/>
              </a:defRPr>
            </a:pPr>
            <a:r>
              <a:t>LLM reasons about what</a:t>
            </a:r>
            <a:br/>
            <a:r>
              <a:t>to do next (chain-of-thought)</a:t>
            </a:r>
          </a:p>
        </p:txBody>
      </p:sp>
      <p:sp>
        <p:nvSpPr>
          <p:cNvPr id="12" name="Rectangle 11"/>
          <p:cNvSpPr/>
          <p:nvPr/>
        </p:nvSpPr>
        <p:spPr>
          <a:xfrm>
            <a:off x="502920" y="2834640"/>
            <a:ext cx="73152" cy="6858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34640"/>
            <a:ext cx="3657600" cy="274320"/>
          </a:xfrm>
          <a:prstGeom prst="rect">
            <a:avLst/>
          </a:prstGeom>
          <a:noFill/>
        </p:spPr>
        <p:txBody>
          <a:bodyPr wrap="square" anchor="t"/>
          <a:lstStyle/>
          <a:p>
            <a:pPr algn="l">
              <a:defRPr sz="1300" b="1">
                <a:solidFill>
                  <a:srgbClr val="FF9800"/>
                </a:solidFill>
                <a:latin typeface="Arial"/>
              </a:defRPr>
            </a:pPr>
            <a:r>
              <a:t>3. ACT</a:t>
            </a:r>
          </a:p>
        </p:txBody>
      </p:sp>
      <p:sp>
        <p:nvSpPr>
          <p:cNvPr id="14" name="TextBox 13"/>
          <p:cNvSpPr txBox="1"/>
          <p:nvPr/>
        </p:nvSpPr>
        <p:spPr>
          <a:xfrm>
            <a:off x="685800" y="3108960"/>
            <a:ext cx="3657600" cy="411480"/>
          </a:xfrm>
          <a:prstGeom prst="rect">
            <a:avLst/>
          </a:prstGeom>
          <a:noFill/>
        </p:spPr>
        <p:txBody>
          <a:bodyPr wrap="square" anchor="t"/>
          <a:lstStyle/>
          <a:p>
            <a:pPr algn="l">
              <a:defRPr sz="1000" b="0">
                <a:solidFill>
                  <a:srgbClr val="555555"/>
                </a:solidFill>
                <a:latin typeface="Arial"/>
              </a:defRPr>
            </a:pPr>
            <a:r>
              <a:t>Call a tool (search, code exec,</a:t>
            </a:r>
            <a:br/>
            <a:r>
              <a:t>API call) or respond</a:t>
            </a:r>
          </a:p>
        </p:txBody>
      </p:sp>
      <p:sp>
        <p:nvSpPr>
          <p:cNvPr id="15" name="Rectangle 14"/>
          <p:cNvSpPr/>
          <p:nvPr/>
        </p:nvSpPr>
        <p:spPr>
          <a:xfrm>
            <a:off x="502920" y="3611880"/>
            <a:ext cx="7315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11880"/>
            <a:ext cx="3657600" cy="274320"/>
          </a:xfrm>
          <a:prstGeom prst="rect">
            <a:avLst/>
          </a:prstGeom>
          <a:noFill/>
        </p:spPr>
        <p:txBody>
          <a:bodyPr wrap="square" anchor="t"/>
          <a:lstStyle/>
          <a:p>
            <a:pPr algn="l">
              <a:defRPr sz="1300" b="1">
                <a:solidFill>
                  <a:srgbClr val="4CAF50"/>
                </a:solidFill>
                <a:latin typeface="Arial"/>
              </a:defRPr>
            </a:pPr>
            <a:r>
              <a:t>4. EVALUATE</a:t>
            </a:r>
          </a:p>
        </p:txBody>
      </p:sp>
      <p:sp>
        <p:nvSpPr>
          <p:cNvPr id="17" name="TextBox 16"/>
          <p:cNvSpPr txBox="1"/>
          <p:nvPr/>
        </p:nvSpPr>
        <p:spPr>
          <a:xfrm>
            <a:off x="685800" y="3886200"/>
            <a:ext cx="3657600" cy="411480"/>
          </a:xfrm>
          <a:prstGeom prst="rect">
            <a:avLst/>
          </a:prstGeom>
          <a:noFill/>
        </p:spPr>
        <p:txBody>
          <a:bodyPr wrap="square" anchor="t"/>
          <a:lstStyle/>
          <a:p>
            <a:pPr algn="l">
              <a:defRPr sz="1000" b="0">
                <a:solidFill>
                  <a:srgbClr val="555555"/>
                </a:solidFill>
                <a:latin typeface="Arial"/>
              </a:defRPr>
            </a:pPr>
            <a:r>
              <a:t>Check result — is the task</a:t>
            </a:r>
            <a:br/>
            <a:r>
              <a:t>complete? Loop or finish.</a:t>
            </a:r>
          </a:p>
        </p:txBody>
      </p:sp>
      <p:sp>
        <p:nvSpPr>
          <p:cNvPr id="18" name="TextBox 17"/>
          <p:cNvSpPr txBox="1"/>
          <p:nvPr/>
        </p:nvSpPr>
        <p:spPr>
          <a:xfrm>
            <a:off x="4846320" y="822960"/>
            <a:ext cx="3840480" cy="320040"/>
          </a:xfrm>
          <a:prstGeom prst="rect">
            <a:avLst/>
          </a:prstGeom>
          <a:noFill/>
        </p:spPr>
        <p:txBody>
          <a:bodyPr wrap="square" anchor="t"/>
          <a:lstStyle/>
          <a:p>
            <a:pPr algn="l">
              <a:defRPr sz="1200" b="1">
                <a:solidFill>
                  <a:srgbClr val="1B2A4A"/>
                </a:solidFill>
                <a:latin typeface="Arial"/>
              </a:defRPr>
            </a:pPr>
            <a:r>
              <a:t>EXAMPLE: "What does the policy say about remote work?"</a:t>
            </a:r>
          </a:p>
        </p:txBody>
      </p:sp>
      <p:sp>
        <p:nvSpPr>
          <p:cNvPr id="19" name="Rectangle 18"/>
          <p:cNvSpPr/>
          <p:nvPr/>
        </p:nvSpPr>
        <p:spPr>
          <a:xfrm>
            <a:off x="4846320" y="1234440"/>
            <a:ext cx="3840480" cy="3474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371600"/>
            <a:ext cx="3474720" cy="228600"/>
          </a:xfrm>
          <a:prstGeom prst="rect">
            <a:avLst/>
          </a:prstGeom>
          <a:noFill/>
        </p:spPr>
        <p:txBody>
          <a:bodyPr wrap="square">
            <a:spAutoFit/>
          </a:bodyPr>
          <a:lstStyle/>
          <a:p>
            <a:r>
              <a:rPr sz="1000" b="1">
                <a:solidFill>
                  <a:srgbClr val="0097A7"/>
                </a:solidFill>
                <a:latin typeface="Arial"/>
              </a:rPr>
              <a:t>▶ Router:</a:t>
            </a:r>
            <a:r>
              <a:rPr sz="1000" b="0">
                <a:solidFill>
                  <a:srgbClr val="FFFFFF"/>
                </a:solidFill>
                <a:latin typeface="Arial"/>
              </a:rPr>
              <a:t> RAG intent detected (0.92 confidence)</a:t>
            </a:r>
          </a:p>
        </p:txBody>
      </p:sp>
      <p:sp>
        <p:nvSpPr>
          <p:cNvPr id="21" name="TextBox 20"/>
          <p:cNvSpPr txBox="1"/>
          <p:nvPr/>
        </p:nvSpPr>
        <p:spPr>
          <a:xfrm>
            <a:off x="5029200" y="1627632"/>
            <a:ext cx="3474720" cy="228600"/>
          </a:xfrm>
          <a:prstGeom prst="rect">
            <a:avLst/>
          </a:prstGeom>
          <a:noFill/>
        </p:spPr>
        <p:txBody>
          <a:bodyPr wrap="square">
            <a:spAutoFit/>
          </a:bodyPr>
          <a:lstStyle/>
          <a:p>
            <a:r>
              <a:rPr sz="1000" b="1">
                <a:solidFill>
                  <a:srgbClr val="0097A7"/>
                </a:solidFill>
                <a:latin typeface="Arial"/>
              </a:rPr>
              <a:t>▶ Agent:</a:t>
            </a:r>
            <a:r>
              <a:rPr sz="1000" b="0">
                <a:solidFill>
                  <a:srgbClr val="FFFFFF"/>
                </a:solidFill>
                <a:latin typeface="Arial"/>
              </a:rPr>
              <a:t> rag_worker selected</a:t>
            </a:r>
          </a:p>
        </p:txBody>
      </p:sp>
      <p:sp>
        <p:nvSpPr>
          <p:cNvPr id="22" name="TextBox 21"/>
          <p:cNvSpPr txBox="1"/>
          <p:nvPr/>
        </p:nvSpPr>
        <p:spPr>
          <a:xfrm>
            <a:off x="5029200" y="2020824"/>
            <a:ext cx="3474720" cy="228600"/>
          </a:xfrm>
          <a:prstGeom prst="rect">
            <a:avLst/>
          </a:prstGeom>
          <a:noFill/>
        </p:spPr>
        <p:txBody>
          <a:bodyPr wrap="square">
            <a:spAutoFit/>
          </a:bodyPr>
          <a:lstStyle/>
          <a:p>
            <a:r>
              <a:rPr sz="1000" b="1">
                <a:solidFill>
                  <a:srgbClr val="FF9800"/>
                </a:solidFill>
                <a:latin typeface="Arial"/>
              </a:rPr>
              <a:t>Step 1 — Observe:</a:t>
            </a:r>
            <a:r>
              <a:rPr sz="1000" b="0">
                <a:solidFill>
                  <a:srgbClr val="CCCCCC"/>
                </a:solidFill>
                <a:latin typeface="Arial"/>
              </a:rPr>
              <a:t> Parse query for search terms</a:t>
            </a:r>
          </a:p>
        </p:txBody>
      </p:sp>
      <p:sp>
        <p:nvSpPr>
          <p:cNvPr id="23" name="TextBox 22"/>
          <p:cNvSpPr txBox="1"/>
          <p:nvPr/>
        </p:nvSpPr>
        <p:spPr>
          <a:xfrm>
            <a:off x="5029200" y="2276856"/>
            <a:ext cx="3474720" cy="228600"/>
          </a:xfrm>
          <a:prstGeom prst="rect">
            <a:avLst/>
          </a:prstGeom>
          <a:noFill/>
        </p:spPr>
        <p:txBody>
          <a:bodyPr wrap="square">
            <a:spAutoFit/>
          </a:bodyPr>
          <a:lstStyle/>
          <a:p>
            <a:r>
              <a:rPr sz="1000" b="1">
                <a:solidFill>
                  <a:srgbClr val="FF9800"/>
                </a:solidFill>
                <a:latin typeface="Arial"/>
              </a:rPr>
              <a:t>Step 2 — Act:</a:t>
            </a:r>
            <a:r>
              <a:rPr sz="1000" b="0">
                <a:solidFill>
                  <a:srgbClr val="CCCCCC"/>
                </a:solidFill>
                <a:latin typeface="Arial"/>
              </a:rPr>
              <a:t> Hybrid search (vector + keyword)</a:t>
            </a:r>
          </a:p>
        </p:txBody>
      </p:sp>
      <p:sp>
        <p:nvSpPr>
          <p:cNvPr id="24" name="TextBox 23"/>
          <p:cNvSpPr txBox="1"/>
          <p:nvPr/>
        </p:nvSpPr>
        <p:spPr>
          <a:xfrm>
            <a:off x="5029200" y="2532888"/>
            <a:ext cx="3474720" cy="228600"/>
          </a:xfrm>
          <a:prstGeom prst="rect">
            <a:avLst/>
          </a:prstGeom>
          <a:noFill/>
        </p:spPr>
        <p:txBody>
          <a:bodyPr wrap="square">
            <a:spAutoFit/>
          </a:bodyPr>
          <a:lstStyle/>
          <a:p>
            <a:r>
              <a:rPr sz="1000" b="0">
                <a:solidFill>
                  <a:srgbClr val="999999"/>
                </a:solidFill>
                <a:latin typeface="Arial"/>
              </a:rPr>
              <a:t>  → Found 12 chunks from HR_Policy.pdf</a:t>
            </a:r>
          </a:p>
        </p:txBody>
      </p:sp>
      <p:sp>
        <p:nvSpPr>
          <p:cNvPr id="25" name="TextBox 24"/>
          <p:cNvSpPr txBox="1"/>
          <p:nvPr/>
        </p:nvSpPr>
        <p:spPr>
          <a:xfrm>
            <a:off x="5029200" y="2788920"/>
            <a:ext cx="3474720" cy="228600"/>
          </a:xfrm>
          <a:prstGeom prst="rect">
            <a:avLst/>
          </a:prstGeom>
          <a:noFill/>
        </p:spPr>
        <p:txBody>
          <a:bodyPr wrap="square">
            <a:spAutoFit/>
          </a:bodyPr>
          <a:lstStyle/>
          <a:p>
            <a:r>
              <a:rPr sz="1000" b="1">
                <a:solidFill>
                  <a:srgbClr val="FF9800"/>
                </a:solidFill>
                <a:latin typeface="Arial"/>
              </a:rPr>
              <a:t>Step 3 — Think:</a:t>
            </a:r>
            <a:r>
              <a:rPr sz="1000" b="0">
                <a:solidFill>
                  <a:srgbClr val="CCCCCC"/>
                </a:solidFill>
                <a:latin typeface="Arial"/>
              </a:rPr>
              <a:t> Grade relevance of chunks</a:t>
            </a:r>
          </a:p>
        </p:txBody>
      </p:sp>
      <p:sp>
        <p:nvSpPr>
          <p:cNvPr id="26" name="TextBox 25"/>
          <p:cNvSpPr txBox="1"/>
          <p:nvPr/>
        </p:nvSpPr>
        <p:spPr>
          <a:xfrm>
            <a:off x="5029200" y="3044952"/>
            <a:ext cx="3474720" cy="228600"/>
          </a:xfrm>
          <a:prstGeom prst="rect">
            <a:avLst/>
          </a:prstGeom>
          <a:noFill/>
        </p:spPr>
        <p:txBody>
          <a:bodyPr wrap="square">
            <a:spAutoFit/>
          </a:bodyPr>
          <a:lstStyle/>
          <a:p>
            <a:r>
              <a:rPr sz="1000" b="0">
                <a:solidFill>
                  <a:srgbClr val="999999"/>
                </a:solidFill>
                <a:latin typeface="Arial"/>
              </a:rPr>
              <a:t>  → 5 chunks scored 2+ (relevant)</a:t>
            </a:r>
          </a:p>
        </p:txBody>
      </p:sp>
      <p:sp>
        <p:nvSpPr>
          <p:cNvPr id="27" name="TextBox 26"/>
          <p:cNvSpPr txBox="1"/>
          <p:nvPr/>
        </p:nvSpPr>
        <p:spPr>
          <a:xfrm>
            <a:off x="5029200" y="3300984"/>
            <a:ext cx="3474720" cy="228600"/>
          </a:xfrm>
          <a:prstGeom prst="rect">
            <a:avLst/>
          </a:prstGeom>
          <a:noFill/>
        </p:spPr>
        <p:txBody>
          <a:bodyPr wrap="square">
            <a:spAutoFit/>
          </a:bodyPr>
          <a:lstStyle/>
          <a:p>
            <a:r>
              <a:rPr sz="1000" b="1">
                <a:solidFill>
                  <a:srgbClr val="FF9800"/>
                </a:solidFill>
                <a:latin typeface="Arial"/>
              </a:rPr>
              <a:t>Step 4 — Act:</a:t>
            </a:r>
            <a:r>
              <a:rPr sz="1000" b="0">
                <a:solidFill>
                  <a:srgbClr val="CCCCCC"/>
                </a:solidFill>
                <a:latin typeface="Arial"/>
              </a:rPr>
              <a:t> Synthesize grounded answer</a:t>
            </a:r>
          </a:p>
        </p:txBody>
      </p:sp>
      <p:sp>
        <p:nvSpPr>
          <p:cNvPr id="28" name="TextBox 27"/>
          <p:cNvSpPr txBox="1"/>
          <p:nvPr/>
        </p:nvSpPr>
        <p:spPr>
          <a:xfrm>
            <a:off x="5029200" y="3557016"/>
            <a:ext cx="3474720" cy="228600"/>
          </a:xfrm>
          <a:prstGeom prst="rect">
            <a:avLst/>
          </a:prstGeom>
          <a:noFill/>
        </p:spPr>
        <p:txBody>
          <a:bodyPr wrap="square">
            <a:spAutoFit/>
          </a:bodyPr>
          <a:lstStyle/>
          <a:p>
            <a:r>
              <a:rPr sz="1000" b="0">
                <a:solidFill>
                  <a:srgbClr val="999999"/>
                </a:solidFill>
                <a:latin typeface="Arial"/>
              </a:rPr>
              <a:t>  → Answer with 3 citations</a:t>
            </a:r>
          </a:p>
        </p:txBody>
      </p:sp>
      <p:sp>
        <p:nvSpPr>
          <p:cNvPr id="29" name="TextBox 28"/>
          <p:cNvSpPr txBox="1"/>
          <p:nvPr/>
        </p:nvSpPr>
        <p:spPr>
          <a:xfrm>
            <a:off x="5029200" y="3950208"/>
            <a:ext cx="3474720" cy="228600"/>
          </a:xfrm>
          <a:prstGeom prst="rect">
            <a:avLst/>
          </a:prstGeom>
          <a:noFill/>
        </p:spPr>
        <p:txBody>
          <a:bodyPr wrap="square">
            <a:spAutoFit/>
          </a:bodyPr>
          <a:lstStyle/>
          <a:p>
            <a:r>
              <a:rPr sz="1000" b="1">
                <a:solidFill>
                  <a:srgbClr val="4CAF50"/>
                </a:solidFill>
                <a:latin typeface="Arial"/>
              </a:rPr>
              <a:t>✓ Response:</a:t>
            </a:r>
            <a:r>
              <a:rPr sz="1000" b="0">
                <a:solidFill>
                  <a:srgbClr val="FFFFFF"/>
                </a:solidFill>
                <a:latin typeface="Arial"/>
              </a:rPr>
              <a:t> Streamed via SSE with citations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Agent Modes — One Harness, Many Strategies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0">
                <a:solidFill>
                  <a:srgbClr val="555555"/>
                </a:solidFill>
                <a:latin typeface="Arial"/>
              </a:defRPr>
            </a:pPr>
            <a:r>
              <a:t>Different tasks need different execution strategies. The harness routes to specialized agent modes.</a:t>
            </a:r>
          </a:p>
        </p:txBody>
      </p:sp>
      <p:sp>
        <p:nvSpPr>
          <p:cNvPr id="6" name="Rectangle 5"/>
          <p:cNvSpPr/>
          <p:nvPr/>
        </p:nvSpPr>
        <p:spPr>
          <a:xfrm>
            <a:off x="27432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196596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54480"/>
            <a:ext cx="1965960" cy="457200"/>
          </a:xfrm>
          <a:prstGeom prst="rect">
            <a:avLst/>
          </a:prstGeom>
          <a:noFill/>
        </p:spPr>
        <p:txBody>
          <a:bodyPr wrap="square" anchor="t"/>
          <a:lstStyle/>
          <a:p>
            <a:pPr algn="ctr">
              <a:defRPr sz="2800" b="0">
                <a:solidFill>
                  <a:srgbClr val="0097A7"/>
                </a:solidFill>
                <a:latin typeface="Arial"/>
              </a:defRPr>
            </a:pPr>
            <a:r>
              <a:t>//</a:t>
            </a:r>
          </a:p>
        </p:txBody>
      </p:sp>
      <p:sp>
        <p:nvSpPr>
          <p:cNvPr id="9" name="TextBox 8"/>
          <p:cNvSpPr txBox="1"/>
          <p:nvPr/>
        </p:nvSpPr>
        <p:spPr>
          <a:xfrm>
            <a:off x="411480" y="2057400"/>
            <a:ext cx="1691640" cy="320040"/>
          </a:xfrm>
          <a:prstGeom prst="rect">
            <a:avLst/>
          </a:prstGeom>
          <a:noFill/>
        </p:spPr>
        <p:txBody>
          <a:bodyPr wrap="square" anchor="t"/>
          <a:lstStyle/>
          <a:p>
            <a:pPr algn="ctr">
              <a:defRPr sz="1800" b="1">
                <a:solidFill>
                  <a:srgbClr val="FFFFFF"/>
                </a:solidFill>
                <a:latin typeface="Arial"/>
              </a:defRPr>
            </a:pPr>
            <a:r>
              <a:t>BASIC</a:t>
            </a:r>
          </a:p>
        </p:txBody>
      </p:sp>
      <p:sp>
        <p:nvSpPr>
          <p:cNvPr id="10" name="TextBox 9"/>
          <p:cNvSpPr txBox="1"/>
          <p:nvPr/>
        </p:nvSpPr>
        <p:spPr>
          <a:xfrm>
            <a:off x="411480" y="2468880"/>
            <a:ext cx="1691640" cy="548640"/>
          </a:xfrm>
          <a:prstGeom prst="rect">
            <a:avLst/>
          </a:prstGeom>
          <a:noFill/>
        </p:spPr>
        <p:txBody>
          <a:bodyPr wrap="square" anchor="t"/>
          <a:lstStyle/>
          <a:p>
            <a:pPr algn="ctr">
              <a:defRPr sz="1100" b="0">
                <a:solidFill>
                  <a:srgbClr val="CCCCCC"/>
                </a:solidFill>
                <a:latin typeface="Arial"/>
              </a:defRPr>
            </a:pPr>
            <a:r>
              <a:t>Single LLM call, no tools</a:t>
            </a:r>
          </a:p>
        </p:txBody>
      </p:sp>
      <p:sp>
        <p:nvSpPr>
          <p:cNvPr id="11" name="Rectangle 10"/>
          <p:cNvSpPr/>
          <p:nvPr/>
        </p:nvSpPr>
        <p:spPr>
          <a:xfrm>
            <a:off x="548640" y="3108960"/>
            <a:ext cx="14173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246119"/>
            <a:ext cx="1691640" cy="914400"/>
          </a:xfrm>
          <a:prstGeom prst="rect">
            <a:avLst/>
          </a:prstGeom>
          <a:noFill/>
        </p:spPr>
        <p:txBody>
          <a:bodyPr wrap="square" anchor="t"/>
          <a:lstStyle/>
          <a:p>
            <a:pPr algn="ctr">
              <a:defRPr sz="1000" b="0">
                <a:solidFill>
                  <a:srgbClr val="999999"/>
                </a:solidFill>
                <a:latin typeface="Arial"/>
              </a:defRPr>
            </a:pPr>
            <a:r>
              <a:t>Fast Q&amp;A, greetings, simple tasks</a:t>
            </a:r>
          </a:p>
        </p:txBody>
      </p:sp>
      <p:sp>
        <p:nvSpPr>
          <p:cNvPr id="13" name="Rectangle 12"/>
          <p:cNvSpPr/>
          <p:nvPr/>
        </p:nvSpPr>
        <p:spPr>
          <a:xfrm>
            <a:off x="237744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77440" y="1371600"/>
            <a:ext cx="1965960" cy="54864"/>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1554480"/>
            <a:ext cx="1965960" cy="457200"/>
          </a:xfrm>
          <a:prstGeom prst="rect">
            <a:avLst/>
          </a:prstGeom>
          <a:noFill/>
        </p:spPr>
        <p:txBody>
          <a:bodyPr wrap="square" anchor="t"/>
          <a:lstStyle/>
          <a:p>
            <a:pPr algn="ctr">
              <a:defRPr sz="2800" b="0">
                <a:solidFill>
                  <a:srgbClr val="5C6BC0"/>
                </a:solidFill>
                <a:latin typeface="Arial"/>
              </a:defRPr>
            </a:pPr>
            <a:r>
              <a:t>&lt;&gt;</a:t>
            </a:r>
          </a:p>
        </p:txBody>
      </p:sp>
      <p:sp>
        <p:nvSpPr>
          <p:cNvPr id="16" name="TextBox 15"/>
          <p:cNvSpPr txBox="1"/>
          <p:nvPr/>
        </p:nvSpPr>
        <p:spPr>
          <a:xfrm>
            <a:off x="2514600" y="2057400"/>
            <a:ext cx="1691640" cy="320040"/>
          </a:xfrm>
          <a:prstGeom prst="rect">
            <a:avLst/>
          </a:prstGeom>
          <a:noFill/>
        </p:spPr>
        <p:txBody>
          <a:bodyPr wrap="square" anchor="t"/>
          <a:lstStyle/>
          <a:p>
            <a:pPr algn="ctr">
              <a:defRPr sz="1800" b="1">
                <a:solidFill>
                  <a:srgbClr val="FFFFFF"/>
                </a:solidFill>
                <a:latin typeface="Arial"/>
              </a:defRPr>
            </a:pPr>
            <a:r>
              <a:t>REACT</a:t>
            </a:r>
          </a:p>
        </p:txBody>
      </p:sp>
      <p:sp>
        <p:nvSpPr>
          <p:cNvPr id="17" name="TextBox 16"/>
          <p:cNvSpPr txBox="1"/>
          <p:nvPr/>
        </p:nvSpPr>
        <p:spPr>
          <a:xfrm>
            <a:off x="2514600" y="2468880"/>
            <a:ext cx="1691640" cy="548640"/>
          </a:xfrm>
          <a:prstGeom prst="rect">
            <a:avLst/>
          </a:prstGeom>
          <a:noFill/>
        </p:spPr>
        <p:txBody>
          <a:bodyPr wrap="square" anchor="t"/>
          <a:lstStyle/>
          <a:p>
            <a:pPr algn="ctr">
              <a:defRPr sz="1100" b="0">
                <a:solidFill>
                  <a:srgbClr val="CCCCCC"/>
                </a:solidFill>
                <a:latin typeface="Arial"/>
              </a:defRPr>
            </a:pPr>
            <a:r>
              <a:t>ReAct loop with tool calling</a:t>
            </a:r>
          </a:p>
        </p:txBody>
      </p:sp>
      <p:sp>
        <p:nvSpPr>
          <p:cNvPr id="18" name="Rectangle 17"/>
          <p:cNvSpPr/>
          <p:nvPr/>
        </p:nvSpPr>
        <p:spPr>
          <a:xfrm>
            <a:off x="2651760" y="3108960"/>
            <a:ext cx="1417320" cy="1828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3246119"/>
            <a:ext cx="1691640" cy="914400"/>
          </a:xfrm>
          <a:prstGeom prst="rect">
            <a:avLst/>
          </a:prstGeom>
          <a:noFill/>
        </p:spPr>
        <p:txBody>
          <a:bodyPr wrap="square" anchor="t"/>
          <a:lstStyle/>
          <a:p>
            <a:pPr algn="ctr">
              <a:defRPr sz="1000" b="0">
                <a:solidFill>
                  <a:srgbClr val="999999"/>
                </a:solidFill>
                <a:latin typeface="Arial"/>
              </a:defRPr>
            </a:pPr>
            <a:r>
              <a:t>General tasks, data analysis, file ops</a:t>
            </a:r>
          </a:p>
        </p:txBody>
      </p:sp>
      <p:sp>
        <p:nvSpPr>
          <p:cNvPr id="20" name="Rectangle 19"/>
          <p:cNvSpPr/>
          <p:nvPr/>
        </p:nvSpPr>
        <p:spPr>
          <a:xfrm>
            <a:off x="448056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80560" y="1371600"/>
            <a:ext cx="196596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1554480"/>
            <a:ext cx="1965960" cy="457200"/>
          </a:xfrm>
          <a:prstGeom prst="rect">
            <a:avLst/>
          </a:prstGeom>
          <a:noFill/>
        </p:spPr>
        <p:txBody>
          <a:bodyPr wrap="square" anchor="t"/>
          <a:lstStyle/>
          <a:p>
            <a:pPr algn="ctr">
              <a:defRPr sz="2800" b="0">
                <a:solidFill>
                  <a:srgbClr val="FF9800"/>
                </a:solidFill>
                <a:latin typeface="Arial"/>
              </a:defRPr>
            </a:pPr>
            <a:r>
              <a:t>{}</a:t>
            </a:r>
          </a:p>
        </p:txBody>
      </p:sp>
      <p:sp>
        <p:nvSpPr>
          <p:cNvPr id="23" name="TextBox 22"/>
          <p:cNvSpPr txBox="1"/>
          <p:nvPr/>
        </p:nvSpPr>
        <p:spPr>
          <a:xfrm>
            <a:off x="4617720" y="2057400"/>
            <a:ext cx="1691640" cy="320040"/>
          </a:xfrm>
          <a:prstGeom prst="rect">
            <a:avLst/>
          </a:prstGeom>
          <a:noFill/>
        </p:spPr>
        <p:txBody>
          <a:bodyPr wrap="square" anchor="t"/>
          <a:lstStyle/>
          <a:p>
            <a:pPr algn="ctr">
              <a:defRPr sz="1800" b="1">
                <a:solidFill>
                  <a:srgbClr val="FFFFFF"/>
                </a:solidFill>
                <a:latin typeface="Arial"/>
              </a:defRPr>
            </a:pPr>
            <a:r>
              <a:t>RAG</a:t>
            </a:r>
          </a:p>
        </p:txBody>
      </p:sp>
      <p:sp>
        <p:nvSpPr>
          <p:cNvPr id="24" name="TextBox 23"/>
          <p:cNvSpPr txBox="1"/>
          <p:nvPr/>
        </p:nvSpPr>
        <p:spPr>
          <a:xfrm>
            <a:off x="4617720" y="2468880"/>
            <a:ext cx="1691640" cy="548640"/>
          </a:xfrm>
          <a:prstGeom prst="rect">
            <a:avLst/>
          </a:prstGeom>
          <a:noFill/>
        </p:spPr>
        <p:txBody>
          <a:bodyPr wrap="square" anchor="t"/>
          <a:lstStyle/>
          <a:p>
            <a:pPr algn="ctr">
              <a:defRPr sz="1100" b="0">
                <a:solidFill>
                  <a:srgbClr val="CCCCCC"/>
                </a:solidFill>
                <a:latin typeface="Arial"/>
              </a:defRPr>
            </a:pPr>
            <a:r>
              <a:t>Retrieve &gt; Grade &gt; Synthesize</a:t>
            </a:r>
          </a:p>
        </p:txBody>
      </p:sp>
      <p:sp>
        <p:nvSpPr>
          <p:cNvPr id="25" name="Rectangle 24"/>
          <p:cNvSpPr/>
          <p:nvPr/>
        </p:nvSpPr>
        <p:spPr>
          <a:xfrm>
            <a:off x="4754880" y="3108960"/>
            <a:ext cx="1417320" cy="1828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246119"/>
            <a:ext cx="1691640" cy="914400"/>
          </a:xfrm>
          <a:prstGeom prst="rect">
            <a:avLst/>
          </a:prstGeom>
          <a:noFill/>
        </p:spPr>
        <p:txBody>
          <a:bodyPr wrap="square" anchor="t"/>
          <a:lstStyle/>
          <a:p>
            <a:pPr algn="ctr">
              <a:defRPr sz="1000" b="0">
                <a:solidFill>
                  <a:srgbClr val="999999"/>
                </a:solidFill>
                <a:latin typeface="Arial"/>
              </a:defRPr>
            </a:pPr>
            <a:r>
              <a:t>Document search, policy questions</a:t>
            </a:r>
          </a:p>
        </p:txBody>
      </p:sp>
      <p:sp>
        <p:nvSpPr>
          <p:cNvPr id="27" name="Rectangle 26"/>
          <p:cNvSpPr/>
          <p:nvPr/>
        </p:nvSpPr>
        <p:spPr>
          <a:xfrm>
            <a:off x="658368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0" y="1371600"/>
            <a:ext cx="196596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554480"/>
            <a:ext cx="1965960" cy="457200"/>
          </a:xfrm>
          <a:prstGeom prst="rect">
            <a:avLst/>
          </a:prstGeom>
          <a:noFill/>
        </p:spPr>
        <p:txBody>
          <a:bodyPr wrap="square" anchor="t"/>
          <a:lstStyle/>
          <a:p>
            <a:pPr algn="ctr">
              <a:defRPr sz="2800" b="0">
                <a:solidFill>
                  <a:srgbClr val="7C4DFF"/>
                </a:solidFill>
                <a:latin typeface="Arial"/>
              </a:defRPr>
            </a:pPr>
            <a:r>
              <a:t>&gt;&gt;</a:t>
            </a:r>
          </a:p>
        </p:txBody>
      </p:sp>
      <p:sp>
        <p:nvSpPr>
          <p:cNvPr id="30" name="TextBox 29"/>
          <p:cNvSpPr txBox="1"/>
          <p:nvPr/>
        </p:nvSpPr>
        <p:spPr>
          <a:xfrm>
            <a:off x="6720840" y="2057400"/>
            <a:ext cx="1691640" cy="320040"/>
          </a:xfrm>
          <a:prstGeom prst="rect">
            <a:avLst/>
          </a:prstGeom>
          <a:noFill/>
        </p:spPr>
        <p:txBody>
          <a:bodyPr wrap="square" anchor="t"/>
          <a:lstStyle/>
          <a:p>
            <a:pPr algn="ctr">
              <a:defRPr sz="1800" b="1">
                <a:solidFill>
                  <a:srgbClr val="FFFFFF"/>
                </a:solidFill>
                <a:latin typeface="Arial"/>
              </a:defRPr>
            </a:pPr>
            <a:r>
              <a:t>COORD</a:t>
            </a:r>
          </a:p>
        </p:txBody>
      </p:sp>
      <p:sp>
        <p:nvSpPr>
          <p:cNvPr id="31" name="TextBox 30"/>
          <p:cNvSpPr txBox="1"/>
          <p:nvPr/>
        </p:nvSpPr>
        <p:spPr>
          <a:xfrm>
            <a:off x="6720840" y="2468880"/>
            <a:ext cx="1691640" cy="548640"/>
          </a:xfrm>
          <a:prstGeom prst="rect">
            <a:avLst/>
          </a:prstGeom>
          <a:noFill/>
        </p:spPr>
        <p:txBody>
          <a:bodyPr wrap="square" anchor="t"/>
          <a:lstStyle/>
          <a:p>
            <a:pPr algn="ctr">
              <a:defRPr sz="1100" b="0">
                <a:solidFill>
                  <a:srgbClr val="CCCCCC"/>
                </a:solidFill>
                <a:latin typeface="Arial"/>
              </a:defRPr>
            </a:pPr>
            <a:r>
              <a:t>Planner &gt; Workers &gt; Finalizer</a:t>
            </a:r>
          </a:p>
        </p:txBody>
      </p:sp>
      <p:sp>
        <p:nvSpPr>
          <p:cNvPr id="32" name="Rectangle 31"/>
          <p:cNvSpPr/>
          <p:nvPr/>
        </p:nvSpPr>
        <p:spPr>
          <a:xfrm>
            <a:off x="6858000" y="3108960"/>
            <a:ext cx="1417320" cy="18288"/>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3246119"/>
            <a:ext cx="1691640" cy="914400"/>
          </a:xfrm>
          <a:prstGeom prst="rect">
            <a:avLst/>
          </a:prstGeom>
          <a:noFill/>
        </p:spPr>
        <p:txBody>
          <a:bodyPr wrap="square" anchor="t"/>
          <a:lstStyle/>
          <a:p>
            <a:pPr algn="ctr">
              <a:defRPr sz="1000" b="0">
                <a:solidFill>
                  <a:srgbClr val="999999"/>
                </a:solidFill>
                <a:latin typeface="Arial"/>
              </a:defRPr>
            </a:pPr>
            <a:r>
              <a:t>Complex multi-step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Tools &amp; RAG — The Agent's Capabilities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TOOL SYSTEM</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54 tools in 8 groups, registered with the harness. Each agent gets a curated subset via its allowed_tools whitelist.</a:t>
            </a:r>
          </a:p>
        </p:txBody>
      </p:sp>
      <p:sp>
        <p:nvSpPr>
          <p:cNvPr id="7" name="Oval 6"/>
          <p:cNvSpPr/>
          <p:nvPr/>
        </p:nvSpPr>
        <p:spPr>
          <a:xfrm>
            <a:off x="502920" y="1719072"/>
            <a:ext cx="128016" cy="128016"/>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91640"/>
            <a:ext cx="1554480" cy="201168"/>
          </a:xfrm>
          <a:prstGeom prst="rect">
            <a:avLst/>
          </a:prstGeom>
          <a:noFill/>
        </p:spPr>
        <p:txBody>
          <a:bodyPr wrap="square" anchor="t"/>
          <a:lstStyle/>
          <a:p>
            <a:pPr algn="l">
              <a:defRPr sz="1000" b="1">
                <a:solidFill>
                  <a:srgbClr val="333333"/>
                </a:solidFill>
                <a:latin typeface="Arial"/>
              </a:defRPr>
            </a:pPr>
            <a:r>
              <a:t>Orchestration (14)</a:t>
            </a:r>
          </a:p>
        </p:txBody>
      </p:sp>
      <p:sp>
        <p:nvSpPr>
          <p:cNvPr id="9" name="TextBox 8"/>
          <p:cNvSpPr txBox="1"/>
          <p:nvPr/>
        </p:nvSpPr>
        <p:spPr>
          <a:xfrm>
            <a:off x="704088" y="1865376"/>
            <a:ext cx="3657600" cy="274320"/>
          </a:xfrm>
          <a:prstGeom prst="rect">
            <a:avLst/>
          </a:prstGeom>
          <a:noFill/>
        </p:spPr>
        <p:txBody>
          <a:bodyPr wrap="square" anchor="t"/>
          <a:lstStyle/>
          <a:p>
            <a:pPr algn="l">
              <a:defRPr sz="800" b="0">
                <a:solidFill>
                  <a:srgbClr val="777777"/>
                </a:solidFill>
                <a:latin typeface="Arial"/>
              </a:defRPr>
            </a:pPr>
            <a:r>
              <a:t>spawn/message workers, team mailbox, invoke agent, job control</a:t>
            </a:r>
          </a:p>
        </p:txBody>
      </p:sp>
      <p:sp>
        <p:nvSpPr>
          <p:cNvPr id="10" name="Oval 9"/>
          <p:cNvSpPr/>
          <p:nvPr/>
        </p:nvSpPr>
        <p:spPr>
          <a:xfrm>
            <a:off x="502920" y="214884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121408"/>
            <a:ext cx="1554480" cy="201168"/>
          </a:xfrm>
          <a:prstGeom prst="rect">
            <a:avLst/>
          </a:prstGeom>
          <a:noFill/>
        </p:spPr>
        <p:txBody>
          <a:bodyPr wrap="square" anchor="t"/>
          <a:lstStyle/>
          <a:p>
            <a:pPr algn="l">
              <a:defRPr sz="1000" b="1">
                <a:solidFill>
                  <a:srgbClr val="333333"/>
                </a:solidFill>
                <a:latin typeface="Arial"/>
              </a:defRPr>
            </a:pPr>
            <a:r>
              <a:t>RAG Gateway (12)</a:t>
            </a:r>
          </a:p>
        </p:txBody>
      </p:sp>
      <p:sp>
        <p:nvSpPr>
          <p:cNvPr id="12" name="TextBox 11"/>
          <p:cNvSpPr txBox="1"/>
          <p:nvPr/>
        </p:nvSpPr>
        <p:spPr>
          <a:xfrm>
            <a:off x="704088" y="2295144"/>
            <a:ext cx="3657600" cy="274320"/>
          </a:xfrm>
          <a:prstGeom prst="rect">
            <a:avLst/>
          </a:prstGeom>
          <a:noFill/>
        </p:spPr>
        <p:txBody>
          <a:bodyPr wrap="square" anchor="t"/>
          <a:lstStyle/>
          <a:p>
            <a:pPr algn="l">
              <a:defRPr sz="800" b="0">
                <a:solidFill>
                  <a:srgbClr val="777777"/>
                </a:solidFill>
                <a:latin typeface="Arial"/>
              </a:defRPr>
            </a:pPr>
            <a:r>
              <a:t>search, read, compare docs, extract, consolidate, evidence binder</a:t>
            </a:r>
          </a:p>
        </p:txBody>
      </p:sp>
      <p:sp>
        <p:nvSpPr>
          <p:cNvPr id="13" name="Oval 12"/>
          <p:cNvSpPr/>
          <p:nvPr/>
        </p:nvSpPr>
        <p:spPr>
          <a:xfrm>
            <a:off x="502920" y="2578608"/>
            <a:ext cx="128016" cy="128016"/>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551176"/>
            <a:ext cx="1554480" cy="201168"/>
          </a:xfrm>
          <a:prstGeom prst="rect">
            <a:avLst/>
          </a:prstGeom>
          <a:noFill/>
        </p:spPr>
        <p:txBody>
          <a:bodyPr wrap="square" anchor="t"/>
          <a:lstStyle/>
          <a:p>
            <a:pPr algn="l">
              <a:defRPr sz="1000" b="1">
                <a:solidFill>
                  <a:srgbClr val="333333"/>
                </a:solidFill>
                <a:latin typeface="Arial"/>
              </a:defRPr>
            </a:pPr>
            <a:r>
              <a:t>Analyst (11)</a:t>
            </a:r>
          </a:p>
        </p:txBody>
      </p:sp>
      <p:sp>
        <p:nvSpPr>
          <p:cNvPr id="15" name="TextBox 14"/>
          <p:cNvSpPr txBox="1"/>
          <p:nvPr/>
        </p:nvSpPr>
        <p:spPr>
          <a:xfrm>
            <a:off x="704088" y="2724912"/>
            <a:ext cx="3657600" cy="274320"/>
          </a:xfrm>
          <a:prstGeom prst="rect">
            <a:avLst/>
          </a:prstGeom>
          <a:noFill/>
        </p:spPr>
        <p:txBody>
          <a:bodyPr wrap="square" anchor="t"/>
          <a:lstStyle/>
          <a:p>
            <a:pPr algn="l">
              <a:defRPr sz="800" b="0">
                <a:solidFill>
                  <a:srgbClr val="777777"/>
                </a:solidFill>
                <a:latin typeface="Arial"/>
              </a:defRPr>
            </a:pPr>
            <a:r>
              <a:t>load_dataset, execute_code (Docker), scratchpad, workspace ops</a:t>
            </a:r>
          </a:p>
        </p:txBody>
      </p:sp>
      <p:sp>
        <p:nvSpPr>
          <p:cNvPr id="16" name="Oval 15"/>
          <p:cNvSpPr/>
          <p:nvPr/>
        </p:nvSpPr>
        <p:spPr>
          <a:xfrm>
            <a:off x="502920" y="3008376"/>
            <a:ext cx="128016" cy="128016"/>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80944"/>
            <a:ext cx="1554480" cy="201168"/>
          </a:xfrm>
          <a:prstGeom prst="rect">
            <a:avLst/>
          </a:prstGeom>
          <a:noFill/>
        </p:spPr>
        <p:txBody>
          <a:bodyPr wrap="square" anchor="t"/>
          <a:lstStyle/>
          <a:p>
            <a:pPr algn="l">
              <a:defRPr sz="1000" b="1">
                <a:solidFill>
                  <a:srgbClr val="333333"/>
                </a:solidFill>
                <a:latin typeface="Arial"/>
              </a:defRPr>
            </a:pPr>
            <a:r>
              <a:t>Graph Gateway (8)</a:t>
            </a:r>
          </a:p>
        </p:txBody>
      </p:sp>
      <p:sp>
        <p:nvSpPr>
          <p:cNvPr id="18" name="TextBox 17"/>
          <p:cNvSpPr txBox="1"/>
          <p:nvPr/>
        </p:nvSpPr>
        <p:spPr>
          <a:xfrm>
            <a:off x="704088" y="3154680"/>
            <a:ext cx="3657600" cy="274320"/>
          </a:xfrm>
          <a:prstGeom prst="rect">
            <a:avLst/>
          </a:prstGeom>
          <a:noFill/>
        </p:spPr>
        <p:txBody>
          <a:bodyPr wrap="square" anchor="t"/>
          <a:lstStyle/>
          <a:p>
            <a:pPr algn="l">
              <a:defRPr sz="800" b="0">
                <a:solidFill>
                  <a:srgbClr val="777777"/>
                </a:solidFill>
                <a:latin typeface="Arial"/>
              </a:defRPr>
            </a:pPr>
            <a:r>
              <a:t>index/search/import graphs, explain source plan</a:t>
            </a:r>
          </a:p>
        </p:txBody>
      </p:sp>
      <p:sp>
        <p:nvSpPr>
          <p:cNvPr id="19" name="Oval 18"/>
          <p:cNvSpPr/>
          <p:nvPr/>
        </p:nvSpPr>
        <p:spPr>
          <a:xfrm>
            <a:off x="502920" y="3438144"/>
            <a:ext cx="128016" cy="128016"/>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10712"/>
            <a:ext cx="1554480" cy="201168"/>
          </a:xfrm>
          <a:prstGeom prst="rect">
            <a:avLst/>
          </a:prstGeom>
          <a:noFill/>
        </p:spPr>
        <p:txBody>
          <a:bodyPr wrap="square" anchor="t"/>
          <a:lstStyle/>
          <a:p>
            <a:pPr algn="l">
              <a:defRPr sz="1000" b="1">
                <a:solidFill>
                  <a:srgbClr val="333333"/>
                </a:solidFill>
                <a:latin typeface="Arial"/>
              </a:defRPr>
            </a:pPr>
            <a:r>
              <a:t>Memory (3)</a:t>
            </a:r>
          </a:p>
        </p:txBody>
      </p:sp>
      <p:sp>
        <p:nvSpPr>
          <p:cNvPr id="21" name="TextBox 20"/>
          <p:cNvSpPr txBox="1"/>
          <p:nvPr/>
        </p:nvSpPr>
        <p:spPr>
          <a:xfrm>
            <a:off x="704088" y="3584448"/>
            <a:ext cx="3657600" cy="274320"/>
          </a:xfrm>
          <a:prstGeom prst="rect">
            <a:avLst/>
          </a:prstGeom>
          <a:noFill/>
        </p:spPr>
        <p:txBody>
          <a:bodyPr wrap="square" anchor="t"/>
          <a:lstStyle/>
          <a:p>
            <a:pPr algn="l">
              <a:defRPr sz="800" b="0">
                <a:solidFill>
                  <a:srgbClr val="777777"/>
                </a:solidFill>
                <a:latin typeface="Arial"/>
              </a:defRPr>
            </a:pPr>
            <a:r>
              <a:t>memory_save, memory_load, memory_list</a:t>
            </a:r>
          </a:p>
        </p:txBody>
      </p:sp>
      <p:sp>
        <p:nvSpPr>
          <p:cNvPr id="22" name="Oval 21"/>
          <p:cNvSpPr/>
          <p:nvPr/>
        </p:nvSpPr>
        <p:spPr>
          <a:xfrm>
            <a:off x="502920" y="3867912"/>
            <a:ext cx="128016" cy="128016"/>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840480"/>
            <a:ext cx="1554480" cy="201168"/>
          </a:xfrm>
          <a:prstGeom prst="rect">
            <a:avLst/>
          </a:prstGeom>
          <a:noFill/>
        </p:spPr>
        <p:txBody>
          <a:bodyPr wrap="square" anchor="t"/>
          <a:lstStyle/>
          <a:p>
            <a:pPr algn="l">
              <a:defRPr sz="1000" b="1">
                <a:solidFill>
                  <a:srgbClr val="333333"/>
                </a:solidFill>
                <a:latin typeface="Arial"/>
              </a:defRPr>
            </a:pPr>
            <a:r>
              <a:t>Utility (3)</a:t>
            </a:r>
          </a:p>
        </p:txBody>
      </p:sp>
      <p:sp>
        <p:nvSpPr>
          <p:cNvPr id="24" name="TextBox 23"/>
          <p:cNvSpPr txBox="1"/>
          <p:nvPr/>
        </p:nvSpPr>
        <p:spPr>
          <a:xfrm>
            <a:off x="704088" y="4014216"/>
            <a:ext cx="3657600" cy="274320"/>
          </a:xfrm>
          <a:prstGeom prst="rect">
            <a:avLst/>
          </a:prstGeom>
          <a:noFill/>
        </p:spPr>
        <p:txBody>
          <a:bodyPr wrap="square" anchor="t"/>
          <a:lstStyle/>
          <a:p>
            <a:pPr algn="l">
              <a:defRPr sz="800" b="0">
                <a:solidFill>
                  <a:srgbClr val="777777"/>
                </a:solidFill>
                <a:latin typeface="Arial"/>
              </a:defRPr>
            </a:pPr>
            <a:r>
              <a:t>calculator, list_indexed_docs, search_skills</a:t>
            </a:r>
          </a:p>
        </p:txBody>
      </p:sp>
      <p:sp>
        <p:nvSpPr>
          <p:cNvPr id="25" name="Oval 24"/>
          <p:cNvSpPr/>
          <p:nvPr/>
        </p:nvSpPr>
        <p:spPr>
          <a:xfrm>
            <a:off x="502920" y="4297680"/>
            <a:ext cx="128016" cy="128016"/>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270248"/>
            <a:ext cx="1554480" cy="201168"/>
          </a:xfrm>
          <a:prstGeom prst="rect">
            <a:avLst/>
          </a:prstGeom>
          <a:noFill/>
        </p:spPr>
        <p:txBody>
          <a:bodyPr wrap="square" anchor="t"/>
          <a:lstStyle/>
          <a:p>
            <a:pPr algn="l">
              <a:defRPr sz="1000" b="1">
                <a:solidFill>
                  <a:srgbClr val="333333"/>
                </a:solidFill>
                <a:latin typeface="Arial"/>
              </a:defRPr>
            </a:pPr>
            <a:r>
              <a:t>Discovery (2)</a:t>
            </a:r>
          </a:p>
        </p:txBody>
      </p:sp>
      <p:sp>
        <p:nvSpPr>
          <p:cNvPr id="27" name="TextBox 26"/>
          <p:cNvSpPr txBox="1"/>
          <p:nvPr/>
        </p:nvSpPr>
        <p:spPr>
          <a:xfrm>
            <a:off x="704088" y="4443984"/>
            <a:ext cx="3657600" cy="274320"/>
          </a:xfrm>
          <a:prstGeom prst="rect">
            <a:avLst/>
          </a:prstGeom>
          <a:noFill/>
        </p:spPr>
        <p:txBody>
          <a:bodyPr wrap="square" anchor="t"/>
          <a:lstStyle/>
          <a:p>
            <a:pPr algn="l">
              <a:defRPr sz="800" b="0">
                <a:solidFill>
                  <a:srgbClr val="777777"/>
                </a:solidFill>
                <a:latin typeface="Arial"/>
              </a:defRPr>
            </a:pPr>
            <a:r>
              <a:t>discover_tools, call_deferred_tool</a:t>
            </a:r>
          </a:p>
        </p:txBody>
      </p:sp>
      <p:sp>
        <p:nvSpPr>
          <p:cNvPr id="28" name="Oval 27"/>
          <p:cNvSpPr/>
          <p:nvPr/>
        </p:nvSpPr>
        <p:spPr>
          <a:xfrm>
            <a:off x="502920" y="4727448"/>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700016"/>
            <a:ext cx="1554480" cy="201168"/>
          </a:xfrm>
          <a:prstGeom prst="rect">
            <a:avLst/>
          </a:prstGeom>
          <a:noFill/>
        </p:spPr>
        <p:txBody>
          <a:bodyPr wrap="square" anchor="t"/>
          <a:lstStyle/>
          <a:p>
            <a:pPr algn="l">
              <a:defRPr sz="1000" b="1">
                <a:solidFill>
                  <a:srgbClr val="333333"/>
                </a:solidFill>
                <a:latin typeface="Arial"/>
              </a:defRPr>
            </a:pPr>
            <a:r>
              <a:t>Skills (1)</a:t>
            </a:r>
          </a:p>
        </p:txBody>
      </p:sp>
      <p:sp>
        <p:nvSpPr>
          <p:cNvPr id="30" name="TextBox 29"/>
          <p:cNvSpPr txBox="1"/>
          <p:nvPr/>
        </p:nvSpPr>
        <p:spPr>
          <a:xfrm>
            <a:off x="704088" y="4873752"/>
            <a:ext cx="3657600" cy="274320"/>
          </a:xfrm>
          <a:prstGeom prst="rect">
            <a:avLst/>
          </a:prstGeom>
          <a:noFill/>
        </p:spPr>
        <p:txBody>
          <a:bodyPr wrap="square" anchor="t"/>
          <a:lstStyle/>
          <a:p>
            <a:pPr algn="l">
              <a:defRPr sz="800" b="0">
                <a:solidFill>
                  <a:srgbClr val="777777"/>
                </a:solidFill>
                <a:latin typeface="Arial"/>
              </a:defRPr>
            </a:pPr>
            <a:r>
              <a:t>execute_skill (dynamic skill execution)</a:t>
            </a:r>
          </a:p>
        </p:txBody>
      </p:sp>
      <p:sp>
        <p:nvSpPr>
          <p:cNvPr id="31" name="TextBox 30"/>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RAG PIPELINE</a:t>
            </a:r>
          </a:p>
        </p:txBody>
      </p:sp>
      <p:sp>
        <p:nvSpPr>
          <p:cNvPr id="32" name="TextBox 31"/>
          <p:cNvSpPr txBox="1"/>
          <p:nvPr/>
        </p:nvSpPr>
        <p:spPr>
          <a:xfrm>
            <a:off x="4754880" y="1143000"/>
            <a:ext cx="3931920" cy="457200"/>
          </a:xfrm>
          <a:prstGeom prst="rect">
            <a:avLst/>
          </a:prstGeom>
          <a:noFill/>
        </p:spPr>
        <p:txBody>
          <a:bodyPr wrap="square" anchor="t"/>
          <a:lstStyle/>
          <a:p>
            <a:pPr algn="l">
              <a:defRPr sz="1100" b="0">
                <a:solidFill>
                  <a:srgbClr val="666666"/>
                </a:solidFill>
                <a:latin typeface="Arial"/>
              </a:defRPr>
            </a:pPr>
            <a:r>
              <a:t>Retrieval-Augmented Generation grounds answers in your actual documents with citations.</a:t>
            </a:r>
          </a:p>
        </p:txBody>
      </p:sp>
      <p:sp>
        <p:nvSpPr>
          <p:cNvPr id="33" name="Oval 32"/>
          <p:cNvSpPr/>
          <p:nvPr/>
        </p:nvSpPr>
        <p:spPr>
          <a:xfrm>
            <a:off x="4754880" y="1691640"/>
            <a:ext cx="274320" cy="274320"/>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34" name="TextBox 33"/>
          <p:cNvSpPr txBox="1"/>
          <p:nvPr/>
        </p:nvSpPr>
        <p:spPr>
          <a:xfrm>
            <a:off x="5120640" y="1691640"/>
            <a:ext cx="1645920" cy="274320"/>
          </a:xfrm>
          <a:prstGeom prst="rect">
            <a:avLst/>
          </a:prstGeom>
          <a:noFill/>
        </p:spPr>
        <p:txBody>
          <a:bodyPr wrap="square" anchor="t"/>
          <a:lstStyle/>
          <a:p>
            <a:pPr algn="l">
              <a:defRPr sz="1100" b="1">
                <a:solidFill>
                  <a:srgbClr val="333333"/>
                </a:solidFill>
                <a:latin typeface="Arial"/>
              </a:defRPr>
            </a:pPr>
            <a:r>
              <a:t>Query Analysis</a:t>
            </a:r>
          </a:p>
        </p:txBody>
      </p:sp>
      <p:sp>
        <p:nvSpPr>
          <p:cNvPr id="35" name="TextBox 34"/>
          <p:cNvSpPr txBox="1"/>
          <p:nvPr/>
        </p:nvSpPr>
        <p:spPr>
          <a:xfrm>
            <a:off x="6675120" y="1691640"/>
            <a:ext cx="2103120" cy="274320"/>
          </a:xfrm>
          <a:prstGeom prst="rect">
            <a:avLst/>
          </a:prstGeom>
          <a:noFill/>
        </p:spPr>
        <p:txBody>
          <a:bodyPr wrap="square" anchor="t"/>
          <a:lstStyle/>
          <a:p>
            <a:pPr algn="l">
              <a:defRPr sz="1000" b="0">
                <a:solidFill>
                  <a:srgbClr val="666666"/>
                </a:solidFill>
                <a:latin typeface="Arial"/>
              </a:defRPr>
            </a:pPr>
            <a:r>
              <a:t>Parse intent, extract entities</a:t>
            </a:r>
          </a:p>
        </p:txBody>
      </p:sp>
      <p:sp>
        <p:nvSpPr>
          <p:cNvPr id="36" name="Rectangle 35"/>
          <p:cNvSpPr/>
          <p:nvPr/>
        </p:nvSpPr>
        <p:spPr>
          <a:xfrm>
            <a:off x="4882896" y="198424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754880" y="2194560"/>
            <a:ext cx="274320" cy="2743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38" name="TextBox 37"/>
          <p:cNvSpPr txBox="1"/>
          <p:nvPr/>
        </p:nvSpPr>
        <p:spPr>
          <a:xfrm>
            <a:off x="5120640" y="2194560"/>
            <a:ext cx="1645920" cy="274320"/>
          </a:xfrm>
          <a:prstGeom prst="rect">
            <a:avLst/>
          </a:prstGeom>
          <a:noFill/>
        </p:spPr>
        <p:txBody>
          <a:bodyPr wrap="square" anchor="t"/>
          <a:lstStyle/>
          <a:p>
            <a:pPr algn="l">
              <a:defRPr sz="1100" b="1">
                <a:solidFill>
                  <a:srgbClr val="333333"/>
                </a:solidFill>
                <a:latin typeface="Arial"/>
              </a:defRPr>
            </a:pPr>
            <a:r>
              <a:t>Hybrid Retrieval</a:t>
            </a:r>
          </a:p>
        </p:txBody>
      </p:sp>
      <p:sp>
        <p:nvSpPr>
          <p:cNvPr id="39" name="TextBox 38"/>
          <p:cNvSpPr txBox="1"/>
          <p:nvPr/>
        </p:nvSpPr>
        <p:spPr>
          <a:xfrm>
            <a:off x="6675120" y="2194560"/>
            <a:ext cx="2103120" cy="274320"/>
          </a:xfrm>
          <a:prstGeom prst="rect">
            <a:avLst/>
          </a:prstGeom>
          <a:noFill/>
        </p:spPr>
        <p:txBody>
          <a:bodyPr wrap="square" anchor="t"/>
          <a:lstStyle/>
          <a:p>
            <a:pPr algn="l">
              <a:defRPr sz="1000" b="0">
                <a:solidFill>
                  <a:srgbClr val="666666"/>
                </a:solidFill>
                <a:latin typeface="Arial"/>
              </a:defRPr>
            </a:pPr>
            <a:r>
              <a:t>Vector + keyword search in parallel</a:t>
            </a:r>
          </a:p>
        </p:txBody>
      </p:sp>
      <p:sp>
        <p:nvSpPr>
          <p:cNvPr id="40" name="Rectangle 39"/>
          <p:cNvSpPr/>
          <p:nvPr/>
        </p:nvSpPr>
        <p:spPr>
          <a:xfrm>
            <a:off x="4882896" y="248716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54880" y="2697480"/>
            <a:ext cx="274320" cy="2743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42" name="TextBox 41"/>
          <p:cNvSpPr txBox="1"/>
          <p:nvPr/>
        </p:nvSpPr>
        <p:spPr>
          <a:xfrm>
            <a:off x="5120640" y="2697480"/>
            <a:ext cx="1645920" cy="274320"/>
          </a:xfrm>
          <a:prstGeom prst="rect">
            <a:avLst/>
          </a:prstGeom>
          <a:noFill/>
        </p:spPr>
        <p:txBody>
          <a:bodyPr wrap="square" anchor="t"/>
          <a:lstStyle/>
          <a:p>
            <a:pPr algn="l">
              <a:defRPr sz="1100" b="1">
                <a:solidFill>
                  <a:srgbClr val="333333"/>
                </a:solidFill>
                <a:latin typeface="Arial"/>
              </a:defRPr>
            </a:pPr>
            <a:r>
              <a:t>Judge Grading</a:t>
            </a:r>
          </a:p>
        </p:txBody>
      </p:sp>
      <p:sp>
        <p:nvSpPr>
          <p:cNvPr id="43" name="TextBox 42"/>
          <p:cNvSpPr txBox="1"/>
          <p:nvPr/>
        </p:nvSpPr>
        <p:spPr>
          <a:xfrm>
            <a:off x="6675120" y="2697480"/>
            <a:ext cx="2103120" cy="274320"/>
          </a:xfrm>
          <a:prstGeom prst="rect">
            <a:avLst/>
          </a:prstGeom>
          <a:noFill/>
        </p:spPr>
        <p:txBody>
          <a:bodyPr wrap="square" anchor="t"/>
          <a:lstStyle/>
          <a:p>
            <a:pPr algn="l">
              <a:defRPr sz="1000" b="0">
                <a:solidFill>
                  <a:srgbClr val="666666"/>
                </a:solidFill>
                <a:latin typeface="Arial"/>
              </a:defRPr>
            </a:pPr>
            <a:r>
              <a:t>LLM scores each chunk 0-3 for relevance</a:t>
            </a:r>
          </a:p>
        </p:txBody>
      </p:sp>
      <p:sp>
        <p:nvSpPr>
          <p:cNvPr id="44" name="Rectangle 43"/>
          <p:cNvSpPr/>
          <p:nvPr/>
        </p:nvSpPr>
        <p:spPr>
          <a:xfrm>
            <a:off x="4882896" y="299008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754880" y="3200400"/>
            <a:ext cx="274320" cy="274320"/>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46" name="TextBox 45"/>
          <p:cNvSpPr txBox="1"/>
          <p:nvPr/>
        </p:nvSpPr>
        <p:spPr>
          <a:xfrm>
            <a:off x="5120640" y="3200400"/>
            <a:ext cx="1645920" cy="274320"/>
          </a:xfrm>
          <a:prstGeom prst="rect">
            <a:avLst/>
          </a:prstGeom>
          <a:noFill/>
        </p:spPr>
        <p:txBody>
          <a:bodyPr wrap="square" anchor="t"/>
          <a:lstStyle/>
          <a:p>
            <a:pPr algn="l">
              <a:defRPr sz="1100" b="1">
                <a:solidFill>
                  <a:srgbClr val="333333"/>
                </a:solidFill>
                <a:latin typeface="Arial"/>
              </a:defRPr>
            </a:pPr>
            <a:r>
              <a:t>Evidence Assembly</a:t>
            </a:r>
          </a:p>
        </p:txBody>
      </p:sp>
      <p:sp>
        <p:nvSpPr>
          <p:cNvPr id="47" name="TextBox 46"/>
          <p:cNvSpPr txBox="1"/>
          <p:nvPr/>
        </p:nvSpPr>
        <p:spPr>
          <a:xfrm>
            <a:off x="6675120" y="3200400"/>
            <a:ext cx="2103120" cy="274320"/>
          </a:xfrm>
          <a:prstGeom prst="rect">
            <a:avLst/>
          </a:prstGeom>
          <a:noFill/>
        </p:spPr>
        <p:txBody>
          <a:bodyPr wrap="square" anchor="t"/>
          <a:lstStyle/>
          <a:p>
            <a:pPr algn="l">
              <a:defRPr sz="1000" b="0">
                <a:solidFill>
                  <a:srgbClr val="666666"/>
                </a:solidFill>
                <a:latin typeface="Arial"/>
              </a:defRPr>
            </a:pPr>
            <a:r>
              <a:t>Deduplicate, rank, budget context</a:t>
            </a:r>
          </a:p>
        </p:txBody>
      </p:sp>
      <p:sp>
        <p:nvSpPr>
          <p:cNvPr id="48" name="Rectangle 47"/>
          <p:cNvSpPr/>
          <p:nvPr/>
        </p:nvSpPr>
        <p:spPr>
          <a:xfrm>
            <a:off x="4882896" y="349300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754880" y="3703320"/>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50" name="TextBox 49"/>
          <p:cNvSpPr txBox="1"/>
          <p:nvPr/>
        </p:nvSpPr>
        <p:spPr>
          <a:xfrm>
            <a:off x="5120640" y="3703320"/>
            <a:ext cx="1645920" cy="274320"/>
          </a:xfrm>
          <a:prstGeom prst="rect">
            <a:avLst/>
          </a:prstGeom>
          <a:noFill/>
        </p:spPr>
        <p:txBody>
          <a:bodyPr wrap="square" anchor="t"/>
          <a:lstStyle/>
          <a:p>
            <a:pPr algn="l">
              <a:defRPr sz="1100" b="1">
                <a:solidFill>
                  <a:srgbClr val="333333"/>
                </a:solidFill>
                <a:latin typeface="Arial"/>
              </a:defRPr>
            </a:pPr>
            <a:r>
              <a:t>Synthesis</a:t>
            </a:r>
          </a:p>
        </p:txBody>
      </p:sp>
      <p:sp>
        <p:nvSpPr>
          <p:cNvPr id="51" name="TextBox 50"/>
          <p:cNvSpPr txBox="1"/>
          <p:nvPr/>
        </p:nvSpPr>
        <p:spPr>
          <a:xfrm>
            <a:off x="6675120" y="3703320"/>
            <a:ext cx="2103120" cy="274320"/>
          </a:xfrm>
          <a:prstGeom prst="rect">
            <a:avLst/>
          </a:prstGeom>
          <a:noFill/>
        </p:spPr>
        <p:txBody>
          <a:bodyPr wrap="square" anchor="t"/>
          <a:lstStyle/>
          <a:p>
            <a:pPr algn="l">
              <a:defRPr sz="1000" b="0">
                <a:solidFill>
                  <a:srgbClr val="666666"/>
                </a:solidFill>
                <a:latin typeface="Arial"/>
              </a:defRPr>
            </a:pPr>
            <a:r>
              <a:t>Generate grounded answer with citations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Our Agent Harness at a Glance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300" b="0">
                <a:solidFill>
                  <a:srgbClr val="555555"/>
                </a:solidFill>
                <a:latin typeface="Arial"/>
              </a:defRPr>
            </a:pPr>
            <a:r>
              <a:t>This deck deep-dives into our production agent harness. Here's what makes it distinctive:</a:t>
            </a:r>
          </a:p>
        </p:txBody>
      </p:sp>
      <p:sp>
        <p:nvSpPr>
          <p:cNvPr id="6" name="TextBox 5"/>
          <p:cNvSpPr txBox="1"/>
          <p:nvPr/>
        </p:nvSpPr>
        <p:spPr>
          <a:xfrm>
            <a:off x="640080" y="1371600"/>
            <a:ext cx="1645920" cy="640080"/>
          </a:xfrm>
          <a:prstGeom prst="rect">
            <a:avLst/>
          </a:prstGeom>
          <a:noFill/>
        </p:spPr>
        <p:txBody>
          <a:bodyPr wrap="square" anchor="t"/>
          <a:lstStyle/>
          <a:p>
            <a:pPr algn="ctr">
              <a:defRPr sz="4400" b="1">
                <a:solidFill>
                  <a:srgbClr val="0097A7"/>
                </a:solidFill>
                <a:latin typeface="Arial"/>
              </a:defRPr>
            </a:pPr>
            <a:r>
              <a:t>11</a:t>
            </a:r>
          </a:p>
        </p:txBody>
      </p:sp>
      <p:sp>
        <p:nvSpPr>
          <p:cNvPr id="7" name="TextBox 6"/>
          <p:cNvSpPr txBox="1"/>
          <p:nvPr/>
        </p:nvSpPr>
        <p:spPr>
          <a:xfrm>
            <a:off x="640080" y="2011680"/>
            <a:ext cx="1645920" cy="457200"/>
          </a:xfrm>
          <a:prstGeom prst="rect">
            <a:avLst/>
          </a:prstGeom>
          <a:noFill/>
        </p:spPr>
        <p:txBody>
          <a:bodyPr wrap="square" anchor="t"/>
          <a:lstStyle/>
          <a:p>
            <a:pPr algn="ctr">
              <a:defRPr sz="1200" b="0">
                <a:solidFill>
                  <a:srgbClr val="666666"/>
                </a:solidFill>
                <a:latin typeface="Arial"/>
              </a:defRPr>
            </a:pPr>
            <a:r>
              <a:t>Specialized</a:t>
            </a:r>
            <a:br/>
            <a:r>
              <a:t>Agents</a:t>
            </a:r>
          </a:p>
        </p:txBody>
      </p:sp>
      <p:sp>
        <p:nvSpPr>
          <p:cNvPr id="8" name="TextBox 7"/>
          <p:cNvSpPr txBox="1"/>
          <p:nvPr/>
        </p:nvSpPr>
        <p:spPr>
          <a:xfrm>
            <a:off x="2697480" y="1371600"/>
            <a:ext cx="1645920" cy="640080"/>
          </a:xfrm>
          <a:prstGeom prst="rect">
            <a:avLst/>
          </a:prstGeom>
          <a:noFill/>
        </p:spPr>
        <p:txBody>
          <a:bodyPr wrap="square" anchor="t"/>
          <a:lstStyle/>
          <a:p>
            <a:pPr algn="ctr">
              <a:defRPr sz="4400" b="1">
                <a:solidFill>
                  <a:srgbClr val="FF9800"/>
                </a:solidFill>
                <a:latin typeface="Arial"/>
              </a:defRPr>
            </a:pPr>
            <a:r>
              <a:t>54</a:t>
            </a:r>
          </a:p>
        </p:txBody>
      </p:sp>
      <p:sp>
        <p:nvSpPr>
          <p:cNvPr id="9" name="TextBox 8"/>
          <p:cNvSpPr txBox="1"/>
          <p:nvPr/>
        </p:nvSpPr>
        <p:spPr>
          <a:xfrm>
            <a:off x="2697480" y="2011680"/>
            <a:ext cx="1645920" cy="457200"/>
          </a:xfrm>
          <a:prstGeom prst="rect">
            <a:avLst/>
          </a:prstGeom>
          <a:noFill/>
        </p:spPr>
        <p:txBody>
          <a:bodyPr wrap="square" anchor="t"/>
          <a:lstStyle/>
          <a:p>
            <a:pPr algn="ctr">
              <a:defRPr sz="1200" b="0">
                <a:solidFill>
                  <a:srgbClr val="666666"/>
                </a:solidFill>
                <a:latin typeface="Arial"/>
              </a:defRPr>
            </a:pPr>
            <a:r>
              <a:t>Registered</a:t>
            </a:r>
            <a:br/>
            <a:r>
              <a:t>Tools</a:t>
            </a:r>
          </a:p>
        </p:txBody>
      </p:sp>
      <p:sp>
        <p:nvSpPr>
          <p:cNvPr id="10" name="TextBox 9"/>
          <p:cNvSpPr txBox="1"/>
          <p:nvPr/>
        </p:nvSpPr>
        <p:spPr>
          <a:xfrm>
            <a:off x="4754880" y="1371600"/>
            <a:ext cx="1645920" cy="640080"/>
          </a:xfrm>
          <a:prstGeom prst="rect">
            <a:avLst/>
          </a:prstGeom>
          <a:noFill/>
        </p:spPr>
        <p:txBody>
          <a:bodyPr wrap="square" anchor="t"/>
          <a:lstStyle/>
          <a:p>
            <a:pPr algn="ctr">
              <a:defRPr sz="4400" b="1">
                <a:solidFill>
                  <a:srgbClr val="7C4DFF"/>
                </a:solidFill>
                <a:latin typeface="Arial"/>
              </a:defRPr>
            </a:pPr>
            <a:r>
              <a:t>7</a:t>
            </a:r>
          </a:p>
        </p:txBody>
      </p:sp>
      <p:sp>
        <p:nvSpPr>
          <p:cNvPr id="11" name="TextBox 10"/>
          <p:cNvSpPr txBox="1"/>
          <p:nvPr/>
        </p:nvSpPr>
        <p:spPr>
          <a:xfrm>
            <a:off x="4754880" y="2011680"/>
            <a:ext cx="1645920" cy="457200"/>
          </a:xfrm>
          <a:prstGeom prst="rect">
            <a:avLst/>
          </a:prstGeom>
          <a:noFill/>
        </p:spPr>
        <p:txBody>
          <a:bodyPr wrap="square" anchor="t"/>
          <a:lstStyle/>
          <a:p>
            <a:pPr algn="ctr">
              <a:defRPr sz="1200" b="0">
                <a:solidFill>
                  <a:srgbClr val="666666"/>
                </a:solidFill>
                <a:latin typeface="Arial"/>
              </a:defRPr>
            </a:pPr>
            <a:r>
              <a:t>Execution</a:t>
            </a:r>
            <a:br/>
            <a:r>
              <a:t>Modes</a:t>
            </a:r>
          </a:p>
        </p:txBody>
      </p:sp>
      <p:sp>
        <p:nvSpPr>
          <p:cNvPr id="12" name="TextBox 11"/>
          <p:cNvSpPr txBox="1"/>
          <p:nvPr/>
        </p:nvSpPr>
        <p:spPr>
          <a:xfrm>
            <a:off x="6812280" y="1371600"/>
            <a:ext cx="1645920" cy="640080"/>
          </a:xfrm>
          <a:prstGeom prst="rect">
            <a:avLst/>
          </a:prstGeom>
          <a:noFill/>
        </p:spPr>
        <p:txBody>
          <a:bodyPr wrap="square" anchor="t"/>
          <a:lstStyle/>
          <a:p>
            <a:pPr algn="ctr">
              <a:defRPr sz="4400" b="1">
                <a:solidFill>
                  <a:srgbClr val="4CAF50"/>
                </a:solidFill>
                <a:latin typeface="Arial"/>
              </a:defRPr>
            </a:pPr>
            <a:r>
              <a:t>8</a:t>
            </a:r>
          </a:p>
        </p:txBody>
      </p:sp>
      <p:sp>
        <p:nvSpPr>
          <p:cNvPr id="13" name="TextBox 12"/>
          <p:cNvSpPr txBox="1"/>
          <p:nvPr/>
        </p:nvSpPr>
        <p:spPr>
          <a:xfrm>
            <a:off x="6812280" y="2011680"/>
            <a:ext cx="1645920" cy="457200"/>
          </a:xfrm>
          <a:prstGeom prst="rect">
            <a:avLst/>
          </a:prstGeom>
          <a:noFill/>
        </p:spPr>
        <p:txBody>
          <a:bodyPr wrap="square" anchor="t"/>
          <a:lstStyle/>
          <a:p>
            <a:pPr algn="ctr">
              <a:defRPr sz="1200" b="0">
                <a:solidFill>
                  <a:srgbClr val="666666"/>
                </a:solidFill>
                <a:latin typeface="Arial"/>
              </a:defRPr>
            </a:pPr>
            <a:r>
              <a:t>Tool</a:t>
            </a:r>
            <a:br/>
            <a:r>
              <a:t>Groups</a:t>
            </a:r>
          </a:p>
        </p:txBody>
      </p:sp>
      <p:sp>
        <p:nvSpPr>
          <p:cNvPr id="14" name="Rectangle 13"/>
          <p:cNvSpPr/>
          <p:nvPr/>
        </p:nvSpPr>
        <p:spPr>
          <a:xfrm>
            <a:off x="0" y="2743200"/>
            <a:ext cx="9144000"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999232"/>
            <a:ext cx="3931920" cy="274320"/>
          </a:xfrm>
          <a:prstGeom prst="rect">
            <a:avLst/>
          </a:prstGeom>
          <a:noFill/>
        </p:spPr>
        <p:txBody>
          <a:bodyPr wrap="square" anchor="t"/>
          <a:lstStyle/>
          <a:p>
            <a:pPr algn="l">
              <a:defRPr sz="1300" b="1">
                <a:solidFill>
                  <a:srgbClr val="333333"/>
                </a:solidFill>
                <a:latin typeface="Arial"/>
              </a:defRPr>
            </a:pPr>
            <a:r>
              <a:t>Agents as Data</a:t>
            </a:r>
          </a:p>
        </p:txBody>
      </p:sp>
      <p:sp>
        <p:nvSpPr>
          <p:cNvPr id="17" name="TextBox 16"/>
          <p:cNvSpPr txBox="1"/>
          <p:nvPr/>
        </p:nvSpPr>
        <p:spPr>
          <a:xfrm>
            <a:off x="502920" y="3246120"/>
            <a:ext cx="3931920" cy="457200"/>
          </a:xfrm>
          <a:prstGeom prst="rect">
            <a:avLst/>
          </a:prstGeom>
          <a:noFill/>
        </p:spPr>
        <p:txBody>
          <a:bodyPr wrap="square" anchor="t"/>
          <a:lstStyle/>
          <a:p>
            <a:pPr algn="l">
              <a:defRPr sz="1000" b="0">
                <a:solidFill>
                  <a:srgbClr val="666666"/>
                </a:solidFill>
                <a:latin typeface="Arial"/>
              </a:defRPr>
            </a:pPr>
            <a:r>
              <a:t>Markdown definitions, not hard-coded classes — hot-reloadable via 70-endpoint admin API</a:t>
            </a:r>
          </a:p>
        </p:txBody>
      </p:sp>
      <p:sp>
        <p:nvSpPr>
          <p:cNvPr id="18" name="Rectangle 17"/>
          <p:cNvSpPr/>
          <p:nvPr/>
        </p:nvSpPr>
        <p:spPr>
          <a:xfrm>
            <a:off x="475488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999232"/>
            <a:ext cx="3931920" cy="274320"/>
          </a:xfrm>
          <a:prstGeom prst="rect">
            <a:avLst/>
          </a:prstGeom>
          <a:noFill/>
        </p:spPr>
        <p:txBody>
          <a:bodyPr wrap="square" anchor="t"/>
          <a:lstStyle/>
          <a:p>
            <a:pPr algn="l">
              <a:defRPr sz="1300" b="1">
                <a:solidFill>
                  <a:srgbClr val="333333"/>
                </a:solidFill>
                <a:latin typeface="Arial"/>
              </a:defRPr>
            </a:pPr>
            <a:r>
              <a:t>Three-Layer Runtime</a:t>
            </a:r>
          </a:p>
        </p:txBody>
      </p:sp>
      <p:sp>
        <p:nvSpPr>
          <p:cNvPr id="20" name="TextBox 19"/>
          <p:cNvSpPr txBox="1"/>
          <p:nvPr/>
        </p:nvSpPr>
        <p:spPr>
          <a:xfrm>
            <a:off x="4754880" y="3246120"/>
            <a:ext cx="3931920" cy="457200"/>
          </a:xfrm>
          <a:prstGeom prst="rect">
            <a:avLst/>
          </a:prstGeom>
          <a:noFill/>
        </p:spPr>
        <p:txBody>
          <a:bodyPr wrap="square" anchor="t"/>
          <a:lstStyle/>
          <a:p>
            <a:pPr algn="l">
              <a:defRPr sz="1000" b="0">
                <a:solidFill>
                  <a:srgbClr val="666666"/>
                </a:solidFill>
                <a:latin typeface="Arial"/>
              </a:defRPr>
            </a:pPr>
            <a:r>
              <a:t>RuntimeService → RuntimeKernel → QueryLoop separation keeps orchestration clean</a:t>
            </a:r>
          </a:p>
        </p:txBody>
      </p:sp>
      <p:sp>
        <p:nvSpPr>
          <p:cNvPr id="21" name="Rectangle 20"/>
          <p:cNvSpPr/>
          <p:nvPr/>
        </p:nvSpPr>
        <p:spPr>
          <a:xfrm>
            <a:off x="50292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76472"/>
            <a:ext cx="3931920" cy="274320"/>
          </a:xfrm>
          <a:prstGeom prst="rect">
            <a:avLst/>
          </a:prstGeom>
          <a:noFill/>
        </p:spPr>
        <p:txBody>
          <a:bodyPr wrap="square" anchor="t"/>
          <a:lstStyle/>
          <a:p>
            <a:pPr algn="l">
              <a:defRPr sz="1300" b="1">
                <a:solidFill>
                  <a:srgbClr val="333333"/>
                </a:solidFill>
                <a:latin typeface="Arial"/>
              </a:defRPr>
            </a:pPr>
            <a:r>
              <a:t>GraphRAG + MCP</a:t>
            </a:r>
          </a:p>
        </p:txBody>
      </p:sp>
      <p:sp>
        <p:nvSpPr>
          <p:cNvPr id="23" name="TextBox 22"/>
          <p:cNvSpPr txBox="1"/>
          <p:nvPr/>
        </p:nvSpPr>
        <p:spPr>
          <a:xfrm>
            <a:off x="502920" y="4023360"/>
            <a:ext cx="3931920" cy="457200"/>
          </a:xfrm>
          <a:prstGeom prst="rect">
            <a:avLst/>
          </a:prstGeom>
          <a:noFill/>
        </p:spPr>
        <p:txBody>
          <a:bodyPr wrap="square" anchor="t"/>
          <a:lstStyle/>
          <a:p>
            <a:pPr algn="l">
              <a:defRPr sz="1000" b="0">
                <a:solidFill>
                  <a:srgbClr val="666666"/>
                </a:solidFill>
                <a:latin typeface="Arial"/>
              </a:defRPr>
            </a:pPr>
            <a:r>
              <a:t>Knowledge graph integration (8 tools) and Model Context Protocol for dynamic tool discovery</a:t>
            </a:r>
          </a:p>
        </p:txBody>
      </p:sp>
      <p:sp>
        <p:nvSpPr>
          <p:cNvPr id="24" name="Rectangle 23"/>
          <p:cNvSpPr/>
          <p:nvPr/>
        </p:nvSpPr>
        <p:spPr>
          <a:xfrm>
            <a:off x="475488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776472"/>
            <a:ext cx="3931920" cy="274320"/>
          </a:xfrm>
          <a:prstGeom prst="rect">
            <a:avLst/>
          </a:prstGeom>
          <a:noFill/>
        </p:spPr>
        <p:txBody>
          <a:bodyPr wrap="square" anchor="t"/>
          <a:lstStyle/>
          <a:p>
            <a:pPr algn="l">
              <a:defRPr sz="1300" b="1">
                <a:solidFill>
                  <a:srgbClr val="333333"/>
                </a:solidFill>
                <a:latin typeface="Arial"/>
              </a:defRPr>
            </a:pPr>
            <a:r>
              <a:t>Worker Orchestration</a:t>
            </a:r>
          </a:p>
        </p:txBody>
      </p:sp>
      <p:sp>
        <p:nvSpPr>
          <p:cNvPr id="26" name="TextBox 25"/>
          <p:cNvSpPr txBox="1"/>
          <p:nvPr/>
        </p:nvSpPr>
        <p:spPr>
          <a:xfrm>
            <a:off x="4754880" y="4023360"/>
            <a:ext cx="3931920" cy="457200"/>
          </a:xfrm>
          <a:prstGeom prst="rect">
            <a:avLst/>
          </a:prstGeom>
          <a:noFill/>
        </p:spPr>
        <p:txBody>
          <a:bodyPr wrap="square" anchor="t"/>
          <a:lstStyle/>
          <a:p>
            <a:pPr algn="l">
              <a:defRPr sz="1000" b="0">
                <a:solidFill>
                  <a:srgbClr val="666666"/>
                </a:solidFill>
                <a:latin typeface="Arial"/>
              </a:defRPr>
            </a:pPr>
            <a:r>
              <a:t>14 orchestration tools: spawn workers, team mailbox, multi-agent coordination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New Subsystems — GraphRAG, MCP, Worker Orchestration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200" b="0">
                <a:solidFill>
                  <a:srgbClr val="555555"/>
                </a:solidFill>
                <a:latin typeface="Arial"/>
              </a:defRPr>
            </a:pPr>
            <a:r>
              <a:t>Three major subsystems added since v2 that expand the harness well beyond simple tool calling.</a:t>
            </a:r>
          </a:p>
        </p:txBody>
      </p:sp>
      <p:sp>
        <p:nvSpPr>
          <p:cNvPr id="6" name="Rectangle 5"/>
          <p:cNvSpPr/>
          <p:nvPr/>
        </p:nvSpPr>
        <p:spPr>
          <a:xfrm>
            <a:off x="5029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260604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2331720" cy="320040"/>
          </a:xfrm>
          <a:prstGeom prst="rect">
            <a:avLst/>
          </a:prstGeom>
          <a:noFill/>
        </p:spPr>
        <p:txBody>
          <a:bodyPr wrap="square" anchor="t"/>
          <a:lstStyle/>
          <a:p>
            <a:pPr algn="ctr">
              <a:defRPr sz="1600" b="1">
                <a:solidFill>
                  <a:srgbClr val="FFFFFF"/>
                </a:solidFill>
                <a:latin typeface="Arial"/>
              </a:defRPr>
            </a:pPr>
            <a:r>
              <a:t>GRAPHRAG</a:t>
            </a:r>
          </a:p>
        </p:txBody>
      </p:sp>
      <p:sp>
        <p:nvSpPr>
          <p:cNvPr id="9" name="TextBox 8"/>
          <p:cNvSpPr txBox="1"/>
          <p:nvPr/>
        </p:nvSpPr>
        <p:spPr>
          <a:xfrm>
            <a:off x="640080" y="1828800"/>
            <a:ext cx="2331720" cy="274320"/>
          </a:xfrm>
          <a:prstGeom prst="rect">
            <a:avLst/>
          </a:prstGeom>
          <a:noFill/>
        </p:spPr>
        <p:txBody>
          <a:bodyPr wrap="square" anchor="t"/>
          <a:lstStyle/>
          <a:p>
            <a:pPr algn="ctr">
              <a:defRPr sz="1100" b="0">
                <a:solidFill>
                  <a:srgbClr val="0097A7"/>
                </a:solidFill>
                <a:latin typeface="Arial"/>
              </a:defRPr>
            </a:pPr>
            <a:r>
              <a:t>Knowledge Graph Integration</a:t>
            </a:r>
          </a:p>
        </p:txBody>
      </p:sp>
      <p:sp>
        <p:nvSpPr>
          <p:cNvPr id="10" name="Rectangle 9"/>
          <p:cNvSpPr/>
          <p:nvPr/>
        </p:nvSpPr>
        <p:spPr>
          <a:xfrm>
            <a:off x="868680" y="2194560"/>
            <a:ext cx="1874520" cy="18288"/>
          </a:xfrm>
          <a:prstGeom prst="rect">
            <a:avLst/>
          </a:prstGeom>
          <a:solidFill>
            <a:srgbClr val="33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2331720" cy="2286000"/>
          </a:xfrm>
          <a:prstGeom prst="rect">
            <a:avLst/>
          </a:prstGeom>
          <a:noFill/>
        </p:spPr>
        <p:txBody>
          <a:bodyPr wrap="square" anchor="t"/>
          <a:lstStyle/>
          <a:p>
            <a:pPr algn="l">
              <a:defRPr sz="900" b="0">
                <a:solidFill>
                  <a:srgbClr val="CCCCCC"/>
                </a:solidFill>
                <a:latin typeface="Arial"/>
              </a:defRPr>
              <a:lnSpc>
                <a:spcPts val="1600"/>
              </a:lnSpc>
            </a:pPr>
            <a:r>
              <a:t>graph/ module with 10 files</a:t>
            </a:r>
            <a:br/>
            <a:r>
              <a:t>graph_manager agent</a:t>
            </a:r>
            <a:br/>
            <a:r>
              <a:t>8 dedicated tools</a:t>
            </a:r>
            <a:br/>
            <a:r>
              <a:t>Phased corpus indexing</a:t>
            </a:r>
            <a:br/>
            <a:r>
              <a:t>Community report recovery</a:t>
            </a:r>
            <a:br/>
            <a:r>
              <a:t>Structured search + planning</a:t>
            </a:r>
            <a:br/>
            <a:r>
              <a:t>Prompt tuning per graph</a:t>
            </a:r>
          </a:p>
        </p:txBody>
      </p:sp>
      <p:sp>
        <p:nvSpPr>
          <p:cNvPr id="12" name="Rectangle 11"/>
          <p:cNvSpPr/>
          <p:nvPr/>
        </p:nvSpPr>
        <p:spPr>
          <a:xfrm>
            <a:off x="32461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325880"/>
            <a:ext cx="260604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463040"/>
            <a:ext cx="2331720" cy="320040"/>
          </a:xfrm>
          <a:prstGeom prst="rect">
            <a:avLst/>
          </a:prstGeom>
          <a:noFill/>
        </p:spPr>
        <p:txBody>
          <a:bodyPr wrap="square" anchor="t"/>
          <a:lstStyle/>
          <a:p>
            <a:pPr algn="ctr">
              <a:defRPr sz="1600" b="1">
                <a:solidFill>
                  <a:srgbClr val="FFFFFF"/>
                </a:solidFill>
                <a:latin typeface="Arial"/>
              </a:defRPr>
            </a:pPr>
            <a:r>
              <a:t>MCP</a:t>
            </a:r>
          </a:p>
        </p:txBody>
      </p:sp>
      <p:sp>
        <p:nvSpPr>
          <p:cNvPr id="15" name="TextBox 14"/>
          <p:cNvSpPr txBox="1"/>
          <p:nvPr/>
        </p:nvSpPr>
        <p:spPr>
          <a:xfrm>
            <a:off x="3383280" y="1828800"/>
            <a:ext cx="2331720" cy="274320"/>
          </a:xfrm>
          <a:prstGeom prst="rect">
            <a:avLst/>
          </a:prstGeom>
          <a:noFill/>
        </p:spPr>
        <p:txBody>
          <a:bodyPr wrap="square" anchor="t"/>
          <a:lstStyle/>
          <a:p>
            <a:pPr algn="ctr">
              <a:defRPr sz="1100" b="0">
                <a:solidFill>
                  <a:srgbClr val="FF9800"/>
                </a:solidFill>
                <a:latin typeface="Arial"/>
              </a:defRPr>
            </a:pPr>
            <a:r>
              <a:t>Model Context Protocol</a:t>
            </a:r>
          </a:p>
        </p:txBody>
      </p:sp>
      <p:sp>
        <p:nvSpPr>
          <p:cNvPr id="16" name="Rectangle 15"/>
          <p:cNvSpPr/>
          <p:nvPr/>
        </p:nvSpPr>
        <p:spPr>
          <a:xfrm>
            <a:off x="3611880" y="2194560"/>
            <a:ext cx="1874520" cy="18288"/>
          </a:xfrm>
          <a:prstGeom prst="rect">
            <a:avLst/>
          </a:prstGeom>
          <a:solidFill>
            <a:srgbClr val="554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331720"/>
            <a:ext cx="2331720" cy="2286000"/>
          </a:xfrm>
          <a:prstGeom prst="rect">
            <a:avLst/>
          </a:prstGeom>
          <a:noFill/>
        </p:spPr>
        <p:txBody>
          <a:bodyPr wrap="square" anchor="t"/>
          <a:lstStyle/>
          <a:p>
            <a:pPr algn="l">
              <a:defRPr sz="900" b="0">
                <a:solidFill>
                  <a:srgbClr val="CCCCCC"/>
                </a:solidFill>
                <a:latin typeface="Arial"/>
              </a:defRPr>
              <a:lnSpc>
                <a:spcPts val="1600"/>
              </a:lnSpc>
            </a:pPr>
            <a:r>
              <a:t>mcp/ service + client modules</a:t>
            </a:r>
            <a:br/>
            <a:r>
              <a:t>Dynamic tool registration</a:t>
            </a:r>
            <a:br/>
            <a:r>
              <a:t>8 API endpoints for connections</a:t>
            </a:r>
            <a:br/>
            <a:r>
              <a:t>Security-scoped tool access</a:t>
            </a:r>
            <a:br/>
            <a:r>
              <a:t>Connection test + refresh</a:t>
            </a:r>
            <a:br/>
            <a:r>
              <a:t>Per-tool enable/disable</a:t>
            </a:r>
            <a:br/>
            <a:r>
              <a:t>External server integration</a:t>
            </a:r>
          </a:p>
        </p:txBody>
      </p:sp>
      <p:sp>
        <p:nvSpPr>
          <p:cNvPr id="18" name="Rectangle 17"/>
          <p:cNvSpPr/>
          <p:nvPr/>
        </p:nvSpPr>
        <p:spPr>
          <a:xfrm>
            <a:off x="603504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1325880"/>
            <a:ext cx="260604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463040"/>
            <a:ext cx="2331720" cy="320040"/>
          </a:xfrm>
          <a:prstGeom prst="rect">
            <a:avLst/>
          </a:prstGeom>
          <a:noFill/>
        </p:spPr>
        <p:txBody>
          <a:bodyPr wrap="square" anchor="t"/>
          <a:lstStyle/>
          <a:p>
            <a:pPr algn="ctr">
              <a:defRPr sz="1600" b="1">
                <a:solidFill>
                  <a:srgbClr val="FFFFFF"/>
                </a:solidFill>
                <a:latin typeface="Arial"/>
              </a:defRPr>
            </a:pPr>
            <a:r>
              <a:t>WORKER SYSTEM</a:t>
            </a:r>
          </a:p>
        </p:txBody>
      </p:sp>
      <p:sp>
        <p:nvSpPr>
          <p:cNvPr id="21" name="TextBox 20"/>
          <p:cNvSpPr txBox="1"/>
          <p:nvPr/>
        </p:nvSpPr>
        <p:spPr>
          <a:xfrm>
            <a:off x="6172200" y="1828800"/>
            <a:ext cx="2331720" cy="274320"/>
          </a:xfrm>
          <a:prstGeom prst="rect">
            <a:avLst/>
          </a:prstGeom>
          <a:noFill/>
        </p:spPr>
        <p:txBody>
          <a:bodyPr wrap="square" anchor="t"/>
          <a:lstStyle/>
          <a:p>
            <a:pPr algn="ctr">
              <a:defRPr sz="1100" b="0">
                <a:solidFill>
                  <a:srgbClr val="7C4DFF"/>
                </a:solidFill>
                <a:latin typeface="Arial"/>
              </a:defRPr>
            </a:pPr>
            <a:r>
              <a:t>Multi-Agent Coordination</a:t>
            </a:r>
          </a:p>
        </p:txBody>
      </p:sp>
      <p:sp>
        <p:nvSpPr>
          <p:cNvPr id="22" name="Rectangle 21"/>
          <p:cNvSpPr/>
          <p:nvPr/>
        </p:nvSpPr>
        <p:spPr>
          <a:xfrm>
            <a:off x="6400800" y="2194560"/>
            <a:ext cx="1874520" cy="18288"/>
          </a:xfrm>
          <a:prstGeom prst="rect">
            <a:avLst/>
          </a:prstGeom>
          <a:solidFill>
            <a:srgbClr val="44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2331720"/>
            <a:ext cx="2331720" cy="2286000"/>
          </a:xfrm>
          <a:prstGeom prst="rect">
            <a:avLst/>
          </a:prstGeom>
          <a:noFill/>
        </p:spPr>
        <p:txBody>
          <a:bodyPr wrap="square" anchor="t"/>
          <a:lstStyle/>
          <a:p>
            <a:pPr algn="l">
              <a:defRPr sz="900" b="0">
                <a:solidFill>
                  <a:srgbClr val="CCCCCC"/>
                </a:solidFill>
                <a:latin typeface="Arial"/>
              </a:defRPr>
              <a:lnSpc>
                <a:spcPts val="1600"/>
              </a:lnSpc>
            </a:pPr>
            <a:r>
              <a:t>14 orchestration tools</a:t>
            </a:r>
            <a:br/>
            <a:r>
              <a:t>spawn_worker / message_worker</a:t>
            </a:r>
            <a:br/>
            <a:r>
              <a:t>Team mailbox channels</a:t>
            </a:r>
            <a:br/>
            <a:r>
              <a:t>Parent question/approval flow</a:t>
            </a:r>
            <a:br/>
            <a:r>
              <a:t>Worker request/response cycle</a:t>
            </a:r>
            <a:br/>
            <a:r>
              <a:t>Job listing and control</a:t>
            </a:r>
            <a:br/>
            <a:r>
              <a:t>Cross-agent artifact handoff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API Surface — 118 Endpoints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1">
                <a:solidFill>
                  <a:srgbClr val="444444"/>
                </a:solidFill>
                <a:latin typeface="Arial"/>
              </a:defRPr>
            </a:pPr>
            <a:r>
              <a:t>48 public endpoints + 70 admin endpoints = 118 total API surface</a:t>
            </a:r>
          </a:p>
        </p:txBody>
      </p:sp>
      <p:sp>
        <p:nvSpPr>
          <p:cNvPr id="6" name="TextBox 5"/>
          <p:cNvSpPr txBox="1"/>
          <p:nvPr/>
        </p:nvSpPr>
        <p:spPr>
          <a:xfrm>
            <a:off x="502920" y="1280160"/>
            <a:ext cx="3931920" cy="320040"/>
          </a:xfrm>
          <a:prstGeom prst="rect">
            <a:avLst/>
          </a:prstGeom>
          <a:noFill/>
        </p:spPr>
        <p:txBody>
          <a:bodyPr wrap="square" anchor="t"/>
          <a:lstStyle/>
          <a:p>
            <a:pPr algn="l">
              <a:defRPr sz="1400" b="1">
                <a:solidFill>
                  <a:srgbClr val="0097A7"/>
                </a:solidFill>
                <a:latin typeface="Arial"/>
              </a:defRPr>
            </a:pPr>
            <a:r>
              <a:t>PUBLIC API (48 endpoints)</a:t>
            </a:r>
          </a:p>
        </p:txBody>
      </p:sp>
      <p:sp>
        <p:nvSpPr>
          <p:cNvPr id="7" name="Rectangle 6"/>
          <p:cNvSpPr/>
          <p:nvPr/>
        </p:nvSpPr>
        <p:spPr>
          <a:xfrm>
            <a:off x="502920" y="164592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1188720" cy="201168"/>
          </a:xfrm>
          <a:prstGeom prst="rect">
            <a:avLst/>
          </a:prstGeom>
          <a:noFill/>
        </p:spPr>
        <p:txBody>
          <a:bodyPr wrap="square" anchor="t"/>
          <a:lstStyle/>
          <a:p>
            <a:pPr algn="l">
              <a:defRPr sz="1000" b="1">
                <a:solidFill>
                  <a:srgbClr val="333333"/>
                </a:solidFill>
                <a:latin typeface="Arial"/>
              </a:defRPr>
            </a:pPr>
            <a:r>
              <a:t>Chat</a:t>
            </a:r>
          </a:p>
        </p:txBody>
      </p:sp>
      <p:sp>
        <p:nvSpPr>
          <p:cNvPr id="9" name="TextBox 8"/>
          <p:cNvSpPr txBox="1"/>
          <p:nvPr/>
        </p:nvSpPr>
        <p:spPr>
          <a:xfrm>
            <a:off x="640080" y="1828800"/>
            <a:ext cx="3200400" cy="182880"/>
          </a:xfrm>
          <a:prstGeom prst="rect">
            <a:avLst/>
          </a:prstGeom>
          <a:noFill/>
        </p:spPr>
        <p:txBody>
          <a:bodyPr wrap="square" anchor="t"/>
          <a:lstStyle/>
          <a:p>
            <a:pPr algn="l">
              <a:defRPr sz="800" b="0">
                <a:solidFill>
                  <a:srgbClr val="777777"/>
                </a:solidFill>
                <a:latin typeface="Arial"/>
              </a:defRPr>
            </a:pPr>
            <a:r>
              <a:t>/v1/chat/completions, /v1/connector/chat</a:t>
            </a:r>
          </a:p>
        </p:txBody>
      </p:sp>
      <p:sp>
        <p:nvSpPr>
          <p:cNvPr id="10" name="TextBox 9"/>
          <p:cNvSpPr txBox="1"/>
          <p:nvPr/>
        </p:nvSpPr>
        <p:spPr>
          <a:xfrm>
            <a:off x="3931920" y="1645920"/>
            <a:ext cx="457200" cy="201168"/>
          </a:xfrm>
          <a:prstGeom prst="rect">
            <a:avLst/>
          </a:prstGeom>
          <a:noFill/>
        </p:spPr>
        <p:txBody>
          <a:bodyPr wrap="square" anchor="t"/>
          <a:lstStyle/>
          <a:p>
            <a:pPr algn="r">
              <a:defRPr sz="1000" b="1">
                <a:solidFill>
                  <a:srgbClr val="0097A7"/>
                </a:solidFill>
                <a:latin typeface="Arial"/>
              </a:defRPr>
            </a:pPr>
            <a:r>
              <a:t>2</a:t>
            </a:r>
          </a:p>
        </p:txBody>
      </p:sp>
      <p:sp>
        <p:nvSpPr>
          <p:cNvPr id="11" name="Rectangle 10"/>
          <p:cNvSpPr/>
          <p:nvPr/>
        </p:nvSpPr>
        <p:spPr>
          <a:xfrm>
            <a:off x="502920" y="202996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1188720" cy="201168"/>
          </a:xfrm>
          <a:prstGeom prst="rect">
            <a:avLst/>
          </a:prstGeom>
          <a:noFill/>
        </p:spPr>
        <p:txBody>
          <a:bodyPr wrap="square" anchor="t"/>
          <a:lstStyle/>
          <a:p>
            <a:pPr algn="l">
              <a:defRPr sz="1000" b="1">
                <a:solidFill>
                  <a:srgbClr val="333333"/>
                </a:solidFill>
                <a:latin typeface="Arial"/>
              </a:defRPr>
            </a:pPr>
            <a:r>
              <a:t>Documents</a:t>
            </a:r>
          </a:p>
        </p:txBody>
      </p:sp>
      <p:sp>
        <p:nvSpPr>
          <p:cNvPr id="13" name="TextBox 12"/>
          <p:cNvSpPr txBox="1"/>
          <p:nvPr/>
        </p:nvSpPr>
        <p:spPr>
          <a:xfrm>
            <a:off x="640080" y="2212848"/>
            <a:ext cx="3200400" cy="182880"/>
          </a:xfrm>
          <a:prstGeom prst="rect">
            <a:avLst/>
          </a:prstGeom>
          <a:noFill/>
        </p:spPr>
        <p:txBody>
          <a:bodyPr wrap="square" anchor="t"/>
          <a:lstStyle/>
          <a:p>
            <a:pPr algn="l">
              <a:defRPr sz="800" b="0">
                <a:solidFill>
                  <a:srgbClr val="777777"/>
                </a:solidFill>
                <a:latin typeface="Arial"/>
              </a:defRPr>
            </a:pPr>
            <a:r>
              <a:t>upload, ingest, source download</a:t>
            </a:r>
          </a:p>
        </p:txBody>
      </p:sp>
      <p:sp>
        <p:nvSpPr>
          <p:cNvPr id="14" name="TextBox 13"/>
          <p:cNvSpPr txBox="1"/>
          <p:nvPr/>
        </p:nvSpPr>
        <p:spPr>
          <a:xfrm>
            <a:off x="3931920" y="2029968"/>
            <a:ext cx="457200" cy="201168"/>
          </a:xfrm>
          <a:prstGeom prst="rect">
            <a:avLst/>
          </a:prstGeom>
          <a:noFill/>
        </p:spPr>
        <p:txBody>
          <a:bodyPr wrap="square" anchor="t"/>
          <a:lstStyle/>
          <a:p>
            <a:pPr algn="r">
              <a:defRPr sz="1000" b="1">
                <a:solidFill>
                  <a:srgbClr val="0097A7"/>
                </a:solidFill>
                <a:latin typeface="Arial"/>
              </a:defRPr>
            </a:pPr>
            <a:r>
              <a:t>4</a:t>
            </a:r>
          </a:p>
        </p:txBody>
      </p:sp>
      <p:sp>
        <p:nvSpPr>
          <p:cNvPr id="15" name="Rectangle 14"/>
          <p:cNvSpPr/>
          <p:nvPr/>
        </p:nvSpPr>
        <p:spPr>
          <a:xfrm>
            <a:off x="502920" y="241401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414016"/>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17" name="TextBox 16"/>
          <p:cNvSpPr txBox="1"/>
          <p:nvPr/>
        </p:nvSpPr>
        <p:spPr>
          <a:xfrm>
            <a:off x="640080" y="2596896"/>
            <a:ext cx="3200400" cy="182880"/>
          </a:xfrm>
          <a:prstGeom prst="rect">
            <a:avLst/>
          </a:prstGeom>
          <a:noFill/>
        </p:spPr>
        <p:txBody>
          <a:bodyPr wrap="square" anchor="t"/>
          <a:lstStyle/>
          <a:p>
            <a:pPr algn="l">
              <a:defRPr sz="800" b="0">
                <a:solidFill>
                  <a:srgbClr val="777777"/>
                </a:solidFill>
                <a:latin typeface="Arial"/>
              </a:defRPr>
            </a:pPr>
            <a:r>
              <a:t>list, get, index, import, query</a:t>
            </a:r>
          </a:p>
        </p:txBody>
      </p:sp>
      <p:sp>
        <p:nvSpPr>
          <p:cNvPr id="18" name="TextBox 17"/>
          <p:cNvSpPr txBox="1"/>
          <p:nvPr/>
        </p:nvSpPr>
        <p:spPr>
          <a:xfrm>
            <a:off x="3931920" y="2414016"/>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19" name="Rectangle 18"/>
          <p:cNvSpPr/>
          <p:nvPr/>
        </p:nvSpPr>
        <p:spPr>
          <a:xfrm>
            <a:off x="502920" y="2798064"/>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98064"/>
            <a:ext cx="1188720" cy="201168"/>
          </a:xfrm>
          <a:prstGeom prst="rect">
            <a:avLst/>
          </a:prstGeom>
          <a:noFill/>
        </p:spPr>
        <p:txBody>
          <a:bodyPr wrap="square" anchor="t"/>
          <a:lstStyle/>
          <a:p>
            <a:pPr algn="l">
              <a:defRPr sz="1000" b="1">
                <a:solidFill>
                  <a:srgbClr val="333333"/>
                </a:solidFill>
                <a:latin typeface="Arial"/>
              </a:defRPr>
            </a:pPr>
            <a:r>
              <a:t>Skills</a:t>
            </a:r>
          </a:p>
        </p:txBody>
      </p:sp>
      <p:sp>
        <p:nvSpPr>
          <p:cNvPr id="21" name="TextBox 20"/>
          <p:cNvSpPr txBox="1"/>
          <p:nvPr/>
        </p:nvSpPr>
        <p:spPr>
          <a:xfrm>
            <a:off x="640080" y="2980944"/>
            <a:ext cx="3200400" cy="182880"/>
          </a:xfrm>
          <a:prstGeom prst="rect">
            <a:avLst/>
          </a:prstGeom>
          <a:noFill/>
        </p:spPr>
        <p:txBody>
          <a:bodyPr wrap="square" anchor="t"/>
          <a:lstStyle/>
          <a:p>
            <a:pPr algn="l">
              <a:defRPr sz="800" b="0">
                <a:solidFill>
                  <a:srgbClr val="777777"/>
                </a:solidFill>
                <a:latin typeface="Arial"/>
              </a:defRPr>
            </a:pPr>
            <a:r>
              <a:t>CRUD, activate, deactivate, preview, rollback</a:t>
            </a:r>
          </a:p>
        </p:txBody>
      </p:sp>
      <p:sp>
        <p:nvSpPr>
          <p:cNvPr id="22" name="TextBox 21"/>
          <p:cNvSpPr txBox="1"/>
          <p:nvPr/>
        </p:nvSpPr>
        <p:spPr>
          <a:xfrm>
            <a:off x="3931920" y="2798064"/>
            <a:ext cx="457200" cy="201168"/>
          </a:xfrm>
          <a:prstGeom prst="rect">
            <a:avLst/>
          </a:prstGeom>
          <a:noFill/>
        </p:spPr>
        <p:txBody>
          <a:bodyPr wrap="square" anchor="t"/>
          <a:lstStyle/>
          <a:p>
            <a:pPr algn="r">
              <a:defRPr sz="1000" b="1">
                <a:solidFill>
                  <a:srgbClr val="0097A7"/>
                </a:solidFill>
                <a:latin typeface="Arial"/>
              </a:defRPr>
            </a:pPr>
            <a:r>
              <a:t>9</a:t>
            </a:r>
          </a:p>
        </p:txBody>
      </p:sp>
      <p:sp>
        <p:nvSpPr>
          <p:cNvPr id="23" name="Rectangle 22"/>
          <p:cNvSpPr/>
          <p:nvPr/>
        </p:nvSpPr>
        <p:spPr>
          <a:xfrm>
            <a:off x="502920" y="3182112"/>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182112"/>
            <a:ext cx="1188720" cy="201168"/>
          </a:xfrm>
          <a:prstGeom prst="rect">
            <a:avLst/>
          </a:prstGeom>
          <a:noFill/>
        </p:spPr>
        <p:txBody>
          <a:bodyPr wrap="square" anchor="t"/>
          <a:lstStyle/>
          <a:p>
            <a:pPr algn="l">
              <a:defRPr sz="1000" b="1">
                <a:solidFill>
                  <a:srgbClr val="333333"/>
                </a:solidFill>
                <a:latin typeface="Arial"/>
              </a:defRPr>
            </a:pPr>
            <a:r>
              <a:t>MCP</a:t>
            </a:r>
          </a:p>
        </p:txBody>
      </p:sp>
      <p:sp>
        <p:nvSpPr>
          <p:cNvPr id="25" name="TextBox 24"/>
          <p:cNvSpPr txBox="1"/>
          <p:nvPr/>
        </p:nvSpPr>
        <p:spPr>
          <a:xfrm>
            <a:off x="640080" y="3364992"/>
            <a:ext cx="3200400" cy="182880"/>
          </a:xfrm>
          <a:prstGeom prst="rect">
            <a:avLst/>
          </a:prstGeom>
          <a:noFill/>
        </p:spPr>
        <p:txBody>
          <a:bodyPr wrap="square" anchor="t"/>
          <a:lstStyle/>
          <a:p>
            <a:pPr algn="l">
              <a:defRPr sz="800" b="0">
                <a:solidFill>
                  <a:srgbClr val="777777"/>
                </a:solidFill>
                <a:latin typeface="Arial"/>
              </a:defRPr>
            </a:pPr>
            <a:r>
              <a:t>connections CRUD, tools, test, refresh</a:t>
            </a:r>
          </a:p>
        </p:txBody>
      </p:sp>
      <p:sp>
        <p:nvSpPr>
          <p:cNvPr id="26" name="TextBox 25"/>
          <p:cNvSpPr txBox="1"/>
          <p:nvPr/>
        </p:nvSpPr>
        <p:spPr>
          <a:xfrm>
            <a:off x="3931920" y="3182112"/>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27" name="Rectangle 26"/>
          <p:cNvSpPr/>
          <p:nvPr/>
        </p:nvSpPr>
        <p:spPr>
          <a:xfrm>
            <a:off x="502920" y="356616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566160"/>
            <a:ext cx="1188720" cy="201168"/>
          </a:xfrm>
          <a:prstGeom prst="rect">
            <a:avLst/>
          </a:prstGeom>
          <a:noFill/>
        </p:spPr>
        <p:txBody>
          <a:bodyPr wrap="square" anchor="t"/>
          <a:lstStyle/>
          <a:p>
            <a:pPr algn="l">
              <a:defRPr sz="1000" b="1">
                <a:solidFill>
                  <a:srgbClr val="333333"/>
                </a:solidFill>
                <a:latin typeface="Arial"/>
              </a:defRPr>
            </a:pPr>
            <a:r>
              <a:t>Jobs/Tasks</a:t>
            </a:r>
          </a:p>
        </p:txBody>
      </p:sp>
      <p:sp>
        <p:nvSpPr>
          <p:cNvPr id="29" name="TextBox 28"/>
          <p:cNvSpPr txBox="1"/>
          <p:nvPr/>
        </p:nvSpPr>
        <p:spPr>
          <a:xfrm>
            <a:off x="640080" y="3749040"/>
            <a:ext cx="3200400" cy="182880"/>
          </a:xfrm>
          <a:prstGeom prst="rect">
            <a:avLst/>
          </a:prstGeom>
          <a:noFill/>
        </p:spPr>
        <p:txBody>
          <a:bodyPr wrap="square" anchor="t"/>
          <a:lstStyle/>
          <a:p>
            <a:pPr algn="l">
              <a:defRPr sz="800" b="0">
                <a:solidFill>
                  <a:srgbClr val="777777"/>
                </a:solidFill>
                <a:latin typeface="Arial"/>
              </a:defRPr>
            </a:pPr>
            <a:r>
              <a:t>get, mailbox, respond, list, stop</a:t>
            </a:r>
          </a:p>
        </p:txBody>
      </p:sp>
      <p:sp>
        <p:nvSpPr>
          <p:cNvPr id="30" name="TextBox 29"/>
          <p:cNvSpPr txBox="1"/>
          <p:nvPr/>
        </p:nvSpPr>
        <p:spPr>
          <a:xfrm>
            <a:off x="3931920" y="3566160"/>
            <a:ext cx="457200" cy="201168"/>
          </a:xfrm>
          <a:prstGeom prst="rect">
            <a:avLst/>
          </a:prstGeom>
          <a:noFill/>
        </p:spPr>
        <p:txBody>
          <a:bodyPr wrap="square" anchor="t"/>
          <a:lstStyle/>
          <a:p>
            <a:pPr algn="r">
              <a:defRPr sz="1000" b="1">
                <a:solidFill>
                  <a:srgbClr val="0097A7"/>
                </a:solidFill>
                <a:latin typeface="Arial"/>
              </a:defRPr>
            </a:pPr>
            <a:r>
              <a:t>6</a:t>
            </a:r>
          </a:p>
        </p:txBody>
      </p:sp>
      <p:sp>
        <p:nvSpPr>
          <p:cNvPr id="31" name="Rectangle 30"/>
          <p:cNvSpPr/>
          <p:nvPr/>
        </p:nvSpPr>
        <p:spPr>
          <a:xfrm>
            <a:off x="502920" y="395020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950208"/>
            <a:ext cx="1188720" cy="201168"/>
          </a:xfrm>
          <a:prstGeom prst="rect">
            <a:avLst/>
          </a:prstGeom>
          <a:noFill/>
        </p:spPr>
        <p:txBody>
          <a:bodyPr wrap="square" anchor="t"/>
          <a:lstStyle/>
          <a:p>
            <a:pPr algn="l">
              <a:defRPr sz="1000" b="1">
                <a:solidFill>
                  <a:srgbClr val="333333"/>
                </a:solidFill>
                <a:latin typeface="Arial"/>
              </a:defRPr>
            </a:pPr>
            <a:r>
              <a:t>Team Mailbox</a:t>
            </a:r>
          </a:p>
        </p:txBody>
      </p:sp>
      <p:sp>
        <p:nvSpPr>
          <p:cNvPr id="33" name="TextBox 32"/>
          <p:cNvSpPr txBox="1"/>
          <p:nvPr/>
        </p:nvSpPr>
        <p:spPr>
          <a:xfrm>
            <a:off x="640080" y="4133088"/>
            <a:ext cx="3200400" cy="182880"/>
          </a:xfrm>
          <a:prstGeom prst="rect">
            <a:avLst/>
          </a:prstGeom>
          <a:noFill/>
        </p:spPr>
        <p:txBody>
          <a:bodyPr wrap="square" anchor="t"/>
          <a:lstStyle/>
          <a:p>
            <a:pPr algn="l">
              <a:defRPr sz="800" b="0">
                <a:solidFill>
                  <a:srgbClr val="777777"/>
                </a:solidFill>
                <a:latin typeface="Arial"/>
              </a:defRPr>
            </a:pPr>
            <a:r>
              <a:t>channels, messages, respond</a:t>
            </a:r>
          </a:p>
        </p:txBody>
      </p:sp>
      <p:sp>
        <p:nvSpPr>
          <p:cNvPr id="34" name="TextBox 33"/>
          <p:cNvSpPr txBox="1"/>
          <p:nvPr/>
        </p:nvSpPr>
        <p:spPr>
          <a:xfrm>
            <a:off x="3931920" y="3950208"/>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35" name="Rectangle 34"/>
          <p:cNvSpPr/>
          <p:nvPr/>
        </p:nvSpPr>
        <p:spPr>
          <a:xfrm>
            <a:off x="502920" y="433425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34256"/>
            <a:ext cx="1188720" cy="201168"/>
          </a:xfrm>
          <a:prstGeom prst="rect">
            <a:avLst/>
          </a:prstGeom>
          <a:noFill/>
        </p:spPr>
        <p:txBody>
          <a:bodyPr wrap="square" anchor="t"/>
          <a:lstStyle/>
          <a:p>
            <a:pPr algn="l">
              <a:defRPr sz="1000" b="1">
                <a:solidFill>
                  <a:srgbClr val="333333"/>
                </a:solidFill>
                <a:latin typeface="Arial"/>
              </a:defRPr>
            </a:pPr>
            <a:r>
              <a:t>System</a:t>
            </a:r>
          </a:p>
        </p:txBody>
      </p:sp>
      <p:sp>
        <p:nvSpPr>
          <p:cNvPr id="37" name="TextBox 36"/>
          <p:cNvSpPr txBox="1"/>
          <p:nvPr/>
        </p:nvSpPr>
        <p:spPr>
          <a:xfrm>
            <a:off x="640080" y="4517136"/>
            <a:ext cx="3200400" cy="182880"/>
          </a:xfrm>
          <a:prstGeom prst="rect">
            <a:avLst/>
          </a:prstGeom>
          <a:noFill/>
        </p:spPr>
        <p:txBody>
          <a:bodyPr wrap="square" anchor="t"/>
          <a:lstStyle/>
          <a:p>
            <a:pPr algn="l">
              <a:defRPr sz="800" b="0">
                <a:solidFill>
                  <a:srgbClr val="777777"/>
                </a:solidFill>
                <a:latin typeface="Arial"/>
              </a:defRPr>
            </a:pPr>
            <a:r>
              <a:t>health, models, agents, diagnostics, capabilities</a:t>
            </a:r>
          </a:p>
        </p:txBody>
      </p:sp>
      <p:sp>
        <p:nvSpPr>
          <p:cNvPr id="38" name="TextBox 37"/>
          <p:cNvSpPr txBox="1"/>
          <p:nvPr/>
        </p:nvSpPr>
        <p:spPr>
          <a:xfrm>
            <a:off x="3931920" y="4334256"/>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39" name="TextBox 38"/>
          <p:cNvSpPr txBox="1"/>
          <p:nvPr/>
        </p:nvSpPr>
        <p:spPr>
          <a:xfrm>
            <a:off x="4754880" y="1280160"/>
            <a:ext cx="3931920" cy="320040"/>
          </a:xfrm>
          <a:prstGeom prst="rect">
            <a:avLst/>
          </a:prstGeom>
          <a:noFill/>
        </p:spPr>
        <p:txBody>
          <a:bodyPr wrap="square" anchor="t"/>
          <a:lstStyle/>
          <a:p>
            <a:pPr algn="l">
              <a:defRPr sz="1400" b="1">
                <a:solidFill>
                  <a:srgbClr val="FF9800"/>
                </a:solidFill>
                <a:latin typeface="Arial"/>
              </a:defRPr>
            </a:pPr>
            <a:r>
              <a:t>ADMIN API (70 endpoints)</a:t>
            </a:r>
          </a:p>
        </p:txBody>
      </p:sp>
      <p:sp>
        <p:nvSpPr>
          <p:cNvPr id="40" name="Rectangle 39"/>
          <p:cNvSpPr/>
          <p:nvPr/>
        </p:nvSpPr>
        <p:spPr>
          <a:xfrm>
            <a:off x="4754880" y="164592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1645920"/>
            <a:ext cx="1188720" cy="201168"/>
          </a:xfrm>
          <a:prstGeom prst="rect">
            <a:avLst/>
          </a:prstGeom>
          <a:noFill/>
        </p:spPr>
        <p:txBody>
          <a:bodyPr wrap="square" anchor="t"/>
          <a:lstStyle/>
          <a:p>
            <a:pPr algn="l">
              <a:defRPr sz="1000" b="1">
                <a:solidFill>
                  <a:srgbClr val="333333"/>
                </a:solidFill>
                <a:latin typeface="Arial"/>
              </a:defRPr>
            </a:pPr>
            <a:r>
              <a:t>Agents</a:t>
            </a:r>
          </a:p>
        </p:txBody>
      </p:sp>
      <p:sp>
        <p:nvSpPr>
          <p:cNvPr id="42" name="TextBox 41"/>
          <p:cNvSpPr txBox="1"/>
          <p:nvPr/>
        </p:nvSpPr>
        <p:spPr>
          <a:xfrm>
            <a:off x="4892040" y="1828800"/>
            <a:ext cx="3200400" cy="182880"/>
          </a:xfrm>
          <a:prstGeom prst="rect">
            <a:avLst/>
          </a:prstGeom>
          <a:noFill/>
        </p:spPr>
        <p:txBody>
          <a:bodyPr wrap="square" anchor="t"/>
          <a:lstStyle/>
          <a:p>
            <a:pPr algn="l">
              <a:defRPr sz="800" b="0">
                <a:solidFill>
                  <a:srgbClr val="777777"/>
                </a:solidFill>
                <a:latin typeface="Arial"/>
              </a:defRPr>
            </a:pPr>
            <a:r>
              <a:t>list, get, update, delete, reload</a:t>
            </a:r>
          </a:p>
        </p:txBody>
      </p:sp>
      <p:sp>
        <p:nvSpPr>
          <p:cNvPr id="43" name="TextBox 42"/>
          <p:cNvSpPr txBox="1"/>
          <p:nvPr/>
        </p:nvSpPr>
        <p:spPr>
          <a:xfrm>
            <a:off x="8229600" y="1645920"/>
            <a:ext cx="457200" cy="201168"/>
          </a:xfrm>
          <a:prstGeom prst="rect">
            <a:avLst/>
          </a:prstGeom>
          <a:noFill/>
        </p:spPr>
        <p:txBody>
          <a:bodyPr wrap="square" anchor="t"/>
          <a:lstStyle/>
          <a:p>
            <a:pPr algn="r">
              <a:defRPr sz="1000" b="1">
                <a:solidFill>
                  <a:srgbClr val="FF9800"/>
                </a:solidFill>
                <a:latin typeface="Arial"/>
              </a:defRPr>
            </a:pPr>
            <a:r>
              <a:t>5</a:t>
            </a:r>
          </a:p>
        </p:txBody>
      </p:sp>
      <p:sp>
        <p:nvSpPr>
          <p:cNvPr id="44" name="Rectangle 43"/>
          <p:cNvSpPr/>
          <p:nvPr/>
        </p:nvSpPr>
        <p:spPr>
          <a:xfrm>
            <a:off x="4754880" y="202996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2040" y="2029968"/>
            <a:ext cx="1188720" cy="201168"/>
          </a:xfrm>
          <a:prstGeom prst="rect">
            <a:avLst/>
          </a:prstGeom>
          <a:noFill/>
        </p:spPr>
        <p:txBody>
          <a:bodyPr wrap="square" anchor="t"/>
          <a:lstStyle/>
          <a:p>
            <a:pPr algn="l">
              <a:defRPr sz="1000" b="1">
                <a:solidFill>
                  <a:srgbClr val="333333"/>
                </a:solidFill>
                <a:latin typeface="Arial"/>
              </a:defRPr>
            </a:pPr>
            <a:r>
              <a:t>Collections</a:t>
            </a:r>
          </a:p>
        </p:txBody>
      </p:sp>
      <p:sp>
        <p:nvSpPr>
          <p:cNvPr id="46" name="TextBox 45"/>
          <p:cNvSpPr txBox="1"/>
          <p:nvPr/>
        </p:nvSpPr>
        <p:spPr>
          <a:xfrm>
            <a:off x="4892040" y="2212848"/>
            <a:ext cx="3200400" cy="182880"/>
          </a:xfrm>
          <a:prstGeom prst="rect">
            <a:avLst/>
          </a:prstGeom>
          <a:noFill/>
        </p:spPr>
        <p:txBody>
          <a:bodyPr wrap="square" anchor="t"/>
          <a:lstStyle/>
          <a:p>
            <a:pPr algn="l">
              <a:defRPr sz="800" b="0">
                <a:solidFill>
                  <a:srgbClr val="777777"/>
                </a:solidFill>
                <a:latin typeface="Arial"/>
              </a:defRPr>
            </a:pPr>
            <a:r>
              <a:t>CRUD, documents, upload, sync, repair, health</a:t>
            </a:r>
          </a:p>
        </p:txBody>
      </p:sp>
      <p:sp>
        <p:nvSpPr>
          <p:cNvPr id="47" name="TextBox 46"/>
          <p:cNvSpPr txBox="1"/>
          <p:nvPr/>
        </p:nvSpPr>
        <p:spPr>
          <a:xfrm>
            <a:off x="8229600" y="2029968"/>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48" name="Rectangle 47"/>
          <p:cNvSpPr/>
          <p:nvPr/>
        </p:nvSpPr>
        <p:spPr>
          <a:xfrm>
            <a:off x="4754880" y="241401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92040" y="2414016"/>
            <a:ext cx="1188720" cy="201168"/>
          </a:xfrm>
          <a:prstGeom prst="rect">
            <a:avLst/>
          </a:prstGeom>
          <a:noFill/>
        </p:spPr>
        <p:txBody>
          <a:bodyPr wrap="square" anchor="t"/>
          <a:lstStyle/>
          <a:p>
            <a:pPr algn="l">
              <a:defRPr sz="1000" b="1">
                <a:solidFill>
                  <a:srgbClr val="333333"/>
                </a:solidFill>
                <a:latin typeface="Arial"/>
              </a:defRPr>
            </a:pPr>
            <a:r>
              <a:t>Prompts</a:t>
            </a:r>
          </a:p>
        </p:txBody>
      </p:sp>
      <p:sp>
        <p:nvSpPr>
          <p:cNvPr id="50" name="TextBox 49"/>
          <p:cNvSpPr txBox="1"/>
          <p:nvPr/>
        </p:nvSpPr>
        <p:spPr>
          <a:xfrm>
            <a:off x="4892040" y="2596896"/>
            <a:ext cx="3200400" cy="182880"/>
          </a:xfrm>
          <a:prstGeom prst="rect">
            <a:avLst/>
          </a:prstGeom>
          <a:noFill/>
        </p:spPr>
        <p:txBody>
          <a:bodyPr wrap="square" anchor="t"/>
          <a:lstStyle/>
          <a:p>
            <a:pPr algn="l">
              <a:defRPr sz="800" b="0">
                <a:solidFill>
                  <a:srgbClr val="777777"/>
                </a:solidFill>
                <a:latin typeface="Arial"/>
              </a:defRPr>
            </a:pPr>
            <a:r>
              <a:t>list, get, update, delete</a:t>
            </a:r>
          </a:p>
        </p:txBody>
      </p:sp>
      <p:sp>
        <p:nvSpPr>
          <p:cNvPr id="51" name="TextBox 50"/>
          <p:cNvSpPr txBox="1"/>
          <p:nvPr/>
        </p:nvSpPr>
        <p:spPr>
          <a:xfrm>
            <a:off x="8229600" y="2414016"/>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52" name="Rectangle 51"/>
          <p:cNvSpPr/>
          <p:nvPr/>
        </p:nvSpPr>
        <p:spPr>
          <a:xfrm>
            <a:off x="4754880" y="2798064"/>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92040" y="2798064"/>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54" name="TextBox 53"/>
          <p:cNvSpPr txBox="1"/>
          <p:nvPr/>
        </p:nvSpPr>
        <p:spPr>
          <a:xfrm>
            <a:off x="4892040" y="2980944"/>
            <a:ext cx="3200400" cy="182880"/>
          </a:xfrm>
          <a:prstGeom prst="rect">
            <a:avLst/>
          </a:prstGeom>
          <a:noFill/>
        </p:spPr>
        <p:txBody>
          <a:bodyPr wrap="square" anchor="t"/>
          <a:lstStyle/>
          <a:p>
            <a:pPr algn="l">
              <a:defRPr sz="800" b="0">
                <a:solidFill>
                  <a:srgbClr val="777777"/>
                </a:solidFill>
                <a:latin typeface="Arial"/>
              </a:defRPr>
            </a:pPr>
            <a:r>
              <a:t>CRUD, build, refresh, validate, prompts, skills, tune</a:t>
            </a:r>
          </a:p>
        </p:txBody>
      </p:sp>
      <p:sp>
        <p:nvSpPr>
          <p:cNvPr id="55" name="TextBox 54"/>
          <p:cNvSpPr txBox="1"/>
          <p:nvPr/>
        </p:nvSpPr>
        <p:spPr>
          <a:xfrm>
            <a:off x="8229600" y="2798064"/>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56" name="Rectangle 55"/>
          <p:cNvSpPr/>
          <p:nvPr/>
        </p:nvSpPr>
        <p:spPr>
          <a:xfrm>
            <a:off x="4754880" y="3182112"/>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92040" y="3182112"/>
            <a:ext cx="1188720" cy="201168"/>
          </a:xfrm>
          <a:prstGeom prst="rect">
            <a:avLst/>
          </a:prstGeom>
          <a:noFill/>
        </p:spPr>
        <p:txBody>
          <a:bodyPr wrap="square" anchor="t"/>
          <a:lstStyle/>
          <a:p>
            <a:pPr algn="l">
              <a:defRPr sz="1000" b="1">
                <a:solidFill>
                  <a:srgbClr val="333333"/>
                </a:solidFill>
                <a:latin typeface="Arial"/>
              </a:defRPr>
            </a:pPr>
            <a:r>
              <a:t>Access Control</a:t>
            </a:r>
          </a:p>
        </p:txBody>
      </p:sp>
      <p:sp>
        <p:nvSpPr>
          <p:cNvPr id="58" name="TextBox 57"/>
          <p:cNvSpPr txBox="1"/>
          <p:nvPr/>
        </p:nvSpPr>
        <p:spPr>
          <a:xfrm>
            <a:off x="4892040" y="3364992"/>
            <a:ext cx="3200400" cy="182880"/>
          </a:xfrm>
          <a:prstGeom prst="rect">
            <a:avLst/>
          </a:prstGeom>
          <a:noFill/>
        </p:spPr>
        <p:txBody>
          <a:bodyPr wrap="square" anchor="t"/>
          <a:lstStyle/>
          <a:p>
            <a:pPr algn="l">
              <a:defRPr sz="800" b="0">
                <a:solidFill>
                  <a:srgbClr val="777777"/>
                </a:solidFill>
                <a:latin typeface="Arial"/>
              </a:defRPr>
            </a:pPr>
            <a:r>
              <a:t>roles, permissions, bindings, memberships, principals</a:t>
            </a:r>
          </a:p>
        </p:txBody>
      </p:sp>
      <p:sp>
        <p:nvSpPr>
          <p:cNvPr id="59" name="TextBox 58"/>
          <p:cNvSpPr txBox="1"/>
          <p:nvPr/>
        </p:nvSpPr>
        <p:spPr>
          <a:xfrm>
            <a:off x="8229600" y="3182112"/>
            <a:ext cx="457200" cy="201168"/>
          </a:xfrm>
          <a:prstGeom prst="rect">
            <a:avLst/>
          </a:prstGeom>
          <a:noFill/>
        </p:spPr>
        <p:txBody>
          <a:bodyPr wrap="square" anchor="t"/>
          <a:lstStyle/>
          <a:p>
            <a:pPr algn="r">
              <a:defRPr sz="1000" b="1">
                <a:solidFill>
                  <a:srgbClr val="FF9800"/>
                </a:solidFill>
                <a:latin typeface="Arial"/>
              </a:defRPr>
            </a:pPr>
            <a:r>
              <a:t>14</a:t>
            </a:r>
          </a:p>
        </p:txBody>
      </p:sp>
      <p:sp>
        <p:nvSpPr>
          <p:cNvPr id="60" name="Rectangle 59"/>
          <p:cNvSpPr/>
          <p:nvPr/>
        </p:nvSpPr>
        <p:spPr>
          <a:xfrm>
            <a:off x="4754880" y="356616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92040" y="3566160"/>
            <a:ext cx="1188720" cy="201168"/>
          </a:xfrm>
          <a:prstGeom prst="rect">
            <a:avLst/>
          </a:prstGeom>
          <a:noFill/>
        </p:spPr>
        <p:txBody>
          <a:bodyPr wrap="square" anchor="t"/>
          <a:lstStyle/>
          <a:p>
            <a:pPr algn="l">
              <a:defRPr sz="1000" b="1">
                <a:solidFill>
                  <a:srgbClr val="333333"/>
                </a:solidFill>
                <a:latin typeface="Arial"/>
              </a:defRPr>
            </a:pPr>
            <a:r>
              <a:t>Config</a:t>
            </a:r>
          </a:p>
        </p:txBody>
      </p:sp>
      <p:sp>
        <p:nvSpPr>
          <p:cNvPr id="62" name="TextBox 61"/>
          <p:cNvSpPr txBox="1"/>
          <p:nvPr/>
        </p:nvSpPr>
        <p:spPr>
          <a:xfrm>
            <a:off x="4892040" y="3749040"/>
            <a:ext cx="3200400" cy="182880"/>
          </a:xfrm>
          <a:prstGeom prst="rect">
            <a:avLst/>
          </a:prstGeom>
          <a:noFill/>
        </p:spPr>
        <p:txBody>
          <a:bodyPr wrap="square" anchor="t"/>
          <a:lstStyle/>
          <a:p>
            <a:pPr algn="l">
              <a:defRPr sz="800" b="0">
                <a:solidFill>
                  <a:srgbClr val="777777"/>
                </a:solidFill>
                <a:latin typeface="Arial"/>
              </a:defRPr>
            </a:pPr>
            <a:r>
              <a:t>schema, effective, validate, apply</a:t>
            </a:r>
          </a:p>
        </p:txBody>
      </p:sp>
      <p:sp>
        <p:nvSpPr>
          <p:cNvPr id="63" name="TextBox 62"/>
          <p:cNvSpPr txBox="1"/>
          <p:nvPr/>
        </p:nvSpPr>
        <p:spPr>
          <a:xfrm>
            <a:off x="8229600" y="3566160"/>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4" name="Rectangle 63"/>
          <p:cNvSpPr/>
          <p:nvPr/>
        </p:nvSpPr>
        <p:spPr>
          <a:xfrm>
            <a:off x="4754880" y="395020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892040" y="3950208"/>
            <a:ext cx="1188720" cy="201168"/>
          </a:xfrm>
          <a:prstGeom prst="rect">
            <a:avLst/>
          </a:prstGeom>
          <a:noFill/>
        </p:spPr>
        <p:txBody>
          <a:bodyPr wrap="square" anchor="t"/>
          <a:lstStyle/>
          <a:p>
            <a:pPr algn="l">
              <a:defRPr sz="1000" b="1">
                <a:solidFill>
                  <a:srgbClr val="333333"/>
                </a:solidFill>
                <a:latin typeface="Arial"/>
              </a:defRPr>
            </a:pPr>
            <a:r>
              <a:t>Uploads</a:t>
            </a:r>
          </a:p>
        </p:txBody>
      </p:sp>
      <p:sp>
        <p:nvSpPr>
          <p:cNvPr id="66" name="TextBox 65"/>
          <p:cNvSpPr txBox="1"/>
          <p:nvPr/>
        </p:nvSpPr>
        <p:spPr>
          <a:xfrm>
            <a:off x="4892040" y="4133088"/>
            <a:ext cx="3200400" cy="182880"/>
          </a:xfrm>
          <a:prstGeom prst="rect">
            <a:avLst/>
          </a:prstGeom>
          <a:noFill/>
        </p:spPr>
        <p:txBody>
          <a:bodyPr wrap="square" anchor="t"/>
          <a:lstStyle/>
          <a:p>
            <a:pPr algn="l">
              <a:defRPr sz="800" b="0">
                <a:solidFill>
                  <a:srgbClr val="777777"/>
                </a:solidFill>
                <a:latin typeface="Arial"/>
              </a:defRPr>
            </a:pPr>
            <a:r>
              <a:t>list, get, delete, reindex</a:t>
            </a:r>
          </a:p>
        </p:txBody>
      </p:sp>
      <p:sp>
        <p:nvSpPr>
          <p:cNvPr id="67" name="TextBox 66"/>
          <p:cNvSpPr txBox="1"/>
          <p:nvPr/>
        </p:nvSpPr>
        <p:spPr>
          <a:xfrm>
            <a:off x="8229600" y="3950208"/>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8" name="Rectangle 67"/>
          <p:cNvSpPr/>
          <p:nvPr/>
        </p:nvSpPr>
        <p:spPr>
          <a:xfrm>
            <a:off x="4754880" y="433425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892040" y="4334256"/>
            <a:ext cx="1188720" cy="201168"/>
          </a:xfrm>
          <a:prstGeom prst="rect">
            <a:avLst/>
          </a:prstGeom>
          <a:noFill/>
        </p:spPr>
        <p:txBody>
          <a:bodyPr wrap="square" anchor="t"/>
          <a:lstStyle/>
          <a:p>
            <a:pPr algn="l">
              <a:defRPr sz="1000" b="1">
                <a:solidFill>
                  <a:srgbClr val="333333"/>
                </a:solidFill>
                <a:latin typeface="Arial"/>
              </a:defRPr>
            </a:pPr>
            <a:r>
              <a:t>MCP/System</a:t>
            </a:r>
          </a:p>
        </p:txBody>
      </p:sp>
      <p:sp>
        <p:nvSpPr>
          <p:cNvPr id="70" name="TextBox 69"/>
          <p:cNvSpPr txBox="1"/>
          <p:nvPr/>
        </p:nvSpPr>
        <p:spPr>
          <a:xfrm>
            <a:off x="4892040" y="4517136"/>
            <a:ext cx="3200400" cy="182880"/>
          </a:xfrm>
          <a:prstGeom prst="rect">
            <a:avLst/>
          </a:prstGeom>
          <a:noFill/>
        </p:spPr>
        <p:txBody>
          <a:bodyPr wrap="square" anchor="t"/>
          <a:lstStyle/>
          <a:p>
            <a:pPr algn="l">
              <a:defRPr sz="800" b="0">
                <a:solidFill>
                  <a:srgbClr val="777777"/>
                </a:solidFill>
                <a:latin typeface="Arial"/>
              </a:defRPr>
            </a:pPr>
            <a:r>
              <a:t>connections, operations, overview, architecture</a:t>
            </a:r>
          </a:p>
        </p:txBody>
      </p:sp>
      <p:sp>
        <p:nvSpPr>
          <p:cNvPr id="71" name="TextBox 70"/>
          <p:cNvSpPr txBox="1"/>
          <p:nvPr/>
        </p:nvSpPr>
        <p:spPr>
          <a:xfrm>
            <a:off x="8229600" y="4334256"/>
            <a:ext cx="457200" cy="201168"/>
          </a:xfrm>
          <a:prstGeom prst="rect">
            <a:avLst/>
          </a:prstGeom>
          <a:noFill/>
        </p:spPr>
        <p:txBody>
          <a:bodyPr wrap="square" anchor="t"/>
          <a:lstStyle/>
          <a:p>
            <a:pPr algn="r">
              <a:defRPr sz="1000" b="1">
                <a:solidFill>
                  <a:srgbClr val="FF9800"/>
                </a:solidFill>
                <a:latin typeface="Arial"/>
              </a:defRPr>
            </a:pPr>
            <a:r>
              <a:t>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 Processing &amp; New Modules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DOCUMENT PROCESSING (documents/)</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A dedicated subsystem for advanced document analysis beyond simple RAG retrieval.</a:t>
            </a:r>
          </a:p>
        </p:txBody>
      </p:sp>
      <p:sp>
        <p:nvSpPr>
          <p:cNvPr id="7" name="Rectangle 6"/>
          <p:cNvSpPr/>
          <p:nvPr/>
        </p:nvSpPr>
        <p:spPr>
          <a:xfrm>
            <a:off x="502920" y="1691640"/>
            <a:ext cx="54864" cy="4572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3657600" cy="201168"/>
          </a:xfrm>
          <a:prstGeom prst="rect">
            <a:avLst/>
          </a:prstGeom>
          <a:noFill/>
        </p:spPr>
        <p:txBody>
          <a:bodyPr wrap="square" anchor="t"/>
          <a:lstStyle/>
          <a:p>
            <a:pPr algn="l">
              <a:defRPr sz="1100" b="1">
                <a:solidFill>
                  <a:srgbClr val="333333"/>
                </a:solidFill>
                <a:latin typeface="Arial"/>
              </a:defRPr>
            </a:pPr>
            <a:r>
              <a:t>Document Comparison</a:t>
            </a:r>
          </a:p>
        </p:txBody>
      </p:sp>
      <p:sp>
        <p:nvSpPr>
          <p:cNvPr id="9" name="TextBox 8"/>
          <p:cNvSpPr txBox="1"/>
          <p:nvPr/>
        </p:nvSpPr>
        <p:spPr>
          <a:xfrm>
            <a:off x="640080" y="1892808"/>
            <a:ext cx="3657600" cy="274320"/>
          </a:xfrm>
          <a:prstGeom prst="rect">
            <a:avLst/>
          </a:prstGeom>
          <a:noFill/>
        </p:spPr>
        <p:txBody>
          <a:bodyPr wrap="square" anchor="t"/>
          <a:lstStyle/>
          <a:p>
            <a:pPr algn="l">
              <a:defRPr sz="900" b="0">
                <a:solidFill>
                  <a:srgbClr val="666666"/>
                </a:solidFill>
                <a:latin typeface="Arial"/>
              </a:defRPr>
            </a:pPr>
            <a:r>
              <a:t>Side-by-side clause-level diff between documents</a:t>
            </a:r>
          </a:p>
        </p:txBody>
      </p:sp>
      <p:sp>
        <p:nvSpPr>
          <p:cNvPr id="10" name="Rectangle 9"/>
          <p:cNvSpPr/>
          <p:nvPr/>
        </p:nvSpPr>
        <p:spPr>
          <a:xfrm>
            <a:off x="502920" y="2167128"/>
            <a:ext cx="54864" cy="4572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67128"/>
            <a:ext cx="3657600" cy="201168"/>
          </a:xfrm>
          <a:prstGeom prst="rect">
            <a:avLst/>
          </a:prstGeom>
          <a:noFill/>
        </p:spPr>
        <p:txBody>
          <a:bodyPr wrap="square" anchor="t"/>
          <a:lstStyle/>
          <a:p>
            <a:pPr algn="l">
              <a:defRPr sz="1100" b="1">
                <a:solidFill>
                  <a:srgbClr val="333333"/>
                </a:solidFill>
                <a:latin typeface="Arial"/>
              </a:defRPr>
            </a:pPr>
            <a:r>
              <a:t>Consolidation Campaigns</a:t>
            </a:r>
          </a:p>
        </p:txBody>
      </p:sp>
      <p:sp>
        <p:nvSpPr>
          <p:cNvPr id="12" name="TextBox 11"/>
          <p:cNvSpPr txBox="1"/>
          <p:nvPr/>
        </p:nvSpPr>
        <p:spPr>
          <a:xfrm>
            <a:off x="640080" y="2368296"/>
            <a:ext cx="3657600" cy="274320"/>
          </a:xfrm>
          <a:prstGeom prst="rect">
            <a:avLst/>
          </a:prstGeom>
          <a:noFill/>
        </p:spPr>
        <p:txBody>
          <a:bodyPr wrap="square" anchor="t"/>
          <a:lstStyle/>
          <a:p>
            <a:pPr algn="l">
              <a:defRPr sz="900" b="0">
                <a:solidFill>
                  <a:srgbClr val="666666"/>
                </a:solidFill>
                <a:latin typeface="Arial"/>
              </a:defRPr>
            </a:pPr>
            <a:r>
              <a:t>Multi-doc merge with conflict detection and resolution</a:t>
            </a:r>
          </a:p>
        </p:txBody>
      </p:sp>
      <p:sp>
        <p:nvSpPr>
          <p:cNvPr id="13" name="Rectangle 12"/>
          <p:cNvSpPr/>
          <p:nvPr/>
        </p:nvSpPr>
        <p:spPr>
          <a:xfrm>
            <a:off x="502920" y="2642616"/>
            <a:ext cx="54864" cy="4572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42616"/>
            <a:ext cx="3657600" cy="201168"/>
          </a:xfrm>
          <a:prstGeom prst="rect">
            <a:avLst/>
          </a:prstGeom>
          <a:noFill/>
        </p:spPr>
        <p:txBody>
          <a:bodyPr wrap="square" anchor="t"/>
          <a:lstStyle/>
          <a:p>
            <a:pPr algn="l">
              <a:defRPr sz="1100" b="1">
                <a:solidFill>
                  <a:srgbClr val="333333"/>
                </a:solidFill>
                <a:latin typeface="Arial"/>
              </a:defRPr>
            </a:pPr>
            <a:r>
              <a:t>Template Transform</a:t>
            </a:r>
          </a:p>
        </p:txBody>
      </p:sp>
      <p:sp>
        <p:nvSpPr>
          <p:cNvPr id="15" name="TextBox 14"/>
          <p:cNvSpPr txBox="1"/>
          <p:nvPr/>
        </p:nvSpPr>
        <p:spPr>
          <a:xfrm>
            <a:off x="640080" y="2843784"/>
            <a:ext cx="3657600" cy="274320"/>
          </a:xfrm>
          <a:prstGeom prst="rect">
            <a:avLst/>
          </a:prstGeom>
          <a:noFill/>
        </p:spPr>
        <p:txBody>
          <a:bodyPr wrap="square" anchor="t"/>
          <a:lstStyle/>
          <a:p>
            <a:pPr algn="l">
              <a:defRPr sz="900" b="0">
                <a:solidFill>
                  <a:srgbClr val="666666"/>
                </a:solidFill>
                <a:latin typeface="Arial"/>
              </a:defRPr>
            </a:pPr>
            <a:r>
              <a:t>Map document content into structured output templates</a:t>
            </a:r>
          </a:p>
        </p:txBody>
      </p:sp>
      <p:sp>
        <p:nvSpPr>
          <p:cNvPr id="16" name="Rectangle 15"/>
          <p:cNvSpPr/>
          <p:nvPr/>
        </p:nvSpPr>
        <p:spPr>
          <a:xfrm>
            <a:off x="502920" y="3118104"/>
            <a:ext cx="54864"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118104"/>
            <a:ext cx="3657600" cy="201168"/>
          </a:xfrm>
          <a:prstGeom prst="rect">
            <a:avLst/>
          </a:prstGeom>
          <a:noFill/>
        </p:spPr>
        <p:txBody>
          <a:bodyPr wrap="square" anchor="t"/>
          <a:lstStyle/>
          <a:p>
            <a:pPr algn="l">
              <a:defRPr sz="1100" b="1">
                <a:solidFill>
                  <a:srgbClr val="333333"/>
                </a:solidFill>
                <a:latin typeface="Arial"/>
              </a:defRPr>
            </a:pPr>
            <a:r>
              <a:t>Evidence Binder</a:t>
            </a:r>
          </a:p>
        </p:txBody>
      </p:sp>
      <p:sp>
        <p:nvSpPr>
          <p:cNvPr id="18" name="TextBox 17"/>
          <p:cNvSpPr txBox="1"/>
          <p:nvPr/>
        </p:nvSpPr>
        <p:spPr>
          <a:xfrm>
            <a:off x="640080" y="3319272"/>
            <a:ext cx="3657600" cy="274320"/>
          </a:xfrm>
          <a:prstGeom prst="rect">
            <a:avLst/>
          </a:prstGeom>
          <a:noFill/>
        </p:spPr>
        <p:txBody>
          <a:bodyPr wrap="square" anchor="t"/>
          <a:lstStyle/>
          <a:p>
            <a:pPr algn="l">
              <a:defRPr sz="900" b="0">
                <a:solidFill>
                  <a:srgbClr val="666666"/>
                </a:solidFill>
                <a:latin typeface="Arial"/>
              </a:defRPr>
            </a:pPr>
            <a:r>
              <a:t>Compile graded evidence into formatted reference packets</a:t>
            </a:r>
          </a:p>
        </p:txBody>
      </p:sp>
      <p:sp>
        <p:nvSpPr>
          <p:cNvPr id="19" name="Rectangle 18"/>
          <p:cNvSpPr/>
          <p:nvPr/>
        </p:nvSpPr>
        <p:spPr>
          <a:xfrm>
            <a:off x="502920" y="3593592"/>
            <a:ext cx="54864" cy="45720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593592"/>
            <a:ext cx="3657600" cy="201168"/>
          </a:xfrm>
          <a:prstGeom prst="rect">
            <a:avLst/>
          </a:prstGeom>
          <a:noFill/>
        </p:spPr>
        <p:txBody>
          <a:bodyPr wrap="square" anchor="t"/>
          <a:lstStyle/>
          <a:p>
            <a:pPr algn="l">
              <a:defRPr sz="1100" b="1">
                <a:solidFill>
                  <a:srgbClr val="333333"/>
                </a:solidFill>
                <a:latin typeface="Arial"/>
              </a:defRPr>
            </a:pPr>
            <a:r>
              <a:t>Requirement Extraction</a:t>
            </a:r>
          </a:p>
        </p:txBody>
      </p:sp>
      <p:sp>
        <p:nvSpPr>
          <p:cNvPr id="21" name="TextBox 20"/>
          <p:cNvSpPr txBox="1"/>
          <p:nvPr/>
        </p:nvSpPr>
        <p:spPr>
          <a:xfrm>
            <a:off x="640080" y="3794760"/>
            <a:ext cx="3657600" cy="274320"/>
          </a:xfrm>
          <a:prstGeom prst="rect">
            <a:avLst/>
          </a:prstGeom>
          <a:noFill/>
        </p:spPr>
        <p:txBody>
          <a:bodyPr wrap="square" anchor="t"/>
          <a:lstStyle/>
          <a:p>
            <a:pPr algn="l">
              <a:defRPr sz="900" b="0">
                <a:solidFill>
                  <a:srgbClr val="666666"/>
                </a:solidFill>
                <a:latin typeface="Arial"/>
              </a:defRPr>
            </a:pPr>
            <a:r>
              <a:t>Extract and export structured requirements from specs</a:t>
            </a:r>
          </a:p>
        </p:txBody>
      </p:sp>
      <p:sp>
        <p:nvSpPr>
          <p:cNvPr id="22" name="Rectangle 21"/>
          <p:cNvSpPr/>
          <p:nvPr/>
        </p:nvSpPr>
        <p:spPr>
          <a:xfrm>
            <a:off x="502920" y="4069080"/>
            <a:ext cx="54864" cy="457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69080"/>
            <a:ext cx="3657600" cy="201168"/>
          </a:xfrm>
          <a:prstGeom prst="rect">
            <a:avLst/>
          </a:prstGeom>
          <a:noFill/>
        </p:spPr>
        <p:txBody>
          <a:bodyPr wrap="square" anchor="t"/>
          <a:lstStyle/>
          <a:p>
            <a:pPr algn="l">
              <a:defRPr sz="1100" b="1">
                <a:solidFill>
                  <a:srgbClr val="333333"/>
                </a:solidFill>
                <a:latin typeface="Arial"/>
              </a:defRPr>
            </a:pPr>
            <a:r>
              <a:t>Similarity Analysis</a:t>
            </a:r>
          </a:p>
        </p:txBody>
      </p:sp>
      <p:sp>
        <p:nvSpPr>
          <p:cNvPr id="24" name="TextBox 23"/>
          <p:cNvSpPr txBox="1"/>
          <p:nvPr/>
        </p:nvSpPr>
        <p:spPr>
          <a:xfrm>
            <a:off x="640080" y="4270248"/>
            <a:ext cx="3657600" cy="274320"/>
          </a:xfrm>
          <a:prstGeom prst="rect">
            <a:avLst/>
          </a:prstGeom>
          <a:noFill/>
        </p:spPr>
        <p:txBody>
          <a:bodyPr wrap="square" anchor="t"/>
          <a:lstStyle/>
          <a:p>
            <a:pPr algn="l">
              <a:defRPr sz="900" b="0">
                <a:solidFill>
                  <a:srgbClr val="666666"/>
                </a:solidFill>
                <a:latin typeface="Arial"/>
              </a:defRPr>
            </a:pPr>
            <a:r>
              <a:t>Cross-document similarity scoring and clustering</a:t>
            </a:r>
          </a:p>
        </p:txBody>
      </p:sp>
      <p:sp>
        <p:nvSpPr>
          <p:cNvPr id="25" name="TextBox 24"/>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NEW MODULES SINCE V2</a:t>
            </a:r>
          </a:p>
        </p:txBody>
      </p:sp>
      <p:sp>
        <p:nvSpPr>
          <p:cNvPr id="26" name="Rectangle 25"/>
          <p:cNvSpPr/>
          <p:nvPr/>
        </p:nvSpPr>
        <p:spPr>
          <a:xfrm>
            <a:off x="4754880" y="12801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1325880"/>
            <a:ext cx="2286000" cy="201168"/>
          </a:xfrm>
          <a:prstGeom prst="rect">
            <a:avLst/>
          </a:prstGeom>
          <a:noFill/>
        </p:spPr>
        <p:txBody>
          <a:bodyPr wrap="square" anchor="t"/>
          <a:lstStyle/>
          <a:p>
            <a:pPr algn="l">
              <a:defRPr sz="1000" b="1">
                <a:solidFill>
                  <a:srgbClr val="FFFFFF"/>
                </a:solidFill>
                <a:latin typeface="Arial"/>
              </a:defRPr>
            </a:pPr>
            <a:r>
              <a:t>documents/</a:t>
            </a:r>
          </a:p>
        </p:txBody>
      </p:sp>
      <p:sp>
        <p:nvSpPr>
          <p:cNvPr id="28" name="TextBox 27"/>
          <p:cNvSpPr txBox="1"/>
          <p:nvPr/>
        </p:nvSpPr>
        <p:spPr>
          <a:xfrm>
            <a:off x="7772400" y="1325880"/>
            <a:ext cx="822960" cy="201168"/>
          </a:xfrm>
          <a:prstGeom prst="rect">
            <a:avLst/>
          </a:prstGeom>
          <a:noFill/>
        </p:spPr>
        <p:txBody>
          <a:bodyPr wrap="square" anchor="t"/>
          <a:lstStyle/>
          <a:p>
            <a:pPr algn="r">
              <a:defRPr sz="900" b="0">
                <a:solidFill>
                  <a:srgbClr val="0097A7"/>
                </a:solidFill>
                <a:latin typeface="Arial"/>
              </a:defRPr>
            </a:pPr>
            <a:r>
              <a:t>7 files</a:t>
            </a:r>
          </a:p>
        </p:txBody>
      </p:sp>
      <p:sp>
        <p:nvSpPr>
          <p:cNvPr id="29" name="TextBox 28"/>
          <p:cNvSpPr txBox="1"/>
          <p:nvPr/>
        </p:nvSpPr>
        <p:spPr>
          <a:xfrm>
            <a:off x="4892040" y="1536192"/>
            <a:ext cx="3657600" cy="320040"/>
          </a:xfrm>
          <a:prstGeom prst="rect">
            <a:avLst/>
          </a:prstGeom>
          <a:noFill/>
        </p:spPr>
        <p:txBody>
          <a:bodyPr wrap="square" anchor="t"/>
          <a:lstStyle/>
          <a:p>
            <a:pPr algn="l">
              <a:defRPr sz="800" b="0">
                <a:solidFill>
                  <a:srgbClr val="CCCCCC"/>
                </a:solidFill>
                <a:latin typeface="Arial"/>
              </a:defRPr>
            </a:pPr>
            <a:r>
              <a:t>Compare, consolidate, extract, similarity, serializers, models</a:t>
            </a:r>
          </a:p>
        </p:txBody>
      </p:sp>
      <p:sp>
        <p:nvSpPr>
          <p:cNvPr id="30" name="Rectangle 29"/>
          <p:cNvSpPr/>
          <p:nvPr/>
        </p:nvSpPr>
        <p:spPr>
          <a:xfrm>
            <a:off x="4754880" y="192024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1965960"/>
            <a:ext cx="2286000" cy="201168"/>
          </a:xfrm>
          <a:prstGeom prst="rect">
            <a:avLst/>
          </a:prstGeom>
          <a:noFill/>
        </p:spPr>
        <p:txBody>
          <a:bodyPr wrap="square" anchor="t"/>
          <a:lstStyle/>
          <a:p>
            <a:pPr algn="l">
              <a:defRPr sz="1000" b="1">
                <a:solidFill>
                  <a:srgbClr val="FFFFFF"/>
                </a:solidFill>
                <a:latin typeface="Arial"/>
              </a:defRPr>
            </a:pPr>
            <a:r>
              <a:t>mcp/</a:t>
            </a:r>
          </a:p>
        </p:txBody>
      </p:sp>
      <p:sp>
        <p:nvSpPr>
          <p:cNvPr id="32" name="TextBox 31"/>
          <p:cNvSpPr txBox="1"/>
          <p:nvPr/>
        </p:nvSpPr>
        <p:spPr>
          <a:xfrm>
            <a:off x="7772400" y="1965960"/>
            <a:ext cx="822960" cy="201168"/>
          </a:xfrm>
          <a:prstGeom prst="rect">
            <a:avLst/>
          </a:prstGeom>
          <a:noFill/>
        </p:spPr>
        <p:txBody>
          <a:bodyPr wrap="square" anchor="t"/>
          <a:lstStyle/>
          <a:p>
            <a:pPr algn="r">
              <a:defRPr sz="900" b="0">
                <a:solidFill>
                  <a:srgbClr val="0097A7"/>
                </a:solidFill>
                <a:latin typeface="Arial"/>
              </a:defRPr>
            </a:pPr>
            <a:r>
              <a:t>4 files</a:t>
            </a:r>
          </a:p>
        </p:txBody>
      </p:sp>
      <p:sp>
        <p:nvSpPr>
          <p:cNvPr id="33" name="TextBox 32"/>
          <p:cNvSpPr txBox="1"/>
          <p:nvPr/>
        </p:nvSpPr>
        <p:spPr>
          <a:xfrm>
            <a:off x="4892040" y="2176272"/>
            <a:ext cx="3657600" cy="320040"/>
          </a:xfrm>
          <a:prstGeom prst="rect">
            <a:avLst/>
          </a:prstGeom>
          <a:noFill/>
        </p:spPr>
        <p:txBody>
          <a:bodyPr wrap="square" anchor="t"/>
          <a:lstStyle/>
          <a:p>
            <a:pPr algn="l">
              <a:defRPr sz="800" b="0">
                <a:solidFill>
                  <a:srgbClr val="CCCCCC"/>
                </a:solidFill>
                <a:latin typeface="Arial"/>
              </a:defRPr>
            </a:pPr>
            <a:r>
              <a:t>MCP service, client, security, registry integration</a:t>
            </a:r>
          </a:p>
        </p:txBody>
      </p:sp>
      <p:sp>
        <p:nvSpPr>
          <p:cNvPr id="34" name="Rectangle 33"/>
          <p:cNvSpPr/>
          <p:nvPr/>
        </p:nvSpPr>
        <p:spPr>
          <a:xfrm>
            <a:off x="4754880" y="256032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2606040"/>
            <a:ext cx="2286000" cy="201168"/>
          </a:xfrm>
          <a:prstGeom prst="rect">
            <a:avLst/>
          </a:prstGeom>
          <a:noFill/>
        </p:spPr>
        <p:txBody>
          <a:bodyPr wrap="square" anchor="t"/>
          <a:lstStyle/>
          <a:p>
            <a:pPr algn="l">
              <a:defRPr sz="1000" b="1">
                <a:solidFill>
                  <a:srgbClr val="FFFFFF"/>
                </a:solidFill>
                <a:latin typeface="Arial"/>
              </a:defRPr>
            </a:pPr>
            <a:r>
              <a:t>graph/</a:t>
            </a:r>
          </a:p>
        </p:txBody>
      </p:sp>
      <p:sp>
        <p:nvSpPr>
          <p:cNvPr id="36" name="TextBox 35"/>
          <p:cNvSpPr txBox="1"/>
          <p:nvPr/>
        </p:nvSpPr>
        <p:spPr>
          <a:xfrm>
            <a:off x="7772400" y="2606040"/>
            <a:ext cx="822960" cy="201168"/>
          </a:xfrm>
          <a:prstGeom prst="rect">
            <a:avLst/>
          </a:prstGeom>
          <a:noFill/>
        </p:spPr>
        <p:txBody>
          <a:bodyPr wrap="square" anchor="t"/>
          <a:lstStyle/>
          <a:p>
            <a:pPr algn="r">
              <a:defRPr sz="900" b="0">
                <a:solidFill>
                  <a:srgbClr val="0097A7"/>
                </a:solidFill>
                <a:latin typeface="Arial"/>
              </a:defRPr>
            </a:pPr>
            <a:r>
              <a:t>10 files</a:t>
            </a:r>
          </a:p>
        </p:txBody>
      </p:sp>
      <p:sp>
        <p:nvSpPr>
          <p:cNvPr id="37" name="TextBox 36"/>
          <p:cNvSpPr txBox="1"/>
          <p:nvPr/>
        </p:nvSpPr>
        <p:spPr>
          <a:xfrm>
            <a:off x="4892040" y="2816352"/>
            <a:ext cx="3657600" cy="320040"/>
          </a:xfrm>
          <a:prstGeom prst="rect">
            <a:avLst/>
          </a:prstGeom>
          <a:noFill/>
        </p:spPr>
        <p:txBody>
          <a:bodyPr wrap="square" anchor="t"/>
          <a:lstStyle/>
          <a:p>
            <a:pPr algn="l">
              <a:defRPr sz="800" b="0">
                <a:solidFill>
                  <a:srgbClr val="CCCCCC"/>
                </a:solidFill>
                <a:latin typeface="Arial"/>
              </a:defRPr>
            </a:pPr>
            <a:r>
              <a:t>Phased build, prompt tuning, community recovery, structured search</a:t>
            </a:r>
          </a:p>
        </p:txBody>
      </p:sp>
      <p:sp>
        <p:nvSpPr>
          <p:cNvPr id="38" name="Rectangle 37"/>
          <p:cNvSpPr/>
          <p:nvPr/>
        </p:nvSpPr>
        <p:spPr>
          <a:xfrm>
            <a:off x="4754880" y="320040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92040" y="3246120"/>
            <a:ext cx="2286000" cy="201168"/>
          </a:xfrm>
          <a:prstGeom prst="rect">
            <a:avLst/>
          </a:prstGeom>
          <a:noFill/>
        </p:spPr>
        <p:txBody>
          <a:bodyPr wrap="square" anchor="t"/>
          <a:lstStyle/>
          <a:p>
            <a:pPr algn="l">
              <a:defRPr sz="1000" b="1">
                <a:solidFill>
                  <a:srgbClr val="FFFFFF"/>
                </a:solidFill>
                <a:latin typeface="Arial"/>
              </a:defRPr>
            </a:pPr>
            <a:r>
              <a:t>storage/</a:t>
            </a:r>
          </a:p>
        </p:txBody>
      </p:sp>
      <p:sp>
        <p:nvSpPr>
          <p:cNvPr id="40" name="TextBox 39"/>
          <p:cNvSpPr txBox="1"/>
          <p:nvPr/>
        </p:nvSpPr>
        <p:spPr>
          <a:xfrm>
            <a:off x="7772400" y="3246120"/>
            <a:ext cx="822960" cy="201168"/>
          </a:xfrm>
          <a:prstGeom prst="rect">
            <a:avLst/>
          </a:prstGeom>
          <a:noFill/>
        </p:spPr>
        <p:txBody>
          <a:bodyPr wrap="square" anchor="t"/>
          <a:lstStyle/>
          <a:p>
            <a:pPr algn="r">
              <a:defRPr sz="900" b="0">
                <a:solidFill>
                  <a:srgbClr val="0097A7"/>
                </a:solidFill>
                <a:latin typeface="Arial"/>
              </a:defRPr>
            </a:pPr>
            <a:r>
              <a:t>2 files</a:t>
            </a:r>
          </a:p>
        </p:txBody>
      </p:sp>
      <p:sp>
        <p:nvSpPr>
          <p:cNvPr id="41" name="TextBox 40"/>
          <p:cNvSpPr txBox="1"/>
          <p:nvPr/>
        </p:nvSpPr>
        <p:spPr>
          <a:xfrm>
            <a:off x="4892040" y="3456432"/>
            <a:ext cx="3657600" cy="320040"/>
          </a:xfrm>
          <a:prstGeom prst="rect">
            <a:avLst/>
          </a:prstGeom>
          <a:noFill/>
        </p:spPr>
        <p:txBody>
          <a:bodyPr wrap="square" anchor="t"/>
          <a:lstStyle/>
          <a:p>
            <a:pPr algn="l">
              <a:defRPr sz="800" b="0">
                <a:solidFill>
                  <a:srgbClr val="CCCCCC"/>
                </a:solidFill>
                <a:latin typeface="Arial"/>
              </a:defRPr>
            </a:pPr>
            <a:r>
              <a:t>Blob store abstraction layer for file artifacts</a:t>
            </a:r>
          </a:p>
        </p:txBody>
      </p:sp>
      <p:sp>
        <p:nvSpPr>
          <p:cNvPr id="42" name="Rectangle 41"/>
          <p:cNvSpPr/>
          <p:nvPr/>
        </p:nvSpPr>
        <p:spPr>
          <a:xfrm>
            <a:off x="4754880" y="384048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92040" y="3886200"/>
            <a:ext cx="2286000" cy="201168"/>
          </a:xfrm>
          <a:prstGeom prst="rect">
            <a:avLst/>
          </a:prstGeom>
          <a:noFill/>
        </p:spPr>
        <p:txBody>
          <a:bodyPr wrap="square" anchor="t"/>
          <a:lstStyle/>
          <a:p>
            <a:pPr algn="l">
              <a:defRPr sz="1000" b="1">
                <a:solidFill>
                  <a:srgbClr val="FFFFFF"/>
                </a:solidFill>
                <a:latin typeface="Arial"/>
              </a:defRPr>
            </a:pPr>
            <a:r>
              <a:t>tools/discovery.py</a:t>
            </a:r>
          </a:p>
        </p:txBody>
      </p:sp>
      <p:sp>
        <p:nvSpPr>
          <p:cNvPr id="44" name="TextBox 43"/>
          <p:cNvSpPr txBox="1"/>
          <p:nvPr/>
        </p:nvSpPr>
        <p:spPr>
          <a:xfrm>
            <a:off x="7772400" y="388620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5" name="TextBox 44"/>
          <p:cNvSpPr txBox="1"/>
          <p:nvPr/>
        </p:nvSpPr>
        <p:spPr>
          <a:xfrm>
            <a:off x="4892040" y="4096512"/>
            <a:ext cx="3657600" cy="320040"/>
          </a:xfrm>
          <a:prstGeom prst="rect">
            <a:avLst/>
          </a:prstGeom>
          <a:noFill/>
        </p:spPr>
        <p:txBody>
          <a:bodyPr wrap="square" anchor="t"/>
          <a:lstStyle/>
          <a:p>
            <a:pPr algn="l">
              <a:defRPr sz="800" b="0">
                <a:solidFill>
                  <a:srgbClr val="CCCCCC"/>
                </a:solidFill>
                <a:latin typeface="Arial"/>
              </a:defRPr>
            </a:pPr>
            <a:r>
              <a:t>Deferred tool discovery and late-binding system</a:t>
            </a:r>
          </a:p>
        </p:txBody>
      </p:sp>
      <p:sp>
        <p:nvSpPr>
          <p:cNvPr id="46" name="Rectangle 45"/>
          <p:cNvSpPr/>
          <p:nvPr/>
        </p:nvSpPr>
        <p:spPr>
          <a:xfrm>
            <a:off x="4754880" y="44805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2040" y="4526280"/>
            <a:ext cx="2286000" cy="201168"/>
          </a:xfrm>
          <a:prstGeom prst="rect">
            <a:avLst/>
          </a:prstGeom>
          <a:noFill/>
        </p:spPr>
        <p:txBody>
          <a:bodyPr wrap="square" anchor="t"/>
          <a:lstStyle/>
          <a:p>
            <a:pPr algn="l">
              <a:defRPr sz="1000" b="1">
                <a:solidFill>
                  <a:srgbClr val="FFFFFF"/>
                </a:solidFill>
                <a:latin typeface="Arial"/>
              </a:defRPr>
            </a:pPr>
            <a:r>
              <a:t>tools/document_tools.py</a:t>
            </a:r>
          </a:p>
        </p:txBody>
      </p:sp>
      <p:sp>
        <p:nvSpPr>
          <p:cNvPr id="48" name="TextBox 47"/>
          <p:cNvSpPr txBox="1"/>
          <p:nvPr/>
        </p:nvSpPr>
        <p:spPr>
          <a:xfrm>
            <a:off x="7772400" y="452628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9" name="TextBox 48"/>
          <p:cNvSpPr txBox="1"/>
          <p:nvPr/>
        </p:nvSpPr>
        <p:spPr>
          <a:xfrm>
            <a:off x="4892040" y="4736592"/>
            <a:ext cx="3657600" cy="320040"/>
          </a:xfrm>
          <a:prstGeom prst="rect">
            <a:avLst/>
          </a:prstGeom>
          <a:noFill/>
        </p:spPr>
        <p:txBody>
          <a:bodyPr wrap="square" anchor="t"/>
          <a:lstStyle/>
          <a:p>
            <a:pPr algn="l">
              <a:defRPr sz="800" b="0">
                <a:solidFill>
                  <a:srgbClr val="CCCCCC"/>
                </a:solidFill>
                <a:latin typeface="Arial"/>
              </a:defRPr>
            </a:pPr>
            <a:r>
              <a:t>evidence_binder, template_transform, consolidation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Authorization Subsystem (authz/)</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457200"/>
          </a:xfrm>
          <a:prstGeom prst="rect">
            <a:avLst/>
          </a:prstGeom>
          <a:noFill/>
        </p:spPr>
        <p:txBody>
          <a:bodyPr wrap="square" anchor="t"/>
          <a:lstStyle/>
          <a:p>
            <a:pPr algn="l">
              <a:defRPr sz="1300" b="0">
                <a:solidFill>
                  <a:srgbClr val="666666"/>
                </a:solidFill>
                <a:latin typeface="Arial"/>
              </a:defRPr>
            </a:pPr>
            <a:r>
              <a:t>Fine-grained access control with principals, roles, bindings, and permissions</a:t>
            </a:r>
          </a:p>
        </p:txBody>
      </p:sp>
      <p:sp>
        <p:nvSpPr>
          <p:cNvPr id="6" name="TextBox 5"/>
          <p:cNvSpPr txBox="1"/>
          <p:nvPr/>
        </p:nvSpPr>
        <p:spPr>
          <a:xfrm>
            <a:off x="502920" y="1371600"/>
            <a:ext cx="3840480" cy="320040"/>
          </a:xfrm>
          <a:prstGeom prst="rect">
            <a:avLst/>
          </a:prstGeom>
          <a:noFill/>
        </p:spPr>
        <p:txBody>
          <a:bodyPr wrap="square" anchor="t"/>
          <a:lstStyle/>
          <a:p>
            <a:pPr algn="l">
              <a:defRPr sz="1300" b="1">
                <a:solidFill>
                  <a:srgbClr val="0097A7"/>
                </a:solidFill>
                <a:latin typeface="Arial"/>
              </a:defRPr>
            </a:pPr>
            <a:r>
              <a:t>RBAC MODEL</a:t>
            </a:r>
          </a:p>
        </p:txBody>
      </p:sp>
      <p:sp>
        <p:nvSpPr>
          <p:cNvPr id="7" name="Oval 6"/>
          <p:cNvSpPr/>
          <p:nvPr/>
        </p:nvSpPr>
        <p:spPr>
          <a:xfrm>
            <a:off x="502920" y="178308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37360"/>
            <a:ext cx="1280160" cy="256032"/>
          </a:xfrm>
          <a:prstGeom prst="rect">
            <a:avLst/>
          </a:prstGeom>
          <a:noFill/>
        </p:spPr>
        <p:txBody>
          <a:bodyPr wrap="square" anchor="t"/>
          <a:lstStyle/>
          <a:p>
            <a:pPr algn="l">
              <a:defRPr sz="1100" b="1">
                <a:solidFill>
                  <a:srgbClr val="333333"/>
                </a:solidFill>
                <a:latin typeface="Arial"/>
              </a:defRPr>
            </a:pPr>
            <a:r>
              <a:t>Principals</a:t>
            </a:r>
          </a:p>
        </p:txBody>
      </p:sp>
      <p:sp>
        <p:nvSpPr>
          <p:cNvPr id="9" name="TextBox 8"/>
          <p:cNvSpPr txBox="1"/>
          <p:nvPr/>
        </p:nvSpPr>
        <p:spPr>
          <a:xfrm>
            <a:off x="2011680" y="1737360"/>
            <a:ext cx="2286000" cy="256032"/>
          </a:xfrm>
          <a:prstGeom prst="rect">
            <a:avLst/>
          </a:prstGeom>
          <a:noFill/>
        </p:spPr>
        <p:txBody>
          <a:bodyPr wrap="square" anchor="t"/>
          <a:lstStyle/>
          <a:p>
            <a:pPr algn="l">
              <a:defRPr sz="1000" b="0">
                <a:solidFill>
                  <a:srgbClr val="666666"/>
                </a:solidFill>
                <a:latin typeface="Arial"/>
              </a:defRPr>
            </a:pPr>
            <a:r>
              <a:t>Users and service accounts with unique IDs</a:t>
            </a:r>
          </a:p>
        </p:txBody>
      </p:sp>
      <p:sp>
        <p:nvSpPr>
          <p:cNvPr id="10" name="Oval 9"/>
          <p:cNvSpPr/>
          <p:nvPr/>
        </p:nvSpPr>
        <p:spPr>
          <a:xfrm>
            <a:off x="502920" y="2130552"/>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84832"/>
            <a:ext cx="1280160" cy="256032"/>
          </a:xfrm>
          <a:prstGeom prst="rect">
            <a:avLst/>
          </a:prstGeom>
          <a:noFill/>
        </p:spPr>
        <p:txBody>
          <a:bodyPr wrap="square" anchor="t"/>
          <a:lstStyle/>
          <a:p>
            <a:pPr algn="l">
              <a:defRPr sz="1100" b="1">
                <a:solidFill>
                  <a:srgbClr val="333333"/>
                </a:solidFill>
                <a:latin typeface="Arial"/>
              </a:defRPr>
            </a:pPr>
            <a:r>
              <a:t>Roles</a:t>
            </a:r>
          </a:p>
        </p:txBody>
      </p:sp>
      <p:sp>
        <p:nvSpPr>
          <p:cNvPr id="12" name="TextBox 11"/>
          <p:cNvSpPr txBox="1"/>
          <p:nvPr/>
        </p:nvSpPr>
        <p:spPr>
          <a:xfrm>
            <a:off x="2011680" y="2084832"/>
            <a:ext cx="2286000" cy="256032"/>
          </a:xfrm>
          <a:prstGeom prst="rect">
            <a:avLst/>
          </a:prstGeom>
          <a:noFill/>
        </p:spPr>
        <p:txBody>
          <a:bodyPr wrap="square" anchor="t"/>
          <a:lstStyle/>
          <a:p>
            <a:pPr algn="l">
              <a:defRPr sz="1000" b="0">
                <a:solidFill>
                  <a:srgbClr val="666666"/>
                </a:solidFill>
                <a:latin typeface="Arial"/>
              </a:defRPr>
            </a:pPr>
            <a:r>
              <a:t>Named permission bundles (admin, editor, viewer)</a:t>
            </a:r>
          </a:p>
        </p:txBody>
      </p:sp>
      <p:sp>
        <p:nvSpPr>
          <p:cNvPr id="13" name="Oval 12"/>
          <p:cNvSpPr/>
          <p:nvPr/>
        </p:nvSpPr>
        <p:spPr>
          <a:xfrm>
            <a:off x="502920" y="2478024"/>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432304"/>
            <a:ext cx="1280160" cy="256032"/>
          </a:xfrm>
          <a:prstGeom prst="rect">
            <a:avLst/>
          </a:prstGeom>
          <a:noFill/>
        </p:spPr>
        <p:txBody>
          <a:bodyPr wrap="square" anchor="t"/>
          <a:lstStyle/>
          <a:p>
            <a:pPr algn="l">
              <a:defRPr sz="1100" b="1">
                <a:solidFill>
                  <a:srgbClr val="333333"/>
                </a:solidFill>
                <a:latin typeface="Arial"/>
              </a:defRPr>
            </a:pPr>
            <a:r>
              <a:t>Bindings</a:t>
            </a:r>
          </a:p>
        </p:txBody>
      </p:sp>
      <p:sp>
        <p:nvSpPr>
          <p:cNvPr id="15" name="TextBox 14"/>
          <p:cNvSpPr txBox="1"/>
          <p:nvPr/>
        </p:nvSpPr>
        <p:spPr>
          <a:xfrm>
            <a:off x="2011680" y="2432304"/>
            <a:ext cx="2286000" cy="256032"/>
          </a:xfrm>
          <a:prstGeom prst="rect">
            <a:avLst/>
          </a:prstGeom>
          <a:noFill/>
        </p:spPr>
        <p:txBody>
          <a:bodyPr wrap="square" anchor="t"/>
          <a:lstStyle/>
          <a:p>
            <a:pPr algn="l">
              <a:defRPr sz="1000" b="0">
                <a:solidFill>
                  <a:srgbClr val="666666"/>
                </a:solidFill>
                <a:latin typeface="Arial"/>
              </a:defRPr>
            </a:pPr>
            <a:r>
              <a:t>Map principals to roles on specific resources</a:t>
            </a:r>
          </a:p>
        </p:txBody>
      </p:sp>
      <p:sp>
        <p:nvSpPr>
          <p:cNvPr id="16" name="Oval 15"/>
          <p:cNvSpPr/>
          <p:nvPr/>
        </p:nvSpPr>
        <p:spPr>
          <a:xfrm>
            <a:off x="502920" y="2825496"/>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779776"/>
            <a:ext cx="1280160" cy="256032"/>
          </a:xfrm>
          <a:prstGeom prst="rect">
            <a:avLst/>
          </a:prstGeom>
          <a:noFill/>
        </p:spPr>
        <p:txBody>
          <a:bodyPr wrap="square" anchor="t"/>
          <a:lstStyle/>
          <a:p>
            <a:pPr algn="l">
              <a:defRPr sz="1100" b="1">
                <a:solidFill>
                  <a:srgbClr val="333333"/>
                </a:solidFill>
                <a:latin typeface="Arial"/>
              </a:defRPr>
            </a:pPr>
            <a:r>
              <a:t>Memberships</a:t>
            </a:r>
          </a:p>
        </p:txBody>
      </p:sp>
      <p:sp>
        <p:nvSpPr>
          <p:cNvPr id="18" name="TextBox 17"/>
          <p:cNvSpPr txBox="1"/>
          <p:nvPr/>
        </p:nvSpPr>
        <p:spPr>
          <a:xfrm>
            <a:off x="2011680" y="2779776"/>
            <a:ext cx="2286000" cy="256032"/>
          </a:xfrm>
          <a:prstGeom prst="rect">
            <a:avLst/>
          </a:prstGeom>
          <a:noFill/>
        </p:spPr>
        <p:txBody>
          <a:bodyPr wrap="square" anchor="t"/>
          <a:lstStyle/>
          <a:p>
            <a:pPr algn="l">
              <a:defRPr sz="1000" b="0">
                <a:solidFill>
                  <a:srgbClr val="666666"/>
                </a:solidFill>
                <a:latin typeface="Arial"/>
              </a:defRPr>
            </a:pPr>
            <a:r>
              <a:t>Group-level role inheritance</a:t>
            </a:r>
          </a:p>
        </p:txBody>
      </p:sp>
      <p:sp>
        <p:nvSpPr>
          <p:cNvPr id="19" name="Oval 18"/>
          <p:cNvSpPr/>
          <p:nvPr/>
        </p:nvSpPr>
        <p:spPr>
          <a:xfrm>
            <a:off x="502920" y="3172968"/>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127248"/>
            <a:ext cx="1280160" cy="256032"/>
          </a:xfrm>
          <a:prstGeom prst="rect">
            <a:avLst/>
          </a:prstGeom>
          <a:noFill/>
        </p:spPr>
        <p:txBody>
          <a:bodyPr wrap="square" anchor="t"/>
          <a:lstStyle/>
          <a:p>
            <a:pPr algn="l">
              <a:defRPr sz="1100" b="1">
                <a:solidFill>
                  <a:srgbClr val="333333"/>
                </a:solidFill>
                <a:latin typeface="Arial"/>
              </a:defRPr>
            </a:pPr>
            <a:r>
              <a:t>Permissions</a:t>
            </a:r>
          </a:p>
        </p:txBody>
      </p:sp>
      <p:sp>
        <p:nvSpPr>
          <p:cNvPr id="21" name="TextBox 20"/>
          <p:cNvSpPr txBox="1"/>
          <p:nvPr/>
        </p:nvSpPr>
        <p:spPr>
          <a:xfrm>
            <a:off x="2011680" y="3127248"/>
            <a:ext cx="2286000" cy="256032"/>
          </a:xfrm>
          <a:prstGeom prst="rect">
            <a:avLst/>
          </a:prstGeom>
          <a:noFill/>
        </p:spPr>
        <p:txBody>
          <a:bodyPr wrap="square" anchor="t"/>
          <a:lstStyle/>
          <a:p>
            <a:pPr algn="l">
              <a:defRPr sz="1000" b="0">
                <a:solidFill>
                  <a:srgbClr val="666666"/>
                </a:solidFill>
                <a:latin typeface="Arial"/>
              </a:defRPr>
            </a:pPr>
            <a:r>
              <a:t>Granular resource:action pairs</a:t>
            </a:r>
          </a:p>
        </p:txBody>
      </p:sp>
      <p:sp>
        <p:nvSpPr>
          <p:cNvPr id="22" name="TextBox 21"/>
          <p:cNvSpPr txBox="1"/>
          <p:nvPr/>
        </p:nvSpPr>
        <p:spPr>
          <a:xfrm>
            <a:off x="4846320" y="1371600"/>
            <a:ext cx="3840480" cy="320040"/>
          </a:xfrm>
          <a:prstGeom prst="rect">
            <a:avLst/>
          </a:prstGeom>
          <a:noFill/>
        </p:spPr>
        <p:txBody>
          <a:bodyPr wrap="square" anchor="t"/>
          <a:lstStyle/>
          <a:p>
            <a:pPr algn="l">
              <a:defRPr sz="1300" b="1">
                <a:solidFill>
                  <a:srgbClr val="FF9800"/>
                </a:solidFill>
                <a:latin typeface="Arial"/>
              </a:defRPr>
            </a:pPr>
            <a:r>
              <a:t>10 ADMIN ENDPOINTS</a:t>
            </a:r>
          </a:p>
        </p:txBody>
      </p:sp>
      <p:sp>
        <p:nvSpPr>
          <p:cNvPr id="23" name="TextBox 22"/>
          <p:cNvSpPr txBox="1"/>
          <p:nvPr/>
        </p:nvSpPr>
        <p:spPr>
          <a:xfrm>
            <a:off x="4846320" y="1783080"/>
            <a:ext cx="3840480" cy="228600"/>
          </a:xfrm>
          <a:prstGeom prst="rect">
            <a:avLst/>
          </a:prstGeom>
          <a:noFill/>
        </p:spPr>
        <p:txBody>
          <a:bodyPr wrap="square" anchor="t"/>
          <a:lstStyle/>
          <a:p>
            <a:pPr algn="l">
              <a:defRPr sz="1000" b="0">
                <a:solidFill>
                  <a:srgbClr val="444444"/>
                </a:solidFill>
                <a:latin typeface="Consolas"/>
              </a:defRPr>
            </a:pPr>
            <a:r>
              <a:t>GET/POST  /admin/access/principals</a:t>
            </a:r>
          </a:p>
        </p:txBody>
      </p:sp>
      <p:sp>
        <p:nvSpPr>
          <p:cNvPr id="24" name="TextBox 23"/>
          <p:cNvSpPr txBox="1"/>
          <p:nvPr/>
        </p:nvSpPr>
        <p:spPr>
          <a:xfrm>
            <a:off x="4846320" y="2057400"/>
            <a:ext cx="3840480" cy="228600"/>
          </a:xfrm>
          <a:prstGeom prst="rect">
            <a:avLst/>
          </a:prstGeom>
          <a:noFill/>
        </p:spPr>
        <p:txBody>
          <a:bodyPr wrap="square" anchor="t"/>
          <a:lstStyle/>
          <a:p>
            <a:pPr algn="l">
              <a:defRPr sz="1000" b="0">
                <a:solidFill>
                  <a:srgbClr val="444444"/>
                </a:solidFill>
                <a:latin typeface="Consolas"/>
              </a:defRPr>
            </a:pPr>
            <a:r>
              <a:t>GET/POST  /admin/access/roles</a:t>
            </a:r>
          </a:p>
        </p:txBody>
      </p:sp>
      <p:sp>
        <p:nvSpPr>
          <p:cNvPr id="25" name="TextBox 24"/>
          <p:cNvSpPr txBox="1"/>
          <p:nvPr/>
        </p:nvSpPr>
        <p:spPr>
          <a:xfrm>
            <a:off x="4846320" y="2331720"/>
            <a:ext cx="3840480" cy="228600"/>
          </a:xfrm>
          <a:prstGeom prst="rect">
            <a:avLst/>
          </a:prstGeom>
          <a:noFill/>
        </p:spPr>
        <p:txBody>
          <a:bodyPr wrap="square" anchor="t"/>
          <a:lstStyle/>
          <a:p>
            <a:pPr algn="l">
              <a:defRPr sz="1000" b="0">
                <a:solidFill>
                  <a:srgbClr val="444444"/>
                </a:solidFill>
                <a:latin typeface="Consolas"/>
              </a:defRPr>
            </a:pPr>
            <a:r>
              <a:t>GET/POST  /admin/access/bindings</a:t>
            </a:r>
          </a:p>
        </p:txBody>
      </p:sp>
      <p:sp>
        <p:nvSpPr>
          <p:cNvPr id="26" name="TextBox 25"/>
          <p:cNvSpPr txBox="1"/>
          <p:nvPr/>
        </p:nvSpPr>
        <p:spPr>
          <a:xfrm>
            <a:off x="4846320" y="2606040"/>
            <a:ext cx="3840480" cy="228600"/>
          </a:xfrm>
          <a:prstGeom prst="rect">
            <a:avLst/>
          </a:prstGeom>
          <a:noFill/>
        </p:spPr>
        <p:txBody>
          <a:bodyPr wrap="square" anchor="t"/>
          <a:lstStyle/>
          <a:p>
            <a:pPr algn="l">
              <a:defRPr sz="1000" b="0">
                <a:solidFill>
                  <a:srgbClr val="444444"/>
                </a:solidFill>
                <a:latin typeface="Consolas"/>
              </a:defRPr>
            </a:pPr>
            <a:r>
              <a:t>GET/POST  /admin/access/memberships</a:t>
            </a:r>
          </a:p>
        </p:txBody>
      </p:sp>
      <p:sp>
        <p:nvSpPr>
          <p:cNvPr id="27" name="TextBox 26"/>
          <p:cNvSpPr txBox="1"/>
          <p:nvPr/>
        </p:nvSpPr>
        <p:spPr>
          <a:xfrm>
            <a:off x="4846320" y="2880360"/>
            <a:ext cx="3840480" cy="228600"/>
          </a:xfrm>
          <a:prstGeom prst="rect">
            <a:avLst/>
          </a:prstGeom>
          <a:noFill/>
        </p:spPr>
        <p:txBody>
          <a:bodyPr wrap="square" anchor="t"/>
          <a:lstStyle/>
          <a:p>
            <a:pPr algn="l">
              <a:defRPr sz="1000" b="0">
                <a:solidFill>
                  <a:srgbClr val="444444"/>
                </a:solidFill>
                <a:latin typeface="Consolas"/>
              </a:defRPr>
            </a:pPr>
            <a:r>
              <a:t>GET       /admin/access/permissions</a:t>
            </a:r>
          </a:p>
        </p:txBody>
      </p:sp>
      <p:sp>
        <p:nvSpPr>
          <p:cNvPr id="28" name="TextBox 27"/>
          <p:cNvSpPr txBox="1"/>
          <p:nvPr/>
        </p:nvSpPr>
        <p:spPr>
          <a:xfrm>
            <a:off x="4846320" y="3154680"/>
            <a:ext cx="3840480" cy="228600"/>
          </a:xfrm>
          <a:prstGeom prst="rect">
            <a:avLst/>
          </a:prstGeom>
          <a:noFill/>
        </p:spPr>
        <p:txBody>
          <a:bodyPr wrap="square" anchor="t"/>
          <a:lstStyle/>
          <a:p>
            <a:pPr algn="l">
              <a:defRPr sz="1000" b="0">
                <a:solidFill>
                  <a:srgbClr val="444444"/>
                </a:solidFill>
                <a:latin typeface="Consolas"/>
              </a:defRPr>
            </a:pPr>
            <a:r>
              <a:t>GET       /admin/access/effective-access</a:t>
            </a:r>
          </a:p>
        </p:txBody>
      </p:sp>
      <p:sp>
        <p:nvSpPr>
          <p:cNvPr id="29" name="Rectangle 28"/>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977639"/>
            <a:ext cx="7680960" cy="731520"/>
          </a:xfrm>
          <a:prstGeom prst="rect">
            <a:avLst/>
          </a:prstGeom>
          <a:noFill/>
        </p:spPr>
        <p:txBody>
          <a:bodyPr wrap="square" anchor="t"/>
          <a:lstStyle/>
          <a:p>
            <a:pPr algn="l">
              <a:defRPr sz="1100" b="0">
                <a:solidFill>
                  <a:srgbClr val="CCCCCC"/>
                </a:solidFill>
                <a:latin typeface="Arial"/>
              </a:defRPr>
              <a:lnSpc>
                <a:spcPts val="1800"/>
              </a:lnSpc>
            </a:pPr>
            <a:r>
              <a:t>authz/service.py provides tenant-scoped resource access. Integrated with API gateway (gateway_security.py) and connector endpoints (connector_security.py). Per-skill access filtering in SkillRuntime. Tool policy enforcement in tools/policy.py.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Documents Subsystem Deep Dive (documents/)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13 files across extractors, compare, consolidation, similarity, evidence, templates, and serializers</a:t>
            </a:r>
          </a:p>
        </p:txBody>
      </p:sp>
      <p:sp>
        <p:nvSpPr>
          <p:cNvPr id="6" name="Rectangle 5"/>
          <p:cNvSpPr/>
          <p:nvPr/>
        </p:nvSpPr>
        <p:spPr>
          <a:xfrm>
            <a:off x="50292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5544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2286000" cy="365760"/>
          </a:xfrm>
          <a:prstGeom prst="rect">
            <a:avLst/>
          </a:prstGeom>
          <a:noFill/>
        </p:spPr>
        <p:txBody>
          <a:bodyPr wrap="square" anchor="t"/>
          <a:lstStyle/>
          <a:p>
            <a:pPr algn="l">
              <a:defRPr sz="1300" b="1">
                <a:solidFill>
                  <a:srgbClr val="FFFFFF"/>
                </a:solidFill>
                <a:latin typeface="Arial"/>
              </a:defRPr>
            </a:pPr>
            <a:r>
              <a:t>Document Extraction</a:t>
            </a:r>
          </a:p>
        </p:txBody>
      </p:sp>
      <p:sp>
        <p:nvSpPr>
          <p:cNvPr id="9" name="TextBox 8"/>
          <p:cNvSpPr txBox="1"/>
          <p:nvPr/>
        </p:nvSpPr>
        <p:spPr>
          <a:xfrm>
            <a:off x="685800" y="1828800"/>
            <a:ext cx="2286000" cy="1005840"/>
          </a:xfrm>
          <a:prstGeom prst="rect">
            <a:avLst/>
          </a:prstGeom>
          <a:noFill/>
        </p:spPr>
        <p:txBody>
          <a:bodyPr wrap="square" anchor="t"/>
          <a:lstStyle/>
          <a:p>
            <a:pPr algn="l">
              <a:defRPr sz="1000" b="0">
                <a:solidFill>
                  <a:srgbClr val="CCCCCC"/>
                </a:solidFill>
                <a:latin typeface="Arial"/>
              </a:defRPr>
              <a:lnSpc>
                <a:spcPts val="1800"/>
              </a:lnSpc>
            </a:pPr>
            <a:r>
              <a:t>9 formats: PDF, DOCX, PPTX, XLSX, XLS, TXT, MD, CSV, TSV. Docling parser for PDFs. Max 200 elements per extraction.</a:t>
            </a:r>
          </a:p>
        </p:txBody>
      </p:sp>
      <p:sp>
        <p:nvSpPr>
          <p:cNvPr id="10" name="Rectangle 9"/>
          <p:cNvSpPr/>
          <p:nvPr/>
        </p:nvSpPr>
        <p:spPr>
          <a:xfrm>
            <a:off x="320040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0" y="1371600"/>
            <a:ext cx="54864" cy="1554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463040"/>
            <a:ext cx="2286000" cy="365760"/>
          </a:xfrm>
          <a:prstGeom prst="rect">
            <a:avLst/>
          </a:prstGeom>
          <a:noFill/>
        </p:spPr>
        <p:txBody>
          <a:bodyPr wrap="square" anchor="t"/>
          <a:lstStyle/>
          <a:p>
            <a:pPr algn="l">
              <a:defRPr sz="1300" b="1">
                <a:solidFill>
                  <a:srgbClr val="FFFFFF"/>
                </a:solidFill>
                <a:latin typeface="Arial"/>
              </a:defRPr>
            </a:pPr>
            <a:r>
              <a:t>Document Comparison</a:t>
            </a:r>
          </a:p>
        </p:txBody>
      </p:sp>
      <p:sp>
        <p:nvSpPr>
          <p:cNvPr id="13" name="TextBox 12"/>
          <p:cNvSpPr txBox="1"/>
          <p:nvPr/>
        </p:nvSpPr>
        <p:spPr>
          <a:xfrm>
            <a:off x="3383280" y="1828800"/>
            <a:ext cx="2286000" cy="1005840"/>
          </a:xfrm>
          <a:prstGeom prst="rect">
            <a:avLst/>
          </a:prstGeom>
          <a:noFill/>
        </p:spPr>
        <p:txBody>
          <a:bodyPr wrap="square" anchor="t"/>
          <a:lstStyle/>
          <a:p>
            <a:pPr algn="l">
              <a:defRPr sz="1000" b="0">
                <a:solidFill>
                  <a:srgbClr val="CCCCCC"/>
                </a:solidFill>
                <a:latin typeface="Arial"/>
              </a:defRPr>
              <a:lnSpc>
                <a:spcPts val="1800"/>
              </a:lnSpc>
            </a:pPr>
            <a:r>
              <a:t>Key-based + fuzzy matching (0.72 threshold). 14 obligation modalities. Binding strength ranking. Severity escalation for changed obligations.</a:t>
            </a:r>
          </a:p>
        </p:txBody>
      </p:sp>
      <p:sp>
        <p:nvSpPr>
          <p:cNvPr id="14" name="Rectangle 13"/>
          <p:cNvSpPr/>
          <p:nvPr/>
        </p:nvSpPr>
        <p:spPr>
          <a:xfrm>
            <a:off x="589788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97880" y="1371600"/>
            <a:ext cx="54864" cy="155448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463040"/>
            <a:ext cx="2286000" cy="365760"/>
          </a:xfrm>
          <a:prstGeom prst="rect">
            <a:avLst/>
          </a:prstGeom>
          <a:noFill/>
        </p:spPr>
        <p:txBody>
          <a:bodyPr wrap="square" anchor="t"/>
          <a:lstStyle/>
          <a:p>
            <a:pPr algn="l">
              <a:defRPr sz="1300" b="1">
                <a:solidFill>
                  <a:srgbClr val="FFFFFF"/>
                </a:solidFill>
                <a:latin typeface="Arial"/>
              </a:defRPr>
            </a:pPr>
            <a:r>
              <a:t>Consolidation Campaigns</a:t>
            </a:r>
          </a:p>
        </p:txBody>
      </p:sp>
      <p:sp>
        <p:nvSpPr>
          <p:cNvPr id="17" name="TextBox 16"/>
          <p:cNvSpPr txBox="1"/>
          <p:nvPr/>
        </p:nvSpPr>
        <p:spPr>
          <a:xfrm>
            <a:off x="6080760" y="1828800"/>
            <a:ext cx="2286000" cy="1005840"/>
          </a:xfrm>
          <a:prstGeom prst="rect">
            <a:avLst/>
          </a:prstGeom>
          <a:noFill/>
        </p:spPr>
        <p:txBody>
          <a:bodyPr wrap="square" anchor="t"/>
          <a:lstStyle/>
          <a:p>
            <a:pPr algn="l">
              <a:defRPr sz="1000" b="0">
                <a:solidFill>
                  <a:srgbClr val="CCCCCC"/>
                </a:solidFill>
                <a:latin typeface="Arial"/>
              </a:defRPr>
              <a:lnSpc>
                <a:spcPts val="1800"/>
              </a:lnSpc>
            </a:pPr>
            <a:r>
              <a:t>Multi-doc corpus analysis with IDF weighting. 6 focus modes. Union-find clustering. Weighted Jaccard scoring.</a:t>
            </a:r>
          </a:p>
        </p:txBody>
      </p:sp>
      <p:sp>
        <p:nvSpPr>
          <p:cNvPr id="18" name="Rectangle 17"/>
          <p:cNvSpPr/>
          <p:nvPr/>
        </p:nvSpPr>
        <p:spPr>
          <a:xfrm>
            <a:off x="50292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08960"/>
            <a:ext cx="54864"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0400"/>
            <a:ext cx="3703319" cy="365760"/>
          </a:xfrm>
          <a:prstGeom prst="rect">
            <a:avLst/>
          </a:prstGeom>
          <a:noFill/>
        </p:spPr>
        <p:txBody>
          <a:bodyPr wrap="square" anchor="t"/>
          <a:lstStyle/>
          <a:p>
            <a:pPr algn="l">
              <a:defRPr sz="1300" b="1">
                <a:solidFill>
                  <a:srgbClr val="FFFFFF"/>
                </a:solidFill>
                <a:latin typeface="Arial"/>
              </a:defRPr>
            </a:pPr>
            <a:r>
              <a:t>Evidence Binder</a:t>
            </a:r>
          </a:p>
        </p:txBody>
      </p:sp>
      <p:sp>
        <p:nvSpPr>
          <p:cNvPr id="21" name="TextBox 20"/>
          <p:cNvSpPr txBox="1"/>
          <p:nvPr/>
        </p:nvSpPr>
        <p:spPr>
          <a:xfrm>
            <a:off x="685800" y="3566160"/>
            <a:ext cx="3703319" cy="548640"/>
          </a:xfrm>
          <a:prstGeom prst="rect">
            <a:avLst/>
          </a:prstGeom>
          <a:noFill/>
        </p:spPr>
        <p:txBody>
          <a:bodyPr wrap="square" anchor="t"/>
          <a:lstStyle/>
          <a:p>
            <a:pPr algn="l">
              <a:defRPr sz="1000" b="0">
                <a:solidFill>
                  <a:srgbClr val="CCCCCC"/>
                </a:solidFill>
                <a:latin typeface="Arial"/>
              </a:defRPr>
              <a:lnSpc>
                <a:spcPts val="1800"/>
              </a:lnSpc>
            </a:pPr>
            <a:r>
              <a:t>Compile graded evidence into formatted reference packets with inline citations.</a:t>
            </a:r>
          </a:p>
        </p:txBody>
      </p:sp>
      <p:sp>
        <p:nvSpPr>
          <p:cNvPr id="22" name="Rectangle 21"/>
          <p:cNvSpPr/>
          <p:nvPr/>
        </p:nvSpPr>
        <p:spPr>
          <a:xfrm>
            <a:off x="470916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09160" y="3108960"/>
            <a:ext cx="54864" cy="10972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040" y="3200400"/>
            <a:ext cx="3703319" cy="365760"/>
          </a:xfrm>
          <a:prstGeom prst="rect">
            <a:avLst/>
          </a:prstGeom>
          <a:noFill/>
        </p:spPr>
        <p:txBody>
          <a:bodyPr wrap="square" anchor="t"/>
          <a:lstStyle/>
          <a:p>
            <a:pPr algn="l">
              <a:defRPr sz="1300" b="1">
                <a:solidFill>
                  <a:srgbClr val="FFFFFF"/>
                </a:solidFill>
                <a:latin typeface="Arial"/>
              </a:defRPr>
            </a:pPr>
            <a:r>
              <a:t>Similarity Analysis</a:t>
            </a:r>
          </a:p>
        </p:txBody>
      </p:sp>
      <p:sp>
        <p:nvSpPr>
          <p:cNvPr id="25" name="TextBox 24"/>
          <p:cNvSpPr txBox="1"/>
          <p:nvPr/>
        </p:nvSpPr>
        <p:spPr>
          <a:xfrm>
            <a:off x="4892040" y="3566160"/>
            <a:ext cx="3703319" cy="548640"/>
          </a:xfrm>
          <a:prstGeom prst="rect">
            <a:avLst/>
          </a:prstGeom>
          <a:noFill/>
        </p:spPr>
        <p:txBody>
          <a:bodyPr wrap="square" anchor="t"/>
          <a:lstStyle/>
          <a:p>
            <a:pPr algn="l">
              <a:defRPr sz="1000" b="0">
                <a:solidFill>
                  <a:srgbClr val="CCCCCC"/>
                </a:solidFill>
                <a:latin typeface="Arial"/>
              </a:defRPr>
              <a:lnSpc>
                <a:spcPts val="1800"/>
              </a:lnSpc>
            </a:pPr>
            <a:r>
              <a:t>TF-IDF fingerprinting. Process keyword matching (28 patterns). N-gram comparison.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Skills Architecture Deep Dive (skills/)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10 files: pack_loader, resolver, runtime, indexer, telemetry, dependency_graph, execution, query_builder</a:t>
            </a:r>
          </a:p>
        </p:txBody>
      </p:sp>
      <p:sp>
        <p:nvSpPr>
          <p:cNvPr id="6" name="Rectangle 5"/>
          <p:cNvSpPr/>
          <p:nvPr/>
        </p:nvSpPr>
        <p:spPr>
          <a:xfrm>
            <a:off x="502920" y="1280160"/>
            <a:ext cx="2560320" cy="10058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53312"/>
            <a:ext cx="2286000" cy="274320"/>
          </a:xfrm>
          <a:prstGeom prst="rect">
            <a:avLst/>
          </a:prstGeom>
          <a:noFill/>
        </p:spPr>
        <p:txBody>
          <a:bodyPr wrap="square" anchor="t"/>
          <a:lstStyle/>
          <a:p>
            <a:pPr algn="l">
              <a:defRPr sz="1400" b="1">
                <a:solidFill>
                  <a:srgbClr val="FFFFFF"/>
                </a:solidFill>
                <a:latin typeface="Arial"/>
              </a:defRPr>
            </a:pPr>
            <a:r>
              <a:t>3 Skill Kinds</a:t>
            </a:r>
          </a:p>
        </p:txBody>
      </p:sp>
      <p:sp>
        <p:nvSpPr>
          <p:cNvPr id="8" name="TextBox 7"/>
          <p:cNvSpPr txBox="1"/>
          <p:nvPr/>
        </p:nvSpPr>
        <p:spPr>
          <a:xfrm>
            <a:off x="640080" y="1645920"/>
            <a:ext cx="2286000" cy="548640"/>
          </a:xfrm>
          <a:prstGeom prst="rect">
            <a:avLst/>
          </a:prstGeom>
          <a:noFill/>
        </p:spPr>
        <p:txBody>
          <a:bodyPr wrap="square" anchor="t"/>
          <a:lstStyle/>
          <a:p>
            <a:pPr algn="l">
              <a:defRPr sz="1100" b="0">
                <a:solidFill>
                  <a:srgbClr val="EEEEEE"/>
                </a:solidFill>
                <a:latin typeface="Arial"/>
              </a:defRPr>
            </a:pPr>
            <a:r>
              <a:t>retrievable</a:t>
            </a:r>
            <a:br/>
            <a:r>
              <a:t>executable</a:t>
            </a:r>
            <a:br/>
            <a:r>
              <a:t>hybrid</a:t>
            </a:r>
          </a:p>
        </p:txBody>
      </p:sp>
      <p:sp>
        <p:nvSpPr>
          <p:cNvPr id="9" name="Rectangle 8"/>
          <p:cNvSpPr/>
          <p:nvPr/>
        </p:nvSpPr>
        <p:spPr>
          <a:xfrm>
            <a:off x="3291840" y="1280160"/>
            <a:ext cx="2560320" cy="10058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353312"/>
            <a:ext cx="2286000" cy="274320"/>
          </a:xfrm>
          <a:prstGeom prst="rect">
            <a:avLst/>
          </a:prstGeom>
          <a:noFill/>
        </p:spPr>
        <p:txBody>
          <a:bodyPr wrap="square" anchor="t"/>
          <a:lstStyle/>
          <a:p>
            <a:pPr algn="l">
              <a:defRPr sz="1400" b="1">
                <a:solidFill>
                  <a:srgbClr val="FFFFFF"/>
                </a:solidFill>
                <a:latin typeface="Arial"/>
              </a:defRPr>
            </a:pPr>
            <a:r>
              <a:t>2 Exec Contexts</a:t>
            </a:r>
          </a:p>
        </p:txBody>
      </p:sp>
      <p:sp>
        <p:nvSpPr>
          <p:cNvPr id="11" name="TextBox 10"/>
          <p:cNvSpPr txBox="1"/>
          <p:nvPr/>
        </p:nvSpPr>
        <p:spPr>
          <a:xfrm>
            <a:off x="3429000" y="1645920"/>
            <a:ext cx="2286000" cy="548640"/>
          </a:xfrm>
          <a:prstGeom prst="rect">
            <a:avLst/>
          </a:prstGeom>
          <a:noFill/>
        </p:spPr>
        <p:txBody>
          <a:bodyPr wrap="square" anchor="t"/>
          <a:lstStyle/>
          <a:p>
            <a:pPr algn="l">
              <a:defRPr sz="1100" b="0">
                <a:solidFill>
                  <a:srgbClr val="EEEEEE"/>
                </a:solidFill>
                <a:latin typeface="Arial"/>
              </a:defRPr>
            </a:pPr>
            <a:r>
              <a:t>inline (default)</a:t>
            </a:r>
            <a:br/>
            <a:r>
              <a:t>fork (isolated)</a:t>
            </a:r>
          </a:p>
        </p:txBody>
      </p:sp>
      <p:sp>
        <p:nvSpPr>
          <p:cNvPr id="12" name="Rectangle 11"/>
          <p:cNvSpPr/>
          <p:nvPr/>
        </p:nvSpPr>
        <p:spPr>
          <a:xfrm>
            <a:off x="6080760" y="1280160"/>
            <a:ext cx="2560320" cy="10058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53312"/>
            <a:ext cx="2286000" cy="274320"/>
          </a:xfrm>
          <a:prstGeom prst="rect">
            <a:avLst/>
          </a:prstGeom>
          <a:noFill/>
        </p:spPr>
        <p:txBody>
          <a:bodyPr wrap="square" anchor="t"/>
          <a:lstStyle/>
          <a:p>
            <a:pPr algn="l">
              <a:defRPr sz="1400" b="1">
                <a:solidFill>
                  <a:srgbClr val="FFFFFF"/>
                </a:solidFill>
                <a:latin typeface="Arial"/>
              </a:defRPr>
            </a:pPr>
            <a:r>
              <a:t>5 Effort Levels</a:t>
            </a:r>
          </a:p>
        </p:txBody>
      </p:sp>
      <p:sp>
        <p:nvSpPr>
          <p:cNvPr id="14" name="TextBox 13"/>
          <p:cNvSpPr txBox="1"/>
          <p:nvPr/>
        </p:nvSpPr>
        <p:spPr>
          <a:xfrm>
            <a:off x="6217920" y="1645920"/>
            <a:ext cx="2286000" cy="548640"/>
          </a:xfrm>
          <a:prstGeom prst="rect">
            <a:avLst/>
          </a:prstGeom>
          <a:noFill/>
        </p:spPr>
        <p:txBody>
          <a:bodyPr wrap="square" anchor="t"/>
          <a:lstStyle/>
          <a:p>
            <a:pPr algn="l">
              <a:defRPr sz="1100" b="0">
                <a:solidFill>
                  <a:srgbClr val="EEEEEE"/>
                </a:solidFill>
                <a:latin typeface="Arial"/>
              </a:defRPr>
            </a:pPr>
            <a:r>
              <a:t>(empty), low</a:t>
            </a:r>
            <a:br/>
            <a:r>
              <a:t>medium, high, xhigh</a:t>
            </a:r>
          </a:p>
        </p:txBody>
      </p:sp>
      <p:sp>
        <p:nvSpPr>
          <p:cNvPr id="15" name="TextBox 14"/>
          <p:cNvSpPr txBox="1"/>
          <p:nvPr/>
        </p:nvSpPr>
        <p:spPr>
          <a:xfrm>
            <a:off x="502920" y="2468880"/>
            <a:ext cx="3657600" cy="320040"/>
          </a:xfrm>
          <a:prstGeom prst="rect">
            <a:avLst/>
          </a:prstGeom>
          <a:noFill/>
        </p:spPr>
        <p:txBody>
          <a:bodyPr wrap="square" anchor="t"/>
          <a:lstStyle/>
          <a:p>
            <a:pPr algn="l">
              <a:defRPr sz="1300" b="1">
                <a:solidFill>
                  <a:srgbClr val="1B2A4A"/>
                </a:solidFill>
                <a:latin typeface="Arial"/>
              </a:defRPr>
            </a:pPr>
            <a:r>
              <a:t>SKILL LIFECYCLE</a:t>
            </a:r>
          </a:p>
        </p:txBody>
      </p:sp>
      <p:sp>
        <p:nvSpPr>
          <p:cNvPr id="16" name="Oval 15"/>
          <p:cNvSpPr/>
          <p:nvPr/>
        </p:nvSpPr>
        <p:spPr>
          <a:xfrm>
            <a:off x="502920" y="286207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2862072"/>
            <a:ext cx="201168" cy="201168"/>
          </a:xfrm>
          <a:prstGeom prst="rect">
            <a:avLst/>
          </a:prstGeom>
          <a:noFill/>
        </p:spPr>
        <p:txBody>
          <a:bodyPr wrap="square" anchor="t"/>
          <a:lstStyle/>
          <a:p>
            <a:pPr algn="ctr">
              <a:defRPr sz="1000" b="1">
                <a:solidFill>
                  <a:srgbClr val="FFFFFF"/>
                </a:solidFill>
                <a:latin typeface="Arial"/>
              </a:defRPr>
            </a:pPr>
            <a:r>
              <a:t>1</a:t>
            </a:r>
          </a:p>
        </p:txBody>
      </p:sp>
      <p:sp>
        <p:nvSpPr>
          <p:cNvPr id="18" name="TextBox 17"/>
          <p:cNvSpPr txBox="1"/>
          <p:nvPr/>
        </p:nvSpPr>
        <p:spPr>
          <a:xfrm>
            <a:off x="777240" y="2834640"/>
            <a:ext cx="1463040" cy="228600"/>
          </a:xfrm>
          <a:prstGeom prst="rect">
            <a:avLst/>
          </a:prstGeom>
          <a:noFill/>
        </p:spPr>
        <p:txBody>
          <a:bodyPr wrap="square" anchor="t"/>
          <a:lstStyle/>
          <a:p>
            <a:pPr algn="l">
              <a:defRPr sz="1100" b="1">
                <a:solidFill>
                  <a:srgbClr val="333333"/>
                </a:solidFill>
                <a:latin typeface="Arial"/>
              </a:defRPr>
            </a:pPr>
            <a:r>
              <a:t>SkillPackFile</a:t>
            </a:r>
          </a:p>
        </p:txBody>
      </p:sp>
      <p:sp>
        <p:nvSpPr>
          <p:cNvPr id="19" name="TextBox 18"/>
          <p:cNvSpPr txBox="1"/>
          <p:nvPr/>
        </p:nvSpPr>
        <p:spPr>
          <a:xfrm>
            <a:off x="2286000" y="2834640"/>
            <a:ext cx="6400800" cy="228600"/>
          </a:xfrm>
          <a:prstGeom prst="rect">
            <a:avLst/>
          </a:prstGeom>
          <a:noFill/>
        </p:spPr>
        <p:txBody>
          <a:bodyPr wrap="square" anchor="t"/>
          <a:lstStyle/>
          <a:p>
            <a:pPr algn="l">
              <a:defRPr sz="1000" b="0">
                <a:solidFill>
                  <a:srgbClr val="555555"/>
                </a:solidFill>
                <a:latin typeface="Arial"/>
              </a:defRPr>
            </a:pPr>
            <a:r>
              <a:t>YAML frontmatter + markdown body. SHA256 checksum. Tags: tool_tags, task_tags.</a:t>
            </a:r>
          </a:p>
        </p:txBody>
      </p:sp>
      <p:sp>
        <p:nvSpPr>
          <p:cNvPr id="20" name="Oval 19"/>
          <p:cNvSpPr/>
          <p:nvPr/>
        </p:nvSpPr>
        <p:spPr>
          <a:xfrm>
            <a:off x="502920" y="318211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3182112"/>
            <a:ext cx="201168" cy="201168"/>
          </a:xfrm>
          <a:prstGeom prst="rect">
            <a:avLst/>
          </a:prstGeom>
          <a:noFill/>
        </p:spPr>
        <p:txBody>
          <a:bodyPr wrap="square" anchor="t"/>
          <a:lstStyle/>
          <a:p>
            <a:pPr algn="ctr">
              <a:defRPr sz="1000" b="1">
                <a:solidFill>
                  <a:srgbClr val="FFFFFF"/>
                </a:solidFill>
                <a:latin typeface="Arial"/>
              </a:defRPr>
            </a:pPr>
            <a:r>
              <a:t>2</a:t>
            </a:r>
          </a:p>
        </p:txBody>
      </p:sp>
      <p:sp>
        <p:nvSpPr>
          <p:cNvPr id="22" name="TextBox 21"/>
          <p:cNvSpPr txBox="1"/>
          <p:nvPr/>
        </p:nvSpPr>
        <p:spPr>
          <a:xfrm>
            <a:off x="777240" y="3154680"/>
            <a:ext cx="1463040" cy="228600"/>
          </a:xfrm>
          <a:prstGeom prst="rect">
            <a:avLst/>
          </a:prstGeom>
          <a:noFill/>
        </p:spPr>
        <p:txBody>
          <a:bodyPr wrap="square" anchor="t"/>
          <a:lstStyle/>
          <a:p>
            <a:pPr algn="l">
              <a:defRPr sz="1100" b="1">
                <a:solidFill>
                  <a:srgbClr val="333333"/>
                </a:solidFill>
                <a:latin typeface="Arial"/>
              </a:defRPr>
            </a:pPr>
            <a:r>
              <a:t>SkillIndexSync</a:t>
            </a:r>
          </a:p>
        </p:txBody>
      </p:sp>
      <p:sp>
        <p:nvSpPr>
          <p:cNvPr id="23" name="TextBox 22"/>
          <p:cNvSpPr txBox="1"/>
          <p:nvPr/>
        </p:nvSpPr>
        <p:spPr>
          <a:xfrm>
            <a:off x="2286000" y="3154680"/>
            <a:ext cx="6400800" cy="228600"/>
          </a:xfrm>
          <a:prstGeom prst="rect">
            <a:avLst/>
          </a:prstGeom>
          <a:noFill/>
        </p:spPr>
        <p:txBody>
          <a:bodyPr wrap="square" anchor="t"/>
          <a:lstStyle/>
          <a:p>
            <a:pPr algn="l">
              <a:defRPr sz="1000" b="0">
                <a:solidFill>
                  <a:srgbClr val="555555"/>
                </a:solidFill>
                <a:latin typeface="Arial"/>
              </a:defRPr>
            </a:pPr>
            <a:r>
              <a:t>Discovers .md files, chunks for RAG, builds inverted index. Incremental sync by checksum.</a:t>
            </a:r>
          </a:p>
        </p:txBody>
      </p:sp>
      <p:sp>
        <p:nvSpPr>
          <p:cNvPr id="24" name="Oval 23"/>
          <p:cNvSpPr/>
          <p:nvPr/>
        </p:nvSpPr>
        <p:spPr>
          <a:xfrm>
            <a:off x="502920" y="350215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502152"/>
            <a:ext cx="201168" cy="201168"/>
          </a:xfrm>
          <a:prstGeom prst="rect">
            <a:avLst/>
          </a:prstGeom>
          <a:noFill/>
        </p:spPr>
        <p:txBody>
          <a:bodyPr wrap="square" anchor="t"/>
          <a:lstStyle/>
          <a:p>
            <a:pPr algn="ctr">
              <a:defRPr sz="1000" b="1">
                <a:solidFill>
                  <a:srgbClr val="FFFFFF"/>
                </a:solidFill>
                <a:latin typeface="Arial"/>
              </a:defRPr>
            </a:pPr>
            <a:r>
              <a:t>3</a:t>
            </a:r>
          </a:p>
        </p:txBody>
      </p:sp>
      <p:sp>
        <p:nvSpPr>
          <p:cNvPr id="26" name="TextBox 25"/>
          <p:cNvSpPr txBox="1"/>
          <p:nvPr/>
        </p:nvSpPr>
        <p:spPr>
          <a:xfrm>
            <a:off x="777240" y="3474720"/>
            <a:ext cx="1463040" cy="228600"/>
          </a:xfrm>
          <a:prstGeom prst="rect">
            <a:avLst/>
          </a:prstGeom>
          <a:noFill/>
        </p:spPr>
        <p:txBody>
          <a:bodyPr wrap="square" anchor="t"/>
          <a:lstStyle/>
          <a:p>
            <a:pPr algn="l">
              <a:defRPr sz="1100" b="1">
                <a:solidFill>
                  <a:srgbClr val="333333"/>
                </a:solidFill>
                <a:latin typeface="Arial"/>
              </a:defRPr>
            </a:pPr>
            <a:r>
              <a:t>SkillResolver</a:t>
            </a:r>
          </a:p>
        </p:txBody>
      </p:sp>
      <p:sp>
        <p:nvSpPr>
          <p:cNvPr id="27" name="TextBox 26"/>
          <p:cNvSpPr txBox="1"/>
          <p:nvPr/>
        </p:nvSpPr>
        <p:spPr>
          <a:xfrm>
            <a:off x="2286000" y="3474720"/>
            <a:ext cx="6400800" cy="228600"/>
          </a:xfrm>
          <a:prstGeom prst="rect">
            <a:avLst/>
          </a:prstGeom>
          <a:noFill/>
        </p:spPr>
        <p:txBody>
          <a:bodyPr wrap="square" anchor="t"/>
          <a:lstStyle/>
          <a:p>
            <a:pPr algn="l">
              <a:defRPr sz="1000" b="0">
                <a:solidFill>
                  <a:srgbClr val="555555"/>
                </a:solidFill>
                <a:latin typeface="Arial"/>
              </a:defRPr>
            </a:pPr>
            <a:r>
              <a:t>Semantic retrieval with BM25/embedding. Filters by agent_scope, tags. Pinned skill priority.</a:t>
            </a:r>
          </a:p>
        </p:txBody>
      </p:sp>
      <p:sp>
        <p:nvSpPr>
          <p:cNvPr id="28" name="Oval 27"/>
          <p:cNvSpPr/>
          <p:nvPr/>
        </p:nvSpPr>
        <p:spPr>
          <a:xfrm>
            <a:off x="502920" y="382219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3822192"/>
            <a:ext cx="201168" cy="201168"/>
          </a:xfrm>
          <a:prstGeom prst="rect">
            <a:avLst/>
          </a:prstGeom>
          <a:noFill/>
        </p:spPr>
        <p:txBody>
          <a:bodyPr wrap="square" anchor="t"/>
          <a:lstStyle/>
          <a:p>
            <a:pPr algn="ctr">
              <a:defRPr sz="1000" b="1">
                <a:solidFill>
                  <a:srgbClr val="FFFFFF"/>
                </a:solidFill>
                <a:latin typeface="Arial"/>
              </a:defRPr>
            </a:pPr>
            <a:r>
              <a:t>4</a:t>
            </a:r>
          </a:p>
        </p:txBody>
      </p:sp>
      <p:sp>
        <p:nvSpPr>
          <p:cNvPr id="30" name="TextBox 29"/>
          <p:cNvSpPr txBox="1"/>
          <p:nvPr/>
        </p:nvSpPr>
        <p:spPr>
          <a:xfrm>
            <a:off x="777240" y="3794760"/>
            <a:ext cx="1463040" cy="228600"/>
          </a:xfrm>
          <a:prstGeom prst="rect">
            <a:avLst/>
          </a:prstGeom>
          <a:noFill/>
        </p:spPr>
        <p:txBody>
          <a:bodyPr wrap="square" anchor="t"/>
          <a:lstStyle/>
          <a:p>
            <a:pPr algn="l">
              <a:defRPr sz="1100" b="1">
                <a:solidFill>
                  <a:srgbClr val="333333"/>
                </a:solidFill>
                <a:latin typeface="Arial"/>
              </a:defRPr>
            </a:pPr>
            <a:r>
              <a:t>SkillRuntime</a:t>
            </a:r>
          </a:p>
        </p:txBody>
      </p:sp>
      <p:sp>
        <p:nvSpPr>
          <p:cNvPr id="31" name="TextBox 30"/>
          <p:cNvSpPr txBox="1"/>
          <p:nvPr/>
        </p:nvSpPr>
        <p:spPr>
          <a:xfrm>
            <a:off x="2286000" y="3794760"/>
            <a:ext cx="6400800" cy="228600"/>
          </a:xfrm>
          <a:prstGeom prst="rect">
            <a:avLst/>
          </a:prstGeom>
          <a:noFill/>
        </p:spPr>
        <p:txBody>
          <a:bodyPr wrap="square" anchor="t"/>
          <a:lstStyle/>
          <a:p>
            <a:pPr algn="l">
              <a:defRPr sz="1000" b="0">
                <a:solidFill>
                  <a:srgbClr val="555555"/>
                </a:solidFill>
                <a:latin typeface="Arial"/>
              </a:defRPr>
            </a:pPr>
            <a:r>
              <a:t>Merges query + skills + session context. Access control filtering. Max 4000 chars budget.</a:t>
            </a:r>
          </a:p>
        </p:txBody>
      </p:sp>
      <p:sp>
        <p:nvSpPr>
          <p:cNvPr id="32" name="Rectangle 31"/>
          <p:cNvSpPr/>
          <p:nvPr/>
        </p:nvSpPr>
        <p:spPr>
          <a:xfrm>
            <a:off x="4846320" y="4160520"/>
            <a:ext cx="384048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0" y="416052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4251960"/>
            <a:ext cx="3566160" cy="365760"/>
          </a:xfrm>
          <a:prstGeom prst="rect">
            <a:avLst/>
          </a:prstGeom>
          <a:noFill/>
        </p:spPr>
        <p:txBody>
          <a:bodyPr wrap="square" anchor="t"/>
          <a:lstStyle/>
          <a:p>
            <a:pPr algn="l">
              <a:defRPr sz="1200" b="1">
                <a:solidFill>
                  <a:srgbClr val="FFFFFF"/>
                </a:solidFill>
                <a:latin typeface="Arial"/>
              </a:defRPr>
            </a:pPr>
            <a:r>
              <a:t>Telemetry + Dependencies</a:t>
            </a:r>
          </a:p>
        </p:txBody>
      </p:sp>
      <p:sp>
        <p:nvSpPr>
          <p:cNvPr id="35" name="TextBox 34"/>
          <p:cNvSpPr txBox="1"/>
          <p:nvPr/>
        </p:nvSpPr>
        <p:spPr>
          <a:xfrm>
            <a:off x="5029200" y="4617720"/>
            <a:ext cx="3566160" cy="228600"/>
          </a:xfrm>
          <a:prstGeom prst="rect">
            <a:avLst/>
          </a:prstGeom>
          <a:noFill/>
        </p:spPr>
        <p:txBody>
          <a:bodyPr wrap="square" anchor="t"/>
          <a:lstStyle/>
          <a:p>
            <a:pPr algn="l">
              <a:defRPr sz="1000" b="0">
                <a:solidFill>
                  <a:srgbClr val="CCCCCC"/>
                </a:solidFill>
                <a:latin typeface="Arial"/>
              </a:defRPr>
              <a:lnSpc>
                <a:spcPts val="1800"/>
              </a:lnSpc>
            </a:pPr>
            <a:r>
              <a:t>80% success SLO, 20-use review window. DFS cycle detection. States: healthy/unstable/broken.</a:t>
            </a:r>
          </a:p>
        </p:txBody>
      </p:sp>
      <p:sp>
        <p:nvSpPr>
          <p:cNvPr id="36" name="Rectangle 35"/>
          <p:cNvSpPr/>
          <p:nvPr/>
        </p:nvSpPr>
        <p:spPr>
          <a:xfrm>
            <a:off x="502920" y="4160520"/>
            <a:ext cx="411480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4160520"/>
            <a:ext cx="54864" cy="7772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51960"/>
            <a:ext cx="3840480" cy="365760"/>
          </a:xfrm>
          <a:prstGeom prst="rect">
            <a:avLst/>
          </a:prstGeom>
          <a:noFill/>
        </p:spPr>
        <p:txBody>
          <a:bodyPr wrap="square" anchor="t"/>
          <a:lstStyle/>
          <a:p>
            <a:pPr algn="l">
              <a:defRPr sz="1200" b="1">
                <a:solidFill>
                  <a:srgbClr val="FFFFFF"/>
                </a:solidFill>
                <a:latin typeface="Arial"/>
              </a:defRPr>
            </a:pPr>
            <a:r>
              <a:t>Legacy Aliases + Visibility</a:t>
            </a:r>
          </a:p>
        </p:txBody>
      </p:sp>
      <p:sp>
        <p:nvSpPr>
          <p:cNvPr id="39" name="TextBox 38"/>
          <p:cNvSpPr txBox="1"/>
          <p:nvPr/>
        </p:nvSpPr>
        <p:spPr>
          <a:xfrm>
            <a:off x="685800" y="4617720"/>
            <a:ext cx="3840480" cy="228600"/>
          </a:xfrm>
          <a:prstGeom prst="rect">
            <a:avLst/>
          </a:prstGeom>
          <a:noFill/>
        </p:spPr>
        <p:txBody>
          <a:bodyPr wrap="square" anchor="t"/>
          <a:lstStyle/>
          <a:p>
            <a:pPr algn="l">
              <a:defRPr sz="1000" b="0">
                <a:solidFill>
                  <a:srgbClr val="CCCCCC"/>
                </a:solidFill>
                <a:latin typeface="Arial"/>
              </a:defRPr>
              <a:lnSpc>
                <a:spcPts val="1800"/>
              </a:lnSpc>
            </a:pPr>
            <a:r>
              <a:t>9 tool tag aliases mapped. Visibility: global / private / tenant scoped.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Provider System &amp; Circuit Breaker (providers/)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6 files: factory, llm_factory, circuit_breaker, output_limits, dependency_checks</a:t>
            </a:r>
          </a:p>
        </p:txBody>
      </p:sp>
      <p:sp>
        <p:nvSpPr>
          <p:cNvPr id="6" name="TextBox 5"/>
          <p:cNvSpPr txBox="1"/>
          <p:nvPr/>
        </p:nvSpPr>
        <p:spPr>
          <a:xfrm>
            <a:off x="502920" y="1371600"/>
            <a:ext cx="3931920" cy="320040"/>
          </a:xfrm>
          <a:prstGeom prst="rect">
            <a:avLst/>
          </a:prstGeom>
          <a:noFill/>
        </p:spPr>
        <p:txBody>
          <a:bodyPr wrap="square" anchor="t"/>
          <a:lstStyle/>
          <a:p>
            <a:pPr algn="l">
              <a:defRPr sz="1300" b="1">
                <a:solidFill>
                  <a:srgbClr val="0097A7"/>
                </a:solidFill>
                <a:latin typeface="Arial"/>
              </a:defRPr>
            </a:pPr>
            <a:r>
              <a:t>PROVIDER RESOLUTION</a:t>
            </a:r>
          </a:p>
        </p:txBody>
      </p:sp>
      <p:sp>
        <p:nvSpPr>
          <p:cNvPr id="7" name="Rectangle 6"/>
          <p:cNvSpPr/>
          <p:nvPr/>
        </p:nvSpPr>
        <p:spPr>
          <a:xfrm>
            <a:off x="502920" y="1737360"/>
            <a:ext cx="3931920" cy="12801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54864" cy="12801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657600" cy="365760"/>
          </a:xfrm>
          <a:prstGeom prst="rect">
            <a:avLst/>
          </a:prstGeom>
          <a:noFill/>
        </p:spPr>
        <p:txBody>
          <a:bodyPr wrap="square" anchor="t"/>
          <a:lstStyle/>
          <a:p>
            <a:pPr algn="l">
              <a:defRPr sz="1200" b="1">
                <a:solidFill>
                  <a:srgbClr val="FFFFFF"/>
                </a:solidFill>
                <a:latin typeface="Arial"/>
              </a:defRPr>
            </a:pPr>
            <a:r>
              <a:t>AgentProviderResolver</a:t>
            </a:r>
          </a:p>
        </p:txBody>
      </p:sp>
      <p:sp>
        <p:nvSpPr>
          <p:cNvPr id="10" name="TextBox 9"/>
          <p:cNvSpPr txBox="1"/>
          <p:nvPr/>
        </p:nvSpPr>
        <p:spPr>
          <a:xfrm>
            <a:off x="685800" y="2194560"/>
            <a:ext cx="3657600" cy="731520"/>
          </a:xfrm>
          <a:prstGeom prst="rect">
            <a:avLst/>
          </a:prstGeom>
          <a:noFill/>
        </p:spPr>
        <p:txBody>
          <a:bodyPr wrap="square" anchor="t"/>
          <a:lstStyle/>
          <a:p>
            <a:pPr algn="l">
              <a:defRPr sz="1000" b="0">
                <a:solidFill>
                  <a:srgbClr val="CCCCCC"/>
                </a:solidFill>
                <a:latin typeface="Arial"/>
              </a:defRPr>
              <a:lnSpc>
                <a:spcPts val="1800"/>
              </a:lnSpc>
            </a:pPr>
            <a:r>
              <a:t>Caches bundles by 6-tuple (provider, model, cap). Per-agent overrides: AGENT_{NAME}_CHAT_MODEL. Token cap chain: request &gt; agent &gt; global &gt; ollama.</a:t>
            </a:r>
          </a:p>
        </p:txBody>
      </p:sp>
      <p:sp>
        <p:nvSpPr>
          <p:cNvPr id="11" name="Rectangle 10"/>
          <p:cNvSpPr/>
          <p:nvPr/>
        </p:nvSpPr>
        <p:spPr>
          <a:xfrm>
            <a:off x="502920" y="3154680"/>
            <a:ext cx="3931920" cy="8686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154680"/>
            <a:ext cx="54864" cy="8686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46120"/>
            <a:ext cx="3657600" cy="365760"/>
          </a:xfrm>
          <a:prstGeom prst="rect">
            <a:avLst/>
          </a:prstGeom>
          <a:noFill/>
        </p:spPr>
        <p:txBody>
          <a:bodyPr wrap="square" anchor="t"/>
          <a:lstStyle/>
          <a:p>
            <a:pPr algn="l">
              <a:defRPr sz="1200" b="1">
                <a:solidFill>
                  <a:srgbClr val="FFFFFF"/>
                </a:solidFill>
                <a:latin typeface="Arial"/>
              </a:defRPr>
            </a:pPr>
            <a:r>
              <a:t>ProviderBundle</a:t>
            </a:r>
          </a:p>
        </p:txBody>
      </p:sp>
      <p:sp>
        <p:nvSpPr>
          <p:cNvPr id="14" name="TextBox 13"/>
          <p:cNvSpPr txBox="1"/>
          <p:nvPr/>
        </p:nvSpPr>
        <p:spPr>
          <a:xfrm>
            <a:off x="685800" y="3611880"/>
            <a:ext cx="3657600" cy="320040"/>
          </a:xfrm>
          <a:prstGeom prst="rect">
            <a:avLst/>
          </a:prstGeom>
          <a:noFill/>
        </p:spPr>
        <p:txBody>
          <a:bodyPr wrap="square" anchor="t"/>
          <a:lstStyle/>
          <a:p>
            <a:pPr algn="l">
              <a:defRPr sz="1000" b="0">
                <a:solidFill>
                  <a:srgbClr val="CCCCCC"/>
                </a:solidFill>
                <a:latin typeface="Arial"/>
              </a:defRPr>
              <a:lnSpc>
                <a:spcPts val="1800"/>
              </a:lnSpc>
            </a:pPr>
            <a:r>
              <a:t>Chat + judge + embeddings. Dims: 768 (Nomic) / 1536 (Ada-002). Timeouts: 120s HTTP, 20s connect.</a:t>
            </a:r>
          </a:p>
        </p:txBody>
      </p:sp>
      <p:sp>
        <p:nvSpPr>
          <p:cNvPr id="15" name="TextBox 14"/>
          <p:cNvSpPr txBox="1"/>
          <p:nvPr/>
        </p:nvSpPr>
        <p:spPr>
          <a:xfrm>
            <a:off x="4846320" y="1371600"/>
            <a:ext cx="3840480" cy="320040"/>
          </a:xfrm>
          <a:prstGeom prst="rect">
            <a:avLst/>
          </a:prstGeom>
          <a:noFill/>
        </p:spPr>
        <p:txBody>
          <a:bodyPr wrap="square" anchor="t"/>
          <a:lstStyle/>
          <a:p>
            <a:pPr algn="l">
              <a:defRPr sz="1300" b="1">
                <a:solidFill>
                  <a:srgbClr val="EF5350"/>
                </a:solidFill>
                <a:latin typeface="Arial"/>
              </a:defRPr>
            </a:pPr>
            <a:r>
              <a:t>CIRCUIT BREAKER</a:t>
            </a:r>
          </a:p>
        </p:txBody>
      </p:sp>
      <p:sp>
        <p:nvSpPr>
          <p:cNvPr id="16" name="Rectangle 15"/>
          <p:cNvSpPr/>
          <p:nvPr/>
        </p:nvSpPr>
        <p:spPr>
          <a:xfrm>
            <a:off x="4846320" y="1737360"/>
            <a:ext cx="3840480" cy="2240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1737360"/>
            <a:ext cx="54864" cy="224028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874519"/>
            <a:ext cx="1645920" cy="228600"/>
          </a:xfrm>
          <a:prstGeom prst="rect">
            <a:avLst/>
          </a:prstGeom>
          <a:noFill/>
        </p:spPr>
        <p:txBody>
          <a:bodyPr wrap="square" anchor="t"/>
          <a:lstStyle/>
          <a:p>
            <a:pPr algn="l">
              <a:defRPr sz="1100" b="1">
                <a:solidFill>
                  <a:srgbClr val="FFFFFF"/>
                </a:solidFill>
                <a:latin typeface="Arial"/>
              </a:defRPr>
            </a:pPr>
            <a:r>
              <a:t>Window Size:</a:t>
            </a:r>
          </a:p>
        </p:txBody>
      </p:sp>
      <p:sp>
        <p:nvSpPr>
          <p:cNvPr id="19" name="TextBox 18"/>
          <p:cNvSpPr txBox="1"/>
          <p:nvPr/>
        </p:nvSpPr>
        <p:spPr>
          <a:xfrm>
            <a:off x="6766560" y="1874519"/>
            <a:ext cx="1828800" cy="228600"/>
          </a:xfrm>
          <a:prstGeom prst="rect">
            <a:avLst/>
          </a:prstGeom>
          <a:noFill/>
        </p:spPr>
        <p:txBody>
          <a:bodyPr wrap="square" anchor="t"/>
          <a:lstStyle/>
          <a:p>
            <a:pPr algn="l">
              <a:defRPr sz="1100" b="0">
                <a:solidFill>
                  <a:srgbClr val="CCCCCC"/>
                </a:solidFill>
                <a:latin typeface="Arial"/>
              </a:defRPr>
            </a:pPr>
            <a:r>
              <a:t>20 samples</a:t>
            </a:r>
          </a:p>
        </p:txBody>
      </p:sp>
      <p:sp>
        <p:nvSpPr>
          <p:cNvPr id="20" name="TextBox 19"/>
          <p:cNvSpPr txBox="1"/>
          <p:nvPr/>
        </p:nvSpPr>
        <p:spPr>
          <a:xfrm>
            <a:off x="5074920" y="2194559"/>
            <a:ext cx="1645920" cy="228600"/>
          </a:xfrm>
          <a:prstGeom prst="rect">
            <a:avLst/>
          </a:prstGeom>
          <a:noFill/>
        </p:spPr>
        <p:txBody>
          <a:bodyPr wrap="square" anchor="t"/>
          <a:lstStyle/>
          <a:p>
            <a:pPr algn="l">
              <a:defRPr sz="1100" b="1">
                <a:solidFill>
                  <a:srgbClr val="FFFFFF"/>
                </a:solidFill>
                <a:latin typeface="Arial"/>
              </a:defRPr>
            </a:pPr>
            <a:r>
              <a:t>Min Samples:</a:t>
            </a:r>
          </a:p>
        </p:txBody>
      </p:sp>
      <p:sp>
        <p:nvSpPr>
          <p:cNvPr id="21" name="TextBox 20"/>
          <p:cNvSpPr txBox="1"/>
          <p:nvPr/>
        </p:nvSpPr>
        <p:spPr>
          <a:xfrm>
            <a:off x="6766560" y="2194559"/>
            <a:ext cx="1828800" cy="228600"/>
          </a:xfrm>
          <a:prstGeom prst="rect">
            <a:avLst/>
          </a:prstGeom>
          <a:noFill/>
        </p:spPr>
        <p:txBody>
          <a:bodyPr wrap="square" anchor="t"/>
          <a:lstStyle/>
          <a:p>
            <a:pPr algn="l">
              <a:defRPr sz="1100" b="0">
                <a:solidFill>
                  <a:srgbClr val="CCCCCC"/>
                </a:solidFill>
                <a:latin typeface="Arial"/>
              </a:defRPr>
            </a:pPr>
            <a:r>
              <a:t>6 before tripping</a:t>
            </a:r>
          </a:p>
        </p:txBody>
      </p:sp>
      <p:sp>
        <p:nvSpPr>
          <p:cNvPr id="22" name="TextBox 21"/>
          <p:cNvSpPr txBox="1"/>
          <p:nvPr/>
        </p:nvSpPr>
        <p:spPr>
          <a:xfrm>
            <a:off x="5074920" y="2514599"/>
            <a:ext cx="1645920" cy="228600"/>
          </a:xfrm>
          <a:prstGeom prst="rect">
            <a:avLst/>
          </a:prstGeom>
          <a:noFill/>
        </p:spPr>
        <p:txBody>
          <a:bodyPr wrap="square" anchor="t"/>
          <a:lstStyle/>
          <a:p>
            <a:pPr algn="l">
              <a:defRPr sz="1100" b="1">
                <a:solidFill>
                  <a:srgbClr val="FFFFFF"/>
                </a:solidFill>
                <a:latin typeface="Arial"/>
              </a:defRPr>
            </a:pPr>
            <a:r>
              <a:t>Error Threshold:</a:t>
            </a:r>
          </a:p>
        </p:txBody>
      </p:sp>
      <p:sp>
        <p:nvSpPr>
          <p:cNvPr id="23" name="TextBox 22"/>
          <p:cNvSpPr txBox="1"/>
          <p:nvPr/>
        </p:nvSpPr>
        <p:spPr>
          <a:xfrm>
            <a:off x="6766560" y="2514599"/>
            <a:ext cx="1828800" cy="228600"/>
          </a:xfrm>
          <a:prstGeom prst="rect">
            <a:avLst/>
          </a:prstGeom>
          <a:noFill/>
        </p:spPr>
        <p:txBody>
          <a:bodyPr wrap="square" anchor="t"/>
          <a:lstStyle/>
          <a:p>
            <a:pPr algn="l">
              <a:defRPr sz="1100" b="0">
                <a:solidFill>
                  <a:srgbClr val="CCCCCC"/>
                </a:solidFill>
                <a:latin typeface="Arial"/>
              </a:defRPr>
            </a:pPr>
            <a:r>
              <a:t>50% error rate</a:t>
            </a:r>
          </a:p>
        </p:txBody>
      </p:sp>
      <p:sp>
        <p:nvSpPr>
          <p:cNvPr id="24" name="TextBox 23"/>
          <p:cNvSpPr txBox="1"/>
          <p:nvPr/>
        </p:nvSpPr>
        <p:spPr>
          <a:xfrm>
            <a:off x="5074920" y="2834639"/>
            <a:ext cx="1645920" cy="228600"/>
          </a:xfrm>
          <a:prstGeom prst="rect">
            <a:avLst/>
          </a:prstGeom>
          <a:noFill/>
        </p:spPr>
        <p:txBody>
          <a:bodyPr wrap="square" anchor="t"/>
          <a:lstStyle/>
          <a:p>
            <a:pPr algn="l">
              <a:defRPr sz="1100" b="1">
                <a:solidFill>
                  <a:srgbClr val="FFFFFF"/>
                </a:solidFill>
                <a:latin typeface="Arial"/>
              </a:defRPr>
            </a:pPr>
            <a:r>
              <a:t>Consecutive Fails:</a:t>
            </a:r>
          </a:p>
        </p:txBody>
      </p:sp>
      <p:sp>
        <p:nvSpPr>
          <p:cNvPr id="25" name="TextBox 24"/>
          <p:cNvSpPr txBox="1"/>
          <p:nvPr/>
        </p:nvSpPr>
        <p:spPr>
          <a:xfrm>
            <a:off x="6766560" y="2834639"/>
            <a:ext cx="1828800" cy="228600"/>
          </a:xfrm>
          <a:prstGeom prst="rect">
            <a:avLst/>
          </a:prstGeom>
          <a:noFill/>
        </p:spPr>
        <p:txBody>
          <a:bodyPr wrap="square" anchor="t"/>
          <a:lstStyle/>
          <a:p>
            <a:pPr algn="l">
              <a:defRPr sz="1100" b="0">
                <a:solidFill>
                  <a:srgbClr val="CCCCCC"/>
                </a:solidFill>
                <a:latin typeface="Arial"/>
              </a:defRPr>
            </a:pPr>
            <a:r>
              <a:t>3 triggers open</a:t>
            </a:r>
          </a:p>
        </p:txBody>
      </p:sp>
      <p:sp>
        <p:nvSpPr>
          <p:cNvPr id="26" name="TextBox 25"/>
          <p:cNvSpPr txBox="1"/>
          <p:nvPr/>
        </p:nvSpPr>
        <p:spPr>
          <a:xfrm>
            <a:off x="5074920" y="3154679"/>
            <a:ext cx="1645920" cy="228600"/>
          </a:xfrm>
          <a:prstGeom prst="rect">
            <a:avLst/>
          </a:prstGeom>
          <a:noFill/>
        </p:spPr>
        <p:txBody>
          <a:bodyPr wrap="square" anchor="t"/>
          <a:lstStyle/>
          <a:p>
            <a:pPr algn="l">
              <a:defRPr sz="1100" b="1">
                <a:solidFill>
                  <a:srgbClr val="FFFFFF"/>
                </a:solidFill>
                <a:latin typeface="Arial"/>
              </a:defRPr>
            </a:pPr>
            <a:r>
              <a:t>Open Duration:</a:t>
            </a:r>
          </a:p>
        </p:txBody>
      </p:sp>
      <p:sp>
        <p:nvSpPr>
          <p:cNvPr id="27" name="TextBox 26"/>
          <p:cNvSpPr txBox="1"/>
          <p:nvPr/>
        </p:nvSpPr>
        <p:spPr>
          <a:xfrm>
            <a:off x="6766560" y="3154679"/>
            <a:ext cx="1828800" cy="228600"/>
          </a:xfrm>
          <a:prstGeom prst="rect">
            <a:avLst/>
          </a:prstGeom>
          <a:noFill/>
        </p:spPr>
        <p:txBody>
          <a:bodyPr wrap="square" anchor="t"/>
          <a:lstStyle/>
          <a:p>
            <a:pPr algn="l">
              <a:defRPr sz="1100" b="0">
                <a:solidFill>
                  <a:srgbClr val="CCCCCC"/>
                </a:solidFill>
                <a:latin typeface="Arial"/>
              </a:defRPr>
            </a:pPr>
            <a:r>
              <a:t>30 seconds cooldown</a:t>
            </a:r>
          </a:p>
        </p:txBody>
      </p:sp>
      <p:sp>
        <p:nvSpPr>
          <p:cNvPr id="28" name="TextBox 27"/>
          <p:cNvSpPr txBox="1"/>
          <p:nvPr/>
        </p:nvSpPr>
        <p:spPr>
          <a:xfrm>
            <a:off x="5074920" y="3474719"/>
            <a:ext cx="1645920" cy="228600"/>
          </a:xfrm>
          <a:prstGeom prst="rect">
            <a:avLst/>
          </a:prstGeom>
          <a:noFill/>
        </p:spPr>
        <p:txBody>
          <a:bodyPr wrap="square" anchor="t"/>
          <a:lstStyle/>
          <a:p>
            <a:pPr algn="l">
              <a:defRPr sz="1100" b="1">
                <a:solidFill>
                  <a:srgbClr val="FFFFFF"/>
                </a:solidFill>
                <a:latin typeface="Arial"/>
              </a:defRPr>
            </a:pPr>
            <a:r>
              <a:t>Fallback:</a:t>
            </a:r>
          </a:p>
        </p:txBody>
      </p:sp>
      <p:sp>
        <p:nvSpPr>
          <p:cNvPr id="29" name="TextBox 28"/>
          <p:cNvSpPr txBox="1"/>
          <p:nvPr/>
        </p:nvSpPr>
        <p:spPr>
          <a:xfrm>
            <a:off x="6766560" y="3474719"/>
            <a:ext cx="1828800" cy="228600"/>
          </a:xfrm>
          <a:prstGeom prst="rect">
            <a:avLst/>
          </a:prstGeom>
          <a:noFill/>
        </p:spPr>
        <p:txBody>
          <a:bodyPr wrap="square" anchor="t"/>
          <a:lstStyle/>
          <a:p>
            <a:pPr algn="l">
              <a:defRPr sz="1100" b="0">
                <a:solidFill>
                  <a:srgbClr val="CCCCCC"/>
                </a:solidFill>
                <a:latin typeface="Arial"/>
              </a:defRPr>
            </a:pPr>
            <a:r>
              <a:t>Degrades to basic mode</a:t>
            </a:r>
          </a:p>
        </p:txBody>
      </p:sp>
      <p:sp>
        <p:nvSpPr>
          <p:cNvPr id="30" name="Rectangle 29"/>
          <p:cNvSpPr/>
          <p:nvPr/>
        </p:nvSpPr>
        <p:spPr>
          <a:xfrm>
            <a:off x="502920" y="4206240"/>
            <a:ext cx="8138160" cy="7315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97680"/>
            <a:ext cx="7680960" cy="548640"/>
          </a:xfrm>
          <a:prstGeom prst="rect">
            <a:avLst/>
          </a:prstGeom>
          <a:noFill/>
        </p:spPr>
        <p:txBody>
          <a:bodyPr wrap="square" anchor="t"/>
          <a:lstStyle/>
          <a:p>
            <a:pPr algn="l">
              <a:defRPr sz="1100" b="0">
                <a:solidFill>
                  <a:srgbClr val="CCCCCC"/>
                </a:solidFill>
                <a:latin typeface="Arial"/>
              </a:defRPr>
              <a:lnSpc>
                <a:spcPts val="1800"/>
              </a:lnSpc>
            </a:pPr>
            <a:r>
              <a:t>If an agent's LLM provider trips the circuit breaker, RuntimeService degrades to basic mode with a different provider. If even that fails, returns a graceful degraded message to the user.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MCP Security Model (mcp/)</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Cryptographic isolation, URL validation, tool deferral, and connection lifecycle management</a:t>
            </a:r>
          </a:p>
        </p:txBody>
      </p:sp>
      <p:sp>
        <p:nvSpPr>
          <p:cNvPr id="6" name="Rectangle 5"/>
          <p:cNvSpPr/>
          <p:nvPr/>
        </p:nvSpPr>
        <p:spPr>
          <a:xfrm>
            <a:off x="50292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3716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Secret Encryption</a:t>
            </a:r>
          </a:p>
        </p:txBody>
      </p:sp>
      <p:sp>
        <p:nvSpPr>
          <p:cNvPr id="9" name="TextBox 8"/>
          <p:cNvSpPr txBox="1"/>
          <p:nvPr/>
        </p:nvSpPr>
        <p:spPr>
          <a:xfrm>
            <a:off x="685800" y="1828800"/>
            <a:ext cx="3703319" cy="822960"/>
          </a:xfrm>
          <a:prstGeom prst="rect">
            <a:avLst/>
          </a:prstGeom>
          <a:noFill/>
        </p:spPr>
        <p:txBody>
          <a:bodyPr wrap="square" anchor="t"/>
          <a:lstStyle/>
          <a:p>
            <a:pPr algn="l">
              <a:defRPr sz="1000" b="0">
                <a:solidFill>
                  <a:srgbClr val="CCCCCC"/>
                </a:solidFill>
                <a:latin typeface="Arial"/>
              </a:defRPr>
              <a:lnSpc>
                <a:spcPts val="1800"/>
              </a:lnSpc>
            </a:pPr>
            <a:r>
              <a:t>Fernet symmetric encryption with SHA256 key derivation. Prefix: 'fernet:v1:' identifies encrypted values. Secrets never stored in plaintext. Decrypted only at call time.</a:t>
            </a:r>
          </a:p>
        </p:txBody>
      </p:sp>
      <p:sp>
        <p:nvSpPr>
          <p:cNvPr id="10" name="Rectangle 9"/>
          <p:cNvSpPr/>
          <p:nvPr/>
        </p:nvSpPr>
        <p:spPr>
          <a:xfrm>
            <a:off x="470916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371600"/>
            <a:ext cx="54864" cy="13716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URL Validation</a:t>
            </a:r>
          </a:p>
        </p:txBody>
      </p:sp>
      <p:sp>
        <p:nvSpPr>
          <p:cNvPr id="13" name="TextBox 12"/>
          <p:cNvSpPr txBox="1"/>
          <p:nvPr/>
        </p:nvSpPr>
        <p:spPr>
          <a:xfrm>
            <a:off x="4892040" y="1828800"/>
            <a:ext cx="3703319" cy="822960"/>
          </a:xfrm>
          <a:prstGeom prst="rect">
            <a:avLst/>
          </a:prstGeom>
          <a:noFill/>
        </p:spPr>
        <p:txBody>
          <a:bodyPr wrap="square" anchor="t"/>
          <a:lstStyle/>
          <a:p>
            <a:pPr algn="l">
              <a:defRPr sz="1000" b="0">
                <a:solidFill>
                  <a:srgbClr val="CCCCCC"/>
                </a:solidFill>
                <a:latin typeface="Arial"/>
              </a:defRPr>
              <a:lnSpc>
                <a:spcPts val="1800"/>
              </a:lnSpc>
            </a:pPr>
            <a:r>
              <a:t>HTTPS enforced by default (configurable). Private network blocking prevents SSRF attacks. Connection names slugified: max 80 chars, [a-z0-9_] only.</a:t>
            </a:r>
          </a:p>
        </p:txBody>
      </p:sp>
      <p:sp>
        <p:nvSpPr>
          <p:cNvPr id="14" name="Rectangle 13"/>
          <p:cNvSpPr/>
          <p:nvPr/>
        </p:nvSpPr>
        <p:spPr>
          <a:xfrm>
            <a:off x="50292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54864" cy="13716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17520"/>
            <a:ext cx="3703319" cy="365760"/>
          </a:xfrm>
          <a:prstGeom prst="rect">
            <a:avLst/>
          </a:prstGeom>
          <a:noFill/>
        </p:spPr>
        <p:txBody>
          <a:bodyPr wrap="square" anchor="t"/>
          <a:lstStyle/>
          <a:p>
            <a:pPr algn="l">
              <a:defRPr sz="1300" b="1">
                <a:solidFill>
                  <a:srgbClr val="FFFFFF"/>
                </a:solidFill>
                <a:latin typeface="Arial"/>
              </a:defRPr>
            </a:pPr>
            <a:r>
              <a:t>Tool Deferral System</a:t>
            </a:r>
          </a:p>
        </p:txBody>
      </p:sp>
      <p:sp>
        <p:nvSpPr>
          <p:cNvPr id="17" name="TextBox 16"/>
          <p:cNvSpPr txBox="1"/>
          <p:nvPr/>
        </p:nvSpPr>
        <p:spPr>
          <a:xfrm>
            <a:off x="685800" y="3383280"/>
            <a:ext cx="3703319" cy="822960"/>
          </a:xfrm>
          <a:prstGeom prst="rect">
            <a:avLst/>
          </a:prstGeom>
          <a:noFill/>
        </p:spPr>
        <p:txBody>
          <a:bodyPr wrap="square" anchor="t"/>
          <a:lstStyle/>
          <a:p>
            <a:pPr algn="l">
              <a:defRPr sz="1000" b="0">
                <a:solidFill>
                  <a:srgbClr val="CCCCCC"/>
                </a:solidFill>
                <a:latin typeface="Arial"/>
              </a:defRPr>
              <a:lnSpc>
                <a:spcPts val="1800"/>
              </a:lnSpc>
            </a:pPr>
            <a:r>
              <a:t>All MCP tools: defer=True, destructive=True, defer_priority=50. Tools only execute after explicit user/agent approval. Schema sanitization: enforces type='object', additionalProperties=True.</a:t>
            </a:r>
          </a:p>
        </p:txBody>
      </p:sp>
      <p:sp>
        <p:nvSpPr>
          <p:cNvPr id="18" name="Rectangle 17"/>
          <p:cNvSpPr/>
          <p:nvPr/>
        </p:nvSpPr>
        <p:spPr>
          <a:xfrm>
            <a:off x="470916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2926080"/>
            <a:ext cx="54864" cy="13716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3017520"/>
            <a:ext cx="3703319" cy="365760"/>
          </a:xfrm>
          <a:prstGeom prst="rect">
            <a:avLst/>
          </a:prstGeom>
          <a:noFill/>
        </p:spPr>
        <p:txBody>
          <a:bodyPr wrap="square" anchor="t"/>
          <a:lstStyle/>
          <a:p>
            <a:pPr algn="l">
              <a:defRPr sz="1300" b="1">
                <a:solidFill>
                  <a:srgbClr val="FFFFFF"/>
                </a:solidFill>
                <a:latin typeface="Arial"/>
              </a:defRPr>
            </a:pPr>
            <a:r>
              <a:t>Connection Lifecycle</a:t>
            </a:r>
          </a:p>
        </p:txBody>
      </p:sp>
      <p:sp>
        <p:nvSpPr>
          <p:cNvPr id="21" name="TextBox 20"/>
          <p:cNvSpPr txBox="1"/>
          <p:nvPr/>
        </p:nvSpPr>
        <p:spPr>
          <a:xfrm>
            <a:off x="4892040" y="3383280"/>
            <a:ext cx="3703319" cy="822960"/>
          </a:xfrm>
          <a:prstGeom prst="rect">
            <a:avLst/>
          </a:prstGeom>
          <a:noFill/>
        </p:spPr>
        <p:txBody>
          <a:bodyPr wrap="square" anchor="t"/>
          <a:lstStyle/>
          <a:p>
            <a:pPr algn="l">
              <a:defRPr sz="1000" b="0">
                <a:solidFill>
                  <a:srgbClr val="CCCCCC"/>
                </a:solidFill>
                <a:latin typeface="Arial"/>
              </a:defRPr>
              <a:lnSpc>
                <a:spcPts val="1800"/>
              </a:lnSpc>
            </a:pPr>
            <a:r>
              <a:t>Timeouts: 15s for listing tools, 60s for execution. Tool name pattern: mcp__{connection}__{tool}. Per-tool enable/disable. Status/enabled flags gate execution.</a:t>
            </a:r>
          </a:p>
        </p:txBody>
      </p:sp>
      <p:sp>
        <p:nvSpPr>
          <p:cNvPr id="22" name="TextBox 21"/>
          <p:cNvSpPr txBox="1"/>
          <p:nvPr/>
        </p:nvSpPr>
        <p:spPr>
          <a:xfrm>
            <a:off x="502920" y="4480560"/>
            <a:ext cx="8138160" cy="457200"/>
          </a:xfrm>
          <a:prstGeom prst="rect">
            <a:avLst/>
          </a:prstGeom>
          <a:noFill/>
        </p:spPr>
        <p:txBody>
          <a:bodyPr wrap="square" anchor="t"/>
          <a:lstStyle/>
          <a:p>
            <a:pPr algn="l">
              <a:defRPr sz="1000" b="0">
                <a:solidFill>
                  <a:srgbClr val="888888"/>
                </a:solidFill>
                <a:latin typeface="Arial"/>
              </a:defRPr>
            </a:pPr>
            <a:r>
              <a:t>McpStreamableHttpClient wraps the official MCP Streamable HTTP client with sync/async support. McpCatalogService manages the full connection CRUD + tool discovery + execution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Task Plan &amp; Artifact Handoff System</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Structured task decomposition with typed artifact handoffs between worker agents</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TASK SPECIFICATION</a:t>
            </a:r>
          </a:p>
        </p:txBody>
      </p:sp>
      <p:sp>
        <p:nvSpPr>
          <p:cNvPr id="7" name="TextBox 6"/>
          <p:cNvSpPr txBox="1"/>
          <p:nvPr/>
        </p:nvSpPr>
        <p:spPr>
          <a:xfrm>
            <a:off x="502920" y="1691640"/>
            <a:ext cx="1371600" cy="228600"/>
          </a:xfrm>
          <a:prstGeom prst="rect">
            <a:avLst/>
          </a:prstGeom>
          <a:noFill/>
        </p:spPr>
        <p:txBody>
          <a:bodyPr wrap="square" anchor="t"/>
          <a:lstStyle/>
          <a:p>
            <a:pPr algn="l">
              <a:defRPr sz="1100" b="1">
                <a:solidFill>
                  <a:srgbClr val="333333"/>
                </a:solidFill>
                <a:latin typeface="Arial"/>
              </a:defRPr>
            </a:pPr>
            <a:r>
              <a:t>Executors:</a:t>
            </a:r>
          </a:p>
        </p:txBody>
      </p:sp>
      <p:sp>
        <p:nvSpPr>
          <p:cNvPr id="8" name="TextBox 7"/>
          <p:cNvSpPr txBox="1"/>
          <p:nvPr/>
        </p:nvSpPr>
        <p:spPr>
          <a:xfrm>
            <a:off x="1828800" y="1691640"/>
            <a:ext cx="2560320" cy="228600"/>
          </a:xfrm>
          <a:prstGeom prst="rect">
            <a:avLst/>
          </a:prstGeom>
          <a:noFill/>
        </p:spPr>
        <p:txBody>
          <a:bodyPr wrap="square" anchor="t"/>
          <a:lstStyle/>
          <a:p>
            <a:pPr algn="l">
              <a:defRPr sz="1000" b="0">
                <a:solidFill>
                  <a:srgbClr val="555555"/>
                </a:solidFill>
                <a:latin typeface="Arial"/>
              </a:defRPr>
            </a:pPr>
            <a:r>
              <a:t>rag_worker, utility, data_analyst, general, graph_manager, verifier</a:t>
            </a:r>
          </a:p>
        </p:txBody>
      </p:sp>
      <p:sp>
        <p:nvSpPr>
          <p:cNvPr id="9" name="TextBox 8"/>
          <p:cNvSpPr txBox="1"/>
          <p:nvPr/>
        </p:nvSpPr>
        <p:spPr>
          <a:xfrm>
            <a:off x="502920" y="2011680"/>
            <a:ext cx="1371600" cy="228600"/>
          </a:xfrm>
          <a:prstGeom prst="rect">
            <a:avLst/>
          </a:prstGeom>
          <a:noFill/>
        </p:spPr>
        <p:txBody>
          <a:bodyPr wrap="square" anchor="t"/>
          <a:lstStyle/>
          <a:p>
            <a:pPr algn="l">
              <a:defRPr sz="1100" b="1">
                <a:solidFill>
                  <a:srgbClr val="333333"/>
                </a:solidFill>
                <a:latin typeface="Arial"/>
              </a:defRPr>
            </a:pPr>
            <a:r>
              <a:t>Modes:</a:t>
            </a:r>
          </a:p>
        </p:txBody>
      </p:sp>
      <p:sp>
        <p:nvSpPr>
          <p:cNvPr id="10" name="TextBox 9"/>
          <p:cNvSpPr txBox="1"/>
          <p:nvPr/>
        </p:nvSpPr>
        <p:spPr>
          <a:xfrm>
            <a:off x="1828800" y="2011680"/>
            <a:ext cx="2560320" cy="228600"/>
          </a:xfrm>
          <a:prstGeom prst="rect">
            <a:avLst/>
          </a:prstGeom>
          <a:noFill/>
        </p:spPr>
        <p:txBody>
          <a:bodyPr wrap="square" anchor="t"/>
          <a:lstStyle/>
          <a:p>
            <a:pPr algn="l">
              <a:defRPr sz="1000" b="0">
                <a:solidFill>
                  <a:srgbClr val="555555"/>
                </a:solidFill>
                <a:latin typeface="Arial"/>
              </a:defRPr>
            </a:pPr>
            <a:r>
              <a:t>sequential or parallel execution</a:t>
            </a:r>
          </a:p>
        </p:txBody>
      </p:sp>
      <p:sp>
        <p:nvSpPr>
          <p:cNvPr id="11" name="TextBox 10"/>
          <p:cNvSpPr txBox="1"/>
          <p:nvPr/>
        </p:nvSpPr>
        <p:spPr>
          <a:xfrm>
            <a:off x="502920" y="2331720"/>
            <a:ext cx="1371600" cy="228600"/>
          </a:xfrm>
          <a:prstGeom prst="rect">
            <a:avLst/>
          </a:prstGeom>
          <a:noFill/>
        </p:spPr>
        <p:txBody>
          <a:bodyPr wrap="square" anchor="t"/>
          <a:lstStyle/>
          <a:p>
            <a:pPr algn="l">
              <a:defRPr sz="1100" b="1">
                <a:solidFill>
                  <a:srgbClr val="333333"/>
                </a:solidFill>
                <a:latin typeface="Arial"/>
              </a:defRPr>
            </a:pPr>
            <a:r>
              <a:t>Terminal States:</a:t>
            </a:r>
          </a:p>
        </p:txBody>
      </p:sp>
      <p:sp>
        <p:nvSpPr>
          <p:cNvPr id="12" name="TextBox 11"/>
          <p:cNvSpPr txBox="1"/>
          <p:nvPr/>
        </p:nvSpPr>
        <p:spPr>
          <a:xfrm>
            <a:off x="1828800" y="2331720"/>
            <a:ext cx="2560320" cy="228600"/>
          </a:xfrm>
          <a:prstGeom prst="rect">
            <a:avLst/>
          </a:prstGeom>
          <a:noFill/>
        </p:spPr>
        <p:txBody>
          <a:bodyPr wrap="square" anchor="t"/>
          <a:lstStyle/>
          <a:p>
            <a:pPr algn="l">
              <a:defRPr sz="1000" b="0">
                <a:solidFill>
                  <a:srgbClr val="555555"/>
                </a:solidFill>
                <a:latin typeface="Arial"/>
              </a:defRPr>
            </a:pPr>
            <a:r>
              <a:t>completed, failed, stopped, waiting_message</a:t>
            </a:r>
          </a:p>
        </p:txBody>
      </p:sp>
      <p:sp>
        <p:nvSpPr>
          <p:cNvPr id="13" name="TextBox 12"/>
          <p:cNvSpPr txBox="1"/>
          <p:nvPr/>
        </p:nvSpPr>
        <p:spPr>
          <a:xfrm>
            <a:off x="502920" y="2651760"/>
            <a:ext cx="1371600" cy="228600"/>
          </a:xfrm>
          <a:prstGeom prst="rect">
            <a:avLst/>
          </a:prstGeom>
          <a:noFill/>
        </p:spPr>
        <p:txBody>
          <a:bodyPr wrap="square" anchor="t"/>
          <a:lstStyle/>
          <a:p>
            <a:pPr algn="l">
              <a:defRPr sz="1100" b="1">
                <a:solidFill>
                  <a:srgbClr val="333333"/>
                </a:solidFill>
                <a:latin typeface="Arial"/>
              </a:defRPr>
            </a:pPr>
            <a:r>
              <a:t>Hints:</a:t>
            </a:r>
          </a:p>
        </p:txBody>
      </p:sp>
      <p:sp>
        <p:nvSpPr>
          <p:cNvPr id="14" name="TextBox 13"/>
          <p:cNvSpPr txBox="1"/>
          <p:nvPr/>
        </p:nvSpPr>
        <p:spPr>
          <a:xfrm>
            <a:off x="1828800" y="2651760"/>
            <a:ext cx="2560320" cy="228600"/>
          </a:xfrm>
          <a:prstGeom prst="rect">
            <a:avLst/>
          </a:prstGeom>
          <a:noFill/>
        </p:spPr>
        <p:txBody>
          <a:bodyPr wrap="square" anchor="t"/>
          <a:lstStyle/>
          <a:p>
            <a:pPr algn="l">
              <a:defRPr sz="1000" b="0">
                <a:solidFill>
                  <a:srgbClr val="555555"/>
                </a:solidFill>
                <a:latin typeface="Arial"/>
              </a:defRPr>
            </a:pPr>
            <a:r>
              <a:t>research_profile, coverage_goal, result_mode, answer_mode</a:t>
            </a:r>
          </a:p>
        </p:txBody>
      </p:sp>
      <p:sp>
        <p:nvSpPr>
          <p:cNvPr id="15" name="TextBox 14"/>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8 ARTIFACT HANDOFF TYPES</a:t>
            </a:r>
          </a:p>
        </p:txBody>
      </p:sp>
      <p:sp>
        <p:nvSpPr>
          <p:cNvPr id="16" name="Rectangle 15"/>
          <p:cNvSpPr/>
          <p:nvPr/>
        </p:nvSpPr>
        <p:spPr>
          <a:xfrm>
            <a:off x="4846320" y="169164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1691640"/>
            <a:ext cx="3566160" cy="201168"/>
          </a:xfrm>
          <a:prstGeom prst="rect">
            <a:avLst/>
          </a:prstGeom>
          <a:noFill/>
        </p:spPr>
        <p:txBody>
          <a:bodyPr wrap="square" anchor="t"/>
          <a:lstStyle/>
          <a:p>
            <a:pPr algn="l">
              <a:defRPr sz="1100" b="0">
                <a:solidFill>
                  <a:srgbClr val="333333"/>
                </a:solidFill>
                <a:latin typeface="Consolas"/>
              </a:defRPr>
            </a:pPr>
            <a:r>
              <a:t>title_candidates</a:t>
            </a:r>
          </a:p>
        </p:txBody>
      </p:sp>
      <p:sp>
        <p:nvSpPr>
          <p:cNvPr id="18" name="Rectangle 17"/>
          <p:cNvSpPr/>
          <p:nvPr/>
        </p:nvSpPr>
        <p:spPr>
          <a:xfrm>
            <a:off x="4846320" y="194767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1947672"/>
            <a:ext cx="3566160" cy="201168"/>
          </a:xfrm>
          <a:prstGeom prst="rect">
            <a:avLst/>
          </a:prstGeom>
          <a:noFill/>
        </p:spPr>
        <p:txBody>
          <a:bodyPr wrap="square" anchor="t"/>
          <a:lstStyle/>
          <a:p>
            <a:pPr algn="l">
              <a:defRPr sz="1100" b="0">
                <a:solidFill>
                  <a:srgbClr val="333333"/>
                </a:solidFill>
                <a:latin typeface="Consolas"/>
              </a:defRPr>
            </a:pPr>
            <a:r>
              <a:t>doc_focus</a:t>
            </a:r>
          </a:p>
        </p:txBody>
      </p:sp>
      <p:sp>
        <p:nvSpPr>
          <p:cNvPr id="20" name="Rectangle 19"/>
          <p:cNvSpPr/>
          <p:nvPr/>
        </p:nvSpPr>
        <p:spPr>
          <a:xfrm>
            <a:off x="4846320" y="220370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2203704"/>
            <a:ext cx="3566160" cy="201168"/>
          </a:xfrm>
          <a:prstGeom prst="rect">
            <a:avLst/>
          </a:prstGeom>
          <a:noFill/>
        </p:spPr>
        <p:txBody>
          <a:bodyPr wrap="square" anchor="t"/>
          <a:lstStyle/>
          <a:p>
            <a:pPr algn="l">
              <a:defRPr sz="1100" b="0">
                <a:solidFill>
                  <a:srgbClr val="333333"/>
                </a:solidFill>
                <a:latin typeface="Consolas"/>
              </a:defRPr>
            </a:pPr>
            <a:r>
              <a:t>research_facets</a:t>
            </a:r>
          </a:p>
        </p:txBody>
      </p:sp>
      <p:sp>
        <p:nvSpPr>
          <p:cNvPr id="22" name="Rectangle 21"/>
          <p:cNvSpPr/>
          <p:nvPr/>
        </p:nvSpPr>
        <p:spPr>
          <a:xfrm>
            <a:off x="4846320" y="2459736"/>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2459736"/>
            <a:ext cx="3566160" cy="201168"/>
          </a:xfrm>
          <a:prstGeom prst="rect">
            <a:avLst/>
          </a:prstGeom>
          <a:noFill/>
        </p:spPr>
        <p:txBody>
          <a:bodyPr wrap="square" anchor="t"/>
          <a:lstStyle/>
          <a:p>
            <a:pPr algn="l">
              <a:defRPr sz="1100" b="0">
                <a:solidFill>
                  <a:srgbClr val="333333"/>
                </a:solidFill>
                <a:latin typeface="Consolas"/>
              </a:defRPr>
            </a:pPr>
            <a:r>
              <a:t>facet_matches</a:t>
            </a:r>
          </a:p>
        </p:txBody>
      </p:sp>
      <p:sp>
        <p:nvSpPr>
          <p:cNvPr id="24" name="Rectangle 23"/>
          <p:cNvSpPr/>
          <p:nvPr/>
        </p:nvSpPr>
        <p:spPr>
          <a:xfrm>
            <a:off x="4846320" y="2715768"/>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74920" y="2715768"/>
            <a:ext cx="3566160" cy="201168"/>
          </a:xfrm>
          <a:prstGeom prst="rect">
            <a:avLst/>
          </a:prstGeom>
          <a:noFill/>
        </p:spPr>
        <p:txBody>
          <a:bodyPr wrap="square" anchor="t"/>
          <a:lstStyle/>
          <a:p>
            <a:pPr algn="l">
              <a:defRPr sz="1100" b="0">
                <a:solidFill>
                  <a:srgbClr val="333333"/>
                </a:solidFill>
                <a:latin typeface="Consolas"/>
              </a:defRPr>
            </a:pPr>
            <a:r>
              <a:t>doc_digest</a:t>
            </a:r>
          </a:p>
        </p:txBody>
      </p:sp>
      <p:sp>
        <p:nvSpPr>
          <p:cNvPr id="26" name="Rectangle 25"/>
          <p:cNvSpPr/>
          <p:nvPr/>
        </p:nvSpPr>
        <p:spPr>
          <a:xfrm>
            <a:off x="4846320" y="297180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2971800"/>
            <a:ext cx="3566160" cy="201168"/>
          </a:xfrm>
          <a:prstGeom prst="rect">
            <a:avLst/>
          </a:prstGeom>
          <a:noFill/>
        </p:spPr>
        <p:txBody>
          <a:bodyPr wrap="square" anchor="t"/>
          <a:lstStyle/>
          <a:p>
            <a:pPr algn="l">
              <a:defRPr sz="1100" b="0">
                <a:solidFill>
                  <a:srgbClr val="333333"/>
                </a:solidFill>
                <a:latin typeface="Consolas"/>
              </a:defRPr>
            </a:pPr>
            <a:r>
              <a:t>subsystem_inventory</a:t>
            </a:r>
          </a:p>
        </p:txBody>
      </p:sp>
      <p:sp>
        <p:nvSpPr>
          <p:cNvPr id="28" name="Rectangle 27"/>
          <p:cNvSpPr/>
          <p:nvPr/>
        </p:nvSpPr>
        <p:spPr>
          <a:xfrm>
            <a:off x="4846320" y="322783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3227832"/>
            <a:ext cx="3566160" cy="201168"/>
          </a:xfrm>
          <a:prstGeom prst="rect">
            <a:avLst/>
          </a:prstGeom>
          <a:noFill/>
        </p:spPr>
        <p:txBody>
          <a:bodyPr wrap="square" anchor="t"/>
          <a:lstStyle/>
          <a:p>
            <a:pPr algn="l">
              <a:defRPr sz="1100" b="0">
                <a:solidFill>
                  <a:srgbClr val="333333"/>
                </a:solidFill>
                <a:latin typeface="Consolas"/>
              </a:defRPr>
            </a:pPr>
            <a:r>
              <a:t>policy_guidance_matches</a:t>
            </a:r>
          </a:p>
        </p:txBody>
      </p:sp>
      <p:sp>
        <p:nvSpPr>
          <p:cNvPr id="30" name="Rectangle 29"/>
          <p:cNvSpPr/>
          <p:nvPr/>
        </p:nvSpPr>
        <p:spPr>
          <a:xfrm>
            <a:off x="4846320" y="348386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0" y="3483864"/>
            <a:ext cx="3566160" cy="201168"/>
          </a:xfrm>
          <a:prstGeom prst="rect">
            <a:avLst/>
          </a:prstGeom>
          <a:noFill/>
        </p:spPr>
        <p:txBody>
          <a:bodyPr wrap="square" anchor="t"/>
          <a:lstStyle/>
          <a:p>
            <a:pPr algn="l">
              <a:defRPr sz="1100" b="0">
                <a:solidFill>
                  <a:srgbClr val="333333"/>
                </a:solidFill>
                <a:latin typeface="Consolas"/>
              </a:defRPr>
            </a:pPr>
            <a:r>
              <a:t>buyer_recommendation_table</a:t>
            </a:r>
          </a:p>
        </p:txBody>
      </p:sp>
      <p:sp>
        <p:nvSpPr>
          <p:cNvPr id="32" name="Rectangle 31"/>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931920"/>
            <a:ext cx="7680960" cy="320040"/>
          </a:xfrm>
          <a:prstGeom prst="rect">
            <a:avLst/>
          </a:prstGeom>
          <a:noFill/>
        </p:spPr>
        <p:txBody>
          <a:bodyPr wrap="square" anchor="t"/>
          <a:lstStyle/>
          <a:p>
            <a:pPr algn="l">
              <a:defRPr sz="1200" b="1">
                <a:solidFill>
                  <a:srgbClr val="0097A7"/>
                </a:solidFill>
                <a:latin typeface="Arial"/>
              </a:defRPr>
            </a:pPr>
            <a:r>
              <a:t>DOCUMENT RANKING KEYS</a:t>
            </a:r>
          </a:p>
        </p:txBody>
      </p:sp>
      <p:sp>
        <p:nvSpPr>
          <p:cNvPr id="34" name="TextBox 33"/>
          <p:cNvSpPr txBox="1"/>
          <p:nvPr/>
        </p:nvSpPr>
        <p:spPr>
          <a:xfrm>
            <a:off x="731520" y="4251960"/>
            <a:ext cx="7680960" cy="457200"/>
          </a:xfrm>
          <a:prstGeom prst="rect">
            <a:avLst/>
          </a:prstGeom>
          <a:noFill/>
        </p:spPr>
        <p:txBody>
          <a:bodyPr wrap="square" anchor="t"/>
          <a:lstStyle/>
          <a:p>
            <a:pPr algn="l">
              <a:defRPr sz="1100" b="0">
                <a:solidFill>
                  <a:srgbClr val="CCCCCC"/>
                </a:solidFill>
                <a:latin typeface="Consolas"/>
              </a:defRPr>
            </a:pPr>
            <a:r>
              <a:t>is_meta_document  |  reviewed_relevance  |  matched_facets  |  strong_evidence_count  |  title_path_score  |  seed_hits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Storage &amp; Blob Store (storage/)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Multi-backend blob storage abstraction for documents, artifacts, and signed downloads</a:t>
            </a:r>
          </a:p>
        </p:txBody>
      </p:sp>
      <p:sp>
        <p:nvSpPr>
          <p:cNvPr id="6" name="Rectangle 5"/>
          <p:cNvSpPr/>
          <p:nvPr/>
        </p:nvSpPr>
        <p:spPr>
          <a:xfrm>
            <a:off x="1371600" y="1371600"/>
            <a:ext cx="6400800" cy="18288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1371600"/>
            <a:ext cx="54864" cy="1828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63040"/>
            <a:ext cx="5943600" cy="320040"/>
          </a:xfrm>
          <a:prstGeom prst="rect">
            <a:avLst/>
          </a:prstGeom>
          <a:noFill/>
        </p:spPr>
        <p:txBody>
          <a:bodyPr wrap="square" anchor="t"/>
          <a:lstStyle/>
          <a:p>
            <a:pPr algn="l">
              <a:defRPr sz="1600" b="1">
                <a:solidFill>
                  <a:srgbClr val="FFFFFF"/>
                </a:solidFill>
                <a:latin typeface="Arial"/>
              </a:defRPr>
            </a:pPr>
            <a:r>
              <a:t>BlobRef Dataclass</a:t>
            </a:r>
          </a:p>
        </p:txBody>
      </p:sp>
      <p:sp>
        <p:nvSpPr>
          <p:cNvPr id="9" name="TextBox 8"/>
          <p:cNvSpPr txBox="1"/>
          <p:nvPr/>
        </p:nvSpPr>
        <p:spPr>
          <a:xfrm>
            <a:off x="1737360" y="1874519"/>
            <a:ext cx="2011680" cy="228600"/>
          </a:xfrm>
          <a:prstGeom prst="rect">
            <a:avLst/>
          </a:prstGeom>
          <a:noFill/>
        </p:spPr>
        <p:txBody>
          <a:bodyPr wrap="square" anchor="t"/>
          <a:lstStyle/>
          <a:p>
            <a:pPr algn="l">
              <a:defRPr sz="1200" b="1">
                <a:solidFill>
                  <a:srgbClr val="0097A7"/>
                </a:solidFill>
                <a:latin typeface="Consolas"/>
              </a:defRPr>
            </a:pPr>
            <a:r>
              <a:t>backend</a:t>
            </a:r>
          </a:p>
        </p:txBody>
      </p:sp>
      <p:sp>
        <p:nvSpPr>
          <p:cNvPr id="10" name="TextBox 9"/>
          <p:cNvSpPr txBox="1"/>
          <p:nvPr/>
        </p:nvSpPr>
        <p:spPr>
          <a:xfrm>
            <a:off x="3840480" y="1874519"/>
            <a:ext cx="3657600" cy="228600"/>
          </a:xfrm>
          <a:prstGeom prst="rect">
            <a:avLst/>
          </a:prstGeom>
          <a:noFill/>
        </p:spPr>
        <p:txBody>
          <a:bodyPr wrap="square" anchor="t"/>
          <a:lstStyle/>
          <a:p>
            <a:pPr algn="l">
              <a:defRPr sz="1100" b="0">
                <a:solidFill>
                  <a:srgbClr val="CCCCCC"/>
                </a:solidFill>
                <a:latin typeface="Arial"/>
              </a:defRPr>
            </a:pPr>
            <a:r>
              <a:t>Storage provider (S3, Azure, local)</a:t>
            </a:r>
          </a:p>
        </p:txBody>
      </p:sp>
      <p:sp>
        <p:nvSpPr>
          <p:cNvPr id="11" name="TextBox 10"/>
          <p:cNvSpPr txBox="1"/>
          <p:nvPr/>
        </p:nvSpPr>
        <p:spPr>
          <a:xfrm>
            <a:off x="1737360" y="2148839"/>
            <a:ext cx="2011680" cy="228600"/>
          </a:xfrm>
          <a:prstGeom prst="rect">
            <a:avLst/>
          </a:prstGeom>
          <a:noFill/>
        </p:spPr>
        <p:txBody>
          <a:bodyPr wrap="square" anchor="t"/>
          <a:lstStyle/>
          <a:p>
            <a:pPr algn="l">
              <a:defRPr sz="1200" b="1">
                <a:solidFill>
                  <a:srgbClr val="0097A7"/>
                </a:solidFill>
                <a:latin typeface="Consolas"/>
              </a:defRPr>
            </a:pPr>
            <a:r>
              <a:t>uri</a:t>
            </a:r>
          </a:p>
        </p:txBody>
      </p:sp>
      <p:sp>
        <p:nvSpPr>
          <p:cNvPr id="12" name="TextBox 11"/>
          <p:cNvSpPr txBox="1"/>
          <p:nvPr/>
        </p:nvSpPr>
        <p:spPr>
          <a:xfrm>
            <a:off x="3840480" y="2148839"/>
            <a:ext cx="3657600" cy="228600"/>
          </a:xfrm>
          <a:prstGeom prst="rect">
            <a:avLst/>
          </a:prstGeom>
          <a:noFill/>
        </p:spPr>
        <p:txBody>
          <a:bodyPr wrap="square" anchor="t"/>
          <a:lstStyle/>
          <a:p>
            <a:pPr algn="l">
              <a:defRPr sz="1100" b="0">
                <a:solidFill>
                  <a:srgbClr val="CCCCCC"/>
                </a:solidFill>
                <a:latin typeface="Arial"/>
              </a:defRPr>
            </a:pPr>
            <a:r>
              <a:t>Full resource URI</a:t>
            </a:r>
          </a:p>
        </p:txBody>
      </p:sp>
      <p:sp>
        <p:nvSpPr>
          <p:cNvPr id="13" name="TextBox 12"/>
          <p:cNvSpPr txBox="1"/>
          <p:nvPr/>
        </p:nvSpPr>
        <p:spPr>
          <a:xfrm>
            <a:off x="1737360" y="2423159"/>
            <a:ext cx="2011680" cy="228600"/>
          </a:xfrm>
          <a:prstGeom prst="rect">
            <a:avLst/>
          </a:prstGeom>
          <a:noFill/>
        </p:spPr>
        <p:txBody>
          <a:bodyPr wrap="square" anchor="t"/>
          <a:lstStyle/>
          <a:p>
            <a:pPr algn="l">
              <a:defRPr sz="1200" b="1">
                <a:solidFill>
                  <a:srgbClr val="0097A7"/>
                </a:solidFill>
                <a:latin typeface="Consolas"/>
              </a:defRPr>
            </a:pPr>
            <a:r>
              <a:t>bucket / key</a:t>
            </a:r>
          </a:p>
        </p:txBody>
      </p:sp>
      <p:sp>
        <p:nvSpPr>
          <p:cNvPr id="14" name="TextBox 13"/>
          <p:cNvSpPr txBox="1"/>
          <p:nvPr/>
        </p:nvSpPr>
        <p:spPr>
          <a:xfrm>
            <a:off x="3840480" y="2423159"/>
            <a:ext cx="3657600" cy="228600"/>
          </a:xfrm>
          <a:prstGeom prst="rect">
            <a:avLst/>
          </a:prstGeom>
          <a:noFill/>
        </p:spPr>
        <p:txBody>
          <a:bodyPr wrap="square" anchor="t"/>
          <a:lstStyle/>
          <a:p>
            <a:pPr algn="l">
              <a:defRPr sz="1100" b="0">
                <a:solidFill>
                  <a:srgbClr val="CCCCCC"/>
                </a:solidFill>
                <a:latin typeface="Arial"/>
              </a:defRPr>
            </a:pPr>
            <a:r>
              <a:t>Bucket name + object key</a:t>
            </a:r>
          </a:p>
        </p:txBody>
      </p:sp>
      <p:sp>
        <p:nvSpPr>
          <p:cNvPr id="15" name="TextBox 14"/>
          <p:cNvSpPr txBox="1"/>
          <p:nvPr/>
        </p:nvSpPr>
        <p:spPr>
          <a:xfrm>
            <a:off x="1737360" y="2697479"/>
            <a:ext cx="2011680" cy="228600"/>
          </a:xfrm>
          <a:prstGeom prst="rect">
            <a:avLst/>
          </a:prstGeom>
          <a:noFill/>
        </p:spPr>
        <p:txBody>
          <a:bodyPr wrap="square" anchor="t"/>
          <a:lstStyle/>
          <a:p>
            <a:pPr algn="l">
              <a:defRPr sz="1200" b="1">
                <a:solidFill>
                  <a:srgbClr val="0097A7"/>
                </a:solidFill>
                <a:latin typeface="Consolas"/>
              </a:defRPr>
            </a:pPr>
            <a:r>
              <a:t>etag / sha1</a:t>
            </a:r>
          </a:p>
        </p:txBody>
      </p:sp>
      <p:sp>
        <p:nvSpPr>
          <p:cNvPr id="16" name="TextBox 15"/>
          <p:cNvSpPr txBox="1"/>
          <p:nvPr/>
        </p:nvSpPr>
        <p:spPr>
          <a:xfrm>
            <a:off x="3840480" y="2697479"/>
            <a:ext cx="3657600" cy="228600"/>
          </a:xfrm>
          <a:prstGeom prst="rect">
            <a:avLst/>
          </a:prstGeom>
          <a:noFill/>
        </p:spPr>
        <p:txBody>
          <a:bodyPr wrap="square" anchor="t"/>
          <a:lstStyle/>
          <a:p>
            <a:pPr algn="l">
              <a:defRPr sz="1100" b="0">
                <a:solidFill>
                  <a:srgbClr val="CCCCCC"/>
                </a:solidFill>
                <a:latin typeface="Arial"/>
              </a:defRPr>
            </a:pPr>
            <a:r>
              <a:t>Content integrity hashes</a:t>
            </a:r>
          </a:p>
        </p:txBody>
      </p:sp>
      <p:sp>
        <p:nvSpPr>
          <p:cNvPr id="17" name="TextBox 16"/>
          <p:cNvSpPr txBox="1"/>
          <p:nvPr/>
        </p:nvSpPr>
        <p:spPr>
          <a:xfrm>
            <a:off x="1737360" y="2971799"/>
            <a:ext cx="2011680" cy="228600"/>
          </a:xfrm>
          <a:prstGeom prst="rect">
            <a:avLst/>
          </a:prstGeom>
          <a:noFill/>
        </p:spPr>
        <p:txBody>
          <a:bodyPr wrap="square" anchor="t"/>
          <a:lstStyle/>
          <a:p>
            <a:pPr algn="l">
              <a:defRPr sz="1200" b="1">
                <a:solidFill>
                  <a:srgbClr val="0097A7"/>
                </a:solidFill>
                <a:latin typeface="Consolas"/>
              </a:defRPr>
            </a:pPr>
            <a:r>
              <a:t>size / content_type</a:t>
            </a:r>
          </a:p>
        </p:txBody>
      </p:sp>
      <p:sp>
        <p:nvSpPr>
          <p:cNvPr id="18" name="TextBox 17"/>
          <p:cNvSpPr txBox="1"/>
          <p:nvPr/>
        </p:nvSpPr>
        <p:spPr>
          <a:xfrm>
            <a:off x="3840480" y="2971799"/>
            <a:ext cx="3657600" cy="228600"/>
          </a:xfrm>
          <a:prstGeom prst="rect">
            <a:avLst/>
          </a:prstGeom>
          <a:noFill/>
        </p:spPr>
        <p:txBody>
          <a:bodyPr wrap="square" anchor="t"/>
          <a:lstStyle/>
          <a:p>
            <a:pPr algn="l">
              <a:defRPr sz="1100" b="0">
                <a:solidFill>
                  <a:srgbClr val="CCCCCC"/>
                </a:solidFill>
                <a:latin typeface="Arial"/>
              </a:defRPr>
            </a:pPr>
            <a:r>
              <a:t>Byte size + MIME type</a:t>
            </a:r>
          </a:p>
        </p:txBody>
      </p:sp>
      <p:sp>
        <p:nvSpPr>
          <p:cNvPr id="19" name="Rectangle 18"/>
          <p:cNvSpPr/>
          <p:nvPr/>
        </p:nvSpPr>
        <p:spPr>
          <a:xfrm>
            <a:off x="1371600" y="3520440"/>
            <a:ext cx="2011680" cy="6400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08760" y="3566160"/>
            <a:ext cx="1737360" cy="228600"/>
          </a:xfrm>
          <a:prstGeom prst="rect">
            <a:avLst/>
          </a:prstGeom>
          <a:noFill/>
        </p:spPr>
        <p:txBody>
          <a:bodyPr wrap="square" anchor="t"/>
          <a:lstStyle/>
          <a:p>
            <a:pPr algn="ctr">
              <a:defRPr sz="1300" b="1">
                <a:solidFill>
                  <a:srgbClr val="FFFFFF"/>
                </a:solidFill>
                <a:latin typeface="Arial"/>
              </a:defRPr>
            </a:pPr>
            <a:r>
              <a:t>S3</a:t>
            </a:r>
          </a:p>
        </p:txBody>
      </p:sp>
      <p:sp>
        <p:nvSpPr>
          <p:cNvPr id="21" name="TextBox 20"/>
          <p:cNvSpPr txBox="1"/>
          <p:nvPr/>
        </p:nvSpPr>
        <p:spPr>
          <a:xfrm>
            <a:off x="1508760" y="3822191"/>
            <a:ext cx="1737360" cy="228600"/>
          </a:xfrm>
          <a:prstGeom prst="rect">
            <a:avLst/>
          </a:prstGeom>
          <a:noFill/>
        </p:spPr>
        <p:txBody>
          <a:bodyPr wrap="square" anchor="t"/>
          <a:lstStyle/>
          <a:p>
            <a:pPr algn="ctr">
              <a:defRPr sz="1000" b="0">
                <a:solidFill>
                  <a:srgbClr val="EEEEEE"/>
                </a:solidFill>
                <a:latin typeface="Arial"/>
              </a:defRPr>
            </a:pPr>
            <a:r>
              <a:t>Amazon S3 compatible</a:t>
            </a:r>
          </a:p>
        </p:txBody>
      </p:sp>
      <p:sp>
        <p:nvSpPr>
          <p:cNvPr id="22" name="Rectangle 21"/>
          <p:cNvSpPr/>
          <p:nvPr/>
        </p:nvSpPr>
        <p:spPr>
          <a:xfrm>
            <a:off x="3566160" y="3520440"/>
            <a:ext cx="2011680" cy="64008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3320" y="3566160"/>
            <a:ext cx="1737360" cy="228600"/>
          </a:xfrm>
          <a:prstGeom prst="rect">
            <a:avLst/>
          </a:prstGeom>
          <a:noFill/>
        </p:spPr>
        <p:txBody>
          <a:bodyPr wrap="square" anchor="t"/>
          <a:lstStyle/>
          <a:p>
            <a:pPr algn="ctr">
              <a:defRPr sz="1300" b="1">
                <a:solidFill>
                  <a:srgbClr val="FFFFFF"/>
                </a:solidFill>
                <a:latin typeface="Arial"/>
              </a:defRPr>
            </a:pPr>
            <a:r>
              <a:t>Azure Blob</a:t>
            </a:r>
          </a:p>
        </p:txBody>
      </p:sp>
      <p:sp>
        <p:nvSpPr>
          <p:cNvPr id="24" name="TextBox 23"/>
          <p:cNvSpPr txBox="1"/>
          <p:nvPr/>
        </p:nvSpPr>
        <p:spPr>
          <a:xfrm>
            <a:off x="3703320" y="3822191"/>
            <a:ext cx="1737360" cy="228600"/>
          </a:xfrm>
          <a:prstGeom prst="rect">
            <a:avLst/>
          </a:prstGeom>
          <a:noFill/>
        </p:spPr>
        <p:txBody>
          <a:bodyPr wrap="square" anchor="t"/>
          <a:lstStyle/>
          <a:p>
            <a:pPr algn="ctr">
              <a:defRPr sz="1000" b="0">
                <a:solidFill>
                  <a:srgbClr val="EEEEEE"/>
                </a:solidFill>
                <a:latin typeface="Arial"/>
              </a:defRPr>
            </a:pPr>
            <a:r>
              <a:t>Azure storage accounts</a:t>
            </a:r>
          </a:p>
        </p:txBody>
      </p:sp>
      <p:sp>
        <p:nvSpPr>
          <p:cNvPr id="25" name="Rectangle 24"/>
          <p:cNvSpPr/>
          <p:nvPr/>
        </p:nvSpPr>
        <p:spPr>
          <a:xfrm>
            <a:off x="5760720" y="3520440"/>
            <a:ext cx="2011680" cy="6400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80" y="3566160"/>
            <a:ext cx="1737360" cy="228600"/>
          </a:xfrm>
          <a:prstGeom prst="rect">
            <a:avLst/>
          </a:prstGeom>
          <a:noFill/>
        </p:spPr>
        <p:txBody>
          <a:bodyPr wrap="square" anchor="t"/>
          <a:lstStyle/>
          <a:p>
            <a:pPr algn="ctr">
              <a:defRPr sz="1300" b="1">
                <a:solidFill>
                  <a:srgbClr val="FFFFFF"/>
                </a:solidFill>
                <a:latin typeface="Arial"/>
              </a:defRPr>
            </a:pPr>
            <a:r>
              <a:t>Local FS</a:t>
            </a:r>
          </a:p>
        </p:txBody>
      </p:sp>
      <p:sp>
        <p:nvSpPr>
          <p:cNvPr id="27" name="TextBox 26"/>
          <p:cNvSpPr txBox="1"/>
          <p:nvPr/>
        </p:nvSpPr>
        <p:spPr>
          <a:xfrm>
            <a:off x="5897880" y="3822191"/>
            <a:ext cx="1737360" cy="228600"/>
          </a:xfrm>
          <a:prstGeom prst="rect">
            <a:avLst/>
          </a:prstGeom>
          <a:noFill/>
        </p:spPr>
        <p:txBody>
          <a:bodyPr wrap="square" anchor="t"/>
          <a:lstStyle/>
          <a:p>
            <a:pPr algn="ctr">
              <a:defRPr sz="1000" b="0">
                <a:solidFill>
                  <a:srgbClr val="EEEEEE"/>
                </a:solidFill>
                <a:latin typeface="Arial"/>
              </a:defRPr>
            </a:pPr>
            <a:r>
              <a:t>File-based development</a:t>
            </a:r>
          </a:p>
        </p:txBody>
      </p:sp>
      <p:sp>
        <p:nvSpPr>
          <p:cNvPr id="28" name="TextBox 27"/>
          <p:cNvSpPr txBox="1"/>
          <p:nvPr/>
        </p:nvSpPr>
        <p:spPr>
          <a:xfrm>
            <a:off x="502920" y="4389120"/>
            <a:ext cx="8138160" cy="457200"/>
          </a:xfrm>
          <a:prstGeom prst="rect">
            <a:avLst/>
          </a:prstGeom>
          <a:noFill/>
        </p:spPr>
        <p:txBody>
          <a:bodyPr wrap="square" anchor="t"/>
          <a:lstStyle/>
          <a:p>
            <a:pPr algn="l">
              <a:defRPr sz="1000" b="0">
                <a:solidFill>
                  <a:srgbClr val="888888"/>
                </a:solidFill>
                <a:latin typeface="Arial"/>
              </a:defRPr>
            </a:pPr>
            <a:r>
              <a:t>Used across API for uploaded documents, agent artifacts, and signed downloads (/v1/files/{download_id}). Key sanitization + SHA1 hashing ensure safe, deduplicated storage.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Graph Query Methods &amp; Build Pipeline (graph/)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4 query methods, phased build pipeline, and 2 backend options</a:t>
            </a:r>
          </a:p>
        </p:txBody>
      </p:sp>
      <p:sp>
        <p:nvSpPr>
          <p:cNvPr id="6" name="Rectangle 5"/>
          <p:cNvSpPr/>
          <p:nvPr/>
        </p:nvSpPr>
        <p:spPr>
          <a:xfrm>
            <a:off x="50292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0515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LOCAL</a:t>
            </a:r>
          </a:p>
        </p:txBody>
      </p:sp>
      <p:sp>
        <p:nvSpPr>
          <p:cNvPr id="9" name="TextBox 8"/>
          <p:cNvSpPr txBox="1"/>
          <p:nvPr/>
        </p:nvSpPr>
        <p:spPr>
          <a:xfrm>
            <a:off x="685800" y="1828800"/>
            <a:ext cx="3703319" cy="502920"/>
          </a:xfrm>
          <a:prstGeom prst="rect">
            <a:avLst/>
          </a:prstGeom>
          <a:noFill/>
        </p:spPr>
        <p:txBody>
          <a:bodyPr wrap="square" anchor="t"/>
          <a:lstStyle/>
          <a:p>
            <a:pPr algn="l">
              <a:defRPr sz="1000" b="0">
                <a:solidFill>
                  <a:srgbClr val="CCCCCC"/>
                </a:solidFill>
                <a:latin typeface="Arial"/>
              </a:defRPr>
              <a:lnSpc>
                <a:spcPts val="1800"/>
              </a:lnSpc>
            </a:pPr>
            <a:r>
              <a:t>Entity &amp; relationship queries. Multihop within document clusters. Requires 5 artifacts.</a:t>
            </a:r>
          </a:p>
        </p:txBody>
      </p:sp>
      <p:sp>
        <p:nvSpPr>
          <p:cNvPr id="10" name="Rectangle 9"/>
          <p:cNvSpPr/>
          <p:nvPr/>
        </p:nvSpPr>
        <p:spPr>
          <a:xfrm>
            <a:off x="470916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371600"/>
            <a:ext cx="54864" cy="10515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GLOBAL</a:t>
            </a:r>
          </a:p>
        </p:txBody>
      </p:sp>
      <p:sp>
        <p:nvSpPr>
          <p:cNvPr id="13" name="TextBox 12"/>
          <p:cNvSpPr txBox="1"/>
          <p:nvPr/>
        </p:nvSpPr>
        <p:spPr>
          <a:xfrm>
            <a:off x="4892040" y="1828800"/>
            <a:ext cx="3703319" cy="502920"/>
          </a:xfrm>
          <a:prstGeom prst="rect">
            <a:avLst/>
          </a:prstGeom>
          <a:noFill/>
        </p:spPr>
        <p:txBody>
          <a:bodyPr wrap="square" anchor="t"/>
          <a:lstStyle/>
          <a:p>
            <a:pPr algn="l">
              <a:defRPr sz="1000" b="0">
                <a:solidFill>
                  <a:srgbClr val="CCCCCC"/>
                </a:solidFill>
                <a:latin typeface="Arial"/>
              </a:defRPr>
              <a:lnSpc>
                <a:spcPts val="1800"/>
              </a:lnSpc>
            </a:pPr>
            <a:r>
              <a:t>Corpus-wide summaries and cross-document themes. Requires 3 artifacts.</a:t>
            </a:r>
          </a:p>
        </p:txBody>
      </p:sp>
      <p:sp>
        <p:nvSpPr>
          <p:cNvPr id="14" name="Rectangle 13"/>
          <p:cNvSpPr/>
          <p:nvPr/>
        </p:nvSpPr>
        <p:spPr>
          <a:xfrm>
            <a:off x="50292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606040"/>
            <a:ext cx="54864" cy="105156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697480"/>
            <a:ext cx="3703319" cy="365760"/>
          </a:xfrm>
          <a:prstGeom prst="rect">
            <a:avLst/>
          </a:prstGeom>
          <a:noFill/>
        </p:spPr>
        <p:txBody>
          <a:bodyPr wrap="square" anchor="t"/>
          <a:lstStyle/>
          <a:p>
            <a:pPr algn="l">
              <a:defRPr sz="1300" b="1">
                <a:solidFill>
                  <a:srgbClr val="FFFFFF"/>
                </a:solidFill>
                <a:latin typeface="Arial"/>
              </a:defRPr>
            </a:pPr>
            <a:r>
              <a:t>DRIFT</a:t>
            </a:r>
          </a:p>
        </p:txBody>
      </p:sp>
      <p:sp>
        <p:nvSpPr>
          <p:cNvPr id="17" name="TextBox 16"/>
          <p:cNvSpPr txBox="1"/>
          <p:nvPr/>
        </p:nvSpPr>
        <p:spPr>
          <a:xfrm>
            <a:off x="685800" y="3063240"/>
            <a:ext cx="3703319" cy="502920"/>
          </a:xfrm>
          <a:prstGeom prst="rect">
            <a:avLst/>
          </a:prstGeom>
          <a:noFill/>
        </p:spPr>
        <p:txBody>
          <a:bodyPr wrap="square" anchor="t"/>
          <a:lstStyle/>
          <a:p>
            <a:pPr algn="l">
              <a:defRPr sz="1000" b="0">
                <a:solidFill>
                  <a:srgbClr val="CCCCCC"/>
                </a:solidFill>
                <a:latin typeface="Arial"/>
              </a:defRPr>
              <a:lnSpc>
                <a:spcPts val="1800"/>
              </a:lnSpc>
            </a:pPr>
            <a:r>
              <a:t>Temporal change detection and evolution tracking across rebuilds. 5 artifacts.</a:t>
            </a:r>
          </a:p>
        </p:txBody>
      </p:sp>
      <p:sp>
        <p:nvSpPr>
          <p:cNvPr id="18" name="Rectangle 17"/>
          <p:cNvSpPr/>
          <p:nvPr/>
        </p:nvSpPr>
        <p:spPr>
          <a:xfrm>
            <a:off x="470916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2606040"/>
            <a:ext cx="54864" cy="105156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2697480"/>
            <a:ext cx="3703319" cy="365760"/>
          </a:xfrm>
          <a:prstGeom prst="rect">
            <a:avLst/>
          </a:prstGeom>
          <a:noFill/>
        </p:spPr>
        <p:txBody>
          <a:bodyPr wrap="square" anchor="t"/>
          <a:lstStyle/>
          <a:p>
            <a:pPr algn="l">
              <a:defRPr sz="1300" b="1">
                <a:solidFill>
                  <a:srgbClr val="FFFFFF"/>
                </a:solidFill>
                <a:latin typeface="Arial"/>
              </a:defRPr>
            </a:pPr>
            <a:r>
              <a:t>SQL</a:t>
            </a:r>
          </a:p>
        </p:txBody>
      </p:sp>
      <p:sp>
        <p:nvSpPr>
          <p:cNvPr id="21" name="TextBox 20"/>
          <p:cNvSpPr txBox="1"/>
          <p:nvPr/>
        </p:nvSpPr>
        <p:spPr>
          <a:xfrm>
            <a:off x="4892040" y="3063240"/>
            <a:ext cx="3703319" cy="502920"/>
          </a:xfrm>
          <a:prstGeom prst="rect">
            <a:avLst/>
          </a:prstGeom>
          <a:noFill/>
        </p:spPr>
        <p:txBody>
          <a:bodyPr wrap="square" anchor="t"/>
          <a:lstStyle/>
          <a:p>
            <a:pPr algn="l">
              <a:defRPr sz="1000" b="0">
                <a:solidFill>
                  <a:srgbClr val="CCCCCC"/>
                </a:solidFill>
                <a:latin typeface="Arial"/>
              </a:defRPr>
              <a:lnSpc>
                <a:spcPts val="1800"/>
              </a:lnSpc>
            </a:pPr>
            <a:r>
              <a:t>Structured queries, exact matches, metadata filtering via StructuredSearchAdapter.</a:t>
            </a:r>
          </a:p>
        </p:txBody>
      </p:sp>
      <p:sp>
        <p:nvSpPr>
          <p:cNvPr id="22" name="TextBox 21"/>
          <p:cNvSpPr txBox="1"/>
          <p:nvPr/>
        </p:nvSpPr>
        <p:spPr>
          <a:xfrm>
            <a:off x="502920" y="3931920"/>
            <a:ext cx="8229600" cy="320040"/>
          </a:xfrm>
          <a:prstGeom prst="rect">
            <a:avLst/>
          </a:prstGeom>
          <a:noFill/>
        </p:spPr>
        <p:txBody>
          <a:bodyPr wrap="square" anchor="t"/>
          <a:lstStyle/>
          <a:p>
            <a:pPr algn="l">
              <a:defRPr sz="1200" b="1">
                <a:solidFill>
                  <a:srgbClr val="1B2A4A"/>
                </a:solidFill>
                <a:latin typeface="Arial"/>
              </a:defRPr>
            </a:pPr>
            <a:r>
              <a:t>PHASED BUILD PIPELINE</a:t>
            </a:r>
          </a:p>
        </p:txBody>
      </p:sp>
      <p:sp>
        <p:nvSpPr>
          <p:cNvPr id="23" name="Rectangle 22"/>
          <p:cNvSpPr/>
          <p:nvPr/>
        </p:nvSpPr>
        <p:spPr>
          <a:xfrm>
            <a:off x="50292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343400"/>
            <a:ext cx="2286000" cy="201168"/>
          </a:xfrm>
          <a:prstGeom prst="rect">
            <a:avLst/>
          </a:prstGeom>
          <a:noFill/>
        </p:spPr>
        <p:txBody>
          <a:bodyPr wrap="square" anchor="t"/>
          <a:lstStyle/>
          <a:p>
            <a:pPr algn="l">
              <a:defRPr sz="1100" b="1">
                <a:solidFill>
                  <a:srgbClr val="0097A7"/>
                </a:solidFill>
                <a:latin typeface="Arial"/>
              </a:defRPr>
            </a:pPr>
            <a:r>
              <a:t>Phase 1</a:t>
            </a:r>
          </a:p>
        </p:txBody>
      </p:sp>
      <p:sp>
        <p:nvSpPr>
          <p:cNvPr id="25" name="TextBox 24"/>
          <p:cNvSpPr txBox="1"/>
          <p:nvPr/>
        </p:nvSpPr>
        <p:spPr>
          <a:xfrm>
            <a:off x="640080" y="4572000"/>
            <a:ext cx="2286000" cy="274320"/>
          </a:xfrm>
          <a:prstGeom prst="rect">
            <a:avLst/>
          </a:prstGeom>
          <a:noFill/>
        </p:spPr>
        <p:txBody>
          <a:bodyPr wrap="square" anchor="t"/>
          <a:lstStyle/>
          <a:p>
            <a:pPr algn="l">
              <a:defRPr sz="1000" b="0">
                <a:solidFill>
                  <a:srgbClr val="CCCCCC"/>
                </a:solidFill>
                <a:latin typeface="Arial"/>
              </a:defRPr>
            </a:pPr>
            <a:r>
              <a:t>Entity/Relationship Extraction via LLM</a:t>
            </a:r>
          </a:p>
        </p:txBody>
      </p:sp>
      <p:sp>
        <p:nvSpPr>
          <p:cNvPr id="26" name="Rectangle 25"/>
          <p:cNvSpPr/>
          <p:nvPr/>
        </p:nvSpPr>
        <p:spPr>
          <a:xfrm>
            <a:off x="329184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4343400"/>
            <a:ext cx="2286000" cy="201168"/>
          </a:xfrm>
          <a:prstGeom prst="rect">
            <a:avLst/>
          </a:prstGeom>
          <a:noFill/>
        </p:spPr>
        <p:txBody>
          <a:bodyPr wrap="square" anchor="t"/>
          <a:lstStyle/>
          <a:p>
            <a:pPr algn="l">
              <a:defRPr sz="1100" b="1">
                <a:solidFill>
                  <a:srgbClr val="0097A7"/>
                </a:solidFill>
                <a:latin typeface="Arial"/>
              </a:defRPr>
            </a:pPr>
            <a:r>
              <a:t>Phase 2</a:t>
            </a:r>
          </a:p>
        </p:txBody>
      </p:sp>
      <p:sp>
        <p:nvSpPr>
          <p:cNvPr id="28" name="TextBox 27"/>
          <p:cNvSpPr txBox="1"/>
          <p:nvPr/>
        </p:nvSpPr>
        <p:spPr>
          <a:xfrm>
            <a:off x="3429000" y="4572000"/>
            <a:ext cx="2286000" cy="274320"/>
          </a:xfrm>
          <a:prstGeom prst="rect">
            <a:avLst/>
          </a:prstGeom>
          <a:noFill/>
        </p:spPr>
        <p:txBody>
          <a:bodyPr wrap="square" anchor="t"/>
          <a:lstStyle/>
          <a:p>
            <a:pPr algn="l">
              <a:defRPr sz="1000" b="0">
                <a:solidFill>
                  <a:srgbClr val="CCCCCC"/>
                </a:solidFill>
                <a:latin typeface="Arial"/>
              </a:defRPr>
            </a:pPr>
            <a:r>
              <a:t>Community Detection (native or text-based fallback)</a:t>
            </a:r>
          </a:p>
        </p:txBody>
      </p:sp>
      <p:sp>
        <p:nvSpPr>
          <p:cNvPr id="29" name="Rectangle 28"/>
          <p:cNvSpPr/>
          <p:nvPr/>
        </p:nvSpPr>
        <p:spPr>
          <a:xfrm>
            <a:off x="608076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4343400"/>
            <a:ext cx="2286000" cy="201168"/>
          </a:xfrm>
          <a:prstGeom prst="rect">
            <a:avLst/>
          </a:prstGeom>
          <a:noFill/>
        </p:spPr>
        <p:txBody>
          <a:bodyPr wrap="square" anchor="t"/>
          <a:lstStyle/>
          <a:p>
            <a:pPr algn="l">
              <a:defRPr sz="1100" b="1">
                <a:solidFill>
                  <a:srgbClr val="0097A7"/>
                </a:solidFill>
                <a:latin typeface="Arial"/>
              </a:defRPr>
            </a:pPr>
            <a:r>
              <a:t>Phase 3</a:t>
            </a:r>
          </a:p>
        </p:txBody>
      </p:sp>
      <p:sp>
        <p:nvSpPr>
          <p:cNvPr id="31" name="TextBox 30"/>
          <p:cNvSpPr txBox="1"/>
          <p:nvPr/>
        </p:nvSpPr>
        <p:spPr>
          <a:xfrm>
            <a:off x="6217920" y="4572000"/>
            <a:ext cx="2286000" cy="274320"/>
          </a:xfrm>
          <a:prstGeom prst="rect">
            <a:avLst/>
          </a:prstGeom>
          <a:noFill/>
        </p:spPr>
        <p:txBody>
          <a:bodyPr wrap="square" anchor="t"/>
          <a:lstStyle/>
          <a:p>
            <a:pPr algn="l">
              <a:defRPr sz="1000" b="0">
                <a:solidFill>
                  <a:srgbClr val="CCCCCC"/>
                </a:solidFill>
                <a:latin typeface="Arial"/>
              </a:defRPr>
            </a:pPr>
            <a:r>
              <a:t>Embedding &amp; Indexing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Configuration &amp; Tuning Defaults (config.py)</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300+ configuration variables in config.py with fine-grained subsystem tuning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CONTEXT BUDGET</a:t>
            </a:r>
          </a:p>
        </p:txBody>
      </p:sp>
      <p:sp>
        <p:nvSpPr>
          <p:cNvPr id="7" name="TextBox 6"/>
          <p:cNvSpPr txBox="1"/>
          <p:nvPr/>
        </p:nvSpPr>
        <p:spPr>
          <a:xfrm>
            <a:off x="502920" y="1691640"/>
            <a:ext cx="2377440" cy="201168"/>
          </a:xfrm>
          <a:prstGeom prst="rect">
            <a:avLst/>
          </a:prstGeom>
          <a:noFill/>
        </p:spPr>
        <p:txBody>
          <a:bodyPr wrap="square" anchor="t"/>
          <a:lstStyle/>
          <a:p>
            <a:pPr algn="l">
              <a:defRPr sz="1000" b="0">
                <a:solidFill>
                  <a:srgbClr val="444444"/>
                </a:solidFill>
                <a:latin typeface="Consolas"/>
              </a:defRPr>
            </a:pPr>
            <a:r>
              <a:t>context_window_tokens</a:t>
            </a:r>
          </a:p>
        </p:txBody>
      </p:sp>
      <p:sp>
        <p:nvSpPr>
          <p:cNvPr id="8" name="TextBox 7"/>
          <p:cNvSpPr txBox="1"/>
          <p:nvPr/>
        </p:nvSpPr>
        <p:spPr>
          <a:xfrm>
            <a:off x="2926080" y="1691640"/>
            <a:ext cx="1188720" cy="201168"/>
          </a:xfrm>
          <a:prstGeom prst="rect">
            <a:avLst/>
          </a:prstGeom>
          <a:noFill/>
        </p:spPr>
        <p:txBody>
          <a:bodyPr wrap="square" anchor="t"/>
          <a:lstStyle/>
          <a:p>
            <a:pPr algn="l">
              <a:defRPr sz="1000" b="1">
                <a:solidFill>
                  <a:srgbClr val="0097A7"/>
                </a:solidFill>
                <a:latin typeface="Consolas"/>
              </a:defRPr>
            </a:pPr>
            <a:r>
              <a:t>32,768</a:t>
            </a:r>
          </a:p>
        </p:txBody>
      </p:sp>
      <p:sp>
        <p:nvSpPr>
          <p:cNvPr id="9" name="TextBox 8"/>
          <p:cNvSpPr txBox="1"/>
          <p:nvPr/>
        </p:nvSpPr>
        <p:spPr>
          <a:xfrm>
            <a:off x="502920" y="1947672"/>
            <a:ext cx="2377440" cy="201168"/>
          </a:xfrm>
          <a:prstGeom prst="rect">
            <a:avLst/>
          </a:prstGeom>
          <a:noFill/>
        </p:spPr>
        <p:txBody>
          <a:bodyPr wrap="square" anchor="t"/>
          <a:lstStyle/>
          <a:p>
            <a:pPr algn="l">
              <a:defRPr sz="1000" b="0">
                <a:solidFill>
                  <a:srgbClr val="444444"/>
                </a:solidFill>
                <a:latin typeface="Consolas"/>
              </a:defRPr>
            </a:pPr>
            <a:r>
              <a:t>context_target_ratio</a:t>
            </a:r>
          </a:p>
        </p:txBody>
      </p:sp>
      <p:sp>
        <p:nvSpPr>
          <p:cNvPr id="10" name="TextBox 9"/>
          <p:cNvSpPr txBox="1"/>
          <p:nvPr/>
        </p:nvSpPr>
        <p:spPr>
          <a:xfrm>
            <a:off x="2926080" y="1947672"/>
            <a:ext cx="1188720" cy="201168"/>
          </a:xfrm>
          <a:prstGeom prst="rect">
            <a:avLst/>
          </a:prstGeom>
          <a:noFill/>
        </p:spPr>
        <p:txBody>
          <a:bodyPr wrap="square" anchor="t"/>
          <a:lstStyle/>
          <a:p>
            <a:pPr algn="l">
              <a:defRPr sz="1000" b="1">
                <a:solidFill>
                  <a:srgbClr val="0097A7"/>
                </a:solidFill>
                <a:latin typeface="Consolas"/>
              </a:defRPr>
            </a:pPr>
            <a:r>
              <a:t>0.72</a:t>
            </a:r>
          </a:p>
        </p:txBody>
      </p:sp>
      <p:sp>
        <p:nvSpPr>
          <p:cNvPr id="11" name="TextBox 10"/>
          <p:cNvSpPr txBox="1"/>
          <p:nvPr/>
        </p:nvSpPr>
        <p:spPr>
          <a:xfrm>
            <a:off x="502920" y="2203704"/>
            <a:ext cx="2377440" cy="201168"/>
          </a:xfrm>
          <a:prstGeom prst="rect">
            <a:avLst/>
          </a:prstGeom>
          <a:noFill/>
        </p:spPr>
        <p:txBody>
          <a:bodyPr wrap="square" anchor="t"/>
          <a:lstStyle/>
          <a:p>
            <a:pPr algn="l">
              <a:defRPr sz="1000" b="0">
                <a:solidFill>
                  <a:srgbClr val="444444"/>
                </a:solidFill>
                <a:latin typeface="Consolas"/>
              </a:defRPr>
            </a:pPr>
            <a:r>
              <a:t>autocompact_threshold</a:t>
            </a:r>
          </a:p>
        </p:txBody>
      </p:sp>
      <p:sp>
        <p:nvSpPr>
          <p:cNvPr id="12" name="TextBox 11"/>
          <p:cNvSpPr txBox="1"/>
          <p:nvPr/>
        </p:nvSpPr>
        <p:spPr>
          <a:xfrm>
            <a:off x="2926080" y="2203704"/>
            <a:ext cx="1188720" cy="201168"/>
          </a:xfrm>
          <a:prstGeom prst="rect">
            <a:avLst/>
          </a:prstGeom>
          <a:noFill/>
        </p:spPr>
        <p:txBody>
          <a:bodyPr wrap="square" anchor="t"/>
          <a:lstStyle/>
          <a:p>
            <a:pPr algn="l">
              <a:defRPr sz="1000" b="1">
                <a:solidFill>
                  <a:srgbClr val="0097A7"/>
                </a:solidFill>
                <a:latin typeface="Consolas"/>
              </a:defRPr>
            </a:pPr>
            <a:r>
              <a:t>0.85</a:t>
            </a:r>
          </a:p>
        </p:txBody>
      </p:sp>
      <p:sp>
        <p:nvSpPr>
          <p:cNvPr id="13" name="TextBox 12"/>
          <p:cNvSpPr txBox="1"/>
          <p:nvPr/>
        </p:nvSpPr>
        <p:spPr>
          <a:xfrm>
            <a:off x="502920" y="2459736"/>
            <a:ext cx="2377440" cy="201168"/>
          </a:xfrm>
          <a:prstGeom prst="rect">
            <a:avLst/>
          </a:prstGeom>
          <a:noFill/>
        </p:spPr>
        <p:txBody>
          <a:bodyPr wrap="square" anchor="t"/>
          <a:lstStyle/>
          <a:p>
            <a:pPr algn="l">
              <a:defRPr sz="1000" b="0">
                <a:solidFill>
                  <a:srgbClr val="444444"/>
                </a:solidFill>
                <a:latin typeface="Consolas"/>
              </a:defRPr>
            </a:pPr>
            <a:r>
              <a:t>tool_result_max_tokens</a:t>
            </a:r>
          </a:p>
        </p:txBody>
      </p:sp>
      <p:sp>
        <p:nvSpPr>
          <p:cNvPr id="14" name="TextBox 13"/>
          <p:cNvSpPr txBox="1"/>
          <p:nvPr/>
        </p:nvSpPr>
        <p:spPr>
          <a:xfrm>
            <a:off x="2926080" y="2459736"/>
            <a:ext cx="1188720" cy="201168"/>
          </a:xfrm>
          <a:prstGeom prst="rect">
            <a:avLst/>
          </a:prstGeom>
          <a:noFill/>
        </p:spPr>
        <p:txBody>
          <a:bodyPr wrap="square" anchor="t"/>
          <a:lstStyle/>
          <a:p>
            <a:pPr algn="l">
              <a:defRPr sz="1000" b="1">
                <a:solidFill>
                  <a:srgbClr val="0097A7"/>
                </a:solidFill>
                <a:latin typeface="Consolas"/>
              </a:defRPr>
            </a:pPr>
            <a:r>
              <a:t>2,000</a:t>
            </a:r>
          </a:p>
        </p:txBody>
      </p:sp>
      <p:sp>
        <p:nvSpPr>
          <p:cNvPr id="15" name="TextBox 14"/>
          <p:cNvSpPr txBox="1"/>
          <p:nvPr/>
        </p:nvSpPr>
        <p:spPr>
          <a:xfrm>
            <a:off x="502920" y="2715768"/>
            <a:ext cx="2377440" cy="201168"/>
          </a:xfrm>
          <a:prstGeom prst="rect">
            <a:avLst/>
          </a:prstGeom>
          <a:noFill/>
        </p:spPr>
        <p:txBody>
          <a:bodyPr wrap="square" anchor="t"/>
          <a:lstStyle/>
          <a:p>
            <a:pPr algn="l">
              <a:defRPr sz="1000" b="0">
                <a:solidFill>
                  <a:srgbClr val="444444"/>
                </a:solidFill>
                <a:latin typeface="Consolas"/>
              </a:defRPr>
            </a:pPr>
            <a:r>
              <a:t>tool_results_total</a:t>
            </a:r>
          </a:p>
        </p:txBody>
      </p:sp>
      <p:sp>
        <p:nvSpPr>
          <p:cNvPr id="16" name="TextBox 15"/>
          <p:cNvSpPr txBox="1"/>
          <p:nvPr/>
        </p:nvSpPr>
        <p:spPr>
          <a:xfrm>
            <a:off x="2926080" y="2715768"/>
            <a:ext cx="1188720" cy="201168"/>
          </a:xfrm>
          <a:prstGeom prst="rect">
            <a:avLst/>
          </a:prstGeom>
          <a:noFill/>
        </p:spPr>
        <p:txBody>
          <a:bodyPr wrap="square" anchor="t"/>
          <a:lstStyle/>
          <a:p>
            <a:pPr algn="l">
              <a:defRPr sz="1000" b="1">
                <a:solidFill>
                  <a:srgbClr val="0097A7"/>
                </a:solidFill>
                <a:latin typeface="Consolas"/>
              </a:defRPr>
            </a:pPr>
            <a:r>
              <a:t>8,000</a:t>
            </a:r>
          </a:p>
        </p:txBody>
      </p:sp>
      <p:sp>
        <p:nvSpPr>
          <p:cNvPr id="17" name="TextBox 16"/>
          <p:cNvSpPr txBox="1"/>
          <p:nvPr/>
        </p:nvSpPr>
        <p:spPr>
          <a:xfrm>
            <a:off x="502920" y="2971800"/>
            <a:ext cx="2377440" cy="201168"/>
          </a:xfrm>
          <a:prstGeom prst="rect">
            <a:avLst/>
          </a:prstGeom>
          <a:noFill/>
        </p:spPr>
        <p:txBody>
          <a:bodyPr wrap="square" anchor="t"/>
          <a:lstStyle/>
          <a:p>
            <a:pPr algn="l">
              <a:defRPr sz="1000" b="0">
                <a:solidFill>
                  <a:srgbClr val="444444"/>
                </a:solidFill>
                <a:latin typeface="Consolas"/>
              </a:defRPr>
            </a:pPr>
            <a:r>
              <a:t>microcompact_target</a:t>
            </a:r>
          </a:p>
        </p:txBody>
      </p:sp>
      <p:sp>
        <p:nvSpPr>
          <p:cNvPr id="18" name="TextBox 17"/>
          <p:cNvSpPr txBox="1"/>
          <p:nvPr/>
        </p:nvSpPr>
        <p:spPr>
          <a:xfrm>
            <a:off x="2926080" y="2971800"/>
            <a:ext cx="1188720" cy="201168"/>
          </a:xfrm>
          <a:prstGeom prst="rect">
            <a:avLst/>
          </a:prstGeom>
          <a:noFill/>
        </p:spPr>
        <p:txBody>
          <a:bodyPr wrap="square" anchor="t"/>
          <a:lstStyle/>
          <a:p>
            <a:pPr algn="l">
              <a:defRPr sz="1000" b="1">
                <a:solidFill>
                  <a:srgbClr val="0097A7"/>
                </a:solidFill>
                <a:latin typeface="Consolas"/>
              </a:defRPr>
            </a:pPr>
            <a:r>
              <a:t>2,400</a:t>
            </a:r>
          </a:p>
        </p:txBody>
      </p:sp>
      <p:sp>
        <p:nvSpPr>
          <p:cNvPr id="19" name="TextBox 18"/>
          <p:cNvSpPr txBox="1"/>
          <p:nvPr/>
        </p:nvSpPr>
        <p:spPr>
          <a:xfrm>
            <a:off x="502920" y="3227832"/>
            <a:ext cx="2377440" cy="201168"/>
          </a:xfrm>
          <a:prstGeom prst="rect">
            <a:avLst/>
          </a:prstGeom>
          <a:noFill/>
        </p:spPr>
        <p:txBody>
          <a:bodyPr wrap="square" anchor="t"/>
          <a:lstStyle/>
          <a:p>
            <a:pPr algn="l">
              <a:defRPr sz="1000" b="0">
                <a:solidFill>
                  <a:srgbClr val="444444"/>
                </a:solidFill>
                <a:latin typeface="Consolas"/>
              </a:defRPr>
            </a:pPr>
            <a:r>
              <a:t>compact_recent_msgs</a:t>
            </a:r>
          </a:p>
        </p:txBody>
      </p:sp>
      <p:sp>
        <p:nvSpPr>
          <p:cNvPr id="20" name="TextBox 19"/>
          <p:cNvSpPr txBox="1"/>
          <p:nvPr/>
        </p:nvSpPr>
        <p:spPr>
          <a:xfrm>
            <a:off x="2926080" y="3227832"/>
            <a:ext cx="1188720" cy="201168"/>
          </a:xfrm>
          <a:prstGeom prst="rect">
            <a:avLst/>
          </a:prstGeom>
          <a:noFill/>
        </p:spPr>
        <p:txBody>
          <a:bodyPr wrap="square" anchor="t"/>
          <a:lstStyle/>
          <a:p>
            <a:pPr algn="l">
              <a:defRPr sz="1000" b="1">
                <a:solidFill>
                  <a:srgbClr val="0097A7"/>
                </a:solidFill>
                <a:latin typeface="Consolas"/>
              </a:defRPr>
            </a:pPr>
            <a:r>
              <a:t>12</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WORKER SCHEDULER</a:t>
            </a:r>
          </a:p>
        </p:txBody>
      </p:sp>
      <p:sp>
        <p:nvSpPr>
          <p:cNvPr id="22" name="TextBox 21"/>
          <p:cNvSpPr txBox="1"/>
          <p:nvPr/>
        </p:nvSpPr>
        <p:spPr>
          <a:xfrm>
            <a:off x="4846320" y="1691640"/>
            <a:ext cx="2377440" cy="201168"/>
          </a:xfrm>
          <a:prstGeom prst="rect">
            <a:avLst/>
          </a:prstGeom>
          <a:noFill/>
        </p:spPr>
        <p:txBody>
          <a:bodyPr wrap="square" anchor="t"/>
          <a:lstStyle/>
          <a:p>
            <a:pPr algn="l">
              <a:defRPr sz="1000" b="0">
                <a:solidFill>
                  <a:srgbClr val="444444"/>
                </a:solidFill>
                <a:latin typeface="Consolas"/>
              </a:defRPr>
            </a:pPr>
            <a:r>
              <a:t>max_concurrency</a:t>
            </a:r>
          </a:p>
        </p:txBody>
      </p:sp>
      <p:sp>
        <p:nvSpPr>
          <p:cNvPr id="23" name="TextBox 22"/>
          <p:cNvSpPr txBox="1"/>
          <p:nvPr/>
        </p:nvSpPr>
        <p:spPr>
          <a:xfrm>
            <a:off x="7315200" y="1691640"/>
            <a:ext cx="1188720" cy="201168"/>
          </a:xfrm>
          <a:prstGeom prst="rect">
            <a:avLst/>
          </a:prstGeom>
          <a:noFill/>
        </p:spPr>
        <p:txBody>
          <a:bodyPr wrap="square" anchor="t"/>
          <a:lstStyle/>
          <a:p>
            <a:pPr algn="l">
              <a:defRPr sz="1000" b="1">
                <a:solidFill>
                  <a:srgbClr val="FF9800"/>
                </a:solidFill>
                <a:latin typeface="Consolas"/>
              </a:defRPr>
            </a:pPr>
            <a:r>
              <a:t>6</a:t>
            </a:r>
          </a:p>
        </p:txBody>
      </p:sp>
      <p:sp>
        <p:nvSpPr>
          <p:cNvPr id="24" name="TextBox 23"/>
          <p:cNvSpPr txBox="1"/>
          <p:nvPr/>
        </p:nvSpPr>
        <p:spPr>
          <a:xfrm>
            <a:off x="4846320" y="1947672"/>
            <a:ext cx="2377440" cy="201168"/>
          </a:xfrm>
          <a:prstGeom prst="rect">
            <a:avLst/>
          </a:prstGeom>
          <a:noFill/>
        </p:spPr>
        <p:txBody>
          <a:bodyPr wrap="square" anchor="t"/>
          <a:lstStyle/>
          <a:p>
            <a:pPr algn="l">
              <a:defRPr sz="1000" b="0">
                <a:solidFill>
                  <a:srgbClr val="444444"/>
                </a:solidFill>
                <a:latin typeface="Consolas"/>
              </a:defRPr>
            </a:pPr>
            <a:r>
              <a:t>urgent weight</a:t>
            </a:r>
          </a:p>
        </p:txBody>
      </p:sp>
      <p:sp>
        <p:nvSpPr>
          <p:cNvPr id="25" name="TextBox 24"/>
          <p:cNvSpPr txBox="1"/>
          <p:nvPr/>
        </p:nvSpPr>
        <p:spPr>
          <a:xfrm>
            <a:off x="7315200" y="1947672"/>
            <a:ext cx="1188720" cy="201168"/>
          </a:xfrm>
          <a:prstGeom prst="rect">
            <a:avLst/>
          </a:prstGeom>
          <a:noFill/>
        </p:spPr>
        <p:txBody>
          <a:bodyPr wrap="square" anchor="t"/>
          <a:lstStyle/>
          <a:p>
            <a:pPr algn="l">
              <a:defRPr sz="1000" b="1">
                <a:solidFill>
                  <a:srgbClr val="FF9800"/>
                </a:solidFill>
                <a:latin typeface="Consolas"/>
              </a:defRPr>
            </a:pPr>
            <a:r>
              <a:t>8</a:t>
            </a:r>
          </a:p>
        </p:txBody>
      </p:sp>
      <p:sp>
        <p:nvSpPr>
          <p:cNvPr id="26" name="TextBox 25"/>
          <p:cNvSpPr txBox="1"/>
          <p:nvPr/>
        </p:nvSpPr>
        <p:spPr>
          <a:xfrm>
            <a:off x="4846320" y="2203704"/>
            <a:ext cx="2377440" cy="201168"/>
          </a:xfrm>
          <a:prstGeom prst="rect">
            <a:avLst/>
          </a:prstGeom>
          <a:noFill/>
        </p:spPr>
        <p:txBody>
          <a:bodyPr wrap="square" anchor="t"/>
          <a:lstStyle/>
          <a:p>
            <a:pPr algn="l">
              <a:defRPr sz="1000" b="0">
                <a:solidFill>
                  <a:srgbClr val="444444"/>
                </a:solidFill>
                <a:latin typeface="Consolas"/>
              </a:defRPr>
            </a:pPr>
            <a:r>
              <a:t>interactive weight</a:t>
            </a:r>
          </a:p>
        </p:txBody>
      </p:sp>
      <p:sp>
        <p:nvSpPr>
          <p:cNvPr id="27" name="TextBox 26"/>
          <p:cNvSpPr txBox="1"/>
          <p:nvPr/>
        </p:nvSpPr>
        <p:spPr>
          <a:xfrm>
            <a:off x="7315200" y="2203704"/>
            <a:ext cx="1188720" cy="201168"/>
          </a:xfrm>
          <a:prstGeom prst="rect">
            <a:avLst/>
          </a:prstGeom>
          <a:noFill/>
        </p:spPr>
        <p:txBody>
          <a:bodyPr wrap="square" anchor="t"/>
          <a:lstStyle/>
          <a:p>
            <a:pPr algn="l">
              <a:defRPr sz="1000" b="1">
                <a:solidFill>
                  <a:srgbClr val="FF9800"/>
                </a:solidFill>
                <a:latin typeface="Consolas"/>
              </a:defRPr>
            </a:pPr>
            <a:r>
              <a:t>3</a:t>
            </a:r>
          </a:p>
        </p:txBody>
      </p:sp>
      <p:sp>
        <p:nvSpPr>
          <p:cNvPr id="28" name="TextBox 27"/>
          <p:cNvSpPr txBox="1"/>
          <p:nvPr/>
        </p:nvSpPr>
        <p:spPr>
          <a:xfrm>
            <a:off x="4846320" y="2459736"/>
            <a:ext cx="2377440" cy="201168"/>
          </a:xfrm>
          <a:prstGeom prst="rect">
            <a:avLst/>
          </a:prstGeom>
          <a:noFill/>
        </p:spPr>
        <p:txBody>
          <a:bodyPr wrap="square" anchor="t"/>
          <a:lstStyle/>
          <a:p>
            <a:pPr algn="l">
              <a:defRPr sz="1000" b="0">
                <a:solidFill>
                  <a:srgbClr val="444444"/>
                </a:solidFill>
                <a:latin typeface="Consolas"/>
              </a:defRPr>
            </a:pPr>
            <a:r>
              <a:t>background weight</a:t>
            </a:r>
          </a:p>
        </p:txBody>
      </p:sp>
      <p:sp>
        <p:nvSpPr>
          <p:cNvPr id="29" name="TextBox 28"/>
          <p:cNvSpPr txBox="1"/>
          <p:nvPr/>
        </p:nvSpPr>
        <p:spPr>
          <a:xfrm>
            <a:off x="7315200" y="2459736"/>
            <a:ext cx="1188720" cy="201168"/>
          </a:xfrm>
          <a:prstGeom prst="rect">
            <a:avLst/>
          </a:prstGeom>
          <a:noFill/>
        </p:spPr>
        <p:txBody>
          <a:bodyPr wrap="square" anchor="t"/>
          <a:lstStyle/>
          <a:p>
            <a:pPr algn="l">
              <a:defRPr sz="1000" b="1">
                <a:solidFill>
                  <a:srgbClr val="FF9800"/>
                </a:solidFill>
                <a:latin typeface="Consolas"/>
              </a:defRPr>
            </a:pPr>
            <a:r>
              <a:t>1</a:t>
            </a:r>
          </a:p>
        </p:txBody>
      </p:sp>
      <p:sp>
        <p:nvSpPr>
          <p:cNvPr id="30" name="TextBox 29"/>
          <p:cNvSpPr txBox="1"/>
          <p:nvPr/>
        </p:nvSpPr>
        <p:spPr>
          <a:xfrm>
            <a:off x="4846320" y="2715768"/>
            <a:ext cx="2377440" cy="201168"/>
          </a:xfrm>
          <a:prstGeom prst="rect">
            <a:avLst/>
          </a:prstGeom>
          <a:noFill/>
        </p:spPr>
        <p:txBody>
          <a:bodyPr wrap="square" anchor="t"/>
          <a:lstStyle/>
          <a:p>
            <a:pPr algn="l">
              <a:defRPr sz="1000" b="0">
                <a:solidFill>
                  <a:srgbClr val="444444"/>
                </a:solidFill>
                <a:latin typeface="Consolas"/>
              </a:defRPr>
            </a:pPr>
            <a:r>
              <a:t>budget_tokens/min</a:t>
            </a:r>
          </a:p>
        </p:txBody>
      </p:sp>
      <p:sp>
        <p:nvSpPr>
          <p:cNvPr id="31" name="TextBox 30"/>
          <p:cNvSpPr txBox="1"/>
          <p:nvPr/>
        </p:nvSpPr>
        <p:spPr>
          <a:xfrm>
            <a:off x="7315200" y="2715768"/>
            <a:ext cx="1188720" cy="201168"/>
          </a:xfrm>
          <a:prstGeom prst="rect">
            <a:avLst/>
          </a:prstGeom>
          <a:noFill/>
        </p:spPr>
        <p:txBody>
          <a:bodyPr wrap="square" anchor="t"/>
          <a:lstStyle/>
          <a:p>
            <a:pPr algn="l">
              <a:defRPr sz="1000" b="1">
                <a:solidFill>
                  <a:srgbClr val="FF9800"/>
                </a:solidFill>
                <a:latin typeface="Consolas"/>
              </a:defRPr>
            </a:pPr>
            <a:r>
              <a:t>24,000</a:t>
            </a:r>
          </a:p>
        </p:txBody>
      </p:sp>
      <p:sp>
        <p:nvSpPr>
          <p:cNvPr id="32" name="TextBox 31"/>
          <p:cNvSpPr txBox="1"/>
          <p:nvPr/>
        </p:nvSpPr>
        <p:spPr>
          <a:xfrm>
            <a:off x="4846320" y="2971800"/>
            <a:ext cx="2377440" cy="201168"/>
          </a:xfrm>
          <a:prstGeom prst="rect">
            <a:avLst/>
          </a:prstGeom>
          <a:noFill/>
        </p:spPr>
        <p:txBody>
          <a:bodyPr wrap="square" anchor="t"/>
          <a:lstStyle/>
          <a:p>
            <a:pPr algn="l">
              <a:defRPr sz="1000" b="0">
                <a:solidFill>
                  <a:srgbClr val="444444"/>
                </a:solidFill>
                <a:latin typeface="Consolas"/>
              </a:defRPr>
            </a:pPr>
            <a:r>
              <a:t>burst_tokens</a:t>
            </a:r>
          </a:p>
        </p:txBody>
      </p:sp>
      <p:sp>
        <p:nvSpPr>
          <p:cNvPr id="33" name="TextBox 32"/>
          <p:cNvSpPr txBox="1"/>
          <p:nvPr/>
        </p:nvSpPr>
        <p:spPr>
          <a:xfrm>
            <a:off x="7315200" y="2971800"/>
            <a:ext cx="1188720" cy="201168"/>
          </a:xfrm>
          <a:prstGeom prst="rect">
            <a:avLst/>
          </a:prstGeom>
          <a:noFill/>
        </p:spPr>
        <p:txBody>
          <a:bodyPr wrap="square" anchor="t"/>
          <a:lstStyle/>
          <a:p>
            <a:pPr algn="l">
              <a:defRPr sz="1000" b="1">
                <a:solidFill>
                  <a:srgbClr val="FF9800"/>
                </a:solidFill>
                <a:latin typeface="Consolas"/>
              </a:defRPr>
            </a:pPr>
            <a:r>
              <a:t>48,000</a:t>
            </a:r>
          </a:p>
        </p:txBody>
      </p:sp>
      <p:sp>
        <p:nvSpPr>
          <p:cNvPr id="34" name="TextBox 33"/>
          <p:cNvSpPr txBox="1"/>
          <p:nvPr/>
        </p:nvSpPr>
        <p:spPr>
          <a:xfrm>
            <a:off x="4846320" y="3227832"/>
            <a:ext cx="2377440" cy="201168"/>
          </a:xfrm>
          <a:prstGeom prst="rect">
            <a:avLst/>
          </a:prstGeom>
          <a:noFill/>
        </p:spPr>
        <p:txBody>
          <a:bodyPr wrap="square" anchor="t"/>
          <a:lstStyle/>
          <a:p>
            <a:pPr algn="l">
              <a:defRPr sz="1000" b="0">
                <a:solidFill>
                  <a:srgbClr val="444444"/>
                </a:solidFill>
                <a:latin typeface="Consolas"/>
              </a:defRPr>
            </a:pPr>
            <a:r>
              <a:t>token_cost_factor</a:t>
            </a:r>
          </a:p>
        </p:txBody>
      </p:sp>
      <p:sp>
        <p:nvSpPr>
          <p:cNvPr id="35" name="TextBox 34"/>
          <p:cNvSpPr txBox="1"/>
          <p:nvPr/>
        </p:nvSpPr>
        <p:spPr>
          <a:xfrm>
            <a:off x="7315200" y="3227832"/>
            <a:ext cx="1188720" cy="201168"/>
          </a:xfrm>
          <a:prstGeom prst="rect">
            <a:avLst/>
          </a:prstGeom>
          <a:noFill/>
        </p:spPr>
        <p:txBody>
          <a:bodyPr wrap="square" anchor="t"/>
          <a:lstStyle/>
          <a:p>
            <a:pPr algn="l">
              <a:defRPr sz="1000" b="1">
                <a:solidFill>
                  <a:srgbClr val="FF9800"/>
                </a:solidFill>
                <a:latin typeface="Consolas"/>
              </a:defRPr>
            </a:pPr>
            <a:r>
              <a:t>1.35x</a:t>
            </a:r>
          </a:p>
        </p:txBody>
      </p:sp>
      <p:sp>
        <p:nvSpPr>
          <p:cNvPr id="36" name="Rectangle 35"/>
          <p:cNvSpPr/>
          <p:nvPr/>
        </p:nvSpPr>
        <p:spPr>
          <a:xfrm>
            <a:off x="502920" y="3657600"/>
            <a:ext cx="3931920"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3657600"/>
            <a:ext cx="54864" cy="12344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3749040"/>
            <a:ext cx="3657600" cy="365760"/>
          </a:xfrm>
          <a:prstGeom prst="rect">
            <a:avLst/>
          </a:prstGeom>
          <a:noFill/>
        </p:spPr>
        <p:txBody>
          <a:bodyPr wrap="square" anchor="t"/>
          <a:lstStyle/>
          <a:p>
            <a:pPr algn="l">
              <a:defRPr sz="1200" b="1">
                <a:solidFill>
                  <a:srgbClr val="FFFFFF"/>
                </a:solidFill>
                <a:latin typeface="Arial"/>
              </a:defRPr>
            </a:pPr>
            <a:r>
              <a:t>RAG Defaults</a:t>
            </a:r>
          </a:p>
        </p:txBody>
      </p:sp>
      <p:sp>
        <p:nvSpPr>
          <p:cNvPr id="39" name="TextBox 38"/>
          <p:cNvSpPr txBox="1"/>
          <p:nvPr/>
        </p:nvSpPr>
        <p:spPr>
          <a:xfrm>
            <a:off x="685800" y="4114800"/>
            <a:ext cx="3657600" cy="685800"/>
          </a:xfrm>
          <a:prstGeom prst="rect">
            <a:avLst/>
          </a:prstGeom>
          <a:noFill/>
        </p:spPr>
        <p:txBody>
          <a:bodyPr wrap="square" anchor="t"/>
          <a:lstStyle/>
          <a:p>
            <a:pPr algn="l">
              <a:defRPr sz="1000" b="0">
                <a:solidFill>
                  <a:srgbClr val="CCCCCC"/>
                </a:solidFill>
                <a:latin typeface="Arial"/>
              </a:defRPr>
              <a:lnSpc>
                <a:spcPts val="1800"/>
              </a:lnSpc>
            </a:pPr>
            <a:r>
              <a:t>top_k: 15 (vector + keyword)  |  chunk: 900/150</a:t>
            </a:r>
            <a:br/>
            <a:r>
              <a:t>RRF k=60  |  retries: 2  |  min_evidence: 2</a:t>
            </a:r>
            <a:br/>
            <a:r>
              <a:t>parallel_collection_probes: 4</a:t>
            </a:r>
          </a:p>
        </p:txBody>
      </p:sp>
      <p:sp>
        <p:nvSpPr>
          <p:cNvPr id="40" name="Rectangle 39"/>
          <p:cNvSpPr/>
          <p:nvPr/>
        </p:nvSpPr>
        <p:spPr>
          <a:xfrm>
            <a:off x="4709160" y="3657600"/>
            <a:ext cx="3977639"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09160" y="3657600"/>
            <a:ext cx="54864" cy="12344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2040" y="3749040"/>
            <a:ext cx="3703319" cy="365760"/>
          </a:xfrm>
          <a:prstGeom prst="rect">
            <a:avLst/>
          </a:prstGeom>
          <a:noFill/>
        </p:spPr>
        <p:txBody>
          <a:bodyPr wrap="square" anchor="t"/>
          <a:lstStyle/>
          <a:p>
            <a:pPr algn="l">
              <a:defRPr sz="1200" b="1">
                <a:solidFill>
                  <a:srgbClr val="FFFFFF"/>
                </a:solidFill>
                <a:latin typeface="Arial"/>
              </a:defRPr>
            </a:pPr>
            <a:r>
              <a:t>Memory Defaults</a:t>
            </a:r>
          </a:p>
        </p:txBody>
      </p:sp>
      <p:sp>
        <p:nvSpPr>
          <p:cNvPr id="43" name="TextBox 42"/>
          <p:cNvSpPr txBox="1"/>
          <p:nvPr/>
        </p:nvSpPr>
        <p:spPr>
          <a:xfrm>
            <a:off x="4892040" y="4114800"/>
            <a:ext cx="3703319" cy="685800"/>
          </a:xfrm>
          <a:prstGeom prst="rect">
            <a:avLst/>
          </a:prstGeom>
          <a:noFill/>
        </p:spPr>
        <p:txBody>
          <a:bodyPr wrap="square" anchor="t"/>
          <a:lstStyle/>
          <a:p>
            <a:pPr algn="l">
              <a:defRPr sz="1000" b="0">
                <a:solidFill>
                  <a:srgbClr val="CCCCCC"/>
                </a:solidFill>
                <a:latin typeface="Arial"/>
              </a:defRPr>
              <a:lnSpc>
                <a:spcPts val="1800"/>
              </a:lnSpc>
            </a:pPr>
            <a:r>
              <a:t>top_k: 16  |  budget: 1,600 chars</a:t>
            </a:r>
            <a:br/>
            <a:r>
              <a:t>Modes: shadow / selector / live</a:t>
            </a:r>
            <a:br/>
            <a:r>
              <a:t>5 types: profile, task, decision, constraint, open_loop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Deep RAG &amp; Verification Pipeline (rag/)</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Multi-pass parallel retrieval with automated verification and citation checking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DEEP RAG MODE</a:t>
            </a:r>
          </a:p>
        </p:txBody>
      </p:sp>
      <p:sp>
        <p:nvSpPr>
          <p:cNvPr id="7" name="TextBox 6"/>
          <p:cNvSpPr txBox="1"/>
          <p:nvPr/>
        </p:nvSpPr>
        <p:spPr>
          <a:xfrm>
            <a:off x="502920" y="1691640"/>
            <a:ext cx="1737360" cy="201168"/>
          </a:xfrm>
          <a:prstGeom prst="rect">
            <a:avLst/>
          </a:prstGeom>
          <a:noFill/>
        </p:spPr>
        <p:txBody>
          <a:bodyPr wrap="square" anchor="t"/>
          <a:lstStyle/>
          <a:p>
            <a:pPr algn="l">
              <a:defRPr sz="1000" b="1">
                <a:solidFill>
                  <a:srgbClr val="333333"/>
                </a:solidFill>
                <a:latin typeface="Arial"/>
              </a:defRPr>
            </a:pPr>
            <a:r>
              <a:t>Parallel Lanes:</a:t>
            </a:r>
          </a:p>
        </p:txBody>
      </p:sp>
      <p:sp>
        <p:nvSpPr>
          <p:cNvPr id="8" name="TextBox 7"/>
          <p:cNvSpPr txBox="1"/>
          <p:nvPr/>
        </p:nvSpPr>
        <p:spPr>
          <a:xfrm>
            <a:off x="2286000" y="1691640"/>
            <a:ext cx="2103120" cy="201168"/>
          </a:xfrm>
          <a:prstGeom prst="rect">
            <a:avLst/>
          </a:prstGeom>
          <a:noFill/>
        </p:spPr>
        <p:txBody>
          <a:bodyPr wrap="square" anchor="t"/>
          <a:lstStyle/>
          <a:p>
            <a:pPr algn="l">
              <a:defRPr sz="1000" b="0">
                <a:solidFill>
                  <a:srgbClr val="555555"/>
                </a:solidFill>
                <a:latin typeface="Arial"/>
              </a:defRPr>
            </a:pPr>
            <a:r>
              <a:t>3 concurrent retrieval lanes</a:t>
            </a:r>
          </a:p>
        </p:txBody>
      </p:sp>
      <p:sp>
        <p:nvSpPr>
          <p:cNvPr id="9" name="TextBox 8"/>
          <p:cNvSpPr txBox="1"/>
          <p:nvPr/>
        </p:nvSpPr>
        <p:spPr>
          <a:xfrm>
            <a:off x="502920" y="1965960"/>
            <a:ext cx="1737360" cy="201168"/>
          </a:xfrm>
          <a:prstGeom prst="rect">
            <a:avLst/>
          </a:prstGeom>
          <a:noFill/>
        </p:spPr>
        <p:txBody>
          <a:bodyPr wrap="square" anchor="t"/>
          <a:lstStyle/>
          <a:p>
            <a:pPr algn="l">
              <a:defRPr sz="1000" b="1">
                <a:solidFill>
                  <a:srgbClr val="333333"/>
                </a:solidFill>
                <a:latin typeface="Arial"/>
              </a:defRPr>
            </a:pPr>
            <a:r>
              <a:t>Chunk Threshold:</a:t>
            </a:r>
          </a:p>
        </p:txBody>
      </p:sp>
      <p:sp>
        <p:nvSpPr>
          <p:cNvPr id="10" name="TextBox 9"/>
          <p:cNvSpPr txBox="1"/>
          <p:nvPr/>
        </p:nvSpPr>
        <p:spPr>
          <a:xfrm>
            <a:off x="2286000" y="1965960"/>
            <a:ext cx="2103120" cy="201168"/>
          </a:xfrm>
          <a:prstGeom prst="rect">
            <a:avLst/>
          </a:prstGeom>
          <a:noFill/>
        </p:spPr>
        <p:txBody>
          <a:bodyPr wrap="square" anchor="t"/>
          <a:lstStyle/>
          <a:p>
            <a:pPr algn="l">
              <a:defRPr sz="1000" b="0">
                <a:solidFill>
                  <a:srgbClr val="555555"/>
                </a:solidFill>
                <a:latin typeface="Arial"/>
              </a:defRPr>
            </a:pPr>
            <a:r>
              <a:t>24 chunks trigger full-read mode</a:t>
            </a:r>
          </a:p>
        </p:txBody>
      </p:sp>
      <p:sp>
        <p:nvSpPr>
          <p:cNvPr id="11" name="TextBox 10"/>
          <p:cNvSpPr txBox="1"/>
          <p:nvPr/>
        </p:nvSpPr>
        <p:spPr>
          <a:xfrm>
            <a:off x="502920" y="2240280"/>
            <a:ext cx="1737360" cy="201168"/>
          </a:xfrm>
          <a:prstGeom prst="rect">
            <a:avLst/>
          </a:prstGeom>
          <a:noFill/>
        </p:spPr>
        <p:txBody>
          <a:bodyPr wrap="square" anchor="t"/>
          <a:lstStyle/>
          <a:p>
            <a:pPr algn="l">
              <a:defRPr sz="1000" b="1">
                <a:solidFill>
                  <a:srgbClr val="333333"/>
                </a:solidFill>
                <a:latin typeface="Arial"/>
              </a:defRPr>
            </a:pPr>
            <a:r>
              <a:t>Reflection Rounds:</a:t>
            </a:r>
          </a:p>
        </p:txBody>
      </p:sp>
      <p:sp>
        <p:nvSpPr>
          <p:cNvPr id="12" name="TextBox 11"/>
          <p:cNvSpPr txBox="1"/>
          <p:nvPr/>
        </p:nvSpPr>
        <p:spPr>
          <a:xfrm>
            <a:off x="2286000" y="2240280"/>
            <a:ext cx="2103120" cy="201168"/>
          </a:xfrm>
          <a:prstGeom prst="rect">
            <a:avLst/>
          </a:prstGeom>
          <a:noFill/>
        </p:spPr>
        <p:txBody>
          <a:bodyPr wrap="square" anchor="t"/>
          <a:lstStyle/>
          <a:p>
            <a:pPr algn="l">
              <a:defRPr sz="1000" b="0">
                <a:solidFill>
                  <a:srgbClr val="555555"/>
                </a:solidFill>
                <a:latin typeface="Arial"/>
              </a:defRPr>
            </a:pPr>
            <a:r>
              <a:t>1 sync reflection per pass</a:t>
            </a:r>
          </a:p>
        </p:txBody>
      </p:sp>
      <p:sp>
        <p:nvSpPr>
          <p:cNvPr id="13" name="TextBox 12"/>
          <p:cNvSpPr txBox="1"/>
          <p:nvPr/>
        </p:nvSpPr>
        <p:spPr>
          <a:xfrm>
            <a:off x="502920" y="2514600"/>
            <a:ext cx="1737360" cy="201168"/>
          </a:xfrm>
          <a:prstGeom prst="rect">
            <a:avLst/>
          </a:prstGeom>
          <a:noFill/>
        </p:spPr>
        <p:txBody>
          <a:bodyPr wrap="square" anchor="t"/>
          <a:lstStyle/>
          <a:p>
            <a:pPr algn="l">
              <a:defRPr sz="1000" b="1">
                <a:solidFill>
                  <a:srgbClr val="333333"/>
                </a:solidFill>
                <a:latin typeface="Arial"/>
              </a:defRPr>
            </a:pPr>
            <a:r>
              <a:t>Background Threshold:</a:t>
            </a:r>
          </a:p>
        </p:txBody>
      </p:sp>
      <p:sp>
        <p:nvSpPr>
          <p:cNvPr id="14" name="TextBox 13"/>
          <p:cNvSpPr txBox="1"/>
          <p:nvPr/>
        </p:nvSpPr>
        <p:spPr>
          <a:xfrm>
            <a:off x="2286000" y="2514600"/>
            <a:ext cx="2103120" cy="201168"/>
          </a:xfrm>
          <a:prstGeom prst="rect">
            <a:avLst/>
          </a:prstGeom>
          <a:noFill/>
        </p:spPr>
        <p:txBody>
          <a:bodyPr wrap="square" anchor="t"/>
          <a:lstStyle/>
          <a:p>
            <a:pPr algn="l">
              <a:defRPr sz="1000" b="0">
                <a:solidFill>
                  <a:srgbClr val="555555"/>
                </a:solidFill>
                <a:latin typeface="Arial"/>
              </a:defRPr>
            </a:pPr>
            <a:r>
              <a:t>4+ tasks trigger background mode</a:t>
            </a:r>
          </a:p>
        </p:txBody>
      </p:sp>
      <p:sp>
        <p:nvSpPr>
          <p:cNvPr id="15" name="TextBox 14"/>
          <p:cNvSpPr txBox="1"/>
          <p:nvPr/>
        </p:nvSpPr>
        <p:spPr>
          <a:xfrm>
            <a:off x="502920" y="2788920"/>
            <a:ext cx="1737360" cy="201168"/>
          </a:xfrm>
          <a:prstGeom prst="rect">
            <a:avLst/>
          </a:prstGeom>
          <a:noFill/>
        </p:spPr>
        <p:txBody>
          <a:bodyPr wrap="square" anchor="t"/>
          <a:lstStyle/>
          <a:p>
            <a:pPr algn="l">
              <a:defRPr sz="1000" b="1">
                <a:solidFill>
                  <a:srgbClr val="333333"/>
                </a:solidFill>
                <a:latin typeface="Arial"/>
              </a:defRPr>
            </a:pPr>
            <a:r>
              <a:t>Coverage Goals:</a:t>
            </a:r>
          </a:p>
        </p:txBody>
      </p:sp>
      <p:sp>
        <p:nvSpPr>
          <p:cNvPr id="16" name="TextBox 15"/>
          <p:cNvSpPr txBox="1"/>
          <p:nvPr/>
        </p:nvSpPr>
        <p:spPr>
          <a:xfrm>
            <a:off x="2286000" y="2788920"/>
            <a:ext cx="2103120" cy="201168"/>
          </a:xfrm>
          <a:prstGeom prst="rect">
            <a:avLst/>
          </a:prstGeom>
          <a:noFill/>
        </p:spPr>
        <p:txBody>
          <a:bodyPr wrap="square" anchor="t"/>
          <a:lstStyle/>
          <a:p>
            <a:pPr algn="l">
              <a:defRPr sz="1000" b="0">
                <a:solidFill>
                  <a:srgbClr val="555555"/>
                </a:solidFill>
                <a:latin typeface="Arial"/>
              </a:defRPr>
            </a:pPr>
            <a:r>
              <a:t>corpus_wide, exhaustive, specific</a:t>
            </a:r>
          </a:p>
        </p:txBody>
      </p:sp>
      <p:sp>
        <p:nvSpPr>
          <p:cNvPr id="17" name="TextBox 16"/>
          <p:cNvSpPr txBox="1"/>
          <p:nvPr/>
        </p:nvSpPr>
        <p:spPr>
          <a:xfrm>
            <a:off x="502920" y="3063240"/>
            <a:ext cx="1737360" cy="201168"/>
          </a:xfrm>
          <a:prstGeom prst="rect">
            <a:avLst/>
          </a:prstGeom>
          <a:noFill/>
        </p:spPr>
        <p:txBody>
          <a:bodyPr wrap="square" anchor="t"/>
          <a:lstStyle/>
          <a:p>
            <a:pPr algn="l">
              <a:defRPr sz="1000" b="1">
                <a:solidFill>
                  <a:srgbClr val="333333"/>
                </a:solidFill>
                <a:latin typeface="Arial"/>
              </a:defRPr>
            </a:pPr>
            <a:r>
              <a:t>Result Modes:</a:t>
            </a:r>
          </a:p>
        </p:txBody>
      </p:sp>
      <p:sp>
        <p:nvSpPr>
          <p:cNvPr id="18" name="TextBox 17"/>
          <p:cNvSpPr txBox="1"/>
          <p:nvPr/>
        </p:nvSpPr>
        <p:spPr>
          <a:xfrm>
            <a:off x="2286000" y="3063240"/>
            <a:ext cx="2103120" cy="201168"/>
          </a:xfrm>
          <a:prstGeom prst="rect">
            <a:avLst/>
          </a:prstGeom>
          <a:noFill/>
        </p:spPr>
        <p:txBody>
          <a:bodyPr wrap="square" anchor="t"/>
          <a:lstStyle/>
          <a:p>
            <a:pPr algn="l">
              <a:defRPr sz="1000" b="0">
                <a:solidFill>
                  <a:srgbClr val="555555"/>
                </a:solidFill>
                <a:latin typeface="Arial"/>
              </a:defRPr>
            </a:pPr>
            <a:r>
              <a:t>answer, comparison, inventory</a:t>
            </a:r>
          </a:p>
        </p:txBody>
      </p:sp>
      <p:sp>
        <p:nvSpPr>
          <p:cNvPr id="19" name="TextBox 18"/>
          <p:cNvSpPr txBox="1"/>
          <p:nvPr/>
        </p:nvSpPr>
        <p:spPr>
          <a:xfrm>
            <a:off x="502920" y="3337560"/>
            <a:ext cx="1737360" cy="201168"/>
          </a:xfrm>
          <a:prstGeom prst="rect">
            <a:avLst/>
          </a:prstGeom>
          <a:noFill/>
        </p:spPr>
        <p:txBody>
          <a:bodyPr wrap="square" anchor="t"/>
          <a:lstStyle/>
          <a:p>
            <a:pPr algn="l">
              <a:defRPr sz="1000" b="1">
                <a:solidFill>
                  <a:srgbClr val="333333"/>
                </a:solidFill>
                <a:latin typeface="Arial"/>
              </a:defRPr>
            </a:pPr>
            <a:r>
              <a:t>Search Modes:</a:t>
            </a:r>
          </a:p>
        </p:txBody>
      </p:sp>
      <p:sp>
        <p:nvSpPr>
          <p:cNvPr id="20" name="TextBox 19"/>
          <p:cNvSpPr txBox="1"/>
          <p:nvPr/>
        </p:nvSpPr>
        <p:spPr>
          <a:xfrm>
            <a:off x="2286000" y="3337560"/>
            <a:ext cx="2103120" cy="201168"/>
          </a:xfrm>
          <a:prstGeom prst="rect">
            <a:avLst/>
          </a:prstGeom>
          <a:noFill/>
        </p:spPr>
        <p:txBody>
          <a:bodyPr wrap="square" anchor="t"/>
          <a:lstStyle/>
          <a:p>
            <a:pPr algn="l">
              <a:defRPr sz="1000" b="0">
                <a:solidFill>
                  <a:srgbClr val="555555"/>
                </a:solidFill>
                <a:latin typeface="Arial"/>
              </a:defRPr>
            </a:pPr>
            <a:r>
              <a:t>auto, vector_only, keyword_only, hybrid, none</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EF5350"/>
                </a:solidFill>
                <a:latin typeface="Arial"/>
              </a:defRPr>
            </a:pPr>
            <a:r>
              <a:t>VERIFICATION PIPELINE</a:t>
            </a:r>
          </a:p>
        </p:txBody>
      </p:sp>
      <p:sp>
        <p:nvSpPr>
          <p:cNvPr id="22" name="Oval 21"/>
          <p:cNvSpPr/>
          <p:nvPr/>
        </p:nvSpPr>
        <p:spPr>
          <a:xfrm>
            <a:off x="4846320" y="172821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1691640"/>
            <a:ext cx="3566160" cy="201168"/>
          </a:xfrm>
          <a:prstGeom prst="rect">
            <a:avLst/>
          </a:prstGeom>
          <a:noFill/>
        </p:spPr>
        <p:txBody>
          <a:bodyPr wrap="square" anchor="t"/>
          <a:lstStyle/>
          <a:p>
            <a:pPr algn="l">
              <a:defRPr sz="1100" b="1">
                <a:solidFill>
                  <a:srgbClr val="333333"/>
                </a:solidFill>
                <a:latin typeface="Arial"/>
              </a:defRPr>
            </a:pPr>
            <a:r>
              <a:t>Missed Doc Detection</a:t>
            </a:r>
          </a:p>
        </p:txBody>
      </p:sp>
      <p:sp>
        <p:nvSpPr>
          <p:cNvPr id="24" name="TextBox 23"/>
          <p:cNvSpPr txBox="1"/>
          <p:nvPr/>
        </p:nvSpPr>
        <p:spPr>
          <a:xfrm>
            <a:off x="5074920" y="1892808"/>
            <a:ext cx="3566160" cy="274320"/>
          </a:xfrm>
          <a:prstGeom prst="rect">
            <a:avLst/>
          </a:prstGeom>
          <a:noFill/>
        </p:spPr>
        <p:txBody>
          <a:bodyPr wrap="square" anchor="t"/>
          <a:lstStyle/>
          <a:p>
            <a:pPr algn="l">
              <a:defRPr sz="900" b="0">
                <a:solidFill>
                  <a:srgbClr val="666666"/>
                </a:solidFill>
                <a:latin typeface="Arial"/>
              </a:defRPr>
            </a:pPr>
            <a:r>
              <a:t>Identifies documents that should have been retrieved but weren't</a:t>
            </a:r>
          </a:p>
        </p:txBody>
      </p:sp>
      <p:sp>
        <p:nvSpPr>
          <p:cNvPr id="25" name="Oval 24"/>
          <p:cNvSpPr/>
          <p:nvPr/>
        </p:nvSpPr>
        <p:spPr>
          <a:xfrm>
            <a:off x="4846320" y="223113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74920" y="2194560"/>
            <a:ext cx="3566160" cy="201168"/>
          </a:xfrm>
          <a:prstGeom prst="rect">
            <a:avLst/>
          </a:prstGeom>
          <a:noFill/>
        </p:spPr>
        <p:txBody>
          <a:bodyPr wrap="square" anchor="t"/>
          <a:lstStyle/>
          <a:p>
            <a:pPr algn="l">
              <a:defRPr sz="1100" b="1">
                <a:solidFill>
                  <a:srgbClr val="333333"/>
                </a:solidFill>
                <a:latin typeface="Arial"/>
              </a:defRPr>
            </a:pPr>
            <a:r>
              <a:t>Unsupported Hop Detection</a:t>
            </a:r>
          </a:p>
        </p:txBody>
      </p:sp>
      <p:sp>
        <p:nvSpPr>
          <p:cNvPr id="27" name="TextBox 26"/>
          <p:cNvSpPr txBox="1"/>
          <p:nvPr/>
        </p:nvSpPr>
        <p:spPr>
          <a:xfrm>
            <a:off x="5074920" y="2395728"/>
            <a:ext cx="3566160" cy="274320"/>
          </a:xfrm>
          <a:prstGeom prst="rect">
            <a:avLst/>
          </a:prstGeom>
          <a:noFill/>
        </p:spPr>
        <p:txBody>
          <a:bodyPr wrap="square" anchor="t"/>
          <a:lstStyle/>
          <a:p>
            <a:pPr algn="l">
              <a:defRPr sz="900" b="0">
                <a:solidFill>
                  <a:srgbClr val="666666"/>
                </a:solidFill>
                <a:latin typeface="Arial"/>
              </a:defRPr>
            </a:pPr>
            <a:r>
              <a:t>Flags claims requiring evidence hops the system can't make</a:t>
            </a:r>
          </a:p>
        </p:txBody>
      </p:sp>
      <p:sp>
        <p:nvSpPr>
          <p:cNvPr id="28" name="Oval 27"/>
          <p:cNvSpPr/>
          <p:nvPr/>
        </p:nvSpPr>
        <p:spPr>
          <a:xfrm>
            <a:off x="4846320" y="273405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2697480"/>
            <a:ext cx="3566160" cy="201168"/>
          </a:xfrm>
          <a:prstGeom prst="rect">
            <a:avLst/>
          </a:prstGeom>
          <a:noFill/>
        </p:spPr>
        <p:txBody>
          <a:bodyPr wrap="square" anchor="t"/>
          <a:lstStyle/>
          <a:p>
            <a:pPr algn="l">
              <a:defRPr sz="1100" b="1">
                <a:solidFill>
                  <a:srgbClr val="333333"/>
                </a:solidFill>
                <a:latin typeface="Arial"/>
              </a:defRPr>
            </a:pPr>
            <a:r>
              <a:t>Citation Mismatch</a:t>
            </a:r>
          </a:p>
        </p:txBody>
      </p:sp>
      <p:sp>
        <p:nvSpPr>
          <p:cNvPr id="30" name="TextBox 29"/>
          <p:cNvSpPr txBox="1"/>
          <p:nvPr/>
        </p:nvSpPr>
        <p:spPr>
          <a:xfrm>
            <a:off x="5074920" y="2898648"/>
            <a:ext cx="3566160" cy="274320"/>
          </a:xfrm>
          <a:prstGeom prst="rect">
            <a:avLst/>
          </a:prstGeom>
          <a:noFill/>
        </p:spPr>
        <p:txBody>
          <a:bodyPr wrap="square" anchor="t"/>
          <a:lstStyle/>
          <a:p>
            <a:pPr algn="l">
              <a:defRPr sz="900" b="0">
                <a:solidFill>
                  <a:srgbClr val="666666"/>
                </a:solidFill>
                <a:latin typeface="Arial"/>
              </a:defRPr>
            </a:pPr>
            <a:r>
              <a:t>Checks citation topic/text alignment against source material</a:t>
            </a:r>
          </a:p>
        </p:txBody>
      </p:sp>
      <p:sp>
        <p:nvSpPr>
          <p:cNvPr id="31" name="Oval 30"/>
          <p:cNvSpPr/>
          <p:nvPr/>
        </p:nvSpPr>
        <p:spPr>
          <a:xfrm>
            <a:off x="4846320" y="323697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3200400"/>
            <a:ext cx="3566160" cy="201168"/>
          </a:xfrm>
          <a:prstGeom prst="rect">
            <a:avLst/>
          </a:prstGeom>
          <a:noFill/>
        </p:spPr>
        <p:txBody>
          <a:bodyPr wrap="square" anchor="t"/>
          <a:lstStyle/>
          <a:p>
            <a:pPr algn="l">
              <a:defRPr sz="1100" b="1">
                <a:solidFill>
                  <a:srgbClr val="333333"/>
                </a:solidFill>
                <a:latin typeface="Arial"/>
              </a:defRPr>
            </a:pPr>
            <a:r>
              <a:t>Stale Graph Detection</a:t>
            </a:r>
          </a:p>
        </p:txBody>
      </p:sp>
      <p:sp>
        <p:nvSpPr>
          <p:cNvPr id="33" name="TextBox 32"/>
          <p:cNvSpPr txBox="1"/>
          <p:nvPr/>
        </p:nvSpPr>
        <p:spPr>
          <a:xfrm>
            <a:off x="5074920" y="3401568"/>
            <a:ext cx="3566160" cy="274320"/>
          </a:xfrm>
          <a:prstGeom prst="rect">
            <a:avLst/>
          </a:prstGeom>
          <a:noFill/>
        </p:spPr>
        <p:txBody>
          <a:bodyPr wrap="square" anchor="t"/>
          <a:lstStyle/>
          <a:p>
            <a:pPr algn="l">
              <a:defRPr sz="900" b="0">
                <a:solidFill>
                  <a:srgbClr val="666666"/>
                </a:solidFill>
                <a:latin typeface="Arial"/>
              </a:defRPr>
            </a:pPr>
            <a:r>
              <a:t>Compares graph index age vs. document ingest timestamps</a:t>
            </a:r>
          </a:p>
        </p:txBody>
      </p:sp>
      <p:sp>
        <p:nvSpPr>
          <p:cNvPr id="34" name="Rectangle 33"/>
          <p:cNvSpPr/>
          <p:nvPr/>
        </p:nvSpPr>
        <p:spPr>
          <a:xfrm>
            <a:off x="502920" y="3931920"/>
            <a:ext cx="813816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005072"/>
            <a:ext cx="7680960" cy="274320"/>
          </a:xfrm>
          <a:prstGeom prst="rect">
            <a:avLst/>
          </a:prstGeom>
          <a:noFill/>
        </p:spPr>
        <p:txBody>
          <a:bodyPr wrap="square" anchor="t"/>
          <a:lstStyle/>
          <a:p>
            <a:pPr algn="l">
              <a:defRPr sz="1200" b="1">
                <a:solidFill>
                  <a:srgbClr val="0097A7"/>
                </a:solidFill>
                <a:latin typeface="Arial"/>
              </a:defRPr>
            </a:pPr>
            <a:r>
              <a:t>4-LEVEL RELEVANCE GRADING</a:t>
            </a:r>
          </a:p>
        </p:txBody>
      </p:sp>
      <p:sp>
        <p:nvSpPr>
          <p:cNvPr id="36" name="TextBox 35"/>
          <p:cNvSpPr txBox="1"/>
          <p:nvPr/>
        </p:nvSpPr>
        <p:spPr>
          <a:xfrm>
            <a:off x="731520" y="4297680"/>
            <a:ext cx="7680960" cy="228600"/>
          </a:xfrm>
          <a:prstGeom prst="rect">
            <a:avLst/>
          </a:prstGeom>
          <a:noFill/>
        </p:spPr>
        <p:txBody>
          <a:bodyPr wrap="square" anchor="t"/>
          <a:lstStyle/>
          <a:p>
            <a:pPr algn="ctr">
              <a:defRPr sz="1200" b="0">
                <a:solidFill>
                  <a:srgbClr val="FFFFFF"/>
                </a:solidFill>
                <a:latin typeface="Arial"/>
              </a:defRPr>
            </a:pPr>
            <a:r>
              <a:t>0 = Not Relevant    |    1 = Somewhat    |    2 = Relevant    |    3 = Highly Relevant</a:t>
            </a:r>
          </a:p>
        </p:txBody>
      </p:sp>
      <p:sp>
        <p:nvSpPr>
          <p:cNvPr id="37" name="TextBox 36"/>
          <p:cNvSpPr txBox="1"/>
          <p:nvPr/>
        </p:nvSpPr>
        <p:spPr>
          <a:xfrm>
            <a:off x="731520" y="4572000"/>
            <a:ext cx="7680960" cy="201168"/>
          </a:xfrm>
          <a:prstGeom prst="rect">
            <a:avLst/>
          </a:prstGeom>
          <a:noFill/>
        </p:spPr>
        <p:txBody>
          <a:bodyPr wrap="square" anchor="t"/>
          <a:lstStyle/>
          <a:p>
            <a:pPr algn="ctr">
              <a:defRPr sz="1000" b="0">
                <a:solidFill>
                  <a:srgbClr val="CCCCCC"/>
                </a:solidFill>
                <a:latin typeface="Arial"/>
              </a:defRPr>
            </a:pPr>
            <a:r>
              <a:t>LLM grading (max 12 chunks) with heuristic fallback (term overlap &gt;= 3 tokens = score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Persistence, Observability &amp; Benchmarks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PostgreSQL persistence layer, dedicated observability directory, and benchmark suite</a:t>
            </a:r>
          </a:p>
        </p:txBody>
      </p:sp>
      <p:sp>
        <p:nvSpPr>
          <p:cNvPr id="6" name="Rectangle 5"/>
          <p:cNvSpPr/>
          <p:nvPr/>
        </p:nvSpPr>
        <p:spPr>
          <a:xfrm>
            <a:off x="50292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301752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2286000" cy="274320"/>
          </a:xfrm>
          <a:prstGeom prst="rect">
            <a:avLst/>
          </a:prstGeom>
          <a:noFill/>
        </p:spPr>
        <p:txBody>
          <a:bodyPr wrap="square" anchor="t"/>
          <a:lstStyle/>
          <a:p>
            <a:pPr algn="l">
              <a:defRPr sz="1400" b="1">
                <a:solidFill>
                  <a:srgbClr val="FFFFFF"/>
                </a:solidFill>
                <a:latin typeface="Arial"/>
              </a:defRPr>
            </a:pPr>
            <a:r>
              <a:t>Persistence (persistence/)</a:t>
            </a:r>
          </a:p>
        </p:txBody>
      </p:sp>
      <p:sp>
        <p:nvSpPr>
          <p:cNvPr id="9" name="TextBox 8"/>
          <p:cNvSpPr txBox="1"/>
          <p:nvPr/>
        </p:nvSpPr>
        <p:spPr>
          <a:xfrm>
            <a:off x="731520" y="1828800"/>
            <a:ext cx="2194560" cy="228600"/>
          </a:xfrm>
          <a:prstGeom prst="rect">
            <a:avLst/>
          </a:prstGeom>
          <a:noFill/>
        </p:spPr>
        <p:txBody>
          <a:bodyPr wrap="square" anchor="t"/>
          <a:lstStyle/>
          <a:p>
            <a:pPr algn="l">
              <a:defRPr sz="1000" b="0">
                <a:solidFill>
                  <a:srgbClr val="CCCCCC"/>
                </a:solidFill>
                <a:latin typeface="Arial"/>
              </a:defRPr>
            </a:pPr>
            <a:r>
              <a:t>- PostgreSQL-backed data layer</a:t>
            </a:r>
          </a:p>
        </p:txBody>
      </p:sp>
      <p:sp>
        <p:nvSpPr>
          <p:cNvPr id="10" name="TextBox 9"/>
          <p:cNvSpPr txBox="1"/>
          <p:nvPr/>
        </p:nvSpPr>
        <p:spPr>
          <a:xfrm>
            <a:off x="731520" y="2103120"/>
            <a:ext cx="2194560" cy="228600"/>
          </a:xfrm>
          <a:prstGeom prst="rect">
            <a:avLst/>
          </a:prstGeom>
          <a:noFill/>
        </p:spPr>
        <p:txBody>
          <a:bodyPr wrap="square" anchor="t"/>
          <a:lstStyle/>
          <a:p>
            <a:pPr algn="l">
              <a:defRPr sz="1000" b="0">
                <a:solidFill>
                  <a:srgbClr val="CCCCCC"/>
                </a:solidFill>
                <a:latin typeface="Arial"/>
              </a:defRPr>
            </a:pPr>
            <a:r>
              <a:t>- pgvector for embeddings</a:t>
            </a:r>
          </a:p>
        </p:txBody>
      </p:sp>
      <p:sp>
        <p:nvSpPr>
          <p:cNvPr id="11" name="TextBox 10"/>
          <p:cNvSpPr txBox="1"/>
          <p:nvPr/>
        </p:nvSpPr>
        <p:spPr>
          <a:xfrm>
            <a:off x="731520" y="2377440"/>
            <a:ext cx="2194560" cy="228600"/>
          </a:xfrm>
          <a:prstGeom prst="rect">
            <a:avLst/>
          </a:prstGeom>
          <a:noFill/>
        </p:spPr>
        <p:txBody>
          <a:bodyPr wrap="square" anchor="t"/>
          <a:lstStyle/>
          <a:p>
            <a:pPr algn="l">
              <a:defRPr sz="1000" b="0">
                <a:solidFill>
                  <a:srgbClr val="CCCCCC"/>
                </a:solidFill>
                <a:latin typeface="Arial"/>
              </a:defRPr>
            </a:pPr>
            <a:r>
              <a:t>- Session transcript storage</a:t>
            </a:r>
          </a:p>
        </p:txBody>
      </p:sp>
      <p:sp>
        <p:nvSpPr>
          <p:cNvPr id="12" name="TextBox 11"/>
          <p:cNvSpPr txBox="1"/>
          <p:nvPr/>
        </p:nvSpPr>
        <p:spPr>
          <a:xfrm>
            <a:off x="731520" y="2651760"/>
            <a:ext cx="2194560" cy="228600"/>
          </a:xfrm>
          <a:prstGeom prst="rect">
            <a:avLst/>
          </a:prstGeom>
          <a:noFill/>
        </p:spPr>
        <p:txBody>
          <a:bodyPr wrap="square" anchor="t"/>
          <a:lstStyle/>
          <a:p>
            <a:pPr algn="l">
              <a:defRPr sz="1000" b="0">
                <a:solidFill>
                  <a:srgbClr val="CCCCCC"/>
                </a:solidFill>
                <a:latin typeface="Arial"/>
              </a:defRPr>
            </a:pPr>
            <a:r>
              <a:t>- Job records &amp; results</a:t>
            </a:r>
          </a:p>
        </p:txBody>
      </p:sp>
      <p:sp>
        <p:nvSpPr>
          <p:cNvPr id="13" name="TextBox 12"/>
          <p:cNvSpPr txBox="1"/>
          <p:nvPr/>
        </p:nvSpPr>
        <p:spPr>
          <a:xfrm>
            <a:off x="731520" y="2926080"/>
            <a:ext cx="2194560" cy="228600"/>
          </a:xfrm>
          <a:prstGeom prst="rect">
            <a:avLst/>
          </a:prstGeom>
          <a:noFill/>
        </p:spPr>
        <p:txBody>
          <a:bodyPr wrap="square" anchor="t"/>
          <a:lstStyle/>
          <a:p>
            <a:pPr algn="l">
              <a:defRPr sz="1000" b="0">
                <a:solidFill>
                  <a:srgbClr val="CCCCCC"/>
                </a:solidFill>
                <a:latin typeface="Arial"/>
              </a:defRPr>
            </a:pPr>
            <a:r>
              <a:t>- Tenant/user data isolation</a:t>
            </a:r>
          </a:p>
        </p:txBody>
      </p:sp>
      <p:sp>
        <p:nvSpPr>
          <p:cNvPr id="14" name="TextBox 13"/>
          <p:cNvSpPr txBox="1"/>
          <p:nvPr/>
        </p:nvSpPr>
        <p:spPr>
          <a:xfrm>
            <a:off x="731520" y="3200400"/>
            <a:ext cx="2194560" cy="228600"/>
          </a:xfrm>
          <a:prstGeom prst="rect">
            <a:avLst/>
          </a:prstGeom>
          <a:noFill/>
        </p:spPr>
        <p:txBody>
          <a:bodyPr wrap="square" anchor="t"/>
          <a:lstStyle/>
          <a:p>
            <a:pPr algn="l">
              <a:defRPr sz="1000" b="0">
                <a:solidFill>
                  <a:srgbClr val="CCCCCC"/>
                </a:solidFill>
                <a:latin typeface="Arial"/>
              </a:defRPr>
            </a:pPr>
            <a:r>
              <a:t>- Migration support</a:t>
            </a:r>
          </a:p>
        </p:txBody>
      </p:sp>
      <p:sp>
        <p:nvSpPr>
          <p:cNvPr id="15" name="Rectangle 14"/>
          <p:cNvSpPr/>
          <p:nvPr/>
        </p:nvSpPr>
        <p:spPr>
          <a:xfrm>
            <a:off x="320040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0" y="1371600"/>
            <a:ext cx="54864" cy="30175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463040"/>
            <a:ext cx="2286000" cy="274320"/>
          </a:xfrm>
          <a:prstGeom prst="rect">
            <a:avLst/>
          </a:prstGeom>
          <a:noFill/>
        </p:spPr>
        <p:txBody>
          <a:bodyPr wrap="square" anchor="t"/>
          <a:lstStyle/>
          <a:p>
            <a:pPr algn="l">
              <a:defRPr sz="1400" b="1">
                <a:solidFill>
                  <a:srgbClr val="FFFFFF"/>
                </a:solidFill>
                <a:latin typeface="Arial"/>
              </a:defRPr>
            </a:pPr>
            <a:r>
              <a:t>Observability (observability/)</a:t>
            </a:r>
          </a:p>
        </p:txBody>
      </p:sp>
      <p:sp>
        <p:nvSpPr>
          <p:cNvPr id="18" name="TextBox 17"/>
          <p:cNvSpPr txBox="1"/>
          <p:nvPr/>
        </p:nvSpPr>
        <p:spPr>
          <a:xfrm>
            <a:off x="3429000" y="1828800"/>
            <a:ext cx="2194560" cy="228600"/>
          </a:xfrm>
          <a:prstGeom prst="rect">
            <a:avLst/>
          </a:prstGeom>
          <a:noFill/>
        </p:spPr>
        <p:txBody>
          <a:bodyPr wrap="square" anchor="t"/>
          <a:lstStyle/>
          <a:p>
            <a:pPr algn="l">
              <a:defRPr sz="1000" b="0">
                <a:solidFill>
                  <a:srgbClr val="CCCCCC"/>
                </a:solidFill>
                <a:latin typeface="Arial"/>
              </a:defRPr>
            </a:pPr>
            <a:r>
              <a:t>- LangFuse integration for traces</a:t>
            </a:r>
          </a:p>
        </p:txBody>
      </p:sp>
      <p:sp>
        <p:nvSpPr>
          <p:cNvPr id="19" name="TextBox 18"/>
          <p:cNvSpPr txBox="1"/>
          <p:nvPr/>
        </p:nvSpPr>
        <p:spPr>
          <a:xfrm>
            <a:off x="3429000" y="2103120"/>
            <a:ext cx="2194560" cy="228600"/>
          </a:xfrm>
          <a:prstGeom prst="rect">
            <a:avLst/>
          </a:prstGeom>
          <a:noFill/>
        </p:spPr>
        <p:txBody>
          <a:bodyPr wrap="square" anchor="t"/>
          <a:lstStyle/>
          <a:p>
            <a:pPr algn="l">
              <a:defRPr sz="1000" b="0">
                <a:solidFill>
                  <a:srgbClr val="CCCCCC"/>
                </a:solidFill>
                <a:latin typeface="Arial"/>
              </a:defRPr>
            </a:pPr>
            <a:r>
              <a:t>- Event emission per tool call</a:t>
            </a:r>
          </a:p>
        </p:txBody>
      </p:sp>
      <p:sp>
        <p:nvSpPr>
          <p:cNvPr id="20" name="TextBox 19"/>
          <p:cNvSpPr txBox="1"/>
          <p:nvPr/>
        </p:nvSpPr>
        <p:spPr>
          <a:xfrm>
            <a:off x="3429000" y="2377440"/>
            <a:ext cx="2194560" cy="228600"/>
          </a:xfrm>
          <a:prstGeom prst="rect">
            <a:avLst/>
          </a:prstGeom>
          <a:noFill/>
        </p:spPr>
        <p:txBody>
          <a:bodyPr wrap="square" anchor="t"/>
          <a:lstStyle/>
          <a:p>
            <a:pPr algn="l">
              <a:defRPr sz="1000" b="0">
                <a:solidFill>
                  <a:srgbClr val="CCCCCC"/>
                </a:solidFill>
                <a:latin typeface="Arial"/>
              </a:defRPr>
            </a:pPr>
            <a:r>
              <a:t>- Router decision logging</a:t>
            </a:r>
          </a:p>
        </p:txBody>
      </p:sp>
      <p:sp>
        <p:nvSpPr>
          <p:cNvPr id="21" name="TextBox 20"/>
          <p:cNvSpPr txBox="1"/>
          <p:nvPr/>
        </p:nvSpPr>
        <p:spPr>
          <a:xfrm>
            <a:off x="3429000" y="2651760"/>
            <a:ext cx="2194560" cy="228600"/>
          </a:xfrm>
          <a:prstGeom prst="rect">
            <a:avLst/>
          </a:prstGeom>
          <a:noFill/>
        </p:spPr>
        <p:txBody>
          <a:bodyPr wrap="square" anchor="t"/>
          <a:lstStyle/>
          <a:p>
            <a:pPr algn="l">
              <a:defRPr sz="1000" b="0">
                <a:solidFill>
                  <a:srgbClr val="CCCCCC"/>
                </a:solidFill>
                <a:latin typeface="Arial"/>
              </a:defRPr>
            </a:pPr>
            <a:r>
              <a:t>- Turn-level status tracking</a:t>
            </a:r>
          </a:p>
        </p:txBody>
      </p:sp>
      <p:sp>
        <p:nvSpPr>
          <p:cNvPr id="22" name="TextBox 21"/>
          <p:cNvSpPr txBox="1"/>
          <p:nvPr/>
        </p:nvSpPr>
        <p:spPr>
          <a:xfrm>
            <a:off x="3429000" y="2926080"/>
            <a:ext cx="2194560" cy="228600"/>
          </a:xfrm>
          <a:prstGeom prst="rect">
            <a:avLst/>
          </a:prstGeom>
          <a:noFill/>
        </p:spPr>
        <p:txBody>
          <a:bodyPr wrap="square" anchor="t"/>
          <a:lstStyle/>
          <a:p>
            <a:pPr algn="l">
              <a:defRPr sz="1000" b="0">
                <a:solidFill>
                  <a:srgbClr val="CCCCCC"/>
                </a:solidFill>
                <a:latin typeface="Arial"/>
              </a:defRPr>
            </a:pPr>
            <a:r>
              <a:t>- SSE progress streaming</a:t>
            </a:r>
          </a:p>
        </p:txBody>
      </p:sp>
      <p:sp>
        <p:nvSpPr>
          <p:cNvPr id="23" name="TextBox 22"/>
          <p:cNvSpPr txBox="1"/>
          <p:nvPr/>
        </p:nvSpPr>
        <p:spPr>
          <a:xfrm>
            <a:off x="3429000" y="3200400"/>
            <a:ext cx="2194560" cy="228600"/>
          </a:xfrm>
          <a:prstGeom prst="rect">
            <a:avLst/>
          </a:prstGeom>
          <a:noFill/>
        </p:spPr>
        <p:txBody>
          <a:bodyPr wrap="square" anchor="t"/>
          <a:lstStyle/>
          <a:p>
            <a:pPr algn="l">
              <a:defRPr sz="1000" b="0">
                <a:solidFill>
                  <a:srgbClr val="CCCCCC"/>
                </a:solidFill>
                <a:latin typeface="Arial"/>
              </a:defRPr>
            </a:pPr>
            <a:r>
              <a:t>- events.jsonl audit trail</a:t>
            </a:r>
          </a:p>
        </p:txBody>
      </p:sp>
      <p:sp>
        <p:nvSpPr>
          <p:cNvPr id="24" name="Rectangle 23"/>
          <p:cNvSpPr/>
          <p:nvPr/>
        </p:nvSpPr>
        <p:spPr>
          <a:xfrm>
            <a:off x="589788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97880" y="1371600"/>
            <a:ext cx="54864" cy="301752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0" y="1463040"/>
            <a:ext cx="2286000" cy="274320"/>
          </a:xfrm>
          <a:prstGeom prst="rect">
            <a:avLst/>
          </a:prstGeom>
          <a:noFill/>
        </p:spPr>
        <p:txBody>
          <a:bodyPr wrap="square" anchor="t"/>
          <a:lstStyle/>
          <a:p>
            <a:pPr algn="l">
              <a:defRPr sz="1400" b="1">
                <a:solidFill>
                  <a:srgbClr val="FFFFFF"/>
                </a:solidFill>
                <a:latin typeface="Arial"/>
              </a:defRPr>
            </a:pPr>
            <a:r>
              <a:t>Benchmark (benchmark/)</a:t>
            </a:r>
          </a:p>
        </p:txBody>
      </p:sp>
      <p:sp>
        <p:nvSpPr>
          <p:cNvPr id="27" name="TextBox 26"/>
          <p:cNvSpPr txBox="1"/>
          <p:nvPr/>
        </p:nvSpPr>
        <p:spPr>
          <a:xfrm>
            <a:off x="6126480" y="1828800"/>
            <a:ext cx="2194560" cy="228600"/>
          </a:xfrm>
          <a:prstGeom prst="rect">
            <a:avLst/>
          </a:prstGeom>
          <a:noFill/>
        </p:spPr>
        <p:txBody>
          <a:bodyPr wrap="square" anchor="t"/>
          <a:lstStyle/>
          <a:p>
            <a:pPr algn="l">
              <a:defRPr sz="1000" b="0">
                <a:solidFill>
                  <a:srgbClr val="CCCCCC"/>
                </a:solidFill>
                <a:latin typeface="Arial"/>
              </a:defRPr>
            </a:pPr>
            <a:r>
              <a:t>- Performance benchmarking suite</a:t>
            </a:r>
          </a:p>
        </p:txBody>
      </p:sp>
      <p:sp>
        <p:nvSpPr>
          <p:cNvPr id="28" name="TextBox 27"/>
          <p:cNvSpPr txBox="1"/>
          <p:nvPr/>
        </p:nvSpPr>
        <p:spPr>
          <a:xfrm>
            <a:off x="6126480" y="2103120"/>
            <a:ext cx="2194560" cy="228600"/>
          </a:xfrm>
          <a:prstGeom prst="rect">
            <a:avLst/>
          </a:prstGeom>
          <a:noFill/>
        </p:spPr>
        <p:txBody>
          <a:bodyPr wrap="square" anchor="t"/>
          <a:lstStyle/>
          <a:p>
            <a:pPr algn="l">
              <a:defRPr sz="1000" b="0">
                <a:solidFill>
                  <a:srgbClr val="CCCCCC"/>
                </a:solidFill>
                <a:latin typeface="Arial"/>
              </a:defRPr>
            </a:pPr>
            <a:r>
              <a:t>- Defense RAG test corpus</a:t>
            </a:r>
          </a:p>
        </p:txBody>
      </p:sp>
      <p:sp>
        <p:nvSpPr>
          <p:cNvPr id="29" name="TextBox 28"/>
          <p:cNvSpPr txBox="1"/>
          <p:nvPr/>
        </p:nvSpPr>
        <p:spPr>
          <a:xfrm>
            <a:off x="6126480" y="2377440"/>
            <a:ext cx="2194560" cy="228600"/>
          </a:xfrm>
          <a:prstGeom prst="rect">
            <a:avLst/>
          </a:prstGeom>
          <a:noFill/>
        </p:spPr>
        <p:txBody>
          <a:bodyPr wrap="square" anchor="t"/>
          <a:lstStyle/>
          <a:p>
            <a:pPr algn="l">
              <a:defRPr sz="1000" b="0">
                <a:solidFill>
                  <a:srgbClr val="CCCCCC"/>
                </a:solidFill>
                <a:latin typeface="Arial"/>
              </a:defRPr>
            </a:pPr>
            <a:r>
              <a:t>- Adversarial prompt testing</a:t>
            </a:r>
          </a:p>
        </p:txBody>
      </p:sp>
      <p:sp>
        <p:nvSpPr>
          <p:cNvPr id="30" name="TextBox 29"/>
          <p:cNvSpPr txBox="1"/>
          <p:nvPr/>
        </p:nvSpPr>
        <p:spPr>
          <a:xfrm>
            <a:off x="6126480" y="2651760"/>
            <a:ext cx="2194560" cy="228600"/>
          </a:xfrm>
          <a:prstGeom prst="rect">
            <a:avLst/>
          </a:prstGeom>
          <a:noFill/>
        </p:spPr>
        <p:txBody>
          <a:bodyPr wrap="square" anchor="t"/>
          <a:lstStyle/>
          <a:p>
            <a:pPr algn="l">
              <a:defRPr sz="1000" b="0">
                <a:solidFill>
                  <a:srgbClr val="CCCCCC"/>
                </a:solidFill>
                <a:latin typeface="Arial"/>
              </a:defRPr>
            </a:pPr>
            <a:r>
              <a:t>- Regression detection</a:t>
            </a:r>
          </a:p>
        </p:txBody>
      </p:sp>
      <p:sp>
        <p:nvSpPr>
          <p:cNvPr id="31" name="TextBox 30"/>
          <p:cNvSpPr txBox="1"/>
          <p:nvPr/>
        </p:nvSpPr>
        <p:spPr>
          <a:xfrm>
            <a:off x="6126480" y="2926080"/>
            <a:ext cx="2194560" cy="228600"/>
          </a:xfrm>
          <a:prstGeom prst="rect">
            <a:avLst/>
          </a:prstGeom>
          <a:noFill/>
        </p:spPr>
        <p:txBody>
          <a:bodyPr wrap="square" anchor="t"/>
          <a:lstStyle/>
          <a:p>
            <a:pPr algn="l">
              <a:defRPr sz="1000" b="0">
                <a:solidFill>
                  <a:srgbClr val="CCCCCC"/>
                </a:solidFill>
                <a:latin typeface="Arial"/>
              </a:defRPr>
            </a:pPr>
            <a:r>
              <a:t>- Latency profiling per tool</a:t>
            </a:r>
          </a:p>
        </p:txBody>
      </p:sp>
      <p:sp>
        <p:nvSpPr>
          <p:cNvPr id="32" name="TextBox 31"/>
          <p:cNvSpPr txBox="1"/>
          <p:nvPr/>
        </p:nvSpPr>
        <p:spPr>
          <a:xfrm>
            <a:off x="6126480" y="3200400"/>
            <a:ext cx="2194560" cy="228600"/>
          </a:xfrm>
          <a:prstGeom prst="rect">
            <a:avLst/>
          </a:prstGeom>
          <a:noFill/>
        </p:spPr>
        <p:txBody>
          <a:bodyPr wrap="square" anchor="t"/>
          <a:lstStyle/>
          <a:p>
            <a:pPr algn="l">
              <a:defRPr sz="1000" b="0">
                <a:solidFill>
                  <a:srgbClr val="CCCCCC"/>
                </a:solidFill>
                <a:latin typeface="Arial"/>
              </a:defRPr>
            </a:pPr>
            <a:r>
              <a:t>- Token cost analysis</a:t>
            </a:r>
          </a:p>
        </p:txBody>
      </p:sp>
      <p:sp>
        <p:nvSpPr>
          <p:cNvPr id="33" name="TextBox 32"/>
          <p:cNvSpPr txBox="1"/>
          <p:nvPr/>
        </p:nvSpPr>
        <p:spPr>
          <a:xfrm>
            <a:off x="502920" y="4572000"/>
            <a:ext cx="8138160" cy="365760"/>
          </a:xfrm>
          <a:prstGeom prst="rect">
            <a:avLst/>
          </a:prstGeom>
          <a:noFill/>
        </p:spPr>
        <p:txBody>
          <a:bodyPr wrap="square" anchor="t"/>
          <a:lstStyle/>
          <a:p>
            <a:pPr algn="l">
              <a:defRPr sz="1000" b="0">
                <a:solidFill>
                  <a:srgbClr val="888888"/>
                </a:solidFill>
                <a:latin typeface="Arial"/>
              </a:defRPr>
            </a:pPr>
            <a:r>
              <a:t>Sandbox: 180s timeout, isolated Docker containers. Control Panel Frontend: React/TypeScript (Vite) at /control_panel/.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Repository Structure &amp; Navigation</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Where to find everything — frontend, backend, data, tooling</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(28 packs), prompts/, kb/ (20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Demo Notebook — agentic_system_showcase.ipynb</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Scenario-first interactive walkthrough of the live system. API-driven only — no private imports. Starts the real FastAPI gateway, calls real endpoints, and shows real responses. Ideal for demos and integration testing.</a:t>
            </a:r>
            <a:endParaRPr lang="en-US" sz="1050" dirty="0"/>
          </a:p>
        </p:txBody>
      </p:sp>
      <p:sp>
        <p:nvSpPr>
          <p:cNvPr id="4" name="Shape 2"/>
          <p:cNvSpPr/>
          <p:nvPr/>
        </p:nvSpPr>
        <p:spPr>
          <a:xfrm>
            <a:off x="502920" y="1298448"/>
            <a:ext cx="402336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4023360" cy="320040"/>
          </a:xfrm>
          <a:prstGeom prst="rect">
            <a:avLst/>
          </a:prstGeom>
          <a:solidFill>
            <a:srgbClr val="0097A7"/>
          </a:solidFill>
          <a:ln/>
        </p:spPr>
        <p:txBody>
          <a:bodyPr/>
          <a:lstStyle/>
          <a:p>
            <a:endParaRPr lang="en-US"/>
          </a:p>
        </p:txBody>
      </p:sp>
      <p:sp>
        <p:nvSpPr>
          <p:cNvPr id="6" name="Text 4"/>
          <p:cNvSpPr/>
          <p:nvPr/>
        </p:nvSpPr>
        <p:spPr>
          <a:xfrm>
            <a:off x="612648" y="1325880"/>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Scenarios Demonstrated</a:t>
            </a:r>
            <a:endParaRPr lang="en-US" sz="1200" dirty="0"/>
          </a:p>
        </p:txBody>
      </p:sp>
      <p:sp>
        <p:nvSpPr>
          <p:cNvPr id="7" name="Text 5"/>
          <p:cNvSpPr/>
          <p:nvPr/>
        </p:nvSpPr>
        <p:spPr>
          <a:xfrm>
            <a:off x="612648" y="1682496"/>
            <a:ext cx="380390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Router selection: BASIC vs AGENT 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document Q&amp;A: upload → ingest → query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 analyst: CSV upload → execute_code → artifact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Coordinator: multi-step planning → parallel workers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 facts stored across multiple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 activation → injected behavior change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streaming: real-time progress events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RUN_ADVANCED_DEMOS flag for extended scenarios</a:t>
            </a:r>
            <a:endParaRPr lang="en-US" sz="1000" dirty="0"/>
          </a:p>
        </p:txBody>
      </p:sp>
      <p:sp>
        <p:nvSpPr>
          <p:cNvPr id="8" name="Shape 6"/>
          <p:cNvSpPr/>
          <p:nvPr/>
        </p:nvSpPr>
        <p:spPr>
          <a:xfrm>
            <a:off x="4709160" y="1298448"/>
            <a:ext cx="443484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98448"/>
            <a:ext cx="4434840" cy="320040"/>
          </a:xfrm>
          <a:prstGeom prst="rect">
            <a:avLst/>
          </a:prstGeom>
          <a:solidFill>
            <a:srgbClr val="1B2A4A"/>
          </a:solidFill>
          <a:ln/>
        </p:spPr>
        <p:txBody>
          <a:bodyPr/>
          <a:lstStyle/>
          <a:p>
            <a:endParaRPr lang="en-US"/>
          </a:p>
        </p:txBody>
      </p:sp>
      <p:sp>
        <p:nvSpPr>
          <p:cNvPr id="10" name="Text 8"/>
          <p:cNvSpPr/>
          <p:nvPr/>
        </p:nvSpPr>
        <p:spPr>
          <a:xfrm>
            <a:off x="4818888" y="132588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lib/ Helper Modules</a:t>
            </a:r>
            <a:endParaRPr lang="en-US" sz="1200" dirty="0"/>
          </a:p>
        </p:txBody>
      </p:sp>
      <p:sp>
        <p:nvSpPr>
          <p:cNvPr id="11" name="Text 9"/>
          <p:cNvSpPr/>
          <p:nvPr/>
        </p:nvSpPr>
        <p:spPr>
          <a:xfrm>
            <a:off x="4818888" y="1682496"/>
            <a:ext cx="421538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BackendServerManager — starts FastAPI, waits for /health/live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client wrappers — chat(), upload(), ingest(), skills()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 parser — prints events as they arrive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Job poller — waits for background workers to finish</a:t>
            </a:r>
            <a:endParaRPr lang="en-US" sz="1000" dirty="0"/>
          </a:p>
        </p:txBody>
      </p:sp>
      <p:sp>
        <p:nvSpPr>
          <p:cNvPr id="12" name="Shape 10"/>
          <p:cNvSpPr/>
          <p:nvPr/>
        </p:nvSpPr>
        <p:spPr>
          <a:xfrm>
            <a:off x="4709160" y="2578608"/>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578608"/>
            <a:ext cx="4434840" cy="320040"/>
          </a:xfrm>
          <a:prstGeom prst="rect">
            <a:avLst/>
          </a:prstGeom>
          <a:solidFill>
            <a:srgbClr val="00796B"/>
          </a:solidFill>
          <a:ln/>
        </p:spPr>
        <p:txBody>
          <a:bodyPr/>
          <a:lstStyle/>
          <a:p>
            <a:endParaRPr lang="en-US"/>
          </a:p>
        </p:txBody>
      </p:sp>
      <p:sp>
        <p:nvSpPr>
          <p:cNvPr id="14" name="Text 12"/>
          <p:cNvSpPr/>
          <p:nvPr/>
        </p:nvSpPr>
        <p:spPr>
          <a:xfrm>
            <a:off x="4818888" y="260604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How To Run</a:t>
            </a:r>
            <a:endParaRPr lang="en-US" sz="1200" dirty="0"/>
          </a:p>
        </p:txBody>
      </p:sp>
      <p:sp>
        <p:nvSpPr>
          <p:cNvPr id="15" name="Text 13"/>
          <p:cNvSpPr/>
          <p:nvPr/>
        </p:nvSpPr>
        <p:spPr>
          <a:xfrm>
            <a:off x="4818888" y="2962656"/>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Start docker-compose (postgres + optional ollama)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Set BASE_URL or START_LOCAL_SERVER=True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Run all cells top-to-bottom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4. RUN_ADVANCED_DEMOS=True for full coverage</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new_demo_notebook/agentic_system_showcase.ipynb, new_demo_notebook/lib/server.py, new_demo_notebook/lib/ (API helpers)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20 knowledge base collection directories.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&amp; Deployment — docker-compose.yml + Dockerfile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system is designed for containerized deployment. A multi-stage Dockerfile builds both the React control panel and the Python backend. docker-compose.yml defines 6 services for a complete local stack.</a:t>
            </a:r>
            <a:endParaRPr lang="en-US" sz="1050" dirty="0"/>
          </a:p>
        </p:txBody>
      </p:sp>
      <p:sp>
        <p:nvSpPr>
          <p:cNvPr id="4" name="Shape 2"/>
          <p:cNvSpPr/>
          <p:nvPr/>
        </p:nvSpPr>
        <p:spPr>
          <a:xfrm>
            <a:off x="502920" y="1261872"/>
            <a:ext cx="411480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114800" cy="320040"/>
          </a:xfrm>
          <a:prstGeom prst="rect">
            <a:avLst/>
          </a:prstGeom>
          <a:solidFill>
            <a:srgbClr val="0097A7"/>
          </a:solidFill>
          <a:ln/>
        </p:spPr>
        <p:txBody>
          <a:bodyPr/>
          <a:lstStyle/>
          <a:p>
            <a:endParaRPr lang="en-US"/>
          </a:p>
        </p:txBody>
      </p:sp>
      <p:sp>
        <p:nvSpPr>
          <p:cNvPr id="6" name="Text 4"/>
          <p:cNvSpPr/>
          <p:nvPr/>
        </p:nvSpPr>
        <p:spPr>
          <a:xfrm>
            <a:off x="612648" y="128930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Dockerfile — Multi-Stage Build</a:t>
            </a:r>
            <a:endParaRPr lang="en-US" sz="1200" dirty="0"/>
          </a:p>
        </p:txBody>
      </p:sp>
      <p:sp>
        <p:nvSpPr>
          <p:cNvPr id="7" name="Text 5"/>
          <p:cNvSpPr/>
          <p:nvPr/>
        </p:nvSpPr>
        <p:spPr>
          <a:xfrm>
            <a:off x="612648" y="1645920"/>
            <a:ext cx="389534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1 (node:20): npm install + npm run build in control_panel/
Outputs static files to /app/control_panel/dist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2 (python:3.12): pip install -r requirements.txt.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Copies control_panel/dist from Stage 1.</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Entrypoint: docker/entrypoint.sh</a:t>
            </a:r>
            <a:endParaRPr lang="en-US" sz="1000" dirty="0"/>
          </a:p>
        </p:txBody>
      </p:sp>
      <p:sp>
        <p:nvSpPr>
          <p:cNvPr id="8" name="Shape 6"/>
          <p:cNvSpPr/>
          <p:nvPr/>
        </p:nvSpPr>
        <p:spPr>
          <a:xfrm>
            <a:off x="502920" y="2999232"/>
            <a:ext cx="4114800" cy="9144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502920" y="2999232"/>
            <a:ext cx="4114800" cy="320040"/>
          </a:xfrm>
          <a:prstGeom prst="rect">
            <a:avLst/>
          </a:prstGeom>
          <a:solidFill>
            <a:srgbClr val="00796B"/>
          </a:solidFill>
          <a:ln/>
        </p:spPr>
        <p:txBody>
          <a:bodyPr/>
          <a:lstStyle/>
          <a:p>
            <a:endParaRPr lang="en-US"/>
          </a:p>
        </p:txBody>
      </p:sp>
      <p:sp>
        <p:nvSpPr>
          <p:cNvPr id="10" name="Text 8"/>
          <p:cNvSpPr/>
          <p:nvPr/>
        </p:nvSpPr>
        <p:spPr>
          <a:xfrm>
            <a:off x="612648" y="302666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docker/sandbox.Dockerfile</a:t>
            </a:r>
            <a:endParaRPr lang="en-US" sz="1200" dirty="0"/>
          </a:p>
        </p:txBody>
      </p:sp>
      <p:sp>
        <p:nvSpPr>
          <p:cNvPr id="11" name="Text 9"/>
          <p:cNvSpPr/>
          <p:nvPr/>
        </p:nvSpPr>
        <p:spPr>
          <a:xfrm>
            <a:off x="612648" y="3383280"/>
            <a:ext cx="3895344" cy="4389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Isolated Python 3.12-slim for data analyst execute_code().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network, 512MB RAM, 60s timeout.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Managed by DockerSandboxExecutor at runtime.</a:t>
            </a:r>
            <a:endParaRPr lang="en-US" sz="1000" dirty="0"/>
          </a:p>
        </p:txBody>
      </p:sp>
      <p:sp>
        <p:nvSpPr>
          <p:cNvPr id="12" name="Shape 10"/>
          <p:cNvSpPr/>
          <p:nvPr/>
        </p:nvSpPr>
        <p:spPr>
          <a:xfrm>
            <a:off x="4800600" y="1261872"/>
            <a:ext cx="3840480" cy="292608"/>
          </a:xfrm>
          <a:prstGeom prst="rect">
            <a:avLst/>
          </a:prstGeom>
          <a:solidFill>
            <a:srgbClr val="1B2A4A"/>
          </a:solidFill>
          <a:ln/>
        </p:spPr>
        <p:txBody>
          <a:bodyPr/>
          <a:lstStyle/>
          <a:p>
            <a:endParaRPr lang="en-US"/>
          </a:p>
        </p:txBody>
      </p:sp>
      <p:sp>
        <p:nvSpPr>
          <p:cNvPr id="13" name="Text 11"/>
          <p:cNvSpPr/>
          <p:nvPr/>
        </p:nvSpPr>
        <p:spPr>
          <a:xfrm>
            <a:off x="4873752" y="1261872"/>
            <a:ext cx="3694176"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docker-compose.yml — 6 Services</a:t>
            </a:r>
            <a:endParaRPr lang="en-US" sz="1000" dirty="0"/>
          </a:p>
        </p:txBody>
      </p:sp>
      <p:sp>
        <p:nvSpPr>
          <p:cNvPr id="14" name="Shape 12"/>
          <p:cNvSpPr/>
          <p:nvPr/>
        </p:nvSpPr>
        <p:spPr>
          <a:xfrm>
            <a:off x="4800600" y="1554480"/>
            <a:ext cx="3840480" cy="3200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4892040" y="15544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rag-postgres</a:t>
            </a:r>
            <a:endParaRPr lang="en-US" sz="950" dirty="0"/>
          </a:p>
        </p:txBody>
      </p:sp>
      <p:sp>
        <p:nvSpPr>
          <p:cNvPr id="16" name="Text 14"/>
          <p:cNvSpPr/>
          <p:nvPr/>
        </p:nvSpPr>
        <p:spPr>
          <a:xfrm>
            <a:off x="6355080" y="15544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PostgreSQL + pgvector. Mandatory — no fallback.</a:t>
            </a:r>
            <a:endParaRPr lang="en-US" sz="950" dirty="0"/>
          </a:p>
        </p:txBody>
      </p:sp>
      <p:sp>
        <p:nvSpPr>
          <p:cNvPr id="17" name="Shape 15"/>
          <p:cNvSpPr/>
          <p:nvPr/>
        </p:nvSpPr>
        <p:spPr>
          <a:xfrm>
            <a:off x="4800600" y="1874520"/>
            <a:ext cx="3840480" cy="32004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4892040" y="187452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ollama</a:t>
            </a:r>
            <a:endParaRPr lang="en-US" sz="950" dirty="0"/>
          </a:p>
        </p:txBody>
      </p:sp>
      <p:sp>
        <p:nvSpPr>
          <p:cNvPr id="19" name="Text 17"/>
          <p:cNvSpPr/>
          <p:nvPr/>
        </p:nvSpPr>
        <p:spPr>
          <a:xfrm>
            <a:off x="6355080" y="187452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Local LLM inference (optional). GPU-aware.</a:t>
            </a:r>
            <a:endParaRPr lang="en-US" sz="950" dirty="0"/>
          </a:p>
        </p:txBody>
      </p:sp>
      <p:sp>
        <p:nvSpPr>
          <p:cNvPr id="20" name="Shape 18"/>
          <p:cNvSpPr/>
          <p:nvPr/>
        </p:nvSpPr>
        <p:spPr>
          <a:xfrm>
            <a:off x="4800600" y="2194560"/>
            <a:ext cx="3840480" cy="32004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4892040" y="219456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app</a:t>
            </a:r>
            <a:endParaRPr lang="en-US" sz="950" dirty="0"/>
          </a:p>
        </p:txBody>
      </p:sp>
      <p:sp>
        <p:nvSpPr>
          <p:cNvPr id="22" name="Text 20"/>
          <p:cNvSpPr/>
          <p:nvPr/>
        </p:nvSpPr>
        <p:spPr>
          <a:xfrm>
            <a:off x="6355080" y="219456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Main Python FastAPI backend. Binds :8000.</a:t>
            </a:r>
            <a:endParaRPr lang="en-US" sz="950" dirty="0"/>
          </a:p>
        </p:txBody>
      </p:sp>
      <p:sp>
        <p:nvSpPr>
          <p:cNvPr id="23" name="Shape 21"/>
          <p:cNvSpPr/>
          <p:nvPr/>
        </p:nvSpPr>
        <p:spPr>
          <a:xfrm>
            <a:off x="4800600" y="2514600"/>
            <a:ext cx="3840480" cy="32004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892040" y="251460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a:t>
            </a:r>
            <a:endParaRPr lang="en-US" sz="950" dirty="0"/>
          </a:p>
        </p:txBody>
      </p:sp>
      <p:sp>
        <p:nvSpPr>
          <p:cNvPr id="25" name="Text 23"/>
          <p:cNvSpPr/>
          <p:nvPr/>
        </p:nvSpPr>
        <p:spPr>
          <a:xfrm>
            <a:off x="6355080" y="251460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Chat UI wrapper (v0.8.6). Proxies to app.</a:t>
            </a:r>
            <a:endParaRPr lang="en-US" sz="950" dirty="0"/>
          </a:p>
        </p:txBody>
      </p:sp>
      <p:sp>
        <p:nvSpPr>
          <p:cNvPr id="26" name="Shape 24"/>
          <p:cNvSpPr/>
          <p:nvPr/>
        </p:nvSpPr>
        <p:spPr>
          <a:xfrm>
            <a:off x="4800600" y="2834640"/>
            <a:ext cx="3840480" cy="3200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4892040" y="283464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openwebui-bootstrap</a:t>
            </a:r>
            <a:endParaRPr lang="en-US" sz="950" dirty="0"/>
          </a:p>
        </p:txBody>
      </p:sp>
      <p:sp>
        <p:nvSpPr>
          <p:cNvPr id="28" name="Text 26"/>
          <p:cNvSpPr/>
          <p:nvPr/>
        </p:nvSpPr>
        <p:spPr>
          <a:xfrm>
            <a:off x="6355080" y="283464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One-shot setup of OpenWebUI admin credentials.</a:t>
            </a:r>
            <a:endParaRPr lang="en-US" sz="950" dirty="0"/>
          </a:p>
        </p:txBody>
      </p:sp>
      <p:sp>
        <p:nvSpPr>
          <p:cNvPr id="29" name="Shape 27"/>
          <p:cNvSpPr/>
          <p:nvPr/>
        </p:nvSpPr>
        <p:spPr>
          <a:xfrm>
            <a:off x="4800600" y="3154680"/>
            <a:ext cx="3840480" cy="32004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892040" y="31546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langfuse-web</a:t>
            </a:r>
            <a:endParaRPr lang="en-US" sz="950" dirty="0"/>
          </a:p>
        </p:txBody>
      </p:sp>
      <p:sp>
        <p:nvSpPr>
          <p:cNvPr id="31" name="Text 29"/>
          <p:cNvSpPr/>
          <p:nvPr/>
        </p:nvSpPr>
        <p:spPr>
          <a:xfrm>
            <a:off x="6355080" y="31546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 dashboard (commented out by default).</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Dockerfile (root), docker-compose.yml (root), docker/sandbox.Dockerfile, docker/entrypoint.sh, deployment/openwebui/</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API Gateway</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5-6: FastAPI endpoints and request lifecycle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API Gateway — All 48 Public Endpoints</a:t>
            </a:r>
            <a:endParaRPr lang="en-US" sz="2600" dirty="0"/>
          </a:p>
        </p:txBody>
      </p:sp>
      <p:sp>
        <p:nvSpPr>
          <p:cNvPr id="3" name="Shape 1"/>
          <p:cNvSpPr/>
          <p:nvPr/>
        </p:nvSpPr>
        <p:spPr>
          <a:xfrm>
            <a:off x="502920" y="804672"/>
            <a:ext cx="2423160" cy="162763"/>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04672"/>
            <a:ext cx="23134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Endpoint</a:t>
            </a:r>
            <a:endParaRPr lang="en-US" sz="900" dirty="0"/>
          </a:p>
        </p:txBody>
      </p:sp>
      <p:sp>
        <p:nvSpPr>
          <p:cNvPr id="5" name="Shape 3"/>
          <p:cNvSpPr/>
          <p:nvPr/>
        </p:nvSpPr>
        <p:spPr>
          <a:xfrm>
            <a:off x="2926080" y="804672"/>
            <a:ext cx="594360" cy="162763"/>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980944" y="804672"/>
            <a:ext cx="4846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Method</a:t>
            </a:r>
            <a:endParaRPr lang="en-US" sz="900" dirty="0"/>
          </a:p>
        </p:txBody>
      </p:sp>
      <p:sp>
        <p:nvSpPr>
          <p:cNvPr id="7" name="Shape 5"/>
          <p:cNvSpPr/>
          <p:nvPr/>
        </p:nvSpPr>
        <p:spPr>
          <a:xfrm>
            <a:off x="3520440" y="804672"/>
            <a:ext cx="5577840" cy="162763"/>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3575304" y="804672"/>
            <a:ext cx="546811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Purpose</a:t>
            </a:r>
            <a:endParaRPr lang="en-US" sz="900" dirty="0"/>
          </a:p>
        </p:txBody>
      </p:sp>
      <p:sp>
        <p:nvSpPr>
          <p:cNvPr id="9" name="Shape 7"/>
          <p:cNvSpPr/>
          <p:nvPr/>
        </p:nvSpPr>
        <p:spPr>
          <a:xfrm>
            <a:off x="502920" y="967435"/>
            <a:ext cx="2423160" cy="162763"/>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96743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/v1/chat/completions</a:t>
            </a:r>
            <a:endParaRPr lang="en-US" sz="800" dirty="0"/>
          </a:p>
        </p:txBody>
      </p:sp>
      <p:sp>
        <p:nvSpPr>
          <p:cNvPr id="11" name="Shape 9"/>
          <p:cNvSpPr/>
          <p:nvPr/>
        </p:nvSpPr>
        <p:spPr>
          <a:xfrm>
            <a:off x="2926080" y="967435"/>
            <a:ext cx="594360" cy="162763"/>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80944" y="96743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3" name="Shape 11"/>
          <p:cNvSpPr/>
          <p:nvPr/>
        </p:nvSpPr>
        <p:spPr>
          <a:xfrm>
            <a:off x="3520440" y="967435"/>
            <a:ext cx="5577840" cy="162763"/>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3575304" y="96743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Main chat — OpenAI-compatible. Streams SSE. Model = enterprise-agent</a:t>
            </a:r>
            <a:endParaRPr lang="en-US" sz="800" dirty="0"/>
          </a:p>
        </p:txBody>
      </p:sp>
      <p:sp>
        <p:nvSpPr>
          <p:cNvPr id="15" name="Shape 13"/>
          <p:cNvSpPr/>
          <p:nvPr/>
        </p:nvSpPr>
        <p:spPr>
          <a:xfrm>
            <a:off x="502920" y="1130198"/>
            <a:ext cx="2423160" cy="162763"/>
          </a:xfrm>
          <a:prstGeom prst="rect">
            <a:avLst/>
          </a:prstGeom>
          <a:solidFill>
            <a:srgbClr val="FFF8E1"/>
          </a:solidFill>
          <a:ln w="3810">
            <a:solidFill>
              <a:srgbClr val="F0F0F0"/>
            </a:solidFill>
            <a:prstDash val="solid"/>
          </a:ln>
        </p:spPr>
        <p:txBody>
          <a:bodyPr/>
          <a:lstStyle/>
          <a:p>
            <a:endParaRPr lang="en-US"/>
          </a:p>
        </p:txBody>
      </p:sp>
      <p:sp>
        <p:nvSpPr>
          <p:cNvPr id="16" name="Text 14"/>
          <p:cNvSpPr/>
          <p:nvPr/>
        </p:nvSpPr>
        <p:spPr>
          <a:xfrm>
            <a:off x="557784" y="113019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/v1/connector/chat</a:t>
            </a:r>
            <a:endParaRPr lang="en-US" sz="800" dirty="0"/>
          </a:p>
        </p:txBody>
      </p:sp>
      <p:sp>
        <p:nvSpPr>
          <p:cNvPr id="17" name="Shape 15"/>
          <p:cNvSpPr/>
          <p:nvPr/>
        </p:nvSpPr>
        <p:spPr>
          <a:xfrm>
            <a:off x="2926080" y="1130198"/>
            <a:ext cx="594360" cy="162763"/>
          </a:xfrm>
          <a:prstGeom prst="rect">
            <a:avLst/>
          </a:prstGeom>
          <a:solidFill>
            <a:srgbClr val="FFF8E1"/>
          </a:solidFill>
          <a:ln w="3810">
            <a:solidFill>
              <a:srgbClr val="F0F0F0"/>
            </a:solidFill>
            <a:prstDash val="solid"/>
          </a:ln>
        </p:spPr>
        <p:txBody>
          <a:bodyPr/>
          <a:lstStyle/>
          <a:p>
            <a:endParaRPr lang="en-US"/>
          </a:p>
        </p:txBody>
      </p:sp>
      <p:sp>
        <p:nvSpPr>
          <p:cNvPr id="18" name="Text 16"/>
          <p:cNvSpPr/>
          <p:nvPr/>
        </p:nvSpPr>
        <p:spPr>
          <a:xfrm>
            <a:off x="2980944" y="113019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9" name="Shape 17"/>
          <p:cNvSpPr/>
          <p:nvPr/>
        </p:nvSpPr>
        <p:spPr>
          <a:xfrm>
            <a:off x="3520440" y="1130198"/>
            <a:ext cx="5577840" cy="162763"/>
          </a:xfrm>
          <a:prstGeom prst="rect">
            <a:avLst/>
          </a:prstGeom>
          <a:solidFill>
            <a:srgbClr val="FFF8E1"/>
          </a:solidFill>
          <a:ln w="3810">
            <a:solidFill>
              <a:srgbClr val="F0F0F0"/>
            </a:solidFill>
            <a:prstDash val="solid"/>
          </a:ln>
        </p:spPr>
        <p:txBody>
          <a:bodyPr/>
          <a:lstStyle/>
          <a:p>
            <a:endParaRPr lang="en-US"/>
          </a:p>
        </p:txBody>
      </p:sp>
      <p:sp>
        <p:nvSpPr>
          <p:cNvPr id="20" name="Text 18"/>
          <p:cNvSpPr/>
          <p:nvPr/>
        </p:nvSpPr>
        <p:spPr>
          <a:xfrm>
            <a:off x="3575304" y="113019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Connector-mode chat endpoint for third-party integrations (non-SSE)</a:t>
            </a:r>
            <a:endParaRPr lang="en-US" sz="800" dirty="0"/>
          </a:p>
        </p:txBody>
      </p:sp>
      <p:sp>
        <p:nvSpPr>
          <p:cNvPr id="21" name="Shape 19"/>
          <p:cNvSpPr/>
          <p:nvPr/>
        </p:nvSpPr>
        <p:spPr>
          <a:xfrm>
            <a:off x="502920" y="1292962"/>
            <a:ext cx="2423160" cy="162763"/>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2929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/v1/upload</a:t>
            </a:r>
            <a:endParaRPr lang="en-US" sz="800" dirty="0"/>
          </a:p>
        </p:txBody>
      </p:sp>
      <p:sp>
        <p:nvSpPr>
          <p:cNvPr id="23" name="Shape 21"/>
          <p:cNvSpPr/>
          <p:nvPr/>
        </p:nvSpPr>
        <p:spPr>
          <a:xfrm>
            <a:off x="2926080" y="1292962"/>
            <a:ext cx="594360" cy="162763"/>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80944" y="12929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25" name="Shape 23"/>
          <p:cNvSpPr/>
          <p:nvPr/>
        </p:nvSpPr>
        <p:spPr>
          <a:xfrm>
            <a:off x="3520440" y="1292962"/>
            <a:ext cx="5577840" cy="162763"/>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575304" y="12929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Upload files for RAG ingestion (multipart/form-data). Returns upload_id.</a:t>
            </a:r>
            <a:endParaRPr lang="en-US" sz="800" dirty="0"/>
          </a:p>
        </p:txBody>
      </p:sp>
      <p:sp>
        <p:nvSpPr>
          <p:cNvPr id="27" name="Shape 25"/>
          <p:cNvSpPr/>
          <p:nvPr/>
        </p:nvSpPr>
        <p:spPr>
          <a:xfrm>
            <a:off x="502920" y="1455725"/>
            <a:ext cx="2423160" cy="162763"/>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145572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/v1/ingest/documents</a:t>
            </a:r>
            <a:endParaRPr lang="en-US" sz="800" dirty="0"/>
          </a:p>
        </p:txBody>
      </p:sp>
      <p:sp>
        <p:nvSpPr>
          <p:cNvPr id="29" name="Shape 27"/>
          <p:cNvSpPr/>
          <p:nvPr/>
        </p:nvSpPr>
        <p:spPr>
          <a:xfrm>
            <a:off x="2926080" y="1455725"/>
            <a:ext cx="594360" cy="162763"/>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980944" y="145572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31" name="Shape 29"/>
          <p:cNvSpPr/>
          <p:nvPr/>
        </p:nvSpPr>
        <p:spPr>
          <a:xfrm>
            <a:off x="3520440" y="1455725"/>
            <a:ext cx="5577840" cy="162763"/>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3575304" y="145572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Batch-ingest document paths into knowledge base collection</a:t>
            </a:r>
            <a:endParaRPr lang="en-US" sz="800" dirty="0"/>
          </a:p>
        </p:txBody>
      </p:sp>
      <p:sp>
        <p:nvSpPr>
          <p:cNvPr id="33" name="Shape 31"/>
          <p:cNvSpPr/>
          <p:nvPr/>
        </p:nvSpPr>
        <p:spPr>
          <a:xfrm>
            <a:off x="502920" y="1618488"/>
            <a:ext cx="2423160" cy="162763"/>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1618488"/>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/v1/files/{download_id}</a:t>
            </a:r>
            <a:endParaRPr lang="en-US" sz="800" dirty="0"/>
          </a:p>
        </p:txBody>
      </p:sp>
      <p:sp>
        <p:nvSpPr>
          <p:cNvPr id="35" name="Shape 33"/>
          <p:cNvSpPr/>
          <p:nvPr/>
        </p:nvSpPr>
        <p:spPr>
          <a:xfrm>
            <a:off x="2926080" y="1618488"/>
            <a:ext cx="594360" cy="162763"/>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980944" y="1618488"/>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37" name="Shape 35"/>
          <p:cNvSpPr/>
          <p:nvPr/>
        </p:nvSpPr>
        <p:spPr>
          <a:xfrm>
            <a:off x="3520440" y="1618488"/>
            <a:ext cx="5577840" cy="162763"/>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3575304" y="1618488"/>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Download workspace artifacts produced by agents</a:t>
            </a:r>
            <a:endParaRPr lang="en-US" sz="800" dirty="0"/>
          </a:p>
        </p:txBody>
      </p:sp>
      <p:sp>
        <p:nvSpPr>
          <p:cNvPr id="39" name="Shape 37"/>
          <p:cNvSpPr/>
          <p:nvPr/>
        </p:nvSpPr>
        <p:spPr>
          <a:xfrm>
            <a:off x="502920" y="1781251"/>
            <a:ext cx="2423160" cy="162763"/>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178125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/v1/jobs/{job_id}</a:t>
            </a:r>
            <a:endParaRPr lang="en-US" sz="800" dirty="0"/>
          </a:p>
        </p:txBody>
      </p:sp>
      <p:sp>
        <p:nvSpPr>
          <p:cNvPr id="41" name="Shape 39"/>
          <p:cNvSpPr/>
          <p:nvPr/>
        </p:nvSpPr>
        <p:spPr>
          <a:xfrm>
            <a:off x="2926080" y="1781251"/>
            <a:ext cx="594360" cy="162763"/>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980944" y="178125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3" name="Shape 41"/>
          <p:cNvSpPr/>
          <p:nvPr/>
        </p:nvSpPr>
        <p:spPr>
          <a:xfrm>
            <a:off x="3520440" y="1781251"/>
            <a:ext cx="5577840" cy="162763"/>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575304" y="178125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Poll status of background coordinator worker job</a:t>
            </a:r>
            <a:endParaRPr lang="en-US" sz="800" dirty="0"/>
          </a:p>
        </p:txBody>
      </p:sp>
      <p:sp>
        <p:nvSpPr>
          <p:cNvPr id="45" name="Shape 43"/>
          <p:cNvSpPr/>
          <p:nvPr/>
        </p:nvSpPr>
        <p:spPr>
          <a:xfrm>
            <a:off x="502920" y="1944014"/>
            <a:ext cx="2423160" cy="162763"/>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194401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/v1/models</a:t>
            </a:r>
            <a:endParaRPr lang="en-US" sz="800" dirty="0"/>
          </a:p>
        </p:txBody>
      </p:sp>
      <p:sp>
        <p:nvSpPr>
          <p:cNvPr id="47" name="Shape 45"/>
          <p:cNvSpPr/>
          <p:nvPr/>
        </p:nvSpPr>
        <p:spPr>
          <a:xfrm>
            <a:off x="2926080" y="1944014"/>
            <a:ext cx="594360" cy="162763"/>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980944" y="194401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9" name="Shape 47"/>
          <p:cNvSpPr/>
          <p:nvPr/>
        </p:nvSpPr>
        <p:spPr>
          <a:xfrm>
            <a:off x="3520440" y="1944014"/>
            <a:ext cx="5577840" cy="162763"/>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3575304" y="194401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available agents (OpenAI model list format)</a:t>
            </a:r>
            <a:endParaRPr lang="en-US" sz="800" dirty="0"/>
          </a:p>
        </p:txBody>
      </p:sp>
      <p:sp>
        <p:nvSpPr>
          <p:cNvPr id="51" name="Shape 49"/>
          <p:cNvSpPr/>
          <p:nvPr/>
        </p:nvSpPr>
        <p:spPr>
          <a:xfrm>
            <a:off x="502920" y="2106778"/>
            <a:ext cx="2423160" cy="162763"/>
          </a:xfrm>
          <a:prstGeom prst="rect">
            <a:avLst/>
          </a:prstGeom>
          <a:solidFill>
            <a:srgbClr val="FFF8E1"/>
          </a:solidFill>
          <a:ln w="3810">
            <a:solidFill>
              <a:srgbClr val="F0F0F0"/>
            </a:solidFill>
            <a:prstDash val="solid"/>
          </a:ln>
        </p:spPr>
        <p:txBody>
          <a:bodyPr/>
          <a:lstStyle/>
          <a:p>
            <a:endParaRPr lang="en-US"/>
          </a:p>
        </p:txBody>
      </p:sp>
      <p:sp>
        <p:nvSpPr>
          <p:cNvPr id="52" name="Text 50"/>
          <p:cNvSpPr/>
          <p:nvPr/>
        </p:nvSpPr>
        <p:spPr>
          <a:xfrm>
            <a:off x="557784" y="210677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/v1/agents</a:t>
            </a:r>
            <a:endParaRPr lang="en-US" sz="800" dirty="0"/>
          </a:p>
        </p:txBody>
      </p:sp>
      <p:sp>
        <p:nvSpPr>
          <p:cNvPr id="53" name="Shape 51"/>
          <p:cNvSpPr/>
          <p:nvPr/>
        </p:nvSpPr>
        <p:spPr>
          <a:xfrm>
            <a:off x="2926080" y="2106778"/>
            <a:ext cx="594360" cy="162763"/>
          </a:xfrm>
          <a:prstGeom prst="rect">
            <a:avLst/>
          </a:prstGeom>
          <a:solidFill>
            <a:srgbClr val="FFF8E1"/>
          </a:solidFill>
          <a:ln w="3810">
            <a:solidFill>
              <a:srgbClr val="F0F0F0"/>
            </a:solidFill>
            <a:prstDash val="solid"/>
          </a:ln>
        </p:spPr>
        <p:txBody>
          <a:bodyPr/>
          <a:lstStyle/>
          <a:p>
            <a:endParaRPr lang="en-US"/>
          </a:p>
        </p:txBody>
      </p:sp>
      <p:sp>
        <p:nvSpPr>
          <p:cNvPr id="54" name="Text 52"/>
          <p:cNvSpPr/>
          <p:nvPr/>
        </p:nvSpPr>
        <p:spPr>
          <a:xfrm>
            <a:off x="2980944" y="210677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55" name="Shape 53"/>
          <p:cNvSpPr/>
          <p:nvPr/>
        </p:nvSpPr>
        <p:spPr>
          <a:xfrm>
            <a:off x="3520440" y="2106778"/>
            <a:ext cx="5577840" cy="162763"/>
          </a:xfrm>
          <a:prstGeom prst="rect">
            <a:avLst/>
          </a:prstGeom>
          <a:solidFill>
            <a:srgbClr val="FFF8E1"/>
          </a:solidFill>
          <a:ln w="3810">
            <a:solidFill>
              <a:srgbClr val="F0F0F0"/>
            </a:solidFill>
            <a:prstDash val="solid"/>
          </a:ln>
        </p:spPr>
        <p:txBody>
          <a:bodyPr/>
          <a:lstStyle/>
          <a:p>
            <a:endParaRPr lang="en-US"/>
          </a:p>
        </p:txBody>
      </p:sp>
      <p:sp>
        <p:nvSpPr>
          <p:cNvPr id="56" name="Text 54"/>
          <p:cNvSpPr/>
          <p:nvPr/>
        </p:nvSpPr>
        <p:spPr>
          <a:xfrm>
            <a:off x="3575304" y="210677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agent configs with modes, tools, and entry paths</a:t>
            </a:r>
            <a:endParaRPr lang="en-US" sz="800" dirty="0"/>
          </a:p>
        </p:txBody>
      </p:sp>
      <p:sp>
        <p:nvSpPr>
          <p:cNvPr id="57" name="Shape 55"/>
          <p:cNvSpPr/>
          <p:nvPr/>
        </p:nvSpPr>
        <p:spPr>
          <a:xfrm>
            <a:off x="502920" y="2269541"/>
            <a:ext cx="2423160" cy="162763"/>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557784" y="226954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59" name="Shape 57"/>
          <p:cNvSpPr/>
          <p:nvPr/>
        </p:nvSpPr>
        <p:spPr>
          <a:xfrm>
            <a:off x="2926080" y="2269541"/>
            <a:ext cx="594360" cy="162763"/>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2980944" y="226954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1" name="Shape 59"/>
          <p:cNvSpPr/>
          <p:nvPr/>
        </p:nvSpPr>
        <p:spPr>
          <a:xfrm>
            <a:off x="3520440" y="2269541"/>
            <a:ext cx="5577840" cy="162763"/>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3575304" y="226954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all indexed skill packs with status, scope, metadata</a:t>
            </a:r>
            <a:endParaRPr lang="en-US" sz="800" dirty="0"/>
          </a:p>
        </p:txBody>
      </p:sp>
      <p:sp>
        <p:nvSpPr>
          <p:cNvPr id="63" name="Shape 61"/>
          <p:cNvSpPr/>
          <p:nvPr/>
        </p:nvSpPr>
        <p:spPr>
          <a:xfrm>
            <a:off x="502920" y="2432304"/>
            <a:ext cx="2423160" cy="162763"/>
          </a:xfrm>
          <a:prstGeom prst="rect">
            <a:avLst/>
          </a:prstGeom>
          <a:solidFill>
            <a:srgbClr val="FFFFFF"/>
          </a:solidFill>
          <a:ln w="3810">
            <a:solidFill>
              <a:srgbClr val="F0F0F0"/>
            </a:solidFill>
            <a:prstDash val="solid"/>
          </a:ln>
        </p:spPr>
        <p:txBody>
          <a:bodyPr/>
          <a:lstStyle/>
          <a:p>
            <a:endParaRPr lang="en-US"/>
          </a:p>
        </p:txBody>
      </p:sp>
      <p:sp>
        <p:nvSpPr>
          <p:cNvPr id="64" name="Text 62"/>
          <p:cNvSpPr/>
          <p:nvPr/>
        </p:nvSpPr>
        <p:spPr>
          <a:xfrm>
            <a:off x="557784" y="243230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65" name="Shape 63"/>
          <p:cNvSpPr/>
          <p:nvPr/>
        </p:nvSpPr>
        <p:spPr>
          <a:xfrm>
            <a:off x="2926080" y="2432304"/>
            <a:ext cx="594360" cy="162763"/>
          </a:xfrm>
          <a:prstGeom prst="rect">
            <a:avLst/>
          </a:prstGeom>
          <a:solidFill>
            <a:srgbClr val="FFFFFF"/>
          </a:solidFill>
          <a:ln w="3810">
            <a:solidFill>
              <a:srgbClr val="F0F0F0"/>
            </a:solidFill>
            <a:prstDash val="solid"/>
          </a:ln>
        </p:spPr>
        <p:txBody>
          <a:bodyPr/>
          <a:lstStyle/>
          <a:p>
            <a:endParaRPr lang="en-US"/>
          </a:p>
        </p:txBody>
      </p:sp>
      <p:sp>
        <p:nvSpPr>
          <p:cNvPr id="66" name="Text 64"/>
          <p:cNvSpPr/>
          <p:nvPr/>
        </p:nvSpPr>
        <p:spPr>
          <a:xfrm>
            <a:off x="2980944" y="243230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7" name="Shape 65"/>
          <p:cNvSpPr/>
          <p:nvPr/>
        </p:nvSpPr>
        <p:spPr>
          <a:xfrm>
            <a:off x="3520440" y="2432304"/>
            <a:ext cx="5577840" cy="162763"/>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3575304" y="243230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 one skill pack by ID</a:t>
            </a:r>
            <a:endParaRPr lang="en-US" sz="800" dirty="0"/>
          </a:p>
        </p:txBody>
      </p:sp>
      <p:sp>
        <p:nvSpPr>
          <p:cNvPr id="69" name="Shape 67"/>
          <p:cNvSpPr/>
          <p:nvPr/>
        </p:nvSpPr>
        <p:spPr>
          <a:xfrm>
            <a:off x="502920" y="2595067"/>
            <a:ext cx="2423160" cy="162763"/>
          </a:xfrm>
          <a:prstGeom prst="rect">
            <a:avLst/>
          </a:prstGeom>
          <a:solidFill>
            <a:srgbClr val="F5F5F5"/>
          </a:solidFill>
          <a:ln w="3810">
            <a:solidFill>
              <a:srgbClr val="F0F0F0"/>
            </a:solidFill>
            <a:prstDash val="solid"/>
          </a:ln>
        </p:spPr>
        <p:txBody>
          <a:bodyPr/>
          <a:lstStyle/>
          <a:p>
            <a:endParaRPr lang="en-US"/>
          </a:p>
        </p:txBody>
      </p:sp>
      <p:sp>
        <p:nvSpPr>
          <p:cNvPr id="70" name="Text 68"/>
          <p:cNvSpPr/>
          <p:nvPr/>
        </p:nvSpPr>
        <p:spPr>
          <a:xfrm>
            <a:off x="557784" y="259506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71" name="Shape 69"/>
          <p:cNvSpPr/>
          <p:nvPr/>
        </p:nvSpPr>
        <p:spPr>
          <a:xfrm>
            <a:off x="2926080" y="2595067"/>
            <a:ext cx="594360" cy="162763"/>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2980944" y="259506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73" name="Shape 71"/>
          <p:cNvSpPr/>
          <p:nvPr/>
        </p:nvSpPr>
        <p:spPr>
          <a:xfrm>
            <a:off x="3520440" y="2595067"/>
            <a:ext cx="5577840" cy="162763"/>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3575304" y="259506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Create / index a new skill pack</a:t>
            </a:r>
            <a:endParaRPr lang="en-US" sz="800" dirty="0"/>
          </a:p>
        </p:txBody>
      </p:sp>
      <p:sp>
        <p:nvSpPr>
          <p:cNvPr id="75" name="Shape 73"/>
          <p:cNvSpPr/>
          <p:nvPr/>
        </p:nvSpPr>
        <p:spPr>
          <a:xfrm>
            <a:off x="502920" y="2757830"/>
            <a:ext cx="2423160" cy="162763"/>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557784" y="275783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77" name="Shape 75"/>
          <p:cNvSpPr/>
          <p:nvPr/>
        </p:nvSpPr>
        <p:spPr>
          <a:xfrm>
            <a:off x="2926080" y="2757830"/>
            <a:ext cx="594360" cy="162763"/>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2980944" y="275783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PUT</a:t>
            </a:r>
            <a:endParaRPr lang="en-US" sz="800" dirty="0"/>
          </a:p>
        </p:txBody>
      </p:sp>
      <p:sp>
        <p:nvSpPr>
          <p:cNvPr id="79" name="Shape 77"/>
          <p:cNvSpPr/>
          <p:nvPr/>
        </p:nvSpPr>
        <p:spPr>
          <a:xfrm>
            <a:off x="3520440" y="2757830"/>
            <a:ext cx="5577840" cy="162763"/>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3575304" y="275783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Update skill pack fields</a:t>
            </a:r>
            <a:endParaRPr lang="en-US" sz="800" dirty="0"/>
          </a:p>
        </p:txBody>
      </p:sp>
      <p:sp>
        <p:nvSpPr>
          <p:cNvPr id="81" name="Shape 79"/>
          <p:cNvSpPr/>
          <p:nvPr/>
        </p:nvSpPr>
        <p:spPr>
          <a:xfrm>
            <a:off x="502920" y="2920594"/>
            <a:ext cx="2423160" cy="162763"/>
          </a:xfrm>
          <a:prstGeom prst="rect">
            <a:avLst/>
          </a:prstGeom>
          <a:solidFill>
            <a:srgbClr val="F5F5F5"/>
          </a:solidFill>
          <a:ln w="3810">
            <a:solidFill>
              <a:srgbClr val="F0F0F0"/>
            </a:solidFill>
            <a:prstDash val="solid"/>
          </a:ln>
        </p:spPr>
        <p:txBody>
          <a:bodyPr/>
          <a:lstStyle/>
          <a:p>
            <a:endParaRPr lang="en-US"/>
          </a:p>
        </p:txBody>
      </p:sp>
      <p:sp>
        <p:nvSpPr>
          <p:cNvPr id="82" name="Text 80"/>
          <p:cNvSpPr/>
          <p:nvPr/>
        </p:nvSpPr>
        <p:spPr>
          <a:xfrm>
            <a:off x="557784" y="292059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/v1/skills/{skill_id}/activate</a:t>
            </a:r>
            <a:endParaRPr lang="en-US" sz="800" dirty="0"/>
          </a:p>
        </p:txBody>
      </p:sp>
      <p:sp>
        <p:nvSpPr>
          <p:cNvPr id="83" name="Shape 81"/>
          <p:cNvSpPr/>
          <p:nvPr/>
        </p:nvSpPr>
        <p:spPr>
          <a:xfrm>
            <a:off x="2926080" y="2920594"/>
            <a:ext cx="594360" cy="162763"/>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2980944" y="292059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85" name="Shape 83"/>
          <p:cNvSpPr/>
          <p:nvPr/>
        </p:nvSpPr>
        <p:spPr>
          <a:xfrm>
            <a:off x="3520440" y="2920594"/>
            <a:ext cx="5577840" cy="162763"/>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3575304" y="292059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Activate skill (sets status=active)</a:t>
            </a:r>
            <a:endParaRPr lang="en-US" sz="800" dirty="0"/>
          </a:p>
        </p:txBody>
      </p:sp>
      <p:sp>
        <p:nvSpPr>
          <p:cNvPr id="87" name="Shape 85"/>
          <p:cNvSpPr/>
          <p:nvPr/>
        </p:nvSpPr>
        <p:spPr>
          <a:xfrm>
            <a:off x="502920" y="3083357"/>
            <a:ext cx="2423160" cy="162763"/>
          </a:xfrm>
          <a:prstGeom prst="rect">
            <a:avLst/>
          </a:prstGeom>
          <a:solidFill>
            <a:srgbClr val="FFFFFF"/>
          </a:solidFill>
          <a:ln w="3810">
            <a:solidFill>
              <a:srgbClr val="F0F0F0"/>
            </a:solidFill>
            <a:prstDash val="solid"/>
          </a:ln>
        </p:spPr>
        <p:txBody>
          <a:bodyPr/>
          <a:lstStyle/>
          <a:p>
            <a:endParaRPr lang="en-US"/>
          </a:p>
        </p:txBody>
      </p:sp>
      <p:sp>
        <p:nvSpPr>
          <p:cNvPr id="88" name="Text 86"/>
          <p:cNvSpPr/>
          <p:nvPr/>
        </p:nvSpPr>
        <p:spPr>
          <a:xfrm>
            <a:off x="557784" y="308335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/v1/skills/{skill_id}/deactivate</a:t>
            </a:r>
            <a:endParaRPr lang="en-US" sz="800" dirty="0"/>
          </a:p>
        </p:txBody>
      </p:sp>
      <p:sp>
        <p:nvSpPr>
          <p:cNvPr id="89" name="Shape 87"/>
          <p:cNvSpPr/>
          <p:nvPr/>
        </p:nvSpPr>
        <p:spPr>
          <a:xfrm>
            <a:off x="2926080" y="3083357"/>
            <a:ext cx="594360" cy="162763"/>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2980944" y="308335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1" name="Shape 89"/>
          <p:cNvSpPr/>
          <p:nvPr/>
        </p:nvSpPr>
        <p:spPr>
          <a:xfrm>
            <a:off x="3520440" y="3083357"/>
            <a:ext cx="5577840" cy="162763"/>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3575304" y="308335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Deactivate skill (excludes from SkillResolver results)</a:t>
            </a:r>
            <a:endParaRPr lang="en-US" sz="800" dirty="0"/>
          </a:p>
        </p:txBody>
      </p:sp>
      <p:sp>
        <p:nvSpPr>
          <p:cNvPr id="93" name="Shape 91"/>
          <p:cNvSpPr/>
          <p:nvPr/>
        </p:nvSpPr>
        <p:spPr>
          <a:xfrm>
            <a:off x="502920" y="3246120"/>
            <a:ext cx="2423160" cy="162763"/>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557784" y="324612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/v1/skills/{skill_id}/rollback</a:t>
            </a:r>
            <a:endParaRPr lang="en-US" sz="800" dirty="0"/>
          </a:p>
        </p:txBody>
      </p:sp>
      <p:sp>
        <p:nvSpPr>
          <p:cNvPr id="95" name="Shape 93"/>
          <p:cNvSpPr/>
          <p:nvPr/>
        </p:nvSpPr>
        <p:spPr>
          <a:xfrm>
            <a:off x="2926080" y="3246120"/>
            <a:ext cx="594360" cy="162763"/>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2980944" y="324612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7" name="Shape 95"/>
          <p:cNvSpPr/>
          <p:nvPr/>
        </p:nvSpPr>
        <p:spPr>
          <a:xfrm>
            <a:off x="3520440" y="3246120"/>
            <a:ext cx="5577840" cy="162763"/>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3575304" y="324612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Roll back skill to previous version</a:t>
            </a:r>
            <a:endParaRPr lang="en-US" sz="800" dirty="0"/>
          </a:p>
        </p:txBody>
      </p:sp>
      <p:sp>
        <p:nvSpPr>
          <p:cNvPr id="99" name="Shape 97"/>
          <p:cNvSpPr/>
          <p:nvPr/>
        </p:nvSpPr>
        <p:spPr>
          <a:xfrm>
            <a:off x="502920" y="3408883"/>
            <a:ext cx="2423160" cy="162763"/>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57784" y="3408883"/>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/v1/skills/preview</a:t>
            </a:r>
            <a:endParaRPr lang="en-US" sz="800" dirty="0"/>
          </a:p>
        </p:txBody>
      </p:sp>
      <p:sp>
        <p:nvSpPr>
          <p:cNvPr id="101" name="Shape 99"/>
          <p:cNvSpPr/>
          <p:nvPr/>
        </p:nvSpPr>
        <p:spPr>
          <a:xfrm>
            <a:off x="2926080" y="3408883"/>
            <a:ext cx="594360" cy="162763"/>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2980944" y="3408883"/>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03" name="Shape 101"/>
          <p:cNvSpPr/>
          <p:nvPr/>
        </p:nvSpPr>
        <p:spPr>
          <a:xfrm>
            <a:off x="3520440" y="3408883"/>
            <a:ext cx="5577840" cy="162763"/>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3575304" y="3408883"/>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Preview which skills would match a given query (no side effects)</a:t>
            </a:r>
            <a:endParaRPr lang="en-US" sz="800" dirty="0"/>
          </a:p>
        </p:txBody>
      </p:sp>
      <p:sp>
        <p:nvSpPr>
          <p:cNvPr id="105" name="Shape 103"/>
          <p:cNvSpPr/>
          <p:nvPr/>
        </p:nvSpPr>
        <p:spPr>
          <a:xfrm>
            <a:off x="502920" y="3571646"/>
            <a:ext cx="2423160" cy="162763"/>
          </a:xfrm>
          <a:prstGeom prst="rect">
            <a:avLst/>
          </a:prstGeom>
          <a:solidFill>
            <a:srgbClr val="FFF8E1"/>
          </a:solidFill>
          <a:ln w="3810">
            <a:solidFill>
              <a:srgbClr val="F0F0F0"/>
            </a:solidFill>
            <a:prstDash val="solid"/>
          </a:ln>
        </p:spPr>
        <p:txBody>
          <a:bodyPr/>
          <a:lstStyle/>
          <a:p>
            <a:endParaRPr lang="en-US"/>
          </a:p>
        </p:txBody>
      </p:sp>
      <p:sp>
        <p:nvSpPr>
          <p:cNvPr id="106" name="Text 104"/>
          <p:cNvSpPr/>
          <p:nvPr/>
        </p:nvSpPr>
        <p:spPr>
          <a:xfrm>
            <a:off x="557784" y="357164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a:t>
            </a:r>
            <a:endParaRPr lang="en-US" sz="800" dirty="0"/>
          </a:p>
        </p:txBody>
      </p:sp>
      <p:sp>
        <p:nvSpPr>
          <p:cNvPr id="107" name="Shape 105"/>
          <p:cNvSpPr/>
          <p:nvPr/>
        </p:nvSpPr>
        <p:spPr>
          <a:xfrm>
            <a:off x="2926080" y="3571646"/>
            <a:ext cx="594360" cy="162763"/>
          </a:xfrm>
          <a:prstGeom prst="rect">
            <a:avLst/>
          </a:prstGeom>
          <a:solidFill>
            <a:srgbClr val="FFF8E1"/>
          </a:solidFill>
          <a:ln w="3810">
            <a:solidFill>
              <a:srgbClr val="F0F0F0"/>
            </a:solidFill>
            <a:prstDash val="solid"/>
          </a:ln>
        </p:spPr>
        <p:txBody>
          <a:bodyPr/>
          <a:lstStyle/>
          <a:p>
            <a:endParaRPr lang="en-US"/>
          </a:p>
        </p:txBody>
      </p:sp>
      <p:sp>
        <p:nvSpPr>
          <p:cNvPr id="108" name="Text 106"/>
          <p:cNvSpPr/>
          <p:nvPr/>
        </p:nvSpPr>
        <p:spPr>
          <a:xfrm>
            <a:off x="2980944" y="357164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09" name="Shape 107"/>
          <p:cNvSpPr/>
          <p:nvPr/>
        </p:nvSpPr>
        <p:spPr>
          <a:xfrm>
            <a:off x="3520440" y="3571646"/>
            <a:ext cx="5577840" cy="162763"/>
          </a:xfrm>
          <a:prstGeom prst="rect">
            <a:avLst/>
          </a:prstGeom>
          <a:solidFill>
            <a:srgbClr val="FFF8E1"/>
          </a:solidFill>
          <a:ln w="3810">
            <a:solidFill>
              <a:srgbClr val="F0F0F0"/>
            </a:solidFill>
            <a:prstDash val="solid"/>
          </a:ln>
        </p:spPr>
        <p:txBody>
          <a:bodyPr/>
          <a:lstStyle/>
          <a:p>
            <a:endParaRPr lang="en-US"/>
          </a:p>
        </p:txBody>
      </p:sp>
      <p:sp>
        <p:nvSpPr>
          <p:cNvPr id="110" name="Text 108"/>
          <p:cNvSpPr/>
          <p:nvPr/>
        </p:nvSpPr>
        <p:spPr>
          <a:xfrm>
            <a:off x="3575304" y="357164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all indexed graph knowledge bases for the tenant</a:t>
            </a:r>
            <a:endParaRPr lang="en-US" sz="800" dirty="0"/>
          </a:p>
        </p:txBody>
      </p:sp>
      <p:sp>
        <p:nvSpPr>
          <p:cNvPr id="111" name="Shape 109"/>
          <p:cNvSpPr/>
          <p:nvPr/>
        </p:nvSpPr>
        <p:spPr>
          <a:xfrm>
            <a:off x="502920" y="3734410"/>
            <a:ext cx="2423160" cy="162763"/>
          </a:xfrm>
          <a:prstGeom prst="rect">
            <a:avLst/>
          </a:prstGeom>
          <a:solidFill>
            <a:srgbClr val="FFF8E1"/>
          </a:solidFill>
          <a:ln w="3810">
            <a:solidFill>
              <a:srgbClr val="F0F0F0"/>
            </a:solidFill>
            <a:prstDash val="solid"/>
          </a:ln>
        </p:spPr>
        <p:txBody>
          <a:bodyPr/>
          <a:lstStyle/>
          <a:p>
            <a:endParaRPr lang="en-US"/>
          </a:p>
        </p:txBody>
      </p:sp>
      <p:sp>
        <p:nvSpPr>
          <p:cNvPr id="112" name="Text 110"/>
          <p:cNvSpPr/>
          <p:nvPr/>
        </p:nvSpPr>
        <p:spPr>
          <a:xfrm>
            <a:off x="557784" y="3734410"/>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/v1/graphs/{graph_id}</a:t>
            </a:r>
            <a:endParaRPr lang="en-US" sz="800" dirty="0"/>
          </a:p>
        </p:txBody>
      </p:sp>
      <p:sp>
        <p:nvSpPr>
          <p:cNvPr id="113" name="Shape 111"/>
          <p:cNvSpPr/>
          <p:nvPr/>
        </p:nvSpPr>
        <p:spPr>
          <a:xfrm>
            <a:off x="2926080" y="3734410"/>
            <a:ext cx="594360" cy="162763"/>
          </a:xfrm>
          <a:prstGeom prst="rect">
            <a:avLst/>
          </a:prstGeom>
          <a:solidFill>
            <a:srgbClr val="FFF8E1"/>
          </a:solidFill>
          <a:ln w="3810">
            <a:solidFill>
              <a:srgbClr val="F0F0F0"/>
            </a:solidFill>
            <a:prstDash val="solid"/>
          </a:ln>
        </p:spPr>
        <p:txBody>
          <a:bodyPr/>
          <a:lstStyle/>
          <a:p>
            <a:endParaRPr lang="en-US"/>
          </a:p>
        </p:txBody>
      </p:sp>
      <p:sp>
        <p:nvSpPr>
          <p:cNvPr id="114" name="Text 112"/>
          <p:cNvSpPr/>
          <p:nvPr/>
        </p:nvSpPr>
        <p:spPr>
          <a:xfrm>
            <a:off x="2980944" y="3734410"/>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15" name="Shape 113"/>
          <p:cNvSpPr/>
          <p:nvPr/>
        </p:nvSpPr>
        <p:spPr>
          <a:xfrm>
            <a:off x="3520440" y="3734410"/>
            <a:ext cx="5577840" cy="162763"/>
          </a:xfrm>
          <a:prstGeom prst="rect">
            <a:avLst/>
          </a:prstGeom>
          <a:solidFill>
            <a:srgbClr val="FFF8E1"/>
          </a:solidFill>
          <a:ln w="3810">
            <a:solidFill>
              <a:srgbClr val="F0F0F0"/>
            </a:solidFill>
            <a:prstDash val="solid"/>
          </a:ln>
        </p:spPr>
        <p:txBody>
          <a:bodyPr/>
          <a:lstStyle/>
          <a:p>
            <a:endParaRPr lang="en-US"/>
          </a:p>
        </p:txBody>
      </p:sp>
      <p:sp>
        <p:nvSpPr>
          <p:cNvPr id="116" name="Text 114"/>
          <p:cNvSpPr/>
          <p:nvPr/>
        </p:nvSpPr>
        <p:spPr>
          <a:xfrm>
            <a:off x="3575304" y="3734410"/>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 metadata and status for a specific graph index</a:t>
            </a:r>
            <a:endParaRPr lang="en-US" sz="800" dirty="0"/>
          </a:p>
        </p:txBody>
      </p:sp>
      <p:sp>
        <p:nvSpPr>
          <p:cNvPr id="117" name="Shape 115"/>
          <p:cNvSpPr/>
          <p:nvPr/>
        </p:nvSpPr>
        <p:spPr>
          <a:xfrm>
            <a:off x="502920" y="3897173"/>
            <a:ext cx="2423160" cy="162763"/>
          </a:xfrm>
          <a:prstGeom prst="rect">
            <a:avLst/>
          </a:prstGeom>
          <a:solidFill>
            <a:srgbClr val="FFF8E1"/>
          </a:solidFill>
          <a:ln w="3810">
            <a:solidFill>
              <a:srgbClr val="F0F0F0"/>
            </a:solidFill>
            <a:prstDash val="solid"/>
          </a:ln>
        </p:spPr>
        <p:txBody>
          <a:bodyPr/>
          <a:lstStyle/>
          <a:p>
            <a:endParaRPr lang="en-US"/>
          </a:p>
        </p:txBody>
      </p:sp>
      <p:sp>
        <p:nvSpPr>
          <p:cNvPr id="118" name="Text 116"/>
          <p:cNvSpPr/>
          <p:nvPr/>
        </p:nvSpPr>
        <p:spPr>
          <a:xfrm>
            <a:off x="557784" y="3897173"/>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/v1/graphs/index</a:t>
            </a:r>
            <a:endParaRPr lang="en-US" sz="800" dirty="0"/>
          </a:p>
        </p:txBody>
      </p:sp>
      <p:sp>
        <p:nvSpPr>
          <p:cNvPr id="119" name="Shape 117"/>
          <p:cNvSpPr/>
          <p:nvPr/>
        </p:nvSpPr>
        <p:spPr>
          <a:xfrm>
            <a:off x="2926080" y="3897173"/>
            <a:ext cx="594360" cy="162763"/>
          </a:xfrm>
          <a:prstGeom prst="rect">
            <a:avLst/>
          </a:prstGeom>
          <a:solidFill>
            <a:srgbClr val="FFF8E1"/>
          </a:solidFill>
          <a:ln w="3810">
            <a:solidFill>
              <a:srgbClr val="F0F0F0"/>
            </a:solidFill>
            <a:prstDash val="solid"/>
          </a:ln>
        </p:spPr>
        <p:txBody>
          <a:bodyPr/>
          <a:lstStyle/>
          <a:p>
            <a:endParaRPr lang="en-US"/>
          </a:p>
        </p:txBody>
      </p:sp>
      <p:sp>
        <p:nvSpPr>
          <p:cNvPr id="120" name="Text 118"/>
          <p:cNvSpPr/>
          <p:nvPr/>
        </p:nvSpPr>
        <p:spPr>
          <a:xfrm>
            <a:off x="2980944" y="3897173"/>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1" name="Shape 119"/>
          <p:cNvSpPr/>
          <p:nvPr/>
        </p:nvSpPr>
        <p:spPr>
          <a:xfrm>
            <a:off x="3520440" y="3897173"/>
            <a:ext cx="5577840" cy="162763"/>
          </a:xfrm>
          <a:prstGeom prst="rect">
            <a:avLst/>
          </a:prstGeom>
          <a:solidFill>
            <a:srgbClr val="FFF8E1"/>
          </a:solidFill>
          <a:ln w="3810">
            <a:solidFill>
              <a:srgbClr val="F0F0F0"/>
            </a:solidFill>
            <a:prstDash val="solid"/>
          </a:ln>
        </p:spPr>
        <p:txBody>
          <a:bodyPr/>
          <a:lstStyle/>
          <a:p>
            <a:endParaRPr lang="en-US"/>
          </a:p>
        </p:txBody>
      </p:sp>
      <p:sp>
        <p:nvSpPr>
          <p:cNvPr id="122" name="Text 120"/>
          <p:cNvSpPr/>
          <p:nvPr/>
        </p:nvSpPr>
        <p:spPr>
          <a:xfrm>
            <a:off x="3575304" y="3897173"/>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Trigger GraphRAG indexing run on a document corpus</a:t>
            </a:r>
            <a:endParaRPr lang="en-US" sz="800" dirty="0"/>
          </a:p>
        </p:txBody>
      </p:sp>
      <p:sp>
        <p:nvSpPr>
          <p:cNvPr id="123" name="Shape 121"/>
          <p:cNvSpPr/>
          <p:nvPr/>
        </p:nvSpPr>
        <p:spPr>
          <a:xfrm>
            <a:off x="502920" y="4059936"/>
            <a:ext cx="2423160" cy="162763"/>
          </a:xfrm>
          <a:prstGeom prst="rect">
            <a:avLst/>
          </a:prstGeom>
          <a:solidFill>
            <a:srgbClr val="FFF8E1"/>
          </a:solidFill>
          <a:ln w="3810">
            <a:solidFill>
              <a:srgbClr val="F0F0F0"/>
            </a:solidFill>
            <a:prstDash val="solid"/>
          </a:ln>
        </p:spPr>
        <p:txBody>
          <a:bodyPr/>
          <a:lstStyle/>
          <a:p>
            <a:endParaRPr lang="en-US"/>
          </a:p>
        </p:txBody>
      </p:sp>
      <p:sp>
        <p:nvSpPr>
          <p:cNvPr id="124" name="Text 122"/>
          <p:cNvSpPr/>
          <p:nvPr/>
        </p:nvSpPr>
        <p:spPr>
          <a:xfrm>
            <a:off x="557784" y="405993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/v1/graphs/import</a:t>
            </a:r>
            <a:endParaRPr lang="en-US" sz="800" dirty="0"/>
          </a:p>
        </p:txBody>
      </p:sp>
      <p:sp>
        <p:nvSpPr>
          <p:cNvPr id="125" name="Shape 123"/>
          <p:cNvSpPr/>
          <p:nvPr/>
        </p:nvSpPr>
        <p:spPr>
          <a:xfrm>
            <a:off x="2926080" y="4059936"/>
            <a:ext cx="594360" cy="162763"/>
          </a:xfrm>
          <a:prstGeom prst="rect">
            <a:avLst/>
          </a:prstGeom>
          <a:solidFill>
            <a:srgbClr val="FFF8E1"/>
          </a:solidFill>
          <a:ln w="3810">
            <a:solidFill>
              <a:srgbClr val="F0F0F0"/>
            </a:solidFill>
            <a:prstDash val="solid"/>
          </a:ln>
        </p:spPr>
        <p:txBody>
          <a:bodyPr/>
          <a:lstStyle/>
          <a:p>
            <a:endParaRPr lang="en-US"/>
          </a:p>
        </p:txBody>
      </p:sp>
      <p:sp>
        <p:nvSpPr>
          <p:cNvPr id="126" name="Text 124"/>
          <p:cNvSpPr/>
          <p:nvPr/>
        </p:nvSpPr>
        <p:spPr>
          <a:xfrm>
            <a:off x="2980944" y="405993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7" name="Shape 125"/>
          <p:cNvSpPr/>
          <p:nvPr/>
        </p:nvSpPr>
        <p:spPr>
          <a:xfrm>
            <a:off x="3520440" y="4059936"/>
            <a:ext cx="5577840" cy="162763"/>
          </a:xfrm>
          <a:prstGeom prst="rect">
            <a:avLst/>
          </a:prstGeom>
          <a:solidFill>
            <a:srgbClr val="FFF8E1"/>
          </a:solidFill>
          <a:ln w="3810">
            <a:solidFill>
              <a:srgbClr val="F0F0F0"/>
            </a:solidFill>
            <a:prstDash val="solid"/>
          </a:ln>
        </p:spPr>
        <p:txBody>
          <a:bodyPr/>
          <a:lstStyle/>
          <a:p>
            <a:endParaRPr lang="en-US"/>
          </a:p>
        </p:txBody>
      </p:sp>
      <p:sp>
        <p:nvSpPr>
          <p:cNvPr id="128" name="Text 126"/>
          <p:cNvSpPr/>
          <p:nvPr/>
        </p:nvSpPr>
        <p:spPr>
          <a:xfrm>
            <a:off x="3575304" y="405993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Import an existing graph (e.g. Neo4j export) into the system</a:t>
            </a:r>
            <a:endParaRPr lang="en-US" sz="800" dirty="0"/>
          </a:p>
        </p:txBody>
      </p:sp>
      <p:sp>
        <p:nvSpPr>
          <p:cNvPr id="129" name="Shape 127"/>
          <p:cNvSpPr/>
          <p:nvPr/>
        </p:nvSpPr>
        <p:spPr>
          <a:xfrm>
            <a:off x="502920" y="4222699"/>
            <a:ext cx="2423160" cy="162763"/>
          </a:xfrm>
          <a:prstGeom prst="rect">
            <a:avLst/>
          </a:prstGeom>
          <a:solidFill>
            <a:srgbClr val="FFF8E1"/>
          </a:solidFill>
          <a:ln w="3810">
            <a:solidFill>
              <a:srgbClr val="F0F0F0"/>
            </a:solidFill>
            <a:prstDash val="solid"/>
          </a:ln>
        </p:spPr>
        <p:txBody>
          <a:bodyPr/>
          <a:lstStyle/>
          <a:p>
            <a:endParaRPr lang="en-US"/>
          </a:p>
        </p:txBody>
      </p:sp>
      <p:sp>
        <p:nvSpPr>
          <p:cNvPr id="130" name="Text 128"/>
          <p:cNvSpPr/>
          <p:nvPr/>
        </p:nvSpPr>
        <p:spPr>
          <a:xfrm>
            <a:off x="557784" y="4222699"/>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/v1/graphs/query</a:t>
            </a:r>
            <a:endParaRPr lang="en-US" sz="800" dirty="0"/>
          </a:p>
        </p:txBody>
      </p:sp>
      <p:sp>
        <p:nvSpPr>
          <p:cNvPr id="131" name="Shape 129"/>
          <p:cNvSpPr/>
          <p:nvPr/>
        </p:nvSpPr>
        <p:spPr>
          <a:xfrm>
            <a:off x="2926080" y="4222699"/>
            <a:ext cx="594360" cy="162763"/>
          </a:xfrm>
          <a:prstGeom prst="rect">
            <a:avLst/>
          </a:prstGeom>
          <a:solidFill>
            <a:srgbClr val="FFF8E1"/>
          </a:solidFill>
          <a:ln w="3810">
            <a:solidFill>
              <a:srgbClr val="F0F0F0"/>
            </a:solidFill>
            <a:prstDash val="solid"/>
          </a:ln>
        </p:spPr>
        <p:txBody>
          <a:bodyPr/>
          <a:lstStyle/>
          <a:p>
            <a:endParaRPr lang="en-US"/>
          </a:p>
        </p:txBody>
      </p:sp>
      <p:sp>
        <p:nvSpPr>
          <p:cNvPr id="132" name="Text 130"/>
          <p:cNvSpPr/>
          <p:nvPr/>
        </p:nvSpPr>
        <p:spPr>
          <a:xfrm>
            <a:off x="2980944" y="4222699"/>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33" name="Shape 131"/>
          <p:cNvSpPr/>
          <p:nvPr/>
        </p:nvSpPr>
        <p:spPr>
          <a:xfrm>
            <a:off x="3520440" y="4222699"/>
            <a:ext cx="5577840" cy="162763"/>
          </a:xfrm>
          <a:prstGeom prst="rect">
            <a:avLst/>
          </a:prstGeom>
          <a:solidFill>
            <a:srgbClr val="FFF8E1"/>
          </a:solidFill>
          <a:ln w="3810">
            <a:solidFill>
              <a:srgbClr val="F0F0F0"/>
            </a:solidFill>
            <a:prstDash val="solid"/>
          </a:ln>
        </p:spPr>
        <p:txBody>
          <a:bodyPr/>
          <a:lstStyle/>
          <a:p>
            <a:endParaRPr lang="en-US"/>
          </a:p>
        </p:txBody>
      </p:sp>
      <p:sp>
        <p:nvSpPr>
          <p:cNvPr id="134" name="Text 132"/>
          <p:cNvSpPr/>
          <p:nvPr/>
        </p:nvSpPr>
        <p:spPr>
          <a:xfrm>
            <a:off x="3575304" y="4222699"/>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Direct graph query — returns entities, relationships, context</a:t>
            </a:r>
            <a:endParaRPr lang="en-US" sz="800" dirty="0"/>
          </a:p>
        </p:txBody>
      </p:sp>
      <p:sp>
        <p:nvSpPr>
          <p:cNvPr id="135" name="Shape 133"/>
          <p:cNvSpPr/>
          <p:nvPr/>
        </p:nvSpPr>
        <p:spPr>
          <a:xfrm>
            <a:off x="502920" y="4385462"/>
            <a:ext cx="2423160" cy="162763"/>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557784" y="43854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/health/live</a:t>
            </a:r>
            <a:endParaRPr lang="en-US" sz="800" dirty="0"/>
          </a:p>
        </p:txBody>
      </p:sp>
      <p:sp>
        <p:nvSpPr>
          <p:cNvPr id="137" name="Shape 135"/>
          <p:cNvSpPr/>
          <p:nvPr/>
        </p:nvSpPr>
        <p:spPr>
          <a:xfrm>
            <a:off x="2926080" y="4385462"/>
            <a:ext cx="594360" cy="162763"/>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2980944" y="43854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39" name="Shape 137"/>
          <p:cNvSpPr/>
          <p:nvPr/>
        </p:nvSpPr>
        <p:spPr>
          <a:xfrm>
            <a:off x="3520440" y="4385462"/>
            <a:ext cx="5577840" cy="162763"/>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575304" y="43854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Liveness probe — returns 200 if process is running</a:t>
            </a:r>
            <a:endParaRPr lang="en-US" sz="800" dirty="0"/>
          </a:p>
        </p:txBody>
      </p:sp>
      <p:sp>
        <p:nvSpPr>
          <p:cNvPr id="141" name="Shape 139"/>
          <p:cNvSpPr/>
          <p:nvPr/>
        </p:nvSpPr>
        <p:spPr>
          <a:xfrm>
            <a:off x="502920" y="4548226"/>
            <a:ext cx="2423160" cy="162763"/>
          </a:xfrm>
          <a:prstGeom prst="rect">
            <a:avLst/>
          </a:prstGeom>
          <a:solidFill>
            <a:srgbClr val="F5F5F5"/>
          </a:solidFill>
          <a:ln w="3810">
            <a:solidFill>
              <a:srgbClr val="F0F0F0"/>
            </a:solidFill>
            <a:prstDash val="solid"/>
          </a:ln>
        </p:spPr>
        <p:txBody>
          <a:bodyPr/>
          <a:lstStyle/>
          <a:p>
            <a:endParaRPr lang="en-US"/>
          </a:p>
        </p:txBody>
      </p:sp>
      <p:sp>
        <p:nvSpPr>
          <p:cNvPr id="142" name="Text 140"/>
          <p:cNvSpPr/>
          <p:nvPr/>
        </p:nvSpPr>
        <p:spPr>
          <a:xfrm>
            <a:off x="557784" y="4548226"/>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/health/ready</a:t>
            </a:r>
            <a:endParaRPr lang="en-US" sz="800" dirty="0"/>
          </a:p>
        </p:txBody>
      </p:sp>
      <p:sp>
        <p:nvSpPr>
          <p:cNvPr id="143" name="Shape 141"/>
          <p:cNvSpPr/>
          <p:nvPr/>
        </p:nvSpPr>
        <p:spPr>
          <a:xfrm>
            <a:off x="2926080" y="4548226"/>
            <a:ext cx="594360" cy="162763"/>
          </a:xfrm>
          <a:prstGeom prst="rect">
            <a:avLst/>
          </a:prstGeom>
          <a:solidFill>
            <a:srgbClr val="F5F5F5"/>
          </a:solidFill>
          <a:ln w="3810">
            <a:solidFill>
              <a:srgbClr val="F0F0F0"/>
            </a:solidFill>
            <a:prstDash val="solid"/>
          </a:ln>
        </p:spPr>
        <p:txBody>
          <a:bodyPr/>
          <a:lstStyle/>
          <a:p>
            <a:endParaRPr lang="en-US"/>
          </a:p>
        </p:txBody>
      </p:sp>
      <p:sp>
        <p:nvSpPr>
          <p:cNvPr id="144" name="Text 142"/>
          <p:cNvSpPr/>
          <p:nvPr/>
        </p:nvSpPr>
        <p:spPr>
          <a:xfrm>
            <a:off x="2980944" y="4548226"/>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45" name="Shape 143"/>
          <p:cNvSpPr/>
          <p:nvPr/>
        </p:nvSpPr>
        <p:spPr>
          <a:xfrm>
            <a:off x="3520440" y="4548226"/>
            <a:ext cx="5577840" cy="162763"/>
          </a:xfrm>
          <a:prstGeom prst="rect">
            <a:avLst/>
          </a:prstGeom>
          <a:solidFill>
            <a:srgbClr val="F5F5F5"/>
          </a:solidFill>
          <a:ln w="3810">
            <a:solidFill>
              <a:srgbClr val="F0F0F0"/>
            </a:solidFill>
            <a:prstDash val="solid"/>
          </a:ln>
        </p:spPr>
        <p:txBody>
          <a:bodyPr/>
          <a:lstStyle/>
          <a:p>
            <a:endParaRPr lang="en-US"/>
          </a:p>
        </p:txBody>
      </p:sp>
      <p:sp>
        <p:nvSpPr>
          <p:cNvPr id="146" name="Text 144"/>
          <p:cNvSpPr/>
          <p:nvPr/>
        </p:nvSpPr>
        <p:spPr>
          <a:xfrm>
            <a:off x="3575304" y="4548226"/>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Readiness probe — checks KB indexed, providers up</a:t>
            </a:r>
            <a:endParaRPr lang="en-US" sz="800" dirty="0"/>
          </a:p>
        </p:txBody>
      </p:sp>
      <p:sp>
        <p:nvSpPr>
          <p:cNvPr id="147" name="Text 1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 48 public endpoints. Highlighted rows = new graph, connector &amp; agents endpoints. Admin endpoints in control_panel/routes.py.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Request Lifecycle — Gateway to RuntimeService</a:t>
            </a:r>
            <a:endParaRPr lang="en-US" sz="2600" dirty="0"/>
          </a:p>
        </p:txBody>
      </p:sp>
      <p:sp>
        <p:nvSpPr>
          <p:cNvPr id="3" name="Shape 1"/>
          <p:cNvSpPr/>
          <p:nvPr/>
        </p:nvSpPr>
        <p:spPr>
          <a:xfrm>
            <a:off x="5715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715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Client sends POST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/v1/chat/completions</a:t>
            </a:r>
            <a:endParaRPr lang="en-US" sz="1000" dirty="0"/>
          </a:p>
        </p:txBody>
      </p:sp>
      <p:sp>
        <p:nvSpPr>
          <p:cNvPr id="5" name="Shape 3"/>
          <p:cNvSpPr/>
          <p:nvPr/>
        </p:nvSpPr>
        <p:spPr>
          <a:xfrm>
            <a:off x="2400300" y="1737360"/>
            <a:ext cx="228600" cy="0"/>
          </a:xfrm>
          <a:prstGeom prst="line">
            <a:avLst/>
          </a:prstGeom>
          <a:noFill/>
          <a:ln w="25400">
            <a:solidFill>
              <a:srgbClr val="0097A7"/>
            </a:solidFill>
            <a:prstDash val="solid"/>
          </a:ln>
        </p:spPr>
        <p:txBody>
          <a:bodyPr/>
          <a:lstStyle/>
          <a:p>
            <a:endParaRPr lang="en-US"/>
          </a:p>
        </p:txBody>
      </p:sp>
      <p:sp>
        <p:nvSpPr>
          <p:cNvPr id="6" name="Text 4"/>
          <p:cNvSpPr/>
          <p:nvPr/>
        </p:nvSpPr>
        <p:spPr>
          <a:xfrm>
            <a:off x="25191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28900" y="1188720"/>
            <a:ext cx="1828800" cy="10972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289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FastAPI handler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messages,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creates/resumes session</a:t>
            </a:r>
            <a:endParaRPr lang="en-US" sz="1000" dirty="0"/>
          </a:p>
        </p:txBody>
      </p:sp>
      <p:sp>
        <p:nvSpPr>
          <p:cNvPr id="9" name="Shape 7"/>
          <p:cNvSpPr/>
          <p:nvPr/>
        </p:nvSpPr>
        <p:spPr>
          <a:xfrm>
            <a:off x="4457700" y="1737360"/>
            <a:ext cx="228600" cy="0"/>
          </a:xfrm>
          <a:prstGeom prst="line">
            <a:avLst/>
          </a:prstGeom>
          <a:noFill/>
          <a:ln w="25400">
            <a:solidFill>
              <a:srgbClr val="0097A7"/>
            </a:solidFill>
            <a:prstDash val="solid"/>
          </a:ln>
        </p:spPr>
        <p:txBody>
          <a:bodyPr/>
          <a:lstStyle/>
          <a:p>
            <a:endParaRPr lang="en-US"/>
          </a:p>
        </p:txBody>
      </p:sp>
      <p:sp>
        <p:nvSpPr>
          <p:cNvPr id="10" name="Text 8"/>
          <p:cNvSpPr/>
          <p:nvPr/>
        </p:nvSpPr>
        <p:spPr>
          <a:xfrm>
            <a:off x="45765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686300" y="1188720"/>
            <a:ext cx="1828800" cy="10972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6863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.process_turn(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session, user_text,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upload_paths)</a:t>
            </a:r>
            <a:endParaRPr lang="en-US" sz="1000" dirty="0"/>
          </a:p>
        </p:txBody>
      </p:sp>
      <p:sp>
        <p:nvSpPr>
          <p:cNvPr id="13" name="Shape 11"/>
          <p:cNvSpPr/>
          <p:nvPr/>
        </p:nvSpPr>
        <p:spPr>
          <a:xfrm>
            <a:off x="6515100" y="1737360"/>
            <a:ext cx="22860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6339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7437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7437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streamed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via SSE with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progress callbacks</a:t>
            </a:r>
            <a:endParaRPr lang="en-US" sz="1000" dirty="0"/>
          </a:p>
        </p:txBody>
      </p:sp>
      <p:sp>
        <p:nvSpPr>
          <p:cNvPr id="17" name="Shape 15"/>
          <p:cNvSpPr/>
          <p:nvPr/>
        </p:nvSpPr>
        <p:spPr>
          <a:xfrm>
            <a:off x="502920" y="2606040"/>
            <a:ext cx="4114800" cy="822960"/>
          </a:xfrm>
          <a:prstGeom prst="rect">
            <a:avLst/>
          </a:prstGeom>
          <a:solidFill>
            <a:srgbClr val="2D2D2D"/>
          </a:solidFill>
          <a:ln/>
        </p:spPr>
        <p:txBody>
          <a:bodyPr/>
          <a:lstStyle/>
          <a:p>
            <a:endParaRPr lang="en-US"/>
          </a:p>
        </p:txBody>
      </p:sp>
      <p:sp>
        <p:nvSpPr>
          <p:cNvPr id="18" name="Text 16"/>
          <p:cNvSpPr/>
          <p:nvPr/>
        </p:nvSpPr>
        <p:spPr>
          <a:xfrm>
            <a:off x="612648" y="2660904"/>
            <a:ext cx="389534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"model": "enterprise-agent",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"messages":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{"role":"user",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"content":"Analyze sales.csv"}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a:t>
            </a:r>
            <a:endParaRPr lang="en-US" sz="900" dirty="0"/>
          </a:p>
        </p:txBody>
      </p:sp>
      <p:sp>
        <p:nvSpPr>
          <p:cNvPr id="19" name="Shape 17"/>
          <p:cNvSpPr/>
          <p:nvPr/>
        </p:nvSpPr>
        <p:spPr>
          <a:xfrm>
            <a:off x="4846320" y="2606040"/>
            <a:ext cx="3794760" cy="8229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4937760" y="2606040"/>
            <a:ext cx="3611880" cy="8229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progress_sink recently added — enables real-time phase updates ('Routing...', 'Retrieving...', 'Generating...') streamed to client as the agent works.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api/progress_callback.py</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Three-Layer Runtime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7-12: RuntimeService, RuntimeKernel, QueryLoop</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~298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2: RuntimeKernel — The Engine Room</a:t>
            </a:r>
            <a:endParaRPr lang="en-US" sz="2600" dirty="0"/>
          </a:p>
        </p:txBody>
      </p:sp>
      <p:sp>
        <p:nvSpPr>
          <p:cNvPr id="3" name="Shape 1"/>
          <p:cNvSpPr/>
          <p:nvPr/>
        </p:nvSpPr>
        <p:spPr>
          <a:xfrm>
            <a:off x="50292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1B2A4A"/>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Hydration</a:t>
            </a:r>
            <a:endParaRPr lang="en-US" sz="1200" dirty="0"/>
          </a:p>
        </p:txBody>
      </p:sp>
      <p:sp>
        <p:nvSpPr>
          <p:cNvPr id="6" name="Text 4"/>
          <p:cNvSpPr/>
          <p:nvPr/>
        </p:nvSpPr>
        <p:spPr>
          <a:xfrm>
            <a:off x="61264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Loads persisted session state (messages, scratchpad, uploaded docs, memory) from transcript store. Rehydrates on resume.</a:t>
            </a:r>
            <a:endParaRPr lang="en-US" sz="1000" dirty="0"/>
          </a:p>
        </p:txBody>
      </p:sp>
      <p:sp>
        <p:nvSpPr>
          <p:cNvPr id="7" name="Shape 5"/>
          <p:cNvSpPr/>
          <p:nvPr/>
        </p:nvSpPr>
        <p:spPr>
          <a:xfrm>
            <a:off x="452628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26280" y="1005840"/>
            <a:ext cx="3840480" cy="320040"/>
          </a:xfrm>
          <a:prstGeom prst="rect">
            <a:avLst/>
          </a:prstGeom>
          <a:solidFill>
            <a:srgbClr val="1B2A4A"/>
          </a:solidFill>
          <a:ln/>
        </p:spPr>
        <p:txBody>
          <a:bodyPr/>
          <a:lstStyle/>
          <a:p>
            <a:endParaRPr lang="en-US"/>
          </a:p>
        </p:txBody>
      </p:sp>
      <p:sp>
        <p:nvSpPr>
          <p:cNvPr id="9" name="Text 7"/>
          <p:cNvSpPr/>
          <p:nvPr/>
        </p:nvSpPr>
        <p:spPr>
          <a:xfrm>
            <a:off x="463600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Provider Resolution</a:t>
            </a:r>
            <a:endParaRPr lang="en-US" sz="1200" dirty="0"/>
          </a:p>
        </p:txBody>
      </p:sp>
      <p:sp>
        <p:nvSpPr>
          <p:cNvPr id="10" name="Text 8"/>
          <p:cNvSpPr/>
          <p:nvPr/>
        </p:nvSpPr>
        <p:spPr>
          <a:xfrm>
            <a:off x="463600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Each agent can have its own LLM provider override (different model, temperature). Falls back to global config.</a:t>
            </a:r>
            <a:endParaRPr lang="en-US" sz="1000" dirty="0"/>
          </a:p>
        </p:txBody>
      </p:sp>
      <p:sp>
        <p:nvSpPr>
          <p:cNvPr id="11" name="Shape 9"/>
          <p:cNvSpPr/>
          <p:nvPr/>
        </p:nvSpPr>
        <p:spPr>
          <a:xfrm>
            <a:off x="50292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560320"/>
            <a:ext cx="3840480" cy="320040"/>
          </a:xfrm>
          <a:prstGeom prst="rect">
            <a:avLst/>
          </a:prstGeom>
          <a:solidFill>
            <a:srgbClr val="1B2A4A"/>
          </a:solidFill>
          <a:ln/>
        </p:spPr>
        <p:txBody>
          <a:bodyPr/>
          <a:lstStyle/>
          <a:p>
            <a:endParaRPr lang="en-US"/>
          </a:p>
        </p:txBody>
      </p:sp>
      <p:sp>
        <p:nvSpPr>
          <p:cNvPr id="13" name="Text 11"/>
          <p:cNvSpPr/>
          <p:nvPr/>
        </p:nvSpPr>
        <p:spPr>
          <a:xfrm>
            <a:off x="61264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Event Emission</a:t>
            </a:r>
            <a:endParaRPr lang="en-US" sz="1200" dirty="0"/>
          </a:p>
        </p:txBody>
      </p:sp>
      <p:sp>
        <p:nvSpPr>
          <p:cNvPr id="14" name="Text 12"/>
          <p:cNvSpPr/>
          <p:nvPr/>
        </p:nvSpPr>
        <p:spPr>
          <a:xfrm>
            <a:off x="61264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Every router decision, tool call, and agent turn emits events to RuntimeEventSink -&gt; events.jsonl + Langfuse.</a:t>
            </a:r>
            <a:endParaRPr lang="en-US" sz="1000" dirty="0"/>
          </a:p>
        </p:txBody>
      </p:sp>
      <p:sp>
        <p:nvSpPr>
          <p:cNvPr id="15" name="Shape 13"/>
          <p:cNvSpPr/>
          <p:nvPr/>
        </p:nvSpPr>
        <p:spPr>
          <a:xfrm>
            <a:off x="452628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526280" y="2560320"/>
            <a:ext cx="3840480" cy="320040"/>
          </a:xfrm>
          <a:prstGeom prst="rect">
            <a:avLst/>
          </a:prstGeom>
          <a:solidFill>
            <a:srgbClr val="1B2A4A"/>
          </a:solidFill>
          <a:ln/>
        </p:spPr>
        <p:txBody>
          <a:bodyPr/>
          <a:lstStyle/>
          <a:p>
            <a:endParaRPr lang="en-US"/>
          </a:p>
        </p:txBody>
      </p:sp>
      <p:sp>
        <p:nvSpPr>
          <p:cNvPr id="17" name="Text 15"/>
          <p:cNvSpPr/>
          <p:nvPr/>
        </p:nvSpPr>
        <p:spPr>
          <a:xfrm>
            <a:off x="463600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Orchestration</a:t>
            </a:r>
            <a:endParaRPr lang="en-US" sz="1200" dirty="0"/>
          </a:p>
        </p:txBody>
      </p:sp>
      <p:sp>
        <p:nvSpPr>
          <p:cNvPr id="18" name="Text 16"/>
          <p:cNvSpPr/>
          <p:nvPr/>
        </p:nvSpPr>
        <p:spPr>
          <a:xfrm>
            <a:off x="463600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Manages planner -&gt; worker batch -&gt; finalizer -&gt; verifier pipeline. Durable jobs via RuntimeJobManager.</a:t>
            </a:r>
            <a:endParaRPr lang="en-US" sz="1000" dirty="0"/>
          </a:p>
        </p:txBody>
      </p:sp>
      <p:sp>
        <p:nvSpPr>
          <p:cNvPr id="19" name="Shape 17"/>
          <p:cNvSpPr/>
          <p:nvPr/>
        </p:nvSpPr>
        <p:spPr>
          <a:xfrm>
            <a:off x="502920" y="3977640"/>
            <a:ext cx="8138160" cy="32004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9776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kernel delegates to 3 controllers: KernelCoordinatorController, KernelProviderController, KernelEventController — clean separation of concerns.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kernel_coordinator.py, kernel_events.py, kernel_providers.py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Kernel Feature: Coordinator Orchestration</a:t>
            </a:r>
            <a:endParaRPr lang="en-US" sz="2600" dirty="0"/>
          </a:p>
        </p:txBody>
      </p:sp>
      <p:sp>
        <p:nvSpPr>
          <p:cNvPr id="3" name="Shape 1"/>
          <p:cNvSpPr/>
          <p:nvPr/>
        </p:nvSpPr>
        <p:spPr>
          <a:xfrm>
            <a:off x="274320" y="1371600"/>
            <a:ext cx="164592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Planner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5" name="Shape 3"/>
          <p:cNvSpPr/>
          <p:nvPr/>
        </p:nvSpPr>
        <p:spPr>
          <a:xfrm>
            <a:off x="1920240" y="1691640"/>
            <a:ext cx="320040" cy="0"/>
          </a:xfrm>
          <a:prstGeom prst="line">
            <a:avLst/>
          </a:prstGeom>
          <a:noFill/>
          <a:ln w="25400">
            <a:solidFill>
              <a:srgbClr val="0097A7"/>
            </a:solidFill>
            <a:prstDash val="solid"/>
          </a:ln>
        </p:spPr>
        <p:txBody>
          <a:bodyPr/>
          <a:lstStyle/>
          <a:p>
            <a:endParaRPr lang="en-US"/>
          </a:p>
        </p:txBody>
      </p:sp>
      <p:sp>
        <p:nvSpPr>
          <p:cNvPr id="6" name="Text 4"/>
          <p:cNvSpPr/>
          <p:nvPr/>
        </p:nvSpPr>
        <p:spPr>
          <a:xfrm>
            <a:off x="213055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24028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4028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Worker Batch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(parallel, max 4)</a:t>
            </a:r>
            <a:endParaRPr lang="en-US" sz="1000" dirty="0"/>
          </a:p>
        </p:txBody>
      </p:sp>
      <p:sp>
        <p:nvSpPr>
          <p:cNvPr id="9" name="Shape 7"/>
          <p:cNvSpPr/>
          <p:nvPr/>
        </p:nvSpPr>
        <p:spPr>
          <a:xfrm>
            <a:off x="3886200" y="1691640"/>
            <a:ext cx="32004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9651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206240" y="1371600"/>
            <a:ext cx="164592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20624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Finalizer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3" name="Shape 11"/>
          <p:cNvSpPr/>
          <p:nvPr/>
        </p:nvSpPr>
        <p:spPr>
          <a:xfrm>
            <a:off x="5852160" y="1691640"/>
            <a:ext cx="32004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06247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17220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17220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Verifier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7" name="Shape 15"/>
          <p:cNvSpPr/>
          <p:nvPr/>
        </p:nvSpPr>
        <p:spPr>
          <a:xfrm>
            <a:off x="233172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18" name="Text 16"/>
          <p:cNvSpPr/>
          <p:nvPr/>
        </p:nvSpPr>
        <p:spPr>
          <a:xfrm>
            <a:off x="233172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W1</a:t>
            </a:r>
            <a:endParaRPr lang="en-US" sz="800" dirty="0"/>
          </a:p>
        </p:txBody>
      </p:sp>
      <p:sp>
        <p:nvSpPr>
          <p:cNvPr id="19" name="Shape 17"/>
          <p:cNvSpPr/>
          <p:nvPr/>
        </p:nvSpPr>
        <p:spPr>
          <a:xfrm>
            <a:off x="283464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0" name="Text 18"/>
          <p:cNvSpPr/>
          <p:nvPr/>
        </p:nvSpPr>
        <p:spPr>
          <a:xfrm>
            <a:off x="283464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W2</a:t>
            </a:r>
            <a:endParaRPr lang="en-US" sz="800" dirty="0"/>
          </a:p>
        </p:txBody>
      </p:sp>
      <p:sp>
        <p:nvSpPr>
          <p:cNvPr id="21" name="Shape 19"/>
          <p:cNvSpPr/>
          <p:nvPr/>
        </p:nvSpPr>
        <p:spPr>
          <a:xfrm>
            <a:off x="333756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2" name="Text 20"/>
          <p:cNvSpPr/>
          <p:nvPr/>
        </p:nvSpPr>
        <p:spPr>
          <a:xfrm>
            <a:off x="333756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W3</a:t>
            </a:r>
            <a:endParaRPr lang="en-US" sz="800" dirty="0"/>
          </a:p>
        </p:txBody>
      </p:sp>
      <p:sp>
        <p:nvSpPr>
          <p:cNvPr id="23" name="Shape 21"/>
          <p:cNvSpPr/>
          <p:nvPr/>
        </p:nvSpPr>
        <p:spPr>
          <a:xfrm>
            <a:off x="7818120" y="2514600"/>
            <a:ext cx="0" cy="0"/>
          </a:xfrm>
          <a:prstGeom prst="line">
            <a:avLst/>
          </a:prstGeom>
          <a:noFill/>
          <a:ln w="19050">
            <a:solidFill>
              <a:srgbClr val="C62828"/>
            </a:solidFill>
            <a:prstDash val="dash"/>
          </a:ln>
        </p:spPr>
        <p:txBody>
          <a:bodyPr/>
          <a:lstStyle/>
          <a:p>
            <a:endParaRPr lang="en-US"/>
          </a:p>
        </p:txBody>
      </p:sp>
      <p:sp>
        <p:nvSpPr>
          <p:cNvPr id="24" name="Text 22"/>
          <p:cNvSpPr/>
          <p:nvPr/>
        </p:nvSpPr>
        <p:spPr>
          <a:xfrm>
            <a:off x="2560320" y="2542032"/>
            <a:ext cx="3200400" cy="182880"/>
          </a:xfrm>
          <a:prstGeom prst="rect">
            <a:avLst/>
          </a:prstGeom>
          <a:noFill/>
          <a:ln/>
        </p:spPr>
        <p:txBody>
          <a:bodyPr wrap="square" lIns="0" tIns="0" rIns="0" bIns="0" rtlCol="0" anchor="ctr"/>
          <a:lstStyle/>
          <a:p>
            <a:pPr marL="0" indent="0">
              <a:buNone/>
            </a:pPr>
            <a:r>
              <a:rPr lang="en-US" sz="800" dirty="0">
                <a:solidFill>
                  <a:srgbClr val="C62828"/>
                </a:solidFill>
                <a:latin typeface="Arial" pitchFamily="34" charset="0"/>
                <a:ea typeface="Arial" pitchFamily="34" charset="-122"/>
                <a:cs typeface="Arial" pitchFamily="34" charset="-120"/>
              </a:rPr>
              <a:t>revision loop (if verifier flags issues)</a:t>
            </a:r>
            <a:endParaRPr lang="en-US" sz="800" dirty="0"/>
          </a:p>
        </p:txBody>
      </p:sp>
      <p:sp>
        <p:nvSpPr>
          <p:cNvPr id="25" name="Shape 23"/>
          <p:cNvSpPr/>
          <p:nvPr/>
        </p:nvSpPr>
        <p:spPr>
          <a:xfrm>
            <a:off x="502920" y="2926080"/>
            <a:ext cx="8138160" cy="45720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9260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Workers are durable jobs with transcripts, mailboxes, and handoff artifacts. Workers can pass typed artifacts (analysis_summary, entity_candidates, doc_focus, evidence) between each other.</a:t>
            </a:r>
            <a:endParaRPr lang="en-US" sz="1000" dirty="0"/>
          </a:p>
        </p:txBody>
      </p:sp>
      <p:sp>
        <p:nvSpPr>
          <p:cNvPr id="27" name="Text 25"/>
          <p:cNvSpPr/>
          <p:nvPr/>
        </p:nvSpPr>
        <p:spPr>
          <a:xfrm>
            <a:off x="502920" y="3520440"/>
            <a:ext cx="8138160" cy="64008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How it works: </a:t>
            </a:r>
            <a:r>
              <a:rPr lang="en-US" sz="1000" dirty="0">
                <a:solidFill>
                  <a:srgbClr val="333333"/>
                </a:solidFill>
                <a:latin typeface="Arial" pitchFamily="34" charset="0"/>
                <a:ea typeface="Arial" pitchFamily="34" charset="-122"/>
                <a:cs typeface="Arial" pitchFamily="34" charset="-120"/>
              </a:rPr>
              <a:t>The coordinator never does work itself. It plans, dispatches to parallel workers (via RuntimeJobManager with semaphore max=4), collects results, has the finalizer synthesize a unified answer, and the verifier fact-check it against the KB. max_revision_rounds (default 4) prevents infinite loops.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runtime/kernel_coordinator.py (~3040 lines), runtime/job_manager.py</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3: QueryLoop — The Mode Dispatcher</a:t>
            </a:r>
            <a:endParaRPr lang="en-US" sz="2600" dirty="0"/>
          </a:p>
        </p:txBody>
      </p:sp>
      <p:sp>
        <p:nvSpPr>
          <p:cNvPr id="3" name="Shape 1"/>
          <p:cNvSpPr/>
          <p:nvPr/>
        </p:nvSpPr>
        <p:spPr>
          <a:xfrm>
            <a:off x="1097280" y="1828800"/>
            <a:ext cx="182880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097280" y="1828800"/>
            <a:ext cx="18288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p:txBody>
      </p:sp>
      <p:sp>
        <p:nvSpPr>
          <p:cNvPr id="5" name="Shape 3"/>
          <p:cNvSpPr/>
          <p:nvPr/>
        </p:nvSpPr>
        <p:spPr>
          <a:xfrm>
            <a:off x="3840480" y="868680"/>
            <a:ext cx="2011680" cy="411480"/>
          </a:xfrm>
          <a:prstGeom prst="rect">
            <a:avLst/>
          </a:prstGeom>
          <a:solidFill>
            <a:srgbClr val="0097A7"/>
          </a:solidFill>
          <a:ln/>
        </p:spPr>
        <p:txBody>
          <a:bodyPr/>
          <a:lstStyle/>
          <a:p>
            <a:endParaRPr lang="en-US"/>
          </a:p>
        </p:txBody>
      </p:sp>
      <p:sp>
        <p:nvSpPr>
          <p:cNvPr id="6" name="Text 4"/>
          <p:cNvSpPr/>
          <p:nvPr/>
        </p:nvSpPr>
        <p:spPr>
          <a:xfrm>
            <a:off x="3913632" y="8686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_run_basic</a:t>
            </a:r>
            <a:endParaRPr lang="en-US" sz="900" dirty="0"/>
          </a:p>
        </p:txBody>
      </p:sp>
      <p:sp>
        <p:nvSpPr>
          <p:cNvPr id="7" name="Text 5"/>
          <p:cNvSpPr/>
          <p:nvPr/>
        </p:nvSpPr>
        <p:spPr>
          <a:xfrm>
            <a:off x="5989320" y="8686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Direct LLM, no tools</a:t>
            </a:r>
            <a:endParaRPr lang="en-US" sz="950" dirty="0"/>
          </a:p>
        </p:txBody>
      </p:sp>
      <p:sp>
        <p:nvSpPr>
          <p:cNvPr id="8" name="Shape 6"/>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9" name="Shape 7"/>
          <p:cNvSpPr/>
          <p:nvPr/>
        </p:nvSpPr>
        <p:spPr>
          <a:xfrm>
            <a:off x="3840480" y="1417320"/>
            <a:ext cx="2011680" cy="411480"/>
          </a:xfrm>
          <a:prstGeom prst="rect">
            <a:avLst/>
          </a:prstGeom>
          <a:solidFill>
            <a:srgbClr val="0097A7"/>
          </a:solidFill>
          <a:ln/>
        </p:spPr>
        <p:txBody>
          <a:bodyPr/>
          <a:lstStyle/>
          <a:p>
            <a:endParaRPr lang="en-US"/>
          </a:p>
        </p:txBody>
      </p:sp>
      <p:sp>
        <p:nvSpPr>
          <p:cNvPr id="10" name="Text 8"/>
          <p:cNvSpPr/>
          <p:nvPr/>
        </p:nvSpPr>
        <p:spPr>
          <a:xfrm>
            <a:off x="3913632" y="14173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_run_react</a:t>
            </a:r>
            <a:endParaRPr lang="en-US" sz="900" dirty="0"/>
          </a:p>
        </p:txBody>
      </p:sp>
      <p:sp>
        <p:nvSpPr>
          <p:cNvPr id="11" name="Text 9"/>
          <p:cNvSpPr/>
          <p:nvPr/>
        </p:nvSpPr>
        <p:spPr>
          <a:xfrm>
            <a:off x="5989320" y="14173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LangGraph ReAct + tools</a:t>
            </a:r>
            <a:endParaRPr lang="en-US" sz="950" dirty="0"/>
          </a:p>
        </p:txBody>
      </p:sp>
      <p:sp>
        <p:nvSpPr>
          <p:cNvPr id="12" name="Shape 10"/>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3" name="Shape 11"/>
          <p:cNvSpPr/>
          <p:nvPr/>
        </p:nvSpPr>
        <p:spPr>
          <a:xfrm>
            <a:off x="3840480" y="1965960"/>
            <a:ext cx="2011680" cy="411480"/>
          </a:xfrm>
          <a:prstGeom prst="rect">
            <a:avLst/>
          </a:prstGeom>
          <a:solidFill>
            <a:srgbClr val="0097A7"/>
          </a:solidFill>
          <a:ln/>
        </p:spPr>
        <p:txBody>
          <a:bodyPr/>
          <a:lstStyle/>
          <a:p>
            <a:endParaRPr lang="en-US"/>
          </a:p>
        </p:txBody>
      </p:sp>
      <p:sp>
        <p:nvSpPr>
          <p:cNvPr id="14" name="Text 12"/>
          <p:cNvSpPr/>
          <p:nvPr/>
        </p:nvSpPr>
        <p:spPr>
          <a:xfrm>
            <a:off x="3913632" y="196596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_run_rag</a:t>
            </a:r>
            <a:endParaRPr lang="en-US" sz="900" dirty="0"/>
          </a:p>
        </p:txBody>
      </p:sp>
      <p:sp>
        <p:nvSpPr>
          <p:cNvPr id="15" name="Text 13"/>
          <p:cNvSpPr/>
          <p:nvPr/>
        </p:nvSpPr>
        <p:spPr>
          <a:xfrm>
            <a:off x="5989320" y="196596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Retrieve &gt; Synthesize &gt; Cite</a:t>
            </a:r>
            <a:endParaRPr lang="en-US" sz="950" dirty="0"/>
          </a:p>
        </p:txBody>
      </p:sp>
      <p:sp>
        <p:nvSpPr>
          <p:cNvPr id="16" name="Shape 14"/>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7" name="Shape 15"/>
          <p:cNvSpPr/>
          <p:nvPr/>
        </p:nvSpPr>
        <p:spPr>
          <a:xfrm>
            <a:off x="3840480" y="2514600"/>
            <a:ext cx="2011680" cy="411480"/>
          </a:xfrm>
          <a:prstGeom prst="rect">
            <a:avLst/>
          </a:prstGeom>
          <a:solidFill>
            <a:srgbClr val="0097A7"/>
          </a:solidFill>
          <a:ln/>
        </p:spPr>
        <p:txBody>
          <a:bodyPr/>
          <a:lstStyle/>
          <a:p>
            <a:endParaRPr lang="en-US"/>
          </a:p>
        </p:txBody>
      </p:sp>
      <p:sp>
        <p:nvSpPr>
          <p:cNvPr id="18" name="Text 16"/>
          <p:cNvSpPr/>
          <p:nvPr/>
        </p:nvSpPr>
        <p:spPr>
          <a:xfrm>
            <a:off x="3913632" y="251460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_run_planner</a:t>
            </a:r>
            <a:endParaRPr lang="en-US" sz="900" dirty="0"/>
          </a:p>
        </p:txBody>
      </p:sp>
      <p:sp>
        <p:nvSpPr>
          <p:cNvPr id="19" name="Text 17"/>
          <p:cNvSpPr/>
          <p:nvPr/>
        </p:nvSpPr>
        <p:spPr>
          <a:xfrm>
            <a:off x="5989320" y="251460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Structured task plan</a:t>
            </a:r>
            <a:endParaRPr lang="en-US" sz="950" dirty="0"/>
          </a:p>
        </p:txBody>
      </p:sp>
      <p:sp>
        <p:nvSpPr>
          <p:cNvPr id="20" name="Shape 18"/>
          <p:cNvSpPr/>
          <p:nvPr/>
        </p:nvSpPr>
        <p:spPr>
          <a:xfrm>
            <a:off x="2926080" y="2194560"/>
            <a:ext cx="914400" cy="521208"/>
          </a:xfrm>
          <a:prstGeom prst="line">
            <a:avLst/>
          </a:prstGeom>
          <a:noFill/>
          <a:ln w="8890">
            <a:solidFill>
              <a:srgbClr val="999999"/>
            </a:solidFill>
            <a:prstDash val="solid"/>
          </a:ln>
        </p:spPr>
        <p:txBody>
          <a:bodyPr/>
          <a:lstStyle/>
          <a:p>
            <a:endParaRPr lang="en-US"/>
          </a:p>
        </p:txBody>
      </p:sp>
      <p:sp>
        <p:nvSpPr>
          <p:cNvPr id="21" name="Shape 19"/>
          <p:cNvSpPr/>
          <p:nvPr/>
        </p:nvSpPr>
        <p:spPr>
          <a:xfrm>
            <a:off x="3840480" y="3063240"/>
            <a:ext cx="2011680" cy="411480"/>
          </a:xfrm>
          <a:prstGeom prst="rect">
            <a:avLst/>
          </a:prstGeom>
          <a:solidFill>
            <a:srgbClr val="0097A7"/>
          </a:solidFill>
          <a:ln/>
        </p:spPr>
        <p:txBody>
          <a:bodyPr/>
          <a:lstStyle/>
          <a:p>
            <a:endParaRPr lang="en-US"/>
          </a:p>
        </p:txBody>
      </p:sp>
      <p:sp>
        <p:nvSpPr>
          <p:cNvPr id="22" name="Text 20"/>
          <p:cNvSpPr/>
          <p:nvPr/>
        </p:nvSpPr>
        <p:spPr>
          <a:xfrm>
            <a:off x="3913632" y="306324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_run_finalizer</a:t>
            </a:r>
            <a:endParaRPr lang="en-US" sz="900" dirty="0"/>
          </a:p>
        </p:txBody>
      </p:sp>
      <p:sp>
        <p:nvSpPr>
          <p:cNvPr id="23" name="Text 21"/>
          <p:cNvSpPr/>
          <p:nvPr/>
        </p:nvSpPr>
        <p:spPr>
          <a:xfrm>
            <a:off x="5989320" y="306324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Synthesize worker outputs</a:t>
            </a:r>
            <a:endParaRPr lang="en-US" sz="950" dirty="0"/>
          </a:p>
        </p:txBody>
      </p:sp>
      <p:sp>
        <p:nvSpPr>
          <p:cNvPr id="24" name="Shape 22"/>
          <p:cNvSpPr/>
          <p:nvPr/>
        </p:nvSpPr>
        <p:spPr>
          <a:xfrm>
            <a:off x="2926080" y="2194560"/>
            <a:ext cx="914400" cy="1069848"/>
          </a:xfrm>
          <a:prstGeom prst="line">
            <a:avLst/>
          </a:prstGeom>
          <a:noFill/>
          <a:ln w="8890">
            <a:solidFill>
              <a:srgbClr val="999999"/>
            </a:solidFill>
            <a:prstDash val="solid"/>
          </a:ln>
        </p:spPr>
        <p:txBody>
          <a:bodyPr/>
          <a:lstStyle/>
          <a:p>
            <a:endParaRPr lang="en-US"/>
          </a:p>
        </p:txBody>
      </p:sp>
      <p:sp>
        <p:nvSpPr>
          <p:cNvPr id="25" name="Shape 23"/>
          <p:cNvSpPr/>
          <p:nvPr/>
        </p:nvSpPr>
        <p:spPr>
          <a:xfrm>
            <a:off x="3840480" y="3611880"/>
            <a:ext cx="2011680" cy="411480"/>
          </a:xfrm>
          <a:prstGeom prst="rect">
            <a:avLst/>
          </a:prstGeom>
          <a:solidFill>
            <a:srgbClr val="0097A7"/>
          </a:solidFill>
          <a:ln/>
        </p:spPr>
        <p:txBody>
          <a:bodyPr/>
          <a:lstStyle/>
          <a:p>
            <a:endParaRPr lang="en-US"/>
          </a:p>
        </p:txBody>
      </p:sp>
      <p:sp>
        <p:nvSpPr>
          <p:cNvPr id="26" name="Text 24"/>
          <p:cNvSpPr/>
          <p:nvPr/>
        </p:nvSpPr>
        <p:spPr>
          <a:xfrm>
            <a:off x="3913632" y="36118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_run_verifier</a:t>
            </a:r>
            <a:endParaRPr lang="en-US" sz="900" dirty="0"/>
          </a:p>
        </p:txBody>
      </p:sp>
      <p:sp>
        <p:nvSpPr>
          <p:cNvPr id="27" name="Text 25"/>
          <p:cNvSpPr/>
          <p:nvPr/>
        </p:nvSpPr>
        <p:spPr>
          <a:xfrm>
            <a:off x="5989320" y="36118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Cross-check vs KB</a:t>
            </a:r>
            <a:endParaRPr lang="en-US" sz="950" dirty="0"/>
          </a:p>
        </p:txBody>
      </p:sp>
      <p:sp>
        <p:nvSpPr>
          <p:cNvPr id="28" name="Shape 26"/>
          <p:cNvSpPr/>
          <p:nvPr/>
        </p:nvSpPr>
        <p:spPr>
          <a:xfrm>
            <a:off x="2926080" y="2194560"/>
            <a:ext cx="914400" cy="1618488"/>
          </a:xfrm>
          <a:prstGeom prst="line">
            <a:avLst/>
          </a:prstGeom>
          <a:noFill/>
          <a:ln w="8890">
            <a:solidFill>
              <a:srgbClr val="999999"/>
            </a:solidFill>
            <a:prstDash val="solid"/>
          </a:ln>
        </p:spPr>
        <p:txBody>
          <a:bodyPr/>
          <a:lstStyle/>
          <a:p>
            <a:endParaRPr lang="en-US"/>
          </a:p>
        </p:txBody>
      </p:sp>
      <p:sp>
        <p:nvSpPr>
          <p:cNvPr id="29" name="Shape 27"/>
          <p:cNvSpPr/>
          <p:nvPr/>
        </p:nvSpPr>
        <p:spPr>
          <a:xfrm>
            <a:off x="3840480" y="4160520"/>
            <a:ext cx="2011680" cy="411480"/>
          </a:xfrm>
          <a:prstGeom prst="rect">
            <a:avLst/>
          </a:prstGeom>
          <a:solidFill>
            <a:srgbClr val="0097A7"/>
          </a:solidFill>
          <a:ln/>
        </p:spPr>
        <p:txBody>
          <a:bodyPr/>
          <a:lstStyle/>
          <a:p>
            <a:endParaRPr lang="en-US"/>
          </a:p>
        </p:txBody>
      </p:sp>
      <p:sp>
        <p:nvSpPr>
          <p:cNvPr id="30" name="Text 28"/>
          <p:cNvSpPr/>
          <p:nvPr/>
        </p:nvSpPr>
        <p:spPr>
          <a:xfrm>
            <a:off x="3913632" y="41605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_run_memory_maintainer</a:t>
            </a:r>
            <a:endParaRPr lang="en-US" sz="900" dirty="0"/>
          </a:p>
        </p:txBody>
      </p:sp>
      <p:sp>
        <p:nvSpPr>
          <p:cNvPr id="31" name="Text 29"/>
          <p:cNvSpPr/>
          <p:nvPr/>
        </p:nvSpPr>
        <p:spPr>
          <a:xfrm>
            <a:off x="5989320" y="41605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 + persist memory</a:t>
            </a:r>
            <a:endParaRPr lang="en-US" sz="950" dirty="0"/>
          </a:p>
        </p:txBody>
      </p:sp>
      <p:sp>
        <p:nvSpPr>
          <p:cNvPr id="32" name="Shape 30"/>
          <p:cNvSpPr/>
          <p:nvPr/>
        </p:nvSpPr>
        <p:spPr>
          <a:xfrm>
            <a:off x="2926080" y="2194560"/>
            <a:ext cx="914400" cy="2167128"/>
          </a:xfrm>
          <a:prstGeom prst="line">
            <a:avLst/>
          </a:prstGeom>
          <a:noFill/>
          <a:ln w="8890">
            <a:solidFill>
              <a:srgbClr val="999999"/>
            </a:solidFill>
            <a:prstDash val="solid"/>
          </a:ln>
        </p:spPr>
        <p:txBody>
          <a:bodyPr/>
          <a:lstStyle/>
          <a:p>
            <a:endParaRPr lang="en-US"/>
          </a:p>
        </p:txBody>
      </p:sp>
      <p:sp>
        <p:nvSpPr>
          <p:cNvPr id="33" name="Shape 31"/>
          <p:cNvSpPr/>
          <p:nvPr/>
        </p:nvSpPr>
        <p:spPr>
          <a:xfrm>
            <a:off x="502920" y="4457700"/>
            <a:ext cx="8138160" cy="365760"/>
          </a:xfrm>
          <a:prstGeom prst="rect">
            <a:avLst/>
          </a:prstGeom>
          <a:solidFill>
            <a:srgbClr val="E0F7FA"/>
          </a:solidFill>
          <a:ln w="12700">
            <a:solidFill>
              <a:srgbClr val="0097A7"/>
            </a:solidFill>
            <a:prstDash val="solid"/>
          </a:ln>
        </p:spPr>
        <p:txBody>
          <a:bodyPr/>
          <a:lstStyle/>
          <a:p>
            <a:endParaRPr lang="en-US"/>
          </a:p>
        </p:txBody>
      </p:sp>
      <p:sp>
        <p:nvSpPr>
          <p:cNvPr id="34" name="Text 32"/>
          <p:cNvSpPr/>
          <p:nvPr/>
        </p:nvSpPr>
        <p:spPr>
          <a:xfrm>
            <a:off x="594360" y="44577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Mode is set by the agent definition's 'mode' field in data/agents/*.md — NOT by code. Adding a new mode = new _run_* method + new frontmatter value.</a:t>
            </a:r>
            <a:endParaRPr lang="en-US" sz="1000" dirty="0"/>
          </a:p>
        </p:txBody>
      </p:sp>
      <p:sp>
        <p:nvSpPr>
          <p:cNvPr id="35" name="Text 3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QueryLoop Builds System Prompts</a:t>
            </a:r>
            <a:endParaRPr lang="en-US" sz="2600" dirty="0"/>
          </a:p>
        </p:txBody>
      </p:sp>
      <p:sp>
        <p:nvSpPr>
          <p:cNvPr id="3" name="Shape 1"/>
          <p:cNvSpPr/>
          <p:nvPr/>
        </p:nvSpPr>
        <p:spPr>
          <a:xfrm>
            <a:off x="914400" y="1005840"/>
            <a:ext cx="7315200" cy="502920"/>
          </a:xfrm>
          <a:prstGeom prst="rect">
            <a:avLst/>
          </a:prstGeom>
          <a:solidFill>
            <a:srgbClr val="1B2A4A"/>
          </a:solidFill>
          <a:ln/>
        </p:spPr>
        <p:txBody>
          <a:bodyPr/>
          <a:lstStyle/>
          <a:p>
            <a:endParaRPr lang="en-US"/>
          </a:p>
        </p:txBody>
      </p:sp>
      <p:sp>
        <p:nvSpPr>
          <p:cNvPr id="4" name="Text 2"/>
          <p:cNvSpPr/>
          <p:nvPr/>
        </p:nvSpPr>
        <p:spPr>
          <a:xfrm>
            <a:off x="1051560" y="100584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Base Prompt</a:t>
            </a:r>
            <a:endParaRPr lang="en-US" sz="1100" dirty="0"/>
          </a:p>
        </p:txBody>
      </p:sp>
      <p:sp>
        <p:nvSpPr>
          <p:cNvPr id="5" name="Text 3"/>
          <p:cNvSpPr/>
          <p:nvPr/>
        </p:nvSpPr>
        <p:spPr>
          <a:xfrm>
            <a:off x="3200400" y="100584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From agent definition's system_prompt_file</a:t>
            </a:r>
            <a:endParaRPr lang="en-US" sz="1000" dirty="0"/>
          </a:p>
        </p:txBody>
      </p:sp>
      <p:sp>
        <p:nvSpPr>
          <p:cNvPr id="6" name="Shape 4"/>
          <p:cNvSpPr/>
          <p:nvPr/>
        </p:nvSpPr>
        <p:spPr>
          <a:xfrm>
            <a:off x="914400" y="1581912"/>
            <a:ext cx="7315200" cy="502920"/>
          </a:xfrm>
          <a:prstGeom prst="rect">
            <a:avLst/>
          </a:prstGeom>
          <a:solidFill>
            <a:srgbClr val="0097A7"/>
          </a:solidFill>
          <a:ln/>
        </p:spPr>
        <p:txBody>
          <a:bodyPr/>
          <a:lstStyle/>
          <a:p>
            <a:endParaRPr lang="en-US"/>
          </a:p>
        </p:txBody>
      </p:sp>
      <p:sp>
        <p:nvSpPr>
          <p:cNvPr id="7" name="Text 5"/>
          <p:cNvSpPr/>
          <p:nvPr/>
        </p:nvSpPr>
        <p:spPr>
          <a:xfrm>
            <a:off x="1051560" y="1581912"/>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Task Context</a:t>
            </a:r>
            <a:endParaRPr lang="en-US" sz="1100" dirty="0"/>
          </a:p>
        </p:txBody>
      </p:sp>
      <p:sp>
        <p:nvSpPr>
          <p:cNvPr id="8" name="Text 6"/>
          <p:cNvSpPr/>
          <p:nvPr/>
        </p:nvSpPr>
        <p:spPr>
          <a:xfrm>
            <a:off x="3200400" y="1581912"/>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 query, conversation history, route metadata</a:t>
            </a:r>
            <a:endParaRPr lang="en-US" sz="1000" dirty="0"/>
          </a:p>
        </p:txBody>
      </p:sp>
      <p:sp>
        <p:nvSpPr>
          <p:cNvPr id="9" name="Shape 7"/>
          <p:cNvSpPr/>
          <p:nvPr/>
        </p:nvSpPr>
        <p:spPr>
          <a:xfrm>
            <a:off x="914400" y="2157984"/>
            <a:ext cx="7315200" cy="502920"/>
          </a:xfrm>
          <a:prstGeom prst="rect">
            <a:avLst/>
          </a:prstGeom>
          <a:solidFill>
            <a:srgbClr val="00796B"/>
          </a:solidFill>
          <a:ln/>
        </p:spPr>
        <p:txBody>
          <a:bodyPr/>
          <a:lstStyle/>
          <a:p>
            <a:endParaRPr lang="en-US"/>
          </a:p>
        </p:txBody>
      </p:sp>
      <p:sp>
        <p:nvSpPr>
          <p:cNvPr id="10" name="Text 8"/>
          <p:cNvSpPr/>
          <p:nvPr/>
        </p:nvSpPr>
        <p:spPr>
          <a:xfrm>
            <a:off x="1051560" y="2157984"/>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Skill Injections</a:t>
            </a:r>
            <a:endParaRPr lang="en-US" sz="1100" dirty="0"/>
          </a:p>
        </p:txBody>
      </p:sp>
      <p:sp>
        <p:nvSpPr>
          <p:cNvPr id="11" name="Text 9"/>
          <p:cNvSpPr/>
          <p:nvPr/>
        </p:nvSpPr>
        <p:spPr>
          <a:xfrm>
            <a:off x="3200400" y="2157984"/>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Retrieved skill docs matched to query (SkillRuntime)</a:t>
            </a:r>
            <a:endParaRPr lang="en-US" sz="1000" dirty="0"/>
          </a:p>
        </p:txBody>
      </p:sp>
      <p:sp>
        <p:nvSpPr>
          <p:cNvPr id="12" name="Shape 10"/>
          <p:cNvSpPr/>
          <p:nvPr/>
        </p:nvSpPr>
        <p:spPr>
          <a:xfrm>
            <a:off x="914400" y="2734056"/>
            <a:ext cx="7315200" cy="502920"/>
          </a:xfrm>
          <a:prstGeom prst="rect">
            <a:avLst/>
          </a:prstGeom>
          <a:solidFill>
            <a:srgbClr val="5C6BC0"/>
          </a:solidFill>
          <a:ln/>
        </p:spPr>
        <p:txBody>
          <a:bodyPr/>
          <a:lstStyle/>
          <a:p>
            <a:endParaRPr lang="en-US"/>
          </a:p>
        </p:txBody>
      </p:sp>
      <p:sp>
        <p:nvSpPr>
          <p:cNvPr id="13" name="Text 11"/>
          <p:cNvSpPr/>
          <p:nvPr/>
        </p:nvSpPr>
        <p:spPr>
          <a:xfrm>
            <a:off x="1051560" y="2734056"/>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Context</a:t>
            </a:r>
            <a:endParaRPr lang="en-US" sz="1100" dirty="0"/>
          </a:p>
        </p:txBody>
      </p:sp>
      <p:sp>
        <p:nvSpPr>
          <p:cNvPr id="14" name="Text 12"/>
          <p:cNvSpPr/>
          <p:nvPr/>
        </p:nvSpPr>
        <p:spPr>
          <a:xfrm>
            <a:off x="3200400" y="2734056"/>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User/conversation memories (MemoryContextBuilder, max 2000 chars)</a:t>
            </a:r>
            <a:endParaRPr lang="en-US" sz="1000" dirty="0"/>
          </a:p>
        </p:txBody>
      </p:sp>
      <p:sp>
        <p:nvSpPr>
          <p:cNvPr id="15" name="Shape 13"/>
          <p:cNvSpPr/>
          <p:nvPr/>
        </p:nvSpPr>
        <p:spPr>
          <a:xfrm>
            <a:off x="914400" y="3310128"/>
            <a:ext cx="7315200" cy="502920"/>
          </a:xfrm>
          <a:prstGeom prst="rect">
            <a:avLst/>
          </a:prstGeom>
          <a:solidFill>
            <a:srgbClr val="7B1FA2"/>
          </a:solidFill>
          <a:ln/>
        </p:spPr>
        <p:txBody>
          <a:bodyPr/>
          <a:lstStyle/>
          <a:p>
            <a:endParaRPr lang="en-US"/>
          </a:p>
        </p:txBody>
      </p:sp>
      <p:sp>
        <p:nvSpPr>
          <p:cNvPr id="16" name="Text 14"/>
          <p:cNvSpPr/>
          <p:nvPr/>
        </p:nvSpPr>
        <p:spPr>
          <a:xfrm>
            <a:off x="1051560" y="3310128"/>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Descriptions</a:t>
            </a:r>
            <a:endParaRPr lang="en-US" sz="1100" dirty="0"/>
          </a:p>
        </p:txBody>
      </p:sp>
      <p:sp>
        <p:nvSpPr>
          <p:cNvPr id="17" name="Text 15"/>
          <p:cNvSpPr/>
          <p:nvPr/>
        </p:nvSpPr>
        <p:spPr>
          <a:xfrm>
            <a:off x="3200400" y="3310128"/>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Auto-generated from agent's allowed tool list</a:t>
            </a:r>
            <a:endParaRPr lang="en-US" sz="1000" dirty="0"/>
          </a:p>
        </p:txBody>
      </p:sp>
      <p:sp>
        <p:nvSpPr>
          <p:cNvPr id="18" name="Shape 16"/>
          <p:cNvSpPr/>
          <p:nvPr/>
        </p:nvSpPr>
        <p:spPr>
          <a:xfrm>
            <a:off x="914400" y="3886200"/>
            <a:ext cx="7315200" cy="502920"/>
          </a:xfrm>
          <a:prstGeom prst="rect">
            <a:avLst/>
          </a:prstGeom>
          <a:solidFill>
            <a:srgbClr val="F9A825"/>
          </a:solidFill>
          <a:ln/>
        </p:spPr>
        <p:txBody>
          <a:bodyPr/>
          <a:lstStyle/>
          <a:p>
            <a:endParaRPr lang="en-US"/>
          </a:p>
        </p:txBody>
      </p:sp>
      <p:sp>
        <p:nvSpPr>
          <p:cNvPr id="19" name="Text 17"/>
          <p:cNvSpPr/>
          <p:nvPr/>
        </p:nvSpPr>
        <p:spPr>
          <a:xfrm>
            <a:off x="1051560" y="388620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Evidence Context</a:t>
            </a:r>
            <a:endParaRPr lang="en-US" sz="1100" dirty="0"/>
          </a:p>
        </p:txBody>
      </p:sp>
      <p:sp>
        <p:nvSpPr>
          <p:cNvPr id="20" name="Text 18"/>
          <p:cNvSpPr/>
          <p:nvPr/>
        </p:nvSpPr>
        <p:spPr>
          <a:xfrm>
            <a:off x="3200400" y="388620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For RAG mode: retrieved doc chunks with citation IDs</a:t>
            </a:r>
            <a:endParaRPr lang="en-US" sz="1000" dirty="0"/>
          </a:p>
        </p:txBody>
      </p:sp>
      <p:sp>
        <p:nvSpPr>
          <p:cNvPr id="21" name="Shape 19"/>
          <p:cNvSpPr/>
          <p:nvPr/>
        </p:nvSpPr>
        <p:spPr>
          <a:xfrm>
            <a:off x="502920" y="4599432"/>
            <a:ext cx="8138160" cy="41148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4599432"/>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prompt is assembled dynamically every turn — not a static string. Skills and memory are retrieved fresh each time, so the agent's capabilities evolve as more skills and memories are added.</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PromptBuilder — Overlay-Driven Prompt Loading</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agents/prompt_builder.py provides template-driven prompt loading with a two-layer fallback: operator overlays first, then default skills. No code changes needed to customize agent behavior in production.</a:t>
            </a:r>
            <a:endParaRPr lang="en-US" sz="1050" dirty="0"/>
          </a:p>
        </p:txBody>
      </p:sp>
      <p:sp>
        <p:nvSpPr>
          <p:cNvPr id="4" name="Shape 2"/>
          <p:cNvSpPr/>
          <p:nvPr/>
        </p:nvSpPr>
        <p:spPr>
          <a:xfrm>
            <a:off x="960120" y="1325880"/>
            <a:ext cx="77724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960120" y="1325880"/>
            <a:ext cx="77724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PromptBuilder.load_prompt(prompt_file)</a:t>
            </a:r>
            <a:endParaRPr lang="en-US" sz="1000" dirty="0"/>
          </a:p>
        </p:txBody>
      </p:sp>
      <p:sp>
        <p:nvSpPr>
          <p:cNvPr id="6" name="Shape 4"/>
          <p:cNvSpPr/>
          <p:nvPr/>
        </p:nvSpPr>
        <p:spPr>
          <a:xfrm>
            <a:off x="4572000" y="1783080"/>
            <a:ext cx="0" cy="182880"/>
          </a:xfrm>
          <a:prstGeom prst="line">
            <a:avLst/>
          </a:prstGeom>
          <a:noFill/>
          <a:ln w="25400">
            <a:solidFill>
              <a:srgbClr val="0097A7"/>
            </a:solidFill>
            <a:prstDash val="solid"/>
          </a:ln>
        </p:spPr>
        <p:txBody>
          <a:bodyPr/>
          <a:lstStyle/>
          <a:p>
            <a:endParaRPr lang="en-US"/>
          </a:p>
        </p:txBody>
      </p:sp>
      <p:sp>
        <p:nvSpPr>
          <p:cNvPr id="7" name="Text 5"/>
          <p:cNvSpPr/>
          <p:nvPr/>
        </p:nvSpPr>
        <p:spPr>
          <a:xfrm>
            <a:off x="4480560" y="1892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8" name="Shape 6"/>
          <p:cNvSpPr/>
          <p:nvPr/>
        </p:nvSpPr>
        <p:spPr>
          <a:xfrm>
            <a:off x="502920" y="2011680"/>
            <a:ext cx="3749040" cy="1188720"/>
          </a:xfrm>
          <a:prstGeom prst="rect">
            <a:avLst/>
          </a:prstGeom>
          <a:solidFill>
            <a:srgbClr val="0097A7"/>
          </a:solidFill>
          <a:ln/>
        </p:spPr>
        <p:txBody>
          <a:bodyPr/>
          <a:lstStyle/>
          <a:p>
            <a:endParaRPr lang="en-US"/>
          </a:p>
        </p:txBody>
      </p:sp>
      <p:sp>
        <p:nvSpPr>
          <p:cNvPr id="9" name="Text 7"/>
          <p:cNvSpPr/>
          <p:nvPr/>
        </p:nvSpPr>
        <p:spPr>
          <a:xfrm>
            <a:off x="61264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1. Check overlay_dir first</a:t>
            </a:r>
            <a:endParaRPr lang="en-US" sz="1100" dirty="0"/>
          </a:p>
        </p:txBody>
      </p:sp>
      <p:sp>
        <p:nvSpPr>
          <p:cNvPr id="10" name="Text 8"/>
          <p:cNvSpPr/>
          <p:nvPr/>
        </p:nvSpPr>
        <p:spPr>
          <a:xfrm>
            <a:off x="61264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data/control_panel/overlays/prompts/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Operator-customized version of the prompt.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If file exists here → use it, return immediately.</a:t>
            </a:r>
            <a:endParaRPr lang="en-US" sz="950" dirty="0"/>
          </a:p>
        </p:txBody>
      </p:sp>
      <p:sp>
        <p:nvSpPr>
          <p:cNvPr id="11" name="Shape 9"/>
          <p:cNvSpPr/>
          <p:nvPr/>
        </p:nvSpPr>
        <p:spPr>
          <a:xfrm>
            <a:off x="4526280" y="2011680"/>
            <a:ext cx="3749040" cy="1188720"/>
          </a:xfrm>
          <a:prstGeom prst="rect">
            <a:avLst/>
          </a:prstGeom>
          <a:solidFill>
            <a:srgbClr val="00796B"/>
          </a:solidFill>
          <a:ln/>
        </p:spPr>
        <p:txBody>
          <a:bodyPr/>
          <a:lstStyle/>
          <a:p>
            <a:endParaRPr lang="en-US"/>
          </a:p>
        </p:txBody>
      </p:sp>
      <p:sp>
        <p:nvSpPr>
          <p:cNvPr id="12" name="Text 10"/>
          <p:cNvSpPr/>
          <p:nvPr/>
        </p:nvSpPr>
        <p:spPr>
          <a:xfrm>
            <a:off x="463600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2. Fall back to skills_dir</a:t>
            </a:r>
            <a:endParaRPr lang="en-US" sz="1100" dirty="0"/>
          </a:p>
        </p:txBody>
      </p:sp>
      <p:sp>
        <p:nvSpPr>
          <p:cNvPr id="13" name="Text 11"/>
          <p:cNvSpPr/>
          <p:nvPr/>
        </p:nvSpPr>
        <p:spPr>
          <a:xfrm>
            <a:off x="463600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data/skills/ — shipped defaults.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All agent prompts live here by default.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FileNotFoundError if missing from both dirs.</a:t>
            </a:r>
            <a:endParaRPr lang="en-US" sz="950" dirty="0"/>
          </a:p>
        </p:txBody>
      </p:sp>
      <p:sp>
        <p:nvSpPr>
          <p:cNvPr id="14" name="Shape 12"/>
          <p:cNvSpPr/>
          <p:nvPr/>
        </p:nvSpPr>
        <p:spPr>
          <a:xfrm>
            <a:off x="502920" y="3401568"/>
            <a:ext cx="8138160" cy="50292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401568"/>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overlay system is how the Control Panel's 'Edit Prompt' feature works: PUT /v1/admin/prompts/{file} writes to the overlay_dir. On next request, PromptBuilder picks up the override automatically — no restart needed.</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agents/prompt_builder.py — PromptBuilder.load_prompt(), data/skills/ (defaults), data/control_panel/overlays/prompts/ (overrides)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Long Output Composer — runtime/long_output.py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LongOutputComposer handles requests for outputs too large for a single LLM call (reports, documentation, multi-section analyses). It breaks the task into sections and composes them sequentially or in background.</a:t>
            </a:r>
            <a:endParaRPr lang="en-US" sz="1050" dirty="0"/>
          </a:p>
        </p:txBody>
      </p:sp>
      <p:sp>
        <p:nvSpPr>
          <p:cNvPr id="4" name="Shape 2"/>
          <p:cNvSpPr/>
          <p:nvPr/>
        </p:nvSpPr>
        <p:spPr>
          <a:xfrm>
            <a:off x="502920" y="1298448"/>
            <a:ext cx="393192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3931920" cy="320040"/>
          </a:xfrm>
          <a:prstGeom prst="rect">
            <a:avLst/>
          </a:prstGeom>
          <a:solidFill>
            <a:srgbClr val="0097A7"/>
          </a:solidFill>
          <a:ln/>
        </p:spPr>
        <p:txBody>
          <a:bodyPr/>
          <a:lstStyle/>
          <a:p>
            <a:endParaRPr lang="en-US"/>
          </a:p>
        </p:txBody>
      </p:sp>
      <p:sp>
        <p:nvSpPr>
          <p:cNvPr id="6" name="Text 4"/>
          <p:cNvSpPr/>
          <p:nvPr/>
        </p:nvSpPr>
        <p:spPr>
          <a:xfrm>
            <a:off x="612648" y="1325880"/>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LongOutputOptions</a:t>
            </a:r>
            <a:endParaRPr lang="en-US" sz="1200" dirty="0"/>
          </a:p>
        </p:txBody>
      </p:sp>
      <p:sp>
        <p:nvSpPr>
          <p:cNvPr id="7" name="Text 5"/>
          <p:cNvSpPr/>
          <p:nvPr/>
        </p:nvSpPr>
        <p:spPr>
          <a:xfrm>
            <a:off x="612648" y="1682496"/>
            <a:ext cx="3712464" cy="2011680"/>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enabled: bool — opt-in per request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target_words: int — default 1800, max 20k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target_sections: int — default 4, max 16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delivery_mode: chat | file | hybrid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background_ok: bool — allow async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output_format: markdown | text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async_requested: bool — force background</a:t>
            </a:r>
            <a:endParaRPr lang="en-US" sz="1000" dirty="0"/>
          </a:p>
        </p:txBody>
      </p:sp>
      <p:sp>
        <p:nvSpPr>
          <p:cNvPr id="8" name="Shape 6"/>
          <p:cNvSpPr/>
          <p:nvPr/>
        </p:nvSpPr>
        <p:spPr>
          <a:xfrm>
            <a:off x="4617720" y="1298448"/>
            <a:ext cx="457200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17720" y="1298448"/>
            <a:ext cx="4572000" cy="320040"/>
          </a:xfrm>
          <a:prstGeom prst="rect">
            <a:avLst/>
          </a:prstGeom>
          <a:solidFill>
            <a:srgbClr val="1B2A4A"/>
          </a:solidFill>
          <a:ln/>
        </p:spPr>
        <p:txBody>
          <a:bodyPr/>
          <a:lstStyle/>
          <a:p>
            <a:endParaRPr lang="en-US"/>
          </a:p>
        </p:txBody>
      </p:sp>
      <p:sp>
        <p:nvSpPr>
          <p:cNvPr id="10" name="Text 8"/>
          <p:cNvSpPr/>
          <p:nvPr/>
        </p:nvSpPr>
        <p:spPr>
          <a:xfrm>
            <a:off x="4727448" y="1325880"/>
            <a:ext cx="43525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Background Trigger Thresholds</a:t>
            </a:r>
            <a:endParaRPr lang="en-US" sz="1200" dirty="0"/>
          </a:p>
        </p:txBody>
      </p:sp>
      <p:sp>
        <p:nvSpPr>
          <p:cNvPr id="11" name="Text 9"/>
          <p:cNvSpPr/>
          <p:nvPr/>
        </p:nvSpPr>
        <p:spPr>
          <a:xfrm>
            <a:off x="4727448" y="1682496"/>
            <a:ext cx="4352544" cy="2011680"/>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Runs in background if ANY of: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target_words &gt; 3000  (_BACKGROUND_WORD_THRESHOLD)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target_sections &gt; 5  (_BACKGROUND_SECTION_THRESHOLD)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async_requested = 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Per-section retries: up to 2  (_MAX_SECTION_RETRIES)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delivery: artifacts registered via register_workspace_artifact(). Client fetches via /v1/files/{id}.</a:t>
            </a:r>
            <a:endParaRPr lang="en-US" sz="1000" dirty="0"/>
          </a:p>
        </p:txBody>
      </p:sp>
      <p:sp>
        <p:nvSpPr>
          <p:cNvPr id="12" name="Shape 10"/>
          <p:cNvSpPr/>
          <p:nvPr/>
        </p:nvSpPr>
        <p:spPr>
          <a:xfrm>
            <a:off x="502920" y="3877056"/>
            <a:ext cx="2590800" cy="274320"/>
          </a:xfrm>
          <a:prstGeom prst="rect">
            <a:avLst/>
          </a:prstGeom>
          <a:solidFill>
            <a:srgbClr val="F9A825"/>
          </a:solidFill>
          <a:ln/>
        </p:spPr>
        <p:txBody>
          <a:bodyPr/>
          <a:lstStyle/>
          <a:p>
            <a:endParaRPr lang="en-US"/>
          </a:p>
        </p:txBody>
      </p:sp>
      <p:sp>
        <p:nvSpPr>
          <p:cNvPr id="13" name="Text 11"/>
          <p:cNvSpPr/>
          <p:nvPr/>
        </p:nvSpPr>
        <p:spPr>
          <a:xfrm>
            <a:off x="54864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chat</a:t>
            </a:r>
            <a:endParaRPr lang="en-US" sz="1100" dirty="0"/>
          </a:p>
        </p:txBody>
      </p:sp>
      <p:sp>
        <p:nvSpPr>
          <p:cNvPr id="14" name="Shape 12"/>
          <p:cNvSpPr/>
          <p:nvPr/>
        </p:nvSpPr>
        <p:spPr>
          <a:xfrm>
            <a:off x="50292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4864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All sections streamed directly into conversation</a:t>
            </a:r>
            <a:endParaRPr lang="en-US" sz="950" dirty="0"/>
          </a:p>
        </p:txBody>
      </p:sp>
      <p:sp>
        <p:nvSpPr>
          <p:cNvPr id="16" name="Shape 14"/>
          <p:cNvSpPr/>
          <p:nvPr/>
        </p:nvSpPr>
        <p:spPr>
          <a:xfrm>
            <a:off x="3276600" y="3877056"/>
            <a:ext cx="2590800" cy="274320"/>
          </a:xfrm>
          <a:prstGeom prst="rect">
            <a:avLst/>
          </a:prstGeom>
          <a:solidFill>
            <a:srgbClr val="0097A7"/>
          </a:solidFill>
          <a:ln/>
        </p:spPr>
        <p:txBody>
          <a:bodyPr/>
          <a:lstStyle/>
          <a:p>
            <a:endParaRPr lang="en-US"/>
          </a:p>
        </p:txBody>
      </p:sp>
      <p:sp>
        <p:nvSpPr>
          <p:cNvPr id="17" name="Text 15"/>
          <p:cNvSpPr/>
          <p:nvPr/>
        </p:nvSpPr>
        <p:spPr>
          <a:xfrm>
            <a:off x="332232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file</a:t>
            </a:r>
            <a:endParaRPr lang="en-US" sz="1100" dirty="0"/>
          </a:p>
        </p:txBody>
      </p:sp>
      <p:sp>
        <p:nvSpPr>
          <p:cNvPr id="18" name="Shape 16"/>
          <p:cNvSpPr/>
          <p:nvPr/>
        </p:nvSpPr>
        <p:spPr>
          <a:xfrm>
            <a:off x="327660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2232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Written to a file artifact; client gets download link</a:t>
            </a:r>
            <a:endParaRPr lang="en-US" sz="950" dirty="0"/>
          </a:p>
        </p:txBody>
      </p:sp>
      <p:sp>
        <p:nvSpPr>
          <p:cNvPr id="20" name="Shape 18"/>
          <p:cNvSpPr/>
          <p:nvPr/>
        </p:nvSpPr>
        <p:spPr>
          <a:xfrm>
            <a:off x="6050280" y="3877056"/>
            <a:ext cx="2590800" cy="274320"/>
          </a:xfrm>
          <a:prstGeom prst="rect">
            <a:avLst/>
          </a:prstGeom>
          <a:solidFill>
            <a:srgbClr val="00796B"/>
          </a:solidFill>
          <a:ln/>
        </p:spPr>
        <p:txBody>
          <a:bodyPr/>
          <a:lstStyle/>
          <a:p>
            <a:endParaRPr lang="en-US"/>
          </a:p>
        </p:txBody>
      </p:sp>
      <p:sp>
        <p:nvSpPr>
          <p:cNvPr id="21" name="Text 19"/>
          <p:cNvSpPr/>
          <p:nvPr/>
        </p:nvSpPr>
        <p:spPr>
          <a:xfrm>
            <a:off x="609600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hybrid</a:t>
            </a:r>
            <a:endParaRPr lang="en-US" sz="1100" dirty="0"/>
          </a:p>
        </p:txBody>
      </p:sp>
      <p:sp>
        <p:nvSpPr>
          <p:cNvPr id="22" name="Shape 20"/>
          <p:cNvSpPr/>
          <p:nvPr/>
        </p:nvSpPr>
        <p:spPr>
          <a:xfrm>
            <a:off x="605028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609600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Short summary in chat + full content as file</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runtime/long_output.py — LongOutputComposer, LongOutputOptions, LongOutputSection, LongOutputPlan, LongOutputResult</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Routing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13-16: Deterministic regex + LLM judge escalation</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Deterministic Router — The Regex Patterns</a:t>
            </a:r>
            <a:endParaRPr lang="en-US" sz="2600" dirty="0"/>
          </a:p>
        </p:txBody>
      </p:sp>
      <p:sp>
        <p:nvSpPr>
          <p:cNvPr id="3" name="Shape 1"/>
          <p:cNvSpPr/>
          <p:nvPr/>
        </p:nvSpPr>
        <p:spPr>
          <a:xfrm>
            <a:off x="502920" y="868680"/>
            <a:ext cx="14173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68680"/>
            <a:ext cx="13075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Pattern</a:t>
            </a:r>
            <a:endParaRPr lang="en-US" sz="900" dirty="0"/>
          </a:p>
        </p:txBody>
      </p:sp>
      <p:sp>
        <p:nvSpPr>
          <p:cNvPr id="5" name="Shape 3"/>
          <p:cNvSpPr/>
          <p:nvPr/>
        </p:nvSpPr>
        <p:spPr>
          <a:xfrm>
            <a:off x="1920240" y="868680"/>
            <a:ext cx="210312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975104" y="868680"/>
            <a:ext cx="19933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Regex Variable</a:t>
            </a:r>
            <a:endParaRPr lang="en-US" sz="900" dirty="0"/>
          </a:p>
        </p:txBody>
      </p:sp>
      <p:sp>
        <p:nvSpPr>
          <p:cNvPr id="7" name="Shape 5"/>
          <p:cNvSpPr/>
          <p:nvPr/>
        </p:nvSpPr>
        <p:spPr>
          <a:xfrm>
            <a:off x="4023360" y="868680"/>
            <a:ext cx="246888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078224" y="868680"/>
            <a:ext cx="23591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It Catches</a:t>
            </a:r>
            <a:endParaRPr lang="en-US" sz="900" dirty="0"/>
          </a:p>
        </p:txBody>
      </p:sp>
      <p:sp>
        <p:nvSpPr>
          <p:cNvPr id="9" name="Shape 7"/>
          <p:cNvSpPr/>
          <p:nvPr/>
        </p:nvSpPr>
        <p:spPr>
          <a:xfrm>
            <a:off x="6492240" y="868680"/>
            <a:ext cx="214884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6547104" y="868680"/>
            <a:ext cx="203911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Route Effect</a:t>
            </a:r>
            <a:endParaRPr lang="en-US" sz="900" dirty="0"/>
          </a:p>
        </p:txBody>
      </p:sp>
      <p:sp>
        <p:nvSpPr>
          <p:cNvPr id="11" name="Shape 9"/>
          <p:cNvSpPr/>
          <p:nvPr/>
        </p:nvSpPr>
        <p:spPr>
          <a:xfrm>
            <a:off x="502920" y="1143000"/>
            <a:ext cx="141732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1430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Tool Verbs</a:t>
            </a:r>
            <a:endParaRPr lang="en-US" sz="850" dirty="0"/>
          </a:p>
        </p:txBody>
      </p:sp>
      <p:sp>
        <p:nvSpPr>
          <p:cNvPr id="13" name="Shape 11"/>
          <p:cNvSpPr/>
          <p:nvPr/>
        </p:nvSpPr>
        <p:spPr>
          <a:xfrm>
            <a:off x="1920240" y="1143000"/>
            <a:ext cx="210312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1975104" y="11430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tool_or_multistep_intent</a:t>
            </a:r>
            <a:endParaRPr lang="en-US" sz="850" dirty="0"/>
          </a:p>
        </p:txBody>
      </p:sp>
      <p:sp>
        <p:nvSpPr>
          <p:cNvPr id="15" name="Shape 13"/>
          <p:cNvSpPr/>
          <p:nvPr/>
        </p:nvSpPr>
        <p:spPr>
          <a:xfrm>
            <a:off x="4023360" y="1143000"/>
            <a:ext cx="2468880" cy="274320"/>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4078224" y="11430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"use tool","search","upload"</a:t>
            </a:r>
            <a:endParaRPr lang="en-US" sz="850" dirty="0"/>
          </a:p>
        </p:txBody>
      </p:sp>
      <p:sp>
        <p:nvSpPr>
          <p:cNvPr id="17" name="Shape 15"/>
          <p:cNvSpPr/>
          <p:nvPr/>
        </p:nvSpPr>
        <p:spPr>
          <a:xfrm>
            <a:off x="6492240" y="1143000"/>
            <a:ext cx="2148840" cy="2743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6547104" y="11430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19" name="Shape 17"/>
          <p:cNvSpPr/>
          <p:nvPr/>
        </p:nvSpPr>
        <p:spPr>
          <a:xfrm>
            <a:off x="502920" y="1417320"/>
            <a:ext cx="141732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557784" y="14173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Data Analysis</a:t>
            </a:r>
            <a:endParaRPr lang="en-US" sz="850" dirty="0"/>
          </a:p>
        </p:txBody>
      </p:sp>
      <p:sp>
        <p:nvSpPr>
          <p:cNvPr id="21" name="Shape 19"/>
          <p:cNvSpPr/>
          <p:nvPr/>
        </p:nvSpPr>
        <p:spPr>
          <a:xfrm>
            <a:off x="1920240" y="1417320"/>
            <a:ext cx="2103120" cy="274320"/>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1975104" y="14173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data_analysis_intent</a:t>
            </a:r>
            <a:endParaRPr lang="en-US" sz="850" dirty="0"/>
          </a:p>
        </p:txBody>
      </p:sp>
      <p:sp>
        <p:nvSpPr>
          <p:cNvPr id="23" name="Shape 21"/>
          <p:cNvSpPr/>
          <p:nvPr/>
        </p:nvSpPr>
        <p:spPr>
          <a:xfrm>
            <a:off x="4023360" y="1417320"/>
            <a:ext cx="2468880" cy="27432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078224" y="14173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"analyze","csv","pandas"</a:t>
            </a:r>
            <a:endParaRPr lang="en-US" sz="850" dirty="0"/>
          </a:p>
        </p:txBody>
      </p:sp>
      <p:sp>
        <p:nvSpPr>
          <p:cNvPr id="25" name="Shape 23"/>
          <p:cNvSpPr/>
          <p:nvPr/>
        </p:nvSpPr>
        <p:spPr>
          <a:xfrm>
            <a:off x="6492240" y="1417320"/>
            <a:ext cx="2148840" cy="274320"/>
          </a:xfrm>
          <a:prstGeom prst="rect">
            <a:avLst/>
          </a:prstGeom>
          <a:solidFill>
            <a:srgbClr val="FFFFFF"/>
          </a:solidFill>
          <a:ln w="3810">
            <a:solidFill>
              <a:srgbClr val="F0F0F0"/>
            </a:solidFill>
            <a:prstDash val="solid"/>
          </a:ln>
        </p:spPr>
        <p:txBody>
          <a:bodyPr/>
          <a:lstStyle/>
          <a:p>
            <a:endParaRPr lang="en-US"/>
          </a:p>
        </p:txBody>
      </p:sp>
      <p:sp>
        <p:nvSpPr>
          <p:cNvPr id="26" name="Text 24"/>
          <p:cNvSpPr/>
          <p:nvPr/>
        </p:nvSpPr>
        <p:spPr>
          <a:xfrm>
            <a:off x="6547104" y="14173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data_analyst</a:t>
            </a:r>
            <a:endParaRPr lang="en-US" sz="850" dirty="0"/>
          </a:p>
        </p:txBody>
      </p:sp>
      <p:sp>
        <p:nvSpPr>
          <p:cNvPr id="27" name="Shape 25"/>
          <p:cNvSpPr/>
          <p:nvPr/>
        </p:nvSpPr>
        <p:spPr>
          <a:xfrm>
            <a:off x="502920" y="1691640"/>
            <a:ext cx="141732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557784" y="169164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Citation</a:t>
            </a:r>
            <a:endParaRPr lang="en-US" sz="850" dirty="0"/>
          </a:p>
        </p:txBody>
      </p:sp>
      <p:sp>
        <p:nvSpPr>
          <p:cNvPr id="29" name="Shape 27"/>
          <p:cNvSpPr/>
          <p:nvPr/>
        </p:nvSpPr>
        <p:spPr>
          <a:xfrm>
            <a:off x="1920240" y="1691640"/>
            <a:ext cx="210312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1975104" y="169164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citation_grounding_intent</a:t>
            </a:r>
            <a:endParaRPr lang="en-US" sz="850" dirty="0"/>
          </a:p>
        </p:txBody>
      </p:sp>
      <p:sp>
        <p:nvSpPr>
          <p:cNvPr id="31" name="Shape 29"/>
          <p:cNvSpPr/>
          <p:nvPr/>
        </p:nvSpPr>
        <p:spPr>
          <a:xfrm>
            <a:off x="4023360" y="1691640"/>
            <a:ext cx="246888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078224" y="169164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"cite","sources","evidence"</a:t>
            </a:r>
            <a:endParaRPr lang="en-US" sz="850" dirty="0"/>
          </a:p>
        </p:txBody>
      </p:sp>
      <p:sp>
        <p:nvSpPr>
          <p:cNvPr id="33" name="Shape 31"/>
          <p:cNvSpPr/>
          <p:nvPr/>
        </p:nvSpPr>
        <p:spPr>
          <a:xfrm>
            <a:off x="6492240" y="1691640"/>
            <a:ext cx="214884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547104" y="169164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35" name="Shape 33"/>
          <p:cNvSpPr/>
          <p:nvPr/>
        </p:nvSpPr>
        <p:spPr>
          <a:xfrm>
            <a:off x="502920" y="1965960"/>
            <a:ext cx="141732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57784" y="196596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High Stakes</a:t>
            </a:r>
            <a:endParaRPr lang="en-US" sz="850" dirty="0"/>
          </a:p>
        </p:txBody>
      </p:sp>
      <p:sp>
        <p:nvSpPr>
          <p:cNvPr id="37" name="Shape 35"/>
          <p:cNvSpPr/>
          <p:nvPr/>
        </p:nvSpPr>
        <p:spPr>
          <a:xfrm>
            <a:off x="1920240" y="1965960"/>
            <a:ext cx="210312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975104" y="196596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high_stakes_intent</a:t>
            </a:r>
            <a:endParaRPr lang="en-US" sz="850" dirty="0"/>
          </a:p>
        </p:txBody>
      </p:sp>
      <p:sp>
        <p:nvSpPr>
          <p:cNvPr id="39" name="Shape 37"/>
          <p:cNvSpPr/>
          <p:nvPr/>
        </p:nvSpPr>
        <p:spPr>
          <a:xfrm>
            <a:off x="4023360" y="1965960"/>
            <a:ext cx="246888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4078224" y="196596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"medical","legal","financial"</a:t>
            </a:r>
            <a:endParaRPr lang="en-US" sz="850" dirty="0"/>
          </a:p>
        </p:txBody>
      </p:sp>
      <p:sp>
        <p:nvSpPr>
          <p:cNvPr id="41" name="Shape 39"/>
          <p:cNvSpPr/>
          <p:nvPr/>
        </p:nvSpPr>
        <p:spPr>
          <a:xfrm>
            <a:off x="6492240" y="1965960"/>
            <a:ext cx="214884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6547104" y="196596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 (high conf)</a:t>
            </a:r>
            <a:endParaRPr lang="en-US" sz="850" dirty="0"/>
          </a:p>
        </p:txBody>
      </p:sp>
      <p:sp>
        <p:nvSpPr>
          <p:cNvPr id="43" name="Shape 41"/>
          <p:cNvSpPr/>
          <p:nvPr/>
        </p:nvSpPr>
        <p:spPr>
          <a:xfrm>
            <a:off x="502920" y="2240280"/>
            <a:ext cx="1417320" cy="274320"/>
          </a:xfrm>
          <a:prstGeom prst="rect">
            <a:avLst/>
          </a:prstGeom>
          <a:solidFill>
            <a:srgbClr val="F5F5F5"/>
          </a:solidFill>
          <a:ln w="3810">
            <a:solidFill>
              <a:srgbClr val="F0F0F0"/>
            </a:solidFill>
            <a:prstDash val="solid"/>
          </a:ln>
        </p:spPr>
        <p:txBody>
          <a:bodyPr/>
          <a:lstStyle/>
          <a:p>
            <a:endParaRPr lang="en-US"/>
          </a:p>
        </p:txBody>
      </p:sp>
      <p:sp>
        <p:nvSpPr>
          <p:cNvPr id="44" name="Text 42"/>
          <p:cNvSpPr/>
          <p:nvPr/>
        </p:nvSpPr>
        <p:spPr>
          <a:xfrm>
            <a:off x="557784" y="224028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Coordinator</a:t>
            </a:r>
            <a:endParaRPr lang="en-US" sz="850" dirty="0"/>
          </a:p>
        </p:txBody>
      </p:sp>
      <p:sp>
        <p:nvSpPr>
          <p:cNvPr id="45" name="Shape 43"/>
          <p:cNvSpPr/>
          <p:nvPr/>
        </p:nvSpPr>
        <p:spPr>
          <a:xfrm>
            <a:off x="1920240" y="2240280"/>
            <a:ext cx="21031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1975104" y="224028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coordinator_campaign_intent</a:t>
            </a:r>
            <a:endParaRPr lang="en-US" sz="850" dirty="0"/>
          </a:p>
        </p:txBody>
      </p:sp>
      <p:sp>
        <p:nvSpPr>
          <p:cNvPr id="47" name="Shape 45"/>
          <p:cNvSpPr/>
          <p:nvPr/>
        </p:nvSpPr>
        <p:spPr>
          <a:xfrm>
            <a:off x="4023360" y="2240280"/>
            <a:ext cx="24688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4078224" y="224028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"compare","multi-step"</a:t>
            </a:r>
            <a:endParaRPr lang="en-US" sz="850" dirty="0"/>
          </a:p>
        </p:txBody>
      </p:sp>
      <p:sp>
        <p:nvSpPr>
          <p:cNvPr id="49" name="Shape 47"/>
          <p:cNvSpPr/>
          <p:nvPr/>
        </p:nvSpPr>
        <p:spPr>
          <a:xfrm>
            <a:off x="6492240" y="2240280"/>
            <a:ext cx="214884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6547104" y="224028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coordinator</a:t>
            </a:r>
            <a:endParaRPr lang="en-US" sz="850" dirty="0"/>
          </a:p>
        </p:txBody>
      </p:sp>
      <p:sp>
        <p:nvSpPr>
          <p:cNvPr id="51" name="Shape 49"/>
          <p:cNvSpPr/>
          <p:nvPr/>
        </p:nvSpPr>
        <p:spPr>
          <a:xfrm>
            <a:off x="502920" y="2514600"/>
            <a:ext cx="14173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25146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RAG</a:t>
            </a:r>
            <a:endParaRPr lang="en-US" sz="850" dirty="0"/>
          </a:p>
        </p:txBody>
      </p:sp>
      <p:sp>
        <p:nvSpPr>
          <p:cNvPr id="53" name="Shape 51"/>
          <p:cNvSpPr/>
          <p:nvPr/>
        </p:nvSpPr>
        <p:spPr>
          <a:xfrm>
            <a:off x="1920240" y="2514600"/>
            <a:ext cx="210312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1975104" y="25146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rag_grounding_intent</a:t>
            </a:r>
            <a:endParaRPr lang="en-US" sz="850" dirty="0"/>
          </a:p>
        </p:txBody>
      </p:sp>
      <p:sp>
        <p:nvSpPr>
          <p:cNvPr id="55" name="Shape 53"/>
          <p:cNvSpPr/>
          <p:nvPr/>
        </p:nvSpPr>
        <p:spPr>
          <a:xfrm>
            <a:off x="4023360" y="2514600"/>
            <a:ext cx="246888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078224" y="25146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"document","policy","playbook"</a:t>
            </a:r>
            <a:endParaRPr lang="en-US" sz="850" dirty="0"/>
          </a:p>
        </p:txBody>
      </p:sp>
      <p:sp>
        <p:nvSpPr>
          <p:cNvPr id="57" name="Shape 55"/>
          <p:cNvSpPr/>
          <p:nvPr/>
        </p:nvSpPr>
        <p:spPr>
          <a:xfrm>
            <a:off x="6492240" y="2514600"/>
            <a:ext cx="2148840" cy="274320"/>
          </a:xfrm>
          <a:prstGeom prst="rect">
            <a:avLst/>
          </a:prstGeom>
          <a:solidFill>
            <a:srgbClr val="FFFFFF"/>
          </a:solidFill>
          <a:ln w="3810">
            <a:solidFill>
              <a:srgbClr val="F0F0F0"/>
            </a:solidFill>
            <a:prstDash val="solid"/>
          </a:ln>
        </p:spPr>
        <p:txBody>
          <a:bodyPr/>
          <a:lstStyle/>
          <a:p>
            <a:endParaRPr lang="en-US"/>
          </a:p>
        </p:txBody>
      </p:sp>
      <p:sp>
        <p:nvSpPr>
          <p:cNvPr id="58" name="Text 56"/>
          <p:cNvSpPr/>
          <p:nvPr/>
        </p:nvSpPr>
        <p:spPr>
          <a:xfrm>
            <a:off x="6547104" y="25146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59" name="Shape 57"/>
          <p:cNvSpPr/>
          <p:nvPr/>
        </p:nvSpPr>
        <p:spPr>
          <a:xfrm>
            <a:off x="502920" y="2788920"/>
            <a:ext cx="141732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557784" y="27889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KB Inventory</a:t>
            </a:r>
            <a:endParaRPr lang="en-US" sz="850" dirty="0"/>
          </a:p>
        </p:txBody>
      </p:sp>
      <p:sp>
        <p:nvSpPr>
          <p:cNvPr id="61" name="Shape 59"/>
          <p:cNvSpPr/>
          <p:nvPr/>
        </p:nvSpPr>
        <p:spPr>
          <a:xfrm>
            <a:off x="1920240" y="2788920"/>
            <a:ext cx="210312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1975104" y="27889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kb_inventory_intent</a:t>
            </a:r>
            <a:endParaRPr lang="en-US" sz="850" dirty="0"/>
          </a:p>
        </p:txBody>
      </p:sp>
      <p:sp>
        <p:nvSpPr>
          <p:cNvPr id="63" name="Shape 61"/>
          <p:cNvSpPr/>
          <p:nvPr/>
        </p:nvSpPr>
        <p:spPr>
          <a:xfrm>
            <a:off x="4023360" y="2788920"/>
            <a:ext cx="246888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4078224" y="27889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docs","what documents"</a:t>
            </a:r>
            <a:endParaRPr lang="en-US" sz="850" dirty="0"/>
          </a:p>
        </p:txBody>
      </p:sp>
      <p:sp>
        <p:nvSpPr>
          <p:cNvPr id="65" name="Shape 63"/>
          <p:cNvSpPr/>
          <p:nvPr/>
        </p:nvSpPr>
        <p:spPr>
          <a:xfrm>
            <a:off x="6492240" y="2788920"/>
            <a:ext cx="214884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547104" y="27889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67" name="Shape 65"/>
          <p:cNvSpPr/>
          <p:nvPr/>
        </p:nvSpPr>
        <p:spPr>
          <a:xfrm>
            <a:off x="502920" y="3154680"/>
            <a:ext cx="8138160" cy="347472"/>
          </a:xfrm>
          <a:prstGeom prst="rect">
            <a:avLst/>
          </a:prstGeom>
          <a:solidFill>
            <a:srgbClr val="E0F7FA"/>
          </a:solidFill>
          <a:ln w="12700">
            <a:solidFill>
              <a:srgbClr val="0097A7"/>
            </a:solidFill>
            <a:prstDash val="solid"/>
          </a:ln>
        </p:spPr>
        <p:txBody>
          <a:bodyPr/>
          <a:lstStyle/>
          <a:p>
            <a:endParaRPr lang="en-US"/>
          </a:p>
        </p:txBody>
      </p:sp>
      <p:sp>
        <p:nvSpPr>
          <p:cNvPr id="68" name="Text 66"/>
          <p:cNvSpPr/>
          <p:nvPr/>
        </p:nvSpPr>
        <p:spPr>
          <a:xfrm>
            <a:off x="594360" y="3154680"/>
            <a:ext cx="7955280" cy="347472"/>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no patterns match AND text &lt; 600 chars -&gt; BASIC route with 0.85 confidence. Attachments always route to AGENT (confidence=1.0).</a:t>
            </a:r>
            <a:endParaRPr lang="en-US" sz="1000" dirty="0"/>
          </a:p>
        </p:txBody>
      </p:sp>
      <p:sp>
        <p:nvSpPr>
          <p:cNvPr id="69" name="Text 6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router/patterns.py, router/router.py</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LLM Judge — When Regex Isn't Enough</a:t>
            </a:r>
            <a:endParaRPr lang="en-US" sz="2600" dirty="0"/>
          </a:p>
        </p:txBody>
      </p:sp>
      <p:sp>
        <p:nvSpPr>
          <p:cNvPr id="3" name="Shape 1"/>
          <p:cNvSpPr/>
          <p:nvPr/>
        </p:nvSpPr>
        <p:spPr>
          <a:xfrm>
            <a:off x="365760" y="1280160"/>
            <a:ext cx="201168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365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&lt; 0.70</a:t>
            </a:r>
            <a:endParaRPr lang="en-US" sz="1000" dirty="0"/>
          </a:p>
        </p:txBody>
      </p:sp>
      <p:sp>
        <p:nvSpPr>
          <p:cNvPr id="5" name="Shape 3"/>
          <p:cNvSpPr/>
          <p:nvPr/>
        </p:nvSpPr>
        <p:spPr>
          <a:xfrm>
            <a:off x="2377440" y="16459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542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51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51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receives: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user_text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history_summary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descriptions</a:t>
            </a:r>
            <a:endParaRPr lang="en-US" sz="1000" dirty="0"/>
          </a:p>
        </p:txBody>
      </p:sp>
      <p:sp>
        <p:nvSpPr>
          <p:cNvPr id="9" name="Shape 7"/>
          <p:cNvSpPr/>
          <p:nvPr/>
        </p:nvSpPr>
        <p:spPr>
          <a:xfrm>
            <a:off x="4663440" y="16459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4828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937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937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outputs: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 agent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reasoning</a:t>
            </a:r>
            <a:endParaRPr lang="en-US" sz="1000" dirty="0"/>
          </a:p>
        </p:txBody>
      </p:sp>
      <p:sp>
        <p:nvSpPr>
          <p:cNvPr id="13" name="Shape 11"/>
          <p:cNvSpPr/>
          <p:nvPr/>
        </p:nvSpPr>
        <p:spPr>
          <a:xfrm>
            <a:off x="6949440" y="1645920"/>
            <a:ext cx="274320" cy="0"/>
          </a:xfrm>
          <a:prstGeom prst="line">
            <a:avLst/>
          </a:prstGeom>
          <a:noFill/>
          <a:ln w="25400">
            <a:solidFill>
              <a:srgbClr val="0097A7"/>
            </a:solidFill>
            <a:prstDash val="solid"/>
          </a:ln>
        </p:spPr>
        <p:txBody>
          <a:bodyPr/>
          <a:lstStyle/>
          <a:p>
            <a:endParaRPr lang="en-US"/>
          </a:p>
        </p:txBody>
      </p:sp>
      <p:sp>
        <p:nvSpPr>
          <p:cNvPr id="14" name="Text 12"/>
          <p:cNvSpPr/>
          <p:nvPr/>
        </p:nvSpPr>
        <p:spPr>
          <a:xfrm>
            <a:off x="7114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7223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223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 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merges LLM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signals</a:t>
            </a:r>
            <a:endParaRPr lang="en-US" sz="1000" dirty="0"/>
          </a:p>
        </p:txBody>
      </p:sp>
      <p:sp>
        <p:nvSpPr>
          <p:cNvPr id="17" name="Shape 15"/>
          <p:cNvSpPr/>
          <p:nvPr/>
        </p:nvSpPr>
        <p:spPr>
          <a:xfrm>
            <a:off x="502920" y="2560320"/>
            <a:ext cx="8138160" cy="365760"/>
          </a:xfrm>
          <a:prstGeom prst="rect">
            <a:avLst/>
          </a:prstGeom>
          <a:solidFill>
            <a:srgbClr val="E0F7FA"/>
          </a:solidFill>
          <a:ln w="12700">
            <a:solidFill>
              <a:srgbClr val="0097A7"/>
            </a:solidFill>
            <a:prstDash val="solid"/>
          </a:ln>
        </p:spPr>
        <p:txBody>
          <a:bodyPr/>
          <a:lstStyle/>
          <a:p>
            <a:endParaRPr lang="en-US"/>
          </a:p>
        </p:txBody>
      </p:sp>
      <p:sp>
        <p:nvSpPr>
          <p:cNvPr id="18" name="Text 16"/>
          <p:cNvSpPr/>
          <p:nvPr/>
        </p:nvSpPr>
        <p:spPr>
          <a:xfrm>
            <a:off x="594360" y="25603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Uses Pydantic LLMRouterOutput with structured output. Falls back to text parsing if provider doesn't support structured output.</a:t>
            </a:r>
            <a:endParaRPr lang="en-US" sz="1000" dirty="0"/>
          </a:p>
        </p:txBody>
      </p:sp>
      <p:sp>
        <p:nvSpPr>
          <p:cNvPr id="19" name="Text 17"/>
          <p:cNvSpPr/>
          <p:nvPr/>
        </p:nvSpPr>
        <p:spPr>
          <a:xfrm>
            <a:off x="502920" y="3108960"/>
            <a:ext cx="8138160" cy="457200"/>
          </a:xfrm>
          <a:prstGeom prst="rect">
            <a:avLst/>
          </a:prstGeom>
          <a:noFill/>
          <a:ln/>
        </p:spPr>
        <p:txBody>
          <a:bodyPr wrap="square" lIns="0" tIns="0" rIns="0" bIns="0" rtlCol="0" anchor="ctr"/>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'What happened in last quarter's board meeting?' — no regex matches, but LLM judge recognizes it needs RAG retrieval and routes to rag_worker.</a:t>
            </a:r>
            <a:endParaRPr lang="en-US" sz="110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(~430 lines)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From Router Decision to Agent Name</a:t>
            </a:r>
            <a:endParaRPr lang="en-US" sz="2600" dirty="0"/>
          </a:p>
        </p:txBody>
      </p:sp>
      <p:sp>
        <p:nvSpPr>
          <p:cNvPr id="3" name="Shape 1"/>
          <p:cNvSpPr/>
          <p:nvPr/>
        </p:nvSpPr>
        <p:spPr>
          <a:xfrm>
            <a:off x="2057400" y="1051560"/>
            <a:ext cx="50292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057400" y="105156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 returns suggested_agent</a:t>
            </a:r>
            <a:endParaRPr lang="en-US" sz="1000" dirty="0"/>
          </a:p>
        </p:txBody>
      </p:sp>
      <p:sp>
        <p:nvSpPr>
          <p:cNvPr id="5" name="Shape 3"/>
          <p:cNvSpPr/>
          <p:nvPr/>
        </p:nvSpPr>
        <p:spPr>
          <a:xfrm>
            <a:off x="4572000" y="1508760"/>
            <a:ext cx="0" cy="13716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057400" y="1691640"/>
            <a:ext cx="50292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057400" y="169164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Policy checks: does agent exist in registry?</a:t>
            </a:r>
            <a:endParaRPr lang="en-US" sz="1000" dirty="0"/>
          </a:p>
        </p:txBody>
      </p:sp>
      <p:sp>
        <p:nvSpPr>
          <p:cNvPr id="9" name="Shape 7"/>
          <p:cNvSpPr/>
          <p:nvPr/>
        </p:nvSpPr>
        <p:spPr>
          <a:xfrm>
            <a:off x="4572000" y="2148840"/>
            <a:ext cx="0" cy="13716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212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2057400" y="2331720"/>
            <a:ext cx="50292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057400" y="233172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If exists and routable -&gt; use it</a:t>
            </a:r>
            <a:endParaRPr lang="en-US" sz="1000" dirty="0"/>
          </a:p>
        </p:txBody>
      </p:sp>
      <p:sp>
        <p:nvSpPr>
          <p:cNvPr id="13" name="Shape 11"/>
          <p:cNvSpPr/>
          <p:nvPr/>
        </p:nvSpPr>
        <p:spPr>
          <a:xfrm>
            <a:off x="4572000" y="2788920"/>
            <a:ext cx="0" cy="13716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852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057400" y="2971800"/>
            <a:ext cx="5029200" cy="45720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057400" y="2971800"/>
            <a:ext cx="502920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If coordinator mode forced (settings) -&gt; override</a:t>
            </a:r>
            <a:endParaRPr lang="en-US" sz="1000" dirty="0"/>
          </a:p>
        </p:txBody>
      </p:sp>
      <p:sp>
        <p:nvSpPr>
          <p:cNvPr id="17" name="Shape 15"/>
          <p:cNvSpPr/>
          <p:nvPr/>
        </p:nvSpPr>
        <p:spPr>
          <a:xfrm>
            <a:off x="4572000" y="3429000"/>
            <a:ext cx="0" cy="137160"/>
          </a:xfrm>
          <a:prstGeom prst="line">
            <a:avLst/>
          </a:prstGeom>
          <a:noFill/>
          <a:ln w="25400">
            <a:solidFill>
              <a:srgbClr val="0097A7"/>
            </a:solidFill>
            <a:prstDash val="solid"/>
          </a:ln>
        </p:spPr>
        <p:txBody>
          <a:bodyPr/>
          <a:lstStyle/>
          <a:p>
            <a:endParaRPr lang="en-US"/>
          </a:p>
        </p:txBody>
      </p:sp>
      <p:sp>
        <p:nvSpPr>
          <p:cNvPr id="18" name="Text 16"/>
          <p:cNvSpPr/>
          <p:nvPr/>
        </p:nvSpPr>
        <p:spPr>
          <a:xfrm>
            <a:off x="4480560" y="3493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9" name="Shape 17"/>
          <p:cNvSpPr/>
          <p:nvPr/>
        </p:nvSpPr>
        <p:spPr>
          <a:xfrm>
            <a:off x="2057400" y="3611880"/>
            <a:ext cx="5029200" cy="45720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2057400" y="361188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Fallback: 'general' agent</a:t>
            </a:r>
            <a:endParaRPr lang="en-US" sz="1000" dirty="0"/>
          </a:p>
        </p:txBody>
      </p:sp>
      <p:sp>
        <p:nvSpPr>
          <p:cNvPr id="21" name="Shape 19"/>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choose_agent_name() returns the agent name string -&gt; passed to kernel.process_agent_turn(). The policy prevents routing to non-existent agents.</a:t>
            </a:r>
            <a:endParaRPr lang="en-US" sz="1000" dirty="0"/>
          </a:p>
        </p:txBody>
      </p:sp>
      <p:sp>
        <p:nvSpPr>
          <p:cNvPr id="23" name="Text 2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router/policy.py — choose_agent_name()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Definitions as Data</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17-20: Markdown files, not hard-coded classes</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Definitions — Data, Not Hard-Coded Classes</a:t>
            </a:r>
            <a:endParaRPr lang="en-US" sz="2600" dirty="0"/>
          </a:p>
        </p:txBody>
      </p:sp>
      <p:sp>
        <p:nvSpPr>
          <p:cNvPr id="3" name="Shape 1"/>
          <p:cNvSpPr/>
          <p:nvPr/>
        </p:nvSpPr>
        <p:spPr>
          <a:xfrm>
            <a:off x="502920" y="914400"/>
            <a:ext cx="8138160" cy="502920"/>
          </a:xfrm>
          <a:prstGeom prst="rect">
            <a:avLst/>
          </a:prstGeom>
          <a:solidFill>
            <a:srgbClr val="E0F7FA"/>
          </a:solidFill>
          <a:ln w="12700">
            <a:solidFill>
              <a:srgbClr val="0097A7"/>
            </a:solidFill>
            <a:prstDash val="solid"/>
          </a:ln>
        </p:spPr>
        <p:txBody>
          <a:bodyPr/>
          <a:lstStyle/>
          <a:p>
            <a:endParaRPr lang="en-US"/>
          </a:p>
        </p:txBody>
      </p:sp>
      <p:sp>
        <p:nvSpPr>
          <p:cNvPr id="4" name="Text 2"/>
          <p:cNvSpPr/>
          <p:nvPr/>
        </p:nvSpPr>
        <p:spPr>
          <a:xfrm>
            <a:off x="594360" y="91440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Every agent is defined by a markdown file in data/agents/*.md. There is NO CoordinatorAgent class, NO DataAnalystAgent class. The runtime reads these files and configures generic execution modes.</a:t>
            </a:r>
            <a:endParaRPr lang="en-US" sz="1000" dirty="0"/>
          </a:p>
        </p:txBody>
      </p:sp>
      <p:sp>
        <p:nvSpPr>
          <p:cNvPr id="5" name="Shape 3"/>
          <p:cNvSpPr/>
          <p:nvPr/>
        </p:nvSpPr>
        <p:spPr>
          <a:xfrm>
            <a:off x="502920" y="1600200"/>
            <a:ext cx="4114800" cy="2011680"/>
          </a:xfrm>
          <a:prstGeom prst="rect">
            <a:avLst/>
          </a:prstGeom>
          <a:solidFill>
            <a:srgbClr val="2D2D2D"/>
          </a:solidFill>
          <a:ln/>
        </p:spPr>
        <p:txBody>
          <a:bodyPr/>
          <a:lstStyle/>
          <a:p>
            <a:endParaRPr lang="en-US"/>
          </a:p>
        </p:txBody>
      </p:sp>
      <p:sp>
        <p:nvSpPr>
          <p:cNvPr id="6" name="Text 4"/>
          <p:cNvSpPr/>
          <p:nvPr/>
        </p:nvSpPr>
        <p:spPr>
          <a:xfrm>
            <a:off x="612648" y="1655064"/>
            <a:ext cx="3895344" cy="19019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data/agents/general.md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description: General-purpose assistant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10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list_indexed_docs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memory_save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memory_load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rag_agent_tool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system_prompt_file: data/skills/general_agent.md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4846320" y="1600200"/>
            <a:ext cx="18288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4846320" y="160020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Markdown file</a:t>
            </a:r>
            <a:endParaRPr lang="en-US" sz="1000" dirty="0"/>
          </a:p>
        </p:txBody>
      </p:sp>
      <p:sp>
        <p:nvSpPr>
          <p:cNvPr id="9" name="Shape 7"/>
          <p:cNvSpPr/>
          <p:nvPr/>
        </p:nvSpPr>
        <p:spPr>
          <a:xfrm>
            <a:off x="5760720" y="2057400"/>
            <a:ext cx="0" cy="274320"/>
          </a:xfrm>
          <a:prstGeom prst="line">
            <a:avLst/>
          </a:prstGeom>
          <a:noFill/>
          <a:ln w="25400">
            <a:solidFill>
              <a:srgbClr val="0097A7"/>
            </a:solidFill>
            <a:prstDash val="solid"/>
          </a:ln>
        </p:spPr>
        <p:txBody>
          <a:bodyPr/>
          <a:lstStyle/>
          <a:p>
            <a:endParaRPr lang="en-US"/>
          </a:p>
        </p:txBody>
      </p:sp>
      <p:sp>
        <p:nvSpPr>
          <p:cNvPr id="10" name="Text 8"/>
          <p:cNvSpPr/>
          <p:nvPr/>
        </p:nvSpPr>
        <p:spPr>
          <a:xfrm>
            <a:off x="5669280" y="22585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4846320" y="2377440"/>
            <a:ext cx="18288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846320" y="237744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reads it</a:t>
            </a:r>
            <a:endParaRPr lang="en-US" sz="1000" dirty="0"/>
          </a:p>
        </p:txBody>
      </p:sp>
      <p:sp>
        <p:nvSpPr>
          <p:cNvPr id="13" name="Shape 11"/>
          <p:cNvSpPr/>
          <p:nvPr/>
        </p:nvSpPr>
        <p:spPr>
          <a:xfrm>
            <a:off x="5760720" y="2834640"/>
            <a:ext cx="0" cy="274320"/>
          </a:xfrm>
          <a:prstGeom prst="line">
            <a:avLst/>
          </a:prstGeom>
          <a:noFill/>
          <a:ln w="25400">
            <a:solidFill>
              <a:srgbClr val="0097A7"/>
            </a:solidFill>
            <a:prstDash val="solid"/>
          </a:ln>
        </p:spPr>
        <p:txBody>
          <a:bodyPr/>
          <a:lstStyle/>
          <a:p>
            <a:endParaRPr lang="en-US"/>
          </a:p>
        </p:txBody>
      </p:sp>
      <p:sp>
        <p:nvSpPr>
          <p:cNvPr id="14" name="Text 12"/>
          <p:cNvSpPr/>
          <p:nvPr/>
        </p:nvSpPr>
        <p:spPr>
          <a:xfrm>
            <a:off x="5669280" y="3035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4846320" y="3154680"/>
            <a:ext cx="21031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846320" y="315468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 executes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 'react' mode</a:t>
            </a:r>
            <a:endParaRPr lang="en-US" sz="1000" dirty="0"/>
          </a:p>
        </p:txBody>
      </p:sp>
      <p:sp>
        <p:nvSpPr>
          <p:cNvPr id="17" name="Text 15"/>
          <p:cNvSpPr/>
          <p:nvPr/>
        </p:nvSpPr>
        <p:spPr>
          <a:xfrm>
            <a:off x="7132320" y="1600200"/>
            <a:ext cx="1645920" cy="2011680"/>
          </a:xfrm>
          <a:prstGeom prst="rect">
            <a:avLst/>
          </a:prstGeom>
          <a:noFill/>
          <a:ln/>
        </p:spPr>
        <p:txBody>
          <a:bodyPr wrap="square" lIns="0" tIns="0" rIns="0" bIns="0" rtlCol="0" anchor="t"/>
          <a:lstStyle/>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add a new agent?</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Create a .md file.</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change tools?</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Edit the frontmatter.</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No code changes needed.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All 11 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33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11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20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12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worker (NEW)</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new</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Anatomy of an Agent Definition File</a:t>
            </a:r>
            <a:endParaRPr lang="en-US" sz="2600" dirty="0"/>
          </a:p>
        </p:txBody>
      </p:sp>
      <p:sp>
        <p:nvSpPr>
          <p:cNvPr id="3" name="Shape 1"/>
          <p:cNvSpPr/>
          <p:nvPr/>
        </p:nvSpPr>
        <p:spPr>
          <a:xfrm>
            <a:off x="502920" y="914400"/>
            <a:ext cx="4572000" cy="3474720"/>
          </a:xfrm>
          <a:prstGeom prst="rect">
            <a:avLst/>
          </a:prstGeom>
          <a:solidFill>
            <a:srgbClr val="2D2D2D"/>
          </a:solidFill>
          <a:ln/>
        </p:spPr>
        <p:txBody>
          <a:bodyPr/>
          <a:lstStyle/>
          <a:p>
            <a:endParaRPr lang="en-US"/>
          </a:p>
        </p:txBody>
      </p:sp>
      <p:sp>
        <p:nvSpPr>
          <p:cNvPr id="4" name="Text 2"/>
          <p:cNvSpPr/>
          <p:nvPr/>
        </p:nvSpPr>
        <p:spPr>
          <a:xfrm>
            <a:off x="612648" y="969264"/>
            <a:ext cx="4352544" cy="3364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data/agents/data_analyst.md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execution_strategy: plan_execute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28</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max_tool_calls: 36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load_dataset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inspect_columns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execute_code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run_nlp_column_task</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return_file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invoke_agent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prompt_file: data_analyst_agent.md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top_level_or_worker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5" name="Shape 3"/>
          <p:cNvSpPr/>
          <p:nvPr/>
        </p:nvSpPr>
        <p:spPr>
          <a:xfrm>
            <a:off x="5120640" y="1051560"/>
            <a:ext cx="3566160" cy="256032"/>
          </a:xfrm>
          <a:prstGeom prst="rect">
            <a:avLst/>
          </a:prstGeom>
          <a:solidFill>
            <a:srgbClr val="E0F7FA"/>
          </a:solidFill>
          <a:ln/>
        </p:spPr>
        <p:txBody>
          <a:bodyPr/>
          <a:lstStyle/>
          <a:p>
            <a:endParaRPr lang="en-US"/>
          </a:p>
        </p:txBody>
      </p:sp>
      <p:sp>
        <p:nvSpPr>
          <p:cNvPr id="6" name="Text 4"/>
          <p:cNvSpPr/>
          <p:nvPr/>
        </p:nvSpPr>
        <p:spPr>
          <a:xfrm>
            <a:off x="5193792" y="10515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name -&gt; unique identifier used by router</a:t>
            </a:r>
            <a:endParaRPr lang="en-US" sz="900" dirty="0"/>
          </a:p>
        </p:txBody>
      </p:sp>
      <p:sp>
        <p:nvSpPr>
          <p:cNvPr id="7" name="Shape 5"/>
          <p:cNvSpPr/>
          <p:nvPr/>
        </p:nvSpPr>
        <p:spPr>
          <a:xfrm>
            <a:off x="5120640" y="1417320"/>
            <a:ext cx="3566160" cy="256032"/>
          </a:xfrm>
          <a:prstGeom prst="rect">
            <a:avLst/>
          </a:prstGeom>
          <a:solidFill>
            <a:srgbClr val="E0F7FA"/>
          </a:solidFill>
          <a:ln/>
        </p:spPr>
        <p:txBody>
          <a:bodyPr/>
          <a:lstStyle/>
          <a:p>
            <a:endParaRPr lang="en-US"/>
          </a:p>
        </p:txBody>
      </p:sp>
      <p:sp>
        <p:nvSpPr>
          <p:cNvPr id="8" name="Text 6"/>
          <p:cNvSpPr/>
          <p:nvPr/>
        </p:nvSpPr>
        <p:spPr>
          <a:xfrm>
            <a:off x="5193792" y="14173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mode -&gt; execution path in QueryLoop (_run_react)</a:t>
            </a:r>
            <a:endParaRPr lang="en-US" sz="900" dirty="0"/>
          </a:p>
        </p:txBody>
      </p:sp>
      <p:sp>
        <p:nvSpPr>
          <p:cNvPr id="9" name="Shape 7"/>
          <p:cNvSpPr/>
          <p:nvPr/>
        </p:nvSpPr>
        <p:spPr>
          <a:xfrm>
            <a:off x="5120640" y="1783080"/>
            <a:ext cx="3566160" cy="256032"/>
          </a:xfrm>
          <a:prstGeom prst="rect">
            <a:avLst/>
          </a:prstGeom>
          <a:solidFill>
            <a:srgbClr val="E0F7FA"/>
          </a:solidFill>
          <a:ln/>
        </p:spPr>
        <p:txBody>
          <a:bodyPr/>
          <a:lstStyle/>
          <a:p>
            <a:endParaRPr lang="en-US"/>
          </a:p>
        </p:txBody>
      </p:sp>
      <p:sp>
        <p:nvSpPr>
          <p:cNvPr id="10" name="Text 8"/>
          <p:cNvSpPr/>
          <p:nvPr/>
        </p:nvSpPr>
        <p:spPr>
          <a:xfrm>
            <a:off x="5193792" y="17830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execution_strategy -&gt; plan_execute variant of ReAct</a:t>
            </a:r>
            <a:endParaRPr lang="en-US" sz="900" dirty="0"/>
          </a:p>
        </p:txBody>
      </p:sp>
      <p:sp>
        <p:nvSpPr>
          <p:cNvPr id="11" name="Shape 9"/>
          <p:cNvSpPr/>
          <p:nvPr/>
        </p:nvSpPr>
        <p:spPr>
          <a:xfrm>
            <a:off x="5120640" y="2103120"/>
            <a:ext cx="3566160" cy="256032"/>
          </a:xfrm>
          <a:prstGeom prst="rect">
            <a:avLst/>
          </a:prstGeom>
          <a:solidFill>
            <a:srgbClr val="E0F7FA"/>
          </a:solidFill>
          <a:ln/>
        </p:spPr>
        <p:txBody>
          <a:bodyPr/>
          <a:lstStyle/>
          <a:p>
            <a:endParaRPr lang="en-US"/>
          </a:p>
        </p:txBody>
      </p:sp>
      <p:sp>
        <p:nvSpPr>
          <p:cNvPr id="12" name="Text 10"/>
          <p:cNvSpPr/>
          <p:nvPr/>
        </p:nvSpPr>
        <p:spPr>
          <a:xfrm>
            <a:off x="5193792" y="21031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max_steps -&gt; safety limit on tool iterations</a:t>
            </a:r>
            <a:endParaRPr lang="en-US" sz="900" dirty="0"/>
          </a:p>
        </p:txBody>
      </p:sp>
      <p:sp>
        <p:nvSpPr>
          <p:cNvPr id="13" name="Shape 11"/>
          <p:cNvSpPr/>
          <p:nvPr/>
        </p:nvSpPr>
        <p:spPr>
          <a:xfrm>
            <a:off x="5120640" y="2423160"/>
            <a:ext cx="3566160" cy="256032"/>
          </a:xfrm>
          <a:prstGeom prst="rect">
            <a:avLst/>
          </a:prstGeom>
          <a:solidFill>
            <a:srgbClr val="E0F7FA"/>
          </a:solidFill>
          <a:ln/>
        </p:spPr>
        <p:txBody>
          <a:bodyPr/>
          <a:lstStyle/>
          <a:p>
            <a:endParaRPr lang="en-US"/>
          </a:p>
        </p:txBody>
      </p:sp>
      <p:sp>
        <p:nvSpPr>
          <p:cNvPr id="14" name="Text 12"/>
          <p:cNvSpPr/>
          <p:nvPr/>
        </p:nvSpPr>
        <p:spPr>
          <a:xfrm>
            <a:off x="5193792" y="24231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allowed_tools -&gt; ENFORCED allowlist. LLM cannot call tools outside this list.</a:t>
            </a:r>
            <a:endParaRPr lang="en-US" sz="900" dirty="0"/>
          </a:p>
        </p:txBody>
      </p:sp>
      <p:sp>
        <p:nvSpPr>
          <p:cNvPr id="15" name="Shape 13"/>
          <p:cNvSpPr/>
          <p:nvPr/>
        </p:nvSpPr>
        <p:spPr>
          <a:xfrm>
            <a:off x="5120640" y="3154680"/>
            <a:ext cx="3566160" cy="256032"/>
          </a:xfrm>
          <a:prstGeom prst="rect">
            <a:avLst/>
          </a:prstGeom>
          <a:solidFill>
            <a:srgbClr val="E0F7FA"/>
          </a:solidFill>
          <a:ln/>
        </p:spPr>
        <p:txBody>
          <a:bodyPr/>
          <a:lstStyle/>
          <a:p>
            <a:endParaRPr lang="en-US"/>
          </a:p>
        </p:txBody>
      </p:sp>
      <p:sp>
        <p:nvSpPr>
          <p:cNvPr id="16" name="Text 14"/>
          <p:cNvSpPr/>
          <p:nvPr/>
        </p:nvSpPr>
        <p:spPr>
          <a:xfrm>
            <a:off x="5193792" y="31546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system_prompt_file -&gt; base prompt loaded from skill</a:t>
            </a:r>
            <a:endParaRPr lang="en-US" sz="900" dirty="0"/>
          </a:p>
        </p:txBody>
      </p:sp>
      <p:sp>
        <p:nvSpPr>
          <p:cNvPr id="17" name="Shape 15"/>
          <p:cNvSpPr/>
          <p:nvPr/>
        </p:nvSpPr>
        <p:spPr>
          <a:xfrm>
            <a:off x="5120640" y="3520440"/>
            <a:ext cx="3566160" cy="256032"/>
          </a:xfrm>
          <a:prstGeom prst="rect">
            <a:avLst/>
          </a:prstGeom>
          <a:solidFill>
            <a:srgbClr val="E0F7FA"/>
          </a:solidFill>
          <a:ln/>
        </p:spPr>
        <p:txBody>
          <a:bodyPr/>
          <a:lstStyle/>
          <a:p>
            <a:endParaRPr lang="en-US"/>
          </a:p>
        </p:txBody>
      </p:sp>
      <p:sp>
        <p:nvSpPr>
          <p:cNvPr id="18" name="Text 16"/>
          <p:cNvSpPr/>
          <p:nvPr/>
        </p:nvSpPr>
        <p:spPr>
          <a:xfrm>
            <a:off x="5193792" y="352044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role_kind -&gt; can run standalone OR as coord worker</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21-26: Five real scenarios traced end-to-end</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RAG_HINTS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6000"/>
            <a:ext cx="8138160" cy="1097280"/>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3611880"/>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594360" y="361188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(max 4 concurrent)</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Tool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27-30: Registry, policy, catalog, and the ReAct loop</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Tool System — Registry, Policy, and Execution</a:t>
            </a:r>
            <a:endParaRPr lang="en-US" sz="2600" dirty="0"/>
          </a:p>
        </p:txBody>
      </p:sp>
      <p:sp>
        <p:nvSpPr>
          <p:cNvPr id="3" name="Shape 1"/>
          <p:cNvSpPr/>
          <p:nvPr/>
        </p:nvSpPr>
        <p:spPr>
          <a:xfrm>
            <a:off x="1371600" y="1005840"/>
            <a:ext cx="6400800" cy="6858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10058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508760" y="10515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Registry</a:t>
            </a:r>
            <a:endParaRPr lang="en-US" sz="1400" dirty="0"/>
          </a:p>
        </p:txBody>
      </p:sp>
      <p:sp>
        <p:nvSpPr>
          <p:cNvPr id="6" name="Text 4"/>
          <p:cNvSpPr/>
          <p:nvPr/>
        </p:nvSpPr>
        <p:spPr>
          <a:xfrm>
            <a:off x="1508760" y="13258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Defines ALL available tools as Python functions with schemas. 54 tools.</a:t>
            </a:r>
            <a:endParaRPr lang="en-US" sz="1000" dirty="0"/>
          </a:p>
        </p:txBody>
      </p:sp>
      <p:sp>
        <p:nvSpPr>
          <p:cNvPr id="7" name="Text 5"/>
          <p:cNvSpPr/>
          <p:nvPr/>
        </p:nvSpPr>
        <p:spPr>
          <a:xfrm>
            <a:off x="5669280" y="13258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tools/registry.py</a:t>
            </a:r>
            <a:endParaRPr lang="en-US" sz="900" dirty="0"/>
          </a:p>
        </p:txBody>
      </p:sp>
      <p:sp>
        <p:nvSpPr>
          <p:cNvPr id="8" name="Shape 6"/>
          <p:cNvSpPr/>
          <p:nvPr/>
        </p:nvSpPr>
        <p:spPr>
          <a:xfrm>
            <a:off x="4572000" y="1691640"/>
            <a:ext cx="0" cy="18288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18013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371600" y="1920240"/>
            <a:ext cx="6400800" cy="6858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371600" y="19202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508760" y="19659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Executor</a:t>
            </a:r>
            <a:endParaRPr lang="en-US" sz="1400" dirty="0"/>
          </a:p>
        </p:txBody>
      </p:sp>
      <p:sp>
        <p:nvSpPr>
          <p:cNvPr id="13" name="Text 11"/>
          <p:cNvSpPr/>
          <p:nvPr/>
        </p:nvSpPr>
        <p:spPr>
          <a:xfrm>
            <a:off x="1508760" y="22402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build_agent_tools() assembles per-agent tool list. Policy: if not in allowlist -&gt; blocked.</a:t>
            </a:r>
            <a:endParaRPr lang="en-US" sz="1000" dirty="0"/>
          </a:p>
        </p:txBody>
      </p:sp>
      <p:sp>
        <p:nvSpPr>
          <p:cNvPr id="14" name="Text 12"/>
          <p:cNvSpPr/>
          <p:nvPr/>
        </p:nvSpPr>
        <p:spPr>
          <a:xfrm>
            <a:off x="5669280" y="22402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tools/executor.py</a:t>
            </a:r>
            <a:endParaRPr lang="en-US" sz="900" dirty="0"/>
          </a:p>
        </p:txBody>
      </p:sp>
      <p:sp>
        <p:nvSpPr>
          <p:cNvPr id="15" name="Shape 13"/>
          <p:cNvSpPr/>
          <p:nvPr/>
        </p:nvSpPr>
        <p:spPr>
          <a:xfrm>
            <a:off x="4572000" y="2606040"/>
            <a:ext cx="0" cy="18288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2715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371600" y="2834640"/>
            <a:ext cx="6400800" cy="6858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371600" y="28346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508760" y="28803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Groups</a:t>
            </a:r>
            <a:endParaRPr lang="en-US" sz="1400" dirty="0"/>
          </a:p>
        </p:txBody>
      </p:sp>
      <p:sp>
        <p:nvSpPr>
          <p:cNvPr id="20" name="Text 18"/>
          <p:cNvSpPr/>
          <p:nvPr/>
        </p:nvSpPr>
        <p:spPr>
          <a:xfrm>
            <a:off x="1508760" y="31546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Organized by domain: orchestration, analyst, rag_gateway, memory, utility.</a:t>
            </a:r>
            <a:endParaRPr lang="en-US" sz="1000" dirty="0"/>
          </a:p>
        </p:txBody>
      </p:sp>
      <p:sp>
        <p:nvSpPr>
          <p:cNvPr id="21" name="Text 19"/>
          <p:cNvSpPr/>
          <p:nvPr/>
        </p:nvSpPr>
        <p:spPr>
          <a:xfrm>
            <a:off x="5669280" y="31546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tools/groups/*.py</a:t>
            </a:r>
            <a:endParaRPr lang="en-US" sz="900" dirty="0"/>
          </a:p>
        </p:txBody>
      </p:sp>
      <p:sp>
        <p:nvSpPr>
          <p:cNvPr id="22" name="Shape 20"/>
          <p:cNvSpPr/>
          <p:nvPr/>
        </p:nvSpPr>
        <p:spPr>
          <a:xfrm>
            <a:off x="502920" y="379476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379476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Tools are Python functions, but which agent can call which tool is controlled by DATA (the agent .md file), not code. You can't escape the sandbox by convincing the LLM to call an unauthorized tool.</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Tool Inventory</a:t>
            </a:r>
            <a:endParaRPr lang="en-US" sz="2600" dirty="0"/>
          </a:p>
        </p:txBody>
      </p:sp>
      <p:sp>
        <p:nvSpPr>
          <p:cNvPr id="3" name="Shape 1"/>
          <p:cNvSpPr/>
          <p:nvPr/>
        </p:nvSpPr>
        <p:spPr>
          <a:xfrm>
            <a:off x="502920" y="1005840"/>
            <a:ext cx="2011680" cy="457200"/>
          </a:xfrm>
          <a:prstGeom prst="rect">
            <a:avLst/>
          </a:prstGeom>
          <a:solidFill>
            <a:srgbClr val="0097A7"/>
          </a:solidFill>
          <a:ln/>
        </p:spPr>
        <p:txBody>
          <a:bodyPr/>
          <a:lstStyle/>
          <a:p>
            <a:endParaRPr lang="en-US"/>
          </a:p>
        </p:txBody>
      </p:sp>
      <p:sp>
        <p:nvSpPr>
          <p:cNvPr id="4" name="Text 2"/>
          <p:cNvSpPr/>
          <p:nvPr/>
        </p:nvSpPr>
        <p:spPr>
          <a:xfrm>
            <a:off x="594360" y="100584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Utility (3)</a:t>
            </a:r>
            <a:endParaRPr lang="en-US" sz="1100" dirty="0"/>
          </a:p>
        </p:txBody>
      </p:sp>
      <p:sp>
        <p:nvSpPr>
          <p:cNvPr id="5" name="Shape 3"/>
          <p:cNvSpPr/>
          <p:nvPr/>
        </p:nvSpPr>
        <p:spPr>
          <a:xfrm>
            <a:off x="2514600" y="1005840"/>
            <a:ext cx="6126480" cy="45720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651760" y="100584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calculator, list_indexed_docs, search_skills</a:t>
            </a:r>
            <a:endParaRPr lang="en-US" sz="1000" dirty="0"/>
          </a:p>
        </p:txBody>
      </p:sp>
      <p:sp>
        <p:nvSpPr>
          <p:cNvPr id="7" name="Shape 5"/>
          <p:cNvSpPr/>
          <p:nvPr/>
        </p:nvSpPr>
        <p:spPr>
          <a:xfrm>
            <a:off x="502920" y="1554480"/>
            <a:ext cx="2011680" cy="457200"/>
          </a:xfrm>
          <a:prstGeom prst="rect">
            <a:avLst/>
          </a:prstGeom>
          <a:solidFill>
            <a:srgbClr val="5C6BC0"/>
          </a:solidFill>
          <a:ln/>
        </p:spPr>
        <p:txBody>
          <a:bodyPr/>
          <a:lstStyle/>
          <a:p>
            <a:endParaRPr lang="en-US"/>
          </a:p>
        </p:txBody>
      </p:sp>
      <p:sp>
        <p:nvSpPr>
          <p:cNvPr id="8" name="Text 6"/>
          <p:cNvSpPr/>
          <p:nvPr/>
        </p:nvSpPr>
        <p:spPr>
          <a:xfrm>
            <a:off x="594360" y="155448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(3)</a:t>
            </a:r>
            <a:endParaRPr lang="en-US" sz="1100" dirty="0"/>
          </a:p>
        </p:txBody>
      </p:sp>
      <p:sp>
        <p:nvSpPr>
          <p:cNvPr id="9" name="Shape 7"/>
          <p:cNvSpPr/>
          <p:nvPr/>
        </p:nvSpPr>
        <p:spPr>
          <a:xfrm>
            <a:off x="2514600" y="1554480"/>
            <a:ext cx="6126480" cy="45720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651760" y="155448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memory_save, memory_load, memory_list</a:t>
            </a:r>
            <a:endParaRPr lang="en-US" sz="1000" dirty="0"/>
          </a:p>
        </p:txBody>
      </p:sp>
      <p:sp>
        <p:nvSpPr>
          <p:cNvPr id="11" name="Shape 9"/>
          <p:cNvSpPr/>
          <p:nvPr/>
        </p:nvSpPr>
        <p:spPr>
          <a:xfrm>
            <a:off x="502920" y="2103120"/>
            <a:ext cx="2011680" cy="457200"/>
          </a:xfrm>
          <a:prstGeom prst="rect">
            <a:avLst/>
          </a:prstGeom>
          <a:solidFill>
            <a:srgbClr val="00796B"/>
          </a:solidFill>
          <a:ln/>
        </p:spPr>
        <p:txBody>
          <a:bodyPr/>
          <a:lstStyle/>
          <a:p>
            <a:endParaRPr lang="en-US"/>
          </a:p>
        </p:txBody>
      </p:sp>
      <p:sp>
        <p:nvSpPr>
          <p:cNvPr id="12" name="Text 10"/>
          <p:cNvSpPr/>
          <p:nvPr/>
        </p:nvSpPr>
        <p:spPr>
          <a:xfrm>
            <a:off x="594360" y="210312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a:t>
            </a:r>
            <a:endParaRPr lang="en-US" sz="1100" dirty="0"/>
          </a:p>
        </p:txBody>
      </p:sp>
      <p:sp>
        <p:nvSpPr>
          <p:cNvPr id="13" name="Shape 11"/>
          <p:cNvSpPr/>
          <p:nvPr/>
        </p:nvSpPr>
        <p:spPr>
          <a:xfrm>
            <a:off x="2514600" y="2103120"/>
            <a:ext cx="6126480" cy="45720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651760" y="210312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rag_agent_tool — wraps full RAG contract pipeline</a:t>
            </a:r>
            <a:endParaRPr lang="en-US" sz="1000" dirty="0"/>
          </a:p>
        </p:txBody>
      </p:sp>
      <p:sp>
        <p:nvSpPr>
          <p:cNvPr id="15" name="Shape 13"/>
          <p:cNvSpPr/>
          <p:nvPr/>
        </p:nvSpPr>
        <p:spPr>
          <a:xfrm>
            <a:off x="502920" y="2651760"/>
            <a:ext cx="2011680" cy="457200"/>
          </a:xfrm>
          <a:prstGeom prst="rect">
            <a:avLst/>
          </a:prstGeom>
          <a:solidFill>
            <a:srgbClr val="1B2A4A"/>
          </a:solidFill>
          <a:ln/>
        </p:spPr>
        <p:txBody>
          <a:bodyPr/>
          <a:lstStyle/>
          <a:p>
            <a:endParaRPr lang="en-US"/>
          </a:p>
        </p:txBody>
      </p:sp>
      <p:sp>
        <p:nvSpPr>
          <p:cNvPr id="16" name="Text 14"/>
          <p:cNvSpPr/>
          <p:nvPr/>
        </p:nvSpPr>
        <p:spPr>
          <a:xfrm>
            <a:off x="594360" y="265176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Orchestration (4)</a:t>
            </a:r>
            <a:endParaRPr lang="en-US" sz="1100" dirty="0"/>
          </a:p>
        </p:txBody>
      </p:sp>
      <p:sp>
        <p:nvSpPr>
          <p:cNvPr id="17" name="Shape 15"/>
          <p:cNvSpPr/>
          <p:nvPr/>
        </p:nvSpPr>
        <p:spPr>
          <a:xfrm>
            <a:off x="2514600" y="2651760"/>
            <a:ext cx="6126480" cy="45720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651760" y="265176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spawn_worker, message_worker, list_jobs, stop_job</a:t>
            </a:r>
            <a:endParaRPr lang="en-US" sz="1000" dirty="0"/>
          </a:p>
        </p:txBody>
      </p:sp>
      <p:sp>
        <p:nvSpPr>
          <p:cNvPr id="19" name="Shape 17"/>
          <p:cNvSpPr/>
          <p:nvPr/>
        </p:nvSpPr>
        <p:spPr>
          <a:xfrm>
            <a:off x="502920" y="3200400"/>
            <a:ext cx="2011680" cy="594360"/>
          </a:xfrm>
          <a:prstGeom prst="rect">
            <a:avLst/>
          </a:prstGeom>
          <a:solidFill>
            <a:srgbClr val="F9A825"/>
          </a:solidFill>
          <a:ln/>
        </p:spPr>
        <p:txBody>
          <a:bodyPr/>
          <a:lstStyle/>
          <a:p>
            <a:endParaRPr lang="en-US"/>
          </a:p>
        </p:txBody>
      </p:sp>
      <p:sp>
        <p:nvSpPr>
          <p:cNvPr id="20" name="Text 18"/>
          <p:cNvSpPr/>
          <p:nvPr/>
        </p:nvSpPr>
        <p:spPr>
          <a:xfrm>
            <a:off x="594360" y="32004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Data Analyst (9)</a:t>
            </a:r>
            <a:endParaRPr lang="en-US" sz="1100" dirty="0"/>
          </a:p>
        </p:txBody>
      </p:sp>
      <p:sp>
        <p:nvSpPr>
          <p:cNvPr id="21" name="Shape 19"/>
          <p:cNvSpPr/>
          <p:nvPr/>
        </p:nvSpPr>
        <p:spPr>
          <a:xfrm>
            <a:off x="2514600" y="3200400"/>
            <a:ext cx="612648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651760" y="32004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load_dataset, inspect_columns, execute_code, run_nlp_column_task, return_file, scratchpad_r/w/clear, workspace_r/w/list</a:t>
            </a:r>
            <a:endParaRPr lang="en-US" sz="1000" dirty="0"/>
          </a:p>
        </p:txBody>
      </p:sp>
      <p:sp>
        <p:nvSpPr>
          <p:cNvPr id="23" name="Shape 21"/>
          <p:cNvSpPr/>
          <p:nvPr/>
        </p:nvSpPr>
        <p:spPr>
          <a:xfrm>
            <a:off x="502920" y="3886200"/>
            <a:ext cx="2011680" cy="594360"/>
          </a:xfrm>
          <a:prstGeom prst="rect">
            <a:avLst/>
          </a:prstGeom>
          <a:solidFill>
            <a:srgbClr val="C62828"/>
          </a:solidFill>
          <a:ln/>
        </p:spPr>
        <p:txBody>
          <a:bodyPr/>
          <a:lstStyle/>
          <a:p>
            <a:endParaRPr lang="en-US"/>
          </a:p>
        </p:txBody>
      </p:sp>
      <p:sp>
        <p:nvSpPr>
          <p:cNvPr id="24" name="Text 22"/>
          <p:cNvSpPr/>
          <p:nvPr/>
        </p:nvSpPr>
        <p:spPr>
          <a:xfrm>
            <a:off x="594360" y="38862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(12) + Graph Gateway (8) NEW</a:t>
            </a:r>
            <a:endParaRPr lang="en-US" sz="1100" dirty="0"/>
          </a:p>
        </p:txBody>
      </p:sp>
      <p:sp>
        <p:nvSpPr>
          <p:cNvPr id="25" name="Shape 23"/>
          <p:cNvSpPr/>
          <p:nvPr/>
        </p:nvSpPr>
        <p:spPr>
          <a:xfrm>
            <a:off x="2514600" y="3886200"/>
            <a:ext cx="612648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651760" y="38862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resolve_document, search_document, search_all_documents, full_text_search_document, search_by_metadata, search_collection, extract_clauses, list_document_structure, extract_requirements, compare_clauses, diff_documents, fetch_chunk_window, list_collections, graph_search_local, graph_search_global, scratchpad_r/w/list</a:t>
            </a:r>
            <a:endParaRPr lang="en-US" sz="1000" dirty="0"/>
          </a:p>
        </p:txBody>
      </p:sp>
      <p:sp>
        <p:nvSpPr>
          <p:cNvPr id="27" name="Text 25"/>
          <p:cNvSpPr/>
          <p:nvPr/>
        </p:nvSpPr>
        <p:spPr>
          <a:xfrm>
            <a:off x="502920" y="4617720"/>
            <a:ext cx="8138160" cy="27432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Total: 54 tools in 6 domain groups. NEW: 19 specialist RAG tools backed by PostgreSQL give agents direct structured KB access.</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Groups — How Agent Tools Are Assembled</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Each agent's tool list is assembled at call time from tools/groups/. A ToolBuildContext (kernel, session, stores, providers) is passed to each builder:</a:t>
            </a:r>
            <a:endParaRPr lang="en-US" sz="1100" dirty="0"/>
          </a:p>
        </p:txBody>
      </p:sp>
      <p:sp>
        <p:nvSpPr>
          <p:cNvPr id="4" name="Shape 2"/>
          <p:cNvSpPr/>
          <p:nvPr/>
        </p:nvSpPr>
        <p:spPr>
          <a:xfrm>
            <a:off x="502920" y="1234440"/>
            <a:ext cx="2194560" cy="566928"/>
          </a:xfrm>
          <a:prstGeom prst="rect">
            <a:avLst/>
          </a:prstGeom>
          <a:solidFill>
            <a:srgbClr val="F9A825"/>
          </a:solidFill>
          <a:ln/>
        </p:spPr>
        <p:txBody>
          <a:bodyPr/>
          <a:lstStyle/>
          <a:p>
            <a:endParaRPr lang="en-US"/>
          </a:p>
        </p:txBody>
      </p:sp>
      <p:sp>
        <p:nvSpPr>
          <p:cNvPr id="5" name="Text 3"/>
          <p:cNvSpPr/>
          <p:nvPr/>
        </p:nvSpPr>
        <p:spPr>
          <a:xfrm>
            <a:off x="576072" y="1234440"/>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build_analyst_tools(ctx)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tools/groups/analyst.py</a:t>
            </a:r>
            <a:endParaRPr lang="en-US" sz="850" dirty="0"/>
          </a:p>
        </p:txBody>
      </p:sp>
      <p:sp>
        <p:nvSpPr>
          <p:cNvPr id="6" name="Shape 4"/>
          <p:cNvSpPr/>
          <p:nvPr/>
        </p:nvSpPr>
        <p:spPr>
          <a:xfrm>
            <a:off x="2697480" y="1234440"/>
            <a:ext cx="5943600" cy="56692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34640" y="1234440"/>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Delegates to make_data_analyst_tools(). Returns load_dataset, inspect_columns, execute_code (Docker sandbox), run_nlp_column_task, return_file, scratchpad_r/w/clear, workspace_r/w/list.</a:t>
            </a:r>
            <a:endParaRPr lang="en-US" sz="950" dirty="0"/>
          </a:p>
        </p:txBody>
      </p:sp>
      <p:sp>
        <p:nvSpPr>
          <p:cNvPr id="8" name="Shape 6"/>
          <p:cNvSpPr/>
          <p:nvPr/>
        </p:nvSpPr>
        <p:spPr>
          <a:xfrm>
            <a:off x="502920" y="1847088"/>
            <a:ext cx="2194560" cy="566928"/>
          </a:xfrm>
          <a:prstGeom prst="rect">
            <a:avLst/>
          </a:prstGeom>
          <a:solidFill>
            <a:srgbClr val="0097A7"/>
          </a:solidFill>
          <a:ln/>
        </p:spPr>
        <p:txBody>
          <a:bodyPr/>
          <a:lstStyle/>
          <a:p>
            <a:endParaRPr lang="en-US"/>
          </a:p>
        </p:txBody>
      </p:sp>
      <p:sp>
        <p:nvSpPr>
          <p:cNvPr id="9" name="Text 7"/>
          <p:cNvSpPr/>
          <p:nvPr/>
        </p:nvSpPr>
        <p:spPr>
          <a:xfrm>
            <a:off x="576072" y="1847088"/>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build_rag_gateway_tools(ctx)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tools/groups/rag_gateway.py</a:t>
            </a:r>
            <a:endParaRPr lang="en-US" sz="850" dirty="0"/>
          </a:p>
        </p:txBody>
      </p:sp>
      <p:sp>
        <p:nvSpPr>
          <p:cNvPr id="10" name="Shape 8"/>
          <p:cNvSpPr/>
          <p:nvPr/>
        </p:nvSpPr>
        <p:spPr>
          <a:xfrm>
            <a:off x="2697480" y="1847088"/>
            <a:ext cx="5943600" cy="56692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834640" y="1847088"/>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[make_rag_agent_tool(...)]. One high-level RAG tool that wraps the full rag_engine contract pipeline (retrieve → grade → synthesize → cite).</a:t>
            </a:r>
            <a:endParaRPr lang="en-US" sz="950" dirty="0"/>
          </a:p>
        </p:txBody>
      </p:sp>
      <p:sp>
        <p:nvSpPr>
          <p:cNvPr id="12" name="Shape 10"/>
          <p:cNvSpPr/>
          <p:nvPr/>
        </p:nvSpPr>
        <p:spPr>
          <a:xfrm>
            <a:off x="502920" y="2459736"/>
            <a:ext cx="2194560" cy="566928"/>
          </a:xfrm>
          <a:prstGeom prst="rect">
            <a:avLst/>
          </a:prstGeom>
          <a:solidFill>
            <a:srgbClr val="1B2A4A"/>
          </a:solidFill>
          <a:ln/>
        </p:spPr>
        <p:txBody>
          <a:bodyPr/>
          <a:lstStyle/>
          <a:p>
            <a:endParaRPr lang="en-US"/>
          </a:p>
        </p:txBody>
      </p:sp>
      <p:sp>
        <p:nvSpPr>
          <p:cNvPr id="13" name="Text 11"/>
          <p:cNvSpPr/>
          <p:nvPr/>
        </p:nvSpPr>
        <p:spPr>
          <a:xfrm>
            <a:off x="576072" y="2459736"/>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build_orchestration_tools(ctx)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tools/groups/orchestration.py</a:t>
            </a:r>
            <a:endParaRPr lang="en-US" sz="850" dirty="0"/>
          </a:p>
        </p:txBody>
      </p:sp>
      <p:sp>
        <p:nvSpPr>
          <p:cNvPr id="14" name="Shape 12"/>
          <p:cNvSpPr/>
          <p:nvPr/>
        </p:nvSpPr>
        <p:spPr>
          <a:xfrm>
            <a:off x="2697480" y="2459736"/>
            <a:ext cx="594360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2459736"/>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4 tools — spawn_worker(prompt, agent_name, description, run_in_background), message_worker(job_id, message, resume), list_jobs(status_filter), stop_job(job_id). Requires kernel + active_definition.</a:t>
            </a:r>
            <a:endParaRPr lang="en-US" sz="950" dirty="0"/>
          </a:p>
        </p:txBody>
      </p:sp>
      <p:sp>
        <p:nvSpPr>
          <p:cNvPr id="16" name="Shape 14"/>
          <p:cNvSpPr/>
          <p:nvPr/>
        </p:nvSpPr>
        <p:spPr>
          <a:xfrm>
            <a:off x="502920" y="3072384"/>
            <a:ext cx="2194560" cy="566928"/>
          </a:xfrm>
          <a:prstGeom prst="rect">
            <a:avLst/>
          </a:prstGeom>
          <a:solidFill>
            <a:srgbClr val="00796B"/>
          </a:solidFill>
          <a:ln/>
        </p:spPr>
        <p:txBody>
          <a:bodyPr/>
          <a:lstStyle/>
          <a:p>
            <a:endParaRPr lang="en-US"/>
          </a:p>
        </p:txBody>
      </p:sp>
      <p:sp>
        <p:nvSpPr>
          <p:cNvPr id="17" name="Text 15"/>
          <p:cNvSpPr/>
          <p:nvPr/>
        </p:nvSpPr>
        <p:spPr>
          <a:xfrm>
            <a:off x="576072" y="3072384"/>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build_memory_tools(ctx)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tools/groups/memory.py</a:t>
            </a:r>
            <a:endParaRPr lang="en-US" sz="850" dirty="0"/>
          </a:p>
        </p:txBody>
      </p:sp>
      <p:sp>
        <p:nvSpPr>
          <p:cNvPr id="18" name="Shape 16"/>
          <p:cNvSpPr/>
          <p:nvPr/>
        </p:nvSpPr>
        <p:spPr>
          <a:xfrm>
            <a:off x="2697480" y="3072384"/>
            <a:ext cx="5943600" cy="56692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834640" y="3072384"/>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memory_save, memory_load, memory_list tools backed by MemoryStore.</a:t>
            </a:r>
            <a:endParaRPr lang="en-US" sz="950" dirty="0"/>
          </a:p>
        </p:txBody>
      </p:sp>
      <p:sp>
        <p:nvSpPr>
          <p:cNvPr id="20" name="Shape 18"/>
          <p:cNvSpPr/>
          <p:nvPr/>
        </p:nvSpPr>
        <p:spPr>
          <a:xfrm>
            <a:off x="502920" y="3685032"/>
            <a:ext cx="2194560" cy="566928"/>
          </a:xfrm>
          <a:prstGeom prst="rect">
            <a:avLst/>
          </a:prstGeom>
          <a:solidFill>
            <a:srgbClr val="5C6BC0"/>
          </a:solidFill>
          <a:ln/>
        </p:spPr>
        <p:txBody>
          <a:bodyPr/>
          <a:lstStyle/>
          <a:p>
            <a:endParaRPr lang="en-US"/>
          </a:p>
        </p:txBody>
      </p:sp>
      <p:sp>
        <p:nvSpPr>
          <p:cNvPr id="21" name="Text 19"/>
          <p:cNvSpPr/>
          <p:nvPr/>
        </p:nvSpPr>
        <p:spPr>
          <a:xfrm>
            <a:off x="576072" y="3685032"/>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build_utility_tools(ctx)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tools/groups/utility.py</a:t>
            </a:r>
            <a:endParaRPr lang="en-US" sz="850" dirty="0"/>
          </a:p>
        </p:txBody>
      </p:sp>
      <p:sp>
        <p:nvSpPr>
          <p:cNvPr id="22" name="Shape 20"/>
          <p:cNvSpPr/>
          <p:nvPr/>
        </p:nvSpPr>
        <p:spPr>
          <a:xfrm>
            <a:off x="2697480" y="3685032"/>
            <a:ext cx="5943600" cy="56692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34640" y="3685032"/>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calculator, list_indexed_docs, search_skills tools for general-purpose agents.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tools/groups/__init__.py, tools/groups/analyst.py, tools/groups/rag_gateway.py, tools/groups/orchestration.py</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vs. Tools — They're Different Things</a:t>
            </a:r>
            <a:endParaRPr lang="en-US" sz="2600" dirty="0"/>
          </a:p>
        </p:txBody>
      </p:sp>
      <p:sp>
        <p:nvSpPr>
          <p:cNvPr id="3" name="Shape 1"/>
          <p:cNvSpPr/>
          <p:nvPr/>
        </p:nvSpPr>
        <p:spPr>
          <a:xfrm>
            <a:off x="50292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SKILLS</a:t>
            </a:r>
            <a:endParaRPr lang="en-US" sz="1200" dirty="0"/>
          </a:p>
        </p:txBody>
      </p:sp>
      <p:sp>
        <p:nvSpPr>
          <p:cNvPr id="6" name="Text 4"/>
          <p:cNvSpPr/>
          <p:nvPr/>
        </p:nvSpPr>
        <p:spPr>
          <a:xfrm>
            <a:off x="61264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Markdown docs with guidance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data/skills/, data/skill_packs/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Retrieved by SkillRuntime -&gt; injected into system prompt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how the agent THINKS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'Always load_dataset before inspect_columns. Use Plan-Verify-Reflect.'</a:t>
            </a:r>
            <a:endParaRPr lang="en-US" sz="1000" dirty="0"/>
          </a:p>
        </p:txBody>
      </p:sp>
      <p:sp>
        <p:nvSpPr>
          <p:cNvPr id="7" name="Shape 5"/>
          <p:cNvSpPr/>
          <p:nvPr/>
        </p:nvSpPr>
        <p:spPr>
          <a:xfrm>
            <a:off x="480060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800600" y="1005840"/>
            <a:ext cx="3840480" cy="320040"/>
          </a:xfrm>
          <a:prstGeom prst="rect">
            <a:avLst/>
          </a:prstGeom>
          <a:solidFill>
            <a:srgbClr val="1B2A4A"/>
          </a:solidFill>
          <a:ln/>
        </p:spPr>
        <p:txBody>
          <a:bodyPr/>
          <a:lstStyle/>
          <a:p>
            <a:endParaRPr lang="en-US"/>
          </a:p>
        </p:txBody>
      </p:sp>
      <p:sp>
        <p:nvSpPr>
          <p:cNvPr id="9" name="Text 7"/>
          <p:cNvSpPr/>
          <p:nvPr/>
        </p:nvSpPr>
        <p:spPr>
          <a:xfrm>
            <a:off x="491032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TOOLS</a:t>
            </a:r>
            <a:endParaRPr lang="en-US" sz="1200" dirty="0"/>
          </a:p>
        </p:txBody>
      </p:sp>
      <p:sp>
        <p:nvSpPr>
          <p:cNvPr id="10" name="Text 8"/>
          <p:cNvSpPr/>
          <p:nvPr/>
        </p:nvSpPr>
        <p:spPr>
          <a:xfrm>
            <a:off x="491032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Python functions that act on the world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src/agentic_chatbot_next/tools/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LLM generates tool calls -&gt; executor runs function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what the agent CAN DO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execute_code() runs Python in Docker sandbox.</a:t>
            </a:r>
            <a:endParaRPr lang="en-US" sz="1000" dirty="0"/>
          </a:p>
        </p:txBody>
      </p:sp>
      <p:sp>
        <p:nvSpPr>
          <p:cNvPr id="11" name="Shape 9"/>
          <p:cNvSpPr/>
          <p:nvPr/>
        </p:nvSpPr>
        <p:spPr>
          <a:xfrm>
            <a:off x="502920" y="3794760"/>
            <a:ext cx="8138160" cy="41148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7947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Skills are wisdom; tools are hands. A skill says 'always inspect columns first' — the inspect_columns tool is what reads the metadata.</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System Architecture — SkillPackFile + SkillResolver + SkillRuntime</a:t>
            </a:r>
            <a:endParaRPr lang="en-US" sz="2600" dirty="0"/>
          </a:p>
        </p:txBody>
      </p:sp>
      <p:sp>
        <p:nvSpPr>
          <p:cNvPr id="3" name="Shape 1"/>
          <p:cNvSpPr/>
          <p:nvPr/>
        </p:nvSpPr>
        <p:spPr>
          <a:xfrm>
            <a:off x="502920" y="914400"/>
            <a:ext cx="155448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SkillPackFile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(skills/pack_loader.py)</a:t>
            </a:r>
            <a:endParaRPr lang="en-US" sz="1000" dirty="0"/>
          </a:p>
        </p:txBody>
      </p:sp>
      <p:sp>
        <p:nvSpPr>
          <p:cNvPr id="5" name="Shape 3"/>
          <p:cNvSpPr/>
          <p:nvPr/>
        </p:nvSpPr>
        <p:spPr>
          <a:xfrm>
            <a:off x="2103120" y="1069848"/>
            <a:ext cx="91440" cy="274320"/>
          </a:xfrm>
          <a:prstGeom prst="rightArrow">
            <a:avLst/>
          </a:prstGeom>
          <a:solidFill>
            <a:srgbClr val="1B2A4A"/>
          </a:solidFill>
          <a:ln/>
        </p:spPr>
        <p:txBody>
          <a:bodyPr/>
          <a:lstStyle/>
          <a:p>
            <a:endParaRPr lang="en-US"/>
          </a:p>
        </p:txBody>
      </p:sp>
      <p:sp>
        <p:nvSpPr>
          <p:cNvPr id="6" name="Shape 4"/>
          <p:cNvSpPr/>
          <p:nvPr/>
        </p:nvSpPr>
        <p:spPr>
          <a:xfrm>
            <a:off x="2240280" y="914400"/>
            <a:ext cx="155448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24028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(PostgreSQL)</a:t>
            </a:r>
            <a:endParaRPr lang="en-US" sz="1000" dirty="0"/>
          </a:p>
        </p:txBody>
      </p:sp>
      <p:sp>
        <p:nvSpPr>
          <p:cNvPr id="8" name="Shape 6"/>
          <p:cNvSpPr/>
          <p:nvPr/>
        </p:nvSpPr>
        <p:spPr>
          <a:xfrm>
            <a:off x="3840480" y="1069848"/>
            <a:ext cx="91440" cy="274320"/>
          </a:xfrm>
          <a:prstGeom prst="rightArrow">
            <a:avLst/>
          </a:prstGeom>
          <a:solidFill>
            <a:srgbClr val="1B2A4A"/>
          </a:solidFill>
          <a:ln/>
        </p:spPr>
        <p:txBody>
          <a:bodyPr/>
          <a:lstStyle/>
          <a:p>
            <a:endParaRPr lang="en-US"/>
          </a:p>
        </p:txBody>
      </p:sp>
      <p:sp>
        <p:nvSpPr>
          <p:cNvPr id="9" name="Shape 7"/>
          <p:cNvSpPr/>
          <p:nvPr/>
        </p:nvSpPr>
        <p:spPr>
          <a:xfrm>
            <a:off x="3977640" y="914400"/>
            <a:ext cx="155448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397764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SkillResolver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(skills/resolver.py)</a:t>
            </a:r>
            <a:endParaRPr lang="en-US" sz="1000" dirty="0"/>
          </a:p>
        </p:txBody>
      </p:sp>
      <p:sp>
        <p:nvSpPr>
          <p:cNvPr id="11" name="Shape 9"/>
          <p:cNvSpPr/>
          <p:nvPr/>
        </p:nvSpPr>
        <p:spPr>
          <a:xfrm>
            <a:off x="5577840" y="1069848"/>
            <a:ext cx="91440" cy="274320"/>
          </a:xfrm>
          <a:prstGeom prst="rightArrow">
            <a:avLst/>
          </a:prstGeom>
          <a:solidFill>
            <a:srgbClr val="1B2A4A"/>
          </a:solidFill>
          <a:ln/>
        </p:spPr>
        <p:txBody>
          <a:bodyPr/>
          <a:lstStyle/>
          <a:p>
            <a:endParaRPr lang="en-US"/>
          </a:p>
        </p:txBody>
      </p:sp>
      <p:sp>
        <p:nvSpPr>
          <p:cNvPr id="12" name="Shape 10"/>
          <p:cNvSpPr/>
          <p:nvPr/>
        </p:nvSpPr>
        <p:spPr>
          <a:xfrm>
            <a:off x="5715000" y="914400"/>
            <a:ext cx="1554480" cy="59436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571500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SkillRuntime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(skills/runtime.py)</a:t>
            </a:r>
            <a:endParaRPr lang="en-US" sz="1000" dirty="0"/>
          </a:p>
        </p:txBody>
      </p:sp>
      <p:sp>
        <p:nvSpPr>
          <p:cNvPr id="14" name="Shape 12"/>
          <p:cNvSpPr/>
          <p:nvPr/>
        </p:nvSpPr>
        <p:spPr>
          <a:xfrm>
            <a:off x="7315200" y="1069848"/>
            <a:ext cx="91440" cy="274320"/>
          </a:xfrm>
          <a:prstGeom prst="rightArrow">
            <a:avLst/>
          </a:prstGeom>
          <a:solidFill>
            <a:srgbClr val="1B2A4A"/>
          </a:solidFill>
          <a:ln/>
        </p:spPr>
        <p:txBody>
          <a:bodyPr/>
          <a:lstStyle/>
          <a:p>
            <a:endParaRPr lang="en-US"/>
          </a:p>
        </p:txBody>
      </p:sp>
      <p:sp>
        <p:nvSpPr>
          <p:cNvPr id="15" name="Shape 13"/>
          <p:cNvSpPr/>
          <p:nvPr/>
        </p:nvSpPr>
        <p:spPr>
          <a:xfrm>
            <a:off x="7452360" y="914400"/>
            <a:ext cx="1554480" cy="59436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45236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System</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Prompt</a:t>
            </a:r>
            <a:endParaRPr lang="en-US" sz="1000" dirty="0"/>
          </a:p>
        </p:txBody>
      </p:sp>
      <p:sp>
        <p:nvSpPr>
          <p:cNvPr id="17" name="Shape 15"/>
          <p:cNvSpPr/>
          <p:nvPr/>
        </p:nvSpPr>
        <p:spPr>
          <a:xfrm>
            <a:off x="502920" y="169164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8" name="Shape 16"/>
          <p:cNvSpPr/>
          <p:nvPr/>
        </p:nvSpPr>
        <p:spPr>
          <a:xfrm>
            <a:off x="502920" y="1691640"/>
            <a:ext cx="3840480" cy="320040"/>
          </a:xfrm>
          <a:prstGeom prst="rect">
            <a:avLst/>
          </a:prstGeom>
          <a:solidFill>
            <a:srgbClr val="0097A7"/>
          </a:solidFill>
          <a:ln/>
        </p:spPr>
        <p:txBody>
          <a:bodyPr/>
          <a:lstStyle/>
          <a:p>
            <a:endParaRPr lang="en-US"/>
          </a:p>
        </p:txBody>
      </p:sp>
      <p:sp>
        <p:nvSpPr>
          <p:cNvPr id="19" name="Text 17"/>
          <p:cNvSpPr/>
          <p:nvPr/>
        </p:nvSpPr>
        <p:spPr>
          <a:xfrm>
            <a:off x="612648" y="17190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SkillPackFile frontmatter fields</a:t>
            </a:r>
            <a:endParaRPr lang="en-US" sz="1200" dirty="0"/>
          </a:p>
        </p:txBody>
      </p:sp>
      <p:sp>
        <p:nvSpPr>
          <p:cNvPr id="20" name="Text 18"/>
          <p:cNvSpPr/>
          <p:nvPr/>
        </p:nvSpPr>
        <p:spPr>
          <a:xfrm>
            <a:off x="612648" y="2075688"/>
            <a:ext cx="362102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skill_id, name, agent_scope (e.g. 'rag', 'general')
body_markdown — the guidance content
retrieval_profile — e.g. 'corpus_discovery'
coverage_goal — e.g. 'corpus_wide'
result_mode — e.g. 'inventory'
controller_hints — JSON dict of extra settings
tool_tags / task_tags — for filtering
visibility: 'global' | 'owner' | 'tenant'</a:t>
            </a:r>
            <a:endParaRPr lang="en-US" sz="1000" dirty="0"/>
          </a:p>
        </p:txBody>
      </p:sp>
      <p:sp>
        <p:nvSpPr>
          <p:cNvPr id="21" name="Shape 19"/>
          <p:cNvSpPr/>
          <p:nvPr/>
        </p:nvSpPr>
        <p:spPr>
          <a:xfrm>
            <a:off x="4572000" y="1691640"/>
            <a:ext cx="411480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2" name="Shape 20"/>
          <p:cNvSpPr/>
          <p:nvPr/>
        </p:nvSpPr>
        <p:spPr>
          <a:xfrm>
            <a:off x="4572000" y="1691640"/>
            <a:ext cx="4114800" cy="320040"/>
          </a:xfrm>
          <a:prstGeom prst="rect">
            <a:avLst/>
          </a:prstGeom>
          <a:solidFill>
            <a:srgbClr val="1B2A4A"/>
          </a:solidFill>
          <a:ln/>
        </p:spPr>
        <p:txBody>
          <a:bodyPr/>
          <a:lstStyle/>
          <a:p>
            <a:endParaRPr lang="en-US"/>
          </a:p>
        </p:txBody>
      </p:sp>
      <p:sp>
        <p:nvSpPr>
          <p:cNvPr id="23" name="Text 21"/>
          <p:cNvSpPr/>
          <p:nvPr/>
        </p:nvSpPr>
        <p:spPr>
          <a:xfrm>
            <a:off x="4681728" y="171907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SkillResolver + SkillRuntime</a:t>
            </a:r>
            <a:endParaRPr lang="en-US" sz="1200" dirty="0"/>
          </a:p>
        </p:txBody>
      </p:sp>
      <p:sp>
        <p:nvSpPr>
          <p:cNvPr id="24" name="Text 22"/>
          <p:cNvSpPr/>
          <p:nvPr/>
        </p:nvSpPr>
        <p:spPr>
          <a:xfrm>
            <a:off x="4681728" y="2075688"/>
            <a:ext cx="389534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SkillResolver.resolve(query, tenant_id, agent_scope, top_k)
→ vector search in SkillStore for relevant skills
→ Returns ResolvedSkillContext (text + SkillMatch list)
SkillMatch carries: score, retrieval_profile, controller_hints, coverage_goal, result_mode
SkillRuntime.resolve_context() merges query + skill_queries + pinned_skill_ids
Injected into system prompt as guidance text</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skills/resolver.py, skills/runtime.py, skills/indexer.py</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Execution — Inside the ReAct Loop</a:t>
            </a:r>
            <a:endParaRPr lang="en-US" sz="2600" dirty="0"/>
          </a:p>
        </p:txBody>
      </p:sp>
      <p:sp>
        <p:nvSpPr>
          <p:cNvPr id="3" name="Shape 1"/>
          <p:cNvSpPr/>
          <p:nvPr/>
        </p:nvSpPr>
        <p:spPr>
          <a:xfrm>
            <a:off x="2377440" y="731520"/>
            <a:ext cx="1645920" cy="7315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377440" y="73152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OBSERVE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receives prompt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 + tool results</a:t>
            </a:r>
            <a:endParaRPr lang="en-US" sz="1000" dirty="0"/>
          </a:p>
        </p:txBody>
      </p:sp>
      <p:sp>
        <p:nvSpPr>
          <p:cNvPr id="5" name="Shape 3"/>
          <p:cNvSpPr/>
          <p:nvPr/>
        </p:nvSpPr>
        <p:spPr>
          <a:xfrm>
            <a:off x="3566160" y="1920240"/>
            <a:ext cx="164592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6" name="Text 4"/>
          <p:cNvSpPr/>
          <p:nvPr/>
        </p:nvSpPr>
        <p:spPr>
          <a:xfrm>
            <a:off x="356616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THINK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decides: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or tool call?</a:t>
            </a:r>
            <a:endParaRPr lang="en-US" sz="1000" dirty="0"/>
          </a:p>
        </p:txBody>
      </p:sp>
      <p:sp>
        <p:nvSpPr>
          <p:cNvPr id="7" name="Shape 5"/>
          <p:cNvSpPr/>
          <p:nvPr/>
        </p:nvSpPr>
        <p:spPr>
          <a:xfrm>
            <a:off x="2377440" y="3108960"/>
            <a:ext cx="1645920" cy="7315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377440" y="310896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ACT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Executor validates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allowlist + runs fn</a:t>
            </a:r>
            <a:endParaRPr lang="en-US" sz="1000" dirty="0"/>
          </a:p>
        </p:txBody>
      </p:sp>
      <p:sp>
        <p:nvSpPr>
          <p:cNvPr id="9" name="Shape 7"/>
          <p:cNvSpPr/>
          <p:nvPr/>
        </p:nvSpPr>
        <p:spPr>
          <a:xfrm>
            <a:off x="1188720" y="1920240"/>
            <a:ext cx="164592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118872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Tool output appended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to step 1</a:t>
            </a:r>
            <a:endParaRPr lang="en-US" sz="1000" dirty="0"/>
          </a:p>
        </p:txBody>
      </p:sp>
      <p:sp>
        <p:nvSpPr>
          <p:cNvPr id="11" name="Shape 9"/>
          <p:cNvSpPr/>
          <p:nvPr/>
        </p:nvSpPr>
        <p:spPr>
          <a:xfrm>
            <a:off x="6217920" y="1188720"/>
            <a:ext cx="228600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1887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5. TERMINATE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Final text response OR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max_steps reached</a:t>
            </a:r>
            <a:endParaRPr lang="en-US" sz="1000" dirty="0"/>
          </a:p>
        </p:txBody>
      </p:sp>
      <p:sp>
        <p:nvSpPr>
          <p:cNvPr id="13" name="Text 11"/>
          <p:cNvSpPr/>
          <p:nvPr/>
        </p:nvSpPr>
        <p:spPr>
          <a:xfrm>
            <a:off x="6217920" y="2011680"/>
            <a:ext cx="2468880" cy="548640"/>
          </a:xfrm>
          <a:prstGeom prst="rect">
            <a:avLst/>
          </a:prstGeom>
          <a:noFill/>
          <a:ln/>
        </p:spPr>
        <p:txBody>
          <a:bodyPr wrap="square" lIns="0" tIns="0" rIns="0" bIns="0" rtlCol="0" anchor="t"/>
          <a:lstStyle/>
          <a:p>
            <a:pPr marL="0" indent="0">
              <a:buNone/>
            </a:pPr>
            <a:r>
              <a:rPr lang="en-US" sz="950" b="1" dirty="0">
                <a:solidFill>
                  <a:srgbClr val="333333"/>
                </a:solidFill>
                <a:latin typeface="Arial" pitchFamily="34" charset="0"/>
                <a:ea typeface="Arial" pitchFamily="34" charset="-122"/>
                <a:cs typeface="Arial" pitchFamily="34" charset="-120"/>
              </a:rPr>
              <a:t>Implementation: </a:t>
            </a:r>
            <a:r>
              <a:rPr lang="en-US" sz="950" dirty="0">
                <a:solidFill>
                  <a:srgbClr val="333333"/>
                </a:solidFill>
                <a:latin typeface="Arial" pitchFamily="34" charset="0"/>
                <a:ea typeface="Arial" pitchFamily="34" charset="-122"/>
                <a:cs typeface="Arial" pitchFamily="34" charset="-120"/>
              </a:rPr>
              <a:t>Uses LangGraph create_react_agent() when provider supports tool binding. Falls back to plan-execute pattern when not.</a:t>
            </a:r>
            <a:endParaRPr lang="en-US" sz="950" dirty="0"/>
          </a:p>
        </p:txBody>
      </p:sp>
      <p:sp>
        <p:nvSpPr>
          <p:cNvPr id="14" name="Shape 12"/>
          <p:cNvSpPr/>
          <p:nvPr/>
        </p:nvSpPr>
        <p:spPr>
          <a:xfrm>
            <a:off x="502920" y="3931920"/>
            <a:ext cx="5029200" cy="32004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931920"/>
            <a:ext cx="484632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ReAct = Reason + Act. max_steps prevents infinite loops.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Individual Agent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31-38: Every agent examined in detail</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basic — The Fast Path</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basic</a:t>
            </a:r>
            <a:endParaRPr lang="en-US" sz="100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0</a:t>
            </a:r>
            <a:endParaRPr lang="en-US" sz="100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Latency: ~200ms</a:t>
            </a:r>
            <a:endParaRPr lang="en-US" sz="1000" dirty="0"/>
          </a:p>
        </p:txBody>
      </p:sp>
      <p:sp>
        <p:nvSpPr>
          <p:cNvPr id="11" name="Text 9"/>
          <p:cNvSpPr/>
          <p:nvPr/>
        </p:nvSpPr>
        <p:spPr>
          <a:xfrm>
            <a:off x="502920" y="1417320"/>
            <a:ext cx="8138160" cy="2286000"/>
          </a:xfrm>
          <a:prstGeom prst="rect">
            <a:avLst/>
          </a:prstGeom>
          <a:noFill/>
          <a:ln/>
        </p:spPr>
        <p:txBody>
          <a:bodyPr wrap="square" lIns="0" tIns="0" rIns="0" bIns="0" rtlCol="0" anchor="t"/>
          <a:lstStyle/>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What it does: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Single LLM call with a static system prompt. No tool loop, no RAG, no memory injection.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When it runs: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Router returns route='BASIC' — general knowledge, small talk, simple questions.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System prompt: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load_basic_chat_skills() loads skill files at startup and caches them.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This is the default. If the system can't identify any reason to use tools or specialized processing, it falls back here.</a:t>
            </a:r>
            <a:endParaRPr lang="en-US" sz="11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data/agents/basic.md, app/service.py</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general — The Swiss Army Knife</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react</a:t>
            </a:r>
            <a:endParaRPr lang="en-US" sz="100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33</a:t>
            </a:r>
            <a:endParaRPr lang="en-US" sz="100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Max steps: 10</a:t>
            </a:r>
            <a:endParaRPr lang="en-US" sz="100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calculator, list_indexed_docs, search_skills, memory_save/load/list, rag_agent_tool, spawn_worker, message_worker, list_jobs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behavior: </a:t>
            </a:r>
            <a:r>
              <a:rPr lang="en-US" sz="1050" dirty="0">
                <a:solidFill>
                  <a:srgbClr val="333333"/>
                </a:solidFill>
                <a:latin typeface="Arial" pitchFamily="34" charset="0"/>
                <a:ea typeface="Arial" pitchFamily="34" charset="-122"/>
                <a:cs typeface="Arial" pitchFamily="34" charset="-120"/>
              </a:rPr>
              <a:t>Can delegate to coordinator, call RAG tool, save/load memories, do computation.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Delegation rule: </a:t>
            </a:r>
            <a:r>
              <a:rPr lang="en-US" sz="1050" dirty="0">
                <a:solidFill>
                  <a:srgbClr val="333333"/>
                </a:solidFill>
                <a:latin typeface="Arial" pitchFamily="34" charset="0"/>
                <a:ea typeface="Arial" pitchFamily="34" charset="-122"/>
                <a:cs typeface="Arial" pitchFamily="34" charset="-120"/>
              </a:rPr>
              <a:t>'If the task involves comparing documents, multi-step research, or parallel work -&gt; delegate to coordinator via spawn_worker.'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Implementation: </a:t>
            </a:r>
            <a:r>
              <a:rPr lang="en-US" sz="1050" dirty="0">
                <a:solidFill>
                  <a:srgbClr val="333333"/>
                </a:solidFill>
                <a:latin typeface="Arial" pitchFamily="34" charset="0"/>
                <a:ea typeface="Arial" pitchFamily="34" charset="-122"/>
                <a:cs typeface="Arial" pitchFamily="34" charset="-120"/>
              </a:rPr>
              <a:t>run_general_agent() in general_agent.py (~605 lines). Handles truncated outputs, RAG tool fallback, data_analyst guided path.</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data/agents/general.md, general_agent.py</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coordinator — The Project Manager</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coordinator</a:t>
            </a:r>
            <a:endParaRPr lang="en-US" sz="95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11 (orchestration)</a:t>
            </a:r>
            <a:endParaRPr lang="en-US" sz="95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Max steps: 12</a:t>
            </a:r>
            <a:endParaRPr lang="en-US" sz="95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9 allowed workers</a:t>
            </a:r>
            <a:endParaRPr lang="en-US" sz="95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spawn_worker, message_worker, list_jobs, stop_job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Allowed workers: </a:t>
            </a:r>
            <a:r>
              <a:rPr lang="en-US" sz="1050" dirty="0">
                <a:solidFill>
                  <a:srgbClr val="333333"/>
                </a:solidFill>
                <a:latin typeface="Arial" pitchFamily="34" charset="0"/>
                <a:ea typeface="Arial" pitchFamily="34" charset="-122"/>
                <a:cs typeface="Arial" pitchFamily="34" charset="-120"/>
              </a:rPr>
              <a:t>general, utility, data_analyst, rag_worker, planner, finalizer, verifier, memory_maintainer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Pipeline: </a:t>
            </a:r>
            <a:r>
              <a:rPr lang="en-US" sz="1050" dirty="0">
                <a:solidFill>
                  <a:srgbClr val="333333"/>
                </a:solidFill>
                <a:latin typeface="Arial" pitchFamily="34" charset="0"/>
                <a:ea typeface="Arial" pitchFamily="34" charset="-122"/>
                <a:cs typeface="Arial" pitchFamily="34" charset="-120"/>
              </a:rPr>
              <a:t>planner -&gt; parallel workers -&gt; finalizer -&gt; verifier -&gt; optional revision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design: </a:t>
            </a:r>
            <a:r>
              <a:rPr lang="en-US" sz="1050" dirty="0">
                <a:solidFill>
                  <a:srgbClr val="333333"/>
                </a:solidFill>
                <a:latin typeface="Arial" pitchFamily="34" charset="0"/>
                <a:ea typeface="Arial" pitchFamily="34" charset="-122"/>
                <a:cs typeface="Arial" pitchFamily="34" charset="-120"/>
              </a:rPr>
              <a:t>Coordinator NEVER does work itself. Only plans, dispatches, and quality-checks.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Durable jobs: </a:t>
            </a:r>
            <a:r>
              <a:rPr lang="en-US" sz="1050" dirty="0">
                <a:solidFill>
                  <a:srgbClr val="333333"/>
                </a:solidFill>
                <a:latin typeface="Arial" pitchFamily="34" charset="0"/>
                <a:ea typeface="Arial" pitchFamily="34" charset="-122"/>
                <a:cs typeface="Arial" pitchFamily="34" charset="-120"/>
              </a:rPr>
              <a:t>Workers tracked as RuntimeJob objects with status, transcript, mailbox, events. Persisted to disk.</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data/agents/coordinator.md, data/skills/supervisor_agent.md, runtime/kernel.py</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data_analyst — The Sandbox Specialist</a:t>
            </a:r>
            <a:endParaRPr lang="en-US" sz="2600" dirty="0"/>
          </a:p>
        </p:txBody>
      </p:sp>
      <p:sp>
        <p:nvSpPr>
          <p:cNvPr id="3" name="Shape 1"/>
          <p:cNvSpPr/>
          <p:nvPr/>
        </p:nvSpPr>
        <p:spPr>
          <a:xfrm>
            <a:off x="502920" y="914400"/>
            <a:ext cx="1920240" cy="320040"/>
          </a:xfrm>
          <a:prstGeom prst="rect">
            <a:avLst/>
          </a:prstGeom>
          <a:solidFill>
            <a:srgbClr val="00796B"/>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react</a:t>
            </a:r>
            <a:endParaRPr lang="en-US" sz="950" dirty="0"/>
          </a:p>
        </p:txBody>
      </p:sp>
      <p:sp>
        <p:nvSpPr>
          <p:cNvPr id="5" name="Shape 3"/>
          <p:cNvSpPr/>
          <p:nvPr/>
        </p:nvSpPr>
        <p:spPr>
          <a:xfrm>
            <a:off x="2514600" y="914400"/>
            <a:ext cx="1920240" cy="320040"/>
          </a:xfrm>
          <a:prstGeom prst="rect">
            <a:avLst/>
          </a:prstGeom>
          <a:solidFill>
            <a:srgbClr val="00796B"/>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Strategy: plan_execute</a:t>
            </a:r>
            <a:endParaRPr lang="en-US" sz="950" dirty="0"/>
          </a:p>
        </p:txBody>
      </p:sp>
      <p:sp>
        <p:nvSpPr>
          <p:cNvPr id="7" name="Shape 5"/>
          <p:cNvSpPr/>
          <p:nvPr/>
        </p:nvSpPr>
        <p:spPr>
          <a:xfrm>
            <a:off x="4526280" y="914400"/>
            <a:ext cx="1920240" cy="320040"/>
          </a:xfrm>
          <a:prstGeom prst="rect">
            <a:avLst/>
          </a:prstGeom>
          <a:solidFill>
            <a:srgbClr val="00796B"/>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20</a:t>
            </a:r>
            <a:endParaRPr lang="en-US" sz="950" dirty="0"/>
          </a:p>
        </p:txBody>
      </p:sp>
      <p:sp>
        <p:nvSpPr>
          <p:cNvPr id="9" name="Shape 7"/>
          <p:cNvSpPr/>
          <p:nvPr/>
        </p:nvSpPr>
        <p:spPr>
          <a:xfrm>
            <a:off x="6537960" y="914400"/>
            <a:ext cx="1920240" cy="320040"/>
          </a:xfrm>
          <a:prstGeom prst="rect">
            <a:avLst/>
          </a:prstGeom>
          <a:solidFill>
            <a:srgbClr val="00796B"/>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11" name="Text 9"/>
          <p:cNvSpPr/>
          <p:nvPr/>
        </p:nvSpPr>
        <p:spPr>
          <a:xfrm>
            <a:off x="502920" y="1417320"/>
            <a:ext cx="411480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Unique capabilities:
</a:t>
            </a:r>
            <a:endParaRPr lang="en-US" sz="1000" dirty="0"/>
          </a:p>
          <a:p>
            <a:pPr marL="0" indent="0">
              <a:buNone/>
            </a:pPr>
            <a:r>
              <a:rPr lang="en-US" sz="900" dirty="0">
                <a:solidFill>
                  <a:srgbClr val="333333"/>
                </a:solidFill>
                <a:latin typeface="Courier New" pitchFamily="34" charset="0"/>
                <a:ea typeface="Courier New" pitchFamily="34" charset="-122"/>
                <a:cs typeface="Courier New" pitchFamily="34" charset="-120"/>
              </a:rPr>
              <a:t>- execute_code() in Docker sandbox
  (no network, 512MB, 60s timeout)
- run_nlp_column_task() for column tagging
- return_file() registers download artifacts
- workspace_read/write/list for session files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Workflow (from skill): </a:t>
            </a:r>
            <a:r>
              <a:rPr lang="en-US" sz="1000" dirty="0">
                <a:solidFill>
                  <a:srgbClr val="333333"/>
                </a:solidFill>
                <a:latin typeface="Arial" pitchFamily="34" charset="0"/>
                <a:ea typeface="Arial" pitchFamily="34" charset="-122"/>
                <a:cs typeface="Arial" pitchFamily="34" charset="-120"/>
              </a:rPr>
              <a:t>Load -&gt; Inspect -&gt; Plan -&gt; Execute -&gt; Verify -&gt; Reflect</a:t>
            </a:r>
            <a:endParaRPr lang="en-US" sz="1000" dirty="0"/>
          </a:p>
        </p:txBody>
      </p:sp>
      <p:sp>
        <p:nvSpPr>
          <p:cNvPr id="12" name="Text 10"/>
          <p:cNvSpPr/>
          <p:nvPr/>
        </p:nvSpPr>
        <p:spPr>
          <a:xfrm>
            <a:off x="4754880" y="1417320"/>
            <a:ext cx="393192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4 Dedicated Skill Packs: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1. dataset_workflow.md
2. return_file_handoff.md
3. chart_generation_and_export.md
4. workbook_mutation_copy_on_write.md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Docker Sandbox:
</a:t>
            </a:r>
            <a:r>
              <a:rPr lang="en-US" sz="1000" dirty="0">
                <a:solidFill>
                  <a:srgbClr val="333333"/>
                </a:solidFill>
                <a:latin typeface="Arial" pitchFamily="34" charset="0"/>
                <a:ea typeface="Arial" pitchFamily="34" charset="-122"/>
                <a:cs typeface="Arial" pitchFamily="34" charset="-120"/>
              </a:rPr>
              <a:t>python:3.12-slim, network disabled, 512MB RAM, 60s timeout, 50KB output limit. Workspace bind-mounted.</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Sandbox — Secure Code Execution</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DockerSandboxExecutor (sandbox/docker_exec.py) runs data analyst Python code in an isolated container. Every execute_code() call creates a fresh container — no state leaks between runs.</a:t>
            </a:r>
            <a:endParaRPr lang="en-US" sz="1050" dirty="0"/>
          </a:p>
        </p:txBody>
      </p:sp>
      <p:sp>
        <p:nvSpPr>
          <p:cNvPr id="4" name="Shape 2"/>
          <p:cNvSpPr/>
          <p:nvPr/>
        </p:nvSpPr>
        <p:spPr>
          <a:xfrm>
            <a:off x="502920" y="1298448"/>
            <a:ext cx="4754880" cy="292608"/>
          </a:xfrm>
          <a:prstGeom prst="rect">
            <a:avLst/>
          </a:prstGeom>
          <a:solidFill>
            <a:srgbClr val="1B2A4A"/>
          </a:solidFill>
          <a:ln/>
        </p:spPr>
        <p:txBody>
          <a:bodyPr/>
          <a:lstStyle/>
          <a:p>
            <a:endParaRPr lang="en-US"/>
          </a:p>
        </p:txBody>
      </p:sp>
      <p:sp>
        <p:nvSpPr>
          <p:cNvPr id="5" name="Text 3"/>
          <p:cNvSpPr/>
          <p:nvPr/>
        </p:nvSpPr>
        <p:spPr>
          <a:xfrm>
            <a:off x="594360" y="1298448"/>
            <a:ext cx="4572000"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Security Constraints</a:t>
            </a:r>
            <a:endParaRPr lang="en-US" sz="1000" dirty="0"/>
          </a:p>
        </p:txBody>
      </p:sp>
      <p:sp>
        <p:nvSpPr>
          <p:cNvPr id="6" name="Shape 4"/>
          <p:cNvSpPr/>
          <p:nvPr/>
        </p:nvSpPr>
        <p:spPr>
          <a:xfrm>
            <a:off x="502920" y="1591056"/>
            <a:ext cx="4754880" cy="30175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94360" y="159105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Network</a:t>
            </a:r>
            <a:endParaRPr lang="en-US" sz="950" dirty="0"/>
          </a:p>
        </p:txBody>
      </p:sp>
      <p:sp>
        <p:nvSpPr>
          <p:cNvPr id="8" name="Text 6"/>
          <p:cNvSpPr/>
          <p:nvPr/>
        </p:nvSpPr>
        <p:spPr>
          <a:xfrm>
            <a:off x="1508760" y="159105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DISABLED — no internet access inside container</a:t>
            </a:r>
            <a:endParaRPr lang="en-US" sz="950" dirty="0"/>
          </a:p>
        </p:txBody>
      </p:sp>
      <p:sp>
        <p:nvSpPr>
          <p:cNvPr id="9" name="Shape 7"/>
          <p:cNvSpPr/>
          <p:nvPr/>
        </p:nvSpPr>
        <p:spPr>
          <a:xfrm>
            <a:off x="502920" y="1901952"/>
            <a:ext cx="4754880" cy="301752"/>
          </a:xfrm>
          <a:prstGeom prst="rect">
            <a:avLst/>
          </a:prstGeom>
          <a:solidFill>
            <a:srgbClr val="FFFFFF"/>
          </a:solidFill>
          <a:ln w="3810">
            <a:solidFill>
              <a:srgbClr val="F0F0F0"/>
            </a:solidFill>
            <a:prstDash val="solid"/>
          </a:ln>
        </p:spPr>
        <p:txBody>
          <a:bodyPr/>
          <a:lstStyle/>
          <a:p>
            <a:endParaRPr lang="en-US"/>
          </a:p>
        </p:txBody>
      </p:sp>
      <p:sp>
        <p:nvSpPr>
          <p:cNvPr id="10" name="Text 8"/>
          <p:cNvSpPr/>
          <p:nvPr/>
        </p:nvSpPr>
        <p:spPr>
          <a:xfrm>
            <a:off x="594360" y="1901952"/>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Memory</a:t>
            </a:r>
            <a:endParaRPr lang="en-US" sz="950" dirty="0"/>
          </a:p>
        </p:txBody>
      </p:sp>
      <p:sp>
        <p:nvSpPr>
          <p:cNvPr id="11" name="Text 9"/>
          <p:cNvSpPr/>
          <p:nvPr/>
        </p:nvSpPr>
        <p:spPr>
          <a:xfrm>
            <a:off x="1508760" y="1901952"/>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512MB hard limit (OOM-kill enforced by Docker)</a:t>
            </a:r>
            <a:endParaRPr lang="en-US" sz="950" dirty="0"/>
          </a:p>
        </p:txBody>
      </p:sp>
      <p:sp>
        <p:nvSpPr>
          <p:cNvPr id="12" name="Shape 10"/>
          <p:cNvSpPr/>
          <p:nvPr/>
        </p:nvSpPr>
        <p:spPr>
          <a:xfrm>
            <a:off x="502920" y="2212848"/>
            <a:ext cx="4754880" cy="30175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594360" y="2212848"/>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Timeout</a:t>
            </a:r>
            <a:endParaRPr lang="en-US" sz="950" dirty="0"/>
          </a:p>
        </p:txBody>
      </p:sp>
      <p:sp>
        <p:nvSpPr>
          <p:cNvPr id="14" name="Text 12"/>
          <p:cNvSpPr/>
          <p:nvPr/>
        </p:nvSpPr>
        <p:spPr>
          <a:xfrm>
            <a:off x="1508760" y="2212848"/>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60 seconds — SIGKILL after deadline</a:t>
            </a:r>
            <a:endParaRPr lang="en-US" sz="950" dirty="0"/>
          </a:p>
        </p:txBody>
      </p:sp>
      <p:sp>
        <p:nvSpPr>
          <p:cNvPr id="15" name="Shape 13"/>
          <p:cNvSpPr/>
          <p:nvPr/>
        </p:nvSpPr>
        <p:spPr>
          <a:xfrm>
            <a:off x="502920" y="2523744"/>
            <a:ext cx="4754880" cy="301752"/>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94360" y="2523744"/>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Output</a:t>
            </a:r>
            <a:endParaRPr lang="en-US" sz="950" dirty="0"/>
          </a:p>
        </p:txBody>
      </p:sp>
      <p:sp>
        <p:nvSpPr>
          <p:cNvPr id="17" name="Text 15"/>
          <p:cNvSpPr/>
          <p:nvPr/>
        </p:nvSpPr>
        <p:spPr>
          <a:xfrm>
            <a:off x="1508760" y="2523744"/>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50KB max (stdout + stderr). Truncated flag set if exceeded.</a:t>
            </a:r>
            <a:endParaRPr lang="en-US" sz="950" dirty="0"/>
          </a:p>
        </p:txBody>
      </p:sp>
      <p:sp>
        <p:nvSpPr>
          <p:cNvPr id="18" name="Shape 16"/>
          <p:cNvSpPr/>
          <p:nvPr/>
        </p:nvSpPr>
        <p:spPr>
          <a:xfrm>
            <a:off x="502920" y="2834640"/>
            <a:ext cx="4754880" cy="30175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94360" y="2834640"/>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Image</a:t>
            </a:r>
            <a:endParaRPr lang="en-US" sz="950" dirty="0"/>
          </a:p>
        </p:txBody>
      </p:sp>
      <p:sp>
        <p:nvSpPr>
          <p:cNvPr id="20" name="Text 18"/>
          <p:cNvSpPr/>
          <p:nvPr/>
        </p:nvSpPr>
        <p:spPr>
          <a:xfrm>
            <a:off x="1508760" y="2834640"/>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python:3.12-slim — minimal attack surface</a:t>
            </a:r>
            <a:endParaRPr lang="en-US" sz="950" dirty="0"/>
          </a:p>
        </p:txBody>
      </p:sp>
      <p:sp>
        <p:nvSpPr>
          <p:cNvPr id="21" name="Shape 19"/>
          <p:cNvSpPr/>
          <p:nvPr/>
        </p:nvSpPr>
        <p:spPr>
          <a:xfrm>
            <a:off x="502920" y="3145536"/>
            <a:ext cx="4754880" cy="301752"/>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594360" y="314553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a:t>
            </a:r>
            <a:endParaRPr lang="en-US" sz="950" dirty="0"/>
          </a:p>
        </p:txBody>
      </p:sp>
      <p:sp>
        <p:nvSpPr>
          <p:cNvPr id="23" name="Text 21"/>
          <p:cNvSpPr/>
          <p:nvPr/>
        </p:nvSpPr>
        <p:spPr>
          <a:xfrm>
            <a:off x="1508760" y="314553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Session workspace bind-mounted read-write at /workspace</a:t>
            </a:r>
            <a:endParaRPr lang="en-US" sz="950" dirty="0"/>
          </a:p>
        </p:txBody>
      </p:sp>
      <p:sp>
        <p:nvSpPr>
          <p:cNvPr id="24" name="Shape 22"/>
          <p:cNvSpPr/>
          <p:nvPr/>
        </p:nvSpPr>
        <p:spPr>
          <a:xfrm>
            <a:off x="5440680" y="1298448"/>
            <a:ext cx="3200400" cy="14630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5440680" y="1298448"/>
            <a:ext cx="3200400" cy="320040"/>
          </a:xfrm>
          <a:prstGeom prst="rect">
            <a:avLst/>
          </a:prstGeom>
          <a:solidFill>
            <a:srgbClr val="0097A7"/>
          </a:solidFill>
          <a:ln/>
        </p:spPr>
        <p:txBody>
          <a:bodyPr/>
          <a:lstStyle/>
          <a:p>
            <a:endParaRPr lang="en-US"/>
          </a:p>
        </p:txBody>
      </p:sp>
      <p:sp>
        <p:nvSpPr>
          <p:cNvPr id="26" name="Text 24"/>
          <p:cNvSpPr/>
          <p:nvPr/>
        </p:nvSpPr>
        <p:spPr>
          <a:xfrm>
            <a:off x="5550408" y="132588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SandboxResult</a:t>
            </a:r>
            <a:endParaRPr lang="en-US" sz="1200" dirty="0"/>
          </a:p>
        </p:txBody>
      </p:sp>
      <p:sp>
        <p:nvSpPr>
          <p:cNvPr id="27" name="Text 25"/>
          <p:cNvSpPr/>
          <p:nvPr/>
        </p:nvSpPr>
        <p:spPr>
          <a:xfrm>
            <a:off x="5550408" y="1682496"/>
            <a:ext cx="2980944" cy="9875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stdout, stderr — raw output strings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exit_code — 0 = success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execution_time_seconds — float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truncated — bool if output &gt; 50KB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success — property: exit_code == 0</a:t>
            </a:r>
            <a:endParaRPr lang="en-US" sz="1000" dirty="0"/>
          </a:p>
        </p:txBody>
      </p:sp>
      <p:sp>
        <p:nvSpPr>
          <p:cNvPr id="28" name="Shape 26"/>
          <p:cNvSpPr/>
          <p:nvPr/>
        </p:nvSpPr>
        <p:spPr>
          <a:xfrm>
            <a:off x="5440680" y="2852928"/>
            <a:ext cx="3200400" cy="10972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2852928"/>
            <a:ext cx="3200400" cy="320040"/>
          </a:xfrm>
          <a:prstGeom prst="rect">
            <a:avLst/>
          </a:prstGeom>
          <a:solidFill>
            <a:srgbClr val="00796B"/>
          </a:solidFill>
          <a:ln/>
        </p:spPr>
        <p:txBody>
          <a:bodyPr/>
          <a:lstStyle/>
          <a:p>
            <a:endParaRPr lang="en-US"/>
          </a:p>
        </p:txBody>
      </p:sp>
      <p:sp>
        <p:nvSpPr>
          <p:cNvPr id="30" name="Text 28"/>
          <p:cNvSpPr/>
          <p:nvPr/>
        </p:nvSpPr>
        <p:spPr>
          <a:xfrm>
            <a:off x="5550408" y="288036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Package Whitelist</a:t>
            </a:r>
            <a:endParaRPr lang="en-US" sz="1200" dirty="0"/>
          </a:p>
        </p:txBody>
      </p:sp>
      <p:sp>
        <p:nvSpPr>
          <p:cNvPr id="31" name="Text 29"/>
          <p:cNvSpPr/>
          <p:nvPr/>
        </p:nvSpPr>
        <p:spPr>
          <a:xfrm>
            <a:off x="5550408" y="3236976"/>
            <a:ext cx="2980944" cy="6217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Packages validated before run: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pandas, numpy, matplotlib, seaborn, scipy, sklearn, openpyxl, xlrd, tabulate, json, csv, re, math, statistics, datetime</a:t>
            </a:r>
            <a:endParaRPr lang="en-US" sz="100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 DockerSandboxExecutor, SandboxResult, sandbox/images.py, sandbox/workspace.py</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rag_worker — The Evidence Machine</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rag</a:t>
            </a:r>
            <a:endParaRPr lang="en-US" sz="95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0 (pipeline)</a:t>
            </a:r>
            <a:endParaRPr lang="en-US" sz="95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New: evidence_only mode</a:t>
            </a:r>
            <a:endParaRPr lang="en-US" sz="950" dirty="0"/>
          </a:p>
        </p:txBody>
      </p:sp>
      <p:sp>
        <p:nvSpPr>
          <p:cNvPr id="11" name="Text 9"/>
          <p:cNvSpPr/>
          <p:nvPr/>
        </p:nvSpPr>
        <p:spPr>
          <a:xfrm>
            <a:off x="502920" y="1417320"/>
            <a:ext cx="457200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run_rag_contract() returns structured output:</a:t>
            </a:r>
            <a:endParaRPr lang="en-US" sz="1100" dirty="0"/>
          </a:p>
        </p:txBody>
      </p:sp>
      <p:sp>
        <p:nvSpPr>
          <p:cNvPr id="12" name="Text 10"/>
          <p:cNvSpPr/>
          <p:nvPr/>
        </p:nvSpPr>
        <p:spPr>
          <a:xfrm>
            <a:off x="594360" y="1737360"/>
            <a:ext cx="4572000" cy="2011680"/>
          </a:xfrm>
          <a:prstGeom prst="rect">
            <a:avLst/>
          </a:prstGeom>
          <a:noFill/>
          <a:ln/>
        </p:spPr>
        <p:txBody>
          <a:bodyPr wrap="square" lIns="0" tIns="0" rIns="0" bIns="0" rtlCol="0" anchor="t"/>
          <a:lstStyle/>
          <a:p>
            <a:pPr marL="342900" indent="-342900">
              <a:buSzPct val="100000"/>
              <a:buChar char="•"/>
            </a:pPr>
            <a:r>
              <a:rPr lang="en-US" sz="1000" dirty="0">
                <a:solidFill>
                  <a:srgbClr val="333333"/>
                </a:solidFill>
                <a:latin typeface="Arial" pitchFamily="34" charset="0"/>
                <a:ea typeface="Arial" pitchFamily="34" charset="-122"/>
                <a:cs typeface="Arial" pitchFamily="34" charset="-120"/>
              </a:rPr>
              <a:t>answer — the grounded answer text</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citations — [{citation_id, source, snippet (320 chars), score}]</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used_citation_ids — which citations the answer references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confidence — high / medium / low</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retrieval_summary — chunks retrieved, graded, used</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followups — suggested next questions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warnings — quality issues flagged</a:t>
            </a:r>
            <a:endParaRPr lang="en-US" sz="1000" dirty="0"/>
          </a:p>
        </p:txBody>
      </p:sp>
      <p:sp>
        <p:nvSpPr>
          <p:cNvPr id="13" name="Text 11"/>
          <p:cNvSpPr/>
          <p:nvPr/>
        </p:nvSpPr>
        <p:spPr>
          <a:xfrm>
            <a:off x="5029200" y="1417320"/>
            <a:ext cx="3657600" cy="228600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Retrieval method: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Hybrid vector (semantic) + keyword (BM25) -&gt; judge model grades each chunk.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Key difference: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Doesn't use ReAct tool loop. Has its own dedicated pipeline guaranteeing structured, citable output.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evidence_only mode: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Returns raw evidence without synthesis — lets coordinator control output.</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Coordinator-Only Agents: planner, finalizer, verifier</a:t>
            </a:r>
            <a:endParaRPr lang="en-US" sz="2600" dirty="0"/>
          </a:p>
        </p:txBody>
      </p:sp>
      <p:sp>
        <p:nvSpPr>
          <p:cNvPr id="3" name="Shape 1"/>
          <p:cNvSpPr/>
          <p:nvPr/>
        </p:nvSpPr>
        <p:spPr>
          <a:xfrm>
            <a:off x="5029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2560320" cy="320040"/>
          </a:xfrm>
          <a:prstGeom prst="rect">
            <a:avLst/>
          </a:prstGeom>
          <a:solidFill>
            <a:srgbClr val="0097A7"/>
          </a:solidFill>
          <a:ln/>
        </p:spPr>
        <p:txBody>
          <a:bodyPr/>
          <a:lstStyle/>
          <a:p>
            <a:endParaRPr lang="en-US"/>
          </a:p>
        </p:txBody>
      </p:sp>
      <p:sp>
        <p:nvSpPr>
          <p:cNvPr id="5" name="Text 3"/>
          <p:cNvSpPr/>
          <p:nvPr/>
        </p:nvSpPr>
        <p:spPr>
          <a:xfrm>
            <a:off x="6126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Planner</a:t>
            </a:r>
            <a:endParaRPr lang="en-US" sz="1200" dirty="0"/>
          </a:p>
        </p:txBody>
      </p:sp>
      <p:sp>
        <p:nvSpPr>
          <p:cNvPr id="6" name="Text 4"/>
          <p:cNvSpPr/>
          <p:nvPr/>
        </p:nvSpPr>
        <p:spPr>
          <a:xfrm>
            <a:off x="6126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planner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coordinator's task + available worker list -&gt; outputs structured JSON plan.</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Task breakdown, worker assignments, dependencies.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reasoning — cannot call tools.</a:t>
            </a:r>
            <a:endParaRPr lang="en-US" sz="1000" dirty="0"/>
          </a:p>
        </p:txBody>
      </p:sp>
      <p:sp>
        <p:nvSpPr>
          <p:cNvPr id="7" name="Shape 5"/>
          <p:cNvSpPr/>
          <p:nvPr/>
        </p:nvSpPr>
        <p:spPr>
          <a:xfrm>
            <a:off x="32461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46120" y="960120"/>
            <a:ext cx="2560320" cy="320040"/>
          </a:xfrm>
          <a:prstGeom prst="rect">
            <a:avLst/>
          </a:prstGeom>
          <a:solidFill>
            <a:srgbClr val="00796B"/>
          </a:solidFill>
          <a:ln/>
        </p:spPr>
        <p:txBody>
          <a:bodyPr/>
          <a:lstStyle/>
          <a:p>
            <a:endParaRPr lang="en-US"/>
          </a:p>
        </p:txBody>
      </p:sp>
      <p:sp>
        <p:nvSpPr>
          <p:cNvPr id="9" name="Text 7"/>
          <p:cNvSpPr/>
          <p:nvPr/>
        </p:nvSpPr>
        <p:spPr>
          <a:xfrm>
            <a:off x="33558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Finalizer</a:t>
            </a:r>
            <a:endParaRPr lang="en-US" sz="1200" dirty="0"/>
          </a:p>
        </p:txBody>
      </p:sp>
      <p:sp>
        <p:nvSpPr>
          <p:cNvPr id="10" name="Text 8"/>
          <p:cNvSpPr/>
          <p:nvPr/>
        </p:nvSpPr>
        <p:spPr>
          <a:xfrm>
            <a:off x="33558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finalizer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all worker outputs -&gt; synthesizes single coherent answer.</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Handles conflicting info, gaps, formatting.</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synthesis — cannot call tools.</a:t>
            </a:r>
            <a:endParaRPr lang="en-US" sz="1000" dirty="0"/>
          </a:p>
        </p:txBody>
      </p:sp>
      <p:sp>
        <p:nvSpPr>
          <p:cNvPr id="11" name="Shape 9"/>
          <p:cNvSpPr/>
          <p:nvPr/>
        </p:nvSpPr>
        <p:spPr>
          <a:xfrm>
            <a:off x="59893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989320" y="960120"/>
            <a:ext cx="2560320" cy="320040"/>
          </a:xfrm>
          <a:prstGeom prst="rect">
            <a:avLst/>
          </a:prstGeom>
          <a:solidFill>
            <a:srgbClr val="1B2A4A"/>
          </a:solidFill>
          <a:ln/>
        </p:spPr>
        <p:txBody>
          <a:bodyPr/>
          <a:lstStyle/>
          <a:p>
            <a:endParaRPr lang="en-US"/>
          </a:p>
        </p:txBody>
      </p:sp>
      <p:sp>
        <p:nvSpPr>
          <p:cNvPr id="13" name="Text 11"/>
          <p:cNvSpPr/>
          <p:nvPr/>
        </p:nvSpPr>
        <p:spPr>
          <a:xfrm>
            <a:off x="60990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Verifier</a:t>
            </a:r>
            <a:endParaRPr lang="en-US" sz="1200" dirty="0"/>
          </a:p>
        </p:txBody>
      </p:sp>
      <p:sp>
        <p:nvSpPr>
          <p:cNvPr id="14" name="Text 12"/>
          <p:cNvSpPr/>
          <p:nvPr/>
        </p:nvSpPr>
        <p:spPr>
          <a:xfrm>
            <a:off x="60990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verifier | 3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rag_agent_tool, list_indexed_docs, search_skills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Cross-checks finalizer's answer against KB.</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Outputs pass/fail with flagged claims.</a:t>
            </a:r>
            <a:endParaRPr lang="en-US" sz="1000" dirty="0"/>
          </a:p>
        </p:txBody>
      </p:sp>
      <p:sp>
        <p:nvSpPr>
          <p:cNvPr id="15" name="Shape 13"/>
          <p:cNvSpPr/>
          <p:nvPr/>
        </p:nvSpPr>
        <p:spPr>
          <a:xfrm>
            <a:off x="502920" y="3337560"/>
            <a:ext cx="8138160" cy="411480"/>
          </a:xfrm>
          <a:prstGeom prst="rect">
            <a:avLst/>
          </a:prstGeom>
          <a:solidFill>
            <a:srgbClr val="E0F7FA"/>
          </a:solidFill>
          <a:ln w="12700">
            <a:solidFill>
              <a:srgbClr val="0097A7"/>
            </a:solidFill>
            <a:prstDash val="solid"/>
          </a:ln>
        </p:spPr>
        <p:txBody>
          <a:bodyPr/>
          <a:lstStyle/>
          <a:p>
            <a:endParaRPr lang="en-US"/>
          </a:p>
        </p:txBody>
      </p:sp>
      <p:sp>
        <p:nvSpPr>
          <p:cNvPr id="16" name="Text 14"/>
          <p:cNvSpPr/>
          <p:nvPr/>
        </p:nvSpPr>
        <p:spPr>
          <a:xfrm>
            <a:off x="594360" y="33375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Quality chain: Plan -&gt; Execute -&gt; Synthesize -&gt; Verify. The verifier is the only one with tools — it needs independent KB access to check facts. If it flags issues, coordinator loops back to planner.</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Supporting Agents: utility &amp; memory_maintainer</a:t>
            </a:r>
            <a:endParaRPr lang="en-US" sz="2600" dirty="0"/>
          </a:p>
        </p:txBody>
      </p:sp>
      <p:sp>
        <p:nvSpPr>
          <p:cNvPr id="3" name="Shape 1"/>
          <p:cNvSpPr/>
          <p:nvPr/>
        </p:nvSpPr>
        <p:spPr>
          <a:xfrm>
            <a:off x="502920" y="96012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utility</a:t>
            </a:r>
            <a:endParaRPr lang="en-US" sz="1200" dirty="0"/>
          </a:p>
        </p:txBody>
      </p:sp>
      <p:sp>
        <p:nvSpPr>
          <p:cNvPr id="6" name="Text 4"/>
          <p:cNvSpPr/>
          <p:nvPr/>
        </p:nvSpPr>
        <p:spPr>
          <a:xfrm>
            <a:off x="612648" y="1344168"/>
            <a:ext cx="362102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react | 6 tools | role: worker | max 8 steps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calculator, list_indexed_docs, search_skills, scratchpad_read/write, workspace_read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Lightweight worker for coordinator. Handles simple computations, skill lookups, document listing.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When used: Coordinator dispatches utility when a task doesn't need data analysis or full RAG.</a:t>
            </a:r>
            <a:endParaRPr lang="en-US" sz="1000" dirty="0"/>
          </a:p>
        </p:txBody>
      </p:sp>
      <p:sp>
        <p:nvSpPr>
          <p:cNvPr id="7" name="Shape 5"/>
          <p:cNvSpPr/>
          <p:nvPr/>
        </p:nvSpPr>
        <p:spPr>
          <a:xfrm>
            <a:off x="4754880" y="960120"/>
            <a:ext cx="393192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memory_maintainer</a:t>
            </a:r>
            <a:endParaRPr lang="en-US" sz="1200" dirty="0"/>
          </a:p>
        </p:txBody>
      </p:sp>
      <p:sp>
        <p:nvSpPr>
          <p:cNvPr id="10" name="Text 8"/>
          <p:cNvSpPr/>
          <p:nvPr/>
        </p:nvSpPr>
        <p:spPr>
          <a:xfrm>
            <a:off x="4864608" y="1344168"/>
            <a:ext cx="371246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memory_maintainer | 3 tools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memory_save, memory_load, memory_list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Extracts and persists user preferences, facts, and context after conversation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Storage: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index.json (authoritative) + MEMORY.md + topics/*.md</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data/agents/utility.md, data/agents/memory_maintainer.md, memory/file_store.py</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4</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6</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8</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14</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5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Infrastructure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39-42: RAG pipeline, persistence, observability, security</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Synthesis Pipeline — rag/synthesis.py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generate_grounded_answer() is the final step of every RAG turn. It takes evidence_docs + the original question and produces a structured JSON answer with citations, confidence, and follow-up questions.</a:t>
            </a:r>
            <a:endParaRPr lang="en-US" sz="1050" dirty="0"/>
          </a:p>
        </p:txBody>
      </p:sp>
      <p:sp>
        <p:nvSpPr>
          <p:cNvPr id="4" name="Shape 2"/>
          <p:cNvSpPr/>
          <p:nvPr/>
        </p:nvSpPr>
        <p:spPr>
          <a:xfrm>
            <a:off x="502920" y="1298448"/>
            <a:ext cx="2743200" cy="658368"/>
          </a:xfrm>
          <a:prstGeom prst="rect">
            <a:avLst/>
          </a:prstGeom>
          <a:solidFill>
            <a:srgbClr val="1B2A4A"/>
          </a:solidFill>
          <a:ln/>
        </p:spPr>
        <p:txBody>
          <a:bodyPr/>
          <a:lstStyle/>
          <a:p>
            <a:endParaRPr lang="en-US"/>
          </a:p>
        </p:txBody>
      </p:sp>
      <p:sp>
        <p:nvSpPr>
          <p:cNvPr id="5" name="Text 3"/>
          <p:cNvSpPr/>
          <p:nvPr/>
        </p:nvSpPr>
        <p:spPr>
          <a:xfrm>
            <a:off x="594360" y="1298448"/>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_prepare_synthesis_docs()</a:t>
            </a:r>
            <a:endParaRPr lang="en-US" sz="950" dirty="0"/>
          </a:p>
        </p:txBody>
      </p:sp>
      <p:sp>
        <p:nvSpPr>
          <p:cNvPr id="6" name="Shape 4"/>
          <p:cNvSpPr/>
          <p:nvPr/>
        </p:nvSpPr>
        <p:spPr>
          <a:xfrm>
            <a:off x="3246120" y="1298448"/>
            <a:ext cx="589788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337560" y="1298448"/>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Deduplicate by (source_path, text fingerprint[:220]). Prioritize by title-word overlap with query + content length. Limit: 6 docs.</a:t>
            </a:r>
            <a:endParaRPr lang="en-US" sz="950" dirty="0"/>
          </a:p>
        </p:txBody>
      </p:sp>
      <p:sp>
        <p:nvSpPr>
          <p:cNvPr id="8" name="Shape 6"/>
          <p:cNvSpPr/>
          <p:nvPr/>
        </p:nvSpPr>
        <p:spPr>
          <a:xfrm>
            <a:off x="502920" y="2002536"/>
            <a:ext cx="2743200" cy="658368"/>
          </a:xfrm>
          <a:prstGeom prst="rect">
            <a:avLst/>
          </a:prstGeom>
          <a:solidFill>
            <a:srgbClr val="0097A7"/>
          </a:solidFill>
          <a:ln/>
        </p:spPr>
        <p:txBody>
          <a:bodyPr/>
          <a:lstStyle/>
          <a:p>
            <a:endParaRPr lang="en-US"/>
          </a:p>
        </p:txBody>
      </p:sp>
      <p:sp>
        <p:nvSpPr>
          <p:cNvPr id="9" name="Text 7"/>
          <p:cNvSpPr/>
          <p:nvPr/>
        </p:nvSpPr>
        <p:spPr>
          <a:xfrm>
            <a:off x="594360" y="2002536"/>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Prompt + LLM call</a:t>
            </a:r>
            <a:endParaRPr lang="en-US" sz="950" dirty="0"/>
          </a:p>
        </p:txBody>
      </p:sp>
      <p:sp>
        <p:nvSpPr>
          <p:cNvPr id="10" name="Shape 8"/>
          <p:cNvSpPr/>
          <p:nvPr/>
        </p:nvSpPr>
        <p:spPr>
          <a:xfrm>
            <a:off x="3246120" y="2002536"/>
            <a:ext cx="589788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7560" y="2002536"/>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Loads grounded_answer prompt template. Renders with evidence JSON. LLM returns {answer, used_citation_ids[], followups[], warnings[], confidence_hint}.</a:t>
            </a:r>
            <a:endParaRPr lang="en-US" sz="950" dirty="0"/>
          </a:p>
        </p:txBody>
      </p:sp>
      <p:sp>
        <p:nvSpPr>
          <p:cNvPr id="12" name="Shape 10"/>
          <p:cNvSpPr/>
          <p:nvPr/>
        </p:nvSpPr>
        <p:spPr>
          <a:xfrm>
            <a:off x="502920" y="2706624"/>
            <a:ext cx="2743200" cy="658368"/>
          </a:xfrm>
          <a:prstGeom prst="rect">
            <a:avLst/>
          </a:prstGeom>
          <a:solidFill>
            <a:srgbClr val="1B2A4A"/>
          </a:solidFill>
          <a:ln/>
        </p:spPr>
        <p:txBody>
          <a:bodyPr/>
          <a:lstStyle/>
          <a:p>
            <a:endParaRPr lang="en-US"/>
          </a:p>
        </p:txBody>
      </p:sp>
      <p:sp>
        <p:nvSpPr>
          <p:cNvPr id="13" name="Text 11"/>
          <p:cNvSpPr/>
          <p:nvPr/>
        </p:nvSpPr>
        <p:spPr>
          <a:xfrm>
            <a:off x="594360" y="2706624"/>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JSON extraction</a:t>
            </a:r>
            <a:endParaRPr lang="en-US" sz="950" dirty="0"/>
          </a:p>
        </p:txBody>
      </p:sp>
      <p:sp>
        <p:nvSpPr>
          <p:cNvPr id="14" name="Shape 12"/>
          <p:cNvSpPr/>
          <p:nvPr/>
        </p:nvSpPr>
        <p:spPr>
          <a:xfrm>
            <a:off x="3246120" y="2706624"/>
            <a:ext cx="589788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337560" y="2706624"/>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extract_json() parses LLM response. _extract_used_citation_ids() cleans the citation list. If parse fails, _fallback_grounded_answer() runs.</a:t>
            </a:r>
            <a:endParaRPr lang="en-US" sz="950" dirty="0"/>
          </a:p>
        </p:txBody>
      </p:sp>
      <p:sp>
        <p:nvSpPr>
          <p:cNvPr id="16" name="Shape 14"/>
          <p:cNvSpPr/>
          <p:nvPr/>
        </p:nvSpPr>
        <p:spPr>
          <a:xfrm>
            <a:off x="502920" y="3410712"/>
            <a:ext cx="2743200" cy="658368"/>
          </a:xfrm>
          <a:prstGeom prst="rect">
            <a:avLst/>
          </a:prstGeom>
          <a:solidFill>
            <a:srgbClr val="0097A7"/>
          </a:solidFill>
          <a:ln/>
        </p:spPr>
        <p:txBody>
          <a:bodyPr/>
          <a:lstStyle/>
          <a:p>
            <a:endParaRPr lang="en-US"/>
          </a:p>
        </p:txBody>
      </p:sp>
      <p:sp>
        <p:nvSpPr>
          <p:cNvPr id="17" name="Text 15"/>
          <p:cNvSpPr/>
          <p:nvPr/>
        </p:nvSpPr>
        <p:spPr>
          <a:xfrm>
            <a:off x="594360" y="3410712"/>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Fallback strategy</a:t>
            </a:r>
            <a:endParaRPr lang="en-US" sz="950" dirty="0"/>
          </a:p>
        </p:txBody>
      </p:sp>
      <p:sp>
        <p:nvSpPr>
          <p:cNvPr id="18" name="Shape 16"/>
          <p:cNvSpPr/>
          <p:nvPr/>
        </p:nvSpPr>
        <p:spPr>
          <a:xfrm>
            <a:off x="3246120" y="3410712"/>
            <a:ext cx="589788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37560" y="3410712"/>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_infer_fallback_themes() scans docs for domain themes (routing, RAG, coordinator). Assembles answer from first best_summary_snippet() per doc.</a:t>
            </a:r>
            <a:endParaRPr lang="en-US" sz="950" dirty="0"/>
          </a:p>
        </p:txBody>
      </p:sp>
      <p:sp>
        <p:nvSpPr>
          <p:cNvPr id="20" name="Shape 18"/>
          <p:cNvSpPr/>
          <p:nvPr/>
        </p:nvSpPr>
        <p:spPr>
          <a:xfrm>
            <a:off x="502920" y="4023360"/>
            <a:ext cx="8138160" cy="365760"/>
          </a:xfrm>
          <a:prstGeom prst="rect">
            <a:avLst/>
          </a:prstGeom>
          <a:solidFill>
            <a:srgbClr val="E0F7FA"/>
          </a:solidFill>
          <a:ln w="12700">
            <a:solidFill>
              <a:srgbClr val="0097A7"/>
            </a:solidFill>
            <a:prstDash val="solid"/>
          </a:ln>
        </p:spPr>
        <p:txBody>
          <a:bodyPr/>
          <a:lstStyle/>
          <a:p>
            <a:endParaRPr lang="en-US"/>
          </a:p>
        </p:txBody>
      </p:sp>
      <p:sp>
        <p:nvSpPr>
          <p:cNvPr id="21" name="Text 19"/>
          <p:cNvSpPr/>
          <p:nvPr/>
        </p:nvSpPr>
        <p:spPr>
          <a:xfrm>
            <a:off x="594360" y="402336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_answer_claims_missing_evidence() detects phrases like 'no evidence available' in the answer and flags low-confidence results. The fallback never makes up citations.</a:t>
            </a:r>
            <a:endParaRPr lang="en-US" sz="1000" dirty="0"/>
          </a:p>
        </p:txBody>
      </p:sp>
      <p:sp>
        <p:nvSpPr>
          <p:cNvPr id="22" name="Text 2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rag/synthesis.py — generate_grounded_answer(), _prepare_synthesis_docs(), _fallback_grounded_answer()</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Persistence — Where State Lives</a:t>
            </a:r>
            <a:endParaRPr lang="en-US" sz="2600" dirty="0"/>
          </a:p>
        </p:txBody>
      </p:sp>
      <p:sp>
        <p:nvSpPr>
          <p:cNvPr id="3" name="Shape 1"/>
          <p:cNvSpPr/>
          <p:nvPr/>
        </p:nvSpPr>
        <p:spPr>
          <a:xfrm>
            <a:off x="502920" y="960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8138160" cy="320040"/>
          </a:xfrm>
          <a:prstGeom prst="rect">
            <a:avLst/>
          </a:prstGeom>
          <a:solidFill>
            <a:srgbClr val="0097A7"/>
          </a:solidFill>
          <a:ln/>
        </p:spPr>
        <p:txBody>
          <a:bodyPr/>
          <a:lstStyle/>
          <a:p>
            <a:endParaRPr lang="en-US"/>
          </a:p>
        </p:txBody>
      </p:sp>
      <p:sp>
        <p:nvSpPr>
          <p:cNvPr id="5" name="Text 3"/>
          <p:cNvSpPr/>
          <p:nvPr/>
        </p:nvSpPr>
        <p:spPr>
          <a:xfrm>
            <a:off x="612648" y="987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State (SessionState contract)</a:t>
            </a:r>
            <a:endParaRPr lang="en-US" sz="1200" dirty="0"/>
          </a:p>
        </p:txBody>
      </p:sp>
      <p:sp>
        <p:nvSpPr>
          <p:cNvPr id="6" name="Text 4"/>
          <p:cNvSpPr/>
          <p:nvPr/>
        </p:nvSpPr>
        <p:spPr>
          <a:xfrm>
            <a:off x="612648" y="1344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Typed dataclass: tenant_id, user_id, conversation_id, messages, scratchpad, uploads, pending_notifications.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Persisted via TranscriptStore. Syncs to/from ChatSession via from_session() / sync_to_session().</a:t>
            </a:r>
            <a:endParaRPr lang="en-US" sz="1000" dirty="0"/>
          </a:p>
        </p:txBody>
      </p:sp>
      <p:sp>
        <p:nvSpPr>
          <p:cNvPr id="7" name="Shape 5"/>
          <p:cNvSpPr/>
          <p:nvPr/>
        </p:nvSpPr>
        <p:spPr>
          <a:xfrm>
            <a:off x="502920" y="2103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103120"/>
            <a:ext cx="8138160" cy="320040"/>
          </a:xfrm>
          <a:prstGeom prst="rect">
            <a:avLst/>
          </a:prstGeom>
          <a:solidFill>
            <a:srgbClr val="1B2A4A"/>
          </a:solidFill>
          <a:ln/>
        </p:spPr>
        <p:txBody>
          <a:bodyPr/>
          <a:lstStyle/>
          <a:p>
            <a:endParaRPr lang="en-US"/>
          </a:p>
        </p:txBody>
      </p:sp>
      <p:sp>
        <p:nvSpPr>
          <p:cNvPr id="9" name="Text 7"/>
          <p:cNvSpPr/>
          <p:nvPr/>
        </p:nvSpPr>
        <p:spPr>
          <a:xfrm>
            <a:off x="612648" y="2130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Knowledge Base (PostgreSQL + pgvector)</a:t>
            </a:r>
            <a:endParaRPr lang="en-US" sz="1200" dirty="0"/>
          </a:p>
        </p:txBody>
      </p:sp>
      <p:sp>
        <p:nvSpPr>
          <p:cNvPr id="10" name="Text 8"/>
          <p:cNvSpPr/>
          <p:nvPr/>
        </p:nvSpPr>
        <p:spPr>
          <a:xfrm>
            <a:off x="612648" y="2487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ChunkStore: HNSW cosine ANN + full-text tsvector search.</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DocumentStore: document metadata and structure.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SkillStore: skill chunk retrieval. All backed by psycopg2 ThreadedConnectionPool.</a:t>
            </a:r>
            <a:endParaRPr lang="en-US" sz="1000" dirty="0"/>
          </a:p>
        </p:txBody>
      </p:sp>
      <p:sp>
        <p:nvSpPr>
          <p:cNvPr id="11" name="Shape 9"/>
          <p:cNvSpPr/>
          <p:nvPr/>
        </p:nvSpPr>
        <p:spPr>
          <a:xfrm>
            <a:off x="502920" y="3246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3246120"/>
            <a:ext cx="8138160" cy="320040"/>
          </a:xfrm>
          <a:prstGeom prst="rect">
            <a:avLst/>
          </a:prstGeom>
          <a:solidFill>
            <a:srgbClr val="00796B"/>
          </a:solidFill>
          <a:ln/>
        </p:spPr>
        <p:txBody>
          <a:bodyPr/>
          <a:lstStyle/>
          <a:p>
            <a:endParaRPr lang="en-US"/>
          </a:p>
        </p:txBody>
      </p:sp>
      <p:sp>
        <p:nvSpPr>
          <p:cNvPr id="13" name="Text 11"/>
          <p:cNvSpPr/>
          <p:nvPr/>
        </p:nvSpPr>
        <p:spPr>
          <a:xfrm>
            <a:off x="612648" y="3273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Jobs &amp; Workspaces</a:t>
            </a:r>
            <a:endParaRPr lang="en-US" sz="1200" dirty="0"/>
          </a:p>
        </p:txBody>
      </p:sp>
      <p:sp>
        <p:nvSpPr>
          <p:cNvPr id="14" name="Text 12"/>
          <p:cNvSpPr/>
          <p:nvPr/>
        </p:nvSpPr>
        <p:spPr>
          <a:xfrm>
            <a:off x="612648" y="3630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RuntimeJobManager: durable job records (id, status, transcript, mailbox, artifacts).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SessionWorkspace: per-session file storage. safe_filename() blocks path traversal.</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NotificationStore: delivers TaskNotification to sessions when background jobs finish.</a:t>
            </a:r>
            <a:endParaRPr lang="en-US" sz="10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contracts/messages.py, persistence/postgres/, runtime/job_manager.py, runtime/notification_store.py</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Stack — RuntimeEvent + EventSink + Langfuse</a:t>
            </a:r>
            <a:endParaRPr lang="en-US" sz="2600" dirty="0"/>
          </a:p>
        </p:txBody>
      </p:sp>
      <p:sp>
        <p:nvSpPr>
          <p:cNvPr id="3" name="Shape 1"/>
          <p:cNvSpPr/>
          <p:nvPr/>
        </p:nvSpPr>
        <p:spPr>
          <a:xfrm>
            <a:off x="502920" y="914400"/>
            <a:ext cx="8138160" cy="292608"/>
          </a:xfrm>
          <a:prstGeom prst="rect">
            <a:avLst/>
          </a:prstGeom>
          <a:solidFill>
            <a:srgbClr val="1B2A4A"/>
          </a:solidFill>
          <a:ln/>
        </p:spPr>
        <p:txBody>
          <a:bodyPr/>
          <a:lstStyle/>
          <a:p>
            <a:endParaRPr lang="en-US"/>
          </a:p>
        </p:txBody>
      </p:sp>
      <p:sp>
        <p:nvSpPr>
          <p:cNvPr id="4" name="Text 2"/>
          <p:cNvSpPr/>
          <p:nvPr/>
        </p:nvSpPr>
        <p:spPr>
          <a:xfrm>
            <a:off x="640080" y="914400"/>
            <a:ext cx="78638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RuntimeEvent  (observability/events.py)</a:t>
            </a:r>
            <a:endParaRPr lang="en-US" sz="1100" dirty="0"/>
          </a:p>
        </p:txBody>
      </p:sp>
      <p:sp>
        <p:nvSpPr>
          <p:cNvPr id="5" name="Text 3"/>
          <p:cNvSpPr/>
          <p:nvPr/>
        </p:nvSpPr>
        <p:spPr>
          <a:xfrm>
            <a:off x="502920" y="123444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Typed dataclass emitted by every agent turn, tool call, router decision, coordinator phase. Fields: event_type, session_id, job_id, agent_name, tool_name, payload{}. Created via RuntimeEvent.from_dict() / .to_dict().</a:t>
            </a:r>
            <a:endParaRPr lang="en-US" sz="1000" dirty="0"/>
          </a:p>
        </p:txBody>
      </p:sp>
      <p:sp>
        <p:nvSpPr>
          <p:cNvPr id="6" name="Shape 4"/>
          <p:cNvSpPr/>
          <p:nvPr/>
        </p:nvSpPr>
        <p:spPr>
          <a:xfrm>
            <a:off x="502920" y="1691640"/>
            <a:ext cx="2651760" cy="320040"/>
          </a:xfrm>
          <a:prstGeom prst="rect">
            <a:avLst/>
          </a:prstGeom>
          <a:solidFill>
            <a:srgbClr val="F9A825"/>
          </a:solidFill>
          <a:ln/>
        </p:spPr>
        <p:txBody>
          <a:bodyPr/>
          <a:lstStyle/>
          <a:p>
            <a:endParaRPr lang="en-US"/>
          </a:p>
        </p:txBody>
      </p:sp>
      <p:sp>
        <p:nvSpPr>
          <p:cNvPr id="7" name="Text 5"/>
          <p:cNvSpPr/>
          <p:nvPr/>
        </p:nvSpPr>
        <p:spPr>
          <a:xfrm>
            <a:off x="5486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NullEventSink</a:t>
            </a:r>
            <a:endParaRPr lang="en-US" sz="950" dirty="0"/>
          </a:p>
        </p:txBody>
      </p:sp>
      <p:sp>
        <p:nvSpPr>
          <p:cNvPr id="8" name="Shape 6"/>
          <p:cNvSpPr/>
          <p:nvPr/>
        </p:nvSpPr>
        <p:spPr>
          <a:xfrm>
            <a:off x="5029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5486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No-op. Used in tests and basic mode — emits nothing.</a:t>
            </a:r>
            <a:endParaRPr lang="en-US" sz="950" dirty="0"/>
          </a:p>
        </p:txBody>
      </p:sp>
      <p:sp>
        <p:nvSpPr>
          <p:cNvPr id="10" name="Shape 8"/>
          <p:cNvSpPr/>
          <p:nvPr/>
        </p:nvSpPr>
        <p:spPr>
          <a:xfrm>
            <a:off x="3246120" y="1691640"/>
            <a:ext cx="2651760" cy="320040"/>
          </a:xfrm>
          <a:prstGeom prst="rect">
            <a:avLst/>
          </a:prstGeom>
          <a:solidFill>
            <a:srgbClr val="0097A7"/>
          </a:solidFill>
          <a:ln/>
        </p:spPr>
        <p:txBody>
          <a:bodyPr/>
          <a:lstStyle/>
          <a:p>
            <a:endParaRPr lang="en-US"/>
          </a:p>
        </p:txBody>
      </p:sp>
      <p:sp>
        <p:nvSpPr>
          <p:cNvPr id="11" name="Text 9"/>
          <p:cNvSpPr/>
          <p:nvPr/>
        </p:nvSpPr>
        <p:spPr>
          <a:xfrm>
            <a:off x="32918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CompositeRuntimeEventSink</a:t>
            </a:r>
            <a:endParaRPr lang="en-US" sz="950" dirty="0"/>
          </a:p>
        </p:txBody>
      </p:sp>
      <p:sp>
        <p:nvSpPr>
          <p:cNvPr id="12" name="Shape 10"/>
          <p:cNvSpPr/>
          <p:nvPr/>
        </p:nvSpPr>
        <p:spPr>
          <a:xfrm>
            <a:off x="32461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32918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Fans out to N base sinks + per-session sinks. register_session_sink() / unregister_session_sink() for live progress.</a:t>
            </a:r>
            <a:endParaRPr lang="en-US" sz="950" dirty="0"/>
          </a:p>
        </p:txBody>
      </p:sp>
      <p:sp>
        <p:nvSpPr>
          <p:cNvPr id="14" name="Shape 12"/>
          <p:cNvSpPr/>
          <p:nvPr/>
        </p:nvSpPr>
        <p:spPr>
          <a:xfrm>
            <a:off x="5989320" y="1691640"/>
            <a:ext cx="2651760" cy="320040"/>
          </a:xfrm>
          <a:prstGeom prst="rect">
            <a:avLst/>
          </a:prstGeom>
          <a:solidFill>
            <a:srgbClr val="1B2A4A"/>
          </a:solidFill>
          <a:ln/>
        </p:spPr>
        <p:txBody>
          <a:bodyPr/>
          <a:lstStyle/>
          <a:p>
            <a:endParaRPr lang="en-US"/>
          </a:p>
        </p:txBody>
      </p:sp>
      <p:sp>
        <p:nvSpPr>
          <p:cNvPr id="15" name="Text 13"/>
          <p:cNvSpPr/>
          <p:nvPr/>
        </p:nvSpPr>
        <p:spPr>
          <a:xfrm>
            <a:off x="60350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Langfuse (get_langchain_callbacks)</a:t>
            </a:r>
            <a:endParaRPr lang="en-US" sz="950" dirty="0"/>
          </a:p>
        </p:txBody>
      </p:sp>
      <p:sp>
        <p:nvSpPr>
          <p:cNvPr id="16" name="Shape 14"/>
          <p:cNvSpPr/>
          <p:nvPr/>
        </p:nvSpPr>
        <p:spPr>
          <a:xfrm>
            <a:off x="59893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60350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observability/callbacks.py. Wraps LangFuse CallbackHandler for agent turns + tool calls. Config: LANGFUSE_PUBLIC_KEY + SECRET.</a:t>
            </a:r>
            <a:endParaRPr lang="en-US" sz="950" dirty="0"/>
          </a:p>
        </p:txBody>
      </p:sp>
      <p:sp>
        <p:nvSpPr>
          <p:cNvPr id="18" name="Text 16"/>
          <p:cNvSpPr/>
          <p:nvPr/>
        </p:nvSpPr>
        <p:spPr>
          <a:xfrm>
            <a:off x="502920" y="292608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observability/spans.py — timed_span() context manager: wraps any code block, records elapsed_seconds in span dict. Used around LLM calls + RAG retrieval passes for latency tracking.</a:t>
            </a:r>
            <a:endParaRPr lang="en-US" sz="1000" dirty="0"/>
          </a:p>
        </p:txBody>
      </p:sp>
      <p:sp>
        <p:nvSpPr>
          <p:cNvPr id="19" name="Shape 17"/>
          <p:cNvSpPr/>
          <p:nvPr/>
        </p:nvSpPr>
        <p:spPr>
          <a:xfrm>
            <a:off x="502920" y="342900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2900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event types: router_decision, agent_run_started, agent_turn_completed, worker_agent_started, coordinator_planning_started/completed, tool_call_started/ended.</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observability/events.py, observability/callbacks.py, observability/spans.py, runtime/event_sink.py</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Security Model — Sandboxing and Guardrails</a:t>
            </a:r>
            <a:endParaRPr lang="en-US" sz="2600" dirty="0"/>
          </a:p>
        </p:txBody>
      </p:sp>
      <p:sp>
        <p:nvSpPr>
          <p:cNvPr id="3" name="Shape 1"/>
          <p:cNvSpPr/>
          <p:nvPr/>
        </p:nvSpPr>
        <p:spPr>
          <a:xfrm>
            <a:off x="502920" y="960120"/>
            <a:ext cx="2286000" cy="502920"/>
          </a:xfrm>
          <a:prstGeom prst="rect">
            <a:avLst/>
          </a:prstGeom>
          <a:solidFill>
            <a:srgbClr val="1B2A4A"/>
          </a:solidFill>
          <a:ln/>
        </p:spPr>
        <p:txBody>
          <a:bodyPr/>
          <a:lstStyle/>
          <a:p>
            <a:endParaRPr lang="en-US"/>
          </a:p>
        </p:txBody>
      </p:sp>
      <p:sp>
        <p:nvSpPr>
          <p:cNvPr id="4" name="Text 2"/>
          <p:cNvSpPr/>
          <p:nvPr/>
        </p:nvSpPr>
        <p:spPr>
          <a:xfrm>
            <a:off x="594360" y="96012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Docker Sandbox</a:t>
            </a:r>
            <a:endParaRPr lang="en-US" sz="1100" dirty="0"/>
          </a:p>
        </p:txBody>
      </p:sp>
      <p:sp>
        <p:nvSpPr>
          <p:cNvPr id="5" name="Shape 3"/>
          <p:cNvSpPr/>
          <p:nvPr/>
        </p:nvSpPr>
        <p:spPr>
          <a:xfrm>
            <a:off x="2788920" y="960120"/>
            <a:ext cx="5852160" cy="50292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26080" y="96012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python:3.12-slim | Network: disabled | Memory: 512MB | Timeout: 60s | Output: 50KB | Workspace: bind-mounted</a:t>
            </a:r>
            <a:endParaRPr lang="en-US" sz="1000" dirty="0"/>
          </a:p>
        </p:txBody>
      </p:sp>
      <p:sp>
        <p:nvSpPr>
          <p:cNvPr id="7" name="Shape 5"/>
          <p:cNvSpPr/>
          <p:nvPr/>
        </p:nvSpPr>
        <p:spPr>
          <a:xfrm>
            <a:off x="502920" y="1554480"/>
            <a:ext cx="2286000" cy="502920"/>
          </a:xfrm>
          <a:prstGeom prst="rect">
            <a:avLst/>
          </a:prstGeom>
          <a:solidFill>
            <a:srgbClr val="0097A7"/>
          </a:solidFill>
          <a:ln/>
        </p:spPr>
        <p:txBody>
          <a:bodyPr/>
          <a:lstStyle/>
          <a:p>
            <a:endParaRPr lang="en-US"/>
          </a:p>
        </p:txBody>
      </p:sp>
      <p:sp>
        <p:nvSpPr>
          <p:cNvPr id="8" name="Text 6"/>
          <p:cNvSpPr/>
          <p:nvPr/>
        </p:nvSpPr>
        <p:spPr>
          <a:xfrm>
            <a:off x="594360" y="155448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Allowlists</a:t>
            </a:r>
            <a:endParaRPr lang="en-US" sz="1100" dirty="0"/>
          </a:p>
        </p:txBody>
      </p:sp>
      <p:sp>
        <p:nvSpPr>
          <p:cNvPr id="9" name="Shape 7"/>
          <p:cNvSpPr/>
          <p:nvPr/>
        </p:nvSpPr>
        <p:spPr>
          <a:xfrm>
            <a:off x="2788920" y="1554480"/>
            <a:ext cx="5852160" cy="5029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926080" y="155448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Each agent can only call tools in its allowed_tools list. Enforced at executor level. Unauthorized calls are blocked.</a:t>
            </a:r>
            <a:endParaRPr lang="en-US" sz="1000" dirty="0"/>
          </a:p>
        </p:txBody>
      </p:sp>
      <p:sp>
        <p:nvSpPr>
          <p:cNvPr id="11" name="Shape 9"/>
          <p:cNvSpPr/>
          <p:nvPr/>
        </p:nvSpPr>
        <p:spPr>
          <a:xfrm>
            <a:off x="502920" y="2148840"/>
            <a:ext cx="2286000" cy="502920"/>
          </a:xfrm>
          <a:prstGeom prst="rect">
            <a:avLst/>
          </a:prstGeom>
          <a:solidFill>
            <a:srgbClr val="00796B"/>
          </a:solidFill>
          <a:ln/>
        </p:spPr>
        <p:txBody>
          <a:bodyPr/>
          <a:lstStyle/>
          <a:p>
            <a:endParaRPr lang="en-US"/>
          </a:p>
        </p:txBody>
      </p:sp>
      <p:sp>
        <p:nvSpPr>
          <p:cNvPr id="12" name="Text 10"/>
          <p:cNvSpPr/>
          <p:nvPr/>
        </p:nvSpPr>
        <p:spPr>
          <a:xfrm>
            <a:off x="594360" y="214884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Filename Validation</a:t>
            </a:r>
            <a:endParaRPr lang="en-US" sz="1100" dirty="0"/>
          </a:p>
        </p:txBody>
      </p:sp>
      <p:sp>
        <p:nvSpPr>
          <p:cNvPr id="13" name="Shape 11"/>
          <p:cNvSpPr/>
          <p:nvPr/>
        </p:nvSpPr>
        <p:spPr>
          <a:xfrm>
            <a:off x="2788920" y="2148840"/>
            <a:ext cx="5852160" cy="5029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926080" y="214884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SessionWorkspace.safe_filename() blocks path traversal (../), absolute paths, suspicious characters.</a:t>
            </a:r>
            <a:endParaRPr lang="en-US" sz="1000" dirty="0"/>
          </a:p>
        </p:txBody>
      </p:sp>
      <p:sp>
        <p:nvSpPr>
          <p:cNvPr id="15" name="Shape 13"/>
          <p:cNvSpPr/>
          <p:nvPr/>
        </p:nvSpPr>
        <p:spPr>
          <a:xfrm>
            <a:off x="502920" y="2743200"/>
            <a:ext cx="2286000" cy="502920"/>
          </a:xfrm>
          <a:prstGeom prst="rect">
            <a:avLst/>
          </a:prstGeom>
          <a:solidFill>
            <a:srgbClr val="1B2A4A"/>
          </a:solidFill>
          <a:ln/>
        </p:spPr>
        <p:txBody>
          <a:bodyPr/>
          <a:lstStyle/>
          <a:p>
            <a:endParaRPr lang="en-US"/>
          </a:p>
        </p:txBody>
      </p:sp>
      <p:sp>
        <p:nvSpPr>
          <p:cNvPr id="16" name="Text 14"/>
          <p:cNvSpPr/>
          <p:nvPr/>
        </p:nvSpPr>
        <p:spPr>
          <a:xfrm>
            <a:off x="594360" y="274320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 Size Limits</a:t>
            </a:r>
            <a:endParaRPr lang="en-US" sz="1100" dirty="0"/>
          </a:p>
        </p:txBody>
      </p:sp>
      <p:sp>
        <p:nvSpPr>
          <p:cNvPr id="17" name="Shape 15"/>
          <p:cNvSpPr/>
          <p:nvPr/>
        </p:nvSpPr>
        <p:spPr>
          <a:xfrm>
            <a:off x="2788920" y="2743200"/>
            <a:ext cx="5852160" cy="5029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26080" y="274320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workspace_read() max 5MB. execute_code() output max 50KB. Prevents memory exhaustion.</a:t>
            </a:r>
            <a:endParaRPr lang="en-US" sz="1000" dirty="0"/>
          </a:p>
        </p:txBody>
      </p:sp>
      <p:sp>
        <p:nvSpPr>
          <p:cNvPr id="19" name="Shape 17"/>
          <p:cNvSpPr/>
          <p:nvPr/>
        </p:nvSpPr>
        <p:spPr>
          <a:xfrm>
            <a:off x="502920" y="347472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7472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Defense-in-depth: Docker prevents code escape. Allowlists prevent unauthorized tools. Filename validation prevents path traversal. Size limits prevent resource exhaustion. No single layer is sufficient alone.</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Resilience &amp; Provider Management</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Circuit breaker, live SSE progress, and provider dependency validation</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Circuit Breaker — Provider Resilience</a:t>
            </a:r>
            <a:endParaRPr lang="en-US" sz="2600" dirty="0"/>
          </a:p>
        </p:txBody>
      </p:sp>
      <p:sp>
        <p:nvSpPr>
          <p:cNvPr id="3" name="Shape 1"/>
          <p:cNvSpPr/>
          <p:nvPr/>
        </p:nvSpPr>
        <p:spPr>
          <a:xfrm>
            <a:off x="502920" y="914400"/>
            <a:ext cx="2286000" cy="640080"/>
          </a:xfrm>
          <a:prstGeom prst="rect">
            <a:avLst/>
          </a:prstGeom>
          <a:solidFill>
            <a:srgbClr val="2E7D32"/>
          </a:solidFill>
          <a:ln/>
        </p:spPr>
        <p:txBody>
          <a:bodyPr/>
          <a:lstStyle/>
          <a:p>
            <a:endParaRPr lang="en-US"/>
          </a:p>
        </p:txBody>
      </p:sp>
      <p:sp>
        <p:nvSpPr>
          <p:cNvPr id="4" name="Text 2"/>
          <p:cNvSpPr/>
          <p:nvPr/>
        </p:nvSpPr>
        <p:spPr>
          <a:xfrm>
            <a:off x="502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CLOSED</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(normal)</a:t>
            </a:r>
            <a:endParaRPr lang="en-US" sz="1100" dirty="0"/>
          </a:p>
        </p:txBody>
      </p:sp>
      <p:sp>
        <p:nvSpPr>
          <p:cNvPr id="5" name="Text 3"/>
          <p:cNvSpPr/>
          <p:nvPr/>
        </p:nvSpPr>
        <p:spPr>
          <a:xfrm>
            <a:off x="502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pass through.</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Records success/fail.</a:t>
            </a:r>
            <a:endParaRPr lang="en-US" sz="900" dirty="0"/>
          </a:p>
        </p:txBody>
      </p:sp>
      <p:sp>
        <p:nvSpPr>
          <p:cNvPr id="6" name="Shape 4"/>
          <p:cNvSpPr/>
          <p:nvPr/>
        </p:nvSpPr>
        <p:spPr>
          <a:xfrm>
            <a:off x="3200400" y="914400"/>
            <a:ext cx="2286000" cy="640080"/>
          </a:xfrm>
          <a:prstGeom prst="rect">
            <a:avLst/>
          </a:prstGeom>
          <a:solidFill>
            <a:srgbClr val="C62828"/>
          </a:solidFill>
          <a:ln/>
        </p:spPr>
        <p:txBody>
          <a:bodyPr/>
          <a:lstStyle/>
          <a:p>
            <a:endParaRPr lang="en-US"/>
          </a:p>
        </p:txBody>
      </p:sp>
      <p:sp>
        <p:nvSpPr>
          <p:cNvPr id="7" name="Text 5"/>
          <p:cNvSpPr/>
          <p:nvPr/>
        </p:nvSpPr>
        <p:spPr>
          <a:xfrm>
            <a:off x="320040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(tripped)</a:t>
            </a:r>
            <a:endParaRPr lang="en-US" sz="1100" dirty="0"/>
          </a:p>
        </p:txBody>
      </p:sp>
      <p:sp>
        <p:nvSpPr>
          <p:cNvPr id="8" name="Text 6"/>
          <p:cNvSpPr/>
          <p:nvPr/>
        </p:nvSpPr>
        <p:spPr>
          <a:xfrm>
            <a:off x="320040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rejected immediately.</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CircuitBreakerOpenError.</a:t>
            </a:r>
            <a:endParaRPr lang="en-US" sz="900" dirty="0"/>
          </a:p>
        </p:txBody>
      </p:sp>
      <p:sp>
        <p:nvSpPr>
          <p:cNvPr id="9" name="Shape 7"/>
          <p:cNvSpPr/>
          <p:nvPr/>
        </p:nvSpPr>
        <p:spPr>
          <a:xfrm>
            <a:off x="6217920" y="914400"/>
            <a:ext cx="2286000" cy="640080"/>
          </a:xfrm>
          <a:prstGeom prst="rect">
            <a:avLst/>
          </a:prstGeom>
          <a:solidFill>
            <a:srgbClr val="F9A825"/>
          </a:solidFill>
          <a:ln/>
        </p:spPr>
        <p:txBody>
          <a:bodyPr/>
          <a:lstStyle/>
          <a:p>
            <a:endParaRPr lang="en-US"/>
          </a:p>
        </p:txBody>
      </p:sp>
      <p:sp>
        <p:nvSpPr>
          <p:cNvPr id="10" name="Text 8"/>
          <p:cNvSpPr/>
          <p:nvPr/>
        </p:nvSpPr>
        <p:spPr>
          <a:xfrm>
            <a:off x="6217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HALF-OPEN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(probe)</a:t>
            </a:r>
            <a:endParaRPr lang="en-US" sz="1100" dirty="0"/>
          </a:p>
        </p:txBody>
      </p:sp>
      <p:sp>
        <p:nvSpPr>
          <p:cNvPr id="11" name="Text 9"/>
          <p:cNvSpPr/>
          <p:nvPr/>
        </p:nvSpPr>
        <p:spPr>
          <a:xfrm>
            <a:off x="6217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One probe call allowed.</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Success → CLOSED.</a:t>
            </a:r>
            <a:endParaRPr lang="en-US" sz="900" dirty="0"/>
          </a:p>
        </p:txBody>
      </p:sp>
      <p:sp>
        <p:nvSpPr>
          <p:cNvPr id="12" name="Shape 10"/>
          <p:cNvSpPr/>
          <p:nvPr/>
        </p:nvSpPr>
        <p:spPr>
          <a:xfrm>
            <a:off x="2377440" y="1097280"/>
            <a:ext cx="731520" cy="274320"/>
          </a:xfrm>
          <a:prstGeom prst="rightArrow">
            <a:avLst/>
          </a:prstGeom>
          <a:solidFill>
            <a:srgbClr val="C62828"/>
          </a:solidFill>
          <a:ln/>
        </p:spPr>
        <p:txBody>
          <a:bodyPr/>
          <a:lstStyle/>
          <a:p>
            <a:endParaRPr lang="en-US"/>
          </a:p>
        </p:txBody>
      </p:sp>
      <p:sp>
        <p:nvSpPr>
          <p:cNvPr id="13" name="Shape 11"/>
          <p:cNvSpPr/>
          <p:nvPr/>
        </p:nvSpPr>
        <p:spPr>
          <a:xfrm>
            <a:off x="5577840" y="1097280"/>
            <a:ext cx="548640" cy="274320"/>
          </a:xfrm>
          <a:prstGeom prst="rightArrow">
            <a:avLst/>
          </a:prstGeom>
          <a:solidFill>
            <a:srgbClr val="F9A825"/>
          </a:solidFill>
          <a:ln/>
        </p:spPr>
        <p:txBody>
          <a:bodyPr/>
          <a:lstStyle/>
          <a:p>
            <a:endParaRPr lang="en-US"/>
          </a:p>
        </p:txBody>
      </p:sp>
      <p:sp>
        <p:nvSpPr>
          <p:cNvPr id="14" name="Shape 12"/>
          <p:cNvSpPr/>
          <p:nvPr/>
        </p:nvSpPr>
        <p:spPr>
          <a:xfrm>
            <a:off x="502920" y="2240280"/>
            <a:ext cx="2011680" cy="347472"/>
          </a:xfrm>
          <a:prstGeom prst="rect">
            <a:avLst/>
          </a:prstGeom>
          <a:solidFill>
            <a:srgbClr val="1B2A4A"/>
          </a:solidFill>
          <a:ln/>
        </p:spPr>
        <p:txBody>
          <a:bodyPr/>
          <a:lstStyle/>
          <a:p>
            <a:endParaRPr lang="en-US"/>
          </a:p>
        </p:txBody>
      </p:sp>
      <p:sp>
        <p:nvSpPr>
          <p:cNvPr id="15" name="Text 13"/>
          <p:cNvSpPr/>
          <p:nvPr/>
        </p:nvSpPr>
        <p:spPr>
          <a:xfrm>
            <a:off x="576072" y="224028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window_size</a:t>
            </a:r>
            <a:endParaRPr lang="en-US" sz="950" dirty="0"/>
          </a:p>
        </p:txBody>
      </p:sp>
      <p:sp>
        <p:nvSpPr>
          <p:cNvPr id="16" name="Shape 14"/>
          <p:cNvSpPr/>
          <p:nvPr/>
        </p:nvSpPr>
        <p:spPr>
          <a:xfrm>
            <a:off x="2514600" y="2240280"/>
            <a:ext cx="6400800" cy="34747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651760" y="2240280"/>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20 — rolling window of recent calls for error rate calculation</a:t>
            </a:r>
            <a:endParaRPr lang="en-US" sz="950" dirty="0"/>
          </a:p>
        </p:txBody>
      </p:sp>
      <p:sp>
        <p:nvSpPr>
          <p:cNvPr id="18" name="Shape 16"/>
          <p:cNvSpPr/>
          <p:nvPr/>
        </p:nvSpPr>
        <p:spPr>
          <a:xfrm>
            <a:off x="502920" y="2633472"/>
            <a:ext cx="2011680" cy="347472"/>
          </a:xfrm>
          <a:prstGeom prst="rect">
            <a:avLst/>
          </a:prstGeom>
          <a:solidFill>
            <a:srgbClr val="1B2A4A"/>
          </a:solidFill>
          <a:ln/>
        </p:spPr>
        <p:txBody>
          <a:bodyPr/>
          <a:lstStyle/>
          <a:p>
            <a:endParaRPr lang="en-US"/>
          </a:p>
        </p:txBody>
      </p:sp>
      <p:sp>
        <p:nvSpPr>
          <p:cNvPr id="19" name="Text 17"/>
          <p:cNvSpPr/>
          <p:nvPr/>
        </p:nvSpPr>
        <p:spPr>
          <a:xfrm>
            <a:off x="576072" y="263347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min_samples</a:t>
            </a:r>
            <a:endParaRPr lang="en-US" sz="950" dirty="0"/>
          </a:p>
        </p:txBody>
      </p:sp>
      <p:sp>
        <p:nvSpPr>
          <p:cNvPr id="20" name="Shape 18"/>
          <p:cNvSpPr/>
          <p:nvPr/>
        </p:nvSpPr>
        <p:spPr>
          <a:xfrm>
            <a:off x="2514600" y="2633472"/>
            <a:ext cx="6400800" cy="347472"/>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651760" y="2633472"/>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 — minimum calls before breaker can trip</a:t>
            </a:r>
            <a:endParaRPr lang="en-US" sz="950" dirty="0"/>
          </a:p>
        </p:txBody>
      </p:sp>
      <p:sp>
        <p:nvSpPr>
          <p:cNvPr id="22" name="Shape 20"/>
          <p:cNvSpPr/>
          <p:nvPr/>
        </p:nvSpPr>
        <p:spPr>
          <a:xfrm>
            <a:off x="502920" y="3026664"/>
            <a:ext cx="2011680" cy="347472"/>
          </a:xfrm>
          <a:prstGeom prst="rect">
            <a:avLst/>
          </a:prstGeom>
          <a:solidFill>
            <a:srgbClr val="1B2A4A"/>
          </a:solidFill>
          <a:ln/>
        </p:spPr>
        <p:txBody>
          <a:bodyPr/>
          <a:lstStyle/>
          <a:p>
            <a:endParaRPr lang="en-US"/>
          </a:p>
        </p:txBody>
      </p:sp>
      <p:sp>
        <p:nvSpPr>
          <p:cNvPr id="23" name="Text 21"/>
          <p:cNvSpPr/>
          <p:nvPr/>
        </p:nvSpPr>
        <p:spPr>
          <a:xfrm>
            <a:off x="576072" y="302666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error_rate_threshold</a:t>
            </a:r>
            <a:endParaRPr lang="en-US" sz="950" dirty="0"/>
          </a:p>
        </p:txBody>
      </p:sp>
      <p:sp>
        <p:nvSpPr>
          <p:cNvPr id="24" name="Shape 22"/>
          <p:cNvSpPr/>
          <p:nvPr/>
        </p:nvSpPr>
        <p:spPr>
          <a:xfrm>
            <a:off x="2514600" y="3026664"/>
            <a:ext cx="640080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651760" y="3026664"/>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0.50 — 50% failure rate trips the breaker</a:t>
            </a:r>
            <a:endParaRPr lang="en-US" sz="950" dirty="0"/>
          </a:p>
        </p:txBody>
      </p:sp>
      <p:sp>
        <p:nvSpPr>
          <p:cNvPr id="26" name="Shape 24"/>
          <p:cNvSpPr/>
          <p:nvPr/>
        </p:nvSpPr>
        <p:spPr>
          <a:xfrm>
            <a:off x="502920" y="3419856"/>
            <a:ext cx="2011680" cy="347472"/>
          </a:xfrm>
          <a:prstGeom prst="rect">
            <a:avLst/>
          </a:prstGeom>
          <a:solidFill>
            <a:srgbClr val="1B2A4A"/>
          </a:solidFill>
          <a:ln/>
        </p:spPr>
        <p:txBody>
          <a:bodyPr/>
          <a:lstStyle/>
          <a:p>
            <a:endParaRPr lang="en-US"/>
          </a:p>
        </p:txBody>
      </p:sp>
      <p:sp>
        <p:nvSpPr>
          <p:cNvPr id="27" name="Text 25"/>
          <p:cNvSpPr/>
          <p:nvPr/>
        </p:nvSpPr>
        <p:spPr>
          <a:xfrm>
            <a:off x="576072" y="341985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consecutive_failures</a:t>
            </a:r>
            <a:endParaRPr lang="en-US" sz="950" dirty="0"/>
          </a:p>
        </p:txBody>
      </p:sp>
      <p:sp>
        <p:nvSpPr>
          <p:cNvPr id="28" name="Shape 26"/>
          <p:cNvSpPr/>
          <p:nvPr/>
        </p:nvSpPr>
        <p:spPr>
          <a:xfrm>
            <a:off x="2514600" y="3419856"/>
            <a:ext cx="6400800" cy="347472"/>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651760" y="3419856"/>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 — alternative trip condition (3 in a row)</a:t>
            </a:r>
            <a:endParaRPr lang="en-US" sz="950" dirty="0"/>
          </a:p>
        </p:txBody>
      </p:sp>
      <p:sp>
        <p:nvSpPr>
          <p:cNvPr id="30" name="Shape 28"/>
          <p:cNvSpPr/>
          <p:nvPr/>
        </p:nvSpPr>
        <p:spPr>
          <a:xfrm>
            <a:off x="502920" y="3813048"/>
            <a:ext cx="2011680" cy="347472"/>
          </a:xfrm>
          <a:prstGeom prst="rect">
            <a:avLst/>
          </a:prstGeom>
          <a:solidFill>
            <a:srgbClr val="1B2A4A"/>
          </a:solidFill>
          <a:ln/>
        </p:spPr>
        <p:txBody>
          <a:bodyPr/>
          <a:lstStyle/>
          <a:p>
            <a:endParaRPr lang="en-US"/>
          </a:p>
        </p:txBody>
      </p:sp>
      <p:sp>
        <p:nvSpPr>
          <p:cNvPr id="31" name="Text 29"/>
          <p:cNvSpPr/>
          <p:nvPr/>
        </p:nvSpPr>
        <p:spPr>
          <a:xfrm>
            <a:off x="576072" y="3813048"/>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open_seconds</a:t>
            </a:r>
            <a:endParaRPr lang="en-US" sz="950" dirty="0"/>
          </a:p>
        </p:txBody>
      </p:sp>
      <p:sp>
        <p:nvSpPr>
          <p:cNvPr id="32" name="Shape 30"/>
          <p:cNvSpPr/>
          <p:nvPr/>
        </p:nvSpPr>
        <p:spPr>
          <a:xfrm>
            <a:off x="2514600" y="3813048"/>
            <a:ext cx="6400800" cy="34747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651760" y="3813048"/>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30 — stay OPEN for 30s then allow one probe (HALF-OPEN)</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providers/circuit_breaker.py — ProviderCircuitBreaker, CircuitBreakerPolicy, CircuitBreakerOpenError</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Live Progress — Real-Time SSE Event Translation</a:t>
            </a:r>
            <a:endParaRPr lang="en-US" sz="2600" dirty="0"/>
          </a:p>
        </p:txBody>
      </p:sp>
      <p:sp>
        <p:nvSpPr>
          <p:cNvPr id="3" name="Shape 1"/>
          <p:cNvSpPr/>
          <p:nvPr/>
        </p:nvSpPr>
        <p:spPr>
          <a:xfrm>
            <a:off x="502920" y="960120"/>
            <a:ext cx="192024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RuntimeEvent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emitted internally</a:t>
            </a:r>
            <a:endParaRPr lang="en-US" sz="1000" dirty="0"/>
          </a:p>
        </p:txBody>
      </p:sp>
      <p:sp>
        <p:nvSpPr>
          <p:cNvPr id="5" name="Shape 3"/>
          <p:cNvSpPr/>
          <p:nvPr/>
        </p:nvSpPr>
        <p:spPr>
          <a:xfrm>
            <a:off x="2468880" y="1143000"/>
            <a:ext cx="91440" cy="274320"/>
          </a:xfrm>
          <a:prstGeom prst="rightArrow">
            <a:avLst/>
          </a:prstGeom>
          <a:solidFill>
            <a:srgbClr val="1B2A4A"/>
          </a:solidFill>
          <a:ln/>
        </p:spPr>
        <p:txBody>
          <a:bodyPr/>
          <a:lstStyle/>
          <a:p>
            <a:endParaRPr lang="en-US"/>
          </a:p>
        </p:txBody>
      </p:sp>
      <p:sp>
        <p:nvSpPr>
          <p:cNvPr id="6" name="Shape 4"/>
          <p:cNvSpPr/>
          <p:nvPr/>
        </p:nvSpPr>
        <p:spPr>
          <a:xfrm>
            <a:off x="2606040" y="960120"/>
            <a:ext cx="192024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60604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LiveProgressSink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.emit(event)</a:t>
            </a:r>
            <a:endParaRPr lang="en-US" sz="1000" dirty="0"/>
          </a:p>
        </p:txBody>
      </p:sp>
      <p:sp>
        <p:nvSpPr>
          <p:cNvPr id="8" name="Shape 6"/>
          <p:cNvSpPr/>
          <p:nvPr/>
        </p:nvSpPr>
        <p:spPr>
          <a:xfrm>
            <a:off x="4572000" y="1143000"/>
            <a:ext cx="91440" cy="274320"/>
          </a:xfrm>
          <a:prstGeom prst="rightArrow">
            <a:avLst/>
          </a:prstGeom>
          <a:solidFill>
            <a:srgbClr val="1B2A4A"/>
          </a:solidFill>
          <a:ln/>
        </p:spPr>
        <p:txBody>
          <a:bodyPr/>
          <a:lstStyle/>
          <a:p>
            <a:endParaRPr lang="en-US"/>
          </a:p>
        </p:txBody>
      </p:sp>
      <p:sp>
        <p:nvSpPr>
          <p:cNvPr id="9" name="Shape 7"/>
          <p:cNvSpPr/>
          <p:nvPr/>
        </p:nvSpPr>
        <p:spPr>
          <a:xfrm>
            <a:off x="4709160" y="960120"/>
            <a:ext cx="192024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470916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(thread-safe)</a:t>
            </a:r>
            <a:endParaRPr lang="en-US" sz="1000" dirty="0"/>
          </a:p>
        </p:txBody>
      </p:sp>
      <p:sp>
        <p:nvSpPr>
          <p:cNvPr id="11" name="Shape 9"/>
          <p:cNvSpPr/>
          <p:nvPr/>
        </p:nvSpPr>
        <p:spPr>
          <a:xfrm>
            <a:off x="6675120" y="1143000"/>
            <a:ext cx="91440" cy="274320"/>
          </a:xfrm>
          <a:prstGeom prst="rightArrow">
            <a:avLst/>
          </a:prstGeom>
          <a:solidFill>
            <a:srgbClr val="1B2A4A"/>
          </a:solidFill>
          <a:ln/>
        </p:spPr>
        <p:txBody>
          <a:bodyPr/>
          <a:lstStyle/>
          <a:p>
            <a:endParaRPr lang="en-US"/>
          </a:p>
        </p:txBody>
      </p:sp>
      <p:sp>
        <p:nvSpPr>
          <p:cNvPr id="12" name="Shape 10"/>
          <p:cNvSpPr/>
          <p:nvPr/>
        </p:nvSpPr>
        <p:spPr>
          <a:xfrm>
            <a:off x="6812280" y="960120"/>
            <a:ext cx="192024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681228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SSE stream to</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client UI</a:t>
            </a:r>
            <a:endParaRPr lang="en-US" sz="1000" dirty="0"/>
          </a:p>
        </p:txBody>
      </p:sp>
      <p:sp>
        <p:nvSpPr>
          <p:cNvPr id="14" name="Shape 12"/>
          <p:cNvSpPr/>
          <p:nvPr/>
        </p:nvSpPr>
        <p:spPr>
          <a:xfrm>
            <a:off x="502920" y="1783080"/>
            <a:ext cx="2286000" cy="365760"/>
          </a:xfrm>
          <a:prstGeom prst="rect">
            <a:avLst/>
          </a:prstGeom>
          <a:solidFill>
            <a:srgbClr val="1B2A4A"/>
          </a:solidFill>
          <a:ln/>
        </p:spPr>
        <p:txBody>
          <a:bodyPr/>
          <a:lstStyle/>
          <a:p>
            <a:endParaRPr lang="en-US"/>
          </a:p>
        </p:txBody>
      </p:sp>
      <p:sp>
        <p:nvSpPr>
          <p:cNvPr id="15" name="Text 13"/>
          <p:cNvSpPr/>
          <p:nvPr/>
        </p:nvSpPr>
        <p:spPr>
          <a:xfrm>
            <a:off x="576072" y="178308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router_decision</a:t>
            </a:r>
            <a:endParaRPr lang="en-US" sz="900" dirty="0"/>
          </a:p>
        </p:txBody>
      </p:sp>
      <p:sp>
        <p:nvSpPr>
          <p:cNvPr id="16" name="Shape 14"/>
          <p:cNvSpPr/>
          <p:nvPr/>
        </p:nvSpPr>
        <p:spPr>
          <a:xfrm>
            <a:off x="2788920" y="1783080"/>
            <a:ext cx="6309360" cy="36576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880360" y="178308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route_decision — label='Routed to {agent}', why=reason, confidence</a:t>
            </a:r>
            <a:endParaRPr lang="en-US" sz="950" dirty="0"/>
          </a:p>
        </p:txBody>
      </p:sp>
      <p:sp>
        <p:nvSpPr>
          <p:cNvPr id="18" name="Shape 16"/>
          <p:cNvSpPr/>
          <p:nvPr/>
        </p:nvSpPr>
        <p:spPr>
          <a:xfrm>
            <a:off x="502920" y="2185416"/>
            <a:ext cx="2286000" cy="365760"/>
          </a:xfrm>
          <a:prstGeom prst="rect">
            <a:avLst/>
          </a:prstGeom>
          <a:solidFill>
            <a:srgbClr val="1B2A4A"/>
          </a:solidFill>
          <a:ln/>
        </p:spPr>
        <p:txBody>
          <a:bodyPr/>
          <a:lstStyle/>
          <a:p>
            <a:endParaRPr lang="en-US"/>
          </a:p>
        </p:txBody>
      </p:sp>
      <p:sp>
        <p:nvSpPr>
          <p:cNvPr id="19" name="Text 17"/>
          <p:cNvSpPr/>
          <p:nvPr/>
        </p:nvSpPr>
        <p:spPr>
          <a:xfrm>
            <a:off x="576072" y="218541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agent_run_started</a:t>
            </a:r>
            <a:endParaRPr lang="en-US" sz="900" dirty="0"/>
          </a:p>
        </p:txBody>
      </p:sp>
      <p:sp>
        <p:nvSpPr>
          <p:cNvPr id="20" name="Shape 18"/>
          <p:cNvSpPr/>
          <p:nvPr/>
        </p:nvSpPr>
        <p:spPr>
          <a:xfrm>
            <a:off x="2788920" y="2185416"/>
            <a:ext cx="6309360" cy="36576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80360" y="218541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agent_selected — label='Running {agent}', status='running'</a:t>
            </a:r>
            <a:endParaRPr lang="en-US" sz="950" dirty="0"/>
          </a:p>
        </p:txBody>
      </p:sp>
      <p:sp>
        <p:nvSpPr>
          <p:cNvPr id="22" name="Shape 20"/>
          <p:cNvSpPr/>
          <p:nvPr/>
        </p:nvSpPr>
        <p:spPr>
          <a:xfrm>
            <a:off x="502920" y="2587752"/>
            <a:ext cx="2286000" cy="365760"/>
          </a:xfrm>
          <a:prstGeom prst="rect">
            <a:avLst/>
          </a:prstGeom>
          <a:solidFill>
            <a:srgbClr val="1B2A4A"/>
          </a:solidFill>
          <a:ln/>
        </p:spPr>
        <p:txBody>
          <a:bodyPr/>
          <a:lstStyle/>
          <a:p>
            <a:endParaRPr lang="en-US"/>
          </a:p>
        </p:txBody>
      </p:sp>
      <p:sp>
        <p:nvSpPr>
          <p:cNvPr id="23" name="Text 21"/>
          <p:cNvSpPr/>
          <p:nvPr/>
        </p:nvSpPr>
        <p:spPr>
          <a:xfrm>
            <a:off x="576072" y="2587752"/>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coordinator_planning_started</a:t>
            </a:r>
            <a:endParaRPr lang="en-US" sz="900" dirty="0"/>
          </a:p>
        </p:txBody>
      </p:sp>
      <p:sp>
        <p:nvSpPr>
          <p:cNvPr id="24" name="Shape 22"/>
          <p:cNvSpPr/>
          <p:nvPr/>
        </p:nvSpPr>
        <p:spPr>
          <a:xfrm>
            <a:off x="2788920" y="2587752"/>
            <a:ext cx="6309360" cy="36576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880360" y="2587752"/>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label='Planning tasks'</a:t>
            </a:r>
            <a:endParaRPr lang="en-US" sz="950" dirty="0"/>
          </a:p>
        </p:txBody>
      </p:sp>
      <p:sp>
        <p:nvSpPr>
          <p:cNvPr id="26" name="Shape 24"/>
          <p:cNvSpPr/>
          <p:nvPr/>
        </p:nvSpPr>
        <p:spPr>
          <a:xfrm>
            <a:off x="502920" y="2990088"/>
            <a:ext cx="2286000" cy="365760"/>
          </a:xfrm>
          <a:prstGeom prst="rect">
            <a:avLst/>
          </a:prstGeom>
          <a:solidFill>
            <a:srgbClr val="1B2A4A"/>
          </a:solidFill>
          <a:ln/>
        </p:spPr>
        <p:txBody>
          <a:bodyPr/>
          <a:lstStyle/>
          <a:p>
            <a:endParaRPr lang="en-US"/>
          </a:p>
        </p:txBody>
      </p:sp>
      <p:sp>
        <p:nvSpPr>
          <p:cNvPr id="27" name="Text 25"/>
          <p:cNvSpPr/>
          <p:nvPr/>
        </p:nvSpPr>
        <p:spPr>
          <a:xfrm>
            <a:off x="576072" y="2990088"/>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coordinator_batch_started</a:t>
            </a:r>
            <a:endParaRPr lang="en-US" sz="900" dirty="0"/>
          </a:p>
        </p:txBody>
      </p:sp>
      <p:sp>
        <p:nvSpPr>
          <p:cNvPr id="28" name="Shape 26"/>
          <p:cNvSpPr/>
          <p:nvPr/>
        </p:nvSpPr>
        <p:spPr>
          <a:xfrm>
            <a:off x="2788920" y="2990088"/>
            <a:ext cx="6309360" cy="365760"/>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880360" y="2990088"/>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label='Dispatching workers'</a:t>
            </a:r>
            <a:endParaRPr lang="en-US" sz="950" dirty="0"/>
          </a:p>
        </p:txBody>
      </p:sp>
      <p:sp>
        <p:nvSpPr>
          <p:cNvPr id="30" name="Shape 28"/>
          <p:cNvSpPr/>
          <p:nvPr/>
        </p:nvSpPr>
        <p:spPr>
          <a:xfrm>
            <a:off x="502920" y="3392424"/>
            <a:ext cx="2286000" cy="365760"/>
          </a:xfrm>
          <a:prstGeom prst="rect">
            <a:avLst/>
          </a:prstGeom>
          <a:solidFill>
            <a:srgbClr val="1B2A4A"/>
          </a:solidFill>
          <a:ln/>
        </p:spPr>
        <p:txBody>
          <a:bodyPr/>
          <a:lstStyle/>
          <a:p>
            <a:endParaRPr lang="en-US"/>
          </a:p>
        </p:txBody>
      </p:sp>
      <p:sp>
        <p:nvSpPr>
          <p:cNvPr id="31" name="Text 29"/>
          <p:cNvSpPr/>
          <p:nvPr/>
        </p:nvSpPr>
        <p:spPr>
          <a:xfrm>
            <a:off x="576072" y="3392424"/>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worker_agent_started</a:t>
            </a:r>
            <a:endParaRPr lang="en-US" sz="900" dirty="0"/>
          </a:p>
        </p:txBody>
      </p:sp>
      <p:sp>
        <p:nvSpPr>
          <p:cNvPr id="32" name="Shape 30"/>
          <p:cNvSpPr/>
          <p:nvPr/>
        </p:nvSpPr>
        <p:spPr>
          <a:xfrm>
            <a:off x="2788920" y="3392424"/>
            <a:ext cx="6309360" cy="36576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80360" y="3392424"/>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worker_start — label=task_title, job_id, task_id, docs[]</a:t>
            </a:r>
            <a:endParaRPr lang="en-US" sz="950" dirty="0"/>
          </a:p>
        </p:txBody>
      </p:sp>
      <p:sp>
        <p:nvSpPr>
          <p:cNvPr id="34" name="Shape 32"/>
          <p:cNvSpPr/>
          <p:nvPr/>
        </p:nvSpPr>
        <p:spPr>
          <a:xfrm>
            <a:off x="502920" y="3794760"/>
            <a:ext cx="2286000" cy="365760"/>
          </a:xfrm>
          <a:prstGeom prst="rect">
            <a:avLst/>
          </a:prstGeom>
          <a:solidFill>
            <a:srgbClr val="1B2A4A"/>
          </a:solidFill>
          <a:ln/>
        </p:spPr>
        <p:txBody>
          <a:bodyPr/>
          <a:lstStyle/>
          <a:p>
            <a:endParaRPr lang="en-US"/>
          </a:p>
        </p:txBody>
      </p:sp>
      <p:sp>
        <p:nvSpPr>
          <p:cNvPr id="35" name="Text 33"/>
          <p:cNvSpPr/>
          <p:nvPr/>
        </p:nvSpPr>
        <p:spPr>
          <a:xfrm>
            <a:off x="576072" y="379476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coordinator_finalizer_completed</a:t>
            </a:r>
            <a:endParaRPr lang="en-US" sz="900" dirty="0"/>
          </a:p>
        </p:txBody>
      </p:sp>
      <p:sp>
        <p:nvSpPr>
          <p:cNvPr id="36" name="Shape 34"/>
          <p:cNvSpPr/>
          <p:nvPr/>
        </p:nvSpPr>
        <p:spPr>
          <a:xfrm>
            <a:off x="2788920" y="3794760"/>
            <a:ext cx="6309360" cy="36576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880360" y="379476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phase_end — label='Final synthesis complete'</a:t>
            </a:r>
            <a:endParaRPr lang="en-US" sz="950" dirty="0"/>
          </a:p>
        </p:txBody>
      </p:sp>
      <p:sp>
        <p:nvSpPr>
          <p:cNvPr id="38" name="Shape 36"/>
          <p:cNvSpPr/>
          <p:nvPr/>
        </p:nvSpPr>
        <p:spPr>
          <a:xfrm>
            <a:off x="502920" y="4197096"/>
            <a:ext cx="2286000" cy="365760"/>
          </a:xfrm>
          <a:prstGeom prst="rect">
            <a:avLst/>
          </a:prstGeom>
          <a:solidFill>
            <a:srgbClr val="1B2A4A"/>
          </a:solidFill>
          <a:ln/>
        </p:spPr>
        <p:txBody>
          <a:bodyPr/>
          <a:lstStyle/>
          <a:p>
            <a:endParaRPr lang="en-US"/>
          </a:p>
        </p:txBody>
      </p:sp>
      <p:sp>
        <p:nvSpPr>
          <p:cNvPr id="39" name="Text 37"/>
          <p:cNvSpPr/>
          <p:nvPr/>
        </p:nvSpPr>
        <p:spPr>
          <a:xfrm>
            <a:off x="576072" y="419709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tool_call_started / ended</a:t>
            </a:r>
            <a:endParaRPr lang="en-US" sz="900" dirty="0"/>
          </a:p>
        </p:txBody>
      </p:sp>
      <p:sp>
        <p:nvSpPr>
          <p:cNvPr id="40" name="Shape 38"/>
          <p:cNvSpPr/>
          <p:nvPr/>
        </p:nvSpPr>
        <p:spPr>
          <a:xfrm>
            <a:off x="2788920" y="4197096"/>
            <a:ext cx="6309360" cy="365760"/>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880360" y="419709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tool_start / tool_end — tool_name, args preview, output preview</a:t>
            </a:r>
            <a:endParaRPr lang="en-US" sz="950" dirty="0"/>
          </a:p>
        </p:txBody>
      </p:sp>
      <p:sp>
        <p:nvSpPr>
          <p:cNvPr id="42" name="Text 4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api/live_progress.py — LiveProgressSink, api/progress_callback.py</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Provider Bundle &amp; Per-Agent Model Overrides</a:t>
            </a:r>
            <a:endParaRPr lang="en-US" sz="2600" dirty="0"/>
          </a:p>
        </p:txBody>
      </p:sp>
      <p:sp>
        <p:nvSpPr>
          <p:cNvPr id="3" name="Text 1"/>
          <p:cNvSpPr/>
          <p:nvPr/>
        </p:nvSpPr>
        <p:spPr>
          <a:xfrm>
            <a:off x="502920" y="841248"/>
            <a:ext cx="8138160" cy="347472"/>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providers/factory.py builds and caches LLM provider instances per agent. Each agent can use a different model — no code changes needed, just config.</a:t>
            </a:r>
            <a:endParaRPr lang="en-US" sz="1050" dirty="0"/>
          </a:p>
        </p:txBody>
      </p:sp>
      <p:sp>
        <p:nvSpPr>
          <p:cNvPr id="4" name="Shape 2"/>
          <p:cNvSpPr/>
          <p:nvPr/>
        </p:nvSpPr>
        <p:spPr>
          <a:xfrm>
            <a:off x="502920" y="1261872"/>
            <a:ext cx="402336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AgentProviderResolver</a:t>
            </a:r>
            <a:endParaRPr lang="en-US" sz="1200" dirty="0"/>
          </a:p>
        </p:txBody>
      </p:sp>
      <p:sp>
        <p:nvSpPr>
          <p:cNvPr id="7" name="Text 5"/>
          <p:cNvSpPr/>
          <p:nvPr/>
        </p:nvSpPr>
        <p:spPr>
          <a:xfrm>
            <a:off x="612648" y="1645920"/>
            <a:ext cx="380390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factory = AgentProviderResolver(settings)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bundle = factory.for_agent(agent_name, chat_max_output_tokens)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Returns ProviderBundle: chat_llm, judge_llm, embeddings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LRU cache key: (llm_provider, judge_provider, chat_model, judge_model, chat_cap, judge_cap). Prevents rebuilding identical providers across requests.</a:t>
            </a:r>
            <a:endParaRPr lang="en-US" sz="1000" dirty="0"/>
          </a:p>
        </p:txBody>
      </p:sp>
      <p:sp>
        <p:nvSpPr>
          <p:cNvPr id="8" name="Shape 6"/>
          <p:cNvSpPr/>
          <p:nvPr/>
        </p:nvSpPr>
        <p:spPr>
          <a:xfrm>
            <a:off x="4709160" y="1261872"/>
            <a:ext cx="443484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Per-Agent Model Config (config.py)</a:t>
            </a:r>
            <a:endParaRPr lang="en-US" sz="1200" dirty="0"/>
          </a:p>
        </p:txBody>
      </p:sp>
      <p:sp>
        <p:nvSpPr>
          <p:cNvPr id="11" name="Text 9"/>
          <p:cNvSpPr/>
          <p:nvPr/>
        </p:nvSpPr>
        <p:spPr>
          <a:xfrm>
            <a:off x="4818888" y="1645920"/>
            <a:ext cx="421538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agent_chat_model_overrides: dict
  e.g. data_analyst → gpt-4o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agent_judge_model_overrides: dict
  e.g. rag_worker → gpt-4o-mini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normalise_agent_name() converts kebab→snake before lookup.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Fallback: global llm_model / judge_model.</a:t>
            </a:r>
            <a:endParaRPr lang="en-US" sz="1000" dirty="0"/>
          </a:p>
        </p:txBody>
      </p:sp>
      <p:sp>
        <p:nvSpPr>
          <p:cNvPr id="12" name="Shape 10"/>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ProviderBundle carries .chat_llm, .judge_llm, and .embeddings. Only chat_llm changes per agent — judge and embeddings are shared unless explicitly overridden.</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providers/factory.py — AgentProviderResolver, ProviderBundle, providers/llm_factory.py</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Token Cap Resolution &amp; Provider Preflight Validation</a:t>
            </a:r>
            <a:endParaRPr lang="en-US" sz="2600" dirty="0"/>
          </a:p>
        </p:txBody>
      </p:sp>
      <p:sp>
        <p:nvSpPr>
          <p:cNvPr id="3" name="Shape 1"/>
          <p:cNvSpPr/>
          <p:nvPr/>
        </p:nvSpPr>
        <p:spPr>
          <a:xfrm>
            <a:off x="502920" y="914400"/>
            <a:ext cx="4206240" cy="320040"/>
          </a:xfrm>
          <a:prstGeom prst="rect">
            <a:avLst/>
          </a:prstGeom>
          <a:solidFill>
            <a:srgbClr val="1B2A4A"/>
          </a:solidFill>
          <a:ln/>
        </p:spPr>
        <p:txBody>
          <a:bodyPr/>
          <a:lstStyle/>
          <a:p>
            <a:endParaRPr lang="en-US"/>
          </a:p>
        </p:txBody>
      </p:sp>
      <p:sp>
        <p:nvSpPr>
          <p:cNvPr id="4" name="Text 2"/>
          <p:cNvSpPr/>
          <p:nvPr/>
        </p:nvSpPr>
        <p:spPr>
          <a:xfrm>
            <a:off x="576072" y="914400"/>
            <a:ext cx="4059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Output Token Cap — Priority Chain (providers/output_limits.py)</a:t>
            </a:r>
            <a:endParaRPr lang="en-US" sz="1000" dirty="0"/>
          </a:p>
        </p:txBody>
      </p:sp>
      <p:sp>
        <p:nvSpPr>
          <p:cNvPr id="5" name="Shape 3"/>
          <p:cNvSpPr/>
          <p:nvPr/>
        </p:nvSpPr>
        <p:spPr>
          <a:xfrm>
            <a:off x="502920" y="1280160"/>
            <a:ext cx="274320" cy="347472"/>
          </a:xfrm>
          <a:prstGeom prst="rect">
            <a:avLst/>
          </a:prstGeom>
          <a:solidFill>
            <a:srgbClr val="0097A7"/>
          </a:solidFill>
          <a:ln/>
        </p:spPr>
        <p:txBody>
          <a:bodyPr/>
          <a:lstStyle/>
          <a:p>
            <a:endParaRPr lang="en-US"/>
          </a:p>
        </p:txBody>
      </p:sp>
      <p:sp>
        <p:nvSpPr>
          <p:cNvPr id="6" name="Text 4"/>
          <p:cNvSpPr/>
          <p:nvPr/>
        </p:nvSpPr>
        <p:spPr>
          <a:xfrm>
            <a:off x="502920" y="1280160"/>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777240" y="1280160"/>
            <a:ext cx="3931920" cy="347472"/>
          </a:xfrm>
          <a:prstGeom prst="rect">
            <a:avLst/>
          </a:prstGeom>
          <a:solidFill>
            <a:srgbClr val="F5F5F5"/>
          </a:solidFill>
          <a:ln w="3810">
            <a:solidFill>
              <a:srgbClr val="F0F0F0"/>
            </a:solidFill>
            <a:prstDash val="solid"/>
          </a:ln>
        </p:spPr>
        <p:txBody>
          <a:bodyPr/>
          <a:lstStyle/>
          <a:p>
            <a:endParaRPr lang="en-US"/>
          </a:p>
        </p:txBody>
      </p:sp>
      <p:sp>
        <p:nvSpPr>
          <p:cNvPr id="8" name="Text 6"/>
          <p:cNvSpPr/>
          <p:nvPr/>
        </p:nvSpPr>
        <p:spPr>
          <a:xfrm>
            <a:off x="850392" y="1280160"/>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Request param — max_tokens in the API request body</a:t>
            </a:r>
            <a:endParaRPr lang="en-US" sz="950" dirty="0"/>
          </a:p>
        </p:txBody>
      </p:sp>
      <p:sp>
        <p:nvSpPr>
          <p:cNvPr id="9" name="Shape 7"/>
          <p:cNvSpPr/>
          <p:nvPr/>
        </p:nvSpPr>
        <p:spPr>
          <a:xfrm>
            <a:off x="502920" y="1636776"/>
            <a:ext cx="274320" cy="347472"/>
          </a:xfrm>
          <a:prstGeom prst="rect">
            <a:avLst/>
          </a:prstGeom>
          <a:solidFill>
            <a:srgbClr val="0097A7"/>
          </a:solidFill>
          <a:ln/>
        </p:spPr>
        <p:txBody>
          <a:bodyPr/>
          <a:lstStyle/>
          <a:p>
            <a:endParaRPr lang="en-US"/>
          </a:p>
        </p:txBody>
      </p:sp>
      <p:sp>
        <p:nvSpPr>
          <p:cNvPr id="10" name="Text 8"/>
          <p:cNvSpPr/>
          <p:nvPr/>
        </p:nvSpPr>
        <p:spPr>
          <a:xfrm>
            <a:off x="502920" y="1636776"/>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9"/>
          <p:cNvSpPr/>
          <p:nvPr/>
        </p:nvSpPr>
        <p:spPr>
          <a:xfrm>
            <a:off x="777240" y="1636776"/>
            <a:ext cx="3931920" cy="347472"/>
          </a:xfrm>
          <a:prstGeom prst="rect">
            <a:avLst/>
          </a:prstGeom>
          <a:solidFill>
            <a:srgbClr val="FFFFFF"/>
          </a:solidFill>
          <a:ln w="3810">
            <a:solidFill>
              <a:srgbClr val="F0F0F0"/>
            </a:solidFill>
            <a:prstDash val="solid"/>
          </a:ln>
        </p:spPr>
        <p:txBody>
          <a:bodyPr/>
          <a:lstStyle/>
          <a:p>
            <a:endParaRPr lang="en-US"/>
          </a:p>
        </p:txBody>
      </p:sp>
      <p:sp>
        <p:nvSpPr>
          <p:cNvPr id="12" name="Text 10"/>
          <p:cNvSpPr/>
          <p:nvPr/>
        </p:nvSpPr>
        <p:spPr>
          <a:xfrm>
            <a:off x="850392" y="1636776"/>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Agent-specific — agent_chat_max_output_tokens[agent_name]</a:t>
            </a:r>
            <a:endParaRPr lang="en-US" sz="950" dirty="0"/>
          </a:p>
        </p:txBody>
      </p:sp>
      <p:sp>
        <p:nvSpPr>
          <p:cNvPr id="13" name="Shape 11"/>
          <p:cNvSpPr/>
          <p:nvPr/>
        </p:nvSpPr>
        <p:spPr>
          <a:xfrm>
            <a:off x="502920" y="1993392"/>
            <a:ext cx="274320" cy="347472"/>
          </a:xfrm>
          <a:prstGeom prst="rect">
            <a:avLst/>
          </a:prstGeom>
          <a:solidFill>
            <a:srgbClr val="0097A7"/>
          </a:solidFill>
          <a:ln/>
        </p:spPr>
        <p:txBody>
          <a:bodyPr/>
          <a:lstStyle/>
          <a:p>
            <a:endParaRPr lang="en-US"/>
          </a:p>
        </p:txBody>
      </p:sp>
      <p:sp>
        <p:nvSpPr>
          <p:cNvPr id="14" name="Text 12"/>
          <p:cNvSpPr/>
          <p:nvPr/>
        </p:nvSpPr>
        <p:spPr>
          <a:xfrm>
            <a:off x="502920" y="1993392"/>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3"/>
          <p:cNvSpPr/>
          <p:nvPr/>
        </p:nvSpPr>
        <p:spPr>
          <a:xfrm>
            <a:off x="777240" y="1993392"/>
            <a:ext cx="3931920" cy="347472"/>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850392" y="1993392"/>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Demo cap — demo_chat_max_output_tokens (test/demo env)</a:t>
            </a:r>
            <a:endParaRPr lang="en-US" sz="950" dirty="0"/>
          </a:p>
        </p:txBody>
      </p:sp>
      <p:sp>
        <p:nvSpPr>
          <p:cNvPr id="17" name="Shape 15"/>
          <p:cNvSpPr/>
          <p:nvPr/>
        </p:nvSpPr>
        <p:spPr>
          <a:xfrm>
            <a:off x="502920" y="2350008"/>
            <a:ext cx="274320" cy="347472"/>
          </a:xfrm>
          <a:prstGeom prst="rect">
            <a:avLst/>
          </a:prstGeom>
          <a:solidFill>
            <a:srgbClr val="0097A7"/>
          </a:solidFill>
          <a:ln/>
        </p:spPr>
        <p:txBody>
          <a:bodyPr/>
          <a:lstStyle/>
          <a:p>
            <a:endParaRPr lang="en-US"/>
          </a:p>
        </p:txBody>
      </p:sp>
      <p:sp>
        <p:nvSpPr>
          <p:cNvPr id="18" name="Text 16"/>
          <p:cNvSpPr/>
          <p:nvPr/>
        </p:nvSpPr>
        <p:spPr>
          <a:xfrm>
            <a:off x="502920" y="2350008"/>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 name="Shape 17"/>
          <p:cNvSpPr/>
          <p:nvPr/>
        </p:nvSpPr>
        <p:spPr>
          <a:xfrm>
            <a:off x="777240" y="2350008"/>
            <a:ext cx="3931920" cy="347472"/>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850392" y="2350008"/>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Global cap — chat_max_output_tokens setting</a:t>
            </a:r>
            <a:endParaRPr lang="en-US" sz="950" dirty="0"/>
          </a:p>
        </p:txBody>
      </p:sp>
      <p:sp>
        <p:nvSpPr>
          <p:cNvPr id="21" name="Shape 19"/>
          <p:cNvSpPr/>
          <p:nvPr/>
        </p:nvSpPr>
        <p:spPr>
          <a:xfrm>
            <a:off x="502920" y="2706624"/>
            <a:ext cx="274320" cy="347472"/>
          </a:xfrm>
          <a:prstGeom prst="rect">
            <a:avLst/>
          </a:prstGeom>
          <a:solidFill>
            <a:srgbClr val="0097A7"/>
          </a:solidFill>
          <a:ln/>
        </p:spPr>
        <p:txBody>
          <a:bodyPr/>
          <a:lstStyle/>
          <a:p>
            <a:endParaRPr lang="en-US"/>
          </a:p>
        </p:txBody>
      </p:sp>
      <p:sp>
        <p:nvSpPr>
          <p:cNvPr id="22" name="Text 20"/>
          <p:cNvSpPr/>
          <p:nvPr/>
        </p:nvSpPr>
        <p:spPr>
          <a:xfrm>
            <a:off x="502920" y="2706624"/>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777240" y="2706624"/>
            <a:ext cx="3931920" cy="347472"/>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850392" y="2706624"/>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Legacy fallback — ollama_num_predict (backward compat)</a:t>
            </a:r>
            <a:endParaRPr lang="en-US" sz="950" dirty="0"/>
          </a:p>
        </p:txBody>
      </p:sp>
      <p:sp>
        <p:nvSpPr>
          <p:cNvPr id="25" name="Shape 23"/>
          <p:cNvSpPr/>
          <p:nvPr/>
        </p:nvSpPr>
        <p:spPr>
          <a:xfrm>
            <a:off x="4892040" y="914400"/>
            <a:ext cx="3749040" cy="320040"/>
          </a:xfrm>
          <a:prstGeom prst="rect">
            <a:avLst/>
          </a:prstGeom>
          <a:solidFill>
            <a:srgbClr val="00796B"/>
          </a:solidFill>
          <a:ln/>
        </p:spPr>
        <p:txBody>
          <a:bodyPr/>
          <a:lstStyle/>
          <a:p>
            <a:endParaRPr lang="en-US"/>
          </a:p>
        </p:txBody>
      </p:sp>
      <p:sp>
        <p:nvSpPr>
          <p:cNvPr id="26" name="Text 24"/>
          <p:cNvSpPr/>
          <p:nvPr/>
        </p:nvSpPr>
        <p:spPr>
          <a:xfrm>
            <a:off x="4965192" y="914400"/>
            <a:ext cx="36027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Preflight Validation (providers/dependency_checks.py)</a:t>
            </a:r>
            <a:endParaRPr lang="en-US" sz="1000" dirty="0"/>
          </a:p>
        </p:txBody>
      </p:sp>
      <p:sp>
        <p:nvSpPr>
          <p:cNvPr id="27" name="Shape 25"/>
          <p:cNvSpPr/>
          <p:nvPr/>
        </p:nvSpPr>
        <p:spPr>
          <a:xfrm>
            <a:off x="4892040" y="1280160"/>
            <a:ext cx="3749040" cy="347472"/>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4983480" y="1280160"/>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Package check: langchain_ollama / langchain_openai installed for configured provider?</a:t>
            </a:r>
            <a:endParaRPr lang="en-US" sz="900" dirty="0"/>
          </a:p>
        </p:txBody>
      </p:sp>
      <p:sp>
        <p:nvSpPr>
          <p:cNvPr id="29" name="Shape 27"/>
          <p:cNvSpPr/>
          <p:nvPr/>
        </p:nvSpPr>
        <p:spPr>
          <a:xfrm>
            <a:off x="4892040" y="1636776"/>
            <a:ext cx="3749040" cy="347472"/>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983480" y="1636776"/>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Azure format: HTTPS endpoint, API_KEY, ENDPOINT, deployment names present?</a:t>
            </a:r>
            <a:endParaRPr lang="en-US" sz="900" dirty="0"/>
          </a:p>
        </p:txBody>
      </p:sp>
      <p:sp>
        <p:nvSpPr>
          <p:cNvPr id="31" name="Shape 29"/>
          <p:cNvSpPr/>
          <p:nvPr/>
        </p:nvSpPr>
        <p:spPr>
          <a:xfrm>
            <a:off x="4892040" y="1993392"/>
            <a:ext cx="3749040" cy="347472"/>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983480" y="1993392"/>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Embedding dim: 1536 for ada-002; mismatches rejected before ingestion</a:t>
            </a:r>
            <a:endParaRPr lang="en-US" sz="900" dirty="0"/>
          </a:p>
        </p:txBody>
      </p:sp>
      <p:sp>
        <p:nvSpPr>
          <p:cNvPr id="33" name="Shape 31"/>
          <p:cNvSpPr/>
          <p:nvPr/>
        </p:nvSpPr>
        <p:spPr>
          <a:xfrm>
            <a:off x="4892040" y="2350008"/>
            <a:ext cx="3749040" cy="347472"/>
          </a:xfrm>
          <a:prstGeom prst="rect">
            <a:avLst/>
          </a:prstGeom>
          <a:solidFill>
            <a:srgbClr val="FFFFFF"/>
          </a:solidFill>
          <a:ln w="3810">
            <a:solidFill>
              <a:srgbClr val="F0F0F0"/>
            </a:solidFill>
            <a:prstDash val="solid"/>
          </a:ln>
        </p:spPr>
        <p:txBody>
          <a:bodyPr/>
          <a:lstStyle/>
          <a:p>
            <a:endParaRPr lang="en-US"/>
          </a:p>
        </p:txBody>
      </p:sp>
      <p:sp>
        <p:nvSpPr>
          <p:cNvPr id="34" name="Text 32"/>
          <p:cNvSpPr/>
          <p:nvPr/>
        </p:nvSpPr>
        <p:spPr>
          <a:xfrm>
            <a:off x="4983480" y="2350008"/>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NVIDIA endpoint: URL format + tokens/models; embedding not supported</a:t>
            </a:r>
            <a:endParaRPr lang="en-US" sz="900" dirty="0"/>
          </a:p>
        </p:txBody>
      </p:sp>
      <p:sp>
        <p:nvSpPr>
          <p:cNvPr id="35" name="Shape 33"/>
          <p:cNvSpPr/>
          <p:nvPr/>
        </p:nvSpPr>
        <p:spPr>
          <a:xfrm>
            <a:off x="4892040" y="2706624"/>
            <a:ext cx="3749040" cy="347472"/>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4983480" y="2706624"/>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SSL cert: File existence check if ssl_cert_path configured</a:t>
            </a:r>
            <a:endParaRPr lang="en-US" sz="900" dirty="0"/>
          </a:p>
        </p:txBody>
      </p:sp>
      <p:sp>
        <p:nvSpPr>
          <p:cNvPr id="37" name="Shape 35"/>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38" name="Text 36"/>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validation fails, ProviderDependencyError or ProviderConfigurationError is raised at startup with a structured message including context, config key, and remediation hint (e.g. 'pip install langchain-ollama').</a:t>
            </a:r>
            <a:endParaRPr lang="en-US" sz="1000" dirty="0"/>
          </a:p>
        </p:txBody>
      </p:sp>
      <p:sp>
        <p:nvSpPr>
          <p:cNvPr id="39" name="Text 3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providers/output_limits.py — resolve_chat_output_cap(), providers/dependency_checks.py — validate_provider_dependencies()</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6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Registry &amp; Control Panel</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Dynamic agent loading, Pydantic validation, admin hot-reload API</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Registry — Dynamic Loading &amp; Pydantic Validation</a:t>
            </a:r>
            <a:endParaRPr lang="en-US" sz="2600" dirty="0"/>
          </a:p>
        </p:txBody>
      </p:sp>
      <p:sp>
        <p:nvSpPr>
          <p:cNvPr id="3" name="Shape 1"/>
          <p:cNvSpPr/>
          <p:nvPr/>
        </p:nvSpPr>
        <p:spPr>
          <a:xfrm>
            <a:off x="502920" y="91440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AgentRegistry  (agents/registry.py)</a:t>
            </a:r>
            <a:endParaRPr lang="en-US" sz="1200" dirty="0"/>
          </a:p>
        </p:txBody>
      </p:sp>
      <p:sp>
        <p:nvSpPr>
          <p:cNvPr id="6" name="Text 4"/>
          <p:cNvSpPr/>
          <p:nvPr/>
        </p:nvSpPr>
        <p:spPr>
          <a:xfrm>
            <a:off x="612648" y="129844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AgentRegistry(agents_dir, overlay_dir)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reload() — scans *.md in both dirs, overlay wins on conflict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is_routable() — filters by role_kind (top_level / manager) or entry_path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get_default_agent_name() — finds entry_path='default'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get_manager_agent_name() — mode='coordinator' / role_kind='manager'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get_rag_agent_name() — mode='rag' / expected_output='rag_contract'</a:t>
            </a:r>
            <a:endParaRPr lang="en-US" sz="1000" dirty="0"/>
          </a:p>
        </p:txBody>
      </p:sp>
      <p:sp>
        <p:nvSpPr>
          <p:cNvPr id="7" name="Shape 5"/>
          <p:cNvSpPr/>
          <p:nvPr/>
        </p:nvSpPr>
        <p:spPr>
          <a:xfrm>
            <a:off x="4572000" y="91440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AgentDefinitionModel  (agents/validation.py)</a:t>
            </a:r>
            <a:endParaRPr lang="en-US" sz="1200" dirty="0"/>
          </a:p>
        </p:txBody>
      </p:sp>
      <p:sp>
        <p:nvSpPr>
          <p:cNvPr id="10" name="Text 8"/>
          <p:cNvSpPr/>
          <p:nvPr/>
        </p:nvSpPr>
        <p:spPr>
          <a:xfrm>
            <a:off x="4681728" y="129844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Pydantic BaseModel with extra='forbid'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Literal['basic','react','rag','planner','finalizer','verifier','coordinator','memory_maintainer']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prompt_file: must end in '.md'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max_steps: int &gt; 0, max_tool_calls: int &gt;= 0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allowed_tools/worker_agents: List[str], no empty values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Validation error → format_agent_validation_error() with path + hint</a:t>
            </a:r>
            <a:endParaRPr lang="en-US" sz="1000" dirty="0"/>
          </a:p>
        </p:txBody>
      </p:sp>
      <p:sp>
        <p:nvSpPr>
          <p:cNvPr id="11" name="Shape 9"/>
          <p:cNvSpPr/>
          <p:nvPr/>
        </p:nvSpPr>
        <p:spPr>
          <a:xfrm>
            <a:off x="502920" y="3246120"/>
            <a:ext cx="8138160" cy="45720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24612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Overlays: Control Panel writes agent changes to overlay_dir. AgentRegistry.reload() merges overlay_dir on top of agents_dir — zero restart required. Typos in agent files are caught as Pydantic ValidationErrors, not silent runtime bugs.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agents/registry.py — AgentRegistry, agents/validation.py — AgentDefinitionModel, agents/loader.py</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 Admin Hot-Reload API</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Auth: X-Admin-Token header required on all endpoints (require_admin_token()). Enabled via control_panel_enabled=true + control_panel_admin_token env vars.</a:t>
            </a:r>
            <a:endParaRPr lang="en-US" sz="1000" dirty="0"/>
          </a:p>
        </p:txBody>
      </p:sp>
      <p:sp>
        <p:nvSpPr>
          <p:cNvPr id="4" name="Shape 2"/>
          <p:cNvSpPr/>
          <p:nvPr/>
        </p:nvSpPr>
        <p:spPr>
          <a:xfrm>
            <a:off x="502920" y="1234440"/>
            <a:ext cx="1371600" cy="786384"/>
          </a:xfrm>
          <a:prstGeom prst="rect">
            <a:avLst/>
          </a:prstGeom>
          <a:solidFill>
            <a:srgbClr val="0097A7"/>
          </a:solidFill>
          <a:ln/>
        </p:spPr>
        <p:txBody>
          <a:bodyPr/>
          <a:lstStyle/>
          <a:p>
            <a:endParaRPr lang="en-US"/>
          </a:p>
        </p:txBody>
      </p:sp>
      <p:sp>
        <p:nvSpPr>
          <p:cNvPr id="5" name="Text 3"/>
          <p:cNvSpPr/>
          <p:nvPr/>
        </p:nvSpPr>
        <p:spPr>
          <a:xfrm>
            <a:off x="548640" y="1234440"/>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Runtime</a:t>
            </a:r>
            <a:endParaRPr lang="en-US" sz="1100" dirty="0"/>
          </a:p>
        </p:txBody>
      </p:sp>
      <p:sp>
        <p:nvSpPr>
          <p:cNvPr id="6" name="Shape 4"/>
          <p:cNvSpPr/>
          <p:nvPr/>
        </p:nvSpPr>
        <p:spPr>
          <a:xfrm>
            <a:off x="1874520" y="1234440"/>
            <a:ext cx="6766560" cy="786384"/>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011680" y="1271016"/>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/overview (settings snapshot) · GET /operations (reload status, breaker state)</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/config/apply → OverlayStore → RuntimeManager.reload()  ·  GET /config/schema &amp; /effective</a:t>
            </a:r>
            <a:endParaRPr lang="en-US" sz="950" dirty="0"/>
          </a:p>
        </p:txBody>
      </p:sp>
      <p:sp>
        <p:nvSpPr>
          <p:cNvPr id="8" name="Shape 6"/>
          <p:cNvSpPr/>
          <p:nvPr/>
        </p:nvSpPr>
        <p:spPr>
          <a:xfrm>
            <a:off x="502920" y="2084832"/>
            <a:ext cx="1371600" cy="786384"/>
          </a:xfrm>
          <a:prstGeom prst="rect">
            <a:avLst/>
          </a:prstGeom>
          <a:solidFill>
            <a:srgbClr val="1B2A4A"/>
          </a:solidFill>
          <a:ln/>
        </p:spPr>
        <p:txBody>
          <a:bodyPr/>
          <a:lstStyle/>
          <a:p>
            <a:endParaRPr lang="en-US"/>
          </a:p>
        </p:txBody>
      </p:sp>
      <p:sp>
        <p:nvSpPr>
          <p:cNvPr id="9" name="Text 7"/>
          <p:cNvSpPr/>
          <p:nvPr/>
        </p:nvSpPr>
        <p:spPr>
          <a:xfrm>
            <a:off x="548640" y="20848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Agents</a:t>
            </a:r>
            <a:endParaRPr lang="en-US" sz="1100" dirty="0"/>
          </a:p>
        </p:txBody>
      </p:sp>
      <p:sp>
        <p:nvSpPr>
          <p:cNvPr id="10" name="Shape 8"/>
          <p:cNvSpPr/>
          <p:nvPr/>
        </p:nvSpPr>
        <p:spPr>
          <a:xfrm>
            <a:off x="1874520" y="2084832"/>
            <a:ext cx="6766560" cy="786384"/>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011680" y="21214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/agents · GET /agents/{name} (definition + prompt body)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PUT /agents/{name} (update fields via overlay) · DELETE /agents/{name} · POST /agents/reload</a:t>
            </a:r>
            <a:endParaRPr lang="en-US" sz="950" dirty="0"/>
          </a:p>
        </p:txBody>
      </p:sp>
      <p:sp>
        <p:nvSpPr>
          <p:cNvPr id="12" name="Shape 10"/>
          <p:cNvSpPr/>
          <p:nvPr/>
        </p:nvSpPr>
        <p:spPr>
          <a:xfrm>
            <a:off x="502920" y="2935224"/>
            <a:ext cx="1371600" cy="457200"/>
          </a:xfrm>
          <a:prstGeom prst="rect">
            <a:avLst/>
          </a:prstGeom>
          <a:solidFill>
            <a:srgbClr val="00796B"/>
          </a:solidFill>
          <a:ln/>
        </p:spPr>
        <p:txBody>
          <a:bodyPr/>
          <a:lstStyle/>
          <a:p>
            <a:endParaRPr lang="en-US"/>
          </a:p>
        </p:txBody>
      </p:sp>
      <p:sp>
        <p:nvSpPr>
          <p:cNvPr id="13" name="Text 11"/>
          <p:cNvSpPr/>
          <p:nvPr/>
        </p:nvSpPr>
        <p:spPr>
          <a:xfrm>
            <a:off x="548640" y="2935224"/>
            <a:ext cx="12801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Prompts</a:t>
            </a:r>
            <a:endParaRPr lang="en-US" sz="1100" dirty="0"/>
          </a:p>
        </p:txBody>
      </p:sp>
      <p:sp>
        <p:nvSpPr>
          <p:cNvPr id="14" name="Shape 12"/>
          <p:cNvSpPr/>
          <p:nvPr/>
        </p:nvSpPr>
        <p:spPr>
          <a:xfrm>
            <a:off x="1874520" y="2935224"/>
            <a:ext cx="676656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011680" y="2971800"/>
            <a:ext cx="6492240" cy="384048"/>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 PUT / DELETE  /prompts/{prompt_file} — read/write/delete prompt markdown overlays</a:t>
            </a:r>
            <a:endParaRPr lang="en-US" sz="950" dirty="0"/>
          </a:p>
        </p:txBody>
      </p:sp>
      <p:sp>
        <p:nvSpPr>
          <p:cNvPr id="16" name="Shape 14"/>
          <p:cNvSpPr/>
          <p:nvPr/>
        </p:nvSpPr>
        <p:spPr>
          <a:xfrm>
            <a:off x="502920" y="3456432"/>
            <a:ext cx="1371600" cy="786384"/>
          </a:xfrm>
          <a:prstGeom prst="rect">
            <a:avLst/>
          </a:prstGeom>
          <a:solidFill>
            <a:srgbClr val="F9A825"/>
          </a:solidFill>
          <a:ln/>
        </p:spPr>
        <p:txBody>
          <a:bodyPr/>
          <a:lstStyle/>
          <a:p>
            <a:endParaRPr lang="en-US"/>
          </a:p>
        </p:txBody>
      </p:sp>
      <p:sp>
        <p:nvSpPr>
          <p:cNvPr id="17" name="Text 15"/>
          <p:cNvSpPr/>
          <p:nvPr/>
        </p:nvSpPr>
        <p:spPr>
          <a:xfrm>
            <a:off x="548640" y="34564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Collections</a:t>
            </a:r>
            <a:endParaRPr lang="en-US" sz="1100" dirty="0"/>
          </a:p>
        </p:txBody>
      </p:sp>
      <p:sp>
        <p:nvSpPr>
          <p:cNvPr id="18" name="Shape 16"/>
          <p:cNvSpPr/>
          <p:nvPr/>
        </p:nvSpPr>
        <p:spPr>
          <a:xfrm>
            <a:off x="1874520" y="3456432"/>
            <a:ext cx="6766560" cy="786384"/>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011680" y="34930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/collections · POST /{id}/sync (re-ingest sources) · POST /{id}/ingest-paths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/{id}/upload (direct file upload) · GET /{id}/documents/{doc_id} · DELETE /{id}/documents/{doc_id}</a:t>
            </a:r>
            <a:endParaRPr lang="en-US" sz="95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control_panel/routes.py (~973 lines), control_panel/overlay_store.py, control_panel/runtime_manager.py, control_panel/auth.py, control_panel/config_catalog.py</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Typed Contracts Layer</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contracts/ — the glue between every module in the system</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contracts/ — Typed Data Contracts Across Every Layer</a:t>
            </a:r>
            <a:endParaRPr lang="en-US" sz="2600" dirty="0"/>
          </a:p>
        </p:txBody>
      </p:sp>
      <p:sp>
        <p:nvSpPr>
          <p:cNvPr id="3" name="Shape 1"/>
          <p:cNvSpPr/>
          <p:nvPr/>
        </p:nvSpPr>
        <p:spPr>
          <a:xfrm>
            <a:off x="502920" y="914400"/>
            <a:ext cx="2286000" cy="548640"/>
          </a:xfrm>
          <a:prstGeom prst="rect">
            <a:avLst/>
          </a:prstGeom>
          <a:solidFill>
            <a:srgbClr val="0097A7"/>
          </a:solidFill>
          <a:ln/>
        </p:spPr>
        <p:txBody>
          <a:bodyPr/>
          <a:lstStyle/>
          <a:p>
            <a:endParaRPr lang="en-US"/>
          </a:p>
        </p:txBody>
      </p:sp>
      <p:sp>
        <p:nvSpPr>
          <p:cNvPr id="4" name="Text 2"/>
          <p:cNvSpPr/>
          <p:nvPr/>
        </p:nvSpPr>
        <p:spPr>
          <a:xfrm>
            <a:off x="576072" y="914400"/>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AgentDefinition</a:t>
            </a:r>
            <a:endParaRPr lang="en-US" sz="1000" dirty="0"/>
          </a:p>
        </p:txBody>
      </p:sp>
      <p:sp>
        <p:nvSpPr>
          <p:cNvPr id="5" name="Text 3"/>
          <p:cNvSpPr/>
          <p:nvPr/>
        </p:nvSpPr>
        <p:spPr>
          <a:xfrm>
            <a:off x="576072" y="1234440"/>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contracts/agents.py</a:t>
            </a:r>
            <a:endParaRPr lang="en-US" sz="800" dirty="0"/>
          </a:p>
        </p:txBody>
      </p:sp>
      <p:sp>
        <p:nvSpPr>
          <p:cNvPr id="6" name="Shape 4"/>
          <p:cNvSpPr/>
          <p:nvPr/>
        </p:nvSpPr>
        <p:spPr>
          <a:xfrm>
            <a:off x="2788920" y="914400"/>
            <a:ext cx="5852160" cy="54864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914400"/>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name, mode, allowed_tools, allowed_worker_agents, max_steps, max_tool_calls, allow_background_jobs, memory_scopes, preload_skill_packs</a:t>
            </a:r>
            <a:endParaRPr lang="en-US" sz="950" dirty="0"/>
          </a:p>
        </p:txBody>
      </p:sp>
      <p:sp>
        <p:nvSpPr>
          <p:cNvPr id="8" name="Shape 6"/>
          <p:cNvSpPr/>
          <p:nvPr/>
        </p:nvSpPr>
        <p:spPr>
          <a:xfrm>
            <a:off x="502920" y="1536192"/>
            <a:ext cx="2286000" cy="548640"/>
          </a:xfrm>
          <a:prstGeom prst="rect">
            <a:avLst/>
          </a:prstGeom>
          <a:solidFill>
            <a:srgbClr val="1B2A4A"/>
          </a:solidFill>
          <a:ln/>
        </p:spPr>
        <p:txBody>
          <a:bodyPr/>
          <a:lstStyle/>
          <a:p>
            <a:endParaRPr lang="en-US"/>
          </a:p>
        </p:txBody>
      </p:sp>
      <p:sp>
        <p:nvSpPr>
          <p:cNvPr id="9" name="Text 7"/>
          <p:cNvSpPr/>
          <p:nvPr/>
        </p:nvSpPr>
        <p:spPr>
          <a:xfrm>
            <a:off x="576072" y="1536192"/>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RuntimeMessage + SessionState</a:t>
            </a:r>
            <a:endParaRPr lang="en-US" sz="1000" dirty="0"/>
          </a:p>
        </p:txBody>
      </p:sp>
      <p:sp>
        <p:nvSpPr>
          <p:cNvPr id="10" name="Text 8"/>
          <p:cNvSpPr/>
          <p:nvPr/>
        </p:nvSpPr>
        <p:spPr>
          <a:xfrm>
            <a:off x="576072" y="1856232"/>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contracts/messages.py</a:t>
            </a:r>
            <a:endParaRPr lang="en-US" sz="800" dirty="0"/>
          </a:p>
        </p:txBody>
      </p:sp>
      <p:sp>
        <p:nvSpPr>
          <p:cNvPr id="11" name="Shape 9"/>
          <p:cNvSpPr/>
          <p:nvPr/>
        </p:nvSpPr>
        <p:spPr>
          <a:xfrm>
            <a:off x="2788920" y="1536192"/>
            <a:ext cx="5852160" cy="54864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26080" y="1536192"/>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RuntimeMessage bridges LangChain ↔ internal format (to_langchain/from_langchain). SessionState replaces ChatSession with pending_notifications, active_agent fields.</a:t>
            </a:r>
            <a:endParaRPr lang="en-US" sz="950" dirty="0"/>
          </a:p>
        </p:txBody>
      </p:sp>
      <p:sp>
        <p:nvSpPr>
          <p:cNvPr id="13" name="Shape 11"/>
          <p:cNvSpPr/>
          <p:nvPr/>
        </p:nvSpPr>
        <p:spPr>
          <a:xfrm>
            <a:off x="502920" y="2157984"/>
            <a:ext cx="2286000" cy="548640"/>
          </a:xfrm>
          <a:prstGeom prst="rect">
            <a:avLst/>
          </a:prstGeom>
          <a:solidFill>
            <a:srgbClr val="00796B"/>
          </a:solidFill>
          <a:ln/>
        </p:spPr>
        <p:txBody>
          <a:bodyPr/>
          <a:lstStyle/>
          <a:p>
            <a:endParaRPr lang="en-US"/>
          </a:p>
        </p:txBody>
      </p:sp>
      <p:sp>
        <p:nvSpPr>
          <p:cNvPr id="14" name="Text 12"/>
          <p:cNvSpPr/>
          <p:nvPr/>
        </p:nvSpPr>
        <p:spPr>
          <a:xfrm>
            <a:off x="576072" y="2157984"/>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RagContract + Citation + RetrievalSummary</a:t>
            </a:r>
            <a:endParaRPr lang="en-US" sz="1000" dirty="0"/>
          </a:p>
        </p:txBody>
      </p:sp>
      <p:sp>
        <p:nvSpPr>
          <p:cNvPr id="15" name="Text 13"/>
          <p:cNvSpPr/>
          <p:nvPr/>
        </p:nvSpPr>
        <p:spPr>
          <a:xfrm>
            <a:off x="576072" y="2478024"/>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contracts/rag.py</a:t>
            </a:r>
            <a:endParaRPr lang="en-US" sz="800" dirty="0"/>
          </a:p>
        </p:txBody>
      </p:sp>
      <p:sp>
        <p:nvSpPr>
          <p:cNvPr id="16" name="Shape 14"/>
          <p:cNvSpPr/>
          <p:nvPr/>
        </p:nvSpPr>
        <p:spPr>
          <a:xfrm>
            <a:off x="2788920" y="2157984"/>
            <a:ext cx="5852160" cy="5486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926080" y="2157984"/>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Typed RAG output: answer, citations[], confidence, retrieval_summary (rounds, strategies, parallel_workers_used), followups, warnings.</a:t>
            </a:r>
            <a:endParaRPr lang="en-US" sz="950" dirty="0"/>
          </a:p>
        </p:txBody>
      </p:sp>
      <p:sp>
        <p:nvSpPr>
          <p:cNvPr id="18" name="Shape 16"/>
          <p:cNvSpPr/>
          <p:nvPr/>
        </p:nvSpPr>
        <p:spPr>
          <a:xfrm>
            <a:off x="502920" y="2779776"/>
            <a:ext cx="2286000" cy="548640"/>
          </a:xfrm>
          <a:prstGeom prst="rect">
            <a:avLst/>
          </a:prstGeom>
          <a:solidFill>
            <a:srgbClr val="5C6BC0"/>
          </a:solidFill>
          <a:ln/>
        </p:spPr>
        <p:txBody>
          <a:bodyPr/>
          <a:lstStyle/>
          <a:p>
            <a:endParaRPr lang="en-US"/>
          </a:p>
        </p:txBody>
      </p:sp>
      <p:sp>
        <p:nvSpPr>
          <p:cNvPr id="19" name="Text 17"/>
          <p:cNvSpPr/>
          <p:nvPr/>
        </p:nvSpPr>
        <p:spPr>
          <a:xfrm>
            <a:off x="576072" y="2779776"/>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TaskNotification + JobRecord + WorkerMailboxMessage</a:t>
            </a:r>
            <a:endParaRPr lang="en-US" sz="1000" dirty="0"/>
          </a:p>
        </p:txBody>
      </p:sp>
      <p:sp>
        <p:nvSpPr>
          <p:cNvPr id="20" name="Text 18"/>
          <p:cNvSpPr/>
          <p:nvPr/>
        </p:nvSpPr>
        <p:spPr>
          <a:xfrm>
            <a:off x="576072" y="3099816"/>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contracts/jobs.py</a:t>
            </a:r>
            <a:endParaRPr lang="en-US" sz="800" dirty="0"/>
          </a:p>
        </p:txBody>
      </p:sp>
      <p:sp>
        <p:nvSpPr>
          <p:cNvPr id="21" name="Shape 19"/>
          <p:cNvSpPr/>
          <p:nvPr/>
        </p:nvSpPr>
        <p:spPr>
          <a:xfrm>
            <a:off x="2788920" y="2779776"/>
            <a:ext cx="5852160" cy="54864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926080" y="2779776"/>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Background job lifecycle: TaskNotification converts to RuntimeMessage for user display. JobRecord tracks id, status, artifact_dir, result, last_error.</a:t>
            </a:r>
            <a:endParaRPr lang="en-US" sz="950" dirty="0"/>
          </a:p>
        </p:txBody>
      </p:sp>
      <p:sp>
        <p:nvSpPr>
          <p:cNvPr id="23" name="Shape 21"/>
          <p:cNvSpPr/>
          <p:nvPr/>
        </p:nvSpPr>
        <p:spPr>
          <a:xfrm>
            <a:off x="502920" y="3401568"/>
            <a:ext cx="2286000" cy="548640"/>
          </a:xfrm>
          <a:prstGeom prst="rect">
            <a:avLst/>
          </a:prstGeom>
          <a:solidFill>
            <a:srgbClr val="F9A825"/>
          </a:solidFill>
          <a:ln/>
        </p:spPr>
        <p:txBody>
          <a:bodyPr/>
          <a:lstStyle/>
          <a:p>
            <a:endParaRPr lang="en-US"/>
          </a:p>
        </p:txBody>
      </p:sp>
      <p:sp>
        <p:nvSpPr>
          <p:cNvPr id="24" name="Text 22"/>
          <p:cNvSpPr/>
          <p:nvPr/>
        </p:nvSpPr>
        <p:spPr>
          <a:xfrm>
            <a:off x="576072" y="3401568"/>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ToolDefinition</a:t>
            </a:r>
            <a:endParaRPr lang="en-US" sz="1000" dirty="0"/>
          </a:p>
        </p:txBody>
      </p:sp>
      <p:sp>
        <p:nvSpPr>
          <p:cNvPr id="25" name="Text 23"/>
          <p:cNvSpPr/>
          <p:nvPr/>
        </p:nvSpPr>
        <p:spPr>
          <a:xfrm>
            <a:off x="576072" y="3721608"/>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contracts/tools.py</a:t>
            </a:r>
            <a:endParaRPr lang="en-US" sz="800" dirty="0"/>
          </a:p>
        </p:txBody>
      </p:sp>
      <p:sp>
        <p:nvSpPr>
          <p:cNvPr id="26" name="Shape 24"/>
          <p:cNvSpPr/>
          <p:nvPr/>
        </p:nvSpPr>
        <p:spPr>
          <a:xfrm>
            <a:off x="2788920" y="3401568"/>
            <a:ext cx="585216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926080" y="3401568"/>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 metadata: name, group, read_only, destructive, background_safe, concurrency_key, requires_workspace, serializer.</a:t>
            </a:r>
            <a:endParaRPr lang="en-US" sz="9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contracts/__init__.py, contracts/agents.py, contracts/messages.py, contracts/rag.py, contracts/jobs.py, contracts/tools.py</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7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PostgreSQL + pgvector Backend</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The knowledge base is now fully database-backed — no file-based fallback</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PostgreSQL + pgvector — Mandatory Persistence Backend</a:t>
            </a:r>
            <a:endParaRPr lang="en-US" sz="2600" dirty="0"/>
          </a:p>
        </p:txBody>
      </p:sp>
      <p:sp>
        <p:nvSpPr>
          <p:cNvPr id="3" name="Shape 1"/>
          <p:cNvSpPr/>
          <p:nvPr/>
        </p:nvSpPr>
        <p:spPr>
          <a:xfrm>
            <a:off x="502920" y="9601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Connection Pool</a:t>
            </a:r>
            <a:endParaRPr lang="en-US" sz="1200" dirty="0"/>
          </a:p>
        </p:txBody>
      </p:sp>
      <p:sp>
        <p:nvSpPr>
          <p:cNvPr id="6" name="Text 4"/>
          <p:cNvSpPr/>
          <p:nvPr/>
        </p:nvSpPr>
        <p:spPr>
          <a:xfrm>
            <a:off x="612648" y="13441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psycopg2 ThreadedConnectionPool (min=1, max=10).</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init_pool(settings) called at startup.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apply_schema() runs CREATE TABLE IF NOT EXISTS.</a:t>
            </a:r>
            <a:endParaRPr lang="en-US" sz="1000" dirty="0"/>
          </a:p>
        </p:txBody>
      </p:sp>
      <p:sp>
        <p:nvSpPr>
          <p:cNvPr id="7" name="Shape 5"/>
          <p:cNvSpPr/>
          <p:nvPr/>
        </p:nvSpPr>
        <p:spPr>
          <a:xfrm>
            <a:off x="502920" y="23317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331720"/>
            <a:ext cx="3840480" cy="320040"/>
          </a:xfrm>
          <a:prstGeom prst="rect">
            <a:avLst/>
          </a:prstGeom>
          <a:solidFill>
            <a:srgbClr val="0097A7"/>
          </a:solidFill>
          <a:ln/>
        </p:spPr>
        <p:txBody>
          <a:bodyPr/>
          <a:lstStyle/>
          <a:p>
            <a:endParaRPr lang="en-US"/>
          </a:p>
        </p:txBody>
      </p:sp>
      <p:sp>
        <p:nvSpPr>
          <p:cNvPr id="9" name="Text 7"/>
          <p:cNvSpPr/>
          <p:nvPr/>
        </p:nvSpPr>
        <p:spPr>
          <a:xfrm>
            <a:off x="612648" y="23591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HNSW Vector Index</a:t>
            </a:r>
            <a:endParaRPr lang="en-US" sz="1200" dirty="0"/>
          </a:p>
        </p:txBody>
      </p:sp>
      <p:sp>
        <p:nvSpPr>
          <p:cNvPr id="10" name="Text 8"/>
          <p:cNvSpPr/>
          <p:nvPr/>
        </p:nvSpPr>
        <p:spPr>
          <a:xfrm>
            <a:off x="612648" y="27157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pgvector extension: embedding column type vector(N).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ANN cosine search: embedding &lt;=&gt; query_vector.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Dynamic dim management via vector_schema.py.</a:t>
            </a:r>
            <a:endParaRPr lang="en-US" sz="1000" dirty="0"/>
          </a:p>
        </p:txBody>
      </p:sp>
      <p:sp>
        <p:nvSpPr>
          <p:cNvPr id="11" name="Shape 9"/>
          <p:cNvSpPr/>
          <p:nvPr/>
        </p:nvSpPr>
        <p:spPr>
          <a:xfrm>
            <a:off x="4754880" y="9601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4754880" y="960120"/>
            <a:ext cx="3931920" cy="320040"/>
          </a:xfrm>
          <a:prstGeom prst="rect">
            <a:avLst/>
          </a:prstGeom>
          <a:solidFill>
            <a:srgbClr val="1B2A4A"/>
          </a:solidFill>
          <a:ln/>
        </p:spPr>
        <p:txBody>
          <a:bodyPr/>
          <a:lstStyle/>
          <a:p>
            <a:endParaRPr lang="en-US"/>
          </a:p>
        </p:txBody>
      </p:sp>
      <p:sp>
        <p:nvSpPr>
          <p:cNvPr id="13" name="Text 11"/>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Full-Text Search</a:t>
            </a:r>
            <a:endParaRPr lang="en-US" sz="1200" dirty="0"/>
          </a:p>
        </p:txBody>
      </p:sp>
      <p:sp>
        <p:nvSpPr>
          <p:cNvPr id="14" name="Text 12"/>
          <p:cNvSpPr/>
          <p:nvPr/>
        </p:nvSpPr>
        <p:spPr>
          <a:xfrm>
            <a:off x="4864608" y="13441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PostgreSQL tsvector column 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ts_rank_cd() scoring via plainto_tsquery('english',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Works alongside vector search for hybrid retrieval.</a:t>
            </a:r>
            <a:endParaRPr lang="en-US" sz="1000" dirty="0"/>
          </a:p>
        </p:txBody>
      </p:sp>
      <p:sp>
        <p:nvSpPr>
          <p:cNvPr id="15" name="Shape 13"/>
          <p:cNvSpPr/>
          <p:nvPr/>
        </p:nvSpPr>
        <p:spPr>
          <a:xfrm>
            <a:off x="4754880" y="23317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754880" y="2331720"/>
            <a:ext cx="3931920" cy="320040"/>
          </a:xfrm>
          <a:prstGeom prst="rect">
            <a:avLst/>
          </a:prstGeom>
          <a:solidFill>
            <a:srgbClr val="1B2A4A"/>
          </a:solidFill>
          <a:ln/>
        </p:spPr>
        <p:txBody>
          <a:bodyPr/>
          <a:lstStyle/>
          <a:p>
            <a:endParaRPr lang="en-US"/>
          </a:p>
        </p:txBody>
      </p:sp>
      <p:sp>
        <p:nvSpPr>
          <p:cNvPr id="17" name="Text 15"/>
          <p:cNvSpPr/>
          <p:nvPr/>
        </p:nvSpPr>
        <p:spPr>
          <a:xfrm>
            <a:off x="4864608" y="23591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Mandatory Backend</a:t>
            </a:r>
            <a:endParaRPr lang="en-US" sz="1200" dirty="0"/>
          </a:p>
        </p:txBody>
      </p:sp>
      <p:sp>
        <p:nvSpPr>
          <p:cNvPr id="18" name="Text 16"/>
          <p:cNvSpPr/>
          <p:nvPr/>
        </p:nvSpPr>
        <p:spPr>
          <a:xfrm>
            <a:off x="4864608" y="27157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load_stores() raises NotImplementedError if</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database_backend ≠ 'postgres' 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vector_store_backend ≠ 'pgvector'.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file-based fallback exists.</a:t>
            </a:r>
            <a:endParaRPr lang="en-US" sz="1000" dirty="0"/>
          </a:p>
        </p:txBody>
      </p:sp>
      <p:sp>
        <p:nvSpPr>
          <p:cNvPr id="19" name="Text 1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persistence/postgres/connection.py, persistence/postgres/vector_schema.py, rag/stores.py</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KnowledgeStores — Unified Storage Interface</a:t>
            </a:r>
            <a:endParaRPr lang="en-US" sz="2600" dirty="0"/>
          </a:p>
        </p:txBody>
      </p:sp>
      <p:sp>
        <p:nvSpPr>
          <p:cNvPr id="3" name="Shape 1"/>
          <p:cNvSpPr/>
          <p:nvPr/>
        </p:nvSpPr>
        <p:spPr>
          <a:xfrm>
            <a:off x="1371600" y="914400"/>
            <a:ext cx="640080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914400"/>
            <a:ext cx="640080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KnowledgeStores  (rag/stores.py)</a:t>
            </a:r>
            <a:endParaRPr lang="en-US" sz="1000" dirty="0"/>
          </a:p>
        </p:txBody>
      </p:sp>
      <p:sp>
        <p:nvSpPr>
          <p:cNvPr id="5" name="Shape 3"/>
          <p:cNvSpPr/>
          <p:nvPr/>
        </p:nvSpPr>
        <p:spPr>
          <a:xfrm>
            <a:off x="4572000" y="141732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50292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50292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chunk_store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(ChunkStore)</a:t>
            </a:r>
            <a:endParaRPr lang="en-US" sz="1000" dirty="0"/>
          </a:p>
        </p:txBody>
      </p:sp>
      <p:sp>
        <p:nvSpPr>
          <p:cNvPr id="9" name="Shape 7"/>
          <p:cNvSpPr/>
          <p:nvPr/>
        </p:nvSpPr>
        <p:spPr>
          <a:xfrm>
            <a:off x="228600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28600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doc_store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(DocumentStore)</a:t>
            </a:r>
            <a:endParaRPr lang="en-US" sz="1000" dirty="0"/>
          </a:p>
        </p:txBody>
      </p:sp>
      <p:sp>
        <p:nvSpPr>
          <p:cNvPr id="11" name="Shape 9"/>
          <p:cNvSpPr/>
          <p:nvPr/>
        </p:nvSpPr>
        <p:spPr>
          <a:xfrm>
            <a:off x="4069080" y="1691640"/>
            <a:ext cx="164592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06908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p:txBody>
      </p:sp>
      <p:sp>
        <p:nvSpPr>
          <p:cNvPr id="13" name="Shape 11"/>
          <p:cNvSpPr/>
          <p:nvPr/>
        </p:nvSpPr>
        <p:spPr>
          <a:xfrm>
            <a:off x="5852160" y="1691640"/>
            <a:ext cx="1645920" cy="77724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585216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graph_store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(optional)</a:t>
            </a:r>
            <a:endParaRPr lang="en-US" sz="1000" dirty="0"/>
          </a:p>
        </p:txBody>
      </p:sp>
      <p:sp>
        <p:nvSpPr>
          <p:cNvPr id="15" name="Shape 13"/>
          <p:cNvSpPr/>
          <p:nvPr/>
        </p:nvSpPr>
        <p:spPr>
          <a:xfrm>
            <a:off x="7635240" y="1691640"/>
            <a:ext cx="1645920" cy="77724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63524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(None now)</a:t>
            </a:r>
            <a:endParaRPr lang="en-US" sz="1000" dirty="0"/>
          </a:p>
        </p:txBody>
      </p:sp>
      <p:sp>
        <p:nvSpPr>
          <p:cNvPr id="17" name="Text 15"/>
          <p:cNvSpPr/>
          <p:nvPr/>
        </p:nvSpPr>
        <p:spPr>
          <a:xfrm>
            <a:off x="502920" y="2606040"/>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ChunkStore: vector_search(), keyword_search(), full_text_search_document(), get_chunks_by_clause(), get_structure_outline(), get_requirement_chunks(), get_chunk_by_id(), get_chunks_by_index_range()</a:t>
            </a:r>
            <a:endParaRPr lang="en-US" sz="950" dirty="0"/>
          </a:p>
        </p:txBody>
      </p:sp>
      <p:sp>
        <p:nvSpPr>
          <p:cNvPr id="18" name="Text 16"/>
          <p:cNvSpPr/>
          <p:nvPr/>
        </p:nvSpPr>
        <p:spPr>
          <a:xfrm>
            <a:off x="502920" y="2944368"/>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DocumentStore: fuzzy_search_title(), search_by_metadata(), list_collections(), get_all_titles()</a:t>
            </a:r>
            <a:endParaRPr lang="en-US" sz="950" dirty="0"/>
          </a:p>
        </p:txBody>
      </p:sp>
      <p:sp>
        <p:nvSpPr>
          <p:cNvPr id="19" name="Text 17"/>
          <p:cNvSpPr/>
          <p:nvPr/>
        </p:nvSpPr>
        <p:spPr>
          <a:xfrm>
            <a:off x="502920" y="3282696"/>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SkillStore: skill chunk search backed by PostgreSQL</a:t>
            </a:r>
            <a:endParaRPr lang="en-US" sz="950" dirty="0"/>
          </a:p>
        </p:txBody>
      </p:sp>
      <p:sp>
        <p:nvSpPr>
          <p:cNvPr id="20" name="Text 18"/>
          <p:cNvSpPr/>
          <p:nvPr/>
        </p:nvSpPr>
        <p:spPr>
          <a:xfrm>
            <a:off x="502920" y="3621024"/>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GraphStore: graph_search_local() + graph_search_global() — optional, early-stage</a:t>
            </a:r>
            <a:endParaRPr lang="en-US" sz="95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rag/stores.py, persistence/postgres/chunks.py, persistence/postgres/documents.py, persistence/postgres/skills.py</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Advanced RAG Capabilities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Clause-aware ingestion, 19 specialist tools, parallel fanout</a:t>
            </a:r>
            <a:endParaRPr lang="en-US"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Document Structure Detection &amp; Clause-Aware Splitting</a:t>
            </a:r>
            <a:endParaRPr lang="en-US" sz="2600" dirty="0"/>
          </a:p>
        </p:txBody>
      </p:sp>
      <p:sp>
        <p:nvSpPr>
          <p:cNvPr id="3" name="Shape 1"/>
          <p:cNvSpPr/>
          <p:nvPr/>
        </p:nvSpPr>
        <p:spPr>
          <a:xfrm>
            <a:off x="502920" y="960120"/>
            <a:ext cx="384048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 Detector (rag/structure_detector.py)</a:t>
            </a:r>
            <a:endParaRPr lang="en-US" sz="1200" dirty="0"/>
          </a:p>
        </p:txBody>
      </p:sp>
      <p:sp>
        <p:nvSpPr>
          <p:cNvPr id="6" name="Text 4"/>
          <p:cNvSpPr/>
          <p:nvPr/>
        </p:nvSpPr>
        <p:spPr>
          <a:xfrm>
            <a:off x="612648" y="1344168"/>
            <a:ext cx="362102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regex module — no LLM calls, no I/O.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CLAUSE_PATTERN: 'Clause 3.2', 'Section 4.', '10.2.3 Scope'
REQUIREMENT_PATTERN: 'shall', 'must', 'REQ-001'
PROCESS_FLOW_PATTERN: 'approval flow', 'swimlane', 'escalation path'
STEP_PATTERN: 'Step 1:', 'Phase 3:', '1. Introduction'
</a:t>
            </a:r>
            <a:endParaRPr lang="en-US" sz="1000" dirty="0"/>
          </a:p>
        </p:txBody>
      </p:sp>
      <p:sp>
        <p:nvSpPr>
          <p:cNvPr id="7" name="Shape 5"/>
          <p:cNvSpPr/>
          <p:nvPr/>
        </p:nvSpPr>
        <p:spPr>
          <a:xfrm>
            <a:off x="4754880" y="960120"/>
            <a:ext cx="393192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Clause Splitter (rag/clause_splitter.py)</a:t>
            </a:r>
            <a:endParaRPr lang="en-US" sz="1200" dirty="0"/>
          </a:p>
        </p:txBody>
      </p:sp>
      <p:sp>
        <p:nvSpPr>
          <p:cNvPr id="10" name="Text 8"/>
          <p:cNvSpPr/>
          <p:nvPr/>
        </p:nvSpPr>
        <p:spPr>
          <a:xfrm>
            <a:off x="4864608" y="1344168"/>
            <a:ext cx="371246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Splits structured docs at clause/section/article boundaries — NOT arbitrary char counts.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Extracts clause_number: '3.2', 'IV', '10.1.4'
Extracts section_title: stripped of prefix
Tags chunk_type: general | clause | section | requirement | header
Falls back to RecursiveCharacterTextSplitter for oversized clauses
</a:t>
            </a:r>
            <a:endParaRPr lang="en-US" sz="1000" dirty="0"/>
          </a:p>
        </p:txBody>
      </p:sp>
      <p:sp>
        <p:nvSpPr>
          <p:cNvPr id="11" name="Shape 9"/>
          <p:cNvSpPr/>
          <p:nvPr/>
        </p:nvSpPr>
        <p:spPr>
          <a:xfrm>
            <a:off x="502920" y="2834640"/>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283464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Why this matters: a chunk tagged 'clause' with clause_number='3.2' can be retrieved by EXACT match (extract_clauses tool), not just semantic similarity. Contracts and policies can now be queried with surgical precision.</a:t>
            </a:r>
            <a:endParaRPr lang="en-US" sz="1000" dirty="0"/>
          </a:p>
        </p:txBody>
      </p:sp>
      <p:sp>
        <p:nvSpPr>
          <p:cNvPr id="13" name="Text 11"/>
          <p:cNvSpPr/>
          <p:nvPr/>
        </p:nvSpPr>
        <p:spPr>
          <a:xfrm>
            <a:off x="502920" y="3474720"/>
            <a:ext cx="813816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Courier New" pitchFamily="34" charset="0"/>
                <a:ea typeface="Courier New" pitchFamily="34" charset="-122"/>
                <a:cs typeface="Courier New" pitchFamily="34" charset="-120"/>
              </a:rPr>
              <a:t>chunk_type values: general | clause | section | requirement | header</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rag/structure_detector.py, rag/clause_splitter.py, persistence/postgres/chunks.py</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19 Specialist RAG Tools — Direct KB Access for Agents</a:t>
            </a:r>
            <a:endParaRPr lang="en-US" sz="2600" dirty="0"/>
          </a:p>
        </p:txBody>
      </p:sp>
      <p:sp>
        <p:nvSpPr>
          <p:cNvPr id="3" name="Shape 1"/>
          <p:cNvSpPr/>
          <p:nvPr/>
        </p:nvSpPr>
        <p:spPr>
          <a:xfrm>
            <a:off x="502920" y="914400"/>
            <a:ext cx="1828800" cy="594360"/>
          </a:xfrm>
          <a:prstGeom prst="rect">
            <a:avLst/>
          </a:prstGeom>
          <a:solidFill>
            <a:srgbClr val="0097A7"/>
          </a:solidFill>
          <a:ln/>
        </p:spPr>
        <p:txBody>
          <a:bodyPr/>
          <a:lstStyle/>
          <a:p>
            <a:endParaRPr lang="en-US"/>
          </a:p>
        </p:txBody>
      </p:sp>
      <p:sp>
        <p:nvSpPr>
          <p:cNvPr id="4" name="Text 2"/>
          <p:cNvSpPr/>
          <p:nvPr/>
        </p:nvSpPr>
        <p:spPr>
          <a:xfrm>
            <a:off x="576072" y="91440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Document Discovery</a:t>
            </a:r>
            <a:endParaRPr lang="en-US" sz="1000" dirty="0"/>
          </a:p>
        </p:txBody>
      </p:sp>
      <p:sp>
        <p:nvSpPr>
          <p:cNvPr id="5" name="Shape 3"/>
          <p:cNvSpPr/>
          <p:nvPr/>
        </p:nvSpPr>
        <p:spPr>
          <a:xfrm>
            <a:off x="2331720" y="914400"/>
            <a:ext cx="6309360" cy="59436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468880" y="91440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resolve_document (fuzzy name match), search_all_documents, search_by_metadata (filter by source_type/file_type/collection), list_collections</a:t>
            </a:r>
            <a:endParaRPr lang="en-US" sz="900" dirty="0"/>
          </a:p>
        </p:txBody>
      </p:sp>
      <p:sp>
        <p:nvSpPr>
          <p:cNvPr id="7" name="Shape 5"/>
          <p:cNvSpPr/>
          <p:nvPr/>
        </p:nvSpPr>
        <p:spPr>
          <a:xfrm>
            <a:off x="502920" y="1563624"/>
            <a:ext cx="1828800" cy="594360"/>
          </a:xfrm>
          <a:prstGeom prst="rect">
            <a:avLst/>
          </a:prstGeom>
          <a:solidFill>
            <a:srgbClr val="1B2A4A"/>
          </a:solidFill>
          <a:ln/>
        </p:spPr>
        <p:txBody>
          <a:bodyPr/>
          <a:lstStyle/>
          <a:p>
            <a:endParaRPr lang="en-US"/>
          </a:p>
        </p:txBody>
      </p:sp>
      <p:sp>
        <p:nvSpPr>
          <p:cNvPr id="8" name="Text 6"/>
          <p:cNvSpPr/>
          <p:nvPr/>
        </p:nvSpPr>
        <p:spPr>
          <a:xfrm>
            <a:off x="576072" y="1563624"/>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Single-Doc Search</a:t>
            </a:r>
            <a:endParaRPr lang="en-US" sz="1000" dirty="0"/>
          </a:p>
        </p:txBody>
      </p:sp>
      <p:sp>
        <p:nvSpPr>
          <p:cNvPr id="9" name="Shape 7"/>
          <p:cNvSpPr/>
          <p:nvPr/>
        </p:nvSpPr>
        <p:spPr>
          <a:xfrm>
            <a:off x="2331720" y="1563624"/>
            <a:ext cx="6309360" cy="59436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468880" y="1563624"/>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search_document (hybrid vector+keyword), full_text_search_document (deeper keyword, returns full content)</a:t>
            </a:r>
            <a:endParaRPr lang="en-US" sz="900" dirty="0"/>
          </a:p>
        </p:txBody>
      </p:sp>
      <p:sp>
        <p:nvSpPr>
          <p:cNvPr id="11" name="Shape 9"/>
          <p:cNvSpPr/>
          <p:nvPr/>
        </p:nvSpPr>
        <p:spPr>
          <a:xfrm>
            <a:off x="502920" y="2212848"/>
            <a:ext cx="1828800" cy="594360"/>
          </a:xfrm>
          <a:prstGeom prst="rect">
            <a:avLst/>
          </a:prstGeom>
          <a:solidFill>
            <a:srgbClr val="00796B"/>
          </a:solidFill>
          <a:ln/>
        </p:spPr>
        <p:txBody>
          <a:bodyPr/>
          <a:lstStyle/>
          <a:p>
            <a:endParaRPr lang="en-US"/>
          </a:p>
        </p:txBody>
      </p:sp>
      <p:sp>
        <p:nvSpPr>
          <p:cNvPr id="12" name="Text 10"/>
          <p:cNvSpPr/>
          <p:nvPr/>
        </p:nvSpPr>
        <p:spPr>
          <a:xfrm>
            <a:off x="576072" y="2212848"/>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Collection Search</a:t>
            </a:r>
            <a:endParaRPr lang="en-US" sz="1000" dirty="0"/>
          </a:p>
        </p:txBody>
      </p:sp>
      <p:sp>
        <p:nvSpPr>
          <p:cNvPr id="13" name="Shape 11"/>
          <p:cNvSpPr/>
          <p:nvPr/>
        </p:nvSpPr>
        <p:spPr>
          <a:xfrm>
            <a:off x="2331720" y="2212848"/>
            <a:ext cx="6309360" cy="59436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468880" y="2212848"/>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search_collection (vector+keyword within collection_id)</a:t>
            </a:r>
            <a:endParaRPr lang="en-US" sz="900" dirty="0"/>
          </a:p>
        </p:txBody>
      </p:sp>
      <p:sp>
        <p:nvSpPr>
          <p:cNvPr id="15" name="Shape 13"/>
          <p:cNvSpPr/>
          <p:nvPr/>
        </p:nvSpPr>
        <p:spPr>
          <a:xfrm>
            <a:off x="502920" y="2862072"/>
            <a:ext cx="1828800" cy="594360"/>
          </a:xfrm>
          <a:prstGeom prst="rect">
            <a:avLst/>
          </a:prstGeom>
          <a:solidFill>
            <a:srgbClr val="5C6BC0"/>
          </a:solidFill>
          <a:ln/>
        </p:spPr>
        <p:txBody>
          <a:bodyPr/>
          <a:lstStyle/>
          <a:p>
            <a:endParaRPr lang="en-US"/>
          </a:p>
        </p:txBody>
      </p:sp>
      <p:sp>
        <p:nvSpPr>
          <p:cNvPr id="16" name="Text 14"/>
          <p:cNvSpPr/>
          <p:nvPr/>
        </p:nvSpPr>
        <p:spPr>
          <a:xfrm>
            <a:off x="576072" y="2862072"/>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Structured Retrieval</a:t>
            </a:r>
            <a:endParaRPr lang="en-US" sz="1000" dirty="0"/>
          </a:p>
        </p:txBody>
      </p:sp>
      <p:sp>
        <p:nvSpPr>
          <p:cNvPr id="17" name="Shape 15"/>
          <p:cNvSpPr/>
          <p:nvPr/>
        </p:nvSpPr>
        <p:spPr>
          <a:xfrm>
            <a:off x="2331720" y="2862072"/>
            <a:ext cx="6309360" cy="59436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468880" y="2862072"/>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extract_clauses (exact clause_number match), list_document_structure (clause/section outline), fetch_document_outline (alias), extract_requirements ('shall'/'must' chunks), fetch_chunk_window (neighbors)</a:t>
            </a:r>
            <a:endParaRPr lang="en-US" sz="900" dirty="0"/>
          </a:p>
        </p:txBody>
      </p:sp>
      <p:sp>
        <p:nvSpPr>
          <p:cNvPr id="19" name="Shape 17"/>
          <p:cNvSpPr/>
          <p:nvPr/>
        </p:nvSpPr>
        <p:spPr>
          <a:xfrm>
            <a:off x="502920" y="3511296"/>
            <a:ext cx="1828800" cy="594360"/>
          </a:xfrm>
          <a:prstGeom prst="rect">
            <a:avLst/>
          </a:prstGeom>
          <a:solidFill>
            <a:srgbClr val="F9A825"/>
          </a:solidFill>
          <a:ln/>
        </p:spPr>
        <p:txBody>
          <a:bodyPr/>
          <a:lstStyle/>
          <a:p>
            <a:endParaRPr lang="en-US"/>
          </a:p>
        </p:txBody>
      </p:sp>
      <p:sp>
        <p:nvSpPr>
          <p:cNvPr id="20" name="Text 18"/>
          <p:cNvSpPr/>
          <p:nvPr/>
        </p:nvSpPr>
        <p:spPr>
          <a:xfrm>
            <a:off x="576072" y="3511296"/>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Cross-Doc Analysis</a:t>
            </a:r>
            <a:endParaRPr lang="en-US" sz="1000" dirty="0"/>
          </a:p>
        </p:txBody>
      </p:sp>
      <p:sp>
        <p:nvSpPr>
          <p:cNvPr id="21" name="Shape 19"/>
          <p:cNvSpPr/>
          <p:nvPr/>
        </p:nvSpPr>
        <p:spPr>
          <a:xfrm>
            <a:off x="2331720" y="3511296"/>
            <a:ext cx="630936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468880" y="3511296"/>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compare_clauses (same clause_numbers across two docs), diff_documents (structural clause diff)</a:t>
            </a:r>
            <a:endParaRPr lang="en-US" sz="900" dirty="0"/>
          </a:p>
        </p:txBody>
      </p:sp>
      <p:sp>
        <p:nvSpPr>
          <p:cNvPr id="23" name="Shape 21"/>
          <p:cNvSpPr/>
          <p:nvPr/>
        </p:nvSpPr>
        <p:spPr>
          <a:xfrm>
            <a:off x="502920" y="4160520"/>
            <a:ext cx="1828800" cy="594360"/>
          </a:xfrm>
          <a:prstGeom prst="rect">
            <a:avLst/>
          </a:prstGeom>
          <a:solidFill>
            <a:srgbClr val="C62828"/>
          </a:solidFill>
          <a:ln/>
        </p:spPr>
        <p:txBody>
          <a:bodyPr/>
          <a:lstStyle/>
          <a:p>
            <a:endParaRPr lang="en-US"/>
          </a:p>
        </p:txBody>
      </p:sp>
      <p:sp>
        <p:nvSpPr>
          <p:cNvPr id="24" name="Text 22"/>
          <p:cNvSpPr/>
          <p:nvPr/>
        </p:nvSpPr>
        <p:spPr>
          <a:xfrm>
            <a:off x="576072" y="416052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Graph Search</a:t>
            </a:r>
            <a:endParaRPr lang="en-US" sz="1000" dirty="0"/>
          </a:p>
        </p:txBody>
      </p:sp>
      <p:sp>
        <p:nvSpPr>
          <p:cNvPr id="25" name="Shape 23"/>
          <p:cNvSpPr/>
          <p:nvPr/>
        </p:nvSpPr>
        <p:spPr>
          <a:xfrm>
            <a:off x="2331720" y="4160520"/>
            <a:ext cx="630936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468880" y="416052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graph_search_local (entity-level), graph_search_global (cross-doc relationships) — optional</a:t>
            </a:r>
            <a:endParaRPr lang="en-US" sz="9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rag/specialist_tools.py — make_all_rag_tools(stores, session, settings)</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Fanout — Parallel Worker Execution via KernelRagRuntimeBridge</a:t>
            </a:r>
            <a:endParaRPr lang="en-US" sz="2600" dirty="0"/>
          </a:p>
        </p:txBody>
      </p:sp>
      <p:sp>
        <p:nvSpPr>
          <p:cNvPr id="3" name="Shape 1"/>
          <p:cNvSpPr/>
          <p:nvPr/>
        </p:nvSpPr>
        <p:spPr>
          <a:xfrm>
            <a:off x="731520" y="914400"/>
            <a:ext cx="768096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914400"/>
            <a:ext cx="768096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Adaptive RAG engine needs multiple search tasks</a:t>
            </a:r>
            <a:endParaRPr lang="en-US" sz="1000" dirty="0"/>
          </a:p>
        </p:txBody>
      </p:sp>
      <p:sp>
        <p:nvSpPr>
          <p:cNvPr id="5" name="Shape 3"/>
          <p:cNvSpPr/>
          <p:nvPr/>
        </p:nvSpPr>
        <p:spPr>
          <a:xfrm>
            <a:off x="4572000" y="1371600"/>
            <a:ext cx="0" cy="18288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4813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1828800" y="1600200"/>
            <a:ext cx="5486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828800" y="1600200"/>
            <a:ext cx="5486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RagRuntimeBridge protocol (rag/fanout.py)</a:t>
            </a:r>
            <a:endParaRPr lang="en-US" sz="1000" dirty="0"/>
          </a:p>
        </p:txBody>
      </p:sp>
      <p:sp>
        <p:nvSpPr>
          <p:cNvPr id="9" name="Shape 7"/>
          <p:cNvSpPr/>
          <p:nvPr/>
        </p:nvSpPr>
        <p:spPr>
          <a:xfrm>
            <a:off x="4572000" y="2011680"/>
            <a:ext cx="0" cy="18288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1371600" y="2240280"/>
            <a:ext cx="64008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1371600" y="2240280"/>
            <a:ext cx="64008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KernelRagRuntimeBridge.run_search_tasks() (runtime/rag_bridge.py)</a:t>
            </a:r>
            <a:endParaRPr lang="en-US" sz="1000" dirty="0"/>
          </a:p>
        </p:txBody>
      </p:sp>
      <p:sp>
        <p:nvSpPr>
          <p:cNvPr id="13" name="Shape 11"/>
          <p:cNvSpPr/>
          <p:nvPr/>
        </p:nvSpPr>
        <p:spPr>
          <a:xfrm>
            <a:off x="4572000" y="2651760"/>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761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640080" y="2880360"/>
            <a:ext cx="3474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4008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Parallel: start_background_job()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wait_for_jobs()</a:t>
            </a:r>
            <a:endParaRPr lang="en-US" sz="1000" dirty="0"/>
          </a:p>
        </p:txBody>
      </p:sp>
      <p:sp>
        <p:nvSpPr>
          <p:cNvPr id="17" name="Shape 15"/>
          <p:cNvSpPr/>
          <p:nvPr/>
        </p:nvSpPr>
        <p:spPr>
          <a:xfrm>
            <a:off x="4846320" y="2880360"/>
            <a:ext cx="347472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484632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Sequential: run_job_inline()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one at a time</a:t>
            </a:r>
            <a:endParaRPr lang="en-US" sz="1000" dirty="0"/>
          </a:p>
        </p:txBody>
      </p:sp>
      <p:sp>
        <p:nvSpPr>
          <p:cNvPr id="19" name="Shape 17"/>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Parallel only if: task_count &gt; 1 AND not local Ollama workers AND provider supports parallel. Results merged into RagSearchBatchResult.</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rag/fanout.py (RagSearchTask, RagRuntimeBridge), runtime/rag_bridge.py (KernelRagRuntimeBridge)</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Execution Hints — research_profile + coverage_goal + skill_policy</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RagExecutionHints (rag/hints.py) tells the adaptive RAG engine HOW to search, not just WHAT to search for. Three sources are merged in priority order:</a:t>
            </a:r>
            <a:endParaRPr lang="en-US" sz="1100" dirty="0"/>
          </a:p>
        </p:txBody>
      </p:sp>
      <p:sp>
        <p:nvSpPr>
          <p:cNvPr id="4" name="Shape 2"/>
          <p:cNvSpPr/>
          <p:nvPr/>
        </p:nvSpPr>
        <p:spPr>
          <a:xfrm>
            <a:off x="502920" y="1234440"/>
            <a:ext cx="2590800" cy="411480"/>
          </a:xfrm>
          <a:prstGeom prst="rect">
            <a:avLst/>
          </a:prstGeom>
          <a:solidFill>
            <a:srgbClr val="1B2A4A"/>
          </a:solidFill>
          <a:ln/>
        </p:spPr>
        <p:txBody>
          <a:bodyPr/>
          <a:lstStyle/>
          <a:p>
            <a:endParaRPr lang="en-US"/>
          </a:p>
        </p:txBody>
      </p:sp>
      <p:sp>
        <p:nvSpPr>
          <p:cNvPr id="5" name="Text 3"/>
          <p:cNvSpPr/>
          <p:nvPr/>
        </p:nvSpPr>
        <p:spPr>
          <a:xfrm>
            <a:off x="54864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 Explicit</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(TaskSpec fields)</a:t>
            </a:r>
            <a:endParaRPr lang="en-US" sz="1000" dirty="0"/>
          </a:p>
        </p:txBody>
      </p:sp>
      <p:sp>
        <p:nvSpPr>
          <p:cNvPr id="6" name="Shape 4"/>
          <p:cNvSpPr/>
          <p:nvPr/>
        </p:nvSpPr>
        <p:spPr>
          <a:xfrm>
            <a:off x="50292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4864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research_profile, coverage_goal, result_mode, controller_hints set directly in the task plan JSON. Highest priority.</a:t>
            </a:r>
            <a:endParaRPr lang="en-US" sz="950" dirty="0"/>
          </a:p>
        </p:txBody>
      </p:sp>
      <p:sp>
        <p:nvSpPr>
          <p:cNvPr id="8" name="Shape 6"/>
          <p:cNvSpPr/>
          <p:nvPr/>
        </p:nvSpPr>
        <p:spPr>
          <a:xfrm>
            <a:off x="3276600" y="1234440"/>
            <a:ext cx="2590800" cy="411480"/>
          </a:xfrm>
          <a:prstGeom prst="rect">
            <a:avLst/>
          </a:prstGeom>
          <a:solidFill>
            <a:srgbClr val="0097A7"/>
          </a:solidFill>
          <a:ln/>
        </p:spPr>
        <p:txBody>
          <a:bodyPr/>
          <a:lstStyle/>
          <a:p>
            <a:endParaRPr lang="en-US"/>
          </a:p>
        </p:txBody>
      </p:sp>
      <p:sp>
        <p:nvSpPr>
          <p:cNvPr id="9" name="Text 7"/>
          <p:cNvSpPr/>
          <p:nvPr/>
        </p:nvSpPr>
        <p:spPr>
          <a:xfrm>
            <a:off x="332232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 Skill-Driven</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(resolve_rag_execution_hints)</a:t>
            </a:r>
            <a:endParaRPr lang="en-US" sz="1000" dirty="0"/>
          </a:p>
        </p:txBody>
      </p:sp>
      <p:sp>
        <p:nvSpPr>
          <p:cNvPr id="10" name="Shape 8"/>
          <p:cNvSpPr/>
          <p:nvPr/>
        </p:nvSpPr>
        <p:spPr>
          <a:xfrm>
            <a:off x="327660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2232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SkillResolver finds relevant skills → extracts their hints. A 'corpus discovery' skill auto-sets coverage_goal='corpus_wide'.</a:t>
            </a:r>
            <a:endParaRPr lang="en-US" sz="950" dirty="0"/>
          </a:p>
        </p:txBody>
      </p:sp>
      <p:sp>
        <p:nvSpPr>
          <p:cNvPr id="12" name="Shape 10"/>
          <p:cNvSpPr/>
          <p:nvPr/>
        </p:nvSpPr>
        <p:spPr>
          <a:xfrm>
            <a:off x="6050280" y="1234440"/>
            <a:ext cx="2590800" cy="411480"/>
          </a:xfrm>
          <a:prstGeom prst="rect">
            <a:avLst/>
          </a:prstGeom>
          <a:solidFill>
            <a:srgbClr val="00796B"/>
          </a:solidFill>
          <a:ln/>
        </p:spPr>
        <p:txBody>
          <a:bodyPr/>
          <a:lstStyle/>
          <a:p>
            <a:endParaRPr lang="en-US"/>
          </a:p>
        </p:txBody>
      </p:sp>
      <p:sp>
        <p:nvSpPr>
          <p:cNvPr id="13" name="Text 11"/>
          <p:cNvSpPr/>
          <p:nvPr/>
        </p:nvSpPr>
        <p:spPr>
          <a:xfrm>
            <a:off x="609600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 Heuristic</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(infer_rag_execution_hints)</a:t>
            </a:r>
            <a:endParaRPr lang="en-US" sz="1000" dirty="0"/>
          </a:p>
        </p:txBody>
      </p:sp>
      <p:sp>
        <p:nvSpPr>
          <p:cNvPr id="14" name="Shape 12"/>
          <p:cNvSpPr/>
          <p:nvPr/>
        </p:nvSpPr>
        <p:spPr>
          <a:xfrm>
            <a:off x="605028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9600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Pure regex on query text. Detects 'compare', 'identify all documents', 'process flow' patterns. Lowest priority fallback.</a:t>
            </a:r>
            <a:endParaRPr lang="en-US" sz="950" dirty="0"/>
          </a:p>
        </p:txBody>
      </p:sp>
      <p:sp>
        <p:nvSpPr>
          <p:cNvPr id="16" name="Shape 14"/>
          <p:cNvSpPr/>
          <p:nvPr/>
        </p:nvSpPr>
        <p:spPr>
          <a:xfrm>
            <a:off x="502920" y="2514600"/>
            <a:ext cx="2011680" cy="347472"/>
          </a:xfrm>
          <a:prstGeom prst="rect">
            <a:avLst/>
          </a:prstGeom>
          <a:solidFill>
            <a:srgbClr val="1B2A4A"/>
          </a:solidFill>
          <a:ln/>
        </p:spPr>
        <p:txBody>
          <a:bodyPr/>
          <a:lstStyle/>
          <a:p>
            <a:endParaRPr lang="en-US"/>
          </a:p>
        </p:txBody>
      </p:sp>
      <p:sp>
        <p:nvSpPr>
          <p:cNvPr id="17" name="Text 15"/>
          <p:cNvSpPr/>
          <p:nvPr/>
        </p:nvSpPr>
        <p:spPr>
          <a:xfrm>
            <a:off x="576072" y="251460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research_profile</a:t>
            </a:r>
            <a:endParaRPr lang="en-US" sz="950" dirty="0"/>
          </a:p>
        </p:txBody>
      </p:sp>
      <p:sp>
        <p:nvSpPr>
          <p:cNvPr id="18" name="Shape 16"/>
          <p:cNvSpPr/>
          <p:nvPr/>
        </p:nvSpPr>
        <p:spPr>
          <a:xfrm>
            <a:off x="2514600" y="2514600"/>
            <a:ext cx="6126480" cy="34747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651760" y="2514600"/>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corpus_discovery, process_flow_identification, comparison_campaign, targeted_lookup</a:t>
            </a:r>
            <a:endParaRPr lang="en-US" sz="950" dirty="0"/>
          </a:p>
        </p:txBody>
      </p:sp>
      <p:sp>
        <p:nvSpPr>
          <p:cNvPr id="20" name="Shape 18"/>
          <p:cNvSpPr/>
          <p:nvPr/>
        </p:nvSpPr>
        <p:spPr>
          <a:xfrm>
            <a:off x="502920" y="2907792"/>
            <a:ext cx="2011680" cy="347472"/>
          </a:xfrm>
          <a:prstGeom prst="rect">
            <a:avLst/>
          </a:prstGeom>
          <a:solidFill>
            <a:srgbClr val="1B2A4A"/>
          </a:solidFill>
          <a:ln/>
        </p:spPr>
        <p:txBody>
          <a:bodyPr/>
          <a:lstStyle/>
          <a:p>
            <a:endParaRPr lang="en-US"/>
          </a:p>
        </p:txBody>
      </p:sp>
      <p:sp>
        <p:nvSpPr>
          <p:cNvPr id="21" name="Text 19"/>
          <p:cNvSpPr/>
          <p:nvPr/>
        </p:nvSpPr>
        <p:spPr>
          <a:xfrm>
            <a:off x="576072" y="290779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coverage_goal</a:t>
            </a:r>
            <a:endParaRPr lang="en-US" sz="950" dirty="0"/>
          </a:p>
        </p:txBody>
      </p:sp>
      <p:sp>
        <p:nvSpPr>
          <p:cNvPr id="22" name="Shape 20"/>
          <p:cNvSpPr/>
          <p:nvPr/>
        </p:nvSpPr>
        <p:spPr>
          <a:xfrm>
            <a:off x="2514600" y="2907792"/>
            <a:ext cx="61264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651760" y="2907792"/>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corpus_wide, targeted, cross_document, exhaustive</a:t>
            </a:r>
            <a:endParaRPr lang="en-US" sz="950" dirty="0"/>
          </a:p>
        </p:txBody>
      </p:sp>
      <p:sp>
        <p:nvSpPr>
          <p:cNvPr id="24" name="Shape 22"/>
          <p:cNvSpPr/>
          <p:nvPr/>
        </p:nvSpPr>
        <p:spPr>
          <a:xfrm>
            <a:off x="502920" y="3300984"/>
            <a:ext cx="2011680" cy="347472"/>
          </a:xfrm>
          <a:prstGeom prst="rect">
            <a:avLst/>
          </a:prstGeom>
          <a:solidFill>
            <a:srgbClr val="1B2A4A"/>
          </a:solidFill>
          <a:ln/>
        </p:spPr>
        <p:txBody>
          <a:bodyPr/>
          <a:lstStyle/>
          <a:p>
            <a:endParaRPr lang="en-US"/>
          </a:p>
        </p:txBody>
      </p:sp>
      <p:sp>
        <p:nvSpPr>
          <p:cNvPr id="25" name="Text 23"/>
          <p:cNvSpPr/>
          <p:nvPr/>
        </p:nvSpPr>
        <p:spPr>
          <a:xfrm>
            <a:off x="576072" y="330098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result_mode</a:t>
            </a:r>
            <a:endParaRPr lang="en-US" sz="950" dirty="0"/>
          </a:p>
        </p:txBody>
      </p:sp>
      <p:sp>
        <p:nvSpPr>
          <p:cNvPr id="26" name="Shape 24"/>
          <p:cNvSpPr/>
          <p:nvPr/>
        </p:nvSpPr>
        <p:spPr>
          <a:xfrm>
            <a:off x="2514600" y="3300984"/>
            <a:ext cx="61264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651760" y="3300984"/>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inventory, summary, structured_evidence, comparison_table</a:t>
            </a:r>
            <a:endParaRPr lang="en-US" sz="950" dirty="0"/>
          </a:p>
        </p:txBody>
      </p:sp>
      <p:sp>
        <p:nvSpPr>
          <p:cNvPr id="28" name="Shape 26"/>
          <p:cNvSpPr/>
          <p:nvPr/>
        </p:nvSpPr>
        <p:spPr>
          <a:xfrm>
            <a:off x="502920" y="3694176"/>
            <a:ext cx="2011680" cy="347472"/>
          </a:xfrm>
          <a:prstGeom prst="rect">
            <a:avLst/>
          </a:prstGeom>
          <a:solidFill>
            <a:srgbClr val="1B2A4A"/>
          </a:solidFill>
          <a:ln/>
        </p:spPr>
        <p:txBody>
          <a:bodyPr/>
          <a:lstStyle/>
          <a:p>
            <a:endParaRPr lang="en-US"/>
          </a:p>
        </p:txBody>
      </p:sp>
      <p:sp>
        <p:nvSpPr>
          <p:cNvPr id="29" name="Text 27"/>
          <p:cNvSpPr/>
          <p:nvPr/>
        </p:nvSpPr>
        <p:spPr>
          <a:xfrm>
            <a:off x="576072" y="369417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controller_hints</a:t>
            </a:r>
            <a:endParaRPr lang="en-US" sz="950" dirty="0"/>
          </a:p>
        </p:txBody>
      </p:sp>
      <p:sp>
        <p:nvSpPr>
          <p:cNvPr id="30" name="Shape 28"/>
          <p:cNvSpPr/>
          <p:nvPr/>
        </p:nvSpPr>
        <p:spPr>
          <a:xfrm>
            <a:off x="2514600" y="3694176"/>
            <a:ext cx="612648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651760" y="3694176"/>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JSON dict: max_docs, max_rounds, force_keyword_only, disable_judge_grading, ...</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rag/hints.py — RagExecutionHints, rag/skill_policy.py — resolve_rag_execution_hints()</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Adaptive RAG Engine — rag/adaptive.py (1,900 lines)</a:t>
            </a:r>
            <a:endParaRPr lang="en-US" sz="2600" dirty="0"/>
          </a:p>
        </p:txBody>
      </p:sp>
      <p:sp>
        <p:nvSpPr>
          <p:cNvPr id="3" name="Shape 1"/>
          <p:cNvSpPr/>
          <p:nvPr/>
        </p:nvSpPr>
        <p:spPr>
          <a:xfrm>
            <a:off x="502920" y="914400"/>
            <a:ext cx="384048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EvidenceLedger — Deduplication Tracker</a:t>
            </a:r>
            <a:endParaRPr lang="en-US" sz="1200" dirty="0"/>
          </a:p>
        </p:txBody>
      </p:sp>
      <p:sp>
        <p:nvSpPr>
          <p:cNvPr id="6" name="Text 4"/>
          <p:cNvSpPr/>
          <p:nvPr/>
        </p:nvSpPr>
        <p:spPr>
          <a:xfrm>
            <a:off x="612648" y="1298448"/>
            <a:ext cx="362102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Tracks all retrieved chunks across multiple search rounds.
add_documents(docs, strategy) — merge with dedup by chunk_id.
add_scored_chunks(chunks) — add raw scored chunks.
apply_grades(graded) — attach LLM judge scores to chunks.
materialize_documents(max_chunks=18) — final ranked evidence list.</a:t>
            </a:r>
            <a:endParaRPr lang="en-US" sz="1000" dirty="0"/>
          </a:p>
        </p:txBody>
      </p:sp>
      <p:sp>
        <p:nvSpPr>
          <p:cNvPr id="7" name="Shape 5"/>
          <p:cNvSpPr/>
          <p:nvPr/>
        </p:nvSpPr>
        <p:spPr>
          <a:xfrm>
            <a:off x="4572000" y="914400"/>
            <a:ext cx="411480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CorpusRetrievalAdapter — Search Orchestrator</a:t>
            </a:r>
            <a:endParaRPr lang="en-US" sz="1200" dirty="0"/>
          </a:p>
        </p:txBody>
      </p:sp>
      <p:sp>
        <p:nvSpPr>
          <p:cNvPr id="10" name="Text 8"/>
          <p:cNvSpPr/>
          <p:nvPr/>
        </p:nvSpPr>
        <p:spPr>
          <a:xfrm>
            <a:off x="4681728" y="1298448"/>
            <a:ext cx="389534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search_corpus(query, filters) — hybrid vector+keyword across all docs.
grep_corpus(query) — regex-based keyword sweep.
read_document(doc_id, focus) — load chunks from specific doc.
fetch_chunk_window(chunk_id) — get neighboring chunks.
_rerank_with_query_heuristics() — boost title-matching docs.</a:t>
            </a:r>
            <a:endParaRPr lang="en-US" sz="1000" dirty="0"/>
          </a:p>
        </p:txBody>
      </p:sp>
      <p:sp>
        <p:nvSpPr>
          <p:cNvPr id="11" name="Text 9"/>
          <p:cNvSpPr/>
          <p:nvPr/>
        </p:nvSpPr>
        <p:spPr>
          <a:xfrm>
            <a:off x="502920" y="2834640"/>
            <a:ext cx="813816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Multi-Round Retrieval Loop:</a:t>
            </a:r>
            <a:endParaRPr lang="en-US" sz="1100" dirty="0"/>
          </a:p>
        </p:txBody>
      </p:sp>
      <p:sp>
        <p:nvSpPr>
          <p:cNvPr id="12" name="Shape 10"/>
          <p:cNvSpPr/>
          <p:nvPr/>
        </p:nvSpPr>
        <p:spPr>
          <a:xfrm>
            <a:off x="502920" y="3154680"/>
            <a:ext cx="256032" cy="256032"/>
          </a:xfrm>
          <a:prstGeom prst="rect">
            <a:avLst/>
          </a:prstGeom>
          <a:solidFill>
            <a:srgbClr val="0097A7"/>
          </a:solidFill>
          <a:ln/>
        </p:spPr>
        <p:txBody>
          <a:bodyPr/>
          <a:lstStyle/>
          <a:p>
            <a:endParaRPr lang="en-US"/>
          </a:p>
        </p:txBody>
      </p:sp>
      <p:sp>
        <p:nvSpPr>
          <p:cNvPr id="13" name="Text 11"/>
          <p:cNvSpPr/>
          <p:nvPr/>
        </p:nvSpPr>
        <p:spPr>
          <a:xfrm>
            <a:off x="502920" y="31546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2"/>
          <p:cNvSpPr/>
          <p:nvPr/>
        </p:nvSpPr>
        <p:spPr>
          <a:xfrm>
            <a:off x="850392" y="3154680"/>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1: Standard hybrid retrieval (vector + keyword). Grade chunks with judge LLM.</a:t>
            </a:r>
            <a:endParaRPr lang="en-US" sz="950" dirty="0"/>
          </a:p>
        </p:txBody>
      </p:sp>
      <p:sp>
        <p:nvSpPr>
          <p:cNvPr id="15" name="Shape 13"/>
          <p:cNvSpPr/>
          <p:nvPr/>
        </p:nvSpPr>
        <p:spPr>
          <a:xfrm>
            <a:off x="502920" y="3456432"/>
            <a:ext cx="256032" cy="256032"/>
          </a:xfrm>
          <a:prstGeom prst="rect">
            <a:avLst/>
          </a:prstGeom>
          <a:solidFill>
            <a:srgbClr val="0097A7"/>
          </a:solidFill>
          <a:ln/>
        </p:spPr>
        <p:txBody>
          <a:bodyPr/>
          <a:lstStyle/>
          <a:p>
            <a:endParaRPr lang="en-US"/>
          </a:p>
        </p:txBody>
      </p:sp>
      <p:sp>
        <p:nvSpPr>
          <p:cNvPr id="16" name="Text 14"/>
          <p:cNvSpPr/>
          <p:nvPr/>
        </p:nvSpPr>
        <p:spPr>
          <a:xfrm>
            <a:off x="502920" y="34564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7" name="Text 15"/>
          <p:cNvSpPr/>
          <p:nvPr/>
        </p:nvSpPr>
        <p:spPr>
          <a:xfrm>
            <a:off x="850392" y="3456432"/>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2: If coverage insufficient → _rewrite_query() + retry with augmented terms.</a:t>
            </a:r>
            <a:endParaRPr lang="en-US" sz="950" dirty="0"/>
          </a:p>
        </p:txBody>
      </p:sp>
      <p:sp>
        <p:nvSpPr>
          <p:cNvPr id="18" name="Shape 16"/>
          <p:cNvSpPr/>
          <p:nvPr/>
        </p:nvSpPr>
        <p:spPr>
          <a:xfrm>
            <a:off x="502920" y="3758184"/>
            <a:ext cx="256032" cy="256032"/>
          </a:xfrm>
          <a:prstGeom prst="rect">
            <a:avLst/>
          </a:prstGeom>
          <a:solidFill>
            <a:srgbClr val="0097A7"/>
          </a:solidFill>
          <a:ln/>
        </p:spPr>
        <p:txBody>
          <a:bodyPr/>
          <a:lstStyle/>
          <a:p>
            <a:endParaRPr lang="en-US"/>
          </a:p>
        </p:txBody>
      </p:sp>
      <p:sp>
        <p:nvSpPr>
          <p:cNvPr id="19" name="Text 17"/>
          <p:cNvSpPr/>
          <p:nvPr/>
        </p:nvSpPr>
        <p:spPr>
          <a:xfrm>
            <a:off x="502920" y="37581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0" name="Text 18"/>
          <p:cNvSpPr/>
          <p:nvPr/>
        </p:nvSpPr>
        <p:spPr>
          <a:xfrm>
            <a:off x="850392" y="3758184"/>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3+: Process-flow or clause-specific fallback strategies if still insufficient.</a:t>
            </a:r>
            <a:endParaRPr lang="en-US" sz="950" dirty="0"/>
          </a:p>
        </p:txBody>
      </p:sp>
      <p:sp>
        <p:nvSpPr>
          <p:cNvPr id="21" name="Shape 19"/>
          <p:cNvSpPr/>
          <p:nvPr/>
        </p:nvSpPr>
        <p:spPr>
          <a:xfrm>
            <a:off x="502920" y="4059936"/>
            <a:ext cx="256032" cy="256032"/>
          </a:xfrm>
          <a:prstGeom prst="rect">
            <a:avLst/>
          </a:prstGeom>
          <a:solidFill>
            <a:srgbClr val="0097A7"/>
          </a:solidFill>
          <a:ln/>
        </p:spPr>
        <p:txBody>
          <a:bodyPr/>
          <a:lstStyle/>
          <a:p>
            <a:endParaRPr lang="en-US"/>
          </a:p>
        </p:txBody>
      </p:sp>
      <p:sp>
        <p:nvSpPr>
          <p:cNvPr id="22" name="Text 20"/>
          <p:cNvSpPr/>
          <p:nvPr/>
        </p:nvSpPr>
        <p:spPr>
          <a:xfrm>
            <a:off x="502920" y="40599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3" name="Text 21"/>
          <p:cNvSpPr/>
          <p:nvPr/>
        </p:nvSpPr>
        <p:spPr>
          <a:xfrm>
            <a:off x="850392" y="4059936"/>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Final: EvidenceLedger.materialize_documents() → best 18 chunks → synthesis.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rag/adaptive.py — EvidenceLedger, CorpusRetrievalAdapter, RetrievalRun, SearchFilters</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Workbook Loader — Structured Excel/CSV Ingestion</a:t>
            </a:r>
            <a:endParaRPr lang="en-US" sz="2600" dirty="0"/>
          </a:p>
        </p:txBody>
      </p:sp>
      <p:sp>
        <p:nvSpPr>
          <p:cNvPr id="3" name="Shape 1"/>
          <p:cNvSpPr/>
          <p:nvPr/>
        </p:nvSpPr>
        <p:spPr>
          <a:xfrm>
            <a:off x="502920" y="914400"/>
            <a:ext cx="384048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Smart Ingestion (rag/workbook_loader.py)</a:t>
            </a:r>
            <a:endParaRPr lang="en-US" sz="1200" dirty="0"/>
          </a:p>
        </p:txBody>
      </p:sp>
      <p:sp>
        <p:nvSpPr>
          <p:cNvPr id="6" name="Text 4"/>
          <p:cNvSpPr/>
          <p:nvPr/>
        </p:nvSpPr>
        <p:spPr>
          <a:xfrm>
            <a:off x="612648" y="1298448"/>
            <a:ext cx="362102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ingest Excel/CSV files as structured documents (not raw CSV text).
_detect_header_row(rows) — scores first 8 rows for header-likeness using: unique values, alphabetic cells, cell length ≥ 3. Handles files with metadata rows before the header.
_normalize_headers() — deduplicates column names ('Amount' → 'Amount 2'), fills blank headers with 'Column A', 'Column B', etc.
Each row becomes a Document with row_number, column=value pairs, and sheet_name in metadata.
Empty rows skipped. Multi-sheet workbooks produce separate document sets per sheet.</a:t>
            </a:r>
            <a:endParaRPr lang="en-US" sz="1000" dirty="0"/>
          </a:p>
        </p:txBody>
      </p:sp>
      <p:sp>
        <p:nvSpPr>
          <p:cNvPr id="7" name="Shape 5"/>
          <p:cNvSpPr/>
          <p:nvPr/>
        </p:nvSpPr>
        <p:spPr>
          <a:xfrm>
            <a:off x="4572000" y="914400"/>
            <a:ext cx="411480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Why Not Just Read as Text?</a:t>
            </a:r>
            <a:endParaRPr lang="en-US" sz="1200" dirty="0"/>
          </a:p>
        </p:txBody>
      </p:sp>
      <p:sp>
        <p:nvSpPr>
          <p:cNvPr id="10" name="Text 8"/>
          <p:cNvSpPr/>
          <p:nvPr/>
        </p:nvSpPr>
        <p:spPr>
          <a:xfrm>
            <a:off x="4681728" y="1298448"/>
            <a:ext cx="389534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Plain CSV ingestion loses structure: 'Region,Spend,Reserve' becomes meaningless fragments.
Workbook loader produces semantically rich chunks:
'Region: APAC | Annual Spend USD: 1200000 | Risk Score: 8'
These chunks match data_analyst queries like 'highest spend region' because the field names are embedded in the text.
Header detection prevents misclassifying metadata rows (e.g. 'Report: Q3 2024') as data.
Works with .csv, .xlsx, .xls files. Detects file type from extension.</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rag/workbook_loader.py — IndexedRow, _detect_header_row(), _normalize_headers()</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Extended RAG Tools — query_rewriter + chunk_expander</a:t>
            </a:r>
            <a:endParaRPr lang="en-US" sz="2600" dirty="0"/>
          </a:p>
        </p:txBody>
      </p:sp>
      <p:sp>
        <p:nvSpPr>
          <p:cNvPr id="3" name="Text 1"/>
          <p:cNvSpPr/>
          <p:nvPr/>
        </p:nvSpPr>
        <p:spPr>
          <a:xfrm>
            <a:off x="502920" y="822960"/>
            <a:ext cx="8138160" cy="36576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rag/extended_tools.py adds 2 supplementary tools on top of the 19 specialist tools. Both require judge_llm or stores to be passed at construction time:</a:t>
            </a:r>
            <a:endParaRPr lang="en-US" sz="1100" dirty="0"/>
          </a:p>
        </p:txBody>
      </p:sp>
      <p:sp>
        <p:nvSpPr>
          <p:cNvPr id="4" name="Shape 2"/>
          <p:cNvSpPr/>
          <p:nvPr/>
        </p:nvSpPr>
        <p:spPr>
          <a:xfrm>
            <a:off x="502920" y="128016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80160"/>
            <a:ext cx="3840480" cy="320040"/>
          </a:xfrm>
          <a:prstGeom prst="rect">
            <a:avLst/>
          </a:prstGeom>
          <a:solidFill>
            <a:srgbClr val="0097A7"/>
          </a:solidFill>
          <a:ln/>
        </p:spPr>
        <p:txBody>
          <a:bodyPr/>
          <a:lstStyle/>
          <a:p>
            <a:endParaRPr lang="en-US"/>
          </a:p>
        </p:txBody>
      </p:sp>
      <p:sp>
        <p:nvSpPr>
          <p:cNvPr id="6" name="Text 4"/>
          <p:cNvSpPr/>
          <p:nvPr/>
        </p:nvSpPr>
        <p:spPr>
          <a:xfrm>
            <a:off x="612648" y="130759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query_rewriter</a:t>
            </a:r>
            <a:endParaRPr lang="en-US" sz="1200" dirty="0"/>
          </a:p>
        </p:txBody>
      </p:sp>
      <p:sp>
        <p:nvSpPr>
          <p:cNvPr id="7" name="Text 5"/>
          <p:cNvSpPr/>
          <p:nvPr/>
        </p:nvSpPr>
        <p:spPr>
          <a:xfrm>
            <a:off x="612648" y="166420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improve retrieval quality for ambiguous queries.
Input: query (str), reason (str) — optional conversation context.
Uses judge_llm + load_judge_rewrite_prompt() to generate a rewritten query.
Returns JSON: {original, rewritten, changed: bool}.
Used when the adaptive RAG engine detects low coverage after round 1.</a:t>
            </a:r>
            <a:endParaRPr lang="en-US" sz="1000" dirty="0"/>
          </a:p>
        </p:txBody>
      </p:sp>
      <p:sp>
        <p:nvSpPr>
          <p:cNvPr id="8" name="Shape 6"/>
          <p:cNvSpPr/>
          <p:nvPr/>
        </p:nvSpPr>
        <p:spPr>
          <a:xfrm>
            <a:off x="4572000" y="128016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572000" y="1280160"/>
            <a:ext cx="4114800" cy="320040"/>
          </a:xfrm>
          <a:prstGeom prst="rect">
            <a:avLst/>
          </a:prstGeom>
          <a:solidFill>
            <a:srgbClr val="1B2A4A"/>
          </a:solidFill>
          <a:ln/>
        </p:spPr>
        <p:txBody>
          <a:bodyPr/>
          <a:lstStyle/>
          <a:p>
            <a:endParaRPr lang="en-US"/>
          </a:p>
        </p:txBody>
      </p:sp>
      <p:sp>
        <p:nvSpPr>
          <p:cNvPr id="10" name="Text 8"/>
          <p:cNvSpPr/>
          <p:nvPr/>
        </p:nvSpPr>
        <p:spPr>
          <a:xfrm>
            <a:off x="4681728" y="13075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chunk_expander</a:t>
            </a:r>
            <a:endParaRPr lang="en-US" sz="1200" dirty="0"/>
          </a:p>
        </p:txBody>
      </p:sp>
      <p:sp>
        <p:nvSpPr>
          <p:cNvPr id="11" name="Text 9"/>
          <p:cNvSpPr/>
          <p:nvPr/>
        </p:nvSpPr>
        <p:spPr>
          <a:xfrm>
            <a:off x="4681728" y="166420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expand context around a retrieved chunk.
Input: chunk_id (str), window (int, default 2).
Calls chunk_store.get_chunks_by_index_range(doc_id, index-window, index+window).
Returns JSON: {chunks[], count} with clause_number, section_title, content for each neighbor.
Lets agents read the 'before and after' context around a relevant snippet.</a:t>
            </a:r>
            <a:endParaRPr lang="en-US" sz="1000" dirty="0"/>
          </a:p>
        </p:txBody>
      </p:sp>
      <p:sp>
        <p:nvSpPr>
          <p:cNvPr id="12" name="Shape 10"/>
          <p:cNvSpPr/>
          <p:nvPr/>
        </p:nvSpPr>
        <p:spPr>
          <a:xfrm>
            <a:off x="502920" y="3611880"/>
            <a:ext cx="8138160" cy="45720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6118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tools are included via make_extended_rag_tools(stores, session, judge_llm=...). They complement the 19 specialist tools: specialist tools find the right chunks; extended tools help refine queries and expand the context around those chunks.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rag/extended_tools.py — make_extended_rag_tools(), query_rewriter, chunk_expander</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8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Agent Harness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general_agent.py — how tool-calling agents actually execute</a:t>
            </a:r>
            <a:endParaRPr lang="en-US" sz="1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Agent Harness — general_agent.py</a:t>
            </a:r>
            <a:endParaRPr lang="en-US" sz="2600" dirty="0"/>
          </a:p>
        </p:txBody>
      </p:sp>
      <p:sp>
        <p:nvSpPr>
          <p:cNvPr id="3" name="Shape 1"/>
          <p:cNvSpPr/>
          <p:nvPr/>
        </p:nvSpPr>
        <p:spPr>
          <a:xfrm>
            <a:off x="548640" y="960120"/>
            <a:ext cx="228600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9601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BUILD PROMPT</a:t>
            </a:r>
            <a:endParaRPr lang="en-US" sz="1000" dirty="0"/>
          </a:p>
        </p:txBody>
      </p:sp>
      <p:sp>
        <p:nvSpPr>
          <p:cNvPr id="5" name="Shape 3"/>
          <p:cNvSpPr/>
          <p:nvPr/>
        </p:nvSpPr>
        <p:spPr>
          <a:xfrm>
            <a:off x="2834640" y="960120"/>
            <a:ext cx="5852160" cy="64008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71800" y="960120"/>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System prompt = base prompt + skill injections + memory context + tool descriptions.</a:t>
            </a:r>
            <a:endParaRPr lang="en-US" sz="1000" dirty="0"/>
          </a:p>
        </p:txBody>
      </p:sp>
      <p:sp>
        <p:nvSpPr>
          <p:cNvPr id="7" name="Shape 5"/>
          <p:cNvSpPr/>
          <p:nvPr/>
        </p:nvSpPr>
        <p:spPr>
          <a:xfrm>
            <a:off x="1691640" y="1600200"/>
            <a:ext cx="0" cy="182880"/>
          </a:xfrm>
          <a:prstGeom prst="line">
            <a:avLst/>
          </a:prstGeom>
          <a:noFill/>
          <a:ln w="25400">
            <a:solidFill>
              <a:srgbClr val="0097A7"/>
            </a:solidFill>
            <a:prstDash val="solid"/>
          </a:ln>
        </p:spPr>
        <p:txBody>
          <a:bodyPr/>
          <a:lstStyle/>
          <a:p>
            <a:endParaRPr lang="en-US"/>
          </a:p>
        </p:txBody>
      </p:sp>
      <p:sp>
        <p:nvSpPr>
          <p:cNvPr id="8" name="Text 6"/>
          <p:cNvSpPr/>
          <p:nvPr/>
        </p:nvSpPr>
        <p:spPr>
          <a:xfrm>
            <a:off x="1600200" y="1709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9" name="Shape 7"/>
          <p:cNvSpPr/>
          <p:nvPr/>
        </p:nvSpPr>
        <p:spPr>
          <a:xfrm>
            <a:off x="548640" y="1801368"/>
            <a:ext cx="228600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548640" y="1801368"/>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TOOL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(ReAct / plan_execute)</a:t>
            </a:r>
            <a:endParaRPr lang="en-US" sz="1000" dirty="0"/>
          </a:p>
        </p:txBody>
      </p:sp>
      <p:sp>
        <p:nvSpPr>
          <p:cNvPr id="11" name="Shape 9"/>
          <p:cNvSpPr/>
          <p:nvPr/>
        </p:nvSpPr>
        <p:spPr>
          <a:xfrm>
            <a:off x="2834640" y="1801368"/>
            <a:ext cx="5852160" cy="64008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71800" y="1801368"/>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LangGraph create_react_agent() if provider supports tool binding. Falls back to plan_execute pattern if not.</a:t>
            </a:r>
            <a:endParaRPr lang="en-US" sz="1000" dirty="0"/>
          </a:p>
        </p:txBody>
      </p:sp>
      <p:sp>
        <p:nvSpPr>
          <p:cNvPr id="13" name="Shape 11"/>
          <p:cNvSpPr/>
          <p:nvPr/>
        </p:nvSpPr>
        <p:spPr>
          <a:xfrm>
            <a:off x="1691640" y="2441448"/>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1600200" y="2551176"/>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548640" y="2642616"/>
            <a:ext cx="228600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 y="2642616"/>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DETECT TRUNCATION</a:t>
            </a:r>
            <a:endParaRPr lang="en-US" sz="1000" dirty="0"/>
          </a:p>
        </p:txBody>
      </p:sp>
      <p:sp>
        <p:nvSpPr>
          <p:cNvPr id="17" name="Shape 15"/>
          <p:cNvSpPr/>
          <p:nvPr/>
        </p:nvSpPr>
        <p:spPr>
          <a:xfrm>
            <a:off x="2834640" y="2642616"/>
            <a:ext cx="5852160" cy="64008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71800" y="2642616"/>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_is_output_truncated(): checks finish_reason='length'|'max_tokens' in response metadata.</a:t>
            </a:r>
            <a:endParaRPr lang="en-US" sz="1000" dirty="0"/>
          </a:p>
        </p:txBody>
      </p:sp>
      <p:sp>
        <p:nvSpPr>
          <p:cNvPr id="19" name="Shape 17"/>
          <p:cNvSpPr/>
          <p:nvPr/>
        </p:nvSpPr>
        <p:spPr>
          <a:xfrm>
            <a:off x="1691640" y="3282696"/>
            <a:ext cx="0" cy="182880"/>
          </a:xfrm>
          <a:prstGeom prst="line">
            <a:avLst/>
          </a:prstGeom>
          <a:noFill/>
          <a:ln w="25400">
            <a:solidFill>
              <a:srgbClr val="0097A7"/>
            </a:solidFill>
            <a:prstDash val="solid"/>
          </a:ln>
        </p:spPr>
        <p:txBody>
          <a:bodyPr/>
          <a:lstStyle/>
          <a:p>
            <a:endParaRPr lang="en-US"/>
          </a:p>
        </p:txBody>
      </p:sp>
      <p:sp>
        <p:nvSpPr>
          <p:cNvPr id="20" name="Text 18"/>
          <p:cNvSpPr/>
          <p:nvPr/>
        </p:nvSpPr>
        <p:spPr>
          <a:xfrm>
            <a:off x="1600200" y="3392424"/>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1" name="Shape 19"/>
          <p:cNvSpPr/>
          <p:nvPr/>
        </p:nvSpPr>
        <p:spPr>
          <a:xfrm>
            <a:off x="548640" y="3483864"/>
            <a:ext cx="2286000" cy="64008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48640" y="3483864"/>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FINALIZE</a:t>
            </a:r>
            <a:endParaRPr lang="en-US" sz="1000" dirty="0"/>
          </a:p>
        </p:txBody>
      </p:sp>
      <p:sp>
        <p:nvSpPr>
          <p:cNvPr id="23" name="Shape 21"/>
          <p:cNvSpPr/>
          <p:nvPr/>
        </p:nvSpPr>
        <p:spPr>
          <a:xfrm>
            <a:off x="2834640" y="3483864"/>
            <a:ext cx="5852160" cy="64008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71800" y="3483864"/>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_finalize_messages(): multi-strategy recovery to extract final answer from message history.</a:t>
            </a:r>
            <a:endParaRPr lang="en-US" sz="1000" dirty="0"/>
          </a:p>
        </p:txBody>
      </p:sp>
      <p:sp>
        <p:nvSpPr>
          <p:cNvPr id="25" name="Shape 23"/>
          <p:cNvSpPr/>
          <p:nvPr/>
        </p:nvSpPr>
        <p:spPr>
          <a:xfrm>
            <a:off x="502920" y="4169664"/>
            <a:ext cx="8138160" cy="32004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4169664"/>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harness is the LLM-agnostic tool-calling loop. Every agent that uses tools goes through it, regardless of LLM provider or execution strategy.</a:t>
            </a:r>
            <a:endParaRPr lang="en-US" sz="10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 _finalize_messages(), _is_output_truncated()</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Recovery Strategies (_finalize_messages)</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agent loop ends without a clean final answer, _finalize_messages() tries these strategies in order:</a:t>
            </a:r>
            <a:endParaRPr lang="en-US" sz="1100" dirty="0"/>
          </a:p>
        </p:txBody>
      </p:sp>
      <p:sp>
        <p:nvSpPr>
          <p:cNvPr id="4" name="Shape 2"/>
          <p:cNvSpPr/>
          <p:nvPr/>
        </p:nvSpPr>
        <p:spPr>
          <a:xfrm>
            <a:off x="502920" y="1234440"/>
            <a:ext cx="365760" cy="530352"/>
          </a:xfrm>
          <a:prstGeom prst="rect">
            <a:avLst/>
          </a:prstGeom>
          <a:solidFill>
            <a:srgbClr val="1B2A4A"/>
          </a:solidFill>
          <a:ln/>
        </p:spPr>
        <p:txBody>
          <a:bodyPr/>
          <a:lstStyle/>
          <a:p>
            <a:endParaRPr lang="en-US"/>
          </a:p>
        </p:txBody>
      </p:sp>
      <p:sp>
        <p:nvSpPr>
          <p:cNvPr id="5" name="Text 3"/>
          <p:cNvSpPr/>
          <p:nvPr/>
        </p:nvSpPr>
        <p:spPr>
          <a:xfrm>
            <a:off x="502920" y="1234440"/>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Shape 4"/>
          <p:cNvSpPr/>
          <p:nvPr/>
        </p:nvSpPr>
        <p:spPr>
          <a:xfrm>
            <a:off x="868680" y="1234440"/>
            <a:ext cx="1828800" cy="530352"/>
          </a:xfrm>
          <a:prstGeom prst="rect">
            <a:avLst/>
          </a:prstGeom>
          <a:solidFill>
            <a:srgbClr val="2E7D32"/>
          </a:solidFill>
          <a:ln/>
        </p:spPr>
        <p:txBody>
          <a:bodyPr/>
          <a:lstStyle/>
          <a:p>
            <a:endParaRPr lang="en-US"/>
          </a:p>
        </p:txBody>
      </p:sp>
      <p:sp>
        <p:nvSpPr>
          <p:cNvPr id="7" name="Text 5"/>
          <p:cNvSpPr/>
          <p:nvPr/>
        </p:nvSpPr>
        <p:spPr>
          <a:xfrm>
            <a:off x="941832" y="1234440"/>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Clean Final Answer</a:t>
            </a:r>
            <a:endParaRPr lang="en-US" sz="900" dirty="0"/>
          </a:p>
        </p:txBody>
      </p:sp>
      <p:sp>
        <p:nvSpPr>
          <p:cNvPr id="8" name="Shape 6"/>
          <p:cNvSpPr/>
          <p:nvPr/>
        </p:nvSpPr>
        <p:spPr>
          <a:xfrm>
            <a:off x="2697480" y="1234440"/>
            <a:ext cx="4754880" cy="530352"/>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788920" y="1234440"/>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Last AIMessage has content AND finish_reason is not 'length'. Return it directly.</a:t>
            </a:r>
            <a:endParaRPr lang="en-US" sz="900" dirty="0"/>
          </a:p>
        </p:txBody>
      </p:sp>
      <p:sp>
        <p:nvSpPr>
          <p:cNvPr id="10" name="Shape 8"/>
          <p:cNvSpPr/>
          <p:nvPr/>
        </p:nvSpPr>
        <p:spPr>
          <a:xfrm>
            <a:off x="7635240" y="1325880"/>
            <a:ext cx="1005840" cy="347472"/>
          </a:xfrm>
          <a:prstGeom prst="rect">
            <a:avLst/>
          </a:prstGeom>
          <a:solidFill>
            <a:srgbClr val="2E7D32"/>
          </a:solidFill>
          <a:ln/>
        </p:spPr>
        <p:txBody>
          <a:bodyPr/>
          <a:lstStyle/>
          <a:p>
            <a:endParaRPr lang="en-US"/>
          </a:p>
        </p:txBody>
      </p:sp>
      <p:sp>
        <p:nvSpPr>
          <p:cNvPr id="11" name="Text 9"/>
          <p:cNvSpPr/>
          <p:nvPr/>
        </p:nvSpPr>
        <p:spPr>
          <a:xfrm>
            <a:off x="7635240" y="1325880"/>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HAPPY PATH</a:t>
            </a:r>
            <a:endParaRPr lang="en-US" sz="800" dirty="0"/>
          </a:p>
        </p:txBody>
      </p:sp>
      <p:sp>
        <p:nvSpPr>
          <p:cNvPr id="12" name="Shape 10"/>
          <p:cNvSpPr/>
          <p:nvPr/>
        </p:nvSpPr>
        <p:spPr>
          <a:xfrm>
            <a:off x="502920" y="1801368"/>
            <a:ext cx="365760" cy="530352"/>
          </a:xfrm>
          <a:prstGeom prst="rect">
            <a:avLst/>
          </a:prstGeom>
          <a:solidFill>
            <a:srgbClr val="1B2A4A"/>
          </a:solidFill>
          <a:ln/>
        </p:spPr>
        <p:txBody>
          <a:bodyPr/>
          <a:lstStyle/>
          <a:p>
            <a:endParaRPr lang="en-US"/>
          </a:p>
        </p:txBody>
      </p:sp>
      <p:sp>
        <p:nvSpPr>
          <p:cNvPr id="13" name="Text 11"/>
          <p:cNvSpPr/>
          <p:nvPr/>
        </p:nvSpPr>
        <p:spPr>
          <a:xfrm>
            <a:off x="502920" y="1801368"/>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Shape 12"/>
          <p:cNvSpPr/>
          <p:nvPr/>
        </p:nvSpPr>
        <p:spPr>
          <a:xfrm>
            <a:off x="868680" y="1801368"/>
            <a:ext cx="1828800" cy="530352"/>
          </a:xfrm>
          <a:prstGeom prst="rect">
            <a:avLst/>
          </a:prstGeom>
          <a:solidFill>
            <a:srgbClr val="F9A825"/>
          </a:solidFill>
          <a:ln/>
        </p:spPr>
        <p:txBody>
          <a:bodyPr/>
          <a:lstStyle/>
          <a:p>
            <a:endParaRPr lang="en-US"/>
          </a:p>
        </p:txBody>
      </p:sp>
      <p:sp>
        <p:nvSpPr>
          <p:cNvPr id="15" name="Text 13"/>
          <p:cNvSpPr/>
          <p:nvPr/>
        </p:nvSpPr>
        <p:spPr>
          <a:xfrm>
            <a:off x="941832" y="1801368"/>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Truncated Output Notice</a:t>
            </a:r>
            <a:endParaRPr lang="en-US" sz="900" dirty="0"/>
          </a:p>
        </p:txBody>
      </p:sp>
      <p:sp>
        <p:nvSpPr>
          <p:cNvPr id="16" name="Shape 14"/>
          <p:cNvSpPr/>
          <p:nvPr/>
        </p:nvSpPr>
        <p:spPr>
          <a:xfrm>
            <a:off x="2697480" y="1801368"/>
            <a:ext cx="4754880" cy="53035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788920" y="1801368"/>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 was cut off (finish_reason='length'). Add '...may have been truncated' note. Still return partial.</a:t>
            </a:r>
            <a:endParaRPr lang="en-US" sz="900" dirty="0"/>
          </a:p>
        </p:txBody>
      </p:sp>
      <p:sp>
        <p:nvSpPr>
          <p:cNvPr id="18" name="Shape 16"/>
          <p:cNvSpPr/>
          <p:nvPr/>
        </p:nvSpPr>
        <p:spPr>
          <a:xfrm>
            <a:off x="7635240" y="1892808"/>
            <a:ext cx="1005840" cy="347472"/>
          </a:xfrm>
          <a:prstGeom prst="rect">
            <a:avLst/>
          </a:prstGeom>
          <a:solidFill>
            <a:srgbClr val="F9A825"/>
          </a:solidFill>
          <a:ln/>
        </p:spPr>
        <p:txBody>
          <a:bodyPr/>
          <a:lstStyle/>
          <a:p>
            <a:endParaRPr lang="en-US"/>
          </a:p>
        </p:txBody>
      </p:sp>
      <p:sp>
        <p:nvSpPr>
          <p:cNvPr id="19" name="Text 17"/>
          <p:cNvSpPr/>
          <p:nvPr/>
        </p:nvSpPr>
        <p:spPr>
          <a:xfrm>
            <a:off x="7635240" y="1892808"/>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DEGRADED</a:t>
            </a:r>
            <a:endParaRPr lang="en-US" sz="800" dirty="0"/>
          </a:p>
        </p:txBody>
      </p:sp>
      <p:sp>
        <p:nvSpPr>
          <p:cNvPr id="20" name="Shape 18"/>
          <p:cNvSpPr/>
          <p:nvPr/>
        </p:nvSpPr>
        <p:spPr>
          <a:xfrm>
            <a:off x="502920" y="2368296"/>
            <a:ext cx="365760" cy="530352"/>
          </a:xfrm>
          <a:prstGeom prst="rect">
            <a:avLst/>
          </a:prstGeom>
          <a:solidFill>
            <a:srgbClr val="1B2A4A"/>
          </a:solidFill>
          <a:ln/>
        </p:spPr>
        <p:txBody>
          <a:bodyPr/>
          <a:lstStyle/>
          <a:p>
            <a:endParaRPr lang="en-US"/>
          </a:p>
        </p:txBody>
      </p:sp>
      <p:sp>
        <p:nvSpPr>
          <p:cNvPr id="21" name="Text 19"/>
          <p:cNvSpPr/>
          <p:nvPr/>
        </p:nvSpPr>
        <p:spPr>
          <a:xfrm>
            <a:off x="502920" y="2368296"/>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Shape 20"/>
          <p:cNvSpPr/>
          <p:nvPr/>
        </p:nvSpPr>
        <p:spPr>
          <a:xfrm>
            <a:off x="868680" y="2368296"/>
            <a:ext cx="1828800" cy="530352"/>
          </a:xfrm>
          <a:prstGeom prst="rect">
            <a:avLst/>
          </a:prstGeom>
          <a:solidFill>
            <a:srgbClr val="0097A7"/>
          </a:solidFill>
          <a:ln/>
        </p:spPr>
        <p:txBody>
          <a:bodyPr/>
          <a:lstStyle/>
          <a:p>
            <a:endParaRPr lang="en-US"/>
          </a:p>
        </p:txBody>
      </p:sp>
      <p:sp>
        <p:nvSpPr>
          <p:cNvPr id="23" name="Text 21"/>
          <p:cNvSpPr/>
          <p:nvPr/>
        </p:nvSpPr>
        <p:spPr>
          <a:xfrm>
            <a:off x="941832" y="2368296"/>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RAG Tool Fallback</a:t>
            </a:r>
            <a:endParaRPr lang="en-US" sz="900" dirty="0"/>
          </a:p>
        </p:txBody>
      </p:sp>
      <p:sp>
        <p:nvSpPr>
          <p:cNvPr id="24" name="Shape 22"/>
          <p:cNvSpPr/>
          <p:nvPr/>
        </p:nvSpPr>
        <p:spPr>
          <a:xfrm>
            <a:off x="2697480" y="2368296"/>
            <a:ext cx="4754880" cy="53035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88920" y="2368296"/>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_render_rag_tool_fallback(): scan ToolMessages in reverse, find one with answer+citations JSON, render it via render_rag_contract().</a:t>
            </a:r>
            <a:endParaRPr lang="en-US" sz="900" dirty="0"/>
          </a:p>
        </p:txBody>
      </p:sp>
      <p:sp>
        <p:nvSpPr>
          <p:cNvPr id="26" name="Shape 24"/>
          <p:cNvSpPr/>
          <p:nvPr/>
        </p:nvSpPr>
        <p:spPr>
          <a:xfrm>
            <a:off x="7635240" y="2459736"/>
            <a:ext cx="1005840" cy="347472"/>
          </a:xfrm>
          <a:prstGeom prst="rect">
            <a:avLst/>
          </a:prstGeom>
          <a:solidFill>
            <a:srgbClr val="0097A7"/>
          </a:solidFill>
          <a:ln/>
        </p:spPr>
        <p:txBody>
          <a:bodyPr/>
          <a:lstStyle/>
          <a:p>
            <a:endParaRPr lang="en-US"/>
          </a:p>
        </p:txBody>
      </p:sp>
      <p:sp>
        <p:nvSpPr>
          <p:cNvPr id="27" name="Text 25"/>
          <p:cNvSpPr/>
          <p:nvPr/>
        </p:nvSpPr>
        <p:spPr>
          <a:xfrm>
            <a:off x="7635240" y="2459736"/>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28" name="Shape 26"/>
          <p:cNvSpPr/>
          <p:nvPr/>
        </p:nvSpPr>
        <p:spPr>
          <a:xfrm>
            <a:off x="502920" y="2935224"/>
            <a:ext cx="365760" cy="530352"/>
          </a:xfrm>
          <a:prstGeom prst="rect">
            <a:avLst/>
          </a:prstGeom>
          <a:solidFill>
            <a:srgbClr val="1B2A4A"/>
          </a:solidFill>
          <a:ln/>
        </p:spPr>
        <p:txBody>
          <a:bodyPr/>
          <a:lstStyle/>
          <a:p>
            <a:endParaRPr lang="en-US"/>
          </a:p>
        </p:txBody>
      </p:sp>
      <p:sp>
        <p:nvSpPr>
          <p:cNvPr id="29" name="Text 27"/>
          <p:cNvSpPr/>
          <p:nvPr/>
        </p:nvSpPr>
        <p:spPr>
          <a:xfrm>
            <a:off x="502920" y="2935224"/>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Shape 28"/>
          <p:cNvSpPr/>
          <p:nvPr/>
        </p:nvSpPr>
        <p:spPr>
          <a:xfrm>
            <a:off x="868680" y="2935224"/>
            <a:ext cx="1828800" cy="530352"/>
          </a:xfrm>
          <a:prstGeom prst="rect">
            <a:avLst/>
          </a:prstGeom>
          <a:solidFill>
            <a:srgbClr val="5C6BC0"/>
          </a:solidFill>
          <a:ln/>
        </p:spPr>
        <p:txBody>
          <a:bodyPr/>
          <a:lstStyle/>
          <a:p>
            <a:endParaRPr lang="en-US"/>
          </a:p>
        </p:txBody>
      </p:sp>
      <p:sp>
        <p:nvSpPr>
          <p:cNvPr id="31" name="Text 29"/>
          <p:cNvSpPr/>
          <p:nvPr/>
        </p:nvSpPr>
        <p:spPr>
          <a:xfrm>
            <a:off x="941832" y="2935224"/>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Tool Result Synthesis</a:t>
            </a:r>
            <a:endParaRPr lang="en-US" sz="900" dirty="0"/>
          </a:p>
        </p:txBody>
      </p:sp>
      <p:sp>
        <p:nvSpPr>
          <p:cNvPr id="32" name="Shape 30"/>
          <p:cNvSpPr/>
          <p:nvPr/>
        </p:nvSpPr>
        <p:spPr>
          <a:xfrm>
            <a:off x="2697480" y="2935224"/>
            <a:ext cx="4754880" cy="53035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788920" y="2935224"/>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_synthesize_tool_results(): collect all ToolMessage JSON payloads, call LLM again with synth prompt to compose final answer.</a:t>
            </a:r>
            <a:endParaRPr lang="en-US" sz="900" dirty="0"/>
          </a:p>
        </p:txBody>
      </p:sp>
      <p:sp>
        <p:nvSpPr>
          <p:cNvPr id="34" name="Shape 32"/>
          <p:cNvSpPr/>
          <p:nvPr/>
        </p:nvSpPr>
        <p:spPr>
          <a:xfrm>
            <a:off x="7635240" y="3026664"/>
            <a:ext cx="1005840" cy="347472"/>
          </a:xfrm>
          <a:prstGeom prst="rect">
            <a:avLst/>
          </a:prstGeom>
          <a:solidFill>
            <a:srgbClr val="5C6BC0"/>
          </a:solidFill>
          <a:ln/>
        </p:spPr>
        <p:txBody>
          <a:bodyPr/>
          <a:lstStyle/>
          <a:p>
            <a:endParaRPr lang="en-US"/>
          </a:p>
        </p:txBody>
      </p:sp>
      <p:sp>
        <p:nvSpPr>
          <p:cNvPr id="35" name="Text 33"/>
          <p:cNvSpPr/>
          <p:nvPr/>
        </p:nvSpPr>
        <p:spPr>
          <a:xfrm>
            <a:off x="7635240" y="3026664"/>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36" name="Shape 34"/>
          <p:cNvSpPr/>
          <p:nvPr/>
        </p:nvSpPr>
        <p:spPr>
          <a:xfrm>
            <a:off x="502920" y="3502152"/>
            <a:ext cx="365760" cy="530352"/>
          </a:xfrm>
          <a:prstGeom prst="rect">
            <a:avLst/>
          </a:prstGeom>
          <a:solidFill>
            <a:srgbClr val="1B2A4A"/>
          </a:solidFill>
          <a:ln/>
        </p:spPr>
        <p:txBody>
          <a:bodyPr/>
          <a:lstStyle/>
          <a:p>
            <a:endParaRPr lang="en-US"/>
          </a:p>
        </p:txBody>
      </p:sp>
      <p:sp>
        <p:nvSpPr>
          <p:cNvPr id="37" name="Text 35"/>
          <p:cNvSpPr/>
          <p:nvPr/>
        </p:nvSpPr>
        <p:spPr>
          <a:xfrm>
            <a:off x="502920" y="3502152"/>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8" name="Shape 36"/>
          <p:cNvSpPr/>
          <p:nvPr/>
        </p:nvSpPr>
        <p:spPr>
          <a:xfrm>
            <a:off x="868680" y="3502152"/>
            <a:ext cx="1828800" cy="530352"/>
          </a:xfrm>
          <a:prstGeom prst="rect">
            <a:avLst/>
          </a:prstGeom>
          <a:solidFill>
            <a:srgbClr val="C62828"/>
          </a:solidFill>
          <a:ln/>
        </p:spPr>
        <p:txBody>
          <a:bodyPr/>
          <a:lstStyle/>
          <a:p>
            <a:endParaRPr lang="en-US"/>
          </a:p>
        </p:txBody>
      </p:sp>
      <p:sp>
        <p:nvSpPr>
          <p:cNvPr id="39" name="Text 37"/>
          <p:cNvSpPr/>
          <p:nvPr/>
        </p:nvSpPr>
        <p:spPr>
          <a:xfrm>
            <a:off x="941832" y="3502152"/>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Failure Message</a:t>
            </a:r>
            <a:endParaRPr lang="en-US" sz="900" dirty="0"/>
          </a:p>
        </p:txBody>
      </p:sp>
      <p:sp>
        <p:nvSpPr>
          <p:cNvPr id="40" name="Shape 38"/>
          <p:cNvSpPr/>
          <p:nvPr/>
        </p:nvSpPr>
        <p:spPr>
          <a:xfrm>
            <a:off x="2697480" y="3502152"/>
            <a:ext cx="4754880" cy="530352"/>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788920" y="3502152"/>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None of the above worked. Return: 'I couldn't produce a complete final answer. Please try again with a narrower request.'</a:t>
            </a:r>
            <a:endParaRPr lang="en-US" sz="900" dirty="0"/>
          </a:p>
        </p:txBody>
      </p:sp>
      <p:sp>
        <p:nvSpPr>
          <p:cNvPr id="42" name="Shape 40"/>
          <p:cNvSpPr/>
          <p:nvPr/>
        </p:nvSpPr>
        <p:spPr>
          <a:xfrm>
            <a:off x="7635240" y="3593592"/>
            <a:ext cx="1005840" cy="347472"/>
          </a:xfrm>
          <a:prstGeom prst="rect">
            <a:avLst/>
          </a:prstGeom>
          <a:solidFill>
            <a:srgbClr val="C62828"/>
          </a:solidFill>
          <a:ln/>
        </p:spPr>
        <p:txBody>
          <a:bodyPr/>
          <a:lstStyle/>
          <a:p>
            <a:endParaRPr lang="en-US"/>
          </a:p>
        </p:txBody>
      </p:sp>
      <p:sp>
        <p:nvSpPr>
          <p:cNvPr id="43" name="Text 41"/>
          <p:cNvSpPr/>
          <p:nvPr/>
        </p:nvSpPr>
        <p:spPr>
          <a:xfrm>
            <a:off x="7635240" y="3593592"/>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FALLBACK</a:t>
            </a:r>
            <a:endParaRPr lang="en-US" sz="800" dirty="0"/>
          </a:p>
        </p:txBody>
      </p:sp>
      <p:sp>
        <p:nvSpPr>
          <p:cNvPr id="44" name="Text 4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_finalize_messages(), _render_rag_tool_fallback(), _synthesize_tool_results()</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Data Analyst Guided Fallback</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When data_analyst agents fail to produce output via LLM-driven ReAct, _run_data_analyst_guided_fallback() activates. Triggered when: _data_analyst_fallback_enabled() detects load_dataset + inspect_columns + execute_code + workspace_list all available AND no successful execute_code in tool history.</a:t>
            </a:r>
            <a:endParaRPr lang="en-US" sz="1050" dirty="0"/>
          </a:p>
        </p:txBody>
      </p:sp>
      <p:sp>
        <p:nvSpPr>
          <p:cNvPr id="4" name="Shape 2"/>
          <p:cNvSpPr/>
          <p:nvPr/>
        </p:nvSpPr>
        <p:spPr>
          <a:xfrm>
            <a:off x="502920" y="1417320"/>
            <a:ext cx="365760" cy="457200"/>
          </a:xfrm>
          <a:prstGeom prst="rect">
            <a:avLst/>
          </a:prstGeom>
          <a:solidFill>
            <a:srgbClr val="0097A7"/>
          </a:solidFill>
          <a:ln/>
        </p:spPr>
        <p:txBody>
          <a:bodyPr/>
          <a:lstStyle/>
          <a:p>
            <a:endParaRPr lang="en-US"/>
          </a:p>
        </p:txBody>
      </p:sp>
      <p:sp>
        <p:nvSpPr>
          <p:cNvPr id="5" name="Text 3"/>
          <p:cNvSpPr/>
          <p:nvPr/>
        </p:nvSpPr>
        <p:spPr>
          <a:xfrm>
            <a:off x="502920" y="1417320"/>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Shape 4"/>
          <p:cNvSpPr/>
          <p:nvPr/>
        </p:nvSpPr>
        <p:spPr>
          <a:xfrm>
            <a:off x="868680" y="1417320"/>
            <a:ext cx="1828800" cy="457200"/>
          </a:xfrm>
          <a:prstGeom prst="rect">
            <a:avLst/>
          </a:prstGeom>
          <a:solidFill>
            <a:srgbClr val="1B2A4A"/>
          </a:solidFill>
          <a:ln/>
        </p:spPr>
        <p:txBody>
          <a:bodyPr/>
          <a:lstStyle/>
          <a:p>
            <a:endParaRPr lang="en-US"/>
          </a:p>
        </p:txBody>
      </p:sp>
      <p:sp>
        <p:nvSpPr>
          <p:cNvPr id="7" name="Text 5"/>
          <p:cNvSpPr/>
          <p:nvPr/>
        </p:nvSpPr>
        <p:spPr>
          <a:xfrm>
            <a:off x="941832" y="1417320"/>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workspace_list()</a:t>
            </a:r>
            <a:endParaRPr lang="en-US" sz="850" dirty="0"/>
          </a:p>
        </p:txBody>
      </p:sp>
      <p:sp>
        <p:nvSpPr>
          <p:cNvPr id="8" name="Shape 6"/>
          <p:cNvSpPr/>
          <p:nvPr/>
        </p:nvSpPr>
        <p:spPr>
          <a:xfrm>
            <a:off x="2697480" y="1417320"/>
            <a:ext cx="5943600" cy="45720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834640" y="1417320"/>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List all files in /workspace. Filter for .csv, .xlsx, .xls files → dataset_refs[].</a:t>
            </a:r>
            <a:endParaRPr lang="en-US" sz="950" dirty="0"/>
          </a:p>
        </p:txBody>
      </p:sp>
      <p:sp>
        <p:nvSpPr>
          <p:cNvPr id="10" name="Shape 8"/>
          <p:cNvSpPr/>
          <p:nvPr/>
        </p:nvSpPr>
        <p:spPr>
          <a:xfrm>
            <a:off x="502920" y="1911096"/>
            <a:ext cx="365760" cy="457200"/>
          </a:xfrm>
          <a:prstGeom prst="rect">
            <a:avLst/>
          </a:prstGeom>
          <a:solidFill>
            <a:srgbClr val="0097A7"/>
          </a:solidFill>
          <a:ln/>
        </p:spPr>
        <p:txBody>
          <a:bodyPr/>
          <a:lstStyle/>
          <a:p>
            <a:endParaRPr lang="en-US"/>
          </a:p>
        </p:txBody>
      </p:sp>
      <p:sp>
        <p:nvSpPr>
          <p:cNvPr id="11" name="Text 9"/>
          <p:cNvSpPr/>
          <p:nvPr/>
        </p:nvSpPr>
        <p:spPr>
          <a:xfrm>
            <a:off x="502920" y="1911096"/>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10"/>
          <p:cNvSpPr/>
          <p:nvPr/>
        </p:nvSpPr>
        <p:spPr>
          <a:xfrm>
            <a:off x="868680" y="1911096"/>
            <a:ext cx="1828800" cy="457200"/>
          </a:xfrm>
          <a:prstGeom prst="rect">
            <a:avLst/>
          </a:prstGeom>
          <a:solidFill>
            <a:srgbClr val="1B2A4A"/>
          </a:solidFill>
          <a:ln/>
        </p:spPr>
        <p:txBody>
          <a:bodyPr/>
          <a:lstStyle/>
          <a:p>
            <a:endParaRPr lang="en-US"/>
          </a:p>
        </p:txBody>
      </p:sp>
      <p:sp>
        <p:nvSpPr>
          <p:cNvPr id="13" name="Text 11"/>
          <p:cNvSpPr/>
          <p:nvPr/>
        </p:nvSpPr>
        <p:spPr>
          <a:xfrm>
            <a:off x="941832" y="1911096"/>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load_dataset(doc_id)</a:t>
            </a:r>
            <a:endParaRPr lang="en-US" sz="850" dirty="0"/>
          </a:p>
        </p:txBody>
      </p:sp>
      <p:sp>
        <p:nvSpPr>
          <p:cNvPr id="14" name="Shape 12"/>
          <p:cNvSpPr/>
          <p:nvPr/>
        </p:nvSpPr>
        <p:spPr>
          <a:xfrm>
            <a:off x="2697480" y="1911096"/>
            <a:ext cx="594360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1911096"/>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For each dataset, load schema: column names, row count, sample values.</a:t>
            </a:r>
            <a:endParaRPr lang="en-US" sz="950" dirty="0"/>
          </a:p>
        </p:txBody>
      </p:sp>
      <p:sp>
        <p:nvSpPr>
          <p:cNvPr id="16" name="Shape 14"/>
          <p:cNvSpPr/>
          <p:nvPr/>
        </p:nvSpPr>
        <p:spPr>
          <a:xfrm>
            <a:off x="502920" y="2404872"/>
            <a:ext cx="365760" cy="457200"/>
          </a:xfrm>
          <a:prstGeom prst="rect">
            <a:avLst/>
          </a:prstGeom>
          <a:solidFill>
            <a:srgbClr val="0097A7"/>
          </a:solidFill>
          <a:ln/>
        </p:spPr>
        <p:txBody>
          <a:bodyPr/>
          <a:lstStyle/>
          <a:p>
            <a:endParaRPr lang="en-US"/>
          </a:p>
        </p:txBody>
      </p:sp>
      <p:sp>
        <p:nvSpPr>
          <p:cNvPr id="17" name="Text 15"/>
          <p:cNvSpPr/>
          <p:nvPr/>
        </p:nvSpPr>
        <p:spPr>
          <a:xfrm>
            <a:off x="502920" y="2404872"/>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Shape 16"/>
          <p:cNvSpPr/>
          <p:nvPr/>
        </p:nvSpPr>
        <p:spPr>
          <a:xfrm>
            <a:off x="868680" y="2404872"/>
            <a:ext cx="1828800" cy="457200"/>
          </a:xfrm>
          <a:prstGeom prst="rect">
            <a:avLst/>
          </a:prstGeom>
          <a:solidFill>
            <a:srgbClr val="1B2A4A"/>
          </a:solidFill>
          <a:ln/>
        </p:spPr>
        <p:txBody>
          <a:bodyPr/>
          <a:lstStyle/>
          <a:p>
            <a:endParaRPr lang="en-US"/>
          </a:p>
        </p:txBody>
      </p:sp>
      <p:sp>
        <p:nvSpPr>
          <p:cNvPr id="19" name="Text 17"/>
          <p:cNvSpPr/>
          <p:nvPr/>
        </p:nvSpPr>
        <p:spPr>
          <a:xfrm>
            <a:off x="941832" y="2404872"/>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inspect_columns(doc_id)</a:t>
            </a:r>
            <a:endParaRPr lang="en-US" sz="850" dirty="0"/>
          </a:p>
        </p:txBody>
      </p:sp>
      <p:sp>
        <p:nvSpPr>
          <p:cNvPr id="20" name="Shape 18"/>
          <p:cNvSpPr/>
          <p:nvPr/>
        </p:nvSpPr>
        <p:spPr>
          <a:xfrm>
            <a:off x="2697480" y="2404872"/>
            <a:ext cx="5943600" cy="45720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34640" y="2404872"/>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Deep column inspection. Identify numeric, categorical, date columns.</a:t>
            </a:r>
            <a:endParaRPr lang="en-US" sz="950" dirty="0"/>
          </a:p>
        </p:txBody>
      </p:sp>
      <p:sp>
        <p:nvSpPr>
          <p:cNvPr id="22" name="Shape 20"/>
          <p:cNvSpPr/>
          <p:nvPr/>
        </p:nvSpPr>
        <p:spPr>
          <a:xfrm>
            <a:off x="502920" y="2898648"/>
            <a:ext cx="365760" cy="457200"/>
          </a:xfrm>
          <a:prstGeom prst="rect">
            <a:avLst/>
          </a:prstGeom>
          <a:solidFill>
            <a:srgbClr val="0097A7"/>
          </a:solidFill>
          <a:ln/>
        </p:spPr>
        <p:txBody>
          <a:bodyPr/>
          <a:lstStyle/>
          <a:p>
            <a:endParaRPr lang="en-US"/>
          </a:p>
        </p:txBody>
      </p:sp>
      <p:sp>
        <p:nvSpPr>
          <p:cNvPr id="23" name="Text 21"/>
          <p:cNvSpPr/>
          <p:nvPr/>
        </p:nvSpPr>
        <p:spPr>
          <a:xfrm>
            <a:off x="502920" y="2898648"/>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Shape 22"/>
          <p:cNvSpPr/>
          <p:nvPr/>
        </p:nvSpPr>
        <p:spPr>
          <a:xfrm>
            <a:off x="868680" y="2898648"/>
            <a:ext cx="1828800" cy="457200"/>
          </a:xfrm>
          <a:prstGeom prst="rect">
            <a:avLst/>
          </a:prstGeom>
          <a:solidFill>
            <a:srgbClr val="1B2A4A"/>
          </a:solidFill>
          <a:ln/>
        </p:spPr>
        <p:txBody>
          <a:bodyPr/>
          <a:lstStyle/>
          <a:p>
            <a:endParaRPr lang="en-US"/>
          </a:p>
        </p:txBody>
      </p:sp>
      <p:sp>
        <p:nvSpPr>
          <p:cNvPr id="25" name="Text 23"/>
          <p:cNvSpPr/>
          <p:nvPr/>
        </p:nvSpPr>
        <p:spPr>
          <a:xfrm>
            <a:off x="941832" y="2898648"/>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_build_data_analyst_code()</a:t>
            </a:r>
            <a:endParaRPr lang="en-US" sz="850" dirty="0"/>
          </a:p>
        </p:txBody>
      </p:sp>
      <p:sp>
        <p:nvSpPr>
          <p:cNvPr id="26" name="Shape 24"/>
          <p:cNvSpPr/>
          <p:nvPr/>
        </p:nvSpPr>
        <p:spPr>
          <a:xfrm>
            <a:off x="2697480" y="2898648"/>
            <a:ext cx="5943600" cy="45720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834640" y="2898648"/>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Heuristic code generator: detects column names like 'region', 'annual_spend_usd', 'risk_score' and emits appropriate pandas code. If multi-file, generates merge + analysis.</a:t>
            </a:r>
            <a:endParaRPr lang="en-US" sz="950" dirty="0"/>
          </a:p>
        </p:txBody>
      </p:sp>
      <p:sp>
        <p:nvSpPr>
          <p:cNvPr id="28" name="Shape 26"/>
          <p:cNvSpPr/>
          <p:nvPr/>
        </p:nvSpPr>
        <p:spPr>
          <a:xfrm>
            <a:off x="502920" y="3392424"/>
            <a:ext cx="365760" cy="457200"/>
          </a:xfrm>
          <a:prstGeom prst="rect">
            <a:avLst/>
          </a:prstGeom>
          <a:solidFill>
            <a:srgbClr val="0097A7"/>
          </a:solidFill>
          <a:ln/>
        </p:spPr>
        <p:txBody>
          <a:bodyPr/>
          <a:lstStyle/>
          <a:p>
            <a:endParaRPr lang="en-US"/>
          </a:p>
        </p:txBody>
      </p:sp>
      <p:sp>
        <p:nvSpPr>
          <p:cNvPr id="29" name="Text 27"/>
          <p:cNvSpPr/>
          <p:nvPr/>
        </p:nvSpPr>
        <p:spPr>
          <a:xfrm>
            <a:off x="502920" y="3392424"/>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Shape 28"/>
          <p:cNvSpPr/>
          <p:nvPr/>
        </p:nvSpPr>
        <p:spPr>
          <a:xfrm>
            <a:off x="868680" y="3392424"/>
            <a:ext cx="1828800" cy="457200"/>
          </a:xfrm>
          <a:prstGeom prst="rect">
            <a:avLst/>
          </a:prstGeom>
          <a:solidFill>
            <a:srgbClr val="1B2A4A"/>
          </a:solidFill>
          <a:ln/>
        </p:spPr>
        <p:txBody>
          <a:bodyPr/>
          <a:lstStyle/>
          <a:p>
            <a:endParaRPr lang="en-US"/>
          </a:p>
        </p:txBody>
      </p:sp>
      <p:sp>
        <p:nvSpPr>
          <p:cNvPr id="31" name="Text 29"/>
          <p:cNvSpPr/>
          <p:nvPr/>
        </p:nvSpPr>
        <p:spPr>
          <a:xfrm>
            <a:off x="941832" y="3392424"/>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execute_code(code)</a:t>
            </a:r>
            <a:endParaRPr lang="en-US" sz="850" dirty="0"/>
          </a:p>
        </p:txBody>
      </p:sp>
      <p:sp>
        <p:nvSpPr>
          <p:cNvPr id="32" name="Shape 30"/>
          <p:cNvSpPr/>
          <p:nvPr/>
        </p:nvSpPr>
        <p:spPr>
          <a:xfrm>
            <a:off x="2697480" y="3392424"/>
            <a:ext cx="5943600" cy="45720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34640" y="3392424"/>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 generated code in Docker sandbox. stdout → final answer. stderr → error message.</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_run_data_analyst_guided_fallback(), _build_data_analyst_code(), _data_analyst_fallback_enabled()</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8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Task Planning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TaskSpec + DAG execution + smart fallback plan building</a:t>
            </a:r>
            <a:endParaRPr lang="en-US" sz="1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TaskSpec + Task DAG — Dependency-Aware Execution</a:t>
            </a:r>
            <a:endParaRPr lang="en-US" sz="2600" dirty="0"/>
          </a:p>
        </p:txBody>
      </p:sp>
      <p:sp>
        <p:nvSpPr>
          <p:cNvPr id="3" name="Shape 1"/>
          <p:cNvSpPr/>
          <p:nvPr/>
        </p:nvSpPr>
        <p:spPr>
          <a:xfrm>
            <a:off x="502920" y="91440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TaskSpec Fields</a:t>
            </a:r>
            <a:endParaRPr lang="en-US" sz="1200" dirty="0"/>
          </a:p>
        </p:txBody>
      </p:sp>
      <p:sp>
        <p:nvSpPr>
          <p:cNvPr id="6" name="Text 4"/>
          <p:cNvSpPr/>
          <p:nvPr/>
        </p:nvSpPr>
        <p:spPr>
          <a:xfrm>
            <a:off x="612648" y="129844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id, title, executor (rag_worker|utility|data_analyst|general)
mode: 'sequential' | 'parallel'
depends_on: [task_ids] — DAG dependency list
produces_artifacts: ['analysis_summary', 'doc_focus'...]
consumes_artifacts: ['analysis_summary'...]
research_profile, coverage_goal, result_mode, controller_hints</a:t>
            </a:r>
            <a:endParaRPr lang="en-US" sz="1000" dirty="0"/>
          </a:p>
        </p:txBody>
      </p:sp>
      <p:sp>
        <p:nvSpPr>
          <p:cNvPr id="7" name="Shape 5"/>
          <p:cNvSpPr/>
          <p:nvPr/>
        </p:nvSpPr>
        <p:spPr>
          <a:xfrm>
            <a:off x="4754880" y="91440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14400"/>
            <a:ext cx="3931920" cy="320040"/>
          </a:xfrm>
          <a:prstGeom prst="rect">
            <a:avLst/>
          </a:prstGeom>
          <a:solidFill>
            <a:srgbClr val="1B2A4A"/>
          </a:solidFill>
          <a:ln/>
        </p:spPr>
        <p:txBody>
          <a:bodyPr/>
          <a:lstStyle/>
          <a:p>
            <a:endParaRPr lang="en-US"/>
          </a:p>
        </p:txBody>
      </p:sp>
      <p:sp>
        <p:nvSpPr>
          <p:cNvPr id="9" name="Text 7"/>
          <p:cNvSpPr/>
          <p:nvPr/>
        </p:nvSpPr>
        <p:spPr>
          <a:xfrm>
            <a:off x="4864608" y="94183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select_execution_batch() Logic</a:t>
            </a:r>
            <a:endParaRPr lang="en-US" sz="1200" dirty="0"/>
          </a:p>
        </p:txBody>
      </p:sp>
      <p:sp>
        <p:nvSpPr>
          <p:cNvPr id="10" name="Text 8"/>
          <p:cNvSpPr/>
          <p:nvPr/>
        </p:nvSpPr>
        <p:spPr>
          <a:xfrm>
            <a:off x="4864608" y="129844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Looks at task_plan + task_results: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Skip tasks already attempted
2. Skip tasks whose depends_on are NOT in completed set
3. If first ready task is mode='sequential' → return [it alone]
4. If mode='parallel' → gather all consecutive parallel tasks → run as batch</a:t>
            </a:r>
            <a:endParaRPr lang="en-US" sz="1000" dirty="0"/>
          </a:p>
        </p:txBody>
      </p:sp>
      <p:sp>
        <p:nvSpPr>
          <p:cNvPr id="11" name="Shape 9"/>
          <p:cNvSpPr/>
          <p:nvPr/>
        </p:nvSpPr>
        <p:spPr>
          <a:xfrm>
            <a:off x="502920" y="2880360"/>
            <a:ext cx="8138160" cy="822960"/>
          </a:xfrm>
          <a:prstGeom prst="rect">
            <a:avLst/>
          </a:prstGeom>
          <a:solidFill>
            <a:srgbClr val="2D2D2D"/>
          </a:solidFill>
          <a:ln/>
        </p:spPr>
        <p:txBody>
          <a:bodyPr/>
          <a:lstStyle/>
          <a:p>
            <a:endParaRPr lang="en-US"/>
          </a:p>
        </p:txBody>
      </p:sp>
      <p:sp>
        <p:nvSpPr>
          <p:cNvPr id="12" name="Text 10"/>
          <p:cNvSpPr/>
          <p:nvPr/>
        </p:nvSpPr>
        <p:spPr>
          <a:xfrm>
            <a:off x="612648" y="2935224"/>
            <a:ext cx="791870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 Plan Example: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task_1: executor=data_analyst, mode=sequential, produces=[analysis_summary,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task_2: executor=rag_worker,   mode=sequential, depends_on=[task_1], consumes=[analysis_summary,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task_3: executor=rag_worker,   mode=parallel,   depends_on=[]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task_4: executor=rag_worker,   mode=parallel,   depends_on=[]</a:t>
            </a:r>
            <a:endParaRPr lang="en-US" sz="9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TaskSpec, select_execution_batch(), normalise_task_plan()</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build_fallback_plan() — Intelligent Automatic Task Generation</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planner LLM produces a bad or empty plan, build_fallback_plan() generates a sensible plan from the query alone:</a:t>
            </a:r>
            <a:endParaRPr lang="en-US" sz="1100" dirty="0"/>
          </a:p>
        </p:txBody>
      </p:sp>
      <p:sp>
        <p:nvSpPr>
          <p:cNvPr id="4" name="Shape 2"/>
          <p:cNvSpPr/>
          <p:nvPr/>
        </p:nvSpPr>
        <p:spPr>
          <a:xfrm>
            <a:off x="502920" y="1234440"/>
            <a:ext cx="2286000" cy="658368"/>
          </a:xfrm>
          <a:prstGeom prst="rect">
            <a:avLst/>
          </a:prstGeom>
          <a:solidFill>
            <a:srgbClr val="F9A825"/>
          </a:solidFill>
          <a:ln/>
        </p:spPr>
        <p:txBody>
          <a:bodyPr/>
          <a:lstStyle/>
          <a:p>
            <a:endParaRPr lang="en-US"/>
          </a:p>
        </p:txBody>
      </p:sp>
      <p:sp>
        <p:nvSpPr>
          <p:cNvPr id="5" name="Text 3"/>
          <p:cNvSpPr/>
          <p:nvPr/>
        </p:nvSpPr>
        <p:spPr>
          <a:xfrm>
            <a:off x="576072" y="1234440"/>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mentions CSV + KB</a:t>
            </a:r>
            <a:endParaRPr lang="en-US" sz="950" dirty="0"/>
          </a:p>
        </p:txBody>
      </p:sp>
      <p:sp>
        <p:nvSpPr>
          <p:cNvPr id="6" name="Shape 4"/>
          <p:cNvSpPr/>
          <p:nvPr/>
        </p:nvSpPr>
        <p:spPr>
          <a:xfrm>
            <a:off x="2788920" y="1234440"/>
            <a:ext cx="585216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1234440"/>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data_analyst analyzes data, produces [analysis_summary, entity_candidates, keyword_windows]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uses handoff artifacts to search KB</a:t>
            </a:r>
            <a:endParaRPr lang="en-US" sz="950" dirty="0"/>
          </a:p>
        </p:txBody>
      </p:sp>
      <p:sp>
        <p:nvSpPr>
          <p:cNvPr id="8" name="Shape 6"/>
          <p:cNvSpPr/>
          <p:nvPr/>
        </p:nvSpPr>
        <p:spPr>
          <a:xfrm>
            <a:off x="502920" y="1929384"/>
            <a:ext cx="2286000" cy="658368"/>
          </a:xfrm>
          <a:prstGeom prst="rect">
            <a:avLst/>
          </a:prstGeom>
          <a:solidFill>
            <a:srgbClr val="0097A7"/>
          </a:solidFill>
          <a:ln/>
        </p:spPr>
        <p:txBody>
          <a:bodyPr/>
          <a:lstStyle/>
          <a:p>
            <a:endParaRPr lang="en-US"/>
          </a:p>
        </p:txBody>
      </p:sp>
      <p:sp>
        <p:nvSpPr>
          <p:cNvPr id="9" name="Text 7"/>
          <p:cNvSpPr/>
          <p:nvPr/>
        </p:nvSpPr>
        <p:spPr>
          <a:xfrm>
            <a:off x="576072" y="1929384"/>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'compare doc A vs doc B'</a:t>
            </a:r>
            <a:endParaRPr lang="en-US" sz="950" dirty="0"/>
          </a:p>
        </p:txBody>
      </p:sp>
      <p:sp>
        <p:nvSpPr>
          <p:cNvPr id="10" name="Shape 8"/>
          <p:cNvSpPr/>
          <p:nvPr/>
        </p:nvSpPr>
        <p:spPr>
          <a:xfrm>
            <a:off x="2788920" y="1929384"/>
            <a:ext cx="585216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926080" y="1929384"/>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(parallel): rag_worker analyzes doc A</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(parallel): rag_worker analyzes doc B</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(both run simultaneously)</a:t>
            </a:r>
            <a:endParaRPr lang="en-US" sz="950" dirty="0"/>
          </a:p>
        </p:txBody>
      </p:sp>
      <p:sp>
        <p:nvSpPr>
          <p:cNvPr id="12" name="Shape 10"/>
          <p:cNvSpPr/>
          <p:nvPr/>
        </p:nvSpPr>
        <p:spPr>
          <a:xfrm>
            <a:off x="502920" y="2624328"/>
            <a:ext cx="2286000" cy="658368"/>
          </a:xfrm>
          <a:prstGeom prst="rect">
            <a:avLst/>
          </a:prstGeom>
          <a:solidFill>
            <a:srgbClr val="1B2A4A"/>
          </a:solidFill>
          <a:ln/>
        </p:spPr>
        <p:txBody>
          <a:bodyPr/>
          <a:lstStyle/>
          <a:p>
            <a:endParaRPr lang="en-US"/>
          </a:p>
        </p:txBody>
      </p:sp>
      <p:sp>
        <p:nvSpPr>
          <p:cNvPr id="13" name="Text 11"/>
          <p:cNvSpPr/>
          <p:nvPr/>
        </p:nvSpPr>
        <p:spPr>
          <a:xfrm>
            <a:off x="576072" y="2624328"/>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documents about X'</a:t>
            </a:r>
            <a:endParaRPr lang="en-US" sz="950" dirty="0"/>
          </a:p>
        </p:txBody>
      </p:sp>
      <p:sp>
        <p:nvSpPr>
          <p:cNvPr id="14" name="Shape 12"/>
          <p:cNvSpPr/>
          <p:nvPr/>
        </p:nvSpPr>
        <p:spPr>
          <a:xfrm>
            <a:off x="2788920" y="2624328"/>
            <a:ext cx="585216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926080" y="2624328"/>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broad semantic discovery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keyword + heading sweep</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 optional task_3: process-flow detection)</a:t>
            </a:r>
            <a:endParaRPr lang="en-US" sz="950" dirty="0"/>
          </a:p>
        </p:txBody>
      </p:sp>
      <p:sp>
        <p:nvSpPr>
          <p:cNvPr id="16" name="Shape 14"/>
          <p:cNvSpPr/>
          <p:nvPr/>
        </p:nvSpPr>
        <p:spPr>
          <a:xfrm>
            <a:off x="502920" y="3319272"/>
            <a:ext cx="2286000" cy="658368"/>
          </a:xfrm>
          <a:prstGeom prst="rect">
            <a:avLst/>
          </a:prstGeom>
          <a:solidFill>
            <a:srgbClr val="00796B"/>
          </a:solidFill>
          <a:ln/>
        </p:spPr>
        <p:txBody>
          <a:bodyPr/>
          <a:lstStyle/>
          <a:p>
            <a:endParaRPr lang="en-US"/>
          </a:p>
        </p:txBody>
      </p:sp>
      <p:sp>
        <p:nvSpPr>
          <p:cNvPr id="17" name="Text 15"/>
          <p:cNvSpPr/>
          <p:nvPr/>
        </p:nvSpPr>
        <p:spPr>
          <a:xfrm>
            <a:off x="576072" y="3319272"/>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docs + workbooks'</a:t>
            </a:r>
            <a:endParaRPr lang="en-US" sz="950" dirty="0"/>
          </a:p>
        </p:txBody>
      </p:sp>
      <p:sp>
        <p:nvSpPr>
          <p:cNvPr id="18" name="Shape 16"/>
          <p:cNvSpPr/>
          <p:nvPr/>
        </p:nvSpPr>
        <p:spPr>
          <a:xfrm>
            <a:off x="2788920" y="3319272"/>
            <a:ext cx="585216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926080" y="3319272"/>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discovers docs, produces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data_analyst inspects workbooks using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task_3: rag_worker synthesizes from handoff artifacts</a:t>
            </a:r>
            <a:endParaRPr lang="en-US" sz="950" dirty="0"/>
          </a:p>
        </p:txBody>
      </p:sp>
      <p:sp>
        <p:nvSpPr>
          <p:cNvPr id="20" name="Shape 18"/>
          <p:cNvSpPr/>
          <p:nvPr/>
        </p:nvSpPr>
        <p:spPr>
          <a:xfrm>
            <a:off x="502920" y="4014216"/>
            <a:ext cx="2286000" cy="658368"/>
          </a:xfrm>
          <a:prstGeom prst="rect">
            <a:avLst/>
          </a:prstGeom>
          <a:solidFill>
            <a:srgbClr val="5C6BC0"/>
          </a:solidFill>
          <a:ln/>
        </p:spPr>
        <p:txBody>
          <a:bodyPr/>
          <a:lstStyle/>
          <a:p>
            <a:endParaRPr lang="en-US"/>
          </a:p>
        </p:txBody>
      </p:sp>
      <p:sp>
        <p:nvSpPr>
          <p:cNvPr id="21" name="Text 19"/>
          <p:cNvSpPr/>
          <p:nvPr/>
        </p:nvSpPr>
        <p:spPr>
          <a:xfrm>
            <a:off x="576072" y="4014216"/>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Everything else</a:t>
            </a:r>
            <a:endParaRPr lang="en-US" sz="950" dirty="0"/>
          </a:p>
        </p:txBody>
      </p:sp>
      <p:sp>
        <p:nvSpPr>
          <p:cNvPr id="22" name="Shape 20"/>
          <p:cNvSpPr/>
          <p:nvPr/>
        </p:nvSpPr>
        <p:spPr>
          <a:xfrm>
            <a:off x="2788920" y="4014216"/>
            <a:ext cx="5852160" cy="65836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926080" y="4014216"/>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_infer_executor(query) picks data_analyst / rag_worker / utility / general from keyword signals. Single-task plan.</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build_fallback_plan(), _infer_executor(), _is_document_research_campaign()</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Defense Corpus — RAG Quality Benchmarking System</a:t>
            </a:r>
            <a:endParaRPr lang="en-US" sz="2600" dirty="0"/>
          </a:p>
        </p:txBody>
      </p:sp>
      <p:sp>
        <p:nvSpPr>
          <p:cNvPr id="3" name="Shape 1"/>
          <p:cNvSpPr/>
          <p:nvPr/>
        </p:nvSpPr>
        <p:spPr>
          <a:xfrm>
            <a:off x="502920" y="960120"/>
            <a:ext cx="384048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benchmark/defense_corpus.py</a:t>
            </a:r>
            <a:endParaRPr lang="en-US" sz="1200" dirty="0"/>
          </a:p>
        </p:txBody>
      </p:sp>
      <p:sp>
        <p:nvSpPr>
          <p:cNvPr id="6" name="Text 4"/>
          <p:cNvSpPr/>
          <p:nvPr/>
        </p:nvSpPr>
        <p:spPr>
          <a:xfrm>
            <a:off x="612648" y="1344168"/>
            <a:ext cx="362102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Dedicated test corpus for RAG accuracy evaluation.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DefenseBenchmarkQuestion: question_id, difficulty, question_text, expected_answer, source_documents, supporting_references.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DEFENSE_COLLECTION_ID = 'defense-rag-test'
Tests authority version detection: 'current', 'approved', 'final'
Tests entity disambiguation: similar-sounding company/product names</a:t>
            </a:r>
            <a:endParaRPr lang="en-US" sz="1000" dirty="0"/>
          </a:p>
        </p:txBody>
      </p:sp>
      <p:sp>
        <p:nvSpPr>
          <p:cNvPr id="7" name="Shape 5"/>
          <p:cNvSpPr/>
          <p:nvPr/>
        </p:nvSpPr>
        <p:spPr>
          <a:xfrm>
            <a:off x="4754880" y="960120"/>
            <a:ext cx="393192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DefenseBenchmarkResult</a:t>
            </a:r>
            <a:endParaRPr lang="en-US" sz="1200" dirty="0"/>
          </a:p>
        </p:txBody>
      </p:sp>
      <p:sp>
        <p:nvSpPr>
          <p:cNvPr id="10" name="Text 8"/>
          <p:cNvSpPr/>
          <p:nvPr/>
        </p:nvSpPr>
        <p:spPr>
          <a:xfrm>
            <a:off x="4864608" y="1344168"/>
            <a:ext cx="371246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Per-question evaluation metrics: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answer_correct — does the answer match expected?
✓ citation_present — did the system cite a source?
✓ citation_source_match — does the citation match source_documents?
✓ authority_version_correct — did the system cite the LATEST version?
diagnostics[] — list of failure reasons for debugging</a:t>
            </a:r>
            <a:endParaRPr lang="en-US" sz="1000" dirty="0"/>
          </a:p>
        </p:txBody>
      </p:sp>
      <p:sp>
        <p:nvSpPr>
          <p:cNvPr id="11" name="Shape 9"/>
          <p:cNvSpPr/>
          <p:nvPr/>
        </p:nvSpPr>
        <p:spPr>
          <a:xfrm>
            <a:off x="502920" y="3364992"/>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364992"/>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Two key adversarial test categories: AUTHORITY (does the system return the latest/approved version of a doc?) and ENTITY CONFUSION (does it distinguish 'North Coast Systems LLC' from 'Northcoast Signal Labs'?). These catch the most common RAG failure modes in enterprise settings.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benchmark/__init__.py, benchmark/defense_corpus.py</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9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Handoff Artifact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runtime/artifacts.py — typed data passed between coordinator workers</a:t>
            </a:r>
            <a:endParaRPr lang="en-US" sz="16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Handoff Artifacts — Typed Worker-to-Worker Data Pipeline</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runtime/artifacts.py defines two kinds of artifacts. Workspace artifacts = files an agent produced (download://). Handoff artifacts = structured data passed between coordinator workers (handoff://).</a:t>
            </a:r>
            <a:endParaRPr lang="en-US" sz="1050" dirty="0"/>
          </a:p>
        </p:txBody>
      </p:sp>
      <p:sp>
        <p:nvSpPr>
          <p:cNvPr id="4" name="Shape 2"/>
          <p:cNvSpPr/>
          <p:nvPr/>
        </p:nvSpPr>
        <p:spPr>
          <a:xfrm>
            <a:off x="502920" y="1353312"/>
            <a:ext cx="2011680" cy="256032"/>
          </a:xfrm>
          <a:prstGeom prst="rect">
            <a:avLst/>
          </a:prstGeom>
          <a:solidFill>
            <a:srgbClr val="1B2A4A"/>
          </a:solidFill>
          <a:ln/>
        </p:spPr>
        <p:txBody>
          <a:bodyPr/>
          <a:lstStyle/>
          <a:p>
            <a:endParaRPr lang="en-US"/>
          </a:p>
        </p:txBody>
      </p:sp>
      <p:sp>
        <p:nvSpPr>
          <p:cNvPr id="5" name="Text 3"/>
          <p:cNvSpPr/>
          <p:nvPr/>
        </p:nvSpPr>
        <p:spPr>
          <a:xfrm>
            <a:off x="548640" y="1353312"/>
            <a:ext cx="1920240" cy="256032"/>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artifact_type</a:t>
            </a:r>
            <a:endParaRPr lang="en-US" sz="950" dirty="0"/>
          </a:p>
        </p:txBody>
      </p:sp>
      <p:sp>
        <p:nvSpPr>
          <p:cNvPr id="6" name="Shape 4"/>
          <p:cNvSpPr/>
          <p:nvPr/>
        </p:nvSpPr>
        <p:spPr>
          <a:xfrm>
            <a:off x="2514600" y="1353312"/>
            <a:ext cx="3017520" cy="256032"/>
          </a:xfrm>
          <a:prstGeom prst="rect">
            <a:avLst/>
          </a:prstGeom>
          <a:solidFill>
            <a:srgbClr val="1B2A4A"/>
          </a:solidFill>
          <a:ln/>
        </p:spPr>
        <p:txBody>
          <a:bodyPr/>
          <a:lstStyle/>
          <a:p>
            <a:endParaRPr lang="en-US"/>
          </a:p>
        </p:txBody>
      </p:sp>
      <p:sp>
        <p:nvSpPr>
          <p:cNvPr id="7" name="Text 5"/>
          <p:cNvSpPr/>
          <p:nvPr/>
        </p:nvSpPr>
        <p:spPr>
          <a:xfrm>
            <a:off x="2560320" y="1353312"/>
            <a:ext cx="292608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required schema keys</a:t>
            </a:r>
            <a:endParaRPr lang="en-US" sz="950" dirty="0"/>
          </a:p>
        </p:txBody>
      </p:sp>
      <p:sp>
        <p:nvSpPr>
          <p:cNvPr id="8" name="Shape 6"/>
          <p:cNvSpPr/>
          <p:nvPr/>
        </p:nvSpPr>
        <p:spPr>
          <a:xfrm>
            <a:off x="5532120" y="1353312"/>
            <a:ext cx="3611880" cy="256032"/>
          </a:xfrm>
          <a:prstGeom prst="rect">
            <a:avLst/>
          </a:prstGeom>
          <a:solidFill>
            <a:srgbClr val="1B2A4A"/>
          </a:solidFill>
          <a:ln/>
        </p:spPr>
        <p:txBody>
          <a:bodyPr/>
          <a:lstStyle/>
          <a:p>
            <a:endParaRPr lang="en-US"/>
          </a:p>
        </p:txBody>
      </p:sp>
      <p:sp>
        <p:nvSpPr>
          <p:cNvPr id="9" name="Text 7"/>
          <p:cNvSpPr/>
          <p:nvPr/>
        </p:nvSpPr>
        <p:spPr>
          <a:xfrm>
            <a:off x="5577840" y="1353312"/>
            <a:ext cx="347472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allowed_consumers</a:t>
            </a:r>
            <a:endParaRPr lang="en-US" sz="950" dirty="0"/>
          </a:p>
        </p:txBody>
      </p:sp>
      <p:sp>
        <p:nvSpPr>
          <p:cNvPr id="10" name="Shape 8"/>
          <p:cNvSpPr/>
          <p:nvPr/>
        </p:nvSpPr>
        <p:spPr>
          <a:xfrm>
            <a:off x="502920" y="1609344"/>
            <a:ext cx="2011680" cy="34747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76072" y="16093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analysis_summary</a:t>
            </a:r>
            <a:endParaRPr lang="en-US" sz="900" dirty="0"/>
          </a:p>
        </p:txBody>
      </p:sp>
      <p:sp>
        <p:nvSpPr>
          <p:cNvPr id="12" name="Shape 10"/>
          <p:cNvSpPr/>
          <p:nvPr/>
        </p:nvSpPr>
        <p:spPr>
          <a:xfrm>
            <a:off x="2514600" y="1609344"/>
            <a:ext cx="3017520" cy="34747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560320" y="16093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 highlights[], keywords[]}</a:t>
            </a:r>
            <a:endParaRPr lang="en-US" sz="850" dirty="0"/>
          </a:p>
        </p:txBody>
      </p:sp>
      <p:sp>
        <p:nvSpPr>
          <p:cNvPr id="14" name="Shape 12"/>
          <p:cNvSpPr/>
          <p:nvPr/>
        </p:nvSpPr>
        <p:spPr>
          <a:xfrm>
            <a:off x="5532120" y="1609344"/>
            <a:ext cx="361188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577840" y="16093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general, rag_worker, finalizer, coordinator</a:t>
            </a:r>
            <a:endParaRPr lang="en-US" sz="900" dirty="0"/>
          </a:p>
        </p:txBody>
      </p:sp>
      <p:sp>
        <p:nvSpPr>
          <p:cNvPr id="16" name="Shape 14"/>
          <p:cNvSpPr/>
          <p:nvPr/>
        </p:nvSpPr>
        <p:spPr>
          <a:xfrm>
            <a:off x="502920" y="1975104"/>
            <a:ext cx="2011680" cy="34747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76072" y="197510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entity_candidates</a:t>
            </a:r>
            <a:endParaRPr lang="en-US" sz="900" dirty="0"/>
          </a:p>
        </p:txBody>
      </p:sp>
      <p:sp>
        <p:nvSpPr>
          <p:cNvPr id="18" name="Shape 16"/>
          <p:cNvSpPr/>
          <p:nvPr/>
        </p:nvSpPr>
        <p:spPr>
          <a:xfrm>
            <a:off x="2514600" y="1975104"/>
            <a:ext cx="301752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560320" y="197510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{entities[], summary}</a:t>
            </a:r>
            <a:endParaRPr lang="en-US" sz="850" dirty="0"/>
          </a:p>
        </p:txBody>
      </p:sp>
      <p:sp>
        <p:nvSpPr>
          <p:cNvPr id="20" name="Shape 18"/>
          <p:cNvSpPr/>
          <p:nvPr/>
        </p:nvSpPr>
        <p:spPr>
          <a:xfrm>
            <a:off x="5532120" y="1975104"/>
            <a:ext cx="3611880" cy="347472"/>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5577840" y="197510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2" name="Shape 20"/>
          <p:cNvSpPr/>
          <p:nvPr/>
        </p:nvSpPr>
        <p:spPr>
          <a:xfrm>
            <a:off x="502920" y="2340864"/>
            <a:ext cx="20116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76072" y="234086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keyword_windows</a:t>
            </a:r>
            <a:endParaRPr lang="en-US" sz="900" dirty="0"/>
          </a:p>
        </p:txBody>
      </p:sp>
      <p:sp>
        <p:nvSpPr>
          <p:cNvPr id="24" name="Shape 22"/>
          <p:cNvSpPr/>
          <p:nvPr/>
        </p:nvSpPr>
        <p:spPr>
          <a:xfrm>
            <a:off x="2514600" y="2340864"/>
            <a:ext cx="301752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560320" y="234086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{keywords[], windows[{keyword, excerpt}]}</a:t>
            </a:r>
            <a:endParaRPr lang="en-US" sz="850" dirty="0"/>
          </a:p>
        </p:txBody>
      </p:sp>
      <p:sp>
        <p:nvSpPr>
          <p:cNvPr id="26" name="Shape 24"/>
          <p:cNvSpPr/>
          <p:nvPr/>
        </p:nvSpPr>
        <p:spPr>
          <a:xfrm>
            <a:off x="5532120" y="2340864"/>
            <a:ext cx="36118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5577840" y="234086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8" name="Shape 26"/>
          <p:cNvSpPr/>
          <p:nvPr/>
        </p:nvSpPr>
        <p:spPr>
          <a:xfrm>
            <a:off x="502920" y="2706624"/>
            <a:ext cx="2011680" cy="34747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76072" y="270662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doc_focus</a:t>
            </a:r>
            <a:endParaRPr lang="en-US" sz="900" dirty="0"/>
          </a:p>
        </p:txBody>
      </p:sp>
      <p:sp>
        <p:nvSpPr>
          <p:cNvPr id="30" name="Shape 28"/>
          <p:cNvSpPr/>
          <p:nvPr/>
        </p:nvSpPr>
        <p:spPr>
          <a:xfrm>
            <a:off x="2514600" y="2706624"/>
            <a:ext cx="3017520" cy="34747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560320" y="270662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{documents[{doc_id, title, reason}]}</a:t>
            </a:r>
            <a:endParaRPr lang="en-US" sz="850" dirty="0"/>
          </a:p>
        </p:txBody>
      </p:sp>
      <p:sp>
        <p:nvSpPr>
          <p:cNvPr id="32" name="Shape 30"/>
          <p:cNvSpPr/>
          <p:nvPr/>
        </p:nvSpPr>
        <p:spPr>
          <a:xfrm>
            <a:off x="5532120" y="2706624"/>
            <a:ext cx="3611880" cy="347472"/>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577840" y="270662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finalizer, coordinator, data_analyst</a:t>
            </a:r>
            <a:endParaRPr lang="en-US" sz="900" dirty="0"/>
          </a:p>
        </p:txBody>
      </p:sp>
      <p:sp>
        <p:nvSpPr>
          <p:cNvPr id="34" name="Shape 32"/>
          <p:cNvSpPr/>
          <p:nvPr/>
        </p:nvSpPr>
        <p:spPr>
          <a:xfrm>
            <a:off x="502920" y="3072384"/>
            <a:ext cx="2011680" cy="34747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76072" y="307238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evidence_request</a:t>
            </a:r>
            <a:endParaRPr lang="en-US" sz="900" dirty="0"/>
          </a:p>
        </p:txBody>
      </p:sp>
      <p:sp>
        <p:nvSpPr>
          <p:cNvPr id="36" name="Shape 34"/>
          <p:cNvSpPr/>
          <p:nvPr/>
        </p:nvSpPr>
        <p:spPr>
          <a:xfrm>
            <a:off x="2514600" y="3072384"/>
            <a:ext cx="3017520" cy="34747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560320" y="307238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{query}</a:t>
            </a:r>
            <a:endParaRPr lang="en-US" sz="850" dirty="0"/>
          </a:p>
        </p:txBody>
      </p:sp>
      <p:sp>
        <p:nvSpPr>
          <p:cNvPr id="38" name="Shape 36"/>
          <p:cNvSpPr/>
          <p:nvPr/>
        </p:nvSpPr>
        <p:spPr>
          <a:xfrm>
            <a:off x="5532120" y="3072384"/>
            <a:ext cx="3611880" cy="347472"/>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5577840" y="307238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40" name="Shape 38"/>
          <p:cNvSpPr/>
          <p:nvPr/>
        </p:nvSpPr>
        <p:spPr>
          <a:xfrm>
            <a:off x="502920" y="3438144"/>
            <a:ext cx="2011680" cy="34747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6072" y="34381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evidence_response</a:t>
            </a:r>
            <a:endParaRPr lang="en-US" sz="900" dirty="0"/>
          </a:p>
        </p:txBody>
      </p:sp>
      <p:sp>
        <p:nvSpPr>
          <p:cNvPr id="42" name="Shape 40"/>
          <p:cNvSpPr/>
          <p:nvPr/>
        </p:nvSpPr>
        <p:spPr>
          <a:xfrm>
            <a:off x="2514600" y="3438144"/>
            <a:ext cx="3017520" cy="34747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560320" y="34381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a:t>
            </a:r>
            <a:endParaRPr lang="en-US" sz="850" dirty="0"/>
          </a:p>
        </p:txBody>
      </p:sp>
      <p:sp>
        <p:nvSpPr>
          <p:cNvPr id="44" name="Shape 42"/>
          <p:cNvSpPr/>
          <p:nvPr/>
        </p:nvSpPr>
        <p:spPr>
          <a:xfrm>
            <a:off x="5532120" y="3438144"/>
            <a:ext cx="3611880" cy="347472"/>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0" y="34381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finalizer, general, coordinator</a:t>
            </a:r>
            <a:endParaRPr lang="en-US" sz="900" dirty="0"/>
          </a:p>
        </p:txBody>
      </p:sp>
      <p:sp>
        <p:nvSpPr>
          <p:cNvPr id="46" name="Shape 44"/>
          <p:cNvSpPr/>
          <p:nvPr/>
        </p:nvSpPr>
        <p:spPr>
          <a:xfrm>
            <a:off x="502920" y="3877056"/>
            <a:ext cx="8138160" cy="411480"/>
          </a:xfrm>
          <a:prstGeom prst="rect">
            <a:avLst/>
          </a:prstGeom>
          <a:solidFill>
            <a:srgbClr val="E0F7FA"/>
          </a:solidFill>
          <a:ln w="12700">
            <a:solidFill>
              <a:srgbClr val="0097A7"/>
            </a:solidFill>
            <a:prstDash val="solid"/>
          </a:ln>
        </p:spPr>
        <p:txBody>
          <a:bodyPr/>
          <a:lstStyle/>
          <a:p>
            <a:endParaRPr lang="en-US"/>
          </a:p>
        </p:txBody>
      </p:sp>
      <p:sp>
        <p:nvSpPr>
          <p:cNvPr id="47" name="Text 45"/>
          <p:cNvSpPr/>
          <p:nvPr/>
        </p:nvSpPr>
        <p:spPr>
          <a:xfrm>
            <a:off x="594360" y="3877056"/>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register_handoff_artifact(session, artifact_type, data, ...) stores in session.metadata. KernelCoordinatorController._prepare_handoff_artifacts() creates artifacts from each TaskResult. Workers call list_handoff_artifacts(session, allowed_consumers=['rag_worker']) to find their inputs.</a:t>
            </a:r>
            <a:endParaRPr lang="en-US" sz="1000" dirty="0"/>
          </a:p>
        </p:txBody>
      </p:sp>
      <p:sp>
        <p:nvSpPr>
          <p:cNvPr id="48" name="Text 4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runtime/artifacts.py — register_handoff_artifact(), list_handoff_artifacts(), runtime/kernel_coordinator.py — _HANDOFF_ALLOWED_CONSUMERS</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9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Features &amp; Architecture Improvements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13 capabilities grounded in code inspection and agentic system best practices — quick wins to advanced roadmap</a:t>
            </a:r>
            <a:endParaRPr lang="en-US" sz="16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5 Quick Wins — Each Achievable in Days</a:t>
            </a:r>
            <a:endParaRPr lang="en-US" sz="2600" dirty="0"/>
          </a:p>
        </p:txBody>
      </p:sp>
      <p:sp>
        <p:nvSpPr>
          <p:cNvPr id="3" name="Text 1"/>
          <p:cNvSpPr/>
          <p:nvPr/>
        </p:nvSpPr>
        <p:spPr>
          <a:xfrm>
            <a:off x="502920" y="841248"/>
            <a:ext cx="8138160" cy="310896"/>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Five high-value gaps that are each self-contained changes to a single file or module. No architectural rework required.</a:t>
            </a:r>
            <a:endParaRPr lang="en-US" sz="1050" dirty="0"/>
          </a:p>
        </p:txBody>
      </p:sp>
      <p:sp>
        <p:nvSpPr>
          <p:cNvPr id="4" name="Shape 2"/>
          <p:cNvSpPr/>
          <p:nvPr/>
        </p:nvSpPr>
        <p:spPr>
          <a:xfrm>
            <a:off x="502920" y="1243584"/>
            <a:ext cx="219456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243584"/>
            <a:ext cx="204825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Feature</a:t>
            </a:r>
            <a:endParaRPr lang="en-US" sz="950" dirty="0"/>
          </a:p>
        </p:txBody>
      </p:sp>
      <p:sp>
        <p:nvSpPr>
          <p:cNvPr id="6" name="Shape 4"/>
          <p:cNvSpPr/>
          <p:nvPr/>
        </p:nvSpPr>
        <p:spPr>
          <a:xfrm>
            <a:off x="2697480" y="1243584"/>
            <a:ext cx="301752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70632" y="1243584"/>
            <a:ext cx="287121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715000" y="1243584"/>
            <a:ext cx="21488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788152" y="1243584"/>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Where to Add It</a:t>
            </a:r>
            <a:endParaRPr lang="en-US" sz="950" dirty="0"/>
          </a:p>
        </p:txBody>
      </p:sp>
      <p:sp>
        <p:nvSpPr>
          <p:cNvPr id="10" name="Shape 8"/>
          <p:cNvSpPr/>
          <p:nvPr/>
        </p:nvSpPr>
        <p:spPr>
          <a:xfrm>
            <a:off x="7863840" y="1243584"/>
            <a:ext cx="77724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936992" y="1243584"/>
            <a:ext cx="6309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Effort</a:t>
            </a:r>
            <a:endParaRPr lang="en-US" sz="950" dirty="0"/>
          </a:p>
        </p:txBody>
      </p:sp>
      <p:sp>
        <p:nvSpPr>
          <p:cNvPr id="12" name="Shape 10"/>
          <p:cNvSpPr/>
          <p:nvPr/>
        </p:nvSpPr>
        <p:spPr>
          <a:xfrm>
            <a:off x="502920" y="1499616"/>
            <a:ext cx="2194560" cy="566928"/>
          </a:xfrm>
          <a:prstGeom prst="rect">
            <a:avLst/>
          </a:prstGeom>
          <a:solidFill>
            <a:srgbClr val="E0F7FA"/>
          </a:solidFill>
          <a:ln w="3810">
            <a:solidFill>
              <a:srgbClr val="F0F0F0"/>
            </a:solidFill>
            <a:prstDash val="solid"/>
          </a:ln>
        </p:spPr>
        <p:txBody>
          <a:bodyPr/>
          <a:lstStyle/>
          <a:p>
            <a:endParaRPr lang="en-US"/>
          </a:p>
        </p:txBody>
      </p:sp>
      <p:sp>
        <p:nvSpPr>
          <p:cNvPr id="13" name="Text 11"/>
          <p:cNvSpPr/>
          <p:nvPr/>
        </p:nvSpPr>
        <p:spPr>
          <a:xfrm>
            <a:off x="576072" y="1536192"/>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Conversation Export</a:t>
            </a:r>
            <a:endParaRPr lang="en-US" sz="950" dirty="0"/>
          </a:p>
        </p:txBody>
      </p:sp>
      <p:sp>
        <p:nvSpPr>
          <p:cNvPr id="14" name="Shape 12"/>
          <p:cNvSpPr/>
          <p:nvPr/>
        </p:nvSpPr>
        <p:spPr>
          <a:xfrm>
            <a:off x="2697480" y="1499616"/>
            <a:ext cx="301752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770632" y="1536192"/>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endpoint to export a session as JSON/Markdown/PDF. Users can't archive or migrate conversations.</a:t>
            </a:r>
            <a:endParaRPr lang="en-US" sz="900" dirty="0"/>
          </a:p>
        </p:txBody>
      </p:sp>
      <p:sp>
        <p:nvSpPr>
          <p:cNvPr id="16" name="Shape 14"/>
          <p:cNvSpPr/>
          <p:nvPr/>
        </p:nvSpPr>
        <p:spPr>
          <a:xfrm>
            <a:off x="5715000" y="1499616"/>
            <a:ext cx="2148840" cy="566928"/>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5788152" y="1536192"/>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POST /v1/conversations/{id}/export calling transcript_store.load_session_messages() → artifact</a:t>
            </a:r>
            <a:endParaRPr lang="en-US" sz="900" dirty="0"/>
          </a:p>
        </p:txBody>
      </p:sp>
      <p:sp>
        <p:nvSpPr>
          <p:cNvPr id="18" name="Shape 16"/>
          <p:cNvSpPr/>
          <p:nvPr/>
        </p:nvSpPr>
        <p:spPr>
          <a:xfrm>
            <a:off x="7863840" y="1499616"/>
            <a:ext cx="777240" cy="566928"/>
          </a:xfrm>
          <a:prstGeom prst="rect">
            <a:avLst/>
          </a:prstGeom>
          <a:solidFill>
            <a:srgbClr val="2E7D32"/>
          </a:solidFill>
          <a:ln w="3810">
            <a:solidFill>
              <a:srgbClr val="F0F0F0"/>
            </a:solidFill>
            <a:prstDash val="solid"/>
          </a:ln>
        </p:spPr>
        <p:txBody>
          <a:bodyPr/>
          <a:lstStyle/>
          <a:p>
            <a:endParaRPr lang="en-US"/>
          </a:p>
        </p:txBody>
      </p:sp>
      <p:sp>
        <p:nvSpPr>
          <p:cNvPr id="19" name="Text 17"/>
          <p:cNvSpPr/>
          <p:nvPr/>
        </p:nvSpPr>
        <p:spPr>
          <a:xfrm>
            <a:off x="7936992" y="1536192"/>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0" name="Shape 18"/>
          <p:cNvSpPr/>
          <p:nvPr/>
        </p:nvSpPr>
        <p:spPr>
          <a:xfrm>
            <a:off x="502920" y="2066544"/>
            <a:ext cx="2194560" cy="566928"/>
          </a:xfrm>
          <a:prstGeom prst="rect">
            <a:avLst/>
          </a:prstGeom>
          <a:solidFill>
            <a:srgbClr val="E0F7FA"/>
          </a:solidFill>
          <a:ln w="3810">
            <a:solidFill>
              <a:srgbClr val="F0F0F0"/>
            </a:solidFill>
            <a:prstDash val="solid"/>
          </a:ln>
        </p:spPr>
        <p:txBody>
          <a:bodyPr/>
          <a:lstStyle/>
          <a:p>
            <a:endParaRPr lang="en-US"/>
          </a:p>
        </p:txBody>
      </p:sp>
      <p:sp>
        <p:nvSpPr>
          <p:cNvPr id="21" name="Text 19"/>
          <p:cNvSpPr/>
          <p:nvPr/>
        </p:nvSpPr>
        <p:spPr>
          <a:xfrm>
            <a:off x="576072" y="2103120"/>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History Pagination</a:t>
            </a:r>
            <a:endParaRPr lang="en-US" sz="950" dirty="0"/>
          </a:p>
        </p:txBody>
      </p:sp>
      <p:sp>
        <p:nvSpPr>
          <p:cNvPr id="22" name="Shape 20"/>
          <p:cNvSpPr/>
          <p:nvPr/>
        </p:nvSpPr>
        <p:spPr>
          <a:xfrm>
            <a:off x="2697480" y="2066544"/>
            <a:ext cx="3017520" cy="566928"/>
          </a:xfrm>
          <a:prstGeom prst="rect">
            <a:avLst/>
          </a:prstGeom>
          <a:solidFill>
            <a:srgbClr val="FFFFFF"/>
          </a:solidFill>
          <a:ln w="3810">
            <a:solidFill>
              <a:srgbClr val="F0F0F0"/>
            </a:solidFill>
            <a:prstDash val="solid"/>
          </a:ln>
        </p:spPr>
        <p:txBody>
          <a:bodyPr/>
          <a:lstStyle/>
          <a:p>
            <a:endParaRPr lang="en-US"/>
          </a:p>
        </p:txBody>
      </p:sp>
      <p:sp>
        <p:nvSpPr>
          <p:cNvPr id="23" name="Text 21"/>
          <p:cNvSpPr/>
          <p:nvPr/>
        </p:nvSpPr>
        <p:spPr>
          <a:xfrm>
            <a:off x="2770632" y="2103120"/>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paginated GET for conversation messages — client must load entire history at once.</a:t>
            </a:r>
            <a:endParaRPr lang="en-US" sz="900" dirty="0"/>
          </a:p>
        </p:txBody>
      </p:sp>
      <p:sp>
        <p:nvSpPr>
          <p:cNvPr id="24" name="Shape 22"/>
          <p:cNvSpPr/>
          <p:nvPr/>
        </p:nvSpPr>
        <p:spPr>
          <a:xfrm>
            <a:off x="5715000" y="2066544"/>
            <a:ext cx="2148840" cy="566928"/>
          </a:xfrm>
          <a:prstGeom prst="rect">
            <a:avLst/>
          </a:prstGeom>
          <a:solidFill>
            <a:srgbClr val="FFFFFF"/>
          </a:solidFill>
          <a:ln w="3810">
            <a:solidFill>
              <a:srgbClr val="F0F0F0"/>
            </a:solidFill>
            <a:prstDash val="solid"/>
          </a:ln>
        </p:spPr>
        <p:txBody>
          <a:bodyPr/>
          <a:lstStyle/>
          <a:p>
            <a:endParaRPr lang="en-US"/>
          </a:p>
        </p:txBody>
      </p:sp>
      <p:sp>
        <p:nvSpPr>
          <p:cNvPr id="25" name="Text 23"/>
          <p:cNvSpPr/>
          <p:nvPr/>
        </p:nvSpPr>
        <p:spPr>
          <a:xfrm>
            <a:off x="5788152" y="2103120"/>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/v1/conversations/{id}/messages?limit=N&amp;offset=M returning {messages, total, has_more}</a:t>
            </a:r>
            <a:endParaRPr lang="en-US" sz="900" dirty="0"/>
          </a:p>
        </p:txBody>
      </p:sp>
      <p:sp>
        <p:nvSpPr>
          <p:cNvPr id="26" name="Shape 24"/>
          <p:cNvSpPr/>
          <p:nvPr/>
        </p:nvSpPr>
        <p:spPr>
          <a:xfrm>
            <a:off x="7863840" y="2066544"/>
            <a:ext cx="777240" cy="566928"/>
          </a:xfrm>
          <a:prstGeom prst="rect">
            <a:avLst/>
          </a:prstGeom>
          <a:solidFill>
            <a:srgbClr val="2E7D32"/>
          </a:solidFill>
          <a:ln w="3810">
            <a:solidFill>
              <a:srgbClr val="F0F0F0"/>
            </a:solidFill>
            <a:prstDash val="solid"/>
          </a:ln>
        </p:spPr>
        <p:txBody>
          <a:bodyPr/>
          <a:lstStyle/>
          <a:p>
            <a:endParaRPr lang="en-US"/>
          </a:p>
        </p:txBody>
      </p:sp>
      <p:sp>
        <p:nvSpPr>
          <p:cNvPr id="27" name="Text 25"/>
          <p:cNvSpPr/>
          <p:nvPr/>
        </p:nvSpPr>
        <p:spPr>
          <a:xfrm>
            <a:off x="7936992" y="2103120"/>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8" name="Shape 26"/>
          <p:cNvSpPr/>
          <p:nvPr/>
        </p:nvSpPr>
        <p:spPr>
          <a:xfrm>
            <a:off x="502920" y="2633472"/>
            <a:ext cx="2194560" cy="566928"/>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2670048"/>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Skill Version Diff</a:t>
            </a:r>
            <a:endParaRPr lang="en-US" sz="950" dirty="0"/>
          </a:p>
        </p:txBody>
      </p:sp>
      <p:sp>
        <p:nvSpPr>
          <p:cNvPr id="30" name="Shape 28"/>
          <p:cNvSpPr/>
          <p:nvPr/>
        </p:nvSpPr>
        <p:spPr>
          <a:xfrm>
            <a:off x="2697480" y="2633472"/>
            <a:ext cx="3017520" cy="56692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770632" y="2670048"/>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Rollback exists but no way to diff two skill versions or branch from history without destructive rollback.</a:t>
            </a:r>
            <a:endParaRPr lang="en-US" sz="900" dirty="0"/>
          </a:p>
        </p:txBody>
      </p:sp>
      <p:sp>
        <p:nvSpPr>
          <p:cNvPr id="32" name="Shape 30"/>
          <p:cNvSpPr/>
          <p:nvPr/>
        </p:nvSpPr>
        <p:spPr>
          <a:xfrm>
            <a:off x="5715000" y="2633472"/>
            <a:ext cx="2148840" cy="566928"/>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5788152" y="2670048"/>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/v1/skills/{id}/versions/{v}/diff?compare_to=V and POST …/branch endpoint</a:t>
            </a:r>
            <a:endParaRPr lang="en-US" sz="900" dirty="0"/>
          </a:p>
        </p:txBody>
      </p:sp>
      <p:sp>
        <p:nvSpPr>
          <p:cNvPr id="34" name="Shape 32"/>
          <p:cNvSpPr/>
          <p:nvPr/>
        </p:nvSpPr>
        <p:spPr>
          <a:xfrm>
            <a:off x="7863840" y="2633472"/>
            <a:ext cx="777240" cy="566928"/>
          </a:xfrm>
          <a:prstGeom prst="rect">
            <a:avLst/>
          </a:prstGeom>
          <a:solidFill>
            <a:srgbClr val="2E7D32"/>
          </a:solidFill>
          <a:ln w="3810">
            <a:solidFill>
              <a:srgbClr val="F0F0F0"/>
            </a:solidFill>
            <a:prstDash val="solid"/>
          </a:ln>
        </p:spPr>
        <p:txBody>
          <a:bodyPr/>
          <a:lstStyle/>
          <a:p>
            <a:endParaRPr lang="en-US"/>
          </a:p>
        </p:txBody>
      </p:sp>
      <p:sp>
        <p:nvSpPr>
          <p:cNvPr id="35" name="Text 33"/>
          <p:cNvSpPr/>
          <p:nvPr/>
        </p:nvSpPr>
        <p:spPr>
          <a:xfrm>
            <a:off x="7936992" y="2670048"/>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36" name="Shape 34"/>
          <p:cNvSpPr/>
          <p:nvPr/>
        </p:nvSpPr>
        <p:spPr>
          <a:xfrm>
            <a:off x="502920" y="3200400"/>
            <a:ext cx="2194560" cy="566928"/>
          </a:xfrm>
          <a:prstGeom prst="rect">
            <a:avLst/>
          </a:prstGeom>
          <a:solidFill>
            <a:srgbClr val="E0F7FA"/>
          </a:solidFill>
          <a:ln w="3810">
            <a:solidFill>
              <a:srgbClr val="F0F0F0"/>
            </a:solidFill>
            <a:prstDash val="solid"/>
          </a:ln>
        </p:spPr>
        <p:txBody>
          <a:bodyPr/>
          <a:lstStyle/>
          <a:p>
            <a:endParaRPr lang="en-US"/>
          </a:p>
        </p:txBody>
      </p:sp>
      <p:sp>
        <p:nvSpPr>
          <p:cNvPr id="37" name="Text 35"/>
          <p:cNvSpPr/>
          <p:nvPr/>
        </p:nvSpPr>
        <p:spPr>
          <a:xfrm>
            <a:off x="576072" y="3236976"/>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Graph Query Cache</a:t>
            </a:r>
            <a:endParaRPr lang="en-US" sz="950" dirty="0"/>
          </a:p>
        </p:txBody>
      </p:sp>
      <p:sp>
        <p:nvSpPr>
          <p:cNvPr id="38" name="Shape 36"/>
          <p:cNvSpPr/>
          <p:nvPr/>
        </p:nvSpPr>
        <p:spPr>
          <a:xfrm>
            <a:off x="2697480" y="3200400"/>
            <a:ext cx="3017520" cy="566928"/>
          </a:xfrm>
          <a:prstGeom prst="rect">
            <a:avLst/>
          </a:prstGeom>
          <a:solidFill>
            <a:srgbClr val="FFFFFF"/>
          </a:solidFill>
          <a:ln w="3810">
            <a:solidFill>
              <a:srgbClr val="F0F0F0"/>
            </a:solidFill>
            <a:prstDash val="solid"/>
          </a:ln>
        </p:spPr>
        <p:txBody>
          <a:bodyPr/>
          <a:lstStyle/>
          <a:p>
            <a:endParaRPr lang="en-US"/>
          </a:p>
        </p:txBody>
      </p:sp>
      <p:sp>
        <p:nvSpPr>
          <p:cNvPr id="39" name="Text 37"/>
          <p:cNvSpPr/>
          <p:nvPr/>
        </p:nvSpPr>
        <p:spPr>
          <a:xfrm>
            <a:off x="2770632" y="3236976"/>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graph_query_cache_ttl_seconds is configured in Settings but never wired to Neo4jGraphStore._query().</a:t>
            </a:r>
            <a:endParaRPr lang="en-US" sz="900" dirty="0"/>
          </a:p>
        </p:txBody>
      </p:sp>
      <p:sp>
        <p:nvSpPr>
          <p:cNvPr id="40" name="Shape 38"/>
          <p:cNvSpPr/>
          <p:nvPr/>
        </p:nvSpPr>
        <p:spPr>
          <a:xfrm>
            <a:off x="5715000" y="3200400"/>
            <a:ext cx="2148840" cy="566928"/>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88152" y="3236976"/>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Wrap _query() with TTL-based lru_cache using config value; expose hit-rate metric to EventSink</a:t>
            </a:r>
            <a:endParaRPr lang="en-US" sz="900" dirty="0"/>
          </a:p>
        </p:txBody>
      </p:sp>
      <p:sp>
        <p:nvSpPr>
          <p:cNvPr id="42" name="Shape 40"/>
          <p:cNvSpPr/>
          <p:nvPr/>
        </p:nvSpPr>
        <p:spPr>
          <a:xfrm>
            <a:off x="7863840" y="3200400"/>
            <a:ext cx="777240" cy="566928"/>
          </a:xfrm>
          <a:prstGeom prst="rect">
            <a:avLst/>
          </a:prstGeom>
          <a:solidFill>
            <a:srgbClr val="2E7D32"/>
          </a:solidFill>
          <a:ln w="3810">
            <a:solidFill>
              <a:srgbClr val="F0F0F0"/>
            </a:solidFill>
            <a:prstDash val="solid"/>
          </a:ln>
        </p:spPr>
        <p:txBody>
          <a:bodyPr/>
          <a:lstStyle/>
          <a:p>
            <a:endParaRPr lang="en-US"/>
          </a:p>
        </p:txBody>
      </p:sp>
      <p:sp>
        <p:nvSpPr>
          <p:cNvPr id="43" name="Text 41"/>
          <p:cNvSpPr/>
          <p:nvPr/>
        </p:nvSpPr>
        <p:spPr>
          <a:xfrm>
            <a:off x="7936992" y="3236976"/>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44" name="Shape 42"/>
          <p:cNvSpPr/>
          <p:nvPr/>
        </p:nvSpPr>
        <p:spPr>
          <a:xfrm>
            <a:off x="502920" y="3767328"/>
            <a:ext cx="2194560" cy="566928"/>
          </a:xfrm>
          <a:prstGeom prst="rect">
            <a:avLst/>
          </a:prstGeom>
          <a:solidFill>
            <a:srgbClr val="E0F7FA"/>
          </a:solidFill>
          <a:ln w="3810">
            <a:solidFill>
              <a:srgbClr val="F0F0F0"/>
            </a:solidFill>
            <a:prstDash val="solid"/>
          </a:ln>
        </p:spPr>
        <p:txBody>
          <a:bodyPr/>
          <a:lstStyle/>
          <a:p>
            <a:endParaRPr lang="en-US"/>
          </a:p>
        </p:txBody>
      </p:sp>
      <p:sp>
        <p:nvSpPr>
          <p:cNvPr id="45" name="Text 43"/>
          <p:cNvSpPr/>
          <p:nvPr/>
        </p:nvSpPr>
        <p:spPr>
          <a:xfrm>
            <a:off x="576072" y="3803904"/>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Doc Confidence Score</a:t>
            </a:r>
            <a:endParaRPr lang="en-US" sz="950" dirty="0"/>
          </a:p>
        </p:txBody>
      </p:sp>
      <p:sp>
        <p:nvSpPr>
          <p:cNvPr id="46" name="Shape 44"/>
          <p:cNvSpPr/>
          <p:nvPr/>
        </p:nvSpPr>
        <p:spPr>
          <a:xfrm>
            <a:off x="2697480" y="3767328"/>
            <a:ext cx="3017520" cy="566928"/>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2770632" y="3803904"/>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_prepare_synthesis_docs() ranks by title overlap only — no explicit confidence attached to retrieved evidence.</a:t>
            </a:r>
            <a:endParaRPr lang="en-US" sz="900" dirty="0"/>
          </a:p>
        </p:txBody>
      </p:sp>
      <p:sp>
        <p:nvSpPr>
          <p:cNvPr id="48" name="Shape 46"/>
          <p:cNvSpPr/>
          <p:nvPr/>
        </p:nvSpPr>
        <p:spPr>
          <a:xfrm>
            <a:off x="5715000" y="3767328"/>
            <a:ext cx="2148840" cy="566928"/>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5788152" y="3803904"/>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Compute RelevanceScore(bm25+semantic+recency) per doc in synthesis.py; pass scores in evidence JSON to LLM</a:t>
            </a:r>
            <a:endParaRPr lang="en-US" sz="900" dirty="0"/>
          </a:p>
        </p:txBody>
      </p:sp>
      <p:sp>
        <p:nvSpPr>
          <p:cNvPr id="50" name="Shape 48"/>
          <p:cNvSpPr/>
          <p:nvPr/>
        </p:nvSpPr>
        <p:spPr>
          <a:xfrm>
            <a:off x="7863840" y="3767328"/>
            <a:ext cx="777240" cy="566928"/>
          </a:xfrm>
          <a:prstGeom prst="rect">
            <a:avLst/>
          </a:prstGeom>
          <a:solidFill>
            <a:srgbClr val="2E7D32"/>
          </a:solidFill>
          <a:ln w="3810">
            <a:solidFill>
              <a:srgbClr val="F0F0F0"/>
            </a:solidFill>
            <a:prstDash val="solid"/>
          </a:ln>
        </p:spPr>
        <p:txBody>
          <a:bodyPr/>
          <a:lstStyle/>
          <a:p>
            <a:endParaRPr lang="en-US"/>
          </a:p>
        </p:txBody>
      </p:sp>
      <p:sp>
        <p:nvSpPr>
          <p:cNvPr id="51" name="Text 49"/>
          <p:cNvSpPr/>
          <p:nvPr/>
        </p:nvSpPr>
        <p:spPr>
          <a:xfrm>
            <a:off x="7936992" y="3803904"/>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rag/graph_store.py, rag/synthesis.py — all five are isolated single-file changes</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UX Improvements — Reasoning Visibility &amp; Memory Lifecycle</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Two medium-effort improvements that directly change how users experience the system in production.</a:t>
            </a:r>
            <a:endParaRPr lang="en-US" sz="1050" dirty="0"/>
          </a:p>
        </p:txBody>
      </p:sp>
      <p:sp>
        <p:nvSpPr>
          <p:cNvPr id="4" name="Shape 2"/>
          <p:cNvSpPr/>
          <p:nvPr/>
        </p:nvSpPr>
        <p:spPr>
          <a:xfrm>
            <a:off x="50292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Streaming Reasoning — Complete the Loop</a:t>
            </a:r>
            <a:endParaRPr lang="en-US" sz="1200" dirty="0"/>
          </a:p>
        </p:txBody>
      </p:sp>
      <p:sp>
        <p:nvSpPr>
          <p:cNvPr id="7" name="Text 5"/>
          <p:cNvSpPr/>
          <p:nvPr/>
        </p:nvSpPr>
        <p:spPr>
          <a:xfrm>
            <a:off x="61264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live_progress.py, status_tracker.py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SSE now streams status events via _named_sse_event(). live_progress.py (265 lines) + status_tracker.py (558 lines) provide real-time job progress.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Status events are coarse-grained (job-level). No per-tool-call or per-reasoning-step events yet — users see progress but not which tool is executing.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Emit fine-grained SSE events (tool_call_start, tool_result, reasoning_step) from within the ReAct loop. Add client-side event_type filter.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(foundation done)   Impact: full transparency into agent reasoning</a:t>
            </a:r>
            <a:endParaRPr lang="en-US" sz="1000" dirty="0"/>
          </a:p>
        </p:txBody>
      </p:sp>
      <p:sp>
        <p:nvSpPr>
          <p:cNvPr id="8" name="Shape 6"/>
          <p:cNvSpPr/>
          <p:nvPr/>
        </p:nvSpPr>
        <p:spPr>
          <a:xfrm>
            <a:off x="466344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Lifecycle — Wire Up Summarization</a:t>
            </a:r>
            <a:endParaRPr lang="en-US" sz="1200" dirty="0"/>
          </a:p>
        </p:txBody>
      </p:sp>
      <p:sp>
        <p:nvSpPr>
          <p:cNvPr id="11" name="Text 9"/>
          <p:cNvSpPr/>
          <p:nvPr/>
        </p:nvSpPr>
        <p:spPr>
          <a:xfrm>
            <a:off x="477316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memory_v2.py adds episodes, importance/confidence scoring, TTL hints, supersession tracking, and provenance per turn.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TTL hints are stored but no background reaper job enforces them. No LLM summarizer condenses old episodes.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Add memory/reaper.py cron job that enforces TTL hints, and an async summarizer that condenses episode chains when context_builder approaches max_chars.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(schema done)   Impact: prevents context overflow, enables long-lived sessions</a:t>
            </a:r>
            <a:endParaRPr lang="en-US" sz="10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api/live_progress.py, api/status_tracker.py, persistence/postgres/memory_v2.py</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Operational Hardening — 3 Production-Safety Features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gaps that matter before opening this system to multiple users or teams. All build on existing infrastructure.</a:t>
            </a:r>
            <a:endParaRPr lang="en-US" sz="1050" dirty="0"/>
          </a:p>
        </p:txBody>
      </p:sp>
      <p:sp>
        <p:nvSpPr>
          <p:cNvPr id="4" name="Shape 2"/>
          <p:cNvSpPr/>
          <p:nvPr/>
        </p:nvSpPr>
        <p:spPr>
          <a:xfrm>
            <a:off x="50292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F9A825"/>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Rate Limiting — Generalize</a:t>
            </a:r>
            <a:endParaRPr lang="en-US" sz="1200" dirty="0"/>
          </a:p>
        </p:txBody>
      </p:sp>
      <p:sp>
        <p:nvSpPr>
          <p:cNvPr id="7" name="Text 5"/>
          <p:cNvSpPr/>
          <p:nvPr/>
        </p:nvSpPr>
        <p:spPr>
          <a:xfrm>
            <a:off x="61264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api/connector_security.py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connector_security.py enforces _enforce_publishable_rate_limit() on connector endpoints.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Rate limiting only covers connector routes. Main /v1/chat/completions and all other endpoints are unprotected.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to global FastAPI middleware keyed by user_id+tenant_id across all routes. Add per-tenant quota tracking.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(foundation done)</a:t>
            </a:r>
            <a:endParaRPr lang="en-US" sz="1000" dirty="0"/>
          </a:p>
        </p:txBody>
      </p:sp>
      <p:sp>
        <p:nvSpPr>
          <p:cNvPr id="8" name="Shape 6"/>
          <p:cNvSpPr/>
          <p:nvPr/>
        </p:nvSpPr>
        <p:spPr>
          <a:xfrm>
            <a:off x="327660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1B2A4A"/>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Audit Trail</a:t>
            </a:r>
            <a:endParaRPr lang="en-US" sz="1200" dirty="0"/>
          </a:p>
        </p:txBody>
      </p:sp>
      <p:sp>
        <p:nvSpPr>
          <p:cNvPr id="11" name="Text 9"/>
          <p:cNvSpPr/>
          <p:nvPr/>
        </p:nvSpPr>
        <p:spPr>
          <a:xfrm>
            <a:off x="338632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runtime/kernel.py + api/main.py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RuntimeEventSink emits events but no structured per-turn AuditLogEntry captures full lineage: user → routing decision → tool calls → answer.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TranscriptStore to write AuditLogEntry per turn. Add GET /v1/audit-log?conversation_id=X endpoint. Enables compliance review and session replay.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12" name="Shape 10"/>
          <p:cNvSpPr/>
          <p:nvPr/>
        </p:nvSpPr>
        <p:spPr>
          <a:xfrm>
            <a:off x="605028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00796B"/>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Cross-Tenant Auth — Middleware</a:t>
            </a:r>
            <a:endParaRPr lang="en-US" sz="1200" dirty="0"/>
          </a:p>
        </p:txBody>
      </p:sp>
      <p:sp>
        <p:nvSpPr>
          <p:cNvPr id="15" name="Text 13"/>
          <p:cNvSpPr/>
          <p:nvPr/>
        </p:nvSpPr>
        <p:spPr>
          <a:xfrm>
            <a:off x="616000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authz/service.py (267 lines,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authz/service.py provides RBAC with principal/role membership and tenant-scoped resource access control.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RBAC is service-layer only — not enforced as FastAPI middleware. No early rejection at API boundary.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Lift authz checks into FastAPI dependency so every request validates tenant claims before reaching handlers.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(service layer done)</a:t>
            </a:r>
            <a:endParaRPr lang="en-US" sz="1000" dirty="0"/>
          </a:p>
        </p:txBody>
      </p:sp>
      <p:sp>
        <p:nvSpPr>
          <p:cNvPr id="16" name="Shape 14"/>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Rate limiting and tenant auth are partially built — close the gaps to middleware enforcement. Audit trail remains the largest compliance blocker.</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api/connector_security.py, authz/service.py, runtime/kernel.py, runtime/transcript_store.py</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Advanced Capabilities — 3 Architectural Extensions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larger investments that unlock new integration patterns, multi-agent workflows, and model iteration.</a:t>
            </a:r>
            <a:endParaRPr lang="en-US" sz="1050" dirty="0"/>
          </a:p>
        </p:txBody>
      </p:sp>
      <p:sp>
        <p:nvSpPr>
          <p:cNvPr id="4" name="Shape 2"/>
          <p:cNvSpPr/>
          <p:nvPr/>
        </p:nvSpPr>
        <p:spPr>
          <a:xfrm>
            <a:off x="50292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60320" cy="320040"/>
          </a:xfrm>
          <a:prstGeom prst="rect">
            <a:avLst/>
          </a:prstGeom>
          <a:solidFill>
            <a:srgbClr val="1B2A4A"/>
          </a:solidFill>
          <a:ln/>
        </p:spPr>
        <p:txBody>
          <a:bodyPr/>
          <a:lstStyle/>
          <a:p>
            <a:endParaRPr lang="en-US"/>
          </a:p>
        </p:txBody>
      </p:sp>
      <p:sp>
        <p:nvSpPr>
          <p:cNvPr id="6" name="Text 4"/>
          <p:cNvSpPr/>
          <p:nvPr/>
        </p:nvSpPr>
        <p:spPr>
          <a:xfrm>
            <a:off x="61264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Webhook Notifications for Jobs</a:t>
            </a:r>
            <a:endParaRPr lang="en-US" sz="1200" dirty="0"/>
          </a:p>
        </p:txBody>
      </p:sp>
      <p:sp>
        <p:nvSpPr>
          <p:cNvPr id="7" name="Text 5"/>
          <p:cNvSpPr/>
          <p:nvPr/>
        </p:nvSpPr>
        <p:spPr>
          <a:xfrm>
            <a:off x="61264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runtime/job_manager.py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Clients must poll /v1/jobs/{job_id} to check if a background coordinator job completed — no push notification.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JobWebhookConfig to Settings (webhook_urls dict). On job terminal state, RuntimeJobManager fires httpx POST with JobRecord payload + HMAC signature.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Zapier/n8n/Slack integrations to trigger when an agent job finishes.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8" name="Shape 6"/>
          <p:cNvSpPr/>
          <p:nvPr/>
        </p:nvSpPr>
        <p:spPr>
          <a:xfrm>
            <a:off x="3246120" y="1188720"/>
            <a:ext cx="283464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188720"/>
            <a:ext cx="2834640" cy="320040"/>
          </a:xfrm>
          <a:prstGeom prst="rect">
            <a:avLst/>
          </a:prstGeom>
          <a:solidFill>
            <a:srgbClr val="00796B"/>
          </a:solidFill>
          <a:ln/>
        </p:spPr>
        <p:txBody>
          <a:bodyPr/>
          <a:lstStyle/>
          <a:p>
            <a:endParaRPr lang="en-US"/>
          </a:p>
        </p:txBody>
      </p:sp>
      <p:sp>
        <p:nvSpPr>
          <p:cNvPr id="10" name="Text 8"/>
          <p:cNvSpPr/>
          <p:nvPr/>
        </p:nvSpPr>
        <p:spPr>
          <a:xfrm>
            <a:off x="3355848" y="121615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Automated Eval &amp; Regression Harness</a:t>
            </a:r>
            <a:endParaRPr lang="en-US" sz="1200" dirty="0"/>
          </a:p>
        </p:txBody>
      </p:sp>
      <p:sp>
        <p:nvSpPr>
          <p:cNvPr id="11" name="Text 9"/>
          <p:cNvSpPr/>
          <p:nvPr/>
        </p:nvSpPr>
        <p:spPr>
          <a:xfrm>
            <a:off x="3355848" y="1572768"/>
            <a:ext cx="261518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benchmark/ + runtime/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benchmark/defense_corpus.py is skeletal. No continuous evaluation of agent quality across routing, retrieval, and synthesis.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benchmark/eval_harness.py with golden-set test cases per agent mode. Run nightly: measure routing accuracy, retrieval recall, answer quality (LLM-as-judge). Alert 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Agentic best practice: every agent system needs automated evals to catch silent quality degradation.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2" name="Shape 10"/>
          <p:cNvSpPr/>
          <p:nvPr/>
        </p:nvSpPr>
        <p:spPr>
          <a:xfrm>
            <a:off x="626364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263640" y="1188720"/>
            <a:ext cx="2560320" cy="320040"/>
          </a:xfrm>
          <a:prstGeom prst="rect">
            <a:avLst/>
          </a:prstGeom>
          <a:solidFill>
            <a:srgbClr val="F9A825"/>
          </a:solidFill>
          <a:ln/>
        </p:spPr>
        <p:txBody>
          <a:bodyPr/>
          <a:lstStyle/>
          <a:p>
            <a:endParaRPr lang="en-US"/>
          </a:p>
        </p:txBody>
      </p:sp>
      <p:sp>
        <p:nvSpPr>
          <p:cNvPr id="14" name="Text 12"/>
          <p:cNvSpPr/>
          <p:nvPr/>
        </p:nvSpPr>
        <p:spPr>
          <a:xfrm>
            <a:off x="637336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A/B Model Testing Framework</a:t>
            </a:r>
            <a:endParaRPr lang="en-US" sz="1200" dirty="0"/>
          </a:p>
        </p:txBody>
      </p:sp>
      <p:sp>
        <p:nvSpPr>
          <p:cNvPr id="15" name="Text 13"/>
          <p:cNvSpPr/>
          <p:nvPr/>
        </p:nvSpPr>
        <p:spPr>
          <a:xfrm>
            <a:off x="637336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 providers/factory.py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way to run two models on the same query and compare quality. Cannot safely roll out a new model without risking production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POST /v1/experiments that forks execution with model_a and model_b, stores both responses, tracks user preference via thumbs up/down. Report via GET /v1/experiments.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data-driven model selection.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runtime/job_manager.py, benchmark/, api/main.py, providers/factory.py</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0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What's New — Architecture Updates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4 major capabilities added since the previous version: GraphRAG, Adaptive Retrieval, Router Feedback Loop, Worker Scheduler</a:t>
            </a:r>
            <a:endParaRPr lang="en-US" sz="16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A new graph/ module adds Microsoft GraphRAG and Neo4j backends. A dedicated graph_manager agent uses 5 new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new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&amp; Worker Scheduler — Built</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Two operational improvements recommended in earlier analysis are now implemented and active in the codebase.</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Infrastructure — 7 Modules Added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new modules strengthen auth, memory, observability, parallelism, prompt resilience, and task routing — moving several enterprise and harness recommendations toward completion.</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Tools — 12 High-Value Additions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system has 37 tools today. These 12 additions fill the biggest capability gaps — organized by category with concrete implementation paths.</a:t>
            </a:r>
            <a:endParaRPr lang="en-US" sz="1050" dirty="0"/>
          </a:p>
        </p:txBody>
      </p:sp>
      <p:sp>
        <p:nvSpPr>
          <p:cNvPr id="4" name="Shape 2"/>
          <p:cNvSpPr/>
          <p:nvPr/>
        </p:nvSpPr>
        <p:spPr>
          <a:xfrm>
            <a:off x="50292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 &amp; External Data (4 tools)</a:t>
            </a:r>
            <a:endParaRPr lang="en-US" sz="1200" dirty="0"/>
          </a:p>
        </p:txBody>
      </p:sp>
      <p:sp>
        <p:nvSpPr>
          <p:cNvPr id="7" name="Text 5"/>
          <p:cNvSpPr/>
          <p:nvPr/>
        </p:nvSpPr>
        <p:spPr>
          <a:xfrm>
            <a:off x="61264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web_search</a:t>
            </a:r>
            <a:r>
              <a:rPr lang="en-US" sz="900" dirty="0">
                <a:solidFill>
                  <a:srgbClr val="333333"/>
                </a:solidFill>
                <a:latin typeface="Arial" pitchFamily="34" charset="0"/>
                <a:ea typeface="Arial" pitchFamily="34" charset="-122"/>
                <a:cs typeface="Arial" pitchFamily="34" charset="-120"/>
              </a:rPr>
              <a:t> — Search via SerpAPI/Brave. Returns title, snippet, URL. Agents can answer questions beyond the KB.
</a:t>
            </a:r>
            <a:r>
              <a:rPr lang="en-US" sz="900" b="1" dirty="0">
                <a:solidFill>
                  <a:srgbClr val="0097A7"/>
                </a:solidFill>
                <a:latin typeface="Courier New" pitchFamily="34" charset="0"/>
                <a:ea typeface="Courier New" pitchFamily="34" charset="-122"/>
                <a:cs typeface="Courier New" pitchFamily="34" charset="-120"/>
              </a:rPr>
              <a:t>fetch_url</a:t>
            </a:r>
            <a:r>
              <a:rPr lang="en-US" sz="900" dirty="0">
                <a:solidFill>
                  <a:srgbClr val="333333"/>
                </a:solidFill>
                <a:latin typeface="Arial" pitchFamily="34" charset="0"/>
                <a:ea typeface="Arial" pitchFamily="34" charset="-122"/>
                <a:cs typeface="Arial" pitchFamily="34" charset="-120"/>
              </a:rPr>
              <a:t> — HTTP GET with HTML→text extraction (readability). Agents can read linked sources.
</a:t>
            </a:r>
            <a:r>
              <a:rPr lang="en-US" sz="900" b="1" dirty="0">
                <a:solidFill>
                  <a:srgbClr val="0097A7"/>
                </a:solidFill>
                <a:latin typeface="Courier New" pitchFamily="34" charset="0"/>
                <a:ea typeface="Courier New" pitchFamily="34" charset="-122"/>
                <a:cs typeface="Courier New" pitchFamily="34" charset="-120"/>
              </a:rPr>
              <a:t>http_request</a:t>
            </a:r>
            <a:r>
              <a:rPr lang="en-US" sz="900" dirty="0">
                <a:solidFill>
                  <a:srgbClr val="333333"/>
                </a:solidFill>
                <a:latin typeface="Arial" pitchFamily="34" charset="0"/>
                <a:ea typeface="Arial" pitchFamily="34" charset="-122"/>
                <a:cs typeface="Arial" pitchFamily="34" charset="-120"/>
              </a:rPr>
              <a:t> — Generic REST client (GET/POST/PUT). Agents can call external APIs on behalf of users.
</a:t>
            </a:r>
            <a:r>
              <a:rPr lang="en-US" sz="900" b="1" dirty="0">
                <a:solidFill>
                  <a:srgbClr val="0097A7"/>
                </a:solidFill>
                <a:latin typeface="Courier New" pitchFamily="34" charset="0"/>
                <a:ea typeface="Courier New" pitchFamily="34" charset="-122"/>
                <a:cs typeface="Courier New" pitchFamily="34" charset="-120"/>
              </a:rPr>
              <a:t>webhook_trigger</a:t>
            </a:r>
            <a:r>
              <a:rPr lang="en-US" sz="900" dirty="0">
                <a:solidFill>
                  <a:srgbClr val="333333"/>
                </a:solidFill>
                <a:latin typeface="Arial" pitchFamily="34" charset="0"/>
                <a:ea typeface="Arial" pitchFamily="34" charset="-122"/>
                <a:cs typeface="Arial" pitchFamily="34" charset="-120"/>
              </a:rPr>
              <a:t> — Fire outbound webhooks with HMAC signing. Enables Slack/Zapier/n8n integrations.</a:t>
            </a:r>
            <a:endParaRPr lang="en-US" sz="1000" dirty="0"/>
          </a:p>
        </p:txBody>
      </p:sp>
      <p:sp>
        <p:nvSpPr>
          <p:cNvPr id="8" name="Shape 6"/>
          <p:cNvSpPr/>
          <p:nvPr/>
        </p:nvSpPr>
        <p:spPr>
          <a:xfrm>
            <a:off x="327660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Document Generation (4 tools)</a:t>
            </a:r>
            <a:endParaRPr lang="en-US" sz="1200" dirty="0"/>
          </a:p>
        </p:txBody>
      </p:sp>
      <p:sp>
        <p:nvSpPr>
          <p:cNvPr id="11" name="Text 9"/>
          <p:cNvSpPr/>
          <p:nvPr/>
        </p:nvSpPr>
        <p:spPr>
          <a:xfrm>
            <a:off x="338632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generate_pdf</a:t>
            </a:r>
            <a:r>
              <a:rPr lang="en-US" sz="900" dirty="0">
                <a:solidFill>
                  <a:srgbClr val="333333"/>
                </a:solidFill>
                <a:latin typeface="Arial" pitchFamily="34" charset="0"/>
                <a:ea typeface="Arial" pitchFamily="34" charset="-122"/>
                <a:cs typeface="Arial" pitchFamily="34" charset="-120"/>
              </a:rPr>
              <a:t> — Create PDFs from markdown/HTML via WeasyPrint. Save to workspace for download.
</a:t>
            </a:r>
            <a:r>
              <a:rPr lang="en-US" sz="900" b="1" dirty="0">
                <a:solidFill>
                  <a:srgbClr val="00796B"/>
                </a:solidFill>
                <a:latin typeface="Courier New" pitchFamily="34" charset="0"/>
                <a:ea typeface="Courier New" pitchFamily="34" charset="-122"/>
                <a:cs typeface="Courier New" pitchFamily="34" charset="-120"/>
              </a:rPr>
              <a:t>generate_spreadsheet</a:t>
            </a:r>
            <a:r>
              <a:rPr lang="en-US" sz="900" dirty="0">
                <a:solidFill>
                  <a:srgbClr val="333333"/>
                </a:solidFill>
                <a:latin typeface="Arial" pitchFamily="34" charset="0"/>
                <a:ea typeface="Arial" pitchFamily="34" charset="-122"/>
                <a:cs typeface="Arial" pitchFamily="34" charset="-120"/>
              </a:rPr>
              <a:t> — Build .xlsx from tabular data via openpyxl. Charts, formatting, multi-sheet.
</a:t>
            </a:r>
            <a:r>
              <a:rPr lang="en-US" sz="900" b="1" dirty="0">
                <a:solidFill>
                  <a:srgbClr val="00796B"/>
                </a:solidFill>
                <a:latin typeface="Courier New" pitchFamily="34" charset="0"/>
                <a:ea typeface="Courier New" pitchFamily="34" charset="-122"/>
                <a:cs typeface="Courier New" pitchFamily="34" charset="-120"/>
              </a:rPr>
              <a:t>generate_chart</a:t>
            </a:r>
            <a:r>
              <a:rPr lang="en-US" sz="900" dirty="0">
                <a:solidFill>
                  <a:srgbClr val="333333"/>
                </a:solidFill>
                <a:latin typeface="Arial" pitchFamily="34" charset="0"/>
                <a:ea typeface="Arial" pitchFamily="34" charset="-122"/>
                <a:cs typeface="Arial" pitchFamily="34" charset="-120"/>
              </a:rPr>
              <a:t> — Create PNG/SVG visualizations via matplotlib/plotly. Register as workspace artifact.
</a:t>
            </a:r>
            <a:r>
              <a:rPr lang="en-US" sz="900" b="1" dirty="0">
                <a:solidFill>
                  <a:srgbClr val="00796B"/>
                </a:solidFill>
                <a:latin typeface="Courier New" pitchFamily="34" charset="0"/>
                <a:ea typeface="Courier New" pitchFamily="34" charset="-122"/>
                <a:cs typeface="Courier New" pitchFamily="34" charset="-120"/>
              </a:rPr>
              <a:t>file_convert</a:t>
            </a:r>
            <a:r>
              <a:rPr lang="en-US" sz="900" dirty="0">
                <a:solidFill>
                  <a:srgbClr val="333333"/>
                </a:solidFill>
                <a:latin typeface="Arial" pitchFamily="34" charset="0"/>
                <a:ea typeface="Arial" pitchFamily="34" charset="-122"/>
                <a:cs typeface="Arial" pitchFamily="34" charset="-120"/>
              </a:rPr>
              <a:t> — Convert between formats (DOCX→PDF, CSV→XLSX, HTML→MD). Runs in sandbox.</a:t>
            </a:r>
            <a:endParaRPr lang="en-US" sz="1000" dirty="0"/>
          </a:p>
        </p:txBody>
      </p:sp>
      <p:sp>
        <p:nvSpPr>
          <p:cNvPr id="12" name="Shape 10"/>
          <p:cNvSpPr/>
          <p:nvPr/>
        </p:nvSpPr>
        <p:spPr>
          <a:xfrm>
            <a:off x="605028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Notification &amp; Cloud (4 tools)</a:t>
            </a:r>
            <a:endParaRPr lang="en-US" sz="1200" dirty="0"/>
          </a:p>
        </p:txBody>
      </p:sp>
      <p:sp>
        <p:nvSpPr>
          <p:cNvPr id="15" name="Text 13"/>
          <p:cNvSpPr/>
          <p:nvPr/>
        </p:nvSpPr>
        <p:spPr>
          <a:xfrm>
            <a:off x="616000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send_email</a:t>
            </a:r>
            <a:r>
              <a:rPr lang="en-US" sz="900" dirty="0">
                <a:solidFill>
                  <a:srgbClr val="333333"/>
                </a:solidFill>
                <a:latin typeface="Arial" pitchFamily="34" charset="0"/>
                <a:ea typeface="Arial" pitchFamily="34" charset="-122"/>
                <a:cs typeface="Arial" pitchFamily="34" charset="-120"/>
              </a:rPr>
              <a:t> — SMTP integration. Draft + confirm pattern for safety. Agents can deliver reports.
</a:t>
            </a:r>
            <a:r>
              <a:rPr lang="en-US" sz="900" b="1" dirty="0">
                <a:solidFill>
                  <a:srgbClr val="1B2A4A"/>
                </a:solidFill>
                <a:latin typeface="Courier New" pitchFamily="34" charset="0"/>
                <a:ea typeface="Courier New" pitchFamily="34" charset="-122"/>
                <a:cs typeface="Courier New" pitchFamily="34" charset="-120"/>
              </a:rPr>
              <a:t>send_notification</a:t>
            </a:r>
            <a:r>
              <a:rPr lang="en-US" sz="900" dirty="0">
                <a:solidFill>
                  <a:srgbClr val="333333"/>
                </a:solidFill>
                <a:latin typeface="Arial" pitchFamily="34" charset="0"/>
                <a:ea typeface="Arial" pitchFamily="34" charset="-122"/>
                <a:cs typeface="Arial" pitchFamily="34" charset="-120"/>
              </a:rPr>
              <a:t> — Push to Slack/Teams/webhook. Agents notify humans when background jobs complete.
</a:t>
            </a:r>
            <a:r>
              <a:rPr lang="en-US" sz="900" b="1" dirty="0">
                <a:solidFill>
                  <a:srgbClr val="1B2A4A"/>
                </a:solidFill>
                <a:latin typeface="Courier New" pitchFamily="34" charset="0"/>
                <a:ea typeface="Courier New" pitchFamily="34" charset="-122"/>
                <a:cs typeface="Courier New" pitchFamily="34" charset="-120"/>
              </a:rPr>
              <a:t>cloud_storage</a:t>
            </a:r>
            <a:r>
              <a:rPr lang="en-US" sz="900" dirty="0">
                <a:solidFill>
                  <a:srgbClr val="333333"/>
                </a:solidFill>
                <a:latin typeface="Arial" pitchFamily="34" charset="0"/>
                <a:ea typeface="Arial" pitchFamily="34" charset="-122"/>
                <a:cs typeface="Arial" pitchFamily="34" charset="-120"/>
              </a:rPr>
              <a:t> — Upload/download to S3/GCS/Azure Blob. Persistent artifact storage beyond session.
</a:t>
            </a:r>
            <a:r>
              <a:rPr lang="en-US" sz="900" b="1" dirty="0">
                <a:solidFill>
                  <a:srgbClr val="1B2A4A"/>
                </a:solidFill>
                <a:latin typeface="Courier New" pitchFamily="34" charset="0"/>
                <a:ea typeface="Courier New" pitchFamily="34" charset="-122"/>
                <a:cs typeface="Courier New" pitchFamily="34" charset="-120"/>
              </a:rPr>
              <a:t>schedule_task</a:t>
            </a:r>
            <a:r>
              <a:rPr lang="en-US" sz="900" dirty="0">
                <a:solidFill>
                  <a:srgbClr val="333333"/>
                </a:solidFill>
                <a:latin typeface="Arial" pitchFamily="34" charset="0"/>
                <a:ea typeface="Arial" pitchFamily="34" charset="-122"/>
                <a:cs typeface="Arial" pitchFamily="34" charset="-120"/>
              </a:rPr>
              <a:t> — Cron-style scheduling. Agents can set up recurring reports, checks, or data refreshes.</a:t>
            </a:r>
            <a:endParaRPr lang="en-US" sz="1000" dirty="0"/>
          </a:p>
        </p:txBody>
      </p:sp>
      <p:sp>
        <p:nvSpPr>
          <p:cNvPr id="16" name="Shape 14"/>
          <p:cNvSpPr/>
          <p:nvPr/>
        </p:nvSpPr>
        <p:spPr>
          <a:xfrm>
            <a:off x="502920" y="4352544"/>
            <a:ext cx="8138160" cy="29260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52544"/>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12 tools follow the existing ToolDefinition contract in tools/registry.py. Each gets a policy entry in tools/policy.py and agent allowlist in data/agents/*.md.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tools/registry.py (877 lines), tools/policy.py (59 lines), tools/executor.py — extend with 12 new tool modules</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Skills — 12 Packs to Add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11 skill packs exist today (agent-level guidance). These 12 new packs add domain expertise, workflow patterns, and integration know-how — making agents specialists.</a:t>
            </a:r>
            <a:endParaRPr lang="en-US" sz="1050" dirty="0"/>
          </a:p>
        </p:txBody>
      </p:sp>
      <p:sp>
        <p:nvSpPr>
          <p:cNvPr id="4" name="Shape 2"/>
          <p:cNvSpPr/>
          <p:nvPr/>
        </p:nvSpPr>
        <p:spPr>
          <a:xfrm>
            <a:off x="50292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Domain-Specific Skills (4)</a:t>
            </a:r>
            <a:endParaRPr lang="en-US" sz="1200" dirty="0"/>
          </a:p>
        </p:txBody>
      </p:sp>
      <p:sp>
        <p:nvSpPr>
          <p:cNvPr id="7" name="Text 5"/>
          <p:cNvSpPr/>
          <p:nvPr/>
        </p:nvSpPr>
        <p:spPr>
          <a:xfrm>
            <a:off x="61264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contract_review.md
</a:t>
            </a:r>
            <a:r>
              <a:rPr lang="en-US" sz="900" dirty="0">
                <a:solidFill>
                  <a:srgbClr val="333333"/>
                </a:solidFill>
                <a:latin typeface="Arial" pitchFamily="34" charset="0"/>
                <a:ea typeface="Arial" pitchFamily="34" charset="-122"/>
                <a:cs typeface="Arial" pitchFamily="34" charset="-120"/>
              </a:rPr>
              <a:t>Legal contract analysis: clause extraction, risk flags, obligation tracking, redline comparison patterns.
</a:t>
            </a:r>
            <a:r>
              <a:rPr lang="en-US" sz="900" b="1" dirty="0">
                <a:solidFill>
                  <a:srgbClr val="0097A7"/>
                </a:solidFill>
                <a:latin typeface="Courier New" pitchFamily="34" charset="0"/>
                <a:ea typeface="Courier New" pitchFamily="34" charset="-122"/>
                <a:cs typeface="Courier New" pitchFamily="34" charset="-120"/>
              </a:rPr>
              <a:t>financial_analysis.md
</a:t>
            </a:r>
            <a:r>
              <a:rPr lang="en-US" sz="900" dirty="0">
                <a:solidFill>
                  <a:srgbClr val="333333"/>
                </a:solidFill>
                <a:latin typeface="Arial" pitchFamily="34" charset="0"/>
                <a:ea typeface="Arial" pitchFamily="34" charset="-122"/>
                <a:cs typeface="Arial" pitchFamily="34" charset="-120"/>
              </a:rPr>
              <a:t>Financial modeling: ratio analysis, DCF templates, variance analysis, forecast guidance.
</a:t>
            </a:r>
            <a:r>
              <a:rPr lang="en-US" sz="900" b="1" dirty="0">
                <a:solidFill>
                  <a:srgbClr val="0097A7"/>
                </a:solidFill>
                <a:latin typeface="Courier New" pitchFamily="34" charset="0"/>
                <a:ea typeface="Courier New" pitchFamily="34" charset="-122"/>
                <a:cs typeface="Courier New" pitchFamily="34" charset="-120"/>
              </a:rPr>
              <a:t>compliance_check.md
</a:t>
            </a:r>
            <a:r>
              <a:rPr lang="en-US" sz="900" dirty="0">
                <a:solidFill>
                  <a:srgbClr val="333333"/>
                </a:solidFill>
                <a:latin typeface="Arial" pitchFamily="34" charset="0"/>
                <a:ea typeface="Arial" pitchFamily="34" charset="-122"/>
                <a:cs typeface="Arial" pitchFamily="34" charset="-120"/>
              </a:rPr>
              <a:t>Regulatory compliance: SOC2/GDPR/HIPAA checklists, evidence collection, gap analysis patterns.
</a:t>
            </a:r>
            <a:r>
              <a:rPr lang="en-US" sz="900" b="1" dirty="0">
                <a:solidFill>
                  <a:srgbClr val="0097A7"/>
                </a:solidFill>
                <a:latin typeface="Courier New" pitchFamily="34" charset="0"/>
                <a:ea typeface="Courier New" pitchFamily="34" charset="-122"/>
                <a:cs typeface="Courier New" pitchFamily="34" charset="-120"/>
              </a:rPr>
              <a:t>root_cause_analysis.md
</a:t>
            </a:r>
            <a:r>
              <a:rPr lang="en-US" sz="900" dirty="0">
                <a:solidFill>
                  <a:srgbClr val="333333"/>
                </a:solidFill>
                <a:latin typeface="Arial" pitchFamily="34" charset="0"/>
                <a:ea typeface="Arial" pitchFamily="34" charset="-122"/>
                <a:cs typeface="Arial" pitchFamily="34" charset="-120"/>
              </a:rPr>
              <a:t>Incident RCA: 5-Whys, fishbone, timeline construction, contributing factor identification.</a:t>
            </a:r>
            <a:endParaRPr lang="en-US" sz="1000" dirty="0"/>
          </a:p>
        </p:txBody>
      </p:sp>
      <p:sp>
        <p:nvSpPr>
          <p:cNvPr id="8" name="Shape 6"/>
          <p:cNvSpPr/>
          <p:nvPr/>
        </p:nvSpPr>
        <p:spPr>
          <a:xfrm>
            <a:off x="327660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Workflow Skills (4)</a:t>
            </a:r>
            <a:endParaRPr lang="en-US" sz="1200" dirty="0"/>
          </a:p>
        </p:txBody>
      </p:sp>
      <p:sp>
        <p:nvSpPr>
          <p:cNvPr id="11" name="Text 9"/>
          <p:cNvSpPr/>
          <p:nvPr/>
        </p:nvSpPr>
        <p:spPr>
          <a:xfrm>
            <a:off x="338632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report_writer.md
</a:t>
            </a:r>
            <a:r>
              <a:rPr lang="en-US" sz="900" dirty="0">
                <a:solidFill>
                  <a:srgbClr val="333333"/>
                </a:solidFill>
                <a:latin typeface="Arial" pitchFamily="34" charset="0"/>
                <a:ea typeface="Arial" pitchFamily="34" charset="-122"/>
                <a:cs typeface="Arial" pitchFamily="34" charset="-120"/>
              </a:rPr>
              <a:t>Structured report creation: outline → sections → citations → executive summary. Uses generate_pdf tool.
</a:t>
            </a:r>
            <a:r>
              <a:rPr lang="en-US" sz="900" b="1" dirty="0">
                <a:solidFill>
                  <a:srgbClr val="00796B"/>
                </a:solidFill>
                <a:latin typeface="Courier New" pitchFamily="34" charset="0"/>
                <a:ea typeface="Courier New" pitchFamily="34" charset="-122"/>
                <a:cs typeface="Courier New" pitchFamily="34" charset="-120"/>
              </a:rPr>
              <a:t>meeting_prep.md
</a:t>
            </a:r>
            <a:r>
              <a:rPr lang="en-US" sz="900" dirty="0">
                <a:solidFill>
                  <a:srgbClr val="333333"/>
                </a:solidFill>
                <a:latin typeface="Arial" pitchFamily="34" charset="0"/>
                <a:ea typeface="Arial" pitchFamily="34" charset="-122"/>
                <a:cs typeface="Arial" pitchFamily="34" charset="-120"/>
              </a:rPr>
              <a:t>Meeting preparation: agenda building, background research, talking points, action item tracking.
</a:t>
            </a:r>
            <a:r>
              <a:rPr lang="en-US" sz="900" b="1" dirty="0">
                <a:solidFill>
                  <a:srgbClr val="00796B"/>
                </a:solidFill>
                <a:latin typeface="Courier New" pitchFamily="34" charset="0"/>
                <a:ea typeface="Courier New" pitchFamily="34" charset="-122"/>
                <a:cs typeface="Courier New" pitchFamily="34" charset="-120"/>
              </a:rPr>
              <a:t>data_pipeline.md
</a:t>
            </a:r>
            <a:r>
              <a:rPr lang="en-US" sz="900" dirty="0">
                <a:solidFill>
                  <a:srgbClr val="333333"/>
                </a:solidFill>
                <a:latin typeface="Arial" pitchFamily="34" charset="0"/>
                <a:ea typeface="Arial" pitchFamily="34" charset="-122"/>
                <a:cs typeface="Arial" pitchFamily="34" charset="-120"/>
              </a:rPr>
              <a:t>Multi-step data analysis: load → clean → transform → analyze → visualize → save. Guides sandbox usage.
</a:t>
            </a:r>
            <a:r>
              <a:rPr lang="en-US" sz="900" b="1" dirty="0">
                <a:solidFill>
                  <a:srgbClr val="00796B"/>
                </a:solidFill>
                <a:latin typeface="Courier New" pitchFamily="34" charset="0"/>
                <a:ea typeface="Courier New" pitchFamily="34" charset="-122"/>
                <a:cs typeface="Courier New" pitchFamily="34" charset="-120"/>
              </a:rPr>
              <a:t>error_recovery.md
</a:t>
            </a:r>
            <a:r>
              <a:rPr lang="en-US" sz="900" dirty="0">
                <a:solidFill>
                  <a:srgbClr val="333333"/>
                </a:solidFill>
                <a:latin typeface="Arial" pitchFamily="34" charset="0"/>
                <a:ea typeface="Arial" pitchFamily="34" charset="-122"/>
                <a:cs typeface="Arial" pitchFamily="34" charset="-120"/>
              </a:rPr>
              <a:t>Tool failure patterns: retry strategies per tool type, fallback workflows, degraded-mode responses.</a:t>
            </a:r>
            <a:endParaRPr lang="en-US" sz="1000" dirty="0"/>
          </a:p>
        </p:txBody>
      </p:sp>
      <p:sp>
        <p:nvSpPr>
          <p:cNvPr id="12" name="Shape 10"/>
          <p:cNvSpPr/>
          <p:nvPr/>
        </p:nvSpPr>
        <p:spPr>
          <a:xfrm>
            <a:off x="605028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Integration Skills (4)</a:t>
            </a:r>
            <a:endParaRPr lang="en-US" sz="1200" dirty="0"/>
          </a:p>
        </p:txBody>
      </p:sp>
      <p:sp>
        <p:nvSpPr>
          <p:cNvPr id="15" name="Text 13"/>
          <p:cNvSpPr/>
          <p:nvPr/>
        </p:nvSpPr>
        <p:spPr>
          <a:xfrm>
            <a:off x="616000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github_workflow.md
</a:t>
            </a:r>
            <a:r>
              <a:rPr lang="en-US" sz="900" dirty="0">
                <a:solidFill>
                  <a:srgbClr val="333333"/>
                </a:solidFill>
                <a:latin typeface="Arial" pitchFamily="34" charset="0"/>
                <a:ea typeface="Arial" pitchFamily="34" charset="-122"/>
                <a:cs typeface="Arial" pitchFamily="34" charset="-120"/>
              </a:rPr>
              <a:t>GitHub integration: PR review, issue triage, code search patterns, commit analysis.
</a:t>
            </a:r>
            <a:r>
              <a:rPr lang="en-US" sz="900" b="1" dirty="0">
                <a:solidFill>
                  <a:srgbClr val="1B2A4A"/>
                </a:solidFill>
                <a:latin typeface="Courier New" pitchFamily="34" charset="0"/>
                <a:ea typeface="Courier New" pitchFamily="34" charset="-122"/>
                <a:cs typeface="Courier New" pitchFamily="34" charset="-120"/>
              </a:rPr>
              <a:t>jira_workflow.md
</a:t>
            </a:r>
            <a:r>
              <a:rPr lang="en-US" sz="900" dirty="0">
                <a:solidFill>
                  <a:srgbClr val="333333"/>
                </a:solidFill>
                <a:latin typeface="Arial" pitchFamily="34" charset="0"/>
                <a:ea typeface="Arial" pitchFamily="34" charset="-122"/>
                <a:cs typeface="Arial" pitchFamily="34" charset="-120"/>
              </a:rPr>
              <a:t>Jira ticket management: status updates, sprint planning, dependency tracking, estimation.
</a:t>
            </a:r>
            <a:r>
              <a:rPr lang="en-US" sz="900" b="1" dirty="0">
                <a:solidFill>
                  <a:srgbClr val="1B2A4A"/>
                </a:solidFill>
                <a:latin typeface="Courier New" pitchFamily="34" charset="0"/>
                <a:ea typeface="Courier New" pitchFamily="34" charset="-122"/>
                <a:cs typeface="Courier New" pitchFamily="34" charset="-120"/>
              </a:rPr>
              <a:t>slack_integration.md
</a:t>
            </a:r>
            <a:r>
              <a:rPr lang="en-US" sz="900" dirty="0">
                <a:solidFill>
                  <a:srgbClr val="333333"/>
                </a:solidFill>
                <a:latin typeface="Arial" pitchFamily="34" charset="0"/>
                <a:ea typeface="Arial" pitchFamily="34" charset="-122"/>
                <a:cs typeface="Arial" pitchFamily="34" charset="-120"/>
              </a:rPr>
              <a:t>Slack workflows: channel summarization, thread responses, notification routing, standup reports.
</a:t>
            </a:r>
            <a:r>
              <a:rPr lang="en-US" sz="900" b="1" dirty="0">
                <a:solidFill>
                  <a:srgbClr val="1B2A4A"/>
                </a:solidFill>
                <a:latin typeface="Courier New" pitchFamily="34" charset="0"/>
                <a:ea typeface="Courier New" pitchFamily="34" charset="-122"/>
                <a:cs typeface="Courier New" pitchFamily="34" charset="-120"/>
              </a:rPr>
              <a:t>api_integration.md
</a:t>
            </a:r>
            <a:r>
              <a:rPr lang="en-US" sz="900" dirty="0">
                <a:solidFill>
                  <a:srgbClr val="333333"/>
                </a:solidFill>
                <a:latin typeface="Arial" pitchFamily="34" charset="0"/>
                <a:ea typeface="Arial" pitchFamily="34" charset="-122"/>
                <a:cs typeface="Arial" pitchFamily="34" charset="-120"/>
              </a:rPr>
              <a:t>Generic API calling: authentication patterns, pagination, rate limit handling, error mapping.</a:t>
            </a:r>
            <a:endParaRPr lang="en-US" sz="1000" dirty="0"/>
          </a:p>
        </p:txBody>
      </p:sp>
      <p:sp>
        <p:nvSpPr>
          <p:cNvPr id="16" name="Shape 14"/>
          <p:cNvSpPr/>
          <p:nvPr/>
        </p:nvSpPr>
        <p:spPr>
          <a:xfrm>
            <a:off x="502920" y="4389120"/>
            <a:ext cx="8138160" cy="20116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89120"/>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packs use the existing skill frontmatter schema. Loaded via pack_loader.py, matched via SkillResolver, injected into agent prompts by skills/runtime.py.</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(314 lines), skills/resolver.py (105 lines), skills/runtime.py (176 lines) — 11 packs today, expand to 23</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as Persistent Agent Filesystem</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the sandbox spins up fresh per tool call. Transform it into a persistent workspace that agents read/write across turns — like a shared drive.</a:t>
            </a:r>
            <a:endParaRPr lang="en-US" sz="1050" dirty="0"/>
          </a:p>
        </p:txBody>
      </p:sp>
      <p:sp>
        <p:nvSpPr>
          <p:cNvPr id="4" name="Shape 2"/>
          <p:cNvSpPr/>
          <p:nvPr/>
        </p:nvSpPr>
        <p:spPr>
          <a:xfrm>
            <a:off x="50292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07008"/>
            <a:ext cx="3977640" cy="320040"/>
          </a:xfrm>
          <a:prstGeom prst="rect">
            <a:avLst/>
          </a:prstGeom>
          <a:solidFill>
            <a:srgbClr val="666666"/>
          </a:solidFill>
          <a:ln/>
        </p:spPr>
        <p:txBody>
          <a:bodyPr/>
          <a:lstStyle/>
          <a:p>
            <a:endParaRPr lang="en-US"/>
          </a:p>
        </p:txBody>
      </p:sp>
      <p:sp>
        <p:nvSpPr>
          <p:cNvPr id="6" name="Text 4"/>
          <p:cNvSpPr/>
          <p:nvPr/>
        </p:nvSpPr>
        <p:spPr>
          <a:xfrm>
            <a:off x="61264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Today: Ephemeral Containers</a:t>
            </a:r>
            <a:endParaRPr lang="en-US" sz="1200" dirty="0"/>
          </a:p>
        </p:txBody>
      </p:sp>
      <p:sp>
        <p:nvSpPr>
          <p:cNvPr id="7" name="Text 5"/>
          <p:cNvSpPr/>
          <p:nvPr/>
        </p:nvSpPr>
        <p:spPr>
          <a:xfrm>
            <a:off x="612648" y="1591056"/>
            <a:ext cx="3758184" cy="135331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docker_exec.py</a:t>
            </a:r>
            <a:r>
              <a:rPr lang="en-US" sz="900" dirty="0">
                <a:solidFill>
                  <a:srgbClr val="333333"/>
                </a:solidFill>
                <a:latin typeface="Arial" pitchFamily="34" charset="0"/>
                <a:ea typeface="Arial" pitchFamily="34" charset="-122"/>
                <a:cs typeface="Arial" pitchFamily="34" charset="-120"/>
              </a:rPr>
              <a:t> — spins up fresh container per execute_code call
</a:t>
            </a:r>
            <a:r>
              <a:rPr lang="en-US" sz="900" dirty="0">
                <a:solidFill>
                  <a:srgbClr val="999999"/>
                </a:solidFill>
                <a:latin typeface="Courier New" pitchFamily="34" charset="0"/>
                <a:ea typeface="Courier New" pitchFamily="34" charset="-122"/>
                <a:cs typeface="Courier New" pitchFamily="34" charset="-120"/>
              </a:rPr>
              <a:t>workspace.py</a:t>
            </a:r>
            <a:r>
              <a:rPr lang="en-US" sz="900" dirty="0">
                <a:solidFill>
                  <a:srgbClr val="333333"/>
                </a:solidFill>
                <a:latin typeface="Arial" pitchFamily="34" charset="0"/>
                <a:ea typeface="Arial" pitchFamily="34" charset="-122"/>
                <a:cs typeface="Arial" pitchFamily="34" charset="-120"/>
              </a:rPr>
              <a:t> — persistent per-session file store exists but is underutilized
</a:t>
            </a:r>
            <a:r>
              <a:rPr lang="en-US" sz="900" b="1" dirty="0">
                <a:solidFill>
                  <a:srgbClr val="C62828"/>
                </a:solidFill>
                <a:latin typeface="Arial" pitchFamily="34" charset="0"/>
                <a:ea typeface="Arial" pitchFamily="34" charset="-122"/>
                <a:cs typeface="Arial" pitchFamily="34" charset="-120"/>
              </a:rPr>
              <a:t>Problem: </a:t>
            </a:r>
            <a:r>
              <a:rPr lang="en-US" sz="900" dirty="0">
                <a:solidFill>
                  <a:srgbClr val="333333"/>
                </a:solidFill>
                <a:latin typeface="Arial" pitchFamily="34" charset="0"/>
                <a:ea typeface="Arial" pitchFamily="34" charset="-122"/>
                <a:cs typeface="Arial" pitchFamily="34" charset="-120"/>
              </a:rPr>
              <a:t>Each tool call starts from scratch. Data analyst can't build on previous results. Agents can't accumulate files across a multi-step workflow.</a:t>
            </a:r>
            <a:endParaRPr lang="en-US" sz="1000" dirty="0"/>
          </a:p>
        </p:txBody>
      </p:sp>
      <p:sp>
        <p:nvSpPr>
          <p:cNvPr id="8" name="Shape 6"/>
          <p:cNvSpPr/>
          <p:nvPr/>
        </p:nvSpPr>
        <p:spPr>
          <a:xfrm>
            <a:off x="466344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07008"/>
            <a:ext cx="3977640" cy="320040"/>
          </a:xfrm>
          <a:prstGeom prst="rect">
            <a:avLst/>
          </a:prstGeom>
          <a:solidFill>
            <a:srgbClr val="0097A7"/>
          </a:solidFill>
          <a:ln/>
        </p:spPr>
        <p:txBody>
          <a:bodyPr/>
          <a:lstStyle/>
          <a:p>
            <a:endParaRPr lang="en-US"/>
          </a:p>
        </p:txBody>
      </p:sp>
      <p:sp>
        <p:nvSpPr>
          <p:cNvPr id="10" name="Text 8"/>
          <p:cNvSpPr/>
          <p:nvPr/>
        </p:nvSpPr>
        <p:spPr>
          <a:xfrm>
            <a:off x="477316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Target: Persistent Agent Filesystem</a:t>
            </a:r>
            <a:endParaRPr lang="en-US" sz="1200" dirty="0"/>
          </a:p>
        </p:txBody>
      </p:sp>
      <p:sp>
        <p:nvSpPr>
          <p:cNvPr id="11" name="Text 9"/>
          <p:cNvSpPr/>
          <p:nvPr/>
        </p:nvSpPr>
        <p:spPr>
          <a:xfrm>
            <a:off x="4773168" y="1591056"/>
            <a:ext cx="3758184" cy="135331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Arial" pitchFamily="34" charset="0"/>
                <a:ea typeface="Arial" pitchFamily="34" charset="-122"/>
                <a:cs typeface="Arial" pitchFamily="34" charset="-120"/>
              </a:rPr>
              <a:t>Bind-mount workspace to every sandbox container:
</a:t>
            </a:r>
            <a:r>
              <a:rPr lang="en-US" sz="900" dirty="0">
                <a:solidFill>
                  <a:srgbClr val="333333"/>
                </a:solidFill>
                <a:latin typeface="Courier New" pitchFamily="34" charset="0"/>
                <a:ea typeface="Courier New" pitchFamily="34" charset="-122"/>
                <a:cs typeface="Courier New" pitchFamily="34" charset="-120"/>
              </a:rPr>
              <a:t>/workspace → session workspace directory
</a:t>
            </a:r>
            <a:r>
              <a:rPr lang="en-US" sz="900" b="1" dirty="0">
                <a:solidFill>
                  <a:srgbClr val="2E7D32"/>
                </a:solidFill>
                <a:latin typeface="Arial" pitchFamily="34" charset="0"/>
                <a:ea typeface="Arial" pitchFamily="34" charset="-122"/>
                <a:cs typeface="Arial" pitchFamily="34" charset="-120"/>
              </a:rPr>
              <a:t>Agents see a shared drive: </a:t>
            </a:r>
            <a:r>
              <a:rPr lang="en-US" sz="900" dirty="0">
                <a:solidFill>
                  <a:srgbClr val="333333"/>
                </a:solidFill>
                <a:latin typeface="Arial" pitchFamily="34" charset="0"/>
                <a:ea typeface="Arial" pitchFamily="34" charset="-122"/>
                <a:cs typeface="Arial" pitchFamily="34" charset="-120"/>
              </a:rPr>
              <a:t>save a CSV in step 1, load it in step 3, generate a chart in step 5 — all from /workspace.
</a:t>
            </a:r>
            <a:r>
              <a:rPr lang="en-US" sz="900" b="1" dirty="0">
                <a:solidFill>
                  <a:srgbClr val="2E7D32"/>
                </a:solidFill>
                <a:latin typeface="Arial" pitchFamily="34" charset="0"/>
                <a:ea typeface="Arial" pitchFamily="34" charset="-122"/>
                <a:cs typeface="Arial" pitchFamily="34" charset="-120"/>
              </a:rPr>
              <a:t>Files persist across turns: </a:t>
            </a:r>
            <a:r>
              <a:rPr lang="en-US" sz="900" dirty="0">
                <a:solidFill>
                  <a:srgbClr val="333333"/>
                </a:solidFill>
                <a:latin typeface="Arial" pitchFamily="34" charset="0"/>
                <a:ea typeface="Arial" pitchFamily="34" charset="-122"/>
                <a:cs typeface="Arial" pitchFamily="34" charset="-120"/>
              </a:rPr>
              <a:t>user uploads a file → agent transforms it → user downloads the result. All via workspace.</a:t>
            </a:r>
            <a:endParaRPr lang="en-US" sz="1000" dirty="0"/>
          </a:p>
        </p:txBody>
      </p:sp>
      <p:sp>
        <p:nvSpPr>
          <p:cNvPr id="12" name="Text 10"/>
          <p:cNvSpPr/>
          <p:nvPr/>
        </p:nvSpPr>
        <p:spPr>
          <a:xfrm>
            <a:off x="502920" y="3154680"/>
            <a:ext cx="813816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 5 Steps</a:t>
            </a:r>
            <a:endParaRPr lang="en-US" sz="1100" dirty="0"/>
          </a:p>
        </p:txBody>
      </p:sp>
      <p:sp>
        <p:nvSpPr>
          <p:cNvPr id="13" name="Shape 11"/>
          <p:cNvSpPr/>
          <p:nvPr/>
        </p:nvSpPr>
        <p:spPr>
          <a:xfrm>
            <a:off x="50292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02920" y="3429000"/>
            <a:ext cx="320040" cy="256032"/>
          </a:xfrm>
          <a:prstGeom prst="rect">
            <a:avLst/>
          </a:prstGeom>
          <a:solidFill>
            <a:srgbClr val="0097A7"/>
          </a:solidFill>
          <a:ln/>
        </p:spPr>
        <p:txBody>
          <a:bodyPr/>
          <a:lstStyle/>
          <a:p>
            <a:endParaRPr lang="en-US"/>
          </a:p>
        </p:txBody>
      </p:sp>
      <p:sp>
        <p:nvSpPr>
          <p:cNvPr id="15" name="Text 13"/>
          <p:cNvSpPr/>
          <p:nvPr/>
        </p:nvSpPr>
        <p:spPr>
          <a:xfrm>
            <a:off x="50292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p:nvPr/>
        </p:nvSpPr>
        <p:spPr>
          <a:xfrm>
            <a:off x="86868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Auto-Mount</a:t>
            </a:r>
            <a:endParaRPr lang="en-US" sz="950" dirty="0"/>
          </a:p>
        </p:txBody>
      </p:sp>
      <p:sp>
        <p:nvSpPr>
          <p:cNvPr id="17" name="Text 15"/>
          <p:cNvSpPr/>
          <p:nvPr/>
        </p:nvSpPr>
        <p:spPr>
          <a:xfrm>
            <a:off x="57607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Always bind workspace_root to /workspace in docker_exec.py containers. Files written inside persist outside.</a:t>
            </a:r>
            <a:endParaRPr lang="en-US" sz="800" dirty="0"/>
          </a:p>
        </p:txBody>
      </p:sp>
      <p:sp>
        <p:nvSpPr>
          <p:cNvPr id="18" name="Shape 16"/>
          <p:cNvSpPr/>
          <p:nvPr/>
        </p:nvSpPr>
        <p:spPr>
          <a:xfrm>
            <a:off x="214884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9" name="Shape 17"/>
          <p:cNvSpPr/>
          <p:nvPr/>
        </p:nvSpPr>
        <p:spPr>
          <a:xfrm>
            <a:off x="2148840" y="3429000"/>
            <a:ext cx="320040" cy="256032"/>
          </a:xfrm>
          <a:prstGeom prst="rect">
            <a:avLst/>
          </a:prstGeom>
          <a:solidFill>
            <a:srgbClr val="0097A7"/>
          </a:solidFill>
          <a:ln/>
        </p:spPr>
        <p:txBody>
          <a:bodyPr/>
          <a:lstStyle/>
          <a:p>
            <a:endParaRPr lang="en-US"/>
          </a:p>
        </p:txBody>
      </p:sp>
      <p:sp>
        <p:nvSpPr>
          <p:cNvPr id="20" name="Text 18"/>
          <p:cNvSpPr/>
          <p:nvPr/>
        </p:nvSpPr>
        <p:spPr>
          <a:xfrm>
            <a:off x="214884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1" name="Text 19"/>
          <p:cNvSpPr/>
          <p:nvPr/>
        </p:nvSpPr>
        <p:spPr>
          <a:xfrm>
            <a:off x="251460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Index</a:t>
            </a:r>
            <a:endParaRPr lang="en-US" sz="950" dirty="0"/>
          </a:p>
        </p:txBody>
      </p:sp>
      <p:sp>
        <p:nvSpPr>
          <p:cNvPr id="22" name="Text 20"/>
          <p:cNvSpPr/>
          <p:nvPr/>
        </p:nvSpPr>
        <p:spPr>
          <a:xfrm>
            <a:off x="222199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Add workspace_index tool: lists files with size, type, modified date. Agents know what's available.</a:t>
            </a:r>
            <a:endParaRPr lang="en-US" sz="800" dirty="0"/>
          </a:p>
        </p:txBody>
      </p:sp>
      <p:sp>
        <p:nvSpPr>
          <p:cNvPr id="23" name="Shape 21"/>
          <p:cNvSpPr/>
          <p:nvPr/>
        </p:nvSpPr>
        <p:spPr>
          <a:xfrm>
            <a:off x="379476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4" name="Shape 22"/>
          <p:cNvSpPr/>
          <p:nvPr/>
        </p:nvSpPr>
        <p:spPr>
          <a:xfrm>
            <a:off x="3794760" y="3429000"/>
            <a:ext cx="320040" cy="256032"/>
          </a:xfrm>
          <a:prstGeom prst="rect">
            <a:avLst/>
          </a:prstGeom>
          <a:solidFill>
            <a:srgbClr val="0097A7"/>
          </a:solidFill>
          <a:ln/>
        </p:spPr>
        <p:txBody>
          <a:bodyPr/>
          <a:lstStyle/>
          <a:p>
            <a:endParaRPr lang="en-US"/>
          </a:p>
        </p:txBody>
      </p:sp>
      <p:sp>
        <p:nvSpPr>
          <p:cNvPr id="25" name="Text 23"/>
          <p:cNvSpPr/>
          <p:nvPr/>
        </p:nvSpPr>
        <p:spPr>
          <a:xfrm>
            <a:off x="379476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6" name="Text 24"/>
          <p:cNvSpPr/>
          <p:nvPr/>
        </p:nvSpPr>
        <p:spPr>
          <a:xfrm>
            <a:off x="416052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Upload Ingest</a:t>
            </a:r>
            <a:endParaRPr lang="en-US" sz="950" dirty="0"/>
          </a:p>
        </p:txBody>
      </p:sp>
      <p:sp>
        <p:nvSpPr>
          <p:cNvPr id="27" name="Text 25"/>
          <p:cNvSpPr/>
          <p:nvPr/>
        </p:nvSpPr>
        <p:spPr>
          <a:xfrm>
            <a:off x="386791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Route /v1/upload files into workspace. Agents access uploads via /workspace/{filename} in sandbox.</a:t>
            </a:r>
            <a:endParaRPr lang="en-US" sz="800" dirty="0"/>
          </a:p>
        </p:txBody>
      </p:sp>
      <p:sp>
        <p:nvSpPr>
          <p:cNvPr id="28" name="Shape 26"/>
          <p:cNvSpPr/>
          <p:nvPr/>
        </p:nvSpPr>
        <p:spPr>
          <a:xfrm>
            <a:off x="544068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3429000"/>
            <a:ext cx="320040" cy="256032"/>
          </a:xfrm>
          <a:prstGeom prst="rect">
            <a:avLst/>
          </a:prstGeom>
          <a:solidFill>
            <a:srgbClr val="0097A7"/>
          </a:solidFill>
          <a:ln/>
        </p:spPr>
        <p:txBody>
          <a:bodyPr/>
          <a:lstStyle/>
          <a:p>
            <a:endParaRPr lang="en-US"/>
          </a:p>
        </p:txBody>
      </p:sp>
      <p:sp>
        <p:nvSpPr>
          <p:cNvPr id="30" name="Text 28"/>
          <p:cNvSpPr/>
          <p:nvPr/>
        </p:nvSpPr>
        <p:spPr>
          <a:xfrm>
            <a:off x="544068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1" name="Text 29"/>
          <p:cNvSpPr/>
          <p:nvPr/>
        </p:nvSpPr>
        <p:spPr>
          <a:xfrm>
            <a:off x="580644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Artifact DAG</a:t>
            </a:r>
            <a:endParaRPr lang="en-US" sz="950" dirty="0"/>
          </a:p>
        </p:txBody>
      </p:sp>
      <p:sp>
        <p:nvSpPr>
          <p:cNvPr id="32" name="Text 30"/>
          <p:cNvSpPr/>
          <p:nvPr/>
        </p:nvSpPr>
        <p:spPr>
          <a:xfrm>
            <a:off x="551383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Track file lineage: which tool created which file from which input. Enables provenance and cleanup.</a:t>
            </a:r>
            <a:endParaRPr lang="en-US" sz="800" dirty="0"/>
          </a:p>
        </p:txBody>
      </p:sp>
      <p:sp>
        <p:nvSpPr>
          <p:cNvPr id="33" name="Shape 31"/>
          <p:cNvSpPr/>
          <p:nvPr/>
        </p:nvSpPr>
        <p:spPr>
          <a:xfrm>
            <a:off x="708660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34" name="Shape 32"/>
          <p:cNvSpPr/>
          <p:nvPr/>
        </p:nvSpPr>
        <p:spPr>
          <a:xfrm>
            <a:off x="7086600" y="3429000"/>
            <a:ext cx="320040" cy="256032"/>
          </a:xfrm>
          <a:prstGeom prst="rect">
            <a:avLst/>
          </a:prstGeom>
          <a:solidFill>
            <a:srgbClr val="0097A7"/>
          </a:solidFill>
          <a:ln/>
        </p:spPr>
        <p:txBody>
          <a:bodyPr/>
          <a:lstStyle/>
          <a:p>
            <a:endParaRPr lang="en-US"/>
          </a:p>
        </p:txBody>
      </p:sp>
      <p:sp>
        <p:nvSpPr>
          <p:cNvPr id="35" name="Text 33"/>
          <p:cNvSpPr/>
          <p:nvPr/>
        </p:nvSpPr>
        <p:spPr>
          <a:xfrm>
            <a:off x="708660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Text 34"/>
          <p:cNvSpPr/>
          <p:nvPr/>
        </p:nvSpPr>
        <p:spPr>
          <a:xfrm>
            <a:off x="745236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RAG</a:t>
            </a:r>
            <a:endParaRPr lang="en-US" sz="950" dirty="0"/>
          </a:p>
        </p:txBody>
      </p:sp>
      <p:sp>
        <p:nvSpPr>
          <p:cNvPr id="37" name="Text 35"/>
          <p:cNvSpPr/>
          <p:nvPr/>
        </p:nvSpPr>
        <p:spPr>
          <a:xfrm>
            <a:off x="715975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Index workspace files into session-scoped KB. Agents can search/cite workspace documents via RAG.</a:t>
            </a:r>
            <a:endParaRPr lang="en-US" sz="800" dirty="0"/>
          </a:p>
        </p:txBody>
      </p:sp>
      <p:sp>
        <p:nvSpPr>
          <p:cNvPr id="38" name="Text 3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 5-step evolution to persistent agent filesystem</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System — 8 Robustness Upgrades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stores coexist today: FileMemoryStore (257 lines) and PostgresMemoryStore (831 lines). They don't sync. These 8 changes unify them and close lifecycle gaps.</a:t>
            </a:r>
            <a:endParaRPr lang="en-US" sz="1050" dirty="0"/>
          </a:p>
        </p:txBody>
      </p:sp>
      <p:sp>
        <p:nvSpPr>
          <p:cNvPr id="4" name="Text 2"/>
          <p:cNvSpPr/>
          <p:nvPr/>
        </p:nvSpPr>
        <p:spPr>
          <a:xfrm>
            <a:off x="502920" y="1188720"/>
            <a:ext cx="27432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5" name="Text 3"/>
          <p:cNvSpPr/>
          <p:nvPr/>
        </p:nvSpPr>
        <p:spPr>
          <a:xfrm>
            <a:off x="777240" y="1188720"/>
            <a:ext cx="150876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Upgrade</a:t>
            </a:r>
            <a:endParaRPr lang="en-US" sz="900" dirty="0"/>
          </a:p>
        </p:txBody>
      </p:sp>
      <p:sp>
        <p:nvSpPr>
          <p:cNvPr id="6" name="Text 4"/>
          <p:cNvSpPr/>
          <p:nvPr/>
        </p:nvSpPr>
        <p:spPr>
          <a:xfrm>
            <a:off x="2286000" y="1188720"/>
            <a:ext cx="301752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Current Gap</a:t>
            </a:r>
            <a:endParaRPr lang="en-US" sz="900" dirty="0"/>
          </a:p>
        </p:txBody>
      </p:sp>
      <p:sp>
        <p:nvSpPr>
          <p:cNvPr id="7" name="Text 5"/>
          <p:cNvSpPr/>
          <p:nvPr/>
        </p:nvSpPr>
        <p:spPr>
          <a:xfrm>
            <a:off x="5303520" y="1188720"/>
            <a:ext cx="333756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Implementation Path</a:t>
            </a:r>
            <a:endParaRPr lang="en-US" sz="900" dirty="0"/>
          </a:p>
        </p:txBody>
      </p:sp>
      <p:sp>
        <p:nvSpPr>
          <p:cNvPr id="8" name="Text 6"/>
          <p:cNvSpPr/>
          <p:nvPr/>
        </p:nvSpPr>
        <p:spPr>
          <a:xfrm>
            <a:off x="502920" y="1517904"/>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9" name="Text 7"/>
          <p:cNvSpPr/>
          <p:nvPr/>
        </p:nvSpPr>
        <p:spPr>
          <a:xfrm>
            <a:off x="777240" y="1517904"/>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Unified Store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Facade</a:t>
            </a:r>
            <a:endParaRPr lang="en-US" sz="750" dirty="0"/>
          </a:p>
        </p:txBody>
      </p:sp>
      <p:sp>
        <p:nvSpPr>
          <p:cNvPr id="10" name="Text 8"/>
          <p:cNvSpPr/>
          <p:nvPr/>
        </p:nvSpPr>
        <p:spPr>
          <a:xfrm>
            <a:off x="2286000" y="1517904"/>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FileMemoryStore and PostgresMemoryStore operate independently. If Postgres is unavailable, writes go to file store only — no sync back.</a:t>
            </a:r>
            <a:endParaRPr lang="en-US" sz="750" dirty="0"/>
          </a:p>
        </p:txBody>
      </p:sp>
      <p:sp>
        <p:nvSpPr>
          <p:cNvPr id="11" name="Text 9"/>
          <p:cNvSpPr/>
          <p:nvPr/>
        </p:nvSpPr>
        <p:spPr>
          <a:xfrm>
            <a:off x="5303520" y="1517904"/>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MemoryFacade that writes to both stores. Postgres is primary; file store is projection. On startup, reconcile file→Postgres drift.</a:t>
            </a:r>
            <a:endParaRPr lang="en-US" sz="750" dirty="0"/>
          </a:p>
        </p:txBody>
      </p:sp>
      <p:sp>
        <p:nvSpPr>
          <p:cNvPr id="12" name="Text 10"/>
          <p:cNvSpPr/>
          <p:nvPr/>
        </p:nvSpPr>
        <p:spPr>
          <a:xfrm>
            <a:off x="502920" y="1847088"/>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3" name="Text 11"/>
          <p:cNvSpPr/>
          <p:nvPr/>
        </p:nvSpPr>
        <p:spPr>
          <a:xfrm>
            <a:off x="777240" y="1847088"/>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TTL</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Enforcement</a:t>
            </a:r>
            <a:endParaRPr lang="en-US" sz="750" dirty="0"/>
          </a:p>
        </p:txBody>
      </p:sp>
      <p:sp>
        <p:nvSpPr>
          <p:cNvPr id="14" name="Text 12"/>
          <p:cNvSpPr/>
          <p:nvPr/>
        </p:nvSpPr>
        <p:spPr>
          <a:xfrm>
            <a:off x="2286000" y="1847088"/>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ttl_hint field is set on records but never read. Expired memories stay active forever, polluting context.</a:t>
            </a:r>
            <a:endParaRPr lang="en-US" sz="750" dirty="0"/>
          </a:p>
        </p:txBody>
      </p:sp>
      <p:sp>
        <p:nvSpPr>
          <p:cNvPr id="15" name="Text 13"/>
          <p:cNvSpPr/>
          <p:nvPr/>
        </p:nvSpPr>
        <p:spPr>
          <a:xfrm>
            <a:off x="5303520" y="1847088"/>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periodic sweep (cron or on-read): query WHERE ttl_hint &lt; NOW() AND active = TRUE → set active=FALSE. Expose ttl_policy per memory type.</a:t>
            </a:r>
            <a:endParaRPr lang="en-US" sz="750" dirty="0"/>
          </a:p>
        </p:txBody>
      </p:sp>
      <p:sp>
        <p:nvSpPr>
          <p:cNvPr id="16" name="Text 14"/>
          <p:cNvSpPr/>
          <p:nvPr/>
        </p:nvSpPr>
        <p:spPr>
          <a:xfrm>
            <a:off x="502920" y="2176272"/>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17" name="Text 15"/>
          <p:cNvSpPr/>
          <p:nvPr/>
        </p:nvSpPr>
        <p:spPr>
          <a:xfrm>
            <a:off x="777240" y="2176272"/>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Importance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Decay</a:t>
            </a:r>
            <a:endParaRPr lang="en-US" sz="750" dirty="0"/>
          </a:p>
        </p:txBody>
      </p:sp>
      <p:sp>
        <p:nvSpPr>
          <p:cNvPr id="18" name="Text 16"/>
          <p:cNvSpPr/>
          <p:nvPr/>
        </p:nvSpPr>
        <p:spPr>
          <a:xfrm>
            <a:off x="2286000" y="2176272"/>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Importance score is static once set. Old memories rank equally with fresh ones, crowding the context window.</a:t>
            </a:r>
            <a:endParaRPr lang="en-US" sz="750" dirty="0"/>
          </a:p>
        </p:txBody>
      </p:sp>
      <p:sp>
        <p:nvSpPr>
          <p:cNvPr id="19" name="Text 17"/>
          <p:cNvSpPr/>
          <p:nvPr/>
        </p:nvSpPr>
        <p:spPr>
          <a:xfrm>
            <a:off x="5303520" y="2176272"/>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Apply time-decay: effective_importance = importance × decay^(days_since_last_used). Tune decay per type (profile=0.99, task_state=0.90).</a:t>
            </a:r>
            <a:endParaRPr lang="en-US" sz="750" dirty="0"/>
          </a:p>
        </p:txBody>
      </p:sp>
      <p:sp>
        <p:nvSpPr>
          <p:cNvPr id="20" name="Text 18"/>
          <p:cNvSpPr/>
          <p:nvPr/>
        </p:nvSpPr>
        <p:spPr>
          <a:xfrm>
            <a:off x="502920" y="2505456"/>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1" name="Text 19"/>
          <p:cNvSpPr/>
          <p:nvPr/>
        </p:nvSpPr>
        <p:spPr>
          <a:xfrm>
            <a:off x="777240" y="2505456"/>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Auto</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Consolidation</a:t>
            </a:r>
            <a:endParaRPr lang="en-US" sz="750" dirty="0"/>
          </a:p>
        </p:txBody>
      </p:sp>
      <p:sp>
        <p:nvSpPr>
          <p:cNvPr id="22" name="Text 20"/>
          <p:cNvSpPr/>
          <p:nvPr/>
        </p:nvSpPr>
        <p:spPr>
          <a:xfrm>
            <a:off x="2286000" y="2505456"/>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Duplicate/near-duplicate memories accumulate. No dedup beyond exact canonical_text match.</a:t>
            </a:r>
            <a:endParaRPr lang="en-US" sz="750" dirty="0"/>
          </a:p>
        </p:txBody>
      </p:sp>
      <p:sp>
        <p:nvSpPr>
          <p:cNvPr id="23" name="Text 21"/>
          <p:cNvSpPr/>
          <p:nvPr/>
        </p:nvSpPr>
        <p:spPr>
          <a:xfrm>
            <a:off x="5303520" y="2505456"/>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Nightly job: vector-cluster active records (cosine &gt; 0.92). Merge clusters into single record, supersede originals. Log as consolidation observation.</a:t>
            </a:r>
            <a:endParaRPr lang="en-US" sz="750" dirty="0"/>
          </a:p>
        </p:txBody>
      </p:sp>
      <p:sp>
        <p:nvSpPr>
          <p:cNvPr id="24" name="Text 22"/>
          <p:cNvSpPr/>
          <p:nvPr/>
        </p:nvSpPr>
        <p:spPr>
          <a:xfrm>
            <a:off x="502920" y="2834640"/>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25" name="Text 23"/>
          <p:cNvSpPr/>
          <p:nvPr/>
        </p:nvSpPr>
        <p:spPr>
          <a:xfrm>
            <a:off x="777240" y="2834640"/>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Confidence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Threshold</a:t>
            </a:r>
            <a:endParaRPr lang="en-US" sz="750" dirty="0"/>
          </a:p>
        </p:txBody>
      </p:sp>
      <p:sp>
        <p:nvSpPr>
          <p:cNvPr id="26" name="Text 24"/>
          <p:cNvSpPr/>
          <p:nvPr/>
        </p:nvSpPr>
        <p:spPr>
          <a:xfrm>
            <a:off x="2286000" y="2834640"/>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MemorySelector returns all candidates regardless of confidence. Low-confidence facts injected into prompts.</a:t>
            </a:r>
            <a:endParaRPr lang="en-US" sz="750" dirty="0"/>
          </a:p>
        </p:txBody>
      </p:sp>
      <p:sp>
        <p:nvSpPr>
          <p:cNvPr id="27" name="Text 25"/>
          <p:cNvSpPr/>
          <p:nvPr/>
        </p:nvSpPr>
        <p:spPr>
          <a:xfrm>
            <a:off x="5303520" y="2834640"/>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Filter candidates where confidence &lt; 0.4 before selection. Surface low-confidence memories with [uncertain] tag so agents can verify.</a:t>
            </a:r>
            <a:endParaRPr lang="en-US" sz="750" dirty="0"/>
          </a:p>
        </p:txBody>
      </p:sp>
      <p:sp>
        <p:nvSpPr>
          <p:cNvPr id="28" name="Text 26"/>
          <p:cNvSpPr/>
          <p:nvPr/>
        </p:nvSpPr>
        <p:spPr>
          <a:xfrm>
            <a:off x="502920" y="3163824"/>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29" name="Text 27"/>
          <p:cNvSpPr/>
          <p:nvPr/>
        </p:nvSpPr>
        <p:spPr>
          <a:xfrm>
            <a:off x="777240" y="3163824"/>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Cross-Session</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Links</a:t>
            </a:r>
            <a:endParaRPr lang="en-US" sz="750" dirty="0"/>
          </a:p>
        </p:txBody>
      </p:sp>
      <p:sp>
        <p:nvSpPr>
          <p:cNvPr id="30" name="Text 28"/>
          <p:cNvSpPr/>
          <p:nvPr/>
        </p:nvSpPr>
        <p:spPr>
          <a:xfrm>
            <a:off x="2286000" y="3163824"/>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Memories scoped to conversation or user. No way to link related facts across sessions.</a:t>
            </a:r>
            <a:endParaRPr lang="en-US" sz="750" dirty="0"/>
          </a:p>
        </p:txBody>
      </p:sp>
      <p:sp>
        <p:nvSpPr>
          <p:cNvPr id="31" name="Text 29"/>
          <p:cNvSpPr/>
          <p:nvPr/>
        </p:nvSpPr>
        <p:spPr>
          <a:xfrm>
            <a:off x="5303520" y="3163824"/>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parent_memory_id FK. When agent references prior conversation memory, link via cross_session_resolve() lookup.</a:t>
            </a:r>
            <a:endParaRPr lang="en-US" sz="750" dirty="0"/>
          </a:p>
        </p:txBody>
      </p:sp>
      <p:sp>
        <p:nvSpPr>
          <p:cNvPr id="32" name="Text 30"/>
          <p:cNvSpPr/>
          <p:nvPr/>
        </p:nvSpPr>
        <p:spPr>
          <a:xfrm>
            <a:off x="502920" y="3493008"/>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33" name="Text 31"/>
          <p:cNvSpPr/>
          <p:nvPr/>
        </p:nvSpPr>
        <p:spPr>
          <a:xfrm>
            <a:off x="777240" y="3493008"/>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Hard Delete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&amp; Archive</a:t>
            </a:r>
            <a:endParaRPr lang="en-US" sz="750" dirty="0"/>
          </a:p>
        </p:txBody>
      </p:sp>
      <p:sp>
        <p:nvSpPr>
          <p:cNvPr id="34" name="Text 32"/>
          <p:cNvSpPr/>
          <p:nvPr/>
        </p:nvSpPr>
        <p:spPr>
          <a:xfrm>
            <a:off x="2286000" y="3493008"/>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Only soft-delete via supersession. No way to permanently remove PII or archive old records.</a:t>
            </a:r>
            <a:endParaRPr lang="en-US" sz="750" dirty="0"/>
          </a:p>
        </p:txBody>
      </p:sp>
      <p:sp>
        <p:nvSpPr>
          <p:cNvPr id="35" name="Text 33"/>
          <p:cNvSpPr/>
          <p:nvPr/>
        </p:nvSpPr>
        <p:spPr>
          <a:xfrm>
            <a:off x="5303520" y="3493008"/>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delete_permanently(memory_id) for PII compliance. Add archive_inactive() to move superseded records to cold storage table.</a:t>
            </a:r>
            <a:endParaRPr lang="en-US" sz="750" dirty="0"/>
          </a:p>
        </p:txBody>
      </p:sp>
      <p:sp>
        <p:nvSpPr>
          <p:cNvPr id="36" name="Text 34"/>
          <p:cNvSpPr/>
          <p:nvPr/>
        </p:nvSpPr>
        <p:spPr>
          <a:xfrm>
            <a:off x="502920" y="3822192"/>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37" name="Text 35"/>
          <p:cNvSpPr/>
          <p:nvPr/>
        </p:nvSpPr>
        <p:spPr>
          <a:xfrm>
            <a:off x="777240" y="3822192"/>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Multi-Language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Search</a:t>
            </a:r>
            <a:endParaRPr lang="en-US" sz="750" dirty="0"/>
          </a:p>
        </p:txBody>
      </p:sp>
      <p:sp>
        <p:nvSpPr>
          <p:cNvPr id="38" name="Text 36"/>
          <p:cNvSpPr/>
          <p:nvPr/>
        </p:nvSpPr>
        <p:spPr>
          <a:xfrm>
            <a:off x="2286000" y="3822192"/>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Keyword search uses ts_rank_cd with English-only tsvector. Non-English content gets poor recall.</a:t>
            </a:r>
            <a:endParaRPr lang="en-US" sz="750" dirty="0"/>
          </a:p>
        </p:txBody>
      </p:sp>
      <p:sp>
        <p:nvSpPr>
          <p:cNvPr id="39" name="Text 37"/>
          <p:cNvSpPr/>
          <p:nvPr/>
        </p:nvSpPr>
        <p:spPr>
          <a:xfrm>
            <a:off x="5303520" y="3822192"/>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Use pg_catalog.simple dictionary for language-agnostic stemming. Add language column; route to language-specific dictionaries at query time.</a:t>
            </a:r>
            <a:endParaRPr lang="en-US" sz="75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memory/file_store.py (257 lines), tools/groups/memory.py (114 lines)</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Overhaul — Agent Workbench</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a code runner with 6 pre-installed packages. Target: a full agent workbench with file management, dev tools, and data pipelines.</a:t>
            </a:r>
            <a:endParaRPr lang="en-US" sz="1050" dirty="0"/>
          </a:p>
        </p:txBody>
      </p:sp>
      <p:sp>
        <p:nvSpPr>
          <p:cNvPr id="4" name="Shape 2"/>
          <p:cNvSpPr/>
          <p:nvPr/>
        </p:nvSpPr>
        <p:spPr>
          <a:xfrm>
            <a:off x="50292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097280"/>
            <a:ext cx="2590800" cy="320040"/>
          </a:xfrm>
          <a:prstGeom prst="rect">
            <a:avLst/>
          </a:prstGeom>
          <a:solidFill>
            <a:srgbClr val="0097A7"/>
          </a:solidFill>
          <a:ln/>
        </p:spPr>
        <p:txBody>
          <a:bodyPr/>
          <a:lstStyle/>
          <a:p>
            <a:endParaRPr lang="en-US"/>
          </a:p>
        </p:txBody>
      </p:sp>
      <p:sp>
        <p:nvSpPr>
          <p:cNvPr id="6" name="Text 4"/>
          <p:cNvSpPr/>
          <p:nvPr/>
        </p:nvSpPr>
        <p:spPr>
          <a:xfrm>
            <a:off x="61264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File Management (5 tools)</a:t>
            </a:r>
            <a:endParaRPr lang="en-US" sz="1200" dirty="0"/>
          </a:p>
        </p:txBody>
      </p:sp>
      <p:sp>
        <p:nvSpPr>
          <p:cNvPr id="7" name="Text 5"/>
          <p:cNvSpPr/>
          <p:nvPr/>
        </p:nvSpPr>
        <p:spPr>
          <a:xfrm>
            <a:off x="61264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folder_upload</a:t>
            </a:r>
            <a:r>
              <a:rPr lang="en-US" sz="800" dirty="0">
                <a:solidFill>
                  <a:srgbClr val="333333"/>
                </a:solidFill>
                <a:latin typeface="Arial" pitchFamily="34" charset="0"/>
                <a:ea typeface="Arial" pitchFamily="34" charset="-122"/>
                <a:cs typeface="Arial" pitchFamily="34" charset="-120"/>
              </a:rPr>
              <a:t> — Accept ZIP/dir via /v1/upload. Extract, detect types, route to subfolders.
</a:t>
            </a:r>
            <a:r>
              <a:rPr lang="en-US" sz="800" b="1" dirty="0">
                <a:solidFill>
                  <a:srgbClr val="0097A7"/>
                </a:solidFill>
                <a:latin typeface="Courier New" pitchFamily="34" charset="0"/>
                <a:ea typeface="Courier New" pitchFamily="34" charset="-122"/>
                <a:cs typeface="Courier New" pitchFamily="34" charset="-120"/>
              </a:rPr>
              <a:t>auto_organize</a:t>
            </a:r>
            <a:r>
              <a:rPr lang="en-US" sz="800" dirty="0">
                <a:solidFill>
                  <a:srgbClr val="333333"/>
                </a:solidFill>
                <a:latin typeface="Arial" pitchFamily="34" charset="0"/>
                <a:ea typeface="Arial" pitchFamily="34" charset="-122"/>
                <a:cs typeface="Arial" pitchFamily="34" charset="-120"/>
              </a:rPr>
              <a:t> — Classify files (docs/data/code/images), create subfolders, move files.
</a:t>
            </a:r>
            <a:r>
              <a:rPr lang="en-US" sz="800" b="1" dirty="0">
                <a:solidFill>
                  <a:srgbClr val="0097A7"/>
                </a:solidFill>
                <a:latin typeface="Courier New" pitchFamily="34" charset="0"/>
                <a:ea typeface="Courier New" pitchFamily="34" charset="-122"/>
                <a:cs typeface="Courier New" pitchFamily="34" charset="-120"/>
              </a:rPr>
              <a:t>workspace_search</a:t>
            </a:r>
            <a:r>
              <a:rPr lang="en-US" sz="800" dirty="0">
                <a:solidFill>
                  <a:srgbClr val="333333"/>
                </a:solidFill>
                <a:latin typeface="Arial" pitchFamily="34" charset="0"/>
                <a:ea typeface="Arial" pitchFamily="34" charset="-122"/>
                <a:cs typeface="Arial" pitchFamily="34" charset="-120"/>
              </a:rPr>
              <a:t> — Full-text search across workspace. Path, line, snippet.
</a:t>
            </a:r>
            <a:r>
              <a:rPr lang="en-US" sz="800" b="1" dirty="0">
                <a:solidFill>
                  <a:srgbClr val="0097A7"/>
                </a:solidFill>
                <a:latin typeface="Courier New" pitchFamily="34" charset="0"/>
                <a:ea typeface="Courier New" pitchFamily="34" charset="-122"/>
                <a:cs typeface="Courier New" pitchFamily="34" charset="-120"/>
              </a:rPr>
              <a:t>file_metadata</a:t>
            </a:r>
            <a:r>
              <a:rPr lang="en-US" sz="800" dirty="0">
                <a:solidFill>
                  <a:srgbClr val="333333"/>
                </a:solidFill>
                <a:latin typeface="Arial" pitchFamily="34" charset="0"/>
                <a:ea typeface="Arial" pitchFamily="34" charset="-122"/>
                <a:cs typeface="Arial" pitchFamily="34" charset="-120"/>
              </a:rPr>
              <a:t> — Size, type, modified date per file.
</a:t>
            </a:r>
            <a:r>
              <a:rPr lang="en-US" sz="800" b="1" dirty="0">
                <a:solidFill>
                  <a:srgbClr val="0097A7"/>
                </a:solidFill>
                <a:latin typeface="Courier New" pitchFamily="34" charset="0"/>
                <a:ea typeface="Courier New" pitchFamily="34" charset="-122"/>
                <a:cs typeface="Courier New" pitchFamily="34" charset="-120"/>
              </a:rPr>
              <a:t>dir_tree</a:t>
            </a:r>
            <a:r>
              <a:rPr lang="en-US" sz="800" dirty="0">
                <a:solidFill>
                  <a:srgbClr val="333333"/>
                </a:solidFill>
                <a:latin typeface="Arial" pitchFamily="34" charset="0"/>
                <a:ea typeface="Arial" pitchFamily="34" charset="-122"/>
                <a:cs typeface="Arial" pitchFamily="34" charset="-120"/>
              </a:rPr>
              <a:t> — Recursive tree with file counts per directory.</a:t>
            </a:r>
            <a:endParaRPr lang="en-US" sz="1000" dirty="0"/>
          </a:p>
        </p:txBody>
      </p:sp>
      <p:sp>
        <p:nvSpPr>
          <p:cNvPr id="8" name="Shape 6"/>
          <p:cNvSpPr/>
          <p:nvPr/>
        </p:nvSpPr>
        <p:spPr>
          <a:xfrm>
            <a:off x="327660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097280"/>
            <a:ext cx="2590800" cy="320040"/>
          </a:xfrm>
          <a:prstGeom prst="rect">
            <a:avLst/>
          </a:prstGeom>
          <a:solidFill>
            <a:srgbClr val="00796B"/>
          </a:solidFill>
          <a:ln/>
        </p:spPr>
        <p:txBody>
          <a:bodyPr/>
          <a:lstStyle/>
          <a:p>
            <a:endParaRPr lang="en-US"/>
          </a:p>
        </p:txBody>
      </p:sp>
      <p:sp>
        <p:nvSpPr>
          <p:cNvPr id="10" name="Text 8"/>
          <p:cNvSpPr/>
          <p:nvPr/>
        </p:nvSpPr>
        <p:spPr>
          <a:xfrm>
            <a:off x="338632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Dev Environment (4 tools)</a:t>
            </a:r>
            <a:endParaRPr lang="en-US" sz="1200" dirty="0"/>
          </a:p>
        </p:txBody>
      </p:sp>
      <p:sp>
        <p:nvSpPr>
          <p:cNvPr id="11" name="Text 9"/>
          <p:cNvSpPr/>
          <p:nvPr/>
        </p:nvSpPr>
        <p:spPr>
          <a:xfrm>
            <a:off x="338632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a:t>
            </a:r>
            <a:r>
              <a:rPr lang="en-US" sz="800" dirty="0">
                <a:solidFill>
                  <a:srgbClr val="333333"/>
                </a:solidFill>
                <a:latin typeface="Arial" pitchFamily="34" charset="0"/>
                <a:ea typeface="Arial" pitchFamily="34" charset="-122"/>
                <a:cs typeface="Arial" pitchFamily="34" charset="-120"/>
              </a:rPr>
              <a:t> — pip/npm into persistent layer. Cached across calls. Allowlisted.
</a:t>
            </a:r>
            <a:r>
              <a:rPr lang="en-US" sz="800" b="1" dirty="0">
                <a:solidFill>
                  <a:srgbClr val="00796B"/>
                </a:solidFill>
                <a:latin typeface="Courier New" pitchFamily="34" charset="0"/>
                <a:ea typeface="Courier New" pitchFamily="34" charset="-122"/>
                <a:cs typeface="Courier New" pitchFamily="34" charset="-120"/>
              </a:rPr>
              <a:t>git_clone</a:t>
            </a:r>
            <a:r>
              <a:rPr lang="en-US" sz="800" dirty="0">
                <a:solidFill>
                  <a:srgbClr val="333333"/>
                </a:solidFill>
                <a:latin typeface="Arial" pitchFamily="34" charset="0"/>
                <a:ea typeface="Arial" pitchFamily="34" charset="-122"/>
                <a:cs typeface="Arial" pitchFamily="34" charset="-120"/>
              </a:rPr>
              <a:t> — Clone repos into workspace. Shallow, depth-limited, read-only.
</a:t>
            </a:r>
            <a:r>
              <a:rPr lang="en-US" sz="800" b="1" dirty="0">
                <a:solidFill>
                  <a:srgbClr val="00796B"/>
                </a:solidFill>
                <a:latin typeface="Courier New" pitchFamily="34" charset="0"/>
                <a:ea typeface="Courier New" pitchFamily="34" charset="-122"/>
                <a:cs typeface="Courier New" pitchFamily="34" charset="-120"/>
              </a:rPr>
              <a:t>run_tests</a:t>
            </a:r>
            <a:r>
              <a:rPr lang="en-US" sz="800" dirty="0">
                <a:solidFill>
                  <a:srgbClr val="333333"/>
                </a:solidFill>
                <a:latin typeface="Arial" pitchFamily="34" charset="0"/>
                <a:ea typeface="Arial" pitchFamily="34" charset="-122"/>
                <a:cs typeface="Arial" pitchFamily="34" charset="-120"/>
              </a:rPr>
              <a:t> — pytest/unittest in sandbox. Structured pass/fail/error report.
</a:t>
            </a:r>
            <a:r>
              <a:rPr lang="en-US" sz="800" b="1" dirty="0">
                <a:solidFill>
                  <a:srgbClr val="00796B"/>
                </a:solidFill>
                <a:latin typeface="Courier New" pitchFamily="34" charset="0"/>
                <a:ea typeface="Courier New" pitchFamily="34" charset="-122"/>
                <a:cs typeface="Courier New" pitchFamily="34" charset="-120"/>
              </a:rPr>
              <a:t>lint_code</a:t>
            </a:r>
            <a:r>
              <a:rPr lang="en-US" sz="800" dirty="0">
                <a:solidFill>
                  <a:srgbClr val="333333"/>
                </a:solidFill>
                <a:latin typeface="Arial" pitchFamily="34" charset="0"/>
                <a:ea typeface="Arial" pitchFamily="34" charset="-122"/>
                <a:cs typeface="Arial" pitchFamily="34" charset="-120"/>
              </a:rPr>
              <a:t> — ruff/flake8/eslint. File, line, severity. Agents can auto-fix.</a:t>
            </a:r>
            <a:endParaRPr lang="en-US" sz="1000" dirty="0"/>
          </a:p>
        </p:txBody>
      </p:sp>
      <p:sp>
        <p:nvSpPr>
          <p:cNvPr id="12" name="Shape 10"/>
          <p:cNvSpPr/>
          <p:nvPr/>
        </p:nvSpPr>
        <p:spPr>
          <a:xfrm>
            <a:off x="605028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097280"/>
            <a:ext cx="2590800" cy="320040"/>
          </a:xfrm>
          <a:prstGeom prst="rect">
            <a:avLst/>
          </a:prstGeom>
          <a:solidFill>
            <a:srgbClr val="1B2A4A"/>
          </a:solidFill>
          <a:ln/>
        </p:spPr>
        <p:txBody>
          <a:bodyPr/>
          <a:lstStyle/>
          <a:p>
            <a:endParaRPr lang="en-US"/>
          </a:p>
        </p:txBody>
      </p:sp>
      <p:sp>
        <p:nvSpPr>
          <p:cNvPr id="14" name="Text 12"/>
          <p:cNvSpPr/>
          <p:nvPr/>
        </p:nvSpPr>
        <p:spPr>
          <a:xfrm>
            <a:off x="616000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 Pipeline (4 tools)</a:t>
            </a:r>
            <a:endParaRPr lang="en-US" sz="1200" dirty="0"/>
          </a:p>
        </p:txBody>
      </p:sp>
      <p:sp>
        <p:nvSpPr>
          <p:cNvPr id="15" name="Text 13"/>
          <p:cNvSpPr/>
          <p:nvPr/>
        </p:nvSpPr>
        <p:spPr>
          <a:xfrm>
            <a:off x="616000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a:t>
            </a:r>
            <a:r>
              <a:rPr lang="en-US" sz="800" dirty="0">
                <a:solidFill>
                  <a:srgbClr val="333333"/>
                </a:solidFill>
                <a:latin typeface="Arial" pitchFamily="34" charset="0"/>
                <a:ea typeface="Arial" pitchFamily="34" charset="-122"/>
                <a:cs typeface="Arial" pitchFamily="34" charset="-120"/>
              </a:rPr>
              <a:t> — Auto-profile CSV/Excel: rows, dtypes, nulls, distributions. One-call EDA.
</a:t>
            </a:r>
            <a:r>
              <a:rPr lang="en-US" sz="800" b="1" dirty="0">
                <a:solidFill>
                  <a:srgbClr val="1B2A4A"/>
                </a:solidFill>
                <a:latin typeface="Courier New" pitchFamily="34" charset="0"/>
                <a:ea typeface="Courier New" pitchFamily="34" charset="-122"/>
                <a:cs typeface="Courier New" pitchFamily="34" charset="-120"/>
              </a:rPr>
              <a:t>data_clean</a:t>
            </a:r>
            <a:r>
              <a:rPr lang="en-US" sz="800" dirty="0">
                <a:solidFill>
                  <a:srgbClr val="333333"/>
                </a:solidFill>
                <a:latin typeface="Arial" pitchFamily="34" charset="0"/>
                <a:ea typeface="Arial" pitchFamily="34" charset="-122"/>
                <a:cs typeface="Arial" pitchFamily="34" charset="-120"/>
              </a:rPr>
              <a:t> — Drop dupes, fill nulls, normalize dates, fix encodings. Configurable.
</a:t>
            </a:r>
            <a:r>
              <a:rPr lang="en-US" sz="800" b="1" dirty="0">
                <a:solidFill>
                  <a:srgbClr val="1B2A4A"/>
                </a:solidFill>
                <a:latin typeface="Courier New" pitchFamily="34" charset="0"/>
                <a:ea typeface="Courier New" pitchFamily="34" charset="-122"/>
                <a:cs typeface="Courier New" pitchFamily="34" charset="-120"/>
              </a:rPr>
              <a:t>batch_transform</a:t>
            </a:r>
            <a:r>
              <a:rPr lang="en-US" sz="800" dirty="0">
                <a:solidFill>
                  <a:srgbClr val="333333"/>
                </a:solidFill>
                <a:latin typeface="Arial" pitchFamily="34" charset="0"/>
                <a:ea typeface="Arial" pitchFamily="34" charset="-122"/>
                <a:cs typeface="Arial" pitchFamily="34" charset="-120"/>
              </a:rPr>
              <a:t> — Apply transform across files matching a glob. Map/filter/aggregate.
</a:t>
            </a:r>
            <a:r>
              <a:rPr lang="en-US" sz="800" b="1" dirty="0">
                <a:solidFill>
                  <a:srgbClr val="1B2A4A"/>
                </a:solidFill>
                <a:latin typeface="Courier New" pitchFamily="34" charset="0"/>
                <a:ea typeface="Courier New" pitchFamily="34" charset="-122"/>
                <a:cs typeface="Courier New" pitchFamily="34" charset="-120"/>
              </a:rPr>
              <a:t>export_report</a:t>
            </a:r>
            <a:r>
              <a:rPr lang="en-US" sz="800" dirty="0">
                <a:solidFill>
                  <a:srgbClr val="333333"/>
                </a:solidFill>
                <a:latin typeface="Arial" pitchFamily="34" charset="0"/>
                <a:ea typeface="Arial" pitchFamily="34" charset="-122"/>
                <a:cs typeface="Arial" pitchFamily="34" charset="-120"/>
              </a:rPr>
              <a:t> — HTML/PDF report from analysis. Charts, tables, narrative from artifacts.</a:t>
            </a:r>
            <a:endParaRPr lang="en-US" sz="1000" dirty="0"/>
          </a:p>
        </p:txBody>
      </p:sp>
      <p:sp>
        <p:nvSpPr>
          <p:cNvPr id="16" name="Text 14"/>
          <p:cNvSpPr/>
          <p:nvPr/>
        </p:nvSpPr>
        <p:spPr>
          <a:xfrm>
            <a:off x="502920" y="3163824"/>
            <a:ext cx="813816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Folder Upload &amp; Auto-Organize Flow</a:t>
            </a:r>
            <a:endParaRPr lang="en-US" sz="1100" dirty="0"/>
          </a:p>
        </p:txBody>
      </p:sp>
      <p:sp>
        <p:nvSpPr>
          <p:cNvPr id="17" name="Shape 15"/>
          <p:cNvSpPr/>
          <p:nvPr/>
        </p:nvSpPr>
        <p:spPr>
          <a:xfrm>
            <a:off x="626364"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626364"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uploads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ZIP/folder</a:t>
            </a:r>
            <a:endParaRPr lang="en-US" sz="1000" dirty="0"/>
          </a:p>
        </p:txBody>
      </p:sp>
      <p:sp>
        <p:nvSpPr>
          <p:cNvPr id="19" name="Text 17"/>
          <p:cNvSpPr/>
          <p:nvPr/>
        </p:nvSpPr>
        <p:spPr>
          <a:xfrm>
            <a:off x="2043684"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244852"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2244852"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/v1/upload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files</a:t>
            </a:r>
            <a:endParaRPr lang="en-US" sz="1000" dirty="0"/>
          </a:p>
        </p:txBody>
      </p:sp>
      <p:sp>
        <p:nvSpPr>
          <p:cNvPr id="22" name="Text 20"/>
          <p:cNvSpPr/>
          <p:nvPr/>
        </p:nvSpPr>
        <p:spPr>
          <a:xfrm>
            <a:off x="3662172"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3863340" y="3401568"/>
            <a:ext cx="14173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3863340"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Type detection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(MIME + ext)</a:t>
            </a:r>
            <a:endParaRPr lang="en-US" sz="1000" dirty="0"/>
          </a:p>
        </p:txBody>
      </p:sp>
      <p:sp>
        <p:nvSpPr>
          <p:cNvPr id="25" name="Text 23"/>
          <p:cNvSpPr/>
          <p:nvPr/>
        </p:nvSpPr>
        <p:spPr>
          <a:xfrm>
            <a:off x="5280660"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5481828"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7" name="Text 25"/>
          <p:cNvSpPr/>
          <p:nvPr/>
        </p:nvSpPr>
        <p:spPr>
          <a:xfrm>
            <a:off x="5481828"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auto_organize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sorts to dirs</a:t>
            </a:r>
            <a:endParaRPr lang="en-US" sz="1000" dirty="0"/>
          </a:p>
        </p:txBody>
      </p:sp>
      <p:sp>
        <p:nvSpPr>
          <p:cNvPr id="28" name="Text 26"/>
          <p:cNvSpPr/>
          <p:nvPr/>
        </p:nvSpPr>
        <p:spPr>
          <a:xfrm>
            <a:off x="6899148"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7100316"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30" name="Text 28"/>
          <p:cNvSpPr/>
          <p:nvPr/>
        </p:nvSpPr>
        <p:spPr>
          <a:xfrm>
            <a:off x="7100316"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workspace_index</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updates catalog</a:t>
            </a:r>
            <a:endParaRPr lang="en-US" sz="1000" dirty="0"/>
          </a:p>
        </p:txBody>
      </p:sp>
      <p:sp>
        <p:nvSpPr>
          <p:cNvPr id="31" name="Shape 29"/>
          <p:cNvSpPr/>
          <p:nvPr/>
        </p:nvSpPr>
        <p:spPr>
          <a:xfrm>
            <a:off x="502920" y="3950208"/>
            <a:ext cx="8138160" cy="320040"/>
          </a:xfrm>
          <a:prstGeom prst="rect">
            <a:avLst/>
          </a:prstGeom>
          <a:solidFill>
            <a:srgbClr val="E0F7FA"/>
          </a:solidFill>
          <a:ln w="12700">
            <a:solidFill>
              <a:srgbClr val="0097A7"/>
            </a:solidFill>
            <a:prstDash val="solid"/>
          </a:ln>
        </p:spPr>
        <p:txBody>
          <a:bodyPr/>
          <a:lstStyle/>
          <a:p>
            <a:endParaRPr lang="en-US"/>
          </a:p>
        </p:txBody>
      </p:sp>
      <p:sp>
        <p:nvSpPr>
          <p:cNvPr id="32" name="Text 30"/>
          <p:cNvSpPr/>
          <p:nvPr/>
        </p:nvSpPr>
        <p:spPr>
          <a:xfrm>
            <a:off x="594360" y="3950208"/>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Hardening: Add write-size limits (50 MB/session), concurrent-access locking on workspace, swap limits on containers, AST validation before execution, and workspace TTL eviction for idle sessions.</a:t>
            </a:r>
            <a:endParaRPr lang="en-US" sz="1000" dirty="0"/>
          </a:p>
        </p:txBody>
      </p:sp>
      <p:sp>
        <p:nvSpPr>
          <p:cNvPr id="33" name="Text 3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data_analyst_tools.py (744 lines) — 13 new tools</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 Architecture — How Prompts Are Built</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query_loop.py _build_system_prompt() assembles 8 blocks in order. Skills and memory are injected dynamically. Fallback prompts cover 10 roles.</a:t>
            </a:r>
            <a:endParaRPr lang="en-US" sz="1050" dirty="0"/>
          </a:p>
        </p:txBody>
      </p:sp>
      <p:sp>
        <p:nvSpPr>
          <p:cNvPr id="4" name="Shape 2"/>
          <p:cNvSpPr/>
          <p:nvPr/>
        </p:nvSpPr>
        <p:spPr>
          <a:xfrm>
            <a:off x="530352"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53035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Base Prompt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.md file)</a:t>
            </a:r>
            <a:endParaRPr lang="en-US" sz="1000" dirty="0"/>
          </a:p>
        </p:txBody>
      </p:sp>
      <p:sp>
        <p:nvSpPr>
          <p:cNvPr id="6" name="Text 4"/>
          <p:cNvSpPr/>
          <p:nvPr/>
        </p:nvSpPr>
        <p:spPr>
          <a:xfrm>
            <a:off x="53035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1</a:t>
            </a:r>
            <a:endParaRPr lang="en-US" sz="700" dirty="0"/>
          </a:p>
        </p:txBody>
      </p:sp>
      <p:sp>
        <p:nvSpPr>
          <p:cNvPr id="7" name="Text 5"/>
          <p:cNvSpPr/>
          <p:nvPr/>
        </p:nvSpPr>
        <p:spPr>
          <a:xfrm>
            <a:off x="144475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1554480"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9" name="Text 7"/>
          <p:cNvSpPr/>
          <p:nvPr/>
        </p:nvSpPr>
        <p:spPr>
          <a:xfrm>
            <a:off x="155448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Clarification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p:txBody>
      </p:sp>
      <p:sp>
        <p:nvSpPr>
          <p:cNvPr id="10" name="Text 8"/>
          <p:cNvSpPr/>
          <p:nvPr/>
        </p:nvSpPr>
        <p:spPr>
          <a:xfrm>
            <a:off x="155448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2</a:t>
            </a:r>
            <a:endParaRPr lang="en-US" sz="700" dirty="0"/>
          </a:p>
        </p:txBody>
      </p:sp>
      <p:sp>
        <p:nvSpPr>
          <p:cNvPr id="11" name="Text 9"/>
          <p:cNvSpPr/>
          <p:nvPr/>
        </p:nvSpPr>
        <p:spPr>
          <a:xfrm>
            <a:off x="246888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2" name="Shape 10"/>
          <p:cNvSpPr/>
          <p:nvPr/>
        </p:nvSpPr>
        <p:spPr>
          <a:xfrm>
            <a:off x="257860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257860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Pending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Clarifications</a:t>
            </a:r>
            <a:endParaRPr lang="en-US" sz="1000" dirty="0"/>
          </a:p>
        </p:txBody>
      </p:sp>
      <p:sp>
        <p:nvSpPr>
          <p:cNvPr id="14" name="Text 12"/>
          <p:cNvSpPr/>
          <p:nvPr/>
        </p:nvSpPr>
        <p:spPr>
          <a:xfrm>
            <a:off x="257860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3</a:t>
            </a:r>
            <a:endParaRPr lang="en-US" sz="700" dirty="0"/>
          </a:p>
        </p:txBody>
      </p:sp>
      <p:sp>
        <p:nvSpPr>
          <p:cNvPr id="15" name="Text 13"/>
          <p:cNvSpPr/>
          <p:nvPr/>
        </p:nvSpPr>
        <p:spPr>
          <a:xfrm>
            <a:off x="3493008"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6" name="Shape 14"/>
          <p:cNvSpPr/>
          <p:nvPr/>
        </p:nvSpPr>
        <p:spPr>
          <a:xfrm>
            <a:off x="3602736"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7" name="Text 15"/>
          <p:cNvSpPr/>
          <p:nvPr/>
        </p:nvSpPr>
        <p:spPr>
          <a:xfrm>
            <a:off x="3602736"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Resolved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Intent</a:t>
            </a:r>
            <a:endParaRPr lang="en-US" sz="1000" dirty="0"/>
          </a:p>
        </p:txBody>
      </p:sp>
      <p:sp>
        <p:nvSpPr>
          <p:cNvPr id="18" name="Text 16"/>
          <p:cNvSpPr/>
          <p:nvPr/>
        </p:nvSpPr>
        <p:spPr>
          <a:xfrm>
            <a:off x="3602736"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4</a:t>
            </a:r>
            <a:endParaRPr lang="en-US" sz="700" dirty="0"/>
          </a:p>
        </p:txBody>
      </p:sp>
      <p:sp>
        <p:nvSpPr>
          <p:cNvPr id="19" name="Text 17"/>
          <p:cNvSpPr/>
          <p:nvPr/>
        </p:nvSpPr>
        <p:spPr>
          <a:xfrm>
            <a:off x="4517136"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0" name="Shape 18"/>
          <p:cNvSpPr/>
          <p:nvPr/>
        </p:nvSpPr>
        <p:spPr>
          <a:xfrm>
            <a:off x="4626864"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4626864"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Active Doc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Focus</a:t>
            </a:r>
            <a:endParaRPr lang="en-US" sz="1000" dirty="0"/>
          </a:p>
        </p:txBody>
      </p:sp>
      <p:sp>
        <p:nvSpPr>
          <p:cNvPr id="22" name="Text 20"/>
          <p:cNvSpPr/>
          <p:nvPr/>
        </p:nvSpPr>
        <p:spPr>
          <a:xfrm>
            <a:off x="4626864"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5</a:t>
            </a:r>
            <a:endParaRPr lang="en-US" sz="700" dirty="0"/>
          </a:p>
        </p:txBody>
      </p:sp>
      <p:sp>
        <p:nvSpPr>
          <p:cNvPr id="23" name="Text 21"/>
          <p:cNvSpPr/>
          <p:nvPr/>
        </p:nvSpPr>
        <p:spPr>
          <a:xfrm>
            <a:off x="5541264"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5650992"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5" name="Text 23"/>
          <p:cNvSpPr/>
          <p:nvPr/>
        </p:nvSpPr>
        <p:spPr>
          <a:xfrm>
            <a:off x="565099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26" name="Text 24"/>
          <p:cNvSpPr/>
          <p:nvPr/>
        </p:nvSpPr>
        <p:spPr>
          <a:xfrm>
            <a:off x="565099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6</a:t>
            </a:r>
            <a:endParaRPr lang="en-US" sz="700" dirty="0"/>
          </a:p>
        </p:txBody>
      </p:sp>
      <p:sp>
        <p:nvSpPr>
          <p:cNvPr id="27" name="Text 25"/>
          <p:cNvSpPr/>
          <p:nvPr/>
        </p:nvSpPr>
        <p:spPr>
          <a:xfrm>
            <a:off x="656539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6675120"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9" name="Text 27"/>
          <p:cNvSpPr/>
          <p:nvPr/>
        </p:nvSpPr>
        <p:spPr>
          <a:xfrm>
            <a:off x="667512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0" name="Text 28"/>
          <p:cNvSpPr/>
          <p:nvPr/>
        </p:nvSpPr>
        <p:spPr>
          <a:xfrm>
            <a:off x="667512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7</a:t>
            </a:r>
            <a:endParaRPr lang="en-US" sz="700" dirty="0"/>
          </a:p>
        </p:txBody>
      </p:sp>
      <p:sp>
        <p:nvSpPr>
          <p:cNvPr id="31" name="Text 29"/>
          <p:cNvSpPr/>
          <p:nvPr/>
        </p:nvSpPr>
        <p:spPr>
          <a:xfrm>
            <a:off x="758952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769924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33" name="Text 31"/>
          <p:cNvSpPr/>
          <p:nvPr/>
        </p:nvSpPr>
        <p:spPr>
          <a:xfrm>
            <a:off x="769924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4" name="Text 32"/>
          <p:cNvSpPr/>
          <p:nvPr/>
        </p:nvSpPr>
        <p:spPr>
          <a:xfrm>
            <a:off x="769924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8</a:t>
            </a:r>
            <a:endParaRPr lang="en-US" sz="700" dirty="0"/>
          </a:p>
        </p:txBody>
      </p:sp>
      <p:sp>
        <p:nvSpPr>
          <p:cNvPr id="35" name="Text 33"/>
          <p:cNvSpPr/>
          <p:nvPr/>
        </p:nvSpPr>
        <p:spPr>
          <a:xfrm>
            <a:off x="502920" y="1755648"/>
            <a:ext cx="8138160" cy="18288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Block Details</a:t>
            </a:r>
            <a:endParaRPr lang="en-US" sz="1000" dirty="0"/>
          </a:p>
        </p:txBody>
      </p:sp>
      <p:sp>
        <p:nvSpPr>
          <p:cNvPr id="36" name="Text 34"/>
          <p:cNvSpPr/>
          <p:nvPr/>
        </p:nvSpPr>
        <p:spPr>
          <a:xfrm>
            <a:off x="502920" y="1965960"/>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1: Base Prompt: </a:t>
            </a:r>
            <a:r>
              <a:rPr lang="en-US" sz="750" dirty="0">
                <a:solidFill>
                  <a:srgbClr val="666666"/>
                </a:solidFill>
              </a:rPr>
              <a:t>Loaded from data/agents/{name}.md via skill_runtime.build_prompt(). Contains mission statement, tool &amp; delegation policy, capabilities/limits, anti-patterns. Falls back to prompt_fallbacks.py (181 lines) if file missing.</a:t>
            </a:r>
            <a:endParaRPr lang="en-US" sz="800" dirty="0"/>
          </a:p>
        </p:txBody>
      </p:sp>
      <p:sp>
        <p:nvSpPr>
          <p:cNvPr id="37" name="Text 35"/>
          <p:cNvSpPr/>
          <p:nvPr/>
        </p:nvSpPr>
        <p:spPr>
          <a:xfrm>
            <a:off x="502920" y="2313432"/>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2-5: Context: </a:t>
            </a:r>
            <a:r>
              <a:rPr lang="en-US" sz="750" dirty="0">
                <a:solidFill>
                  <a:srgbClr val="666666"/>
                </a:solidFill>
              </a:rPr>
              <a:t>Clarification policy (static), pending clarifications (session metadata), resolved intent (turn metadata), active doc focus (session metadata). All optional — empty blocks are filtered out.</a:t>
            </a:r>
            <a:endParaRPr lang="en-US" sz="800" dirty="0"/>
          </a:p>
        </p:txBody>
      </p:sp>
      <p:sp>
        <p:nvSpPr>
          <p:cNvPr id="38" name="Text 36"/>
          <p:cNvSpPr/>
          <p:nvPr/>
        </p:nvSpPr>
        <p:spPr>
          <a:xfrm>
            <a:off x="502920" y="2660904"/>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6: Task Context: </a:t>
            </a:r>
            <a:r>
              <a:rPr lang="en-US" sz="750" dirty="0">
                <a:solidFill>
                  <a:srgbClr val="666666"/>
                </a:solidFill>
              </a:rPr>
              <a:t>Injected when coordinator delegates via spawn_worker. Contains task_payload with instructions, expected output format, and artifact references.</a:t>
            </a:r>
            <a:endParaRPr lang="en-US" sz="800" dirty="0"/>
          </a:p>
        </p:txBody>
      </p:sp>
      <p:sp>
        <p:nvSpPr>
          <p:cNvPr id="39" name="Text 37"/>
          <p:cNvSpPr/>
          <p:nvPr/>
        </p:nvSpPr>
        <p:spPr>
          <a:xfrm>
            <a:off x="502920" y="3008376"/>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7: Skill Context: </a:t>
            </a:r>
            <a:r>
              <a:rPr lang="en-US" sz="750" dirty="0">
                <a:solidFill>
                  <a:srgbClr val="666666"/>
                </a:solidFill>
              </a:rPr>
              <a:t>SkillResolver matches query against skill packs via vector + BM25 scoring. Top matches injected as domain expertise. 11 packs today, scoped per agent.</a:t>
            </a:r>
            <a:endParaRPr lang="en-US" sz="800" dirty="0"/>
          </a:p>
        </p:txBody>
      </p:sp>
      <p:sp>
        <p:nvSpPr>
          <p:cNvPr id="40" name="Text 38"/>
          <p:cNvSpPr/>
          <p:nvPr/>
        </p:nvSpPr>
        <p:spPr>
          <a:xfrm>
            <a:off x="502920" y="3355848"/>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8: Memory: </a:t>
            </a:r>
            <a:r>
              <a:rPr lang="en-US" sz="750" dirty="0">
                <a:solidFill>
                  <a:srgbClr val="666666"/>
                </a:solidFill>
              </a:rPr>
              <a:t>User-scoped and conversation-scoped memories from PostgresMemoryStore. Selected by MemorySelector (deterministic or LLM mode). Capped at ~6 candidates.</a:t>
            </a:r>
            <a:endParaRPr lang="en-US" sz="800" dirty="0"/>
          </a:p>
        </p:txBody>
      </p:sp>
      <p:sp>
        <p:nvSpPr>
          <p:cNvPr id="41" name="Shape 39"/>
          <p:cNvSpPr/>
          <p:nvPr/>
        </p:nvSpPr>
        <p:spPr>
          <a:xfrm>
            <a:off x="502920" y="3794760"/>
            <a:ext cx="8138160" cy="320040"/>
          </a:xfrm>
          <a:prstGeom prst="rect">
            <a:avLst/>
          </a:prstGeom>
          <a:solidFill>
            <a:srgbClr val="E0F7FA"/>
          </a:solidFill>
          <a:ln w="12700">
            <a:solidFill>
              <a:srgbClr val="0097A7"/>
            </a:solidFill>
            <a:prstDash val="solid"/>
          </a:ln>
        </p:spPr>
        <p:txBody>
          <a:bodyPr/>
          <a:lstStyle/>
          <a:p>
            <a:endParaRPr lang="en-US"/>
          </a:p>
        </p:txBody>
      </p:sp>
      <p:sp>
        <p:nvSpPr>
          <p:cNvPr id="42" name="Text 40"/>
          <p:cNvSpPr/>
          <p:nvPr/>
        </p:nvSpPr>
        <p:spPr>
          <a:xfrm>
            <a:off x="594360" y="379476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gap: No reasoning protocol, self-reflection checkpoints, or confidence scoring injected into any block. Agents get missions and tools but no structured thinking instructions.</a:t>
            </a:r>
            <a:endParaRPr lang="en-US" sz="1000" dirty="0"/>
          </a:p>
        </p:txBody>
      </p:sp>
      <p:sp>
        <p:nvSpPr>
          <p:cNvPr id="43" name="Text 4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 (line 405), prompt_fallbacks.py (181 lines), skills/runtime.py (176 lines), data/agents/*.md (11 files)</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8 Prompt Improvements for Agentic Reasoning</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Inject structured thinking instructions into every agent's system prompt. These patterns improve planning, tool use, error recovery, and output quality.</a:t>
            </a:r>
            <a:endParaRPr lang="en-US" sz="1050" dirty="0"/>
          </a:p>
        </p:txBody>
      </p:sp>
      <p:sp>
        <p:nvSpPr>
          <p:cNvPr id="4" name="Text 2"/>
          <p:cNvSpPr/>
          <p:nvPr/>
        </p:nvSpPr>
        <p:spPr>
          <a:xfrm>
            <a:off x="502920" y="1115568"/>
            <a:ext cx="27432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777240" y="1115568"/>
            <a:ext cx="150876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Improvement</a:t>
            </a:r>
            <a:endParaRPr lang="en-US" sz="850" dirty="0"/>
          </a:p>
        </p:txBody>
      </p:sp>
      <p:sp>
        <p:nvSpPr>
          <p:cNvPr id="6" name="Text 4"/>
          <p:cNvSpPr/>
          <p:nvPr/>
        </p:nvSpPr>
        <p:spPr>
          <a:xfrm>
            <a:off x="2286000" y="1115568"/>
            <a:ext cx="310896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What to Add to System Prompt</a:t>
            </a:r>
            <a:endParaRPr lang="en-US" sz="850" dirty="0"/>
          </a:p>
        </p:txBody>
      </p:sp>
      <p:sp>
        <p:nvSpPr>
          <p:cNvPr id="7" name="Text 5"/>
          <p:cNvSpPr/>
          <p:nvPr/>
        </p:nvSpPr>
        <p:spPr>
          <a:xfrm>
            <a:off x="5394960" y="1115568"/>
            <a:ext cx="324612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Why It Matters</a:t>
            </a:r>
            <a:endParaRPr lang="en-US" sz="850" dirty="0"/>
          </a:p>
        </p:txBody>
      </p:sp>
      <p:sp>
        <p:nvSpPr>
          <p:cNvPr id="8" name="Text 6"/>
          <p:cNvSpPr/>
          <p:nvPr/>
        </p:nvSpPr>
        <p:spPr>
          <a:xfrm>
            <a:off x="502920" y="1371600"/>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1</a:t>
            </a:r>
            <a:endParaRPr lang="en-US" sz="700" dirty="0"/>
          </a:p>
        </p:txBody>
      </p:sp>
      <p:sp>
        <p:nvSpPr>
          <p:cNvPr id="9" name="Text 7"/>
          <p:cNvSpPr/>
          <p:nvPr/>
        </p:nvSpPr>
        <p:spPr>
          <a:xfrm>
            <a:off x="777240" y="1371600"/>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Reasoning</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Protocol</a:t>
            </a:r>
            <a:endParaRPr lang="en-US" sz="700" dirty="0"/>
          </a:p>
        </p:txBody>
      </p:sp>
      <p:sp>
        <p:nvSpPr>
          <p:cNvPr id="10" name="Text 8"/>
          <p:cNvSpPr/>
          <p:nvPr/>
        </p:nvSpPr>
        <p:spPr>
          <a:xfrm>
            <a:off x="2286000" y="1371600"/>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"Before invoking tools, list the sub-steps needed. After each tool result, evaluate: continue, verify, or escalate."</a:t>
            </a:r>
            <a:endParaRPr lang="en-US" sz="700" dirty="0"/>
          </a:p>
        </p:txBody>
      </p:sp>
      <p:sp>
        <p:nvSpPr>
          <p:cNvPr id="11" name="Text 9"/>
          <p:cNvSpPr/>
          <p:nvPr/>
        </p:nvSpPr>
        <p:spPr>
          <a:xfrm>
            <a:off x="5394960" y="1371600"/>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currently jump straight to tool calls. Explicit step decomposition reduces hallucination and improves multi-step task success.</a:t>
            </a:r>
            <a:endParaRPr lang="en-US" sz="700" dirty="0"/>
          </a:p>
        </p:txBody>
      </p:sp>
      <p:sp>
        <p:nvSpPr>
          <p:cNvPr id="12" name="Text 10"/>
          <p:cNvSpPr/>
          <p:nvPr/>
        </p:nvSpPr>
        <p:spPr>
          <a:xfrm>
            <a:off x="502920" y="1755648"/>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2</a:t>
            </a:r>
            <a:endParaRPr lang="en-US" sz="700" dirty="0"/>
          </a:p>
        </p:txBody>
      </p:sp>
      <p:sp>
        <p:nvSpPr>
          <p:cNvPr id="13" name="Text 11"/>
          <p:cNvSpPr/>
          <p:nvPr/>
        </p:nvSpPr>
        <p:spPr>
          <a:xfrm>
            <a:off x="777240" y="1755648"/>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Confidence</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Scoring</a:t>
            </a:r>
            <a:endParaRPr lang="en-US" sz="700" dirty="0"/>
          </a:p>
        </p:txBody>
      </p:sp>
      <p:sp>
        <p:nvSpPr>
          <p:cNvPr id="14" name="Text 12"/>
          <p:cNvSpPr/>
          <p:nvPr/>
        </p:nvSpPr>
        <p:spPr>
          <a:xfrm>
            <a:off x="2286000" y="1755648"/>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"Rate your confidence 0.0-1.0 before answering. If &lt; 0.7, state what you're uncertain about. If &lt; 0.4, recommend verification."</a:t>
            </a:r>
            <a:endParaRPr lang="en-US" sz="700" dirty="0"/>
          </a:p>
        </p:txBody>
      </p:sp>
      <p:sp>
        <p:nvSpPr>
          <p:cNvPr id="15" name="Text 13"/>
          <p:cNvSpPr/>
          <p:nvPr/>
        </p:nvSpPr>
        <p:spPr>
          <a:xfrm>
            <a:off x="5394960" y="1755648"/>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RAG agent has confidence_hint but no other agents do. Surfacing uncertainty helps users and enables automated verification.</a:t>
            </a:r>
            <a:endParaRPr lang="en-US" sz="700" dirty="0"/>
          </a:p>
        </p:txBody>
      </p:sp>
      <p:sp>
        <p:nvSpPr>
          <p:cNvPr id="16" name="Text 14"/>
          <p:cNvSpPr/>
          <p:nvPr/>
        </p:nvSpPr>
        <p:spPr>
          <a:xfrm>
            <a:off x="502920" y="2139696"/>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3</a:t>
            </a:r>
            <a:endParaRPr lang="en-US" sz="700" dirty="0"/>
          </a:p>
        </p:txBody>
      </p:sp>
      <p:sp>
        <p:nvSpPr>
          <p:cNvPr id="17" name="Text 15"/>
          <p:cNvSpPr/>
          <p:nvPr/>
        </p:nvSpPr>
        <p:spPr>
          <a:xfrm>
            <a:off x="777240" y="2139696"/>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Self-Reflection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Checkpoints</a:t>
            </a:r>
            <a:endParaRPr lang="en-US" sz="700" dirty="0"/>
          </a:p>
        </p:txBody>
      </p:sp>
      <p:sp>
        <p:nvSpPr>
          <p:cNvPr id="18" name="Text 16"/>
          <p:cNvSpPr/>
          <p:nvPr/>
        </p:nvSpPr>
        <p:spPr>
          <a:xfrm>
            <a:off x="2286000" y="2139696"/>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"After every 3+ tool calls, pause and review: Is my approach working? Have I found contradictory evidence? Should I change strategy?"</a:t>
            </a:r>
            <a:endParaRPr lang="en-US" sz="700" dirty="0"/>
          </a:p>
        </p:txBody>
      </p:sp>
      <p:sp>
        <p:nvSpPr>
          <p:cNvPr id="19" name="Text 17"/>
          <p:cNvSpPr/>
          <p:nvPr/>
        </p:nvSpPr>
        <p:spPr>
          <a:xfrm>
            <a:off x="5394960" y="2139696"/>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Long tool chains drift without checkpoints. This mirrors human expert behavior of periodically reassessing approach.</a:t>
            </a:r>
            <a:endParaRPr lang="en-US" sz="700" dirty="0"/>
          </a:p>
        </p:txBody>
      </p:sp>
      <p:sp>
        <p:nvSpPr>
          <p:cNvPr id="20" name="Text 18"/>
          <p:cNvSpPr/>
          <p:nvPr/>
        </p:nvSpPr>
        <p:spPr>
          <a:xfrm>
            <a:off x="502920" y="2523744"/>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4</a:t>
            </a:r>
            <a:endParaRPr lang="en-US" sz="700" dirty="0"/>
          </a:p>
        </p:txBody>
      </p:sp>
      <p:sp>
        <p:nvSpPr>
          <p:cNvPr id="21" name="Text 19"/>
          <p:cNvSpPr/>
          <p:nvPr/>
        </p:nvSpPr>
        <p:spPr>
          <a:xfrm>
            <a:off x="777240" y="2523744"/>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Tool Selection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Justification</a:t>
            </a:r>
            <a:endParaRPr lang="en-US" sz="700" dirty="0"/>
          </a:p>
        </p:txBody>
      </p:sp>
      <p:sp>
        <p:nvSpPr>
          <p:cNvPr id="22" name="Text 20"/>
          <p:cNvSpPr/>
          <p:nvPr/>
        </p:nvSpPr>
        <p:spPr>
          <a:xfrm>
            <a:off x="2286000" y="2523744"/>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multiple tools could work, briefly explain why you chose this one. Consider: specificity, reliability, and whether the task needs verified facts."</a:t>
            </a:r>
            <a:endParaRPr lang="en-US" sz="700" dirty="0"/>
          </a:p>
        </p:txBody>
      </p:sp>
      <p:sp>
        <p:nvSpPr>
          <p:cNvPr id="23" name="Text 21"/>
          <p:cNvSpPr/>
          <p:nvPr/>
        </p:nvSpPr>
        <p:spPr>
          <a:xfrm>
            <a:off x="5394960" y="2523744"/>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are told 'use the narrowest tool' but not how to reason about it. Explicit justification improves tool choice quality.</a:t>
            </a:r>
            <a:endParaRPr lang="en-US" sz="700" dirty="0"/>
          </a:p>
        </p:txBody>
      </p:sp>
      <p:sp>
        <p:nvSpPr>
          <p:cNvPr id="24" name="Text 22"/>
          <p:cNvSpPr/>
          <p:nvPr/>
        </p:nvSpPr>
        <p:spPr>
          <a:xfrm>
            <a:off x="502920" y="2907792"/>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5</a:t>
            </a:r>
            <a:endParaRPr lang="en-US" sz="700" dirty="0"/>
          </a:p>
        </p:txBody>
      </p:sp>
      <p:sp>
        <p:nvSpPr>
          <p:cNvPr id="25" name="Text 23"/>
          <p:cNvSpPr/>
          <p:nvPr/>
        </p:nvSpPr>
        <p:spPr>
          <a:xfrm>
            <a:off x="777240" y="2907792"/>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Error Recovery</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Playbook</a:t>
            </a:r>
            <a:endParaRPr lang="en-US" sz="700" dirty="0"/>
          </a:p>
        </p:txBody>
      </p:sp>
      <p:sp>
        <p:nvSpPr>
          <p:cNvPr id="26" name="Text 24"/>
          <p:cNvSpPr/>
          <p:nvPr/>
        </p:nvSpPr>
        <p:spPr>
          <a:xfrm>
            <a:off x="2286000" y="2907792"/>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 tool failure: 1) Check if input was malformed. 2) Try an alternative tool. 3) If no alternative, tell the user what failed and why. Never silently skip."</a:t>
            </a:r>
            <a:endParaRPr lang="en-US" sz="700" dirty="0"/>
          </a:p>
        </p:txBody>
      </p:sp>
      <p:sp>
        <p:nvSpPr>
          <p:cNvPr id="27" name="Text 25"/>
          <p:cNvSpPr/>
          <p:nvPr/>
        </p:nvSpPr>
        <p:spPr>
          <a:xfrm>
            <a:off x="5394960" y="2907792"/>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general and utility agents have recovery guidance. A universal playbook prevents silent failures across all 11 agents.</a:t>
            </a:r>
            <a:endParaRPr lang="en-US" sz="700" dirty="0"/>
          </a:p>
        </p:txBody>
      </p:sp>
      <p:sp>
        <p:nvSpPr>
          <p:cNvPr id="28" name="Text 26"/>
          <p:cNvSpPr/>
          <p:nvPr/>
        </p:nvSpPr>
        <p:spPr>
          <a:xfrm>
            <a:off x="502920" y="3291840"/>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6</a:t>
            </a:r>
            <a:endParaRPr lang="en-US" sz="700" dirty="0"/>
          </a:p>
        </p:txBody>
      </p:sp>
      <p:sp>
        <p:nvSpPr>
          <p:cNvPr id="29" name="Text 27"/>
          <p:cNvSpPr/>
          <p:nvPr/>
        </p:nvSpPr>
        <p:spPr>
          <a:xfrm>
            <a:off x="777240" y="3291840"/>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Memory Trust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Framework</a:t>
            </a:r>
            <a:endParaRPr lang="en-US" sz="700" dirty="0"/>
          </a:p>
        </p:txBody>
      </p:sp>
      <p:sp>
        <p:nvSpPr>
          <p:cNvPr id="30" name="Text 28"/>
          <p:cNvSpPr/>
          <p:nvPr/>
        </p:nvSpPr>
        <p:spPr>
          <a:xfrm>
            <a:off x="2286000" y="3291840"/>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entries may be outdated. Trust: verified facts from this session &gt; recent memories &gt; old memories. Flag stale facts with [from memory]."</a:t>
            </a:r>
            <a:endParaRPr lang="en-US" sz="700" dirty="0"/>
          </a:p>
        </p:txBody>
      </p:sp>
      <p:sp>
        <p:nvSpPr>
          <p:cNvPr id="31" name="Text 29"/>
          <p:cNvSpPr/>
          <p:nvPr/>
        </p:nvSpPr>
        <p:spPr>
          <a:xfrm>
            <a:off x="5394960" y="3291840"/>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context is injected without freshness guidance. Agents treat old memories as ground truth, causing stale-fact errors.</a:t>
            </a:r>
            <a:endParaRPr lang="en-US" sz="700" dirty="0"/>
          </a:p>
        </p:txBody>
      </p:sp>
      <p:sp>
        <p:nvSpPr>
          <p:cNvPr id="32" name="Text 30"/>
          <p:cNvSpPr/>
          <p:nvPr/>
        </p:nvSpPr>
        <p:spPr>
          <a:xfrm>
            <a:off x="502920" y="3675888"/>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7</a:t>
            </a:r>
            <a:endParaRPr lang="en-US" sz="700" dirty="0"/>
          </a:p>
        </p:txBody>
      </p:sp>
      <p:sp>
        <p:nvSpPr>
          <p:cNvPr id="33" name="Text 31"/>
          <p:cNvSpPr/>
          <p:nvPr/>
        </p:nvSpPr>
        <p:spPr>
          <a:xfrm>
            <a:off x="777240" y="3675888"/>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Output Format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Contract</a:t>
            </a:r>
            <a:endParaRPr lang="en-US" sz="700" dirty="0"/>
          </a:p>
        </p:txBody>
      </p:sp>
      <p:sp>
        <p:nvSpPr>
          <p:cNvPr id="34" name="Text 32"/>
          <p:cNvSpPr/>
          <p:nvPr/>
        </p:nvSpPr>
        <p:spPr>
          <a:xfrm>
            <a:off x="2286000" y="3675888"/>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"Match response format to task type: factual Q&amp;A → concise paragraph; analysis → structured sections; code → formatted blocks with explanation."</a:t>
            </a:r>
            <a:endParaRPr lang="en-US" sz="700" dirty="0"/>
          </a:p>
        </p:txBody>
      </p:sp>
      <p:sp>
        <p:nvSpPr>
          <p:cNvPr id="35" name="Text 33"/>
          <p:cNvSpPr/>
          <p:nvPr/>
        </p:nvSpPr>
        <p:spPr>
          <a:xfrm>
            <a:off x="5394960" y="3675888"/>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planner and verifier have output format instructions. Other agents produce inconsistent formats that confuse users.</a:t>
            </a:r>
            <a:endParaRPr lang="en-US" sz="700" dirty="0"/>
          </a:p>
        </p:txBody>
      </p:sp>
      <p:sp>
        <p:nvSpPr>
          <p:cNvPr id="36" name="Text 34"/>
          <p:cNvSpPr/>
          <p:nvPr/>
        </p:nvSpPr>
        <p:spPr>
          <a:xfrm>
            <a:off x="502920" y="4059936"/>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8</a:t>
            </a:r>
            <a:endParaRPr lang="en-US" sz="700" dirty="0"/>
          </a:p>
        </p:txBody>
      </p:sp>
      <p:sp>
        <p:nvSpPr>
          <p:cNvPr id="37" name="Text 35"/>
          <p:cNvSpPr/>
          <p:nvPr/>
        </p:nvSpPr>
        <p:spPr>
          <a:xfrm>
            <a:off x="777240" y="4059936"/>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Delegation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Context</a:t>
            </a:r>
            <a:endParaRPr lang="en-US" sz="700" dirty="0"/>
          </a:p>
        </p:txBody>
      </p:sp>
      <p:sp>
        <p:nvSpPr>
          <p:cNvPr id="38" name="Text 36"/>
          <p:cNvSpPr/>
          <p:nvPr/>
        </p:nvSpPr>
        <p:spPr>
          <a:xfrm>
            <a:off x="2286000" y="4059936"/>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delegated a task, check: What was the original user request? What artifacts are available? What format does the coordinator expect?"</a:t>
            </a:r>
            <a:endParaRPr lang="en-US" sz="700" dirty="0"/>
          </a:p>
        </p:txBody>
      </p:sp>
      <p:sp>
        <p:nvSpPr>
          <p:cNvPr id="39" name="Text 37"/>
          <p:cNvSpPr/>
          <p:nvPr/>
        </p:nvSpPr>
        <p:spPr>
          <a:xfrm>
            <a:off x="5394960" y="4059936"/>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Worker agents don't know they're in a delegated context. They miss artifact references and produce outputs the coordinator can't use.</a:t>
            </a:r>
            <a:endParaRPr lang="en-US" sz="70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Inject via: data/agents/*.md (11 files) or as new Block 1.5 in query_loop.py _build_system_prompt()</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.md Enhancements — Per-Role Upgrades</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Each agent definition needs targeted improvements based on its role. These changes go directly into data/agents/*.md files.</a:t>
            </a:r>
            <a:endParaRPr lang="en-US" sz="1050" dirty="0"/>
          </a:p>
        </p:txBody>
      </p:sp>
      <p:sp>
        <p:nvSpPr>
          <p:cNvPr id="4" name="Shape 2"/>
          <p:cNvSpPr/>
          <p:nvPr/>
        </p:nvSpPr>
        <p:spPr>
          <a:xfrm>
            <a:off x="50292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15568"/>
            <a:ext cx="2590800" cy="320040"/>
          </a:xfrm>
          <a:prstGeom prst="rect">
            <a:avLst/>
          </a:prstGeom>
          <a:solidFill>
            <a:srgbClr val="0097A7"/>
          </a:solidFill>
          <a:ln/>
        </p:spPr>
        <p:txBody>
          <a:bodyPr/>
          <a:lstStyle/>
          <a:p>
            <a:endParaRPr lang="en-US"/>
          </a:p>
        </p:txBody>
      </p:sp>
      <p:sp>
        <p:nvSpPr>
          <p:cNvPr id="6" name="Text 4"/>
          <p:cNvSpPr/>
          <p:nvPr/>
        </p:nvSpPr>
        <p:spPr>
          <a:xfrm>
            <a:off x="61264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Top-Level Agents (3)</a:t>
            </a:r>
            <a:endParaRPr lang="en-US" sz="1200" dirty="0"/>
          </a:p>
        </p:txBody>
      </p:sp>
      <p:sp>
        <p:nvSpPr>
          <p:cNvPr id="7" name="Text 5"/>
          <p:cNvSpPr/>
          <p:nvPr/>
        </p:nvSpPr>
        <p:spPr>
          <a:xfrm>
            <a:off x="61264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general.md (33 tools)
</a:t>
            </a:r>
            <a:r>
              <a:rPr lang="en-US" sz="750" dirty="0">
                <a:solidFill>
                  <a:srgbClr val="333333"/>
                </a:solidFill>
                <a:latin typeface="Arial" pitchFamily="34" charset="0"/>
                <a:ea typeface="Arial" pitchFamily="34" charset="-122"/>
                <a:cs typeface="Arial" pitchFamily="34" charset="-120"/>
              </a:rPr>
              <a:t>+ Add: Reasoning Protocol, self-reflection after 3 steps, tool selection justification.
</a:t>
            </a:r>
            <a:r>
              <a:rPr lang="en-US" sz="800" b="1" dirty="0">
                <a:solidFill>
                  <a:srgbClr val="0097A7"/>
                </a:solidFill>
                <a:latin typeface="Courier New" pitchFamily="34" charset="0"/>
                <a:ea typeface="Courier New" pitchFamily="34" charset="-122"/>
                <a:cs typeface="Courier New" pitchFamily="34" charset="-120"/>
              </a:rPr>
              <a:t>basic.md (0 tools)
</a:t>
            </a:r>
            <a:r>
              <a:rPr lang="en-US" sz="750" dirty="0">
                <a:solidFill>
                  <a:srgbClr val="333333"/>
                </a:solidFill>
                <a:latin typeface="Arial" pitchFamily="34" charset="0"/>
                <a:ea typeface="Arial" pitchFamily="34" charset="-122"/>
                <a:cs typeface="Arial" pitchFamily="34" charset="-120"/>
              </a:rPr>
              <a:t>+ Add: Output format contract, confidence scoring, when to recommend upgrading to general agent.
</a:t>
            </a:r>
            <a:r>
              <a:rPr lang="en-US" sz="800" b="1" dirty="0">
                <a:solidFill>
                  <a:srgbClr val="0097A7"/>
                </a:solidFill>
                <a:latin typeface="Courier New" pitchFamily="34" charset="0"/>
                <a:ea typeface="Courier New" pitchFamily="34" charset="-122"/>
                <a:cs typeface="Courier New" pitchFamily="34" charset="-120"/>
              </a:rPr>
              <a:t>data_analyst.md (20 tools)
</a:t>
            </a:r>
            <a:r>
              <a:rPr lang="en-US" sz="750" dirty="0">
                <a:solidFill>
                  <a:srgbClr val="333333"/>
                </a:solidFill>
                <a:latin typeface="Arial" pitchFamily="34" charset="0"/>
                <a:ea typeface="Arial" pitchFamily="34" charset="-122"/>
                <a:cs typeface="Arial" pitchFamily="34" charset="-120"/>
              </a:rPr>
              <a:t>+ Add: Data validation checklist, error recovery for sandbox failures, result verification before reporting.</a:t>
            </a:r>
            <a:endParaRPr lang="en-US" sz="1000" dirty="0"/>
          </a:p>
        </p:txBody>
      </p:sp>
      <p:sp>
        <p:nvSpPr>
          <p:cNvPr id="8" name="Shape 6"/>
          <p:cNvSpPr/>
          <p:nvPr/>
        </p:nvSpPr>
        <p:spPr>
          <a:xfrm>
            <a:off x="327660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15568"/>
            <a:ext cx="2590800" cy="320040"/>
          </a:xfrm>
          <a:prstGeom prst="rect">
            <a:avLst/>
          </a:prstGeom>
          <a:solidFill>
            <a:srgbClr val="1B2A4A"/>
          </a:solidFill>
          <a:ln/>
        </p:spPr>
        <p:txBody>
          <a:bodyPr/>
          <a:lstStyle/>
          <a:p>
            <a:endParaRPr lang="en-US"/>
          </a:p>
        </p:txBody>
      </p:sp>
      <p:sp>
        <p:nvSpPr>
          <p:cNvPr id="10" name="Text 8"/>
          <p:cNvSpPr/>
          <p:nvPr/>
        </p:nvSpPr>
        <p:spPr>
          <a:xfrm>
            <a:off x="338632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Stack (4)</a:t>
            </a:r>
            <a:endParaRPr lang="en-US" sz="1200" dirty="0"/>
          </a:p>
        </p:txBody>
      </p:sp>
      <p:sp>
        <p:nvSpPr>
          <p:cNvPr id="11" name="Text 9"/>
          <p:cNvSpPr/>
          <p:nvPr/>
        </p:nvSpPr>
        <p:spPr>
          <a:xfrm>
            <a:off x="338632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coordinator.md (11 tools)
</a:t>
            </a:r>
            <a:r>
              <a:rPr lang="en-US" sz="750" dirty="0">
                <a:solidFill>
                  <a:srgbClr val="333333"/>
                </a:solidFill>
                <a:latin typeface="Arial" pitchFamily="34" charset="0"/>
                <a:ea typeface="Arial" pitchFamily="34" charset="-122"/>
                <a:cs typeface="Arial" pitchFamily="34" charset="-120"/>
              </a:rPr>
              <a:t>+ Add: Delegation context template, artifact tracking, worker output conflict resolution.
</a:t>
            </a:r>
            <a:r>
              <a:rPr lang="en-US" sz="800" b="1" dirty="0">
                <a:solidFill>
                  <a:srgbClr val="1B2A4A"/>
                </a:solidFill>
                <a:latin typeface="Courier New" pitchFamily="34" charset="0"/>
                <a:ea typeface="Courier New" pitchFamily="34" charset="-122"/>
                <a:cs typeface="Courier New" pitchFamily="34" charset="-120"/>
              </a:rPr>
              <a:t>planner.md (0 tools)
</a:t>
            </a:r>
            <a:r>
              <a:rPr lang="en-US" sz="750" dirty="0">
                <a:solidFill>
                  <a:srgbClr val="333333"/>
                </a:solidFill>
                <a:latin typeface="Arial" pitchFamily="34" charset="0"/>
                <a:ea typeface="Arial" pitchFamily="34" charset="-122"/>
                <a:cs typeface="Arial" pitchFamily="34" charset="-120"/>
              </a:rPr>
              <a:t>+ Add: Dependency graph awareness, parallel-safe task flagging, coverage estimation.
</a:t>
            </a:r>
            <a:r>
              <a:rPr lang="en-US" sz="800" b="1" dirty="0">
                <a:solidFill>
                  <a:srgbClr val="1B2A4A"/>
                </a:solidFill>
                <a:latin typeface="Courier New" pitchFamily="34" charset="0"/>
                <a:ea typeface="Courier New" pitchFamily="34" charset="-122"/>
                <a:cs typeface="Courier New" pitchFamily="34" charset="-120"/>
              </a:rPr>
              <a:t>verifier + finalizer
</a:t>
            </a:r>
            <a:r>
              <a:rPr lang="en-US" sz="750" dirty="0">
                <a:solidFill>
                  <a:srgbClr val="333333"/>
                </a:solidFill>
                <a:latin typeface="Arial" pitchFamily="34" charset="0"/>
                <a:ea typeface="Arial" pitchFamily="34" charset="-122"/>
                <a:cs typeface="Arial" pitchFamily="34" charset="-120"/>
              </a:rPr>
              <a:t>+ Verifier: confidence scoring per claim. Finalizer: output format matching user's original request tone.</a:t>
            </a:r>
            <a:endParaRPr lang="en-US" sz="1000" dirty="0"/>
          </a:p>
        </p:txBody>
      </p:sp>
      <p:sp>
        <p:nvSpPr>
          <p:cNvPr id="12" name="Shape 10"/>
          <p:cNvSpPr/>
          <p:nvPr/>
        </p:nvSpPr>
        <p:spPr>
          <a:xfrm>
            <a:off x="605028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15568"/>
            <a:ext cx="2590800" cy="320040"/>
          </a:xfrm>
          <a:prstGeom prst="rect">
            <a:avLst/>
          </a:prstGeom>
          <a:solidFill>
            <a:srgbClr val="00796B"/>
          </a:solidFill>
          <a:ln/>
        </p:spPr>
        <p:txBody>
          <a:bodyPr/>
          <a:lstStyle/>
          <a:p>
            <a:endParaRPr lang="en-US"/>
          </a:p>
        </p:txBody>
      </p:sp>
      <p:sp>
        <p:nvSpPr>
          <p:cNvPr id="14" name="Text 12"/>
          <p:cNvSpPr/>
          <p:nvPr/>
        </p:nvSpPr>
        <p:spPr>
          <a:xfrm>
            <a:off x="616000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Workers &amp; Specialist (4)</a:t>
            </a:r>
            <a:endParaRPr lang="en-US" sz="1200" dirty="0"/>
          </a:p>
        </p:txBody>
      </p:sp>
      <p:sp>
        <p:nvSpPr>
          <p:cNvPr id="15" name="Text 13"/>
          <p:cNvSpPr/>
          <p:nvPr/>
        </p:nvSpPr>
        <p:spPr>
          <a:xfrm>
            <a:off x="616000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rag_worker.md (0 tools)
</a:t>
            </a:r>
            <a:r>
              <a:rPr lang="en-US" sz="750" dirty="0">
                <a:solidFill>
                  <a:srgbClr val="333333"/>
                </a:solidFill>
                <a:latin typeface="Arial" pitchFamily="34" charset="0"/>
                <a:ea typeface="Arial" pitchFamily="34" charset="-122"/>
                <a:cs typeface="Arial" pitchFamily="34" charset="-120"/>
              </a:rPr>
              <a:t>+ Add: Source diversity requirement, contradictory evidence handling, citation format.
</a:t>
            </a:r>
            <a:r>
              <a:rPr lang="en-US" sz="800" b="1" dirty="0">
                <a:solidFill>
                  <a:srgbClr val="00796B"/>
                </a:solidFill>
                <a:latin typeface="Courier New" pitchFamily="34" charset="0"/>
                <a:ea typeface="Courier New" pitchFamily="34" charset="-122"/>
                <a:cs typeface="Courier New" pitchFamily="34" charset="-120"/>
              </a:rPr>
              <a:t>utility.md (7 tools)
</a:t>
            </a:r>
            <a:r>
              <a:rPr lang="en-US" sz="750" dirty="0">
                <a:solidFill>
                  <a:srgbClr val="333333"/>
                </a:solidFill>
                <a:latin typeface="Arial" pitchFamily="34" charset="0"/>
                <a:ea typeface="Arial" pitchFamily="34" charset="-122"/>
                <a:cs typeface="Arial" pitchFamily="34" charset="-120"/>
              </a:rPr>
              <a:t>+ Add: Speed-over-depth instruction, when to escalate to general agent.
</a:t>
            </a:r>
            <a:r>
              <a:rPr lang="en-US" sz="800" b="1" dirty="0">
                <a:solidFill>
                  <a:srgbClr val="00796B"/>
                </a:solidFill>
                <a:latin typeface="Courier New" pitchFamily="34" charset="0"/>
                <a:ea typeface="Courier New" pitchFamily="34" charset="-122"/>
                <a:cs typeface="Courier New" pitchFamily="34" charset="-120"/>
              </a:rPr>
              <a:t>graph_manager + memory_maint.
</a:t>
            </a:r>
            <a:r>
              <a:rPr lang="en-US" sz="750" dirty="0">
                <a:solidFill>
                  <a:srgbClr val="333333"/>
                </a:solidFill>
                <a:latin typeface="Arial" pitchFamily="34" charset="0"/>
                <a:ea typeface="Arial" pitchFamily="34" charset="-122"/>
                <a:cs typeface="Arial" pitchFamily="34" charset="-120"/>
              </a:rPr>
              <a:t>+ Graph: traversal strategy selection. Memory: dedup awareness, staleness check before saving.</a:t>
            </a:r>
            <a:endParaRPr lang="en-US" sz="1000" dirty="0"/>
          </a:p>
        </p:txBody>
      </p:sp>
      <p:sp>
        <p:nvSpPr>
          <p:cNvPr id="16" name="Text 14"/>
          <p:cNvSpPr/>
          <p:nvPr/>
        </p:nvSpPr>
        <p:spPr>
          <a:xfrm>
            <a:off x="502920" y="3145536"/>
            <a:ext cx="8138160" cy="18288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New Reasoning Skill Packs to Create</a:t>
            </a:r>
            <a:endParaRPr lang="en-US" sz="1100" dirty="0"/>
          </a:p>
        </p:txBody>
      </p:sp>
      <p:sp>
        <p:nvSpPr>
          <p:cNvPr id="17" name="Text 15"/>
          <p:cNvSpPr/>
          <p:nvPr/>
        </p:nvSpPr>
        <p:spPr>
          <a:xfrm>
            <a:off x="50292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step_planning.md
</a:t>
            </a:r>
            <a:r>
              <a:rPr lang="en-US" sz="700" dirty="0">
                <a:solidFill>
                  <a:srgbClr val="666666"/>
                </a:solidFill>
              </a:rPr>
              <a:t>Decompose complex queries into ordered sub-tasks before acting</a:t>
            </a:r>
            <a:endParaRPr lang="en-US" sz="750" dirty="0"/>
          </a:p>
        </p:txBody>
      </p:sp>
      <p:sp>
        <p:nvSpPr>
          <p:cNvPr id="18" name="Text 16"/>
          <p:cNvSpPr/>
          <p:nvPr/>
        </p:nvSpPr>
        <p:spPr>
          <a:xfrm>
            <a:off x="214884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self_verification.md
</a:t>
            </a:r>
            <a:r>
              <a:rPr lang="en-US" sz="700" dirty="0">
                <a:solidFill>
                  <a:srgbClr val="666666"/>
                </a:solidFill>
              </a:rPr>
              <a:t>Check work after multi-step tasks: re-read sources, cross-validate, flag gaps</a:t>
            </a:r>
            <a:endParaRPr lang="en-US" sz="750" dirty="0"/>
          </a:p>
        </p:txBody>
      </p:sp>
      <p:sp>
        <p:nvSpPr>
          <p:cNvPr id="19" name="Text 17"/>
          <p:cNvSpPr/>
          <p:nvPr/>
        </p:nvSpPr>
        <p:spPr>
          <a:xfrm>
            <a:off x="379476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uncertainty_handling.md
</a:t>
            </a:r>
            <a:r>
              <a:rPr lang="en-US" sz="700" dirty="0">
                <a:solidFill>
                  <a:srgbClr val="666666"/>
                </a:solidFill>
              </a:rPr>
              <a:t>Score confidence, surface unknowns, recommend when to ask vs. guess</a:t>
            </a:r>
            <a:endParaRPr lang="en-US" sz="750" dirty="0"/>
          </a:p>
        </p:txBody>
      </p:sp>
      <p:sp>
        <p:nvSpPr>
          <p:cNvPr id="20" name="Text 18"/>
          <p:cNvSpPr/>
          <p:nvPr/>
        </p:nvSpPr>
        <p:spPr>
          <a:xfrm>
            <a:off x="544068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error_recovery.md
</a:t>
            </a:r>
            <a:r>
              <a:rPr lang="en-US" sz="700" dirty="0">
                <a:solidFill>
                  <a:srgbClr val="666666"/>
                </a:solidFill>
              </a:rPr>
              <a:t>Standard playbook: diagnose, retry alt tool, degrade gracefully, inform user</a:t>
            </a:r>
            <a:endParaRPr lang="en-US" sz="750" dirty="0"/>
          </a:p>
        </p:txBody>
      </p:sp>
      <p:sp>
        <p:nvSpPr>
          <p:cNvPr id="21" name="Text 19"/>
          <p:cNvSpPr/>
          <p:nvPr/>
        </p:nvSpPr>
        <p:spPr>
          <a:xfrm>
            <a:off x="708660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output_formatting.md
</a:t>
            </a:r>
            <a:r>
              <a:rPr lang="en-US" sz="700" dirty="0">
                <a:solidFill>
                  <a:srgbClr val="666666"/>
                </a:solidFill>
              </a:rPr>
              <a:t>Match response format to task type: Q&amp;A, analysis, code, comparison</a:t>
            </a:r>
            <a:endParaRPr lang="en-US" sz="750" dirty="0"/>
          </a:p>
        </p:txBody>
      </p:sp>
      <p:sp>
        <p:nvSpPr>
          <p:cNvPr id="22" name="Shape 20"/>
          <p:cNvSpPr/>
          <p:nvPr/>
        </p:nvSpPr>
        <p:spPr>
          <a:xfrm>
            <a:off x="502920" y="4224528"/>
            <a:ext cx="8138160" cy="201168"/>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22452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5 skill packs are injected dynamically via SkillResolver — agents get reasoning guidance only when the query complexity warrants it.</a:t>
            </a:r>
            <a:endParaRPr lang="en-US" sz="100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(11 files) · data/skills/ (5 new packs) · skills/resolver.py (add reasoning scope)</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Technical Implementation Guide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Step-by-step plans with code snippets for the highest-impact improvements. All changes fit within the existing harness.</a:t>
            </a:r>
            <a:endParaRPr lang="en-US" sz="16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1 — Memory Facade + TTL Enforcement</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memory/facade.py
</a:t>
            </a:r>
            <a:r>
              <a:rPr lang="en-US" sz="750" dirty="0">
                <a:solidFill>
                  <a:srgbClr val="666666"/>
                </a:solidFill>
              </a:rPr>
              <a:t>New class MemoryFacade wraps both stores. Implements the same Protocol as PostgresMemoryStore. Every write goes to Postgres first, then projects to FileMemoryStore. Every read goes to Postgres only.</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Update kernel.py init
</a:t>
            </a:r>
            <a:r>
              <a:rPr lang="en-US" sz="750" dirty="0">
                <a:solidFill>
                  <a:srgbClr val="666666"/>
                </a:solidFill>
              </a:rPr>
              <a:t>Replace the if/else branch at line 145 with: self.memory_store = MemoryFacade(postgres_store, file_store). Both stores always initialized.</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Add reconcile_on_startup()
</a:t>
            </a:r>
            <a:r>
              <a:rPr lang="en-US" sz="750" dirty="0">
                <a:solidFill>
                  <a:srgbClr val="666666"/>
                </a:solidFill>
              </a:rPr>
              <a:t>On Facade.__init__, diff file store keys vs Postgres active records. Import any file-only records into Postgres. Log drift count.</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TTL sweep to Facade
</a:t>
            </a:r>
            <a:r>
              <a:rPr lang="en-US" sz="750" dirty="0">
                <a:solidFill>
                  <a:srgbClr val="666666"/>
                </a:solidFill>
              </a:rPr>
              <a:t>New method sweep_expired(): query WHERE ttl_hint IS NOT NULL AND ttl_hint::interval &lt; NOW() - updated_at AND active = TRUE → set active=FALSE. Call from kernel on session start.</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Expose ttl_policy config
</a:t>
            </a:r>
            <a:r>
              <a:rPr lang="en-US" sz="750" dirty="0">
                <a:solidFill>
                  <a:srgbClr val="666666"/>
                </a:solidFill>
              </a:rPr>
              <a:t>Add ttl_defaults dict to settings: {profile_preference: '90d', task_state: '7d', decision: '30d'}. Apply default TTL when none specified in save_explicit().</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memory/facade.py — Core Class</a:t>
            </a:r>
            <a:endParaRPr lang="en-US" sz="1000" dirty="0"/>
          </a:p>
        </p:txBody>
      </p:sp>
      <p:sp>
        <p:nvSpPr>
          <p:cNvPr id="10" name="Shape 8"/>
          <p:cNvSpPr/>
          <p:nvPr/>
        </p:nvSpPr>
        <p:spPr>
          <a:xfrm>
            <a:off x="4572000" y="1051560"/>
            <a:ext cx="4069080" cy="2331720"/>
          </a:xfrm>
          <a:prstGeom prst="rect">
            <a:avLst/>
          </a:prstGeom>
          <a:solidFill>
            <a:srgbClr val="2D2D2D"/>
          </a:solidFill>
          <a:ln/>
        </p:spPr>
        <p:txBody>
          <a:bodyPr/>
          <a:lstStyle/>
          <a:p>
            <a:endParaRPr lang="en-US"/>
          </a:p>
        </p:txBody>
      </p:sp>
      <p:sp>
        <p:nvSpPr>
          <p:cNvPr id="11" name="Text 9"/>
          <p:cNvSpPr/>
          <p:nvPr/>
        </p:nvSpPr>
        <p:spPr>
          <a:xfrm>
            <a:off x="4681728" y="1106424"/>
            <a:ext cx="3849624" cy="2221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MemoryFacade: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"""Unified write-through 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pg, fs, settings):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self._pg = pg  # PostgresMemoryStore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 = fs  # FileMemoryStore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self._ttl_defaults = settings.ttl_defaults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self._reconcile_drift()</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save_explicit(self, *,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scope, 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ttl_hint: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 kw.get("memory_type","decision")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 = self._ttl_defaults.get(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"30d")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rec = self._pg.save_explicit(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key=key, value=value, scope=scope,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self._fs.save(scope,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rec</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sweep_expired(self) -&gt;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sql = """UPDATE memory_records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SET active=FALSE WHERE active=TRUE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ttl_hint IS NOT NULL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updated_at+ttl_hint::interval&lt;NOW()"""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self._pg.execute(sql).rowcount</a:t>
            </a:r>
            <a:endParaRPr lang="en-US" sz="900" dirty="0"/>
          </a:p>
        </p:txBody>
      </p:sp>
      <p:sp>
        <p:nvSpPr>
          <p:cNvPr id="12" name="Shape 10"/>
          <p:cNvSpPr/>
          <p:nvPr/>
        </p:nvSpPr>
        <p:spPr>
          <a:xfrm>
            <a:off x="502920" y="3520440"/>
            <a:ext cx="8138160" cy="292608"/>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Integration: kernel.py line 145 — replace conditional init with MemoryFacade(pg_store, file_store, settings). All downstream code (memory_selector, memory_write_manager, tools/groups/memory.py) unchanged — Facade implements the same Protocol.</a:t>
            </a:r>
            <a:endParaRPr lang="en-US" sz="1000" dirty="0"/>
          </a:p>
        </p:txBody>
      </p:sp>
      <p:sp>
        <p:nvSpPr>
          <p:cNvPr id="14" name="Text 12"/>
          <p:cNvSpPr/>
          <p:nvPr/>
        </p:nvSpPr>
        <p:spPr>
          <a:xfrm>
            <a:off x="502920" y="3886200"/>
            <a:ext cx="8138160" cy="182880"/>
          </a:xfrm>
          <a:prstGeom prst="rect">
            <a:avLst/>
          </a:prstGeom>
          <a:noFill/>
          <a:ln/>
        </p:spPr>
        <p:txBody>
          <a:bodyPr wrap="square" lIns="0" tIns="0" rIns="0" bIns="0" rtlCol="0" anchor="ctr"/>
          <a:lstStyle/>
          <a:p>
            <a:pPr marL="0" indent="0">
              <a:buNone/>
            </a:pPr>
            <a:r>
              <a:rPr lang="en-US" sz="800" dirty="0">
                <a:solidFill>
                  <a:srgbClr val="999999"/>
                </a:solidFill>
                <a:latin typeface="Courier New" pitchFamily="34" charset="0"/>
                <a:ea typeface="Courier New" pitchFamily="34" charset="-122"/>
                <a:cs typeface="Courier New" pitchFamily="34" charset="-120"/>
              </a:rPr>
              <a:t>Files: memory/facade.py (new ~120 lines) · runtime/kernel.py (modify lines 145-168) · settings.py (add ttl_defaults)</a:t>
            </a:r>
            <a:endParaRPr lang="en-US" sz="8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Depends on: persistence/postgres/memory_v2.py (831 lines), memory/file_store.py (257 lines)</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2 — Importance Decay + Confidence Filter</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decay config to settings
</a:t>
            </a:r>
            <a:r>
              <a:rPr lang="en-US" sz="750" dirty="0">
                <a:solidFill>
                  <a:srgbClr val="666666"/>
                </a:solidFill>
              </a:rPr>
              <a:t>New dict decay_rates: {profile_preference: 0.998, task_state: 0.95, decision: 0.99, constraint: 0.995, open_loop: 0.96}. Controls how fast importance fades per memory type.</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effective_importance() to store.py
</a:t>
            </a:r>
            <a:r>
              <a:rPr lang="en-US" sz="750" dirty="0">
                <a:solidFill>
                  <a:srgbClr val="666666"/>
                </a:solidFill>
              </a:rPr>
              <a:t>New method on ManagedMemoryRecord: computes importance × decay^days_since_last_used. Uses last_used_at (already tracked by touch_records()).</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Modify search_candidates() ordering
</a:t>
            </a:r>
            <a:r>
              <a:rPr lang="en-US" sz="750" dirty="0">
                <a:solidFill>
                  <a:srgbClr val="666666"/>
                </a:solidFill>
              </a:rPr>
              <a:t>In memory_v2.py line ~520, replace ORDER BY importance DESC with a computed column using the decay formula. Postgres can compute this inline.</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confidence filter to manager.py
</a:t>
            </a:r>
            <a:r>
              <a:rPr lang="en-US" sz="750" dirty="0">
                <a:solidFill>
                  <a:srgbClr val="666666"/>
                </a:solidFill>
              </a:rPr>
              <a:t>In MemorySelector.select_candidates(), filter out candidates with confidence &lt; threshold (default 0.4). Tag remaining low-confidence (0.4-0.6) with [uncertain].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confidence_threshold to settings
</a:t>
            </a:r>
            <a:r>
              <a:rPr lang="en-US" sz="750" dirty="0">
                <a:solidFill>
                  <a:srgbClr val="666666"/>
                </a:solidFill>
              </a:rPr>
              <a:t>Expose as configurable setting. Default 0.4. Agents can override via metadata.</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store.py — Decay Calculation</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Add to ManagedMemoryRecord 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effective_importance(self, decay_rates):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rate = decay_rates.get(self.memory_type,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self.last_used_at: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days = (datetime.utcnow()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parse_iso(self.last_used_at)).days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 * (rate ** days)</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memory_v2.py — SQL with Decay</a:t>
            </a:r>
            <a:endParaRPr lang="en-US" sz="1000" dirty="0"/>
          </a:p>
        </p:txBody>
      </p:sp>
      <p:sp>
        <p:nvSpPr>
          <p:cNvPr id="13" name="Shape 11"/>
          <p:cNvSpPr/>
          <p:nvPr/>
        </p:nvSpPr>
        <p:spPr>
          <a:xfrm>
            <a:off x="4572000" y="2606040"/>
            <a:ext cx="4069080" cy="914400"/>
          </a:xfrm>
          <a:prstGeom prst="rect">
            <a:avLst/>
          </a:prstGeom>
          <a:solidFill>
            <a:srgbClr val="2D2D2D"/>
          </a:solidFill>
          <a:ln/>
        </p:spPr>
        <p:txBody>
          <a:bodyPr/>
          <a:lstStyle/>
          <a:p>
            <a:endParaRPr lang="en-US"/>
          </a:p>
        </p:txBody>
      </p:sp>
      <p:sp>
        <p:nvSpPr>
          <p:cNvPr id="14" name="Text 12"/>
          <p:cNvSpPr/>
          <p:nvPr/>
        </p:nvSpPr>
        <p:spPr>
          <a:xfrm>
            <a:off x="4681728" y="2660904"/>
            <a:ext cx="3849624" cy="804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search_candidates(), replace ORDER BY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ORDER BY importance * POWER(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COALESCE(decay_rate,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EXTRACT(EPOCH FROM NOW()-last_used_at)/86400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DESC LIMIT %s</a:t>
            </a:r>
            <a:endParaRPr lang="en-US" sz="900" dirty="0"/>
          </a:p>
        </p:txBody>
      </p:sp>
      <p:sp>
        <p:nvSpPr>
          <p:cNvPr id="15" name="Text 13"/>
          <p:cNvSpPr/>
          <p:nvPr/>
        </p:nvSpPr>
        <p:spPr>
          <a:xfrm>
            <a:off x="4572000" y="361188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manager.py — Confidence Filter</a:t>
            </a:r>
            <a:endParaRPr lang="en-US" sz="1000" dirty="0"/>
          </a:p>
        </p:txBody>
      </p:sp>
      <p:sp>
        <p:nvSpPr>
          <p:cNvPr id="16" name="Shape 14"/>
          <p:cNvSpPr/>
          <p:nvPr/>
        </p:nvSpPr>
        <p:spPr>
          <a:xfrm>
            <a:off x="4572000" y="3840480"/>
            <a:ext cx="4069080" cy="594360"/>
          </a:xfrm>
          <a:prstGeom prst="rect">
            <a:avLst/>
          </a:prstGeom>
          <a:solidFill>
            <a:srgbClr val="2D2D2D"/>
          </a:solidFill>
          <a:ln/>
        </p:spPr>
        <p:txBody>
          <a:bodyPr/>
          <a:lstStyle/>
          <a:p>
            <a:endParaRPr lang="en-US"/>
          </a:p>
        </p:txBody>
      </p:sp>
      <p:sp>
        <p:nvSpPr>
          <p:cNvPr id="17" name="Text 15"/>
          <p:cNvSpPr/>
          <p:nvPr/>
        </p:nvSpPr>
        <p:spPr>
          <a:xfrm>
            <a:off x="4681728" y="3895344"/>
            <a:ext cx="3849624" cy="4846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select_candidates(), after search: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candidates = [c 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is None 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c.record.confidence &gt;= threshold)]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Tag uncertain (0.4-0.6) with prefix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and c.record.confidence &lt; 0.6: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c.text = f"[uncertain] {c.text}"</a:t>
            </a:r>
            <a:endParaRPr lang="en-US" sz="9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memory/store.py (modify), persistence/postgres/memory_v2.py (modify line ~520), memory/manager.py (modify select_candidates)</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3 — Step-Level Retry Policy</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contracts/retry.py
</a:t>
            </a:r>
            <a:r>
              <a:rPr lang="en-US" sz="750" dirty="0">
                <a:solidFill>
                  <a:srgbClr val="666666"/>
                </a:solidFill>
              </a:rPr>
              <a:t>New dataclass RetryPolicy with max_retries, backoff_base, backoff_max, retryable_errors, fallback_tool. Default: 2 retries, 1s base, 30s max.</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retry_policy to ToolDefinition
</a:t>
            </a:r>
            <a:r>
              <a:rPr lang="en-US" sz="750" dirty="0">
                <a:solidFill>
                  <a:srgbClr val="666666"/>
                </a:solidFill>
              </a:rPr>
              <a:t>New optional field in contracts/tools.py. Each tool can declare its own retry behavior. Default None = use global.</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Create runtime/retry.py
</a:t>
            </a:r>
            <a:r>
              <a:rPr lang="en-US" sz="750" dirty="0">
                <a:solidFill>
                  <a:srgbClr val="666666"/>
                </a:solidFill>
              </a:rPr>
              <a:t>New async function retry_with_policy(tool_fn, args, policy). Implements exponential backoff with jitter. Catches retryable errors, falls back if exhausted.</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Wrap tool invocation in executor.py
</a:t>
            </a:r>
            <a:r>
              <a:rPr lang="en-US" sz="750" dirty="0">
                <a:solidFill>
                  <a:srgbClr val="666666"/>
                </a:solidFill>
              </a:rPr>
              <a:t>In build_agent_tools(), wrap each tool's invoke function with retry_with_policy(). The wrapper is transparent to langchain.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Configure per-tool policies in registry.py
</a:t>
            </a:r>
            <a:r>
              <a:rPr lang="en-US" sz="750" dirty="0">
                <a:solidFill>
                  <a:srgbClr val="666666"/>
                </a:solidFill>
              </a:rPr>
              <a:t>Set aggressive retry for web/external tools (3 retries). No retry for destructive tools. 1 retry for memory tools.</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contracts/retry.py — Policy Dataclass</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max_retries: int = 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backoff_base: float = 1.0   # seconds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backoff_max: float = 30.0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retryable_errors: tuple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TimeoutError, ConnectionError,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SandboxUnavailableError)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fallback_tool: str | None = None</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runtime/retry.py — Retry Wrapper</a:t>
            </a:r>
            <a:endParaRPr lang="en-US" sz="1000" dirty="0"/>
          </a:p>
        </p:txBody>
      </p:sp>
      <p:sp>
        <p:nvSpPr>
          <p:cNvPr id="13" name="Shape 11"/>
          <p:cNvSpPr/>
          <p:nvPr/>
        </p:nvSpPr>
        <p:spPr>
          <a:xfrm>
            <a:off x="4572000" y="2606040"/>
            <a:ext cx="4069080" cy="1783080"/>
          </a:xfrm>
          <a:prstGeom prst="rect">
            <a:avLst/>
          </a:prstGeom>
          <a:solidFill>
            <a:srgbClr val="2D2D2D"/>
          </a:solidFill>
          <a:ln/>
        </p:spPr>
        <p:txBody>
          <a:bodyPr/>
          <a:lstStyle/>
          <a:p>
            <a:endParaRPr lang="en-US"/>
          </a:p>
        </p:txBody>
      </p:sp>
      <p:sp>
        <p:nvSpPr>
          <p:cNvPr id="14" name="Text 12"/>
          <p:cNvSpPr/>
          <p:nvPr/>
        </p:nvSpPr>
        <p:spPr>
          <a:xfrm>
            <a:off x="4681728" y="2660904"/>
            <a:ext cx="3849624" cy="16733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retry_with_policy(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tool_fn, args, policy: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tool_context=None):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attempt in range(policy.max_retries + 1):</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except policy.retryable_errors as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attempt &lt; policy.max_retries: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wait = min(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policy.backoff_base * (2**attempt)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random.uniform(0, 0.5),</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policy.backoff_max)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asyncio.sleep(wait)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Exhausted: try fallback 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policy.fallback_tool and tool_context: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fb = tool_context.get(policy.fallback_tool)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fb:</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fb(**args)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raise last_err</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contracts/retry.py (new ~30 lines) · runtime/retry.py (new ~50 lines) · tools/executor.py (wrap line ~25) · tools/registry.py (add policies)</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4 — Parallel Tool Execution</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concurrency_group to ToolDefinition
</a:t>
            </a:r>
            <a:r>
              <a:rPr lang="en-US" sz="750" dirty="0">
                <a:solidFill>
                  <a:srgbClr val="666666"/>
                </a:solidFill>
              </a:rPr>
              <a:t>Tag tools that share resources: memory tools → 'memory', workspace tools → 'workspace', sandbox → 'sandbox'. Null = no conflict.</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Create runtime/parallel.py
</a:t>
            </a:r>
            <a:r>
              <a:rPr lang="en-US" sz="750" dirty="0">
                <a:solidFill>
                  <a:srgbClr val="666666"/>
                </a:solidFill>
              </a:rPr>
              <a:t>New class ParallelExecutor: takes list of (tool, args) pairs, builds dependency graph from concurrency_group conflicts, runs independent tools via asyncio.gather().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Detect parallel-safe batches
</a:t>
            </a:r>
            <a:r>
              <a:rPr lang="en-US" sz="750" dirty="0">
                <a:solidFill>
                  <a:srgbClr val="666666"/>
                </a:solidFill>
              </a:rPr>
              <a:t>When LLM emits multiple tool_calls in one response, check concurrency_groups. If no overlap → run all in parallel. If overlap → run conflicting tools sequentially.</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Integrate into query_loop.py
</a:t>
            </a:r>
            <a:r>
              <a:rPr lang="en-US" sz="750" dirty="0">
                <a:solidFill>
                  <a:srgbClr val="666666"/>
                </a:solidFill>
              </a:rPr>
              <a:t>Replace sequential tool-call loop with ParallelExecutor.execute_batch(). Results returned in original order.</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max_parallel to settings
</a:t>
            </a:r>
            <a:r>
              <a:rPr lang="en-US" sz="750" dirty="0">
                <a:solidFill>
                  <a:srgbClr val="666666"/>
                </a:solidFill>
              </a:rPr>
              <a:t>Default 4. Limits concurrent Docker containers / DB connections. Semaphore-based throttling.</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runtime/parallel.py — Executor</a:t>
            </a:r>
            <a:endParaRPr lang="en-US" sz="1000" dirty="0"/>
          </a:p>
        </p:txBody>
      </p:sp>
      <p:sp>
        <p:nvSpPr>
          <p:cNvPr id="10" name="Shape 8"/>
          <p:cNvSpPr/>
          <p:nvPr/>
        </p:nvSpPr>
        <p:spPr>
          <a:xfrm>
            <a:off x="4572000" y="1051560"/>
            <a:ext cx="4069080" cy="2377440"/>
          </a:xfrm>
          <a:prstGeom prst="rect">
            <a:avLst/>
          </a:prstGeom>
          <a:solidFill>
            <a:srgbClr val="2D2D2D"/>
          </a:solidFill>
          <a:ln/>
        </p:spPr>
        <p:txBody>
          <a:bodyPr/>
          <a:lstStyle/>
          <a:p>
            <a:endParaRPr lang="en-US"/>
          </a:p>
        </p:txBody>
      </p:sp>
      <p:sp>
        <p:nvSpPr>
          <p:cNvPr id="11" name="Text 9"/>
          <p:cNvSpPr/>
          <p:nvPr/>
        </p:nvSpPr>
        <p:spPr>
          <a:xfrm>
            <a:off x="4681728" y="1106424"/>
            <a:ext cx="384962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ParallelExecutor: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max_parallel=4):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self._sem = asyncio.Semaphore(max_parallel)</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execute_batch(self,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groups = self._build_groups(calls,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 = [None] * len(calls)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batch in groups:  # sequential batches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_run(idx, tool_fn,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with self._sem:</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results[idx] =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asyncio.gather(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*[_run(i, fn, a) for i, fn, a in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results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_build_groups(self,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Group by concurrency_key conflicts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 seen_keys =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i, (name, fn, args) in enumerate(calls):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 = registry[name].concurrency_key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key and key in seen_keys: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batches.append([])  # new sequential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seen_keys.add(key)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batches[-1].append((i, 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batches</a:t>
            </a:r>
            <a:endParaRPr lang="en-US" sz="900" dirty="0"/>
          </a:p>
        </p:txBody>
      </p:sp>
      <p:sp>
        <p:nvSpPr>
          <p:cNvPr id="12" name="Text 10"/>
          <p:cNvSpPr/>
          <p:nvPr/>
        </p:nvSpPr>
        <p:spPr>
          <a:xfrm>
            <a:off x="4572000" y="3520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query_loop.py — Integration Point</a:t>
            </a:r>
            <a:endParaRPr lang="en-US" sz="1000" dirty="0"/>
          </a:p>
        </p:txBody>
      </p:sp>
      <p:sp>
        <p:nvSpPr>
          <p:cNvPr id="13" name="Shape 11"/>
          <p:cNvSpPr/>
          <p:nvPr/>
        </p:nvSpPr>
        <p:spPr>
          <a:xfrm>
            <a:off x="4572000" y="3749040"/>
            <a:ext cx="4069080" cy="685800"/>
          </a:xfrm>
          <a:prstGeom prst="rect">
            <a:avLst/>
          </a:prstGeom>
          <a:solidFill>
            <a:srgbClr val="2D2D2D"/>
          </a:solidFill>
          <a:ln/>
        </p:spPr>
        <p:txBody>
          <a:bodyPr/>
          <a:lstStyle/>
          <a:p>
            <a:endParaRPr lang="en-US"/>
          </a:p>
        </p:txBody>
      </p:sp>
      <p:sp>
        <p:nvSpPr>
          <p:cNvPr id="14" name="Text 12"/>
          <p:cNvSpPr/>
          <p:nvPr/>
        </p:nvSpPr>
        <p:spPr>
          <a:xfrm>
            <a:off x="4681728" y="3803904"/>
            <a:ext cx="3849624" cy="5760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Replace sequential loop with: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executor = ParallelExecutor(settings.max_parallel)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calls = [(tc.name, tc.fn, tc.args)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tc in message.tool_calls]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results = await executor.execute_batch(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calls, tool_registry)</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runtime/parallel.py (new ~80 lines) · contracts/tools.py (add concurrency_key) · runtime/query_loop.py (modify tool loop)</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5 — Fallback Chains + CoT Capture</a:t>
            </a:r>
            <a:endParaRPr lang="en-US" sz="2600" dirty="0"/>
          </a:p>
        </p:txBody>
      </p:sp>
      <p:sp>
        <p:nvSpPr>
          <p:cNvPr id="3" name="Shape 1"/>
          <p:cNvSpPr/>
          <p:nvPr/>
        </p:nvSpPr>
        <p:spPr>
          <a:xfrm>
            <a:off x="50292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Configurable Fallback Chains</a:t>
            </a:r>
            <a:endParaRPr lang="en-US" sz="1200" dirty="0"/>
          </a:p>
        </p:txBody>
      </p:sp>
      <p:sp>
        <p:nvSpPr>
          <p:cNvPr id="6" name="Text 4"/>
          <p:cNvSpPr/>
          <p:nvPr/>
        </p:nvSpPr>
        <p:spPr>
          <a:xfrm>
            <a:off x="61264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Add fallback_chains to AgentDefinition
</a:t>
            </a:r>
            <a:r>
              <a:rPr lang="en-US" sz="750" dirty="0">
                <a:solidFill>
                  <a:srgbClr val="333333"/>
                </a:solidFill>
                <a:latin typeface="Arial" pitchFamily="34" charset="0"/>
                <a:ea typeface="Arial" pitchFamily="34" charset="-122"/>
                <a:cs typeface="Arial" pitchFamily="34" charset="-120"/>
              </a:rPr>
              <a:t>New field: Dict[str, List[str]]. Key = error class, value = ordered strategy list.
</a:t>
            </a:r>
            <a:r>
              <a:rPr lang="en-US" sz="800" b="1" dirty="0">
                <a:solidFill>
                  <a:srgbClr val="0097A7"/>
                </a:solidFill>
                <a:latin typeface="Arial" pitchFamily="34" charset="0"/>
                <a:ea typeface="Arial" pitchFamily="34" charset="-122"/>
                <a:cs typeface="Arial" pitchFamily="34" charset="-120"/>
              </a:rPr>
              <a:t>Step 2: Define strategy registry
</a:t>
            </a:r>
            <a:r>
              <a:rPr lang="en-US" sz="750" dirty="0">
                <a:solidFill>
                  <a:srgbClr val="333333"/>
                </a:solidFill>
                <a:latin typeface="Arial" pitchFamily="34" charset="0"/>
                <a:ea typeface="Arial" pitchFamily="34" charset="-122"/>
                <a:cs typeface="Arial" pitchFamily="34" charset="-120"/>
              </a:rPr>
              <a:t>Strategies: 'retry_simpler_prompt', 'fallback_to_basic_agent', 'ask_user_clarification', 'return_partial_result', 'escalate_to_coordinator'.
</a:t>
            </a:r>
            <a:r>
              <a:rPr lang="en-US" sz="800" b="1" dirty="0">
                <a:solidFill>
                  <a:srgbClr val="0097A7"/>
                </a:solidFill>
                <a:latin typeface="Arial" pitchFamily="34" charset="0"/>
                <a:ea typeface="Arial" pitchFamily="34" charset="-122"/>
                <a:cs typeface="Arial" pitchFamily="34" charset="-120"/>
              </a:rPr>
              <a:t>Step 3: Create runtime/fallback.py
</a:t>
            </a:r>
            <a:r>
              <a:rPr lang="en-US" sz="750" dirty="0">
                <a:solidFill>
                  <a:srgbClr val="333333"/>
                </a:solidFill>
                <a:latin typeface="Arial" pitchFamily="34" charset="0"/>
                <a:ea typeface="Arial" pitchFamily="34" charset="-122"/>
                <a:cs typeface="Arial" pitchFamily="34" charset="-120"/>
              </a:rPr>
              <a:t>FallbackChainExecutor walks the chain until one succeeds. Each strategy is an async function with (error, context) → result|None signature.
</a:t>
            </a:r>
            <a:r>
              <a:rPr lang="en-US" sz="800" b="1" dirty="0">
                <a:solidFill>
                  <a:srgbClr val="0097A7"/>
                </a:solidFill>
                <a:latin typeface="Arial" pitchFamily="34" charset="0"/>
                <a:ea typeface="Arial" pitchFamily="34" charset="-122"/>
                <a:cs typeface="Arial" pitchFamily="34" charset="-120"/>
              </a:rPr>
              <a:t>Step 4: Wire into _finalize_messages()
</a:t>
            </a:r>
            <a:r>
              <a:rPr lang="en-US" sz="750" dirty="0">
                <a:solidFill>
                  <a:srgbClr val="333333"/>
                </a:solidFill>
                <a:latin typeface="Arial" pitchFamily="34" charset="0"/>
                <a:ea typeface="Arial" pitchFamily="34" charset="-122"/>
                <a:cs typeface="Arial" pitchFamily="34" charset="-120"/>
              </a:rPr>
              <a:t>Replace hardcoded 4-strategy fallback in kernel.py with chain lookup from agent.fallback_chains[error_type].
</a:t>
            </a:r>
            <a:r>
              <a:rPr lang="en-US" sz="800" b="1" dirty="0">
                <a:solidFill>
                  <a:srgbClr val="1B2A4A"/>
                </a:solidFill>
                <a:latin typeface="Arial" pitchFamily="34" charset="0"/>
                <a:ea typeface="Arial" pitchFamily="34" charset="-122"/>
                <a:cs typeface="Arial" pitchFamily="34" charset="-120"/>
              </a:rPr>
              <a:t>Config in agent .md files:
</a:t>
            </a:r>
            <a:r>
              <a:rPr lang="en-US" sz="750" dirty="0">
                <a:solidFill>
                  <a:srgbClr val="666666"/>
                </a:solidFill>
                <a:latin typeface="Courier New" pitchFamily="34" charset="0"/>
                <a:ea typeface="Courier New" pitchFamily="34" charset="-122"/>
                <a:cs typeface="Courier New" pitchFamily="34" charset="-120"/>
              </a:rPr>
              <a:t>fallback_chains:</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timeout: [retry_simpler, fallback_basic]</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context_overflow: [summarize, retry]</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tool_error: [retry, ask_user]</a:t>
            </a:r>
            <a:endParaRPr lang="en-US" sz="1000" dirty="0"/>
          </a:p>
        </p:txBody>
      </p:sp>
      <p:sp>
        <p:nvSpPr>
          <p:cNvPr id="7" name="Shape 5"/>
          <p:cNvSpPr/>
          <p:nvPr/>
        </p:nvSpPr>
        <p:spPr>
          <a:xfrm>
            <a:off x="466344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Chain-of-Thought Capture</a:t>
            </a:r>
            <a:endParaRPr lang="en-US" sz="1200" dirty="0"/>
          </a:p>
        </p:txBody>
      </p:sp>
      <p:sp>
        <p:nvSpPr>
          <p:cNvPr id="10" name="Text 8"/>
          <p:cNvSpPr/>
          <p:nvPr/>
        </p:nvSpPr>
        <p:spPr>
          <a:xfrm>
            <a:off x="477316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Create contracts/reasoning.py
</a:t>
            </a:r>
            <a:r>
              <a:rPr lang="en-US" sz="750" dirty="0">
                <a:solidFill>
                  <a:srgbClr val="333333"/>
                </a:solidFill>
                <a:latin typeface="Arial" pitchFamily="34" charset="0"/>
                <a:ea typeface="Arial" pitchFamily="34" charset="-122"/>
                <a:cs typeface="Arial" pitchFamily="34" charset="-120"/>
              </a:rPr>
              <a:t>Dataclass ReasoningArtifact: step_num, thought, action, observation, latency_ms, token_count.
</a:t>
            </a:r>
            <a:r>
              <a:rPr lang="en-US" sz="800" b="1" dirty="0">
                <a:solidFill>
                  <a:srgbClr val="00796B"/>
                </a:solidFill>
                <a:latin typeface="Arial" pitchFamily="34" charset="0"/>
                <a:ea typeface="Arial" pitchFamily="34" charset="-122"/>
                <a:cs typeface="Arial" pitchFamily="34" charset="-120"/>
              </a:rPr>
              <a:t>Step 2: Create runtime/cot_store.py
</a:t>
            </a:r>
            <a:r>
              <a:rPr lang="en-US" sz="750" dirty="0">
                <a:solidFill>
                  <a:srgbClr val="333333"/>
                </a:solidFill>
                <a:latin typeface="Arial" pitchFamily="34" charset="0"/>
                <a:ea typeface="Arial" pitchFamily="34" charset="-122"/>
                <a:cs typeface="Arial" pitchFamily="34" charset="-120"/>
              </a:rPr>
              <a:t>Session-scoped store: append(artifact), list(session_id), get_chain(session_id). Backed by session state JSON.
</a:t>
            </a:r>
            <a:r>
              <a:rPr lang="en-US" sz="800" b="1" dirty="0">
                <a:solidFill>
                  <a:srgbClr val="00796B"/>
                </a:solidFill>
                <a:latin typeface="Arial" pitchFamily="34" charset="0"/>
                <a:ea typeface="Arial" pitchFamily="34" charset="-122"/>
                <a:cs typeface="Arial" pitchFamily="34" charset="-120"/>
              </a:rPr>
              <a:t>Step 3: Capture in query_loop.py
</a:t>
            </a:r>
            <a:r>
              <a:rPr lang="en-US" sz="750" dirty="0">
                <a:solidFill>
                  <a:srgbClr val="333333"/>
                </a:solidFill>
                <a:latin typeface="Arial" pitchFamily="34" charset="0"/>
                <a:ea typeface="Arial" pitchFamily="34" charset="-122"/>
                <a:cs typeface="Arial" pitchFamily="34" charset="-120"/>
              </a:rPr>
              <a:t>After each LLM response, extract thought from AI message content. After each tool result, record as observation. Build artifact per step.
</a:t>
            </a:r>
            <a:r>
              <a:rPr lang="en-US" sz="800" b="1" dirty="0">
                <a:solidFill>
                  <a:srgbClr val="00796B"/>
                </a:solidFill>
                <a:latin typeface="Arial" pitchFamily="34" charset="0"/>
                <a:ea typeface="Arial" pitchFamily="34" charset="-122"/>
                <a:cs typeface="Arial" pitchFamily="34" charset="-120"/>
              </a:rPr>
              <a:t>Step 4: Expose via /v1/sessions/{id}/reasoning
</a:t>
            </a:r>
            <a:r>
              <a:rPr lang="en-US" sz="750" dirty="0">
                <a:solidFill>
                  <a:srgbClr val="333333"/>
                </a:solidFill>
                <a:latin typeface="Arial" pitchFamily="34" charset="0"/>
                <a:ea typeface="Arial" pitchFamily="34" charset="-122"/>
                <a:cs typeface="Arial" pitchFamily="34" charset="-120"/>
              </a:rPr>
              <a:t>New GET endpoint returns the reasoning chain. Powers debugging UI and verification.
</a:t>
            </a:r>
            <a:r>
              <a:rPr lang="en-US" sz="800" b="1" dirty="0">
                <a:solidFill>
                  <a:srgbClr val="1B2A4A"/>
                </a:solidFill>
                <a:latin typeface="Arial" pitchFamily="34" charset="0"/>
                <a:ea typeface="Arial" pitchFamily="34" charset="-122"/>
                <a:cs typeface="Arial" pitchFamily="34" charset="-120"/>
              </a:rPr>
              <a:t>ReasoningArtifact dataclass:
</a:t>
            </a:r>
            <a:r>
              <a:rPr lang="en-US" sz="700" dirty="0">
                <a:solidFill>
                  <a:srgbClr val="666666"/>
                </a:solidFill>
                <a:latin typeface="Courier New" pitchFamily="34" charset="0"/>
                <a:ea typeface="Courier New" pitchFamily="34" charset="-122"/>
                <a:cs typeface="Courier New" pitchFamily="34" charset="-120"/>
              </a:rPr>
              <a:t>@dataclass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class ReasoningArtifact: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step_num: int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thought: str  # LLM reasoning</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action: str   # tool name + args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observation: str  # tool result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latency_ms: float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token_count: int</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runtime/fallback.py (new ~100 lines) · contracts/reasoning.py (new ~30 lines) · runtime/cot_store.py (new ~60 lines)</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6 — Folder Upload + Auto-Organize</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Extend /v1/upload for ZIP files
</a:t>
            </a:r>
            <a:r>
              <a:rPr lang="en-US" sz="750" dirty="0">
                <a:solidFill>
                  <a:srgbClr val="666666"/>
                </a:solidFill>
              </a:rPr>
              <a:t>In api/main.py upload handler: detect .zip MIME type → extract to temp dir → iterate entries → copy each to workspace via workspace.copy_file(). Reject nested ZIPs and files &gt; 50MB.</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type detection module
</a:t>
            </a:r>
            <a:r>
              <a:rPr lang="en-US" sz="750" dirty="0">
                <a:solidFill>
                  <a:srgbClr val="666666"/>
                </a:solidFill>
              </a:rPr>
              <a:t>New sandbox/file_classifier.py: map extensions to categories using dict. Fallback to python-magic MIME detection. Categories: data/, docs/, code/, images/, other/.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Build auto_organize tool
</a:t>
            </a:r>
            <a:r>
              <a:rPr lang="en-US" sz="750" dirty="0">
                <a:solidFill>
                  <a:srgbClr val="666666"/>
                </a:solidFill>
              </a:rPr>
              <a:t>New tool in tools/groups/workspace.py: scans workspace root, classifies each file, creates subdirectories, moves files. Returns manifest: {category: [files]}.</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Register as ToolDefinition
</a:t>
            </a:r>
            <a:r>
              <a:rPr lang="en-US" sz="750" dirty="0">
                <a:solidFill>
                  <a:srgbClr val="666666"/>
                </a:solidFill>
              </a:rPr>
              <a:t>Add to registry.py: name='auto_organize', group='workspace', requires_workspace=True, destructive=True (moves files).</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to agent allowlists
</a:t>
            </a:r>
            <a:r>
              <a:rPr lang="en-US" sz="750" dirty="0">
                <a:solidFill>
                  <a:srgbClr val="666666"/>
                </a:solidFill>
              </a:rPr>
              <a:t>Add auto_organize to general.md and data_analyst.md allowed_tools. Coordinator can delegate via spawn_worker.</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sandbox/file_classifier.py</a:t>
            </a:r>
            <a:endParaRPr lang="en-US" sz="1000" dirty="0"/>
          </a:p>
        </p:txBody>
      </p:sp>
      <p:sp>
        <p:nvSpPr>
          <p:cNvPr id="10" name="Shape 8"/>
          <p:cNvSpPr/>
          <p:nvPr/>
        </p:nvSpPr>
        <p:spPr>
          <a:xfrm>
            <a:off x="4572000" y="1051560"/>
            <a:ext cx="4069080" cy="1371600"/>
          </a:xfrm>
          <a:prstGeom prst="rect">
            <a:avLst/>
          </a:prstGeom>
          <a:solidFill>
            <a:srgbClr val="2D2D2D"/>
          </a:solidFill>
          <a:ln/>
        </p:spPr>
        <p:txBody>
          <a:bodyPr/>
          <a:lstStyle/>
          <a:p>
            <a:endParaRPr lang="en-US"/>
          </a:p>
        </p:txBody>
      </p:sp>
      <p:sp>
        <p:nvSpPr>
          <p:cNvPr id="11" name="Text 9"/>
          <p:cNvSpPr/>
          <p:nvPr/>
        </p:nvSpPr>
        <p:spPr>
          <a:xfrm>
            <a:off x="4681728" y="1106424"/>
            <a:ext cx="3849624" cy="12618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CATEGORY_MAP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   {".csv",".xlsx",".xls",".json",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".parquet",".tsv",".sqlite"},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"docs":   {".pdf",".docx",".txt",".md",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".html",".rtf"},</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"code":   {".py",".js",".ts",".java",".go",</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".rs",".sql",".sh",".r"},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"images": {".png",".jpg",".jpeg",".svg",</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".gif",".webp"},</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classify(filename: str) -&gt;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 = Path(filename).suffix.lower()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cat, exts in CATEGORY_MAP.items():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ext in exts: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"other"</a:t>
            </a:r>
            <a:endParaRPr lang="en-US" sz="900" dirty="0"/>
          </a:p>
        </p:txBody>
      </p:sp>
      <p:sp>
        <p:nvSpPr>
          <p:cNvPr id="12" name="Text 10"/>
          <p:cNvSpPr/>
          <p:nvPr/>
        </p:nvSpPr>
        <p:spPr>
          <a:xfrm>
            <a:off x="4572000" y="251460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tools/groups/workspace.py — auto_organize</a:t>
            </a:r>
            <a:endParaRPr lang="en-US" sz="1000" dirty="0"/>
          </a:p>
        </p:txBody>
      </p:sp>
      <p:sp>
        <p:nvSpPr>
          <p:cNvPr id="13" name="Shape 11"/>
          <p:cNvSpPr/>
          <p:nvPr/>
        </p:nvSpPr>
        <p:spPr>
          <a:xfrm>
            <a:off x="4572000" y="2743200"/>
            <a:ext cx="4069080" cy="1600200"/>
          </a:xfrm>
          <a:prstGeom prst="rect">
            <a:avLst/>
          </a:prstGeom>
          <a:solidFill>
            <a:srgbClr val="2D2D2D"/>
          </a:solidFill>
          <a:ln/>
        </p:spPr>
        <p:txBody>
          <a:bodyPr/>
          <a:lstStyle/>
          <a:p>
            <a:endParaRPr lang="en-US"/>
          </a:p>
        </p:txBody>
      </p:sp>
      <p:sp>
        <p:nvSpPr>
          <p:cNvPr id="14" name="Text 12"/>
          <p:cNvSpPr/>
          <p:nvPr/>
        </p:nvSpPr>
        <p:spPr>
          <a:xfrm>
            <a:off x="4681728" y="2798064"/>
            <a:ext cx="3849624" cy="14904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auto_organize(workspace):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 = defaultdict(list)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fname in workspace.list_files():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 = classify(fname)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 = workspace.root /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target_dir.mkdir(exist_ok=True)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 = workspace.root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dest = target_dir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src.rename(dest)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manifest[cat].append(fname)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json.dumps({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"organized": dict(manifest),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"total": sum(len(v)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v in manifest.values()),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"categories": list(manifest.keys()),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sandbox/file_classifier.py (new ~40 lines) · tools/groups/workspace.py (new ~60 lines) · api/main.py (modify upload handler)</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7 — Workspace Tools + Data Pipeline</a:t>
            </a:r>
            <a:endParaRPr lang="en-US" sz="2600" dirty="0"/>
          </a:p>
        </p:txBody>
      </p:sp>
      <p:sp>
        <p:nvSpPr>
          <p:cNvPr id="3" name="Shape 1"/>
          <p:cNvSpPr/>
          <p:nvPr/>
        </p:nvSpPr>
        <p:spPr>
          <a:xfrm>
            <a:off x="50292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workspace_search + dir_tree + file_metadata</a:t>
            </a:r>
            <a:endParaRPr lang="en-US" sz="1200" dirty="0"/>
          </a:p>
        </p:txBody>
      </p:sp>
      <p:sp>
        <p:nvSpPr>
          <p:cNvPr id="6" name="Text 4"/>
          <p:cNvSpPr/>
          <p:nvPr/>
        </p:nvSpPr>
        <p:spPr>
          <a:xfrm>
            <a:off x="61264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workspace_search(query)
</a:t>
            </a:r>
            <a:r>
              <a:rPr lang="en-US" sz="750" dirty="0">
                <a:solidFill>
                  <a:srgbClr val="333333"/>
                </a:solidFill>
                <a:latin typeface="Arial" pitchFamily="34" charset="0"/>
                <a:ea typeface="Arial" pitchFamily="34" charset="-122"/>
                <a:cs typeface="Arial" pitchFamily="34" charset="-120"/>
              </a:rPr>
              <a:t>Grep workspace files for query string. Use subprocess.run(['grep', '-rn', query, workspace.root]). Return [{path, line_num, match}]. Limit 50 results.
</a:t>
            </a:r>
            <a:r>
              <a:rPr lang="en-US" sz="800" b="1" dirty="0">
                <a:solidFill>
                  <a:srgbClr val="0097A7"/>
                </a:solidFill>
                <a:latin typeface="Courier New" pitchFamily="34" charset="0"/>
                <a:ea typeface="Courier New" pitchFamily="34" charset="-122"/>
                <a:cs typeface="Courier New" pitchFamily="34" charset="-120"/>
              </a:rPr>
              <a:t>dir_tree()
</a:t>
            </a:r>
            <a:r>
              <a:rPr lang="en-US" sz="750" dirty="0">
                <a:solidFill>
                  <a:srgbClr val="333333"/>
                </a:solidFill>
                <a:latin typeface="Arial" pitchFamily="34" charset="0"/>
                <a:ea typeface="Arial" pitchFamily="34" charset="-122"/>
                <a:cs typeface="Arial" pitchFamily="34" charset="-120"/>
              </a:rPr>
              <a:t>Walk workspace.root recursively. Build tree string with indentation. Include file count + total size per dir.
</a:t>
            </a:r>
            <a:r>
              <a:rPr lang="en-US" sz="800" b="1" dirty="0">
                <a:solidFill>
                  <a:srgbClr val="0097A7"/>
                </a:solidFill>
                <a:latin typeface="Courier New" pitchFamily="34" charset="0"/>
                <a:ea typeface="Courier New" pitchFamily="34" charset="-122"/>
                <a:cs typeface="Courier New" pitchFamily="34" charset="-120"/>
              </a:rPr>
              <a:t>file_metadata(filename)
</a:t>
            </a:r>
            <a:r>
              <a:rPr lang="en-US" sz="750" dirty="0">
                <a:solidFill>
                  <a:srgbClr val="333333"/>
                </a:solidFill>
                <a:latin typeface="Arial" pitchFamily="34" charset="0"/>
                <a:ea typeface="Arial" pitchFamily="34" charset="-122"/>
                <a:cs typeface="Arial" pitchFamily="34" charset="-120"/>
              </a:rPr>
              <a:t>Return {size, type, modified, mime, lines}. Uses os.stat() + python-magic.</a:t>
            </a:r>
            <a:endParaRPr lang="en-US" sz="1000" dirty="0"/>
          </a:p>
        </p:txBody>
      </p:sp>
      <p:sp>
        <p:nvSpPr>
          <p:cNvPr id="7" name="Shape 5"/>
          <p:cNvSpPr/>
          <p:nvPr/>
        </p:nvSpPr>
        <p:spPr>
          <a:xfrm>
            <a:off x="466344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install_package + git_clone</a:t>
            </a:r>
            <a:endParaRPr lang="en-US" sz="1200" dirty="0"/>
          </a:p>
        </p:txBody>
      </p:sp>
      <p:sp>
        <p:nvSpPr>
          <p:cNvPr id="10" name="Text 8"/>
          <p:cNvSpPr/>
          <p:nvPr/>
        </p:nvSpPr>
        <p:spPr>
          <a:xfrm>
            <a:off x="477316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install_package(name, manager='pip')
</a:t>
            </a:r>
            <a:r>
              <a:rPr lang="en-US" sz="750" dirty="0">
                <a:solidFill>
                  <a:srgbClr val="333333"/>
                </a:solidFill>
                <a:latin typeface="Arial" pitchFamily="34" charset="0"/>
                <a:ea typeface="Arial" pitchFamily="34" charset="-122"/>
                <a:cs typeface="Arial" pitchFamily="34" charset="-120"/>
              </a:rPr>
              <a:t>Run pip/npm install inside sandbox container with --target /workspace/.packages. Add to sys.path in subsequent execute_code calls. Allowlist check first.
</a:t>
            </a:r>
            <a:r>
              <a:rPr lang="en-US" sz="800" b="1" dirty="0">
                <a:solidFill>
                  <a:srgbClr val="00796B"/>
                </a:solidFill>
                <a:latin typeface="Courier New" pitchFamily="34" charset="0"/>
                <a:ea typeface="Courier New" pitchFamily="34" charset="-122"/>
                <a:cs typeface="Courier New" pitchFamily="34" charset="-120"/>
              </a:rPr>
              <a:t>git_clone(url, depth=1)
</a:t>
            </a:r>
            <a:r>
              <a:rPr lang="en-US" sz="750" dirty="0">
                <a:solidFill>
                  <a:srgbClr val="333333"/>
                </a:solidFill>
                <a:latin typeface="Arial" pitchFamily="34" charset="0"/>
                <a:ea typeface="Arial" pitchFamily="34" charset="-122"/>
                <a:cs typeface="Arial" pitchFamily="34" charset="-120"/>
              </a:rPr>
              <a:t>Clone into workspace/repos/{name}. Shallow (--depth). Network must be temporarily enabled on container. Read-only after clone (chmod -R a-w). 100MB repo size limit.</a:t>
            </a:r>
            <a:endParaRPr lang="en-US" sz="1000" dirty="0"/>
          </a:p>
        </p:txBody>
      </p:sp>
      <p:sp>
        <p:nvSpPr>
          <p:cNvPr id="11" name="Shape 9"/>
          <p:cNvSpPr/>
          <p:nvPr/>
        </p:nvSpPr>
        <p:spPr>
          <a:xfrm>
            <a:off x="50292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633472"/>
            <a:ext cx="3977640" cy="320040"/>
          </a:xfrm>
          <a:prstGeom prst="rect">
            <a:avLst/>
          </a:prstGeom>
          <a:solidFill>
            <a:srgbClr val="1B2A4A"/>
          </a:solidFill>
          <a:ln/>
        </p:spPr>
        <p:txBody>
          <a:bodyPr/>
          <a:lstStyle/>
          <a:p>
            <a:endParaRPr lang="en-US"/>
          </a:p>
        </p:txBody>
      </p:sp>
      <p:sp>
        <p:nvSpPr>
          <p:cNvPr id="13" name="Text 11"/>
          <p:cNvSpPr/>
          <p:nvPr/>
        </p:nvSpPr>
        <p:spPr>
          <a:xfrm>
            <a:off x="61264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data_profile + data_clean</a:t>
            </a:r>
            <a:endParaRPr lang="en-US" sz="1200" dirty="0"/>
          </a:p>
        </p:txBody>
      </p:sp>
      <p:sp>
        <p:nvSpPr>
          <p:cNvPr id="14" name="Text 12"/>
          <p:cNvSpPr/>
          <p:nvPr/>
        </p:nvSpPr>
        <p:spPr>
          <a:xfrm>
            <a:off x="61264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data_profile(filename)
</a:t>
            </a:r>
            <a:r>
              <a:rPr lang="en-US" sz="750" dirty="0">
                <a:solidFill>
                  <a:srgbClr val="333333"/>
                </a:solidFill>
                <a:latin typeface="Arial" pitchFamily="34" charset="0"/>
                <a:ea typeface="Arial" pitchFamily="34" charset="-122"/>
                <a:cs typeface="Arial" pitchFamily="34" charset="-120"/>
              </a:rPr>
              <a:t>Load CSV/Excel via pandas. Return: row_count, col_count, dtypes, null_pct, unique_counts, numeric_stats (mean/std/min/max), sample_rows(5). One-call EDA.
</a:t>
            </a:r>
            <a:r>
              <a:rPr lang="en-US" sz="800" b="1" dirty="0">
                <a:solidFill>
                  <a:srgbClr val="1B2A4A"/>
                </a:solidFill>
                <a:latin typeface="Courier New" pitchFamily="34" charset="0"/>
                <a:ea typeface="Courier New" pitchFamily="34" charset="-122"/>
                <a:cs typeface="Courier New" pitchFamily="34" charset="-120"/>
              </a:rPr>
              <a:t>data_clean(filename, ops=[])
</a:t>
            </a:r>
            <a:r>
              <a:rPr lang="en-US" sz="750" dirty="0">
                <a:solidFill>
                  <a:srgbClr val="333333"/>
                </a:solidFill>
                <a:latin typeface="Arial" pitchFamily="34" charset="0"/>
                <a:ea typeface="Arial" pitchFamily="34" charset="-122"/>
                <a:cs typeface="Arial" pitchFamily="34" charset="-120"/>
              </a:rPr>
              <a:t>Pipeline of operations: drop_duplicates, fill_nulls(strategy), normalize_dates(col, fmt), fix_encoding, drop_columns(list). Writes cleaned file to workspace. Returns diff summary.</a:t>
            </a:r>
            <a:endParaRPr lang="en-US" sz="1000" dirty="0"/>
          </a:p>
        </p:txBody>
      </p:sp>
      <p:sp>
        <p:nvSpPr>
          <p:cNvPr id="15" name="Shape 13"/>
          <p:cNvSpPr/>
          <p:nvPr/>
        </p:nvSpPr>
        <p:spPr>
          <a:xfrm>
            <a:off x="466344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663440" y="2633472"/>
            <a:ext cx="3977640" cy="320040"/>
          </a:xfrm>
          <a:prstGeom prst="rect">
            <a:avLst/>
          </a:prstGeom>
          <a:solidFill>
            <a:srgbClr val="1B2A4A"/>
          </a:solidFill>
          <a:ln/>
        </p:spPr>
        <p:txBody>
          <a:bodyPr/>
          <a:lstStyle/>
          <a:p>
            <a:endParaRPr lang="en-US"/>
          </a:p>
        </p:txBody>
      </p:sp>
      <p:sp>
        <p:nvSpPr>
          <p:cNvPr id="17" name="Text 15"/>
          <p:cNvSpPr/>
          <p:nvPr/>
        </p:nvSpPr>
        <p:spPr>
          <a:xfrm>
            <a:off x="477316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batch_transform + export_report</a:t>
            </a:r>
            <a:endParaRPr lang="en-US" sz="1200" dirty="0"/>
          </a:p>
        </p:txBody>
      </p:sp>
      <p:sp>
        <p:nvSpPr>
          <p:cNvPr id="18" name="Text 16"/>
          <p:cNvSpPr/>
          <p:nvPr/>
        </p:nvSpPr>
        <p:spPr>
          <a:xfrm>
            <a:off x="477316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batch_transform(glob, transform_code)
</a:t>
            </a:r>
            <a:r>
              <a:rPr lang="en-US" sz="750" dirty="0">
                <a:solidFill>
                  <a:srgbClr val="333333"/>
                </a:solidFill>
                <a:latin typeface="Arial" pitchFamily="34" charset="0"/>
                <a:ea typeface="Arial" pitchFamily="34" charset="-122"/>
                <a:cs typeface="Arial" pitchFamily="34" charset="-120"/>
              </a:rPr>
              <a:t>Match files by glob pattern in workspace. Execute transform_code (Python) on each via sandbox. Collect results into output/ dir. Return summary per file.
</a:t>
            </a:r>
            <a:r>
              <a:rPr lang="en-US" sz="800" b="1" dirty="0">
                <a:solidFill>
                  <a:srgbClr val="1B2A4A"/>
                </a:solidFill>
                <a:latin typeface="Courier New" pitchFamily="34" charset="0"/>
                <a:ea typeface="Courier New" pitchFamily="34" charset="-122"/>
                <a:cs typeface="Courier New" pitchFamily="34" charset="-120"/>
              </a:rPr>
              <a:t>export_report(title, sections=[])
</a:t>
            </a:r>
            <a:r>
              <a:rPr lang="en-US" sz="750" dirty="0">
                <a:solidFill>
                  <a:srgbClr val="333333"/>
                </a:solidFill>
                <a:latin typeface="Arial" pitchFamily="34" charset="0"/>
                <a:ea typeface="Arial" pitchFamily="34" charset="-122"/>
                <a:cs typeface="Arial" pitchFamily="34" charset="-120"/>
              </a:rPr>
              <a:t>Assemble HTML report from workspace artifacts. Each section: {heading, text, chart_file?, table_file?}. Convert to PDF via WeasyPrint in sandbox. Save to workspace.</a:t>
            </a:r>
            <a:endParaRPr lang="en-US" sz="1000" dirty="0"/>
          </a:p>
        </p:txBody>
      </p:sp>
      <p:sp>
        <p:nvSpPr>
          <p:cNvPr id="19" name="Shape 17"/>
          <p:cNvSpPr/>
          <p:nvPr/>
        </p:nvSpPr>
        <p:spPr>
          <a:xfrm>
            <a:off x="502920" y="4407408"/>
            <a:ext cx="8138160" cy="201168"/>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440740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8 tools register via ToolDefinition in registry.py. Group: 'workspace'. Add to general.md + data_analyst.md allowed_tools.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tools/groups/workspace.py (new ~250 lines) · tools/registry.py (add 8 entries) · data/agents/general.md + data_analyst.md (allowlists)</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8 — Step Observability + Guardrails</a:t>
            </a:r>
            <a:endParaRPr lang="en-US" sz="2600" dirty="0"/>
          </a:p>
        </p:txBody>
      </p:sp>
      <p:sp>
        <p:nvSpPr>
          <p:cNvPr id="3" name="Shape 1"/>
          <p:cNvSpPr/>
          <p:nvPr/>
        </p:nvSpPr>
        <p:spPr>
          <a:xfrm>
            <a:off x="50292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Per-Step Observability</a:t>
            </a:r>
            <a:endParaRPr lang="en-US" sz="1200" dirty="0"/>
          </a:p>
        </p:txBody>
      </p:sp>
      <p:sp>
        <p:nvSpPr>
          <p:cNvPr id="6" name="Text 4"/>
          <p:cNvSpPr/>
          <p:nvPr/>
        </p:nvSpPr>
        <p:spPr>
          <a:xfrm>
            <a:off x="61264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observability/step_event.py — dataclass StepEvent(step_num, tool_name, latency_ms, input_tokens, output_tokens, status, error_type, timestamp).
</a:t>
            </a:r>
            <a:r>
              <a:rPr lang="en-US" sz="800" b="1" dirty="0">
                <a:solidFill>
                  <a:srgbClr val="0097A7"/>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Emit StepEvent after each tool call in query_loop.py. Capture timing with time.perf_counter() around tool invocation.
</a:t>
            </a:r>
            <a:r>
              <a:rPr lang="en-US" sz="800" b="1" dirty="0">
                <a:solidFill>
                  <a:srgbClr val="0097A7"/>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Feed to existing TurnStatusTracker via new method tracker.record_step(event). Extends live SSE stream with tool-level granularity.
</a:t>
            </a:r>
            <a:r>
              <a:rPr lang="en-US" sz="800" b="1" dirty="0">
                <a:solidFill>
                  <a:srgbClr val="0097A7"/>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Expose via /v1/sessions/{id}/steps — GET returns all StepEvents for debugging and cost analysis.</a:t>
            </a:r>
            <a:endParaRPr lang="en-US" sz="1000" dirty="0"/>
          </a:p>
        </p:txBody>
      </p:sp>
      <p:sp>
        <p:nvSpPr>
          <p:cNvPr id="7" name="Shape 5"/>
          <p:cNvSpPr/>
          <p:nvPr/>
        </p:nvSpPr>
        <p:spPr>
          <a:xfrm>
            <a:off x="466344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Output Guardrails</a:t>
            </a:r>
            <a:endParaRPr lang="en-US" sz="1200" dirty="0"/>
          </a:p>
        </p:txBody>
      </p:sp>
      <p:sp>
        <p:nvSpPr>
          <p:cNvPr id="10" name="Text 8"/>
          <p:cNvSpPr/>
          <p:nvPr/>
        </p:nvSpPr>
        <p:spPr>
          <a:xfrm>
            <a:off x="477316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runtime/guardrails.py — GuardrailChain class with ordered list of Guardrail objects. Each has check(output) → Pass | Fail(reason).
</a:t>
            </a:r>
            <a:r>
              <a:rPr lang="en-US" sz="800" b="1" dirty="0">
                <a:solidFill>
                  <a:srgbClr val="00796B"/>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Built-in guardrails: PII_detector (regex + spaCy NER), format_validator (JSON schema check), length_limiter, hallucination_flag (low-confidence claim detector).
</a:t>
            </a:r>
            <a:r>
              <a:rPr lang="en-US" sz="800" b="1" dirty="0">
                <a:solidFill>
                  <a:srgbClr val="00796B"/>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Add guardrails field to AgentDefinition. Each agent declares which guardrails apply. General agent gets all 4; basic agent gets PII + length only.
</a:t>
            </a:r>
            <a:r>
              <a:rPr lang="en-US" sz="800" b="1" dirty="0">
                <a:solidFill>
                  <a:srgbClr val="00796B"/>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Run chain in kernel.py before returning final response. On Fail: retry with guardrail feedback injected into prompt, or redact and warn.</a:t>
            </a:r>
            <a:endParaRPr lang="en-US" sz="1000" dirty="0"/>
          </a:p>
        </p:txBody>
      </p:sp>
      <p:sp>
        <p:nvSpPr>
          <p:cNvPr id="11" name="Text 9"/>
          <p:cNvSpPr/>
          <p:nvPr/>
        </p:nvSpPr>
        <p:spPr>
          <a:xfrm>
            <a:off x="50292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observability/step_event.py</a:t>
            </a:r>
            <a:endParaRPr lang="en-US" sz="900" dirty="0"/>
          </a:p>
        </p:txBody>
      </p:sp>
      <p:sp>
        <p:nvSpPr>
          <p:cNvPr id="12" name="Shape 10"/>
          <p:cNvSpPr/>
          <p:nvPr/>
        </p:nvSpPr>
        <p:spPr>
          <a:xfrm>
            <a:off x="502920" y="3127248"/>
            <a:ext cx="3977640" cy="1051560"/>
          </a:xfrm>
          <a:prstGeom prst="rect">
            <a:avLst/>
          </a:prstGeom>
          <a:solidFill>
            <a:srgbClr val="2D2D2D"/>
          </a:solidFill>
          <a:ln/>
        </p:spPr>
        <p:txBody>
          <a:bodyPr/>
          <a:lstStyle/>
          <a:p>
            <a:endParaRPr lang="en-US"/>
          </a:p>
        </p:txBody>
      </p:sp>
      <p:sp>
        <p:nvSpPr>
          <p:cNvPr id="13" name="Text 11"/>
          <p:cNvSpPr/>
          <p:nvPr/>
        </p:nvSpPr>
        <p:spPr>
          <a:xfrm>
            <a:off x="61264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StepEvent: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step_num: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tool_name: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latency_ms: float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output_tokens: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status: str = "success"  # success|error|timeout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error_type: str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timestamp: str = field(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default_factory=lambda: utcnow_iso())</a:t>
            </a:r>
            <a:endParaRPr lang="en-US" sz="900" dirty="0"/>
          </a:p>
        </p:txBody>
      </p:sp>
      <p:sp>
        <p:nvSpPr>
          <p:cNvPr id="14" name="Text 12"/>
          <p:cNvSpPr/>
          <p:nvPr/>
        </p:nvSpPr>
        <p:spPr>
          <a:xfrm>
            <a:off x="466344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runtime/guardrails.py</a:t>
            </a:r>
            <a:endParaRPr lang="en-US" sz="900" dirty="0"/>
          </a:p>
        </p:txBody>
      </p:sp>
      <p:sp>
        <p:nvSpPr>
          <p:cNvPr id="15" name="Shape 13"/>
          <p:cNvSpPr/>
          <p:nvPr/>
        </p:nvSpPr>
        <p:spPr>
          <a:xfrm>
            <a:off x="4663440" y="3127248"/>
            <a:ext cx="3977640" cy="1051560"/>
          </a:xfrm>
          <a:prstGeom prst="rect">
            <a:avLst/>
          </a:prstGeom>
          <a:solidFill>
            <a:srgbClr val="2D2D2D"/>
          </a:solidFill>
          <a:ln/>
        </p:spPr>
        <p:txBody>
          <a:bodyPr/>
          <a:lstStyle/>
          <a:p>
            <a:endParaRPr lang="en-US"/>
          </a:p>
        </p:txBody>
      </p:sp>
      <p:sp>
        <p:nvSpPr>
          <p:cNvPr id="16" name="Text 14"/>
          <p:cNvSpPr/>
          <p:nvPr/>
        </p:nvSpPr>
        <p:spPr>
          <a:xfrm>
            <a:off x="477316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GuardrailChain: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guardrails: 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self._chain = guardrails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check(self, output: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g in self._chain: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 = await g.check(output)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result.failed: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passed=False,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guardrail=g.name,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reason=result.reason)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GuardrailResult(passed=True)</a:t>
            </a:r>
            <a:endParaRPr lang="en-US" sz="900" dirty="0"/>
          </a:p>
        </p:txBody>
      </p:sp>
      <p:sp>
        <p:nvSpPr>
          <p:cNvPr id="17" name="Text 1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observability/step_event.py (new ~40 lines) · runtime/guardrails.py (new ~150 lines) · api/status_tracker.py (modify)</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Implementation Priority Matrix</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Ordered by impact × feasibility. Effort accounts for partial progress (▲). All changes are additive — no existing code is deleted.</a:t>
            </a:r>
            <a:endParaRPr lang="en-US" sz="1050" dirty="0"/>
          </a:p>
        </p:txBody>
      </p:sp>
      <p:sp>
        <p:nvSpPr>
          <p:cNvPr id="4" name="Text 2"/>
          <p:cNvSpPr/>
          <p:nvPr/>
        </p:nvSpPr>
        <p:spPr>
          <a:xfrm>
            <a:off x="502920" y="1115568"/>
            <a:ext cx="3657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868680" y="1115568"/>
            <a:ext cx="21945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Implementation</a:t>
            </a:r>
            <a:endParaRPr lang="en-US" sz="850" dirty="0"/>
          </a:p>
        </p:txBody>
      </p:sp>
      <p:sp>
        <p:nvSpPr>
          <p:cNvPr id="6" name="Text 4"/>
          <p:cNvSpPr/>
          <p:nvPr/>
        </p:nvSpPr>
        <p:spPr>
          <a:xfrm>
            <a:off x="3063240" y="1115568"/>
            <a:ext cx="21031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Key New Files</a:t>
            </a:r>
            <a:endParaRPr lang="en-US" sz="850" dirty="0"/>
          </a:p>
        </p:txBody>
      </p:sp>
      <p:sp>
        <p:nvSpPr>
          <p:cNvPr id="7" name="Text 5"/>
          <p:cNvSpPr/>
          <p:nvPr/>
        </p:nvSpPr>
        <p:spPr>
          <a:xfrm>
            <a:off x="5166360" y="1115568"/>
            <a:ext cx="11887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Effort</a:t>
            </a:r>
            <a:endParaRPr lang="en-US" sz="850" dirty="0"/>
          </a:p>
        </p:txBody>
      </p:sp>
      <p:sp>
        <p:nvSpPr>
          <p:cNvPr id="8" name="Text 6"/>
          <p:cNvSpPr/>
          <p:nvPr/>
        </p:nvSpPr>
        <p:spPr>
          <a:xfrm>
            <a:off x="6355080" y="1115568"/>
            <a:ext cx="9144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Impact</a:t>
            </a:r>
            <a:endParaRPr lang="en-US" sz="850" dirty="0"/>
          </a:p>
        </p:txBody>
      </p:sp>
      <p:sp>
        <p:nvSpPr>
          <p:cNvPr id="9" name="Text 7"/>
          <p:cNvSpPr/>
          <p:nvPr/>
        </p:nvSpPr>
        <p:spPr>
          <a:xfrm>
            <a:off x="7269480" y="1115568"/>
            <a:ext cx="13716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Dependencies</a:t>
            </a:r>
            <a:endParaRPr lang="en-US" sz="850" dirty="0"/>
          </a:p>
        </p:txBody>
      </p:sp>
      <p:sp>
        <p:nvSpPr>
          <p:cNvPr id="10" name="Text 8"/>
          <p:cNvSpPr/>
          <p:nvPr/>
        </p:nvSpPr>
        <p:spPr>
          <a:xfrm>
            <a:off x="502920" y="1408176"/>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11" name="Text 9"/>
          <p:cNvSpPr/>
          <p:nvPr/>
        </p:nvSpPr>
        <p:spPr>
          <a:xfrm>
            <a:off x="868680" y="1408176"/>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Memory Facade + TTL</a:t>
            </a:r>
            <a:endParaRPr lang="en-US" sz="750" dirty="0"/>
          </a:p>
        </p:txBody>
      </p:sp>
      <p:sp>
        <p:nvSpPr>
          <p:cNvPr id="12" name="Text 10"/>
          <p:cNvSpPr/>
          <p:nvPr/>
        </p:nvSpPr>
        <p:spPr>
          <a:xfrm>
            <a:off x="3063240" y="1408176"/>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memory/facade.py</a:t>
            </a:r>
            <a:endParaRPr lang="en-US" sz="750" dirty="0"/>
          </a:p>
        </p:txBody>
      </p:sp>
      <p:sp>
        <p:nvSpPr>
          <p:cNvPr id="13" name="Text 11"/>
          <p:cNvSpPr/>
          <p:nvPr/>
        </p:nvSpPr>
        <p:spPr>
          <a:xfrm>
            <a:off x="5166360" y="1408176"/>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14" name="Text 12"/>
          <p:cNvSpPr/>
          <p:nvPr/>
        </p:nvSpPr>
        <p:spPr>
          <a:xfrm>
            <a:off x="6355080" y="1408176"/>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15" name="Text 13"/>
          <p:cNvSpPr/>
          <p:nvPr/>
        </p:nvSpPr>
        <p:spPr>
          <a:xfrm>
            <a:off x="7269480" y="1408176"/>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16" name="Text 14"/>
          <p:cNvSpPr/>
          <p:nvPr/>
        </p:nvSpPr>
        <p:spPr>
          <a:xfrm>
            <a:off x="502920" y="1700784"/>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7" name="Text 15"/>
          <p:cNvSpPr/>
          <p:nvPr/>
        </p:nvSpPr>
        <p:spPr>
          <a:xfrm>
            <a:off x="868680" y="1700784"/>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Importance Decay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Confidence Filter</a:t>
            </a:r>
            <a:endParaRPr lang="en-US" sz="750" dirty="0"/>
          </a:p>
        </p:txBody>
      </p:sp>
      <p:sp>
        <p:nvSpPr>
          <p:cNvPr id="18" name="Text 16"/>
          <p:cNvSpPr/>
          <p:nvPr/>
        </p:nvSpPr>
        <p:spPr>
          <a:xfrm>
            <a:off x="3063240" y="1700784"/>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store.py, manager.py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(modify)</a:t>
            </a:r>
            <a:endParaRPr lang="en-US" sz="750" dirty="0"/>
          </a:p>
        </p:txBody>
      </p:sp>
      <p:sp>
        <p:nvSpPr>
          <p:cNvPr id="19" name="Text 17"/>
          <p:cNvSpPr/>
          <p:nvPr/>
        </p:nvSpPr>
        <p:spPr>
          <a:xfrm>
            <a:off x="5166360" y="1700784"/>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0" name="Text 18"/>
          <p:cNvSpPr/>
          <p:nvPr/>
        </p:nvSpPr>
        <p:spPr>
          <a:xfrm>
            <a:off x="6355080" y="1700784"/>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21" name="Text 19"/>
          <p:cNvSpPr/>
          <p:nvPr/>
        </p:nvSpPr>
        <p:spPr>
          <a:xfrm>
            <a:off x="7269480" y="1700784"/>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1</a:t>
            </a:r>
            <a:endParaRPr lang="en-US" sz="750" dirty="0"/>
          </a:p>
        </p:txBody>
      </p:sp>
      <p:sp>
        <p:nvSpPr>
          <p:cNvPr id="22" name="Text 20"/>
          <p:cNvSpPr/>
          <p:nvPr/>
        </p:nvSpPr>
        <p:spPr>
          <a:xfrm>
            <a:off x="502920" y="1993392"/>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23" name="Text 21"/>
          <p:cNvSpPr/>
          <p:nvPr/>
        </p:nvSpPr>
        <p:spPr>
          <a:xfrm>
            <a:off x="868680" y="1993392"/>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Step-Level Retry Policy</a:t>
            </a:r>
            <a:endParaRPr lang="en-US" sz="750" dirty="0"/>
          </a:p>
        </p:txBody>
      </p:sp>
      <p:sp>
        <p:nvSpPr>
          <p:cNvPr id="24" name="Text 22"/>
          <p:cNvSpPr/>
          <p:nvPr/>
        </p:nvSpPr>
        <p:spPr>
          <a:xfrm>
            <a:off x="3063240" y="1993392"/>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contracts/retry.py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runtime/retry.py</a:t>
            </a:r>
            <a:endParaRPr lang="en-US" sz="750" dirty="0"/>
          </a:p>
        </p:txBody>
      </p:sp>
      <p:sp>
        <p:nvSpPr>
          <p:cNvPr id="25" name="Text 23"/>
          <p:cNvSpPr/>
          <p:nvPr/>
        </p:nvSpPr>
        <p:spPr>
          <a:xfrm>
            <a:off x="5166360" y="1993392"/>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6" name="Text 24"/>
          <p:cNvSpPr/>
          <p:nvPr/>
        </p:nvSpPr>
        <p:spPr>
          <a:xfrm>
            <a:off x="6355080" y="1993392"/>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27" name="Text 25"/>
          <p:cNvSpPr/>
          <p:nvPr/>
        </p:nvSpPr>
        <p:spPr>
          <a:xfrm>
            <a:off x="7269480" y="1993392"/>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28" name="Text 26"/>
          <p:cNvSpPr/>
          <p:nvPr/>
        </p:nvSpPr>
        <p:spPr>
          <a:xfrm>
            <a:off x="502920" y="2286000"/>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9" name="Text 27"/>
          <p:cNvSpPr/>
          <p:nvPr/>
        </p:nvSpPr>
        <p:spPr>
          <a:xfrm>
            <a:off x="868680" y="2286000"/>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Parallel Tool Execution</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 BUILT</a:t>
            </a:r>
            <a:endParaRPr lang="en-US" sz="750" dirty="0"/>
          </a:p>
        </p:txBody>
      </p:sp>
      <p:sp>
        <p:nvSpPr>
          <p:cNvPr id="30" name="Text 28"/>
          <p:cNvSpPr/>
          <p:nvPr/>
        </p:nvSpPr>
        <p:spPr>
          <a:xfrm>
            <a:off x="3063240" y="2286000"/>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tool_parallelism.py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(181 lines)</a:t>
            </a:r>
            <a:endParaRPr lang="en-US" sz="750" dirty="0"/>
          </a:p>
        </p:txBody>
      </p:sp>
      <p:sp>
        <p:nvSpPr>
          <p:cNvPr id="31" name="Text 29"/>
          <p:cNvSpPr/>
          <p:nvPr/>
        </p:nvSpPr>
        <p:spPr>
          <a:xfrm>
            <a:off x="5166360" y="2286000"/>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Done</a:t>
            </a:r>
            <a:endParaRPr lang="en-US" sz="750" dirty="0"/>
          </a:p>
        </p:txBody>
      </p:sp>
      <p:sp>
        <p:nvSpPr>
          <p:cNvPr id="32" name="Text 30"/>
          <p:cNvSpPr/>
          <p:nvPr/>
        </p:nvSpPr>
        <p:spPr>
          <a:xfrm>
            <a:off x="6355080" y="2286000"/>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3" name="Text 31"/>
          <p:cNvSpPr/>
          <p:nvPr/>
        </p:nvSpPr>
        <p:spPr>
          <a:xfrm>
            <a:off x="7269480" y="2286000"/>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34" name="Text 32"/>
          <p:cNvSpPr/>
          <p:nvPr/>
        </p:nvSpPr>
        <p:spPr>
          <a:xfrm>
            <a:off x="502920" y="2578608"/>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35" name="Text 33"/>
          <p:cNvSpPr/>
          <p:nvPr/>
        </p:nvSpPr>
        <p:spPr>
          <a:xfrm>
            <a:off x="868680" y="2578608"/>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Folder Upload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Auto-Organize</a:t>
            </a:r>
            <a:endParaRPr lang="en-US" sz="750" dirty="0"/>
          </a:p>
        </p:txBody>
      </p:sp>
      <p:sp>
        <p:nvSpPr>
          <p:cNvPr id="36" name="Text 34"/>
          <p:cNvSpPr/>
          <p:nvPr/>
        </p:nvSpPr>
        <p:spPr>
          <a:xfrm>
            <a:off x="3063240" y="2578608"/>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sandbox/file_classifier.py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p:txBody>
      </p:sp>
      <p:sp>
        <p:nvSpPr>
          <p:cNvPr id="37" name="Text 35"/>
          <p:cNvSpPr/>
          <p:nvPr/>
        </p:nvSpPr>
        <p:spPr>
          <a:xfrm>
            <a:off x="5166360" y="2578608"/>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38" name="Text 36"/>
          <p:cNvSpPr/>
          <p:nvPr/>
        </p:nvSpPr>
        <p:spPr>
          <a:xfrm>
            <a:off x="6355080" y="2578608"/>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9" name="Text 37"/>
          <p:cNvSpPr/>
          <p:nvPr/>
        </p:nvSpPr>
        <p:spPr>
          <a:xfrm>
            <a:off x="7269480" y="2578608"/>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40" name="Text 38"/>
          <p:cNvSpPr/>
          <p:nvPr/>
        </p:nvSpPr>
        <p:spPr>
          <a:xfrm>
            <a:off x="502920" y="2871216"/>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41" name="Text 39"/>
          <p:cNvSpPr/>
          <p:nvPr/>
        </p:nvSpPr>
        <p:spPr>
          <a:xfrm>
            <a:off x="868680" y="2871216"/>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Workspace Tools (8)</a:t>
            </a:r>
            <a:endParaRPr lang="en-US" sz="750" dirty="0"/>
          </a:p>
        </p:txBody>
      </p:sp>
      <p:sp>
        <p:nvSpPr>
          <p:cNvPr id="42" name="Text 40"/>
          <p:cNvSpPr/>
          <p:nvPr/>
        </p:nvSpPr>
        <p:spPr>
          <a:xfrm>
            <a:off x="3063240" y="2871216"/>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(extend)</a:t>
            </a:r>
            <a:endParaRPr lang="en-US" sz="750" dirty="0"/>
          </a:p>
        </p:txBody>
      </p:sp>
      <p:sp>
        <p:nvSpPr>
          <p:cNvPr id="43" name="Text 41"/>
          <p:cNvSpPr/>
          <p:nvPr/>
        </p:nvSpPr>
        <p:spPr>
          <a:xfrm>
            <a:off x="5166360" y="2871216"/>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44" name="Text 42"/>
          <p:cNvSpPr/>
          <p:nvPr/>
        </p:nvSpPr>
        <p:spPr>
          <a:xfrm>
            <a:off x="6355080" y="2871216"/>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45" name="Text 43"/>
          <p:cNvSpPr/>
          <p:nvPr/>
        </p:nvSpPr>
        <p:spPr>
          <a:xfrm>
            <a:off x="7269480" y="2871216"/>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5</a:t>
            </a:r>
            <a:endParaRPr lang="en-US" sz="750" dirty="0"/>
          </a:p>
        </p:txBody>
      </p:sp>
      <p:sp>
        <p:nvSpPr>
          <p:cNvPr id="46" name="Text 44"/>
          <p:cNvSpPr/>
          <p:nvPr/>
        </p:nvSpPr>
        <p:spPr>
          <a:xfrm>
            <a:off x="502920" y="3163824"/>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47" name="Text 45"/>
          <p:cNvSpPr/>
          <p:nvPr/>
        </p:nvSpPr>
        <p:spPr>
          <a:xfrm>
            <a:off x="868680" y="3163824"/>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Fallback Prompts ✓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CoT Capture</a:t>
            </a:r>
            <a:endParaRPr lang="en-US" sz="750" dirty="0"/>
          </a:p>
        </p:txBody>
      </p:sp>
      <p:sp>
        <p:nvSpPr>
          <p:cNvPr id="48" name="Text 46"/>
          <p:cNvSpPr/>
          <p:nvPr/>
        </p:nvSpPr>
        <p:spPr>
          <a:xfrm>
            <a:off x="3063240" y="3163824"/>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prompt_fallbacks.py (181L)</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runtime/cot_store.py</a:t>
            </a:r>
            <a:endParaRPr lang="en-US" sz="750" dirty="0"/>
          </a:p>
        </p:txBody>
      </p:sp>
      <p:sp>
        <p:nvSpPr>
          <p:cNvPr id="49" name="Text 47"/>
          <p:cNvSpPr/>
          <p:nvPr/>
        </p:nvSpPr>
        <p:spPr>
          <a:xfrm>
            <a:off x="5166360" y="3163824"/>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50" name="Text 48"/>
          <p:cNvSpPr/>
          <p:nvPr/>
        </p:nvSpPr>
        <p:spPr>
          <a:xfrm>
            <a:off x="6355080" y="3163824"/>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0097A7"/>
                </a:solidFill>
                <a:latin typeface="Arial" pitchFamily="34" charset="0"/>
                <a:ea typeface="Arial" pitchFamily="34" charset="-122"/>
                <a:cs typeface="Arial" pitchFamily="34" charset="-120"/>
              </a:rPr>
              <a:t>Medium</a:t>
            </a:r>
            <a:endParaRPr lang="en-US" sz="750" dirty="0"/>
          </a:p>
        </p:txBody>
      </p:sp>
      <p:sp>
        <p:nvSpPr>
          <p:cNvPr id="51" name="Text 49"/>
          <p:cNvSpPr/>
          <p:nvPr/>
        </p:nvSpPr>
        <p:spPr>
          <a:xfrm>
            <a:off x="7269480" y="3163824"/>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52" name="Text 50"/>
          <p:cNvSpPr/>
          <p:nvPr/>
        </p:nvSpPr>
        <p:spPr>
          <a:xfrm>
            <a:off x="502920" y="3456432"/>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53" name="Text 51"/>
          <p:cNvSpPr/>
          <p:nvPr/>
        </p:nvSpPr>
        <p:spPr>
          <a:xfrm>
            <a:off x="868680" y="3456432"/>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Per-Step Observability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Output Guardrails</a:t>
            </a:r>
            <a:endParaRPr lang="en-US" sz="750" dirty="0"/>
          </a:p>
        </p:txBody>
      </p:sp>
      <p:sp>
        <p:nvSpPr>
          <p:cNvPr id="54" name="Text 52"/>
          <p:cNvSpPr/>
          <p:nvPr/>
        </p:nvSpPr>
        <p:spPr>
          <a:xfrm>
            <a:off x="3063240" y="3456432"/>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observability/step_event.py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55" name="Text 53"/>
          <p:cNvSpPr/>
          <p:nvPr/>
        </p:nvSpPr>
        <p:spPr>
          <a:xfrm>
            <a:off x="5166360" y="3456432"/>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56" name="Text 54"/>
          <p:cNvSpPr/>
          <p:nvPr/>
        </p:nvSpPr>
        <p:spPr>
          <a:xfrm>
            <a:off x="6355080" y="3456432"/>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57" name="Text 55"/>
          <p:cNvSpPr/>
          <p:nvPr/>
        </p:nvSpPr>
        <p:spPr>
          <a:xfrm>
            <a:off x="7269480" y="3456432"/>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3</a:t>
            </a:r>
            <a:endParaRPr lang="en-US" sz="750" dirty="0"/>
          </a:p>
        </p:txBody>
      </p:sp>
      <p:sp>
        <p:nvSpPr>
          <p:cNvPr id="58" name="Text 56"/>
          <p:cNvSpPr/>
          <p:nvPr/>
        </p:nvSpPr>
        <p:spPr>
          <a:xfrm>
            <a:off x="502920" y="3840480"/>
            <a:ext cx="8138160" cy="274320"/>
          </a:xfrm>
          <a:prstGeom prst="rect">
            <a:avLst/>
          </a:prstGeom>
          <a:noFill/>
          <a:ln/>
        </p:spPr>
        <p:txBody>
          <a:bodyPr wrap="square" lIns="0" tIns="0" rIns="0" bIns="0" rtlCol="0" anchor="ctr"/>
          <a:lstStyle/>
          <a:p>
            <a:pPr marL="0" indent="0">
              <a:buNone/>
            </a:pPr>
            <a:r>
              <a:rPr lang="en-US" sz="900" b="1" dirty="0">
                <a:solidFill>
                  <a:srgbClr val="1B2A4A"/>
                </a:solidFill>
              </a:rPr>
              <a:t>Total new code: ~850 lines across 12 new files</a:t>
            </a:r>
            <a:r>
              <a:rPr lang="en-US" sz="850" dirty="0">
                <a:solidFill>
                  <a:srgbClr val="666666"/>
                </a:solidFill>
              </a:rPr>
              <a:t>  ·  Modified files: 6 (kernel.py, query_loop.py, executor.py, registry.py, store.py, manager.py)  ·  Estimated calendar time: 4-5 weeks (1 developer)</a:t>
            </a:r>
            <a:endParaRPr lang="en-US" sz="900" dirty="0"/>
          </a:p>
        </p:txBody>
      </p:sp>
      <p:sp>
        <p:nvSpPr>
          <p:cNvPr id="59" name="Shape 57"/>
          <p:cNvSpPr/>
          <p:nvPr/>
        </p:nvSpPr>
        <p:spPr>
          <a:xfrm>
            <a:off x="502920" y="4187952"/>
            <a:ext cx="8138160" cy="228600"/>
          </a:xfrm>
          <a:prstGeom prst="rect">
            <a:avLst/>
          </a:prstGeom>
          <a:solidFill>
            <a:srgbClr val="E0F7FA"/>
          </a:solidFill>
          <a:ln w="12700">
            <a:solidFill>
              <a:srgbClr val="0097A7"/>
            </a:solidFill>
            <a:prstDash val="solid"/>
          </a:ln>
        </p:spPr>
        <p:txBody>
          <a:bodyPr/>
          <a:lstStyle/>
          <a:p>
            <a:endParaRPr lang="en-US"/>
          </a:p>
        </p:txBody>
      </p:sp>
      <p:sp>
        <p:nvSpPr>
          <p:cNvPr id="60" name="Text 58"/>
          <p:cNvSpPr/>
          <p:nvPr/>
        </p:nvSpPr>
        <p:spPr>
          <a:xfrm>
            <a:off x="594360" y="4187952"/>
            <a:ext cx="7955280" cy="2286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Implementation order matters: Memory Facade (1) and Retry Policy (3) have zero dependencies and unlock the most value. Parallel Execution (4) builds on Retry. Observability (8) builds on Retry for step timing.</a:t>
            </a:r>
            <a:endParaRPr lang="en-US" sz="1000" dirty="0"/>
          </a:p>
        </p:txBody>
      </p:sp>
      <p:sp>
        <p:nvSpPr>
          <p:cNvPr id="61" name="Text 5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~850 new lines · 12 new files · 6 modified files · 4-5 weeks · all additive, no deletions</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2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Enterprise-Grade Roadmap</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17 capability gaps — 4 show partial progress (▲). Aligned with agentic system best practices.</a:t>
            </a:r>
            <a:endParaRPr lang="en-US" sz="1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39222</Words>
  <Application>Microsoft Macintosh PowerPoint</Application>
  <PresentationFormat>On-screen Show (16:9)</PresentationFormat>
  <Paragraphs>2754</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1</cp:revision>
  <dcterms:created xsi:type="dcterms:W3CDTF">2026-04-22T02:21:53Z</dcterms:created>
  <dcterms:modified xsi:type="dcterms:W3CDTF">2026-04-24T01:28:06Z</dcterms:modified>
</cp:coreProperties>
</file>